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89" roundtripDataSignature="AMtx7mg2vsCV438YjZ/p6fQZT9QoIE/i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3E40A0-49D7-40C5-8350-70DE36F2940E}">
  <a:tblStyle styleId="{B53E40A0-49D7-40C5-8350-70DE36F2940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customschemas.google.com/relationships/presentationmetadata" Target="meta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a:t>Cisco Networking Academy Program</a:t>
            </a:r>
            <a:endParaRPr/>
          </a:p>
          <a:p>
            <a:pPr indent="0" lvl="0" marL="0" rtl="0" algn="l">
              <a:spcBef>
                <a:spcPts val="0"/>
              </a:spcBef>
              <a:spcAft>
                <a:spcPts val="0"/>
              </a:spcAft>
              <a:buNone/>
            </a:pPr>
            <a:r>
              <a:rPr lang="en-US">
                <a:solidFill>
                  <a:srgbClr val="B6DDE7"/>
                </a:solidFill>
              </a:rPr>
              <a:t>Enterprise Networking, Security, and Automation v7.0 (ENSA)</a:t>
            </a:r>
            <a:endParaRPr/>
          </a:p>
          <a:p>
            <a:pPr indent="0" lvl="0" marL="0" rtl="0" algn="l">
              <a:spcBef>
                <a:spcPts val="0"/>
              </a:spcBef>
              <a:spcAft>
                <a:spcPts val="0"/>
              </a:spcAft>
              <a:buNone/>
            </a:pPr>
            <a:r>
              <a:rPr lang="en-US">
                <a:solidFill>
                  <a:srgbClr val="B6DDE7"/>
                </a:solidFill>
              </a:rPr>
              <a:t>Module 10: Network Management</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US"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10.0- Introduction</a:t>
            </a:r>
            <a:endParaRPr/>
          </a:p>
          <a:p>
            <a:pPr indent="0" lvl="0" marL="0" rtl="0" algn="l">
              <a:spcBef>
                <a:spcPts val="0"/>
              </a:spcBef>
              <a:spcAft>
                <a:spcPts val="0"/>
              </a:spcAft>
              <a:buClr>
                <a:schemeClr val="dk1"/>
              </a:buClr>
              <a:buSzPts val="1200"/>
              <a:buFont typeface="Calibri"/>
              <a:buNone/>
            </a:pPr>
            <a:r>
              <a:rPr lang="en-US"/>
              <a:t>10.0.2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a:p>
            <a:pPr indent="0" lvl="0" marL="0" rtl="0" algn="l">
              <a:spcBef>
                <a:spcPts val="0"/>
              </a:spcBef>
              <a:spcAft>
                <a:spcPts val="0"/>
              </a:spcAft>
              <a:buNone/>
            </a:pPr>
            <a:r>
              <a:rPr lang="en-US"/>
              <a:t>10.1.1 - CDP Overview</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a:p>
            <a:pPr indent="0" lvl="0" marL="0" rtl="0" algn="l">
              <a:spcBef>
                <a:spcPts val="0"/>
              </a:spcBef>
              <a:spcAft>
                <a:spcPts val="0"/>
              </a:spcAft>
              <a:buNone/>
            </a:pPr>
            <a:r>
              <a:rPr lang="en-US"/>
              <a:t>10.1.2 - Configure and Verify CDP</a:t>
            </a:r>
            <a:endParaRPr/>
          </a:p>
        </p:txBody>
      </p:sp>
      <p:sp>
        <p:nvSpPr>
          <p:cNvPr id="265" name="Google Shape;26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a:p>
            <a:pPr indent="0" lvl="0" marL="0" rtl="0" algn="l">
              <a:spcBef>
                <a:spcPts val="0"/>
              </a:spcBef>
              <a:spcAft>
                <a:spcPts val="0"/>
              </a:spcAft>
              <a:buNone/>
            </a:pPr>
            <a:r>
              <a:rPr lang="en-US"/>
              <a:t>10.1.3 - </a:t>
            </a:r>
            <a:r>
              <a:rPr lang="en-US" sz="1200"/>
              <a:t>Discover Devices by Using CDP</a:t>
            </a:r>
            <a:endParaRPr/>
          </a:p>
        </p:txBody>
      </p:sp>
      <p:sp>
        <p:nvSpPr>
          <p:cNvPr id="272" name="Google Shape;27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a:p>
            <a:pPr indent="0" lvl="0" marL="0" rtl="0" algn="l">
              <a:spcBef>
                <a:spcPts val="0"/>
              </a:spcBef>
              <a:spcAft>
                <a:spcPts val="0"/>
              </a:spcAft>
              <a:buNone/>
            </a:pPr>
            <a:r>
              <a:rPr lang="en-US"/>
              <a:t>10.1.3 - </a:t>
            </a:r>
            <a:r>
              <a:rPr lang="en-US" sz="1200"/>
              <a:t>Discover Devices by Using CDP (Cont.)</a:t>
            </a:r>
            <a:endParaRPr/>
          </a:p>
          <a:p>
            <a:pPr indent="0" lvl="0" marL="0" rtl="0" algn="l">
              <a:spcBef>
                <a:spcPts val="0"/>
              </a:spcBef>
              <a:spcAft>
                <a:spcPts val="0"/>
              </a:spcAft>
              <a:buNone/>
            </a:pPr>
            <a:r>
              <a:rPr lang="en-US" sz="1200"/>
              <a:t>10.1.4 - Syntax Checker - Configure and Verify CDP</a:t>
            </a:r>
            <a:endParaRPr/>
          </a:p>
          <a:p>
            <a:pPr indent="0" lvl="0" marL="0" rtl="0" algn="l">
              <a:spcBef>
                <a:spcPts val="0"/>
              </a:spcBef>
              <a:spcAft>
                <a:spcPts val="0"/>
              </a:spcAft>
              <a:buNone/>
            </a:pPr>
            <a:r>
              <a:t/>
            </a:r>
            <a:endParaRPr/>
          </a:p>
        </p:txBody>
      </p:sp>
      <p:sp>
        <p:nvSpPr>
          <p:cNvPr id="280" name="Google Shape;28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10.1 - Device Discovery with CDP</a:t>
            </a:r>
            <a:endParaRPr/>
          </a:p>
          <a:p>
            <a:pPr indent="0" lvl="0" marL="0" rtl="0" algn="l">
              <a:spcBef>
                <a:spcPts val="0"/>
              </a:spcBef>
              <a:spcAft>
                <a:spcPts val="0"/>
              </a:spcAft>
              <a:buNone/>
            </a:pPr>
            <a:r>
              <a:rPr lang="en-US"/>
              <a:t>10.1.5 - Packet Tracer - Use CDP to Map a Network</a:t>
            </a:r>
            <a:endParaRPr/>
          </a:p>
        </p:txBody>
      </p:sp>
      <p:sp>
        <p:nvSpPr>
          <p:cNvPr id="288" name="Google Shape;28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p:txBody>
      </p:sp>
      <p:sp>
        <p:nvSpPr>
          <p:cNvPr id="295" name="Google Shape;29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a:p>
            <a:pPr indent="0" lvl="0" marL="0" rtl="0" algn="l">
              <a:spcBef>
                <a:spcPts val="0"/>
              </a:spcBef>
              <a:spcAft>
                <a:spcPts val="0"/>
              </a:spcAft>
              <a:buNone/>
            </a:pPr>
            <a:r>
              <a:rPr lang="en-US"/>
              <a:t>10.2.1 - LLDP Overview</a:t>
            </a:r>
            <a:endParaRPr/>
          </a:p>
        </p:txBody>
      </p:sp>
      <p:sp>
        <p:nvSpPr>
          <p:cNvPr id="301" name="Google Shape;301;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a:p>
            <a:pPr indent="0" lvl="0" marL="0" rtl="0" algn="l">
              <a:spcBef>
                <a:spcPts val="0"/>
              </a:spcBef>
              <a:spcAft>
                <a:spcPts val="0"/>
              </a:spcAft>
              <a:buNone/>
            </a:pPr>
            <a:r>
              <a:rPr lang="en-US"/>
              <a:t>10.2.2 - Configure and Verify LLDP</a:t>
            </a:r>
            <a:endParaRPr/>
          </a:p>
        </p:txBody>
      </p:sp>
      <p:sp>
        <p:nvSpPr>
          <p:cNvPr id="309" name="Google Shape;30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a:p>
            <a:pPr indent="0" lvl="0" marL="0" rtl="0" algn="l">
              <a:spcBef>
                <a:spcPts val="0"/>
              </a:spcBef>
              <a:spcAft>
                <a:spcPts val="0"/>
              </a:spcAft>
              <a:buNone/>
            </a:pPr>
            <a:r>
              <a:rPr lang="en-US"/>
              <a:t>10.2.3 - Discover Devices by Using LLDP</a:t>
            </a:r>
            <a:endParaRPr/>
          </a:p>
        </p:txBody>
      </p:sp>
      <p:sp>
        <p:nvSpPr>
          <p:cNvPr id="317" name="Google Shape;31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a:p>
            <a:pPr indent="0" lvl="0" marL="0" rtl="0" algn="l">
              <a:spcBef>
                <a:spcPts val="0"/>
              </a:spcBef>
              <a:spcAft>
                <a:spcPts val="0"/>
              </a:spcAft>
              <a:buNone/>
            </a:pPr>
            <a:r>
              <a:rPr lang="en-US"/>
              <a:t>10.2.3 - Discover Devices by Using LLDP (Cont.)</a:t>
            </a:r>
            <a:endParaRPr/>
          </a:p>
          <a:p>
            <a:pPr indent="0" lvl="0" marL="0" rtl="0" algn="l">
              <a:spcBef>
                <a:spcPts val="0"/>
              </a:spcBef>
              <a:spcAft>
                <a:spcPts val="0"/>
              </a:spcAft>
              <a:buNone/>
            </a:pPr>
            <a:r>
              <a:rPr lang="en-US"/>
              <a:t>10.2.4 - Syntax Checker - Configure and Verify LLDP</a:t>
            </a:r>
            <a:endParaRPr/>
          </a:p>
          <a:p>
            <a:pPr indent="0" lvl="0" marL="0" rtl="0" algn="l">
              <a:spcBef>
                <a:spcPts val="0"/>
              </a:spcBef>
              <a:spcAft>
                <a:spcPts val="0"/>
              </a:spcAft>
              <a:buNone/>
            </a:pPr>
            <a:r>
              <a:rPr lang="en-US"/>
              <a:t>10.2.5 - Check Your Understanding - Compare CDP and LLDP</a:t>
            </a:r>
            <a:endParaRPr/>
          </a:p>
          <a:p>
            <a:pPr indent="0" lvl="0" marL="0" rtl="0" algn="l">
              <a:spcBef>
                <a:spcPts val="0"/>
              </a:spcBef>
              <a:spcAft>
                <a:spcPts val="0"/>
              </a:spcAft>
              <a:buNone/>
            </a:pPr>
            <a:r>
              <a:t/>
            </a:r>
            <a:endParaRPr/>
          </a:p>
        </p:txBody>
      </p:sp>
      <p:sp>
        <p:nvSpPr>
          <p:cNvPr id="325" name="Google Shape;32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10.2 - Device Discovery with LLDP</a:t>
            </a:r>
            <a:endParaRPr/>
          </a:p>
          <a:p>
            <a:pPr indent="0" lvl="0" marL="0" rtl="0" algn="l">
              <a:spcBef>
                <a:spcPts val="0"/>
              </a:spcBef>
              <a:spcAft>
                <a:spcPts val="0"/>
              </a:spcAft>
              <a:buNone/>
            </a:pPr>
            <a:r>
              <a:rPr lang="en-US"/>
              <a:t>10.2.6 - </a:t>
            </a:r>
            <a:r>
              <a:rPr lang="en-US" sz="1200"/>
              <a:t>Packet Tracer - Use LLDP to Map a Network</a:t>
            </a:r>
            <a:endParaRPr/>
          </a:p>
        </p:txBody>
      </p:sp>
      <p:sp>
        <p:nvSpPr>
          <p:cNvPr id="333" name="Google Shape;33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p:txBody>
      </p:sp>
      <p:sp>
        <p:nvSpPr>
          <p:cNvPr id="340" name="Google Shape;34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10.3.1 - Time and Calendar Services</a:t>
            </a:r>
            <a:endParaRPr/>
          </a:p>
        </p:txBody>
      </p:sp>
      <p:sp>
        <p:nvSpPr>
          <p:cNvPr id="346" name="Google Shape;34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10.3.1 - Time and Calendar Services (Cont.)</a:t>
            </a:r>
            <a:endParaRPr/>
          </a:p>
        </p:txBody>
      </p:sp>
      <p:sp>
        <p:nvSpPr>
          <p:cNvPr id="354" name="Google Shape;35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10.3.2 - NTP Operation</a:t>
            </a:r>
            <a:endParaRPr/>
          </a:p>
        </p:txBody>
      </p:sp>
      <p:sp>
        <p:nvSpPr>
          <p:cNvPr id="361" name="Google Shape;36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10.3.2 - NTP Operation (Cont.)</a:t>
            </a:r>
            <a:endParaRPr/>
          </a:p>
        </p:txBody>
      </p:sp>
      <p:sp>
        <p:nvSpPr>
          <p:cNvPr id="369" name="Google Shape;36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10.3.3 - Configure and Verify NTP</a:t>
            </a:r>
            <a:endParaRPr/>
          </a:p>
        </p:txBody>
      </p:sp>
      <p:sp>
        <p:nvSpPr>
          <p:cNvPr id="376" name="Google Shape;376;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10.3.3 - Configure and Verify NTP (Cont.)</a:t>
            </a:r>
            <a:endParaRPr/>
          </a:p>
        </p:txBody>
      </p:sp>
      <p:sp>
        <p:nvSpPr>
          <p:cNvPr id="384" name="Google Shape;38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10.3.3 - Configure and Verify NTP (Cont.)</a:t>
            </a:r>
            <a:endParaRPr/>
          </a:p>
        </p:txBody>
      </p:sp>
      <p:sp>
        <p:nvSpPr>
          <p:cNvPr id="392" name="Google Shape;39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10.3 - NTP</a:t>
            </a:r>
            <a:endParaRPr/>
          </a:p>
          <a:p>
            <a:pPr indent="0" lvl="0" marL="0" rtl="0" algn="l">
              <a:spcBef>
                <a:spcPts val="0"/>
              </a:spcBef>
              <a:spcAft>
                <a:spcPts val="0"/>
              </a:spcAft>
              <a:buNone/>
            </a:pPr>
            <a:r>
              <a:rPr lang="en-US"/>
              <a:t>10.3.4 - </a:t>
            </a:r>
            <a:r>
              <a:rPr lang="en-US" sz="1200"/>
              <a:t>Packet Tracer - Configure and Verify NTP</a:t>
            </a:r>
            <a:endParaRPr/>
          </a:p>
        </p:txBody>
      </p:sp>
      <p:sp>
        <p:nvSpPr>
          <p:cNvPr id="400" name="Google Shape;40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p:txBody>
      </p:sp>
      <p:sp>
        <p:nvSpPr>
          <p:cNvPr id="407" name="Google Shape;407;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10.4.1 - Introduction to SNMP</a:t>
            </a:r>
            <a:endParaRPr/>
          </a:p>
        </p:txBody>
      </p:sp>
      <p:sp>
        <p:nvSpPr>
          <p:cNvPr id="413" name="Google Shape;413;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10.4.1 - Introduction to SNMP (Cont.)</a:t>
            </a:r>
            <a:endParaRPr/>
          </a:p>
        </p:txBody>
      </p:sp>
      <p:sp>
        <p:nvSpPr>
          <p:cNvPr id="420" name="Google Shape;420;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10.4.2 - SNMP Operation</a:t>
            </a:r>
            <a:endParaRPr/>
          </a:p>
        </p:txBody>
      </p:sp>
      <p:sp>
        <p:nvSpPr>
          <p:cNvPr id="428" name="Google Shape;428;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10.4.2 - SNMP Operation (Cont.)</a:t>
            </a:r>
            <a:endParaRPr/>
          </a:p>
        </p:txBody>
      </p:sp>
      <p:sp>
        <p:nvSpPr>
          <p:cNvPr id="436" name="Google Shape;43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10.4.3 - SNMP Agent Traps</a:t>
            </a:r>
            <a:endParaRPr/>
          </a:p>
        </p:txBody>
      </p:sp>
      <p:sp>
        <p:nvSpPr>
          <p:cNvPr id="444" name="Google Shape;44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10.4.4 - SNMP Versions</a:t>
            </a:r>
            <a:endParaRPr/>
          </a:p>
          <a:p>
            <a:pPr indent="0" lvl="0" marL="0" rtl="0" algn="l">
              <a:spcBef>
                <a:spcPts val="0"/>
              </a:spcBef>
              <a:spcAft>
                <a:spcPts val="0"/>
              </a:spcAft>
              <a:buNone/>
            </a:pPr>
            <a:r>
              <a:rPr lang="en-US"/>
              <a:t>10.4.5 - Check Your Understanding - SNMP Versions</a:t>
            </a:r>
            <a:endParaRPr/>
          </a:p>
        </p:txBody>
      </p:sp>
      <p:sp>
        <p:nvSpPr>
          <p:cNvPr id="452" name="Google Shape;45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10.4.6 - Community Strings</a:t>
            </a:r>
            <a:endParaRPr/>
          </a:p>
        </p:txBody>
      </p:sp>
      <p:sp>
        <p:nvSpPr>
          <p:cNvPr id="459" name="Google Shape;45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10.4.7 - MIB Object ID</a:t>
            </a:r>
            <a:endParaRPr/>
          </a:p>
        </p:txBody>
      </p:sp>
      <p:sp>
        <p:nvSpPr>
          <p:cNvPr id="466" name="Google Shape;46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10.4.7 - MIB Object ID (Cont.)</a:t>
            </a:r>
            <a:endParaRPr/>
          </a:p>
        </p:txBody>
      </p:sp>
      <p:sp>
        <p:nvSpPr>
          <p:cNvPr id="473" name="Google Shape;47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10.4.8 - SNMP Polling Scenario</a:t>
            </a:r>
            <a:endParaRPr/>
          </a:p>
        </p:txBody>
      </p:sp>
      <p:sp>
        <p:nvSpPr>
          <p:cNvPr id="481" name="Google Shape;48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10.4.9 - SNMP Object Navigator</a:t>
            </a:r>
            <a:endParaRPr/>
          </a:p>
        </p:txBody>
      </p:sp>
      <p:sp>
        <p:nvSpPr>
          <p:cNvPr id="489" name="Google Shape;48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10.4 - SNMP</a:t>
            </a:r>
            <a:endParaRPr/>
          </a:p>
          <a:p>
            <a:pPr indent="0" lvl="0" marL="0" rtl="0" algn="l">
              <a:spcBef>
                <a:spcPts val="0"/>
              </a:spcBef>
              <a:spcAft>
                <a:spcPts val="0"/>
              </a:spcAft>
              <a:buNone/>
            </a:pPr>
            <a:r>
              <a:rPr lang="en-US"/>
              <a:t>10.4.10 - </a:t>
            </a:r>
            <a:r>
              <a:rPr lang="en-US" sz="1200"/>
              <a:t>Lab - Research Network Monitoring Software</a:t>
            </a:r>
            <a:endParaRPr/>
          </a:p>
        </p:txBody>
      </p:sp>
      <p:sp>
        <p:nvSpPr>
          <p:cNvPr id="497" name="Google Shape;497;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4" name="Google Shape;50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10.5.1 - Introduction to Syslog</a:t>
            </a:r>
            <a:endParaRPr/>
          </a:p>
        </p:txBody>
      </p:sp>
      <p:sp>
        <p:nvSpPr>
          <p:cNvPr id="510" name="Google Shape;510;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10.5.2 - Syslog Operation</a:t>
            </a:r>
            <a:endParaRPr/>
          </a:p>
        </p:txBody>
      </p:sp>
      <p:sp>
        <p:nvSpPr>
          <p:cNvPr id="518" name="Google Shape;518;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10.5.3 - Syslog Message Format</a:t>
            </a:r>
            <a:endParaRPr/>
          </a:p>
        </p:txBody>
      </p:sp>
      <p:sp>
        <p:nvSpPr>
          <p:cNvPr id="525" name="Google Shape;525;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10.5.4 - Syslog Facilities</a:t>
            </a:r>
            <a:endParaRPr/>
          </a:p>
        </p:txBody>
      </p:sp>
      <p:sp>
        <p:nvSpPr>
          <p:cNvPr id="533" name="Google Shape;533;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10.5.4 - Syslog Facilities (Cont.)</a:t>
            </a:r>
            <a:endParaRPr/>
          </a:p>
        </p:txBody>
      </p:sp>
      <p:sp>
        <p:nvSpPr>
          <p:cNvPr id="540" name="Google Shape;540;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10.5 - Syslog</a:t>
            </a:r>
            <a:endParaRPr/>
          </a:p>
          <a:p>
            <a:pPr indent="0" lvl="0" marL="0" rtl="0" algn="l">
              <a:spcBef>
                <a:spcPts val="0"/>
              </a:spcBef>
              <a:spcAft>
                <a:spcPts val="0"/>
              </a:spcAft>
              <a:buNone/>
            </a:pPr>
            <a:r>
              <a:rPr lang="en-US"/>
              <a:t>10.5.5 - </a:t>
            </a:r>
            <a:r>
              <a:rPr lang="en-US" sz="1200"/>
              <a:t>Configure Syslog Timestamp</a:t>
            </a:r>
            <a:endParaRPr/>
          </a:p>
          <a:p>
            <a:pPr indent="0" lvl="0" marL="0" rtl="0" algn="l">
              <a:spcBef>
                <a:spcPts val="0"/>
              </a:spcBef>
              <a:spcAft>
                <a:spcPts val="0"/>
              </a:spcAft>
              <a:buNone/>
            </a:pPr>
            <a:r>
              <a:rPr lang="en-US" sz="1200"/>
              <a:t>10.5.6 - Check Your Understanding - Syslog Operation</a:t>
            </a:r>
            <a:endParaRPr/>
          </a:p>
        </p:txBody>
      </p:sp>
      <p:sp>
        <p:nvSpPr>
          <p:cNvPr id="547" name="Google Shape;54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p:txBody>
      </p:sp>
      <p:sp>
        <p:nvSpPr>
          <p:cNvPr id="555" name="Google Shape;55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10.6.1 - Router File Systems</a:t>
            </a:r>
            <a:endParaRPr/>
          </a:p>
        </p:txBody>
      </p:sp>
      <p:sp>
        <p:nvSpPr>
          <p:cNvPr id="561" name="Google Shape;561;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10.6.1 - Router File Systems (Cont.)</a:t>
            </a:r>
            <a:endParaRPr/>
          </a:p>
        </p:txBody>
      </p:sp>
      <p:sp>
        <p:nvSpPr>
          <p:cNvPr id="570" name="Google Shape;570;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10.6.1 - Router File Systems (Cont.)</a:t>
            </a:r>
            <a:endParaRPr/>
          </a:p>
        </p:txBody>
      </p:sp>
      <p:sp>
        <p:nvSpPr>
          <p:cNvPr id="578" name="Google Shape;578;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10.6.2 - Switch File Systems</a:t>
            </a:r>
            <a:endParaRPr/>
          </a:p>
        </p:txBody>
      </p:sp>
      <p:sp>
        <p:nvSpPr>
          <p:cNvPr id="586" name="Google Shape;586;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10.6.3 - </a:t>
            </a:r>
            <a:r>
              <a:rPr lang="en-US" sz="1200"/>
              <a:t>Use a Text File to Back Up a Configuration</a:t>
            </a:r>
            <a:endParaRPr/>
          </a:p>
        </p:txBody>
      </p:sp>
      <p:sp>
        <p:nvSpPr>
          <p:cNvPr id="594" name="Google Shape;594;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10.6.4 - </a:t>
            </a:r>
            <a:r>
              <a:rPr lang="en-US" sz="1200"/>
              <a:t>Use a Text File to Restore a Configuration</a:t>
            </a:r>
            <a:endParaRPr/>
          </a:p>
        </p:txBody>
      </p:sp>
      <p:sp>
        <p:nvSpPr>
          <p:cNvPr id="602" name="Google Shape;602;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10.6.5 - </a:t>
            </a:r>
            <a:r>
              <a:rPr lang="en-US" sz="1200"/>
              <a:t>Using TFTP to Back Up and Restore a Configuration</a:t>
            </a:r>
            <a:endParaRPr/>
          </a:p>
        </p:txBody>
      </p:sp>
      <p:sp>
        <p:nvSpPr>
          <p:cNvPr id="609" name="Google Shape;609;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10.6.6 - </a:t>
            </a:r>
            <a:r>
              <a:rPr lang="en-US" sz="1200"/>
              <a:t>USB Ports on a Cisco Router</a:t>
            </a:r>
            <a:endParaRPr/>
          </a:p>
        </p:txBody>
      </p:sp>
      <p:sp>
        <p:nvSpPr>
          <p:cNvPr id="617" name="Google Shape;61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10.6.7 - </a:t>
            </a:r>
            <a:r>
              <a:rPr lang="en-US" sz="1200"/>
              <a:t>Using USB to Back Up and Restore a Configuration</a:t>
            </a:r>
            <a:endParaRPr/>
          </a:p>
        </p:txBody>
      </p:sp>
      <p:sp>
        <p:nvSpPr>
          <p:cNvPr id="625" name="Google Shape;625;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10.6.7 - </a:t>
            </a:r>
            <a:r>
              <a:rPr lang="en-US" sz="1200"/>
              <a:t>Using USB to Back Up and Restore a Configuration (Cont.)</a:t>
            </a:r>
            <a:endParaRPr/>
          </a:p>
        </p:txBody>
      </p:sp>
      <p:sp>
        <p:nvSpPr>
          <p:cNvPr id="633" name="Google Shape;633;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10.6.8 - </a:t>
            </a:r>
            <a:r>
              <a:rPr lang="en-US" sz="1200"/>
              <a:t>Password Recovery Procedures</a:t>
            </a:r>
            <a:endParaRPr/>
          </a:p>
        </p:txBody>
      </p:sp>
      <p:sp>
        <p:nvSpPr>
          <p:cNvPr id="641" name="Google Shape;641;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10.6.9 - </a:t>
            </a:r>
            <a:r>
              <a:rPr lang="en-US" sz="1200"/>
              <a:t>Password Recovery Example</a:t>
            </a:r>
            <a:endParaRPr/>
          </a:p>
        </p:txBody>
      </p:sp>
      <p:sp>
        <p:nvSpPr>
          <p:cNvPr id="648" name="Google Shape;648;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10.6.9 - </a:t>
            </a:r>
            <a:r>
              <a:rPr lang="en-US" sz="1200"/>
              <a:t>Password Recovery Example (Cont.)</a:t>
            </a:r>
            <a:endParaRPr/>
          </a:p>
        </p:txBody>
      </p:sp>
      <p:sp>
        <p:nvSpPr>
          <p:cNvPr id="656" name="Google Shape;656;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10.6.9 - </a:t>
            </a:r>
            <a:r>
              <a:rPr lang="en-US" sz="1200"/>
              <a:t>Password Recovery Example (Cont.)</a:t>
            </a:r>
            <a:endParaRPr/>
          </a:p>
        </p:txBody>
      </p:sp>
      <p:sp>
        <p:nvSpPr>
          <p:cNvPr id="664" name="Google Shape;664;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10.6.9 - </a:t>
            </a:r>
            <a:r>
              <a:rPr lang="en-US" sz="1200"/>
              <a:t>Password Recovery Example (Cont.)</a:t>
            </a:r>
            <a:endParaRPr/>
          </a:p>
        </p:txBody>
      </p:sp>
      <p:sp>
        <p:nvSpPr>
          <p:cNvPr id="672" name="Google Shape;672;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10.6.9 - </a:t>
            </a:r>
            <a:r>
              <a:rPr lang="en-US" sz="1200"/>
              <a:t>Password Recovery Example (Cont.)</a:t>
            </a:r>
            <a:endParaRPr/>
          </a:p>
        </p:txBody>
      </p:sp>
      <p:sp>
        <p:nvSpPr>
          <p:cNvPr id="680" name="Google Shape;680;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10.6.10 - </a:t>
            </a:r>
            <a:r>
              <a:rPr lang="en-US" sz="1200"/>
              <a:t>Packet Tracer - Backup Configuration Files</a:t>
            </a:r>
            <a:endParaRPr/>
          </a:p>
        </p:txBody>
      </p:sp>
      <p:sp>
        <p:nvSpPr>
          <p:cNvPr id="688" name="Google Shape;688;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10.6.11 - </a:t>
            </a:r>
            <a:r>
              <a:rPr lang="en-US" sz="1200"/>
              <a:t>Lab - Use Tera Term to Manage Router Configuration Files</a:t>
            </a:r>
            <a:endParaRPr/>
          </a:p>
        </p:txBody>
      </p:sp>
      <p:sp>
        <p:nvSpPr>
          <p:cNvPr id="695" name="Google Shape;695;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10.6.12 – PTPM and </a:t>
            </a:r>
            <a:r>
              <a:rPr lang="en-US" sz="1200"/>
              <a:t>Lab - Use TFTP, Flash, and USB to Manage Configuration Files</a:t>
            </a:r>
            <a:endParaRPr/>
          </a:p>
        </p:txBody>
      </p:sp>
      <p:sp>
        <p:nvSpPr>
          <p:cNvPr id="702" name="Google Shape;702;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10.6 - Router and Switch File Maintenance</a:t>
            </a:r>
            <a:endParaRPr/>
          </a:p>
          <a:p>
            <a:pPr indent="0" lvl="0" marL="0" rtl="0" algn="l">
              <a:spcBef>
                <a:spcPts val="0"/>
              </a:spcBef>
              <a:spcAft>
                <a:spcPts val="0"/>
              </a:spcAft>
              <a:buNone/>
            </a:pPr>
            <a:r>
              <a:rPr lang="en-US"/>
              <a:t>10.6.13 – PTPM and </a:t>
            </a:r>
            <a:r>
              <a:rPr lang="en-US" sz="1200"/>
              <a:t>Lab - Research Password Recovery Procedures</a:t>
            </a:r>
            <a:endParaRPr/>
          </a:p>
        </p:txBody>
      </p:sp>
      <p:sp>
        <p:nvSpPr>
          <p:cNvPr id="709" name="Google Shape;709;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p:txBody>
      </p:sp>
      <p:sp>
        <p:nvSpPr>
          <p:cNvPr id="716" name="Google Shape;716;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10.7.1 - Video - Managing Cisco IOS Images</a:t>
            </a:r>
            <a:endParaRPr/>
          </a:p>
        </p:txBody>
      </p:sp>
      <p:sp>
        <p:nvSpPr>
          <p:cNvPr id="722" name="Google Shape;722;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10.7.2 - </a:t>
            </a:r>
            <a:r>
              <a:rPr lang="en-US" sz="1200"/>
              <a:t>TFTP Servers as a Backup Location</a:t>
            </a:r>
            <a:endParaRPr/>
          </a:p>
        </p:txBody>
      </p:sp>
      <p:sp>
        <p:nvSpPr>
          <p:cNvPr id="729" name="Google Shape;729;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10.7.3 - </a:t>
            </a:r>
            <a:r>
              <a:rPr lang="en-US" sz="1200"/>
              <a:t>Backup IOS Image to TFTP Server Example</a:t>
            </a:r>
            <a:endParaRPr/>
          </a:p>
        </p:txBody>
      </p:sp>
      <p:sp>
        <p:nvSpPr>
          <p:cNvPr id="736" name="Google Shape;736;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10.7.4 - </a:t>
            </a:r>
            <a:r>
              <a:rPr lang="en-US" sz="1200"/>
              <a:t>Copy an IOS Image to a Device Example</a:t>
            </a:r>
            <a:endParaRPr/>
          </a:p>
        </p:txBody>
      </p:sp>
      <p:sp>
        <p:nvSpPr>
          <p:cNvPr id="743" name="Google Shape;743;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10.7.5 -</a:t>
            </a:r>
            <a:r>
              <a:rPr lang="en-US" sz="1200"/>
              <a:t>The boot system Command</a:t>
            </a:r>
            <a:endParaRPr/>
          </a:p>
        </p:txBody>
      </p:sp>
      <p:sp>
        <p:nvSpPr>
          <p:cNvPr id="751" name="Google Shape;751;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Maintenance</a:t>
            </a:r>
            <a:endParaRPr/>
          </a:p>
          <a:p>
            <a:pPr indent="0" lvl="0" marL="0" rtl="0" algn="l">
              <a:spcBef>
                <a:spcPts val="0"/>
              </a:spcBef>
              <a:spcAft>
                <a:spcPts val="0"/>
              </a:spcAft>
              <a:buNone/>
            </a:pPr>
            <a:r>
              <a:rPr lang="en-US"/>
              <a:t>10.7 - IOS Image Management</a:t>
            </a:r>
            <a:endParaRPr/>
          </a:p>
          <a:p>
            <a:pPr indent="0" lvl="0" marL="0" rtl="0" algn="l">
              <a:spcBef>
                <a:spcPts val="0"/>
              </a:spcBef>
              <a:spcAft>
                <a:spcPts val="0"/>
              </a:spcAft>
              <a:buNone/>
            </a:pPr>
            <a:r>
              <a:rPr lang="en-US"/>
              <a:t>10.7.6 – Packet Tracer – Use a TFTP Server to Upgrade a Cisco IOS Image</a:t>
            </a:r>
            <a:endParaRPr/>
          </a:p>
        </p:txBody>
      </p:sp>
      <p:sp>
        <p:nvSpPr>
          <p:cNvPr id="759" name="Google Shape;759;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Clr>
                <a:schemeClr val="dk1"/>
              </a:buClr>
              <a:buSzPts val="1200"/>
              <a:buFont typeface="Calibri"/>
              <a:buNone/>
            </a:pPr>
            <a:r>
              <a:t/>
            </a:r>
            <a:endParaRPr/>
          </a:p>
        </p:txBody>
      </p:sp>
      <p:sp>
        <p:nvSpPr>
          <p:cNvPr id="766" name="Google Shape;766;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771" name="Google Shape;771;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10.8.1 - Packet Tracer - Configure CDP, LLDP, and NTP</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778" name="Google Shape;778;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9" name="Google Shape;779;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10.8.2 - Lab - Configure CDP, LLDP, and NTP</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785" name="Google Shape;785;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6" name="Google Shape;786;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10.8.3 - What Did I Learn In This Module?</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792" name="Google Shape;792;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3" name="Google Shape;793;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10.8.3 - What Did I Learn In This Module? (Cont.)</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799" name="Google Shape;799;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10.8.3 - What Did I Learn In This Module? (Cont.)</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806" name="Google Shape;80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10.8.3 - What Did I Learn In This Module? (Cont.)</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813" name="Google Shape;813;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 Network Management</a:t>
            </a:r>
            <a:endParaRPr/>
          </a:p>
          <a:p>
            <a:pPr indent="0" lvl="0" marL="0" rtl="0" algn="l">
              <a:spcBef>
                <a:spcPts val="0"/>
              </a:spcBef>
              <a:spcAft>
                <a:spcPts val="0"/>
              </a:spcAft>
              <a:buNone/>
            </a:pPr>
            <a:r>
              <a:rPr lang="en-US"/>
              <a:t>10.8 - Module Practice and Quiz</a:t>
            </a:r>
            <a:endParaRPr/>
          </a:p>
          <a:p>
            <a:pPr indent="0" lvl="0" marL="0" rtl="0" algn="l">
              <a:spcBef>
                <a:spcPts val="0"/>
              </a:spcBef>
              <a:spcAft>
                <a:spcPts val="0"/>
              </a:spcAft>
              <a:buNone/>
            </a:pPr>
            <a:r>
              <a:rPr lang="en-US"/>
              <a:t>10.8.3 - What Did I Learn In This Module? (Cont.)</a:t>
            </a:r>
            <a:endParaRPr/>
          </a:p>
          <a:p>
            <a:pPr indent="0" lvl="0" marL="0" rtl="0" algn="l">
              <a:spcBef>
                <a:spcPts val="0"/>
              </a:spcBef>
              <a:spcAft>
                <a:spcPts val="0"/>
              </a:spcAft>
              <a:buNone/>
            </a:pPr>
            <a:r>
              <a:rPr lang="en-US"/>
              <a:t>10.8.4 - Module Quiz - Network Management</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820" name="Google Shape;820;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1" name="Google Shape;821;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828" name="Google Shape;828;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8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8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8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8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8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8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84"/>
          <p:cNvGrpSpPr/>
          <p:nvPr/>
        </p:nvGrpSpPr>
        <p:grpSpPr>
          <a:xfrm>
            <a:off x="492125" y="395288"/>
            <a:ext cx="796924" cy="423863"/>
            <a:chOff x="310" y="249"/>
            <a:chExt cx="502" cy="267"/>
          </a:xfrm>
        </p:grpSpPr>
        <p:sp>
          <p:nvSpPr>
            <p:cNvPr id="36" name="Google Shape;36;p8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8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8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8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8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8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8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8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8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8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8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8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8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8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85"/>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8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8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86"/>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86"/>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86"/>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86"/>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86"/>
          <p:cNvGrpSpPr/>
          <p:nvPr/>
        </p:nvGrpSpPr>
        <p:grpSpPr>
          <a:xfrm>
            <a:off x="508039" y="4715197"/>
            <a:ext cx="340257" cy="180974"/>
            <a:chOff x="310" y="249"/>
            <a:chExt cx="502" cy="267"/>
          </a:xfrm>
        </p:grpSpPr>
        <p:sp>
          <p:nvSpPr>
            <p:cNvPr id="60" name="Google Shape;60;p86"/>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8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8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8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8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8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8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8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8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8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8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8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8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8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87"/>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87"/>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88"/>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88"/>
          <p:cNvGrpSpPr/>
          <p:nvPr/>
        </p:nvGrpSpPr>
        <p:grpSpPr>
          <a:xfrm>
            <a:off x="3746294" y="2129856"/>
            <a:ext cx="1617944" cy="860542"/>
            <a:chOff x="310" y="249"/>
            <a:chExt cx="502" cy="267"/>
          </a:xfrm>
        </p:grpSpPr>
        <p:sp>
          <p:nvSpPr>
            <p:cNvPr id="80" name="Google Shape;80;p88"/>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8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8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8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8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8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8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8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8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8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8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8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8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8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89"/>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89"/>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89"/>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89"/>
          <p:cNvGrpSpPr/>
          <p:nvPr/>
        </p:nvGrpSpPr>
        <p:grpSpPr>
          <a:xfrm>
            <a:off x="492125" y="395288"/>
            <a:ext cx="796924" cy="423863"/>
            <a:chOff x="310" y="249"/>
            <a:chExt cx="502" cy="267"/>
          </a:xfrm>
        </p:grpSpPr>
        <p:sp>
          <p:nvSpPr>
            <p:cNvPr id="99" name="Google Shape;99;p89"/>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8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8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8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8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8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8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8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8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8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8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8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8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8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89"/>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89"/>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90"/>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9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9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9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90"/>
          <p:cNvGrpSpPr/>
          <p:nvPr/>
        </p:nvGrpSpPr>
        <p:grpSpPr>
          <a:xfrm>
            <a:off x="492125" y="395288"/>
            <a:ext cx="796924" cy="423863"/>
            <a:chOff x="310" y="249"/>
            <a:chExt cx="502" cy="267"/>
          </a:xfrm>
        </p:grpSpPr>
        <p:sp>
          <p:nvSpPr>
            <p:cNvPr id="121" name="Google Shape;121;p9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9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9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9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9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9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9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9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9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9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9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9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9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9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9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9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9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92"/>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92"/>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92"/>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92"/>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92"/>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92"/>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92"/>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92"/>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92"/>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9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93"/>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93"/>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93"/>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93"/>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93"/>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93"/>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93"/>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93"/>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93"/>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93"/>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93"/>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93"/>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93"/>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93"/>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93"/>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9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94"/>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94"/>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94"/>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94"/>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94"/>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94"/>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94"/>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94"/>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94"/>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94"/>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94"/>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94"/>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94"/>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94"/>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94"/>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94"/>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94"/>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94"/>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94"/>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94"/>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94"/>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94"/>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94"/>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94"/>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94"/>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94"/>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94"/>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94"/>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94"/>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94"/>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95"/>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95"/>
          <p:cNvGrpSpPr/>
          <p:nvPr/>
        </p:nvGrpSpPr>
        <p:grpSpPr>
          <a:xfrm>
            <a:off x="3746294" y="2129856"/>
            <a:ext cx="1617944" cy="860542"/>
            <a:chOff x="310" y="249"/>
            <a:chExt cx="502" cy="267"/>
          </a:xfrm>
        </p:grpSpPr>
        <p:sp>
          <p:nvSpPr>
            <p:cNvPr id="201" name="Google Shape;201;p9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9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9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9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9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9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9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9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9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9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9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9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9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9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96"/>
          <p:cNvGrpSpPr/>
          <p:nvPr/>
        </p:nvGrpSpPr>
        <p:grpSpPr>
          <a:xfrm>
            <a:off x="3746294" y="2129856"/>
            <a:ext cx="1617944" cy="860542"/>
            <a:chOff x="310" y="249"/>
            <a:chExt cx="502" cy="267"/>
          </a:xfrm>
        </p:grpSpPr>
        <p:sp>
          <p:nvSpPr>
            <p:cNvPr id="217" name="Google Shape;217;p96"/>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9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9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9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9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9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9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9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9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9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9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9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9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9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9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8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83"/>
          <p:cNvSpPr/>
          <p:nvPr/>
        </p:nvSpPr>
        <p:spPr>
          <a:xfrm>
            <a:off x="5567347" y="4741653"/>
            <a:ext cx="2958179"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a:p>
        </p:txBody>
      </p:sp>
      <p:grpSp>
        <p:nvGrpSpPr>
          <p:cNvPr id="13" name="Google Shape;13;p83"/>
          <p:cNvGrpSpPr/>
          <p:nvPr/>
        </p:nvGrpSpPr>
        <p:grpSpPr>
          <a:xfrm>
            <a:off x="508039" y="4715197"/>
            <a:ext cx="340257" cy="180974"/>
            <a:chOff x="310" y="249"/>
            <a:chExt cx="502" cy="267"/>
          </a:xfrm>
        </p:grpSpPr>
        <p:sp>
          <p:nvSpPr>
            <p:cNvPr id="14" name="Google Shape;14;p8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8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8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8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8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8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8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8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8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8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8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8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8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8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hyperlink" Target="http://www.cisco.com/" TargetMode="Externa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idx="1" type="subTitle"/>
          </p:nvPr>
        </p:nvSpPr>
        <p:spPr>
          <a:xfrm>
            <a:off x="469496" y="3809526"/>
            <a:ext cx="3804791"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a:t>
            </a:r>
            <a:endParaRPr/>
          </a:p>
          <a:p>
            <a:pPr indent="0" lvl="0" marL="0" rtl="0" algn="l">
              <a:lnSpc>
                <a:spcPct val="95000"/>
              </a:lnSpc>
              <a:spcBef>
                <a:spcPts val="0"/>
              </a:spcBef>
              <a:spcAft>
                <a:spcPts val="0"/>
              </a:spcAft>
              <a:buSzPts val="1080"/>
              <a:buNone/>
            </a:pPr>
            <a:r>
              <a:rPr lang="en-US">
                <a:solidFill>
                  <a:srgbClr val="AEE8FA"/>
                </a:solidFill>
              </a:rPr>
              <a:t>(ENSA)</a:t>
            </a:r>
            <a:endParaRPr/>
          </a:p>
          <a:p>
            <a:pPr indent="0" lvl="0" marL="0" rtl="0" algn="l">
              <a:lnSpc>
                <a:spcPct val="95000"/>
              </a:lnSpc>
              <a:spcBef>
                <a:spcPts val="1075"/>
              </a:spcBef>
              <a:spcAft>
                <a:spcPts val="0"/>
              </a:spcAft>
              <a:buSzPts val="1080"/>
              <a:buNone/>
            </a:pPr>
            <a:r>
              <a:t/>
            </a:r>
            <a:endParaRPr/>
          </a:p>
        </p:txBody>
      </p:sp>
      <p:sp>
        <p:nvSpPr>
          <p:cNvPr id="239" name="Google Shape;239;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10: Network Management</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Module Objectives</a:t>
            </a:r>
            <a:endParaRPr/>
          </a:p>
        </p:txBody>
      </p:sp>
      <p:sp>
        <p:nvSpPr>
          <p:cNvPr id="246" name="Google Shape;246;p2"/>
          <p:cNvSpPr txBox="1"/>
          <p:nvPr>
            <p:ph idx="1" type="body"/>
          </p:nvPr>
        </p:nvSpPr>
        <p:spPr>
          <a:xfrm>
            <a:off x="144065" y="798944"/>
            <a:ext cx="8853286" cy="7575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Clr>
                <a:srgbClr val="000000"/>
              </a:buClr>
              <a:buSzPts val="1400"/>
              <a:buNone/>
            </a:pPr>
            <a:r>
              <a:rPr b="1" lang="en-US" sz="1400"/>
              <a:t>Module Title: </a:t>
            </a:r>
            <a:r>
              <a:rPr lang="en-US"/>
              <a:t>Network Management</a:t>
            </a:r>
            <a:endParaRPr sz="1400"/>
          </a:p>
          <a:p>
            <a:pPr indent="0" lvl="0" marL="0" rtl="0" algn="l">
              <a:lnSpc>
                <a:spcPct val="100000"/>
              </a:lnSpc>
              <a:spcBef>
                <a:spcPts val="0"/>
              </a:spcBef>
              <a:spcAft>
                <a:spcPts val="0"/>
              </a:spcAft>
              <a:buClr>
                <a:srgbClr val="000000"/>
              </a:buClr>
              <a:buSzPts val="1400"/>
              <a:buNone/>
            </a:pPr>
            <a:r>
              <a:t/>
            </a:r>
            <a:endParaRPr sz="1400"/>
          </a:p>
          <a:p>
            <a:pPr indent="0" lvl="0" marL="0" rtl="0" algn="l">
              <a:lnSpc>
                <a:spcPct val="100000"/>
              </a:lnSpc>
              <a:spcBef>
                <a:spcPts val="0"/>
              </a:spcBef>
              <a:spcAft>
                <a:spcPts val="0"/>
              </a:spcAft>
              <a:buClr>
                <a:srgbClr val="000000"/>
              </a:buClr>
              <a:buSzPts val="1400"/>
              <a:buNone/>
            </a:pPr>
            <a:r>
              <a:rPr b="1" lang="en-US" sz="1400"/>
              <a:t>Module Objective</a:t>
            </a:r>
            <a:r>
              <a:rPr lang="en-US" sz="1400"/>
              <a:t>: </a:t>
            </a:r>
            <a:r>
              <a:rPr lang="en-US"/>
              <a:t> Implement protocols to manage the network.</a:t>
            </a:r>
            <a:endParaRPr/>
          </a:p>
        </p:txBody>
      </p:sp>
      <p:graphicFrame>
        <p:nvGraphicFramePr>
          <p:cNvPr id="247" name="Google Shape;247;p2"/>
          <p:cNvGraphicFramePr/>
          <p:nvPr/>
        </p:nvGraphicFramePr>
        <p:xfrm>
          <a:off x="440234" y="1662316"/>
          <a:ext cx="3000000" cy="3000000"/>
        </p:xfrm>
        <a:graphic>
          <a:graphicData uri="http://schemas.openxmlformats.org/drawingml/2006/table">
            <a:tbl>
              <a:tblPr bandRow="1" firstRow="1">
                <a:noFill/>
                <a:tableStyleId>{B53E40A0-49D7-40C5-8350-70DE36F2940E}</a:tableStyleId>
              </a:tblPr>
              <a:tblGrid>
                <a:gridCol w="3014825"/>
                <a:gridCol w="4882000"/>
              </a:tblGrid>
              <a:tr h="272850">
                <a:tc>
                  <a:txBody>
                    <a:bodyPr/>
                    <a:lstStyle/>
                    <a:p>
                      <a:pPr indent="0" lvl="0" marL="0" marR="0" rtl="0" algn="l">
                        <a:spcBef>
                          <a:spcPts val="0"/>
                        </a:spcBef>
                        <a:spcAft>
                          <a:spcPts val="0"/>
                        </a:spcAft>
                        <a:buNone/>
                      </a:pPr>
                      <a:r>
                        <a:rPr b="1" lang="en-US" sz="1400" u="none" cap="none" strike="noStrike"/>
                        <a:t>Topic Title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Topic Objective</a:t>
                      </a:r>
                      <a:endParaRPr sz="1400" u="none" cap="none" strike="noStrike"/>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Device Discovery with CDP</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Use CDP to map a network topology.</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Device Discovery with LLDP</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Use LLDP to map a network topology.</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NTP</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Implement NTP between an NTP client and NTP server.</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SNMP</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Explain how SNMP operates.</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Syslog</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Explain syslog operation.</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Router and Switch File Maintenance</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Use commands to back up and restore an IOS configuration file.</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IOS Image Management</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Implement protocols to manage the network.</a:t>
                      </a:r>
                      <a:endParaRPr/>
                    </a:p>
                  </a:txBody>
                  <a:tcPr marT="47625" marB="47625" marR="47625" marL="47625" anchor="ctr"/>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10.1 Device Discovery with CDP</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CDP</a:t>
            </a:r>
            <a:br>
              <a:rPr lang="en-US"/>
            </a:br>
            <a:r>
              <a:rPr lang="en-US" sz="2400"/>
              <a:t>CDP Overview</a:t>
            </a:r>
            <a:endParaRPr/>
          </a:p>
        </p:txBody>
      </p:sp>
      <p:sp>
        <p:nvSpPr>
          <p:cNvPr id="260" name="Google Shape;260;p4"/>
          <p:cNvSpPr txBox="1"/>
          <p:nvPr>
            <p:ph idx="1" type="body"/>
          </p:nvPr>
        </p:nvSpPr>
        <p:spPr>
          <a:xfrm>
            <a:off x="474662" y="731838"/>
            <a:ext cx="8280057" cy="194510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CDP is a Cisco proprietary Layer 2 protocol that is used to </a:t>
            </a:r>
            <a:r>
              <a:rPr lang="en-US" sz="1600">
                <a:solidFill>
                  <a:srgbClr val="FF0000"/>
                </a:solidFill>
              </a:rPr>
              <a:t>gather information about Cisco devices</a:t>
            </a:r>
            <a:r>
              <a:rPr lang="en-US" sz="1600">
                <a:solidFill>
                  <a:srgbClr val="000000"/>
                </a:solidFill>
              </a:rPr>
              <a:t> which share the </a:t>
            </a:r>
            <a:r>
              <a:rPr lang="en-US" sz="1600">
                <a:solidFill>
                  <a:srgbClr val="FF0000"/>
                </a:solidFill>
              </a:rPr>
              <a:t>same data link</a:t>
            </a:r>
            <a:r>
              <a:rPr lang="en-US" sz="1600">
                <a:solidFill>
                  <a:srgbClr val="000000"/>
                </a:solidFill>
              </a:rPr>
              <a:t>. CDP is media and protocol independent and runs on all Cisco devices, such as routers, switches, and access servers.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device sends periodic CDP advertisements to connected devices. These advertisements share information about the type of device that is discovered, the name of the devices, and the number and type of the interfaces.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61" name="Google Shape;261;p4"/>
          <p:cNvPicPr preferRelativeResize="0"/>
          <p:nvPr/>
        </p:nvPicPr>
        <p:blipFill rotWithShape="1">
          <a:blip r:embed="rId3">
            <a:alphaModFix/>
          </a:blip>
          <a:srcRect b="0" l="0" r="0" t="0"/>
          <a:stretch/>
        </p:blipFill>
        <p:spPr>
          <a:xfrm>
            <a:off x="1618229" y="2849335"/>
            <a:ext cx="5107896" cy="8245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CDP</a:t>
            </a:r>
            <a:br>
              <a:rPr lang="en-US"/>
            </a:br>
            <a:r>
              <a:rPr lang="en-US" sz="2400"/>
              <a:t>Configure and Verify CDP</a:t>
            </a:r>
            <a:endParaRPr/>
          </a:p>
        </p:txBody>
      </p:sp>
      <p:sp>
        <p:nvSpPr>
          <p:cNvPr id="268" name="Google Shape;268;p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For Cisco devices, CDP is enabled by default. To verify the status of CDP and display information about CDP, enter the </a:t>
            </a:r>
            <a:r>
              <a:rPr b="1" lang="en-US" sz="1600">
                <a:solidFill>
                  <a:srgbClr val="000000"/>
                </a:solidFill>
              </a:rPr>
              <a:t>show cdp</a:t>
            </a:r>
            <a:r>
              <a:rPr lang="en-US" sz="1600">
                <a:solidFill>
                  <a:srgbClr val="000000"/>
                </a:solidFill>
              </a:rPr>
              <a:t> command.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To disable </a:t>
            </a:r>
            <a:r>
              <a:rPr lang="en-US" sz="1600">
                <a:solidFill>
                  <a:srgbClr val="FF0000"/>
                </a:solidFill>
              </a:rPr>
              <a:t>CDP on a specific interface</a:t>
            </a:r>
            <a:r>
              <a:rPr lang="en-US" sz="1600">
                <a:solidFill>
                  <a:srgbClr val="000000"/>
                </a:solidFill>
              </a:rPr>
              <a:t>, enter </a:t>
            </a:r>
            <a:r>
              <a:rPr b="1" lang="en-US" sz="1600">
                <a:solidFill>
                  <a:srgbClr val="000000"/>
                </a:solidFill>
              </a:rPr>
              <a:t>no cdp enable</a:t>
            </a:r>
            <a:r>
              <a:rPr lang="en-US" sz="1600">
                <a:solidFill>
                  <a:srgbClr val="000000"/>
                </a:solidFill>
              </a:rPr>
              <a:t> in the interface configuration mode. CDP is still enabled on the device; however, no more CDP advertisements will be sent out that interface. To enable CDP on the specific interface again, enter </a:t>
            </a:r>
            <a:r>
              <a:rPr b="1" lang="en-US" sz="1600">
                <a:solidFill>
                  <a:srgbClr val="000000"/>
                </a:solidFill>
              </a:rPr>
              <a:t>cdp enable.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To enable </a:t>
            </a:r>
            <a:r>
              <a:rPr lang="en-US" sz="1600">
                <a:solidFill>
                  <a:srgbClr val="FF0000"/>
                </a:solidFill>
              </a:rPr>
              <a:t>CDP globally </a:t>
            </a:r>
            <a:r>
              <a:rPr lang="en-US" sz="1600">
                <a:solidFill>
                  <a:srgbClr val="000000"/>
                </a:solidFill>
              </a:rPr>
              <a:t>for all the supported interfaces on the device, enter </a:t>
            </a:r>
            <a:r>
              <a:rPr b="1" lang="en-US" sz="1600">
                <a:solidFill>
                  <a:srgbClr val="000000"/>
                </a:solidFill>
              </a:rPr>
              <a:t>cdp run</a:t>
            </a:r>
            <a:r>
              <a:rPr lang="en-US" sz="1600">
                <a:solidFill>
                  <a:srgbClr val="000000"/>
                </a:solidFill>
              </a:rPr>
              <a:t> in the global configuration mode. CDP can be disabled for all the interfaces on the device with the </a:t>
            </a:r>
            <a:r>
              <a:rPr b="1" lang="en-US" sz="1600">
                <a:solidFill>
                  <a:srgbClr val="000000"/>
                </a:solidFill>
              </a:rPr>
              <a:t>no cdp run</a:t>
            </a:r>
            <a:r>
              <a:rPr lang="en-US" sz="1600">
                <a:solidFill>
                  <a:srgbClr val="000000"/>
                </a:solidFill>
              </a:rPr>
              <a:t> command in the global configuration mode.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show cdp interface</a:t>
            </a:r>
            <a:r>
              <a:rPr lang="en-US" sz="1600">
                <a:solidFill>
                  <a:srgbClr val="000000"/>
                </a:solidFill>
              </a:rPr>
              <a:t> command to display the interfaces that are CDP-enabled on a device. The status of each interface is also displayed.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CDP</a:t>
            </a:r>
            <a:br>
              <a:rPr lang="en-US"/>
            </a:br>
            <a:r>
              <a:rPr lang="en-US" sz="2400"/>
              <a:t>Discover Devices by Using CDP</a:t>
            </a:r>
            <a:endParaRPr/>
          </a:p>
        </p:txBody>
      </p:sp>
      <p:sp>
        <p:nvSpPr>
          <p:cNvPr id="275" name="Google Shape;275;p6"/>
          <p:cNvSpPr txBox="1"/>
          <p:nvPr>
            <p:ph idx="1" type="body"/>
          </p:nvPr>
        </p:nvSpPr>
        <p:spPr>
          <a:xfrm>
            <a:off x="474662" y="731838"/>
            <a:ext cx="8280057" cy="129574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With CDP enabled on the network, the </a:t>
            </a:r>
            <a:r>
              <a:rPr b="1" lang="en-US" sz="1600">
                <a:solidFill>
                  <a:srgbClr val="000000"/>
                </a:solidFill>
              </a:rPr>
              <a:t>show cdp neighbors</a:t>
            </a:r>
            <a:r>
              <a:rPr lang="en-US" sz="1600">
                <a:solidFill>
                  <a:srgbClr val="000000"/>
                </a:solidFill>
              </a:rPr>
              <a:t> command can be used to determine the network layout, as shown in the output.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output shows that there is another Cisco device, S1, connected to the G0/0/1 interface on R1. Furthermore, S1 is connected through its F0/5</a:t>
            </a:r>
            <a:endParaRPr/>
          </a:p>
        </p:txBody>
      </p:sp>
      <p:sp>
        <p:nvSpPr>
          <p:cNvPr id="276" name="Google Shape;276;p6"/>
          <p:cNvSpPr/>
          <p:nvPr/>
        </p:nvSpPr>
        <p:spPr>
          <a:xfrm>
            <a:off x="389281" y="2161315"/>
            <a:ext cx="8280057" cy="160043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show cdp neighbors</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Capability Codes: R - Router, T - Trans Bridge, B - Source Route Bridge</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				 S - Switch, H - Host, I - IGMP, r - Repeater, P - Phone,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				 D - Remote, C - CVTA, M - Two-port Mac Relay </a:t>
            </a:r>
            <a:endParaRPr/>
          </a:p>
          <a:p>
            <a:pPr indent="0" lvl="0" marL="0" marR="0" rtl="0" algn="l">
              <a:spcBef>
                <a:spcPts val="0"/>
              </a:spcBef>
              <a:spcAft>
                <a:spcPts val="0"/>
              </a:spcAft>
              <a:buNone/>
            </a:pPr>
            <a:r>
              <a:t/>
            </a:r>
            <a:endParaRPr sz="14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Device ID 		Local Intrfce 	Holdtme 	Capability 	Platform 	Port ID </a:t>
            </a:r>
            <a:endParaRPr/>
          </a:p>
          <a:p>
            <a:pPr indent="0" lvl="0" marL="0" marR="0" rtl="0" algn="l">
              <a:spcBef>
                <a:spcPts val="0"/>
              </a:spcBef>
              <a:spcAft>
                <a:spcPts val="0"/>
              </a:spcAft>
              <a:buNone/>
            </a:pPr>
            <a:r>
              <a:rPr lang="en-US" sz="1400">
                <a:solidFill>
                  <a:srgbClr val="FBAB18"/>
                </a:solidFill>
                <a:latin typeface="Courier New"/>
                <a:ea typeface="Courier New"/>
                <a:cs typeface="Courier New"/>
                <a:sym typeface="Courier New"/>
              </a:rPr>
              <a:t>S1 				Gig 0/0/1 		  179 	   S I 		WS-C3560- 	Fas 0/5</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CDP</a:t>
            </a:r>
            <a:br>
              <a:rPr lang="en-US"/>
            </a:br>
            <a:r>
              <a:rPr lang="en-US" sz="2400"/>
              <a:t>Discover Devices by Using CDP (Cont.)</a:t>
            </a:r>
            <a:endParaRPr/>
          </a:p>
        </p:txBody>
      </p:sp>
      <p:sp>
        <p:nvSpPr>
          <p:cNvPr id="283" name="Google Shape;283;p7"/>
          <p:cNvSpPr txBox="1"/>
          <p:nvPr>
            <p:ph idx="1" type="body"/>
          </p:nvPr>
        </p:nvSpPr>
        <p:spPr>
          <a:xfrm>
            <a:off x="474662" y="731838"/>
            <a:ext cx="8280057" cy="73183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network administrator uses </a:t>
            </a:r>
            <a:r>
              <a:rPr b="1" lang="en-US" sz="1600">
                <a:solidFill>
                  <a:srgbClr val="000000"/>
                </a:solidFill>
              </a:rPr>
              <a:t>show cdp neighbors detail</a:t>
            </a:r>
            <a:r>
              <a:rPr lang="en-US" sz="1600">
                <a:solidFill>
                  <a:srgbClr val="000000"/>
                </a:solidFill>
              </a:rPr>
              <a:t> to discover the IP address for S1. As displayed in the output, the address for S1 is 192.168.1.2.</a:t>
            </a:r>
            <a:endParaRPr/>
          </a:p>
        </p:txBody>
      </p:sp>
      <p:sp>
        <p:nvSpPr>
          <p:cNvPr id="284" name="Google Shape;284;p7"/>
          <p:cNvSpPr/>
          <p:nvPr/>
        </p:nvSpPr>
        <p:spPr>
          <a:xfrm>
            <a:off x="237491" y="1772018"/>
            <a:ext cx="8754398" cy="2246769"/>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show cdp neighbors detail</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Device ID: S1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Entry address(es): </a:t>
            </a:r>
            <a:endParaRPr/>
          </a:p>
          <a:p>
            <a:pPr indent="0" lvl="0" marL="0" marR="0" rtl="0" algn="l">
              <a:spcBef>
                <a:spcPts val="0"/>
              </a:spcBef>
              <a:spcAft>
                <a:spcPts val="0"/>
              </a:spcAft>
              <a:buNone/>
            </a:pPr>
            <a:r>
              <a:rPr lang="en-US" sz="1400">
                <a:solidFill>
                  <a:srgbClr val="FBAB18"/>
                </a:solidFill>
                <a:latin typeface="Courier New"/>
                <a:ea typeface="Courier New"/>
                <a:cs typeface="Courier New"/>
                <a:sym typeface="Courier New"/>
              </a:rPr>
              <a:t>  IP address: 192.168.1.2</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Platform: cisco WS-C3560-24TS, Capabilities: Switch IGMP</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Interface: GigabitEthernet0/0/1, Port ID (outgoing port): FastEthernet0/5</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Holdtime : 136 sec </a:t>
            </a:r>
            <a:endParaRPr/>
          </a:p>
          <a:p>
            <a:pPr indent="0" lvl="0" marL="0" marR="0" rtl="0" algn="l">
              <a:spcBef>
                <a:spcPts val="0"/>
              </a:spcBef>
              <a:spcAft>
                <a:spcPts val="0"/>
              </a:spcAft>
              <a:buNone/>
            </a:pPr>
            <a:r>
              <a:t/>
            </a:r>
            <a:endParaRPr sz="14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(output omitted)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CDP</a:t>
            </a:r>
            <a:br>
              <a:rPr lang="en-US"/>
            </a:br>
            <a:r>
              <a:rPr lang="en-US" sz="2400"/>
              <a:t>Packet Tracer - Use CDP to Map a Network</a:t>
            </a:r>
            <a:endParaRPr/>
          </a:p>
        </p:txBody>
      </p:sp>
      <p:sp>
        <p:nvSpPr>
          <p:cNvPr id="291" name="Google Shape;291;p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senior network administrator requires you to map the Remote Branch Office network and discover the name of a recently installed switch that still needs an IPv4 address to be configured. Your task is to create a map of the branch office network. To map the network, you will use SSH for remote access and the Cisco Discovery Protocol (CDP) to discover information about neighboring network devices, like routers and switches.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9"/>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10.2 Device Discovery with LLDP</a:t>
            </a:r>
            <a:endParaRPr/>
          </a:p>
        </p:txBody>
      </p:sp>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LLDP</a:t>
            </a:r>
            <a:br>
              <a:rPr lang="en-US"/>
            </a:br>
            <a:r>
              <a:rPr lang="en-US" sz="2400"/>
              <a:t>LLDP Overview</a:t>
            </a:r>
            <a:endParaRPr/>
          </a:p>
        </p:txBody>
      </p:sp>
      <p:sp>
        <p:nvSpPr>
          <p:cNvPr id="304" name="Google Shape;304;p10"/>
          <p:cNvSpPr txBox="1"/>
          <p:nvPr>
            <p:ph idx="1" type="body"/>
          </p:nvPr>
        </p:nvSpPr>
        <p:spPr>
          <a:xfrm>
            <a:off x="474662" y="731837"/>
            <a:ext cx="8280057" cy="106340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Link Layer Discovery Protocol (LLDP) is a vendor-neutral neighbor discovery protocol similar to CDP. LLDP works with network devices, such as routers, switches, and wireless LAN access points. This protocol advertises its identity and capabilities to other devices and receives the information from a physically-connected Layer 2 device.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305" name="Google Shape;305;p10"/>
          <p:cNvPicPr preferRelativeResize="0"/>
          <p:nvPr/>
        </p:nvPicPr>
        <p:blipFill rotWithShape="1">
          <a:blip r:embed="rId3">
            <a:alphaModFix/>
          </a:blip>
          <a:srcRect b="0" l="0" r="0" t="0"/>
          <a:stretch/>
        </p:blipFill>
        <p:spPr>
          <a:xfrm>
            <a:off x="1689100" y="1968500"/>
            <a:ext cx="5765800" cy="1206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LLDP</a:t>
            </a:r>
            <a:br>
              <a:rPr lang="en-US"/>
            </a:br>
            <a:r>
              <a:rPr lang="en-US" sz="2400"/>
              <a:t>Configure and Verify LLDP</a:t>
            </a:r>
            <a:endParaRPr/>
          </a:p>
        </p:txBody>
      </p:sp>
      <p:sp>
        <p:nvSpPr>
          <p:cNvPr id="312" name="Google Shape;312;p11"/>
          <p:cNvSpPr txBox="1"/>
          <p:nvPr>
            <p:ph idx="1" type="body"/>
          </p:nvPr>
        </p:nvSpPr>
        <p:spPr>
          <a:xfrm>
            <a:off x="172278" y="731837"/>
            <a:ext cx="8582441" cy="1681754"/>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LLDP may be enabled by default. To enable LLDP globally on a Cisco network device, enter the </a:t>
            </a:r>
            <a:r>
              <a:rPr b="1" lang="en-US" sz="1600">
                <a:solidFill>
                  <a:srgbClr val="000000"/>
                </a:solidFill>
              </a:rPr>
              <a:t>lldp run</a:t>
            </a:r>
            <a:r>
              <a:rPr lang="en-US" sz="1600">
                <a:solidFill>
                  <a:srgbClr val="000000"/>
                </a:solidFill>
              </a:rPr>
              <a:t> command in the global config mode. To disable LLDP, enter the </a:t>
            </a:r>
            <a:r>
              <a:rPr b="1" lang="en-US" sz="1600">
                <a:solidFill>
                  <a:srgbClr val="000000"/>
                </a:solidFill>
              </a:rPr>
              <a:t>no lldp run</a:t>
            </a:r>
            <a:r>
              <a:rPr lang="en-US" sz="1600">
                <a:solidFill>
                  <a:srgbClr val="000000"/>
                </a:solidFill>
              </a:rPr>
              <a:t> command in the global config mode.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LLDP can be configured on specific interfaces. However, LLDP must be configured separately to transmit and receive LLDP packets.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To verify LLDP is enabled, enter the </a:t>
            </a:r>
            <a:r>
              <a:rPr b="1" lang="en-US" sz="1600">
                <a:solidFill>
                  <a:srgbClr val="000000"/>
                </a:solidFill>
              </a:rPr>
              <a:t>show lldp</a:t>
            </a:r>
            <a:r>
              <a:rPr lang="en-US" sz="1600">
                <a:solidFill>
                  <a:srgbClr val="000000"/>
                </a:solidFill>
              </a:rPr>
              <a:t> command in privileged EXEC mode.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313" name="Google Shape;313;p11"/>
          <p:cNvSpPr/>
          <p:nvPr/>
        </p:nvSpPr>
        <p:spPr>
          <a:xfrm>
            <a:off x="835190" y="2413591"/>
            <a:ext cx="7473619" cy="249299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 </a:t>
            </a:r>
            <a:r>
              <a:rPr b="1" lang="en-US" sz="1200">
                <a:solidFill>
                  <a:srgbClr val="FFFFFF"/>
                </a:solidFill>
                <a:latin typeface="Courier New"/>
                <a:ea typeface="Courier New"/>
                <a:cs typeface="Courier New"/>
                <a:sym typeface="Courier New"/>
              </a:rPr>
              <a:t>conf t</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Enter configuration commands, one per line. End with CNTL/Z.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Switch(config)# </a:t>
            </a:r>
            <a:r>
              <a:rPr b="1" lang="en-US" sz="1200">
                <a:solidFill>
                  <a:srgbClr val="FFFFFF"/>
                </a:solidFill>
                <a:latin typeface="Courier New"/>
                <a:ea typeface="Courier New"/>
                <a:cs typeface="Courier New"/>
                <a:sym typeface="Courier New"/>
              </a:rPr>
              <a:t>lldp run</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Switch(config)# </a:t>
            </a:r>
            <a:r>
              <a:rPr b="1" lang="en-US" sz="1200">
                <a:solidFill>
                  <a:srgbClr val="FFFFFF"/>
                </a:solidFill>
                <a:latin typeface="Courier New"/>
                <a:ea typeface="Courier New"/>
                <a:cs typeface="Courier New"/>
                <a:sym typeface="Courier New"/>
              </a:rPr>
              <a:t>interface gigabitethernet 0/1</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Switch(config-if)# </a:t>
            </a:r>
            <a:r>
              <a:rPr b="1" lang="en-US" sz="1200">
                <a:solidFill>
                  <a:srgbClr val="FFFFFF"/>
                </a:solidFill>
                <a:latin typeface="Courier New"/>
                <a:ea typeface="Courier New"/>
                <a:cs typeface="Courier New"/>
                <a:sym typeface="Courier New"/>
              </a:rPr>
              <a:t>lldp transmit</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Switch(config-if)# </a:t>
            </a:r>
            <a:r>
              <a:rPr b="1" lang="en-US" sz="1200">
                <a:solidFill>
                  <a:srgbClr val="FFFFFF"/>
                </a:solidFill>
                <a:latin typeface="Courier New"/>
                <a:ea typeface="Courier New"/>
                <a:cs typeface="Courier New"/>
                <a:sym typeface="Courier New"/>
              </a:rPr>
              <a:t>lldp receive</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Switch(config-if)# </a:t>
            </a:r>
            <a:r>
              <a:rPr b="1" lang="en-US" sz="1200">
                <a:solidFill>
                  <a:srgbClr val="DFDFDF"/>
                </a:solidFill>
                <a:latin typeface="Courier New"/>
                <a:ea typeface="Courier New"/>
                <a:cs typeface="Courier New"/>
                <a:sym typeface="Courier New"/>
              </a:rPr>
              <a:t>end</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Switch# </a:t>
            </a:r>
            <a:r>
              <a:rPr b="1" lang="en-US" sz="1200">
                <a:solidFill>
                  <a:srgbClr val="FFFFFF"/>
                </a:solidFill>
                <a:latin typeface="Courier New"/>
                <a:ea typeface="Courier New"/>
                <a:cs typeface="Courier New"/>
                <a:sym typeface="Courier New"/>
              </a:rPr>
              <a:t>show lldp</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Global LLDP Information: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Status: ACTIVE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LLDP advertisements are sent every 30 seconds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LLDP hold time advertised is 120 seconds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LLDP interface reinitialisation delay is 2 seconds</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LLDP</a:t>
            </a:r>
            <a:br>
              <a:rPr lang="en-US"/>
            </a:br>
            <a:r>
              <a:rPr lang="en-US" sz="2400"/>
              <a:t>Discover Devices by Using LLDP</a:t>
            </a:r>
            <a:endParaRPr/>
          </a:p>
        </p:txBody>
      </p:sp>
      <p:sp>
        <p:nvSpPr>
          <p:cNvPr id="320" name="Google Shape;320;p12"/>
          <p:cNvSpPr txBox="1"/>
          <p:nvPr>
            <p:ph idx="1" type="body"/>
          </p:nvPr>
        </p:nvSpPr>
        <p:spPr>
          <a:xfrm>
            <a:off x="474662" y="731838"/>
            <a:ext cx="8280057" cy="8319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With LLDP enabled, device neighbors can be discovered by using the </a:t>
            </a:r>
            <a:r>
              <a:rPr b="1" lang="en-US" sz="1600">
                <a:solidFill>
                  <a:srgbClr val="000000"/>
                </a:solidFill>
              </a:rPr>
              <a:t>show lldp neighbors</a:t>
            </a:r>
            <a:r>
              <a:rPr lang="en-US" sz="1600">
                <a:solidFill>
                  <a:srgbClr val="000000"/>
                </a:solidFill>
              </a:rPr>
              <a:t> command.</a:t>
            </a:r>
            <a:endParaRPr/>
          </a:p>
        </p:txBody>
      </p:sp>
      <p:sp>
        <p:nvSpPr>
          <p:cNvPr id="321" name="Google Shape;321;p12"/>
          <p:cNvSpPr/>
          <p:nvPr/>
        </p:nvSpPr>
        <p:spPr>
          <a:xfrm>
            <a:off x="474662" y="1786920"/>
            <a:ext cx="7870826" cy="156966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S1# </a:t>
            </a:r>
            <a:r>
              <a:rPr b="1" lang="en-US" sz="1200">
                <a:solidFill>
                  <a:srgbClr val="FFFFFF"/>
                </a:solidFill>
                <a:latin typeface="Courier New"/>
                <a:ea typeface="Courier New"/>
                <a:cs typeface="Courier New"/>
                <a:sym typeface="Courier New"/>
              </a:rPr>
              <a:t>show lldp neighbors</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Capability codes: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(R) Router, (B) Bridge, (T) Telephone, (C) DOCSIS Cable Device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    (W) WLAN Access Point, (P) Repeater, (S) Station, (O) Other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Device ID 	Local Intf 	Hold-time 	Capability 	Port ID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Fa0/5 		117 			R 			Gi0/0/1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S2 			Fa0/1 		112 			B 			Fa0/1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Total entries displayed: 2</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LLDP</a:t>
            </a:r>
            <a:br>
              <a:rPr lang="en-US"/>
            </a:br>
            <a:r>
              <a:rPr lang="en-US" sz="2400"/>
              <a:t>Discover Devices by Using LLDP (Cont.)</a:t>
            </a:r>
            <a:endParaRPr/>
          </a:p>
        </p:txBody>
      </p:sp>
      <p:sp>
        <p:nvSpPr>
          <p:cNvPr id="328" name="Google Shape;328;p13"/>
          <p:cNvSpPr txBox="1"/>
          <p:nvPr>
            <p:ph idx="1" type="body"/>
          </p:nvPr>
        </p:nvSpPr>
        <p:spPr>
          <a:xfrm>
            <a:off x="474662" y="731837"/>
            <a:ext cx="8280057" cy="79495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When more details about the neighbors are needed, the </a:t>
            </a:r>
            <a:r>
              <a:rPr b="1" lang="en-US" sz="1600">
                <a:solidFill>
                  <a:srgbClr val="000000"/>
                </a:solidFill>
              </a:rPr>
              <a:t>show lldp neighbors detail</a:t>
            </a:r>
            <a:r>
              <a:rPr lang="en-US" sz="1600">
                <a:solidFill>
                  <a:srgbClr val="000000"/>
                </a:solidFill>
              </a:rPr>
              <a:t> command can provide information, such as the neighbor IOS version, IP address, and device capability.</a:t>
            </a:r>
            <a:endParaRPr/>
          </a:p>
        </p:txBody>
      </p:sp>
      <p:sp>
        <p:nvSpPr>
          <p:cNvPr id="329" name="Google Shape;329;p13"/>
          <p:cNvSpPr/>
          <p:nvPr/>
        </p:nvSpPr>
        <p:spPr>
          <a:xfrm>
            <a:off x="474662" y="1626016"/>
            <a:ext cx="8116445" cy="2970044"/>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S1# </a:t>
            </a:r>
            <a:r>
              <a:rPr b="1" lang="en-US" sz="1100">
                <a:solidFill>
                  <a:srgbClr val="FFFFFF"/>
                </a:solidFill>
                <a:latin typeface="Courier New"/>
                <a:ea typeface="Courier New"/>
                <a:cs typeface="Courier New"/>
                <a:sym typeface="Courier New"/>
              </a:rPr>
              <a:t>show lldp neighbors detail</a:t>
            </a:r>
            <a:r>
              <a:rPr lang="en-US" sz="11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Chassis id: 848a.8d44.49b0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Port id: Gi0/0/1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Port Description: GigabitEthernet0/0/1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System Name: R1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System Description: Cisco IOS Software [Fuji], ISR Software (X86_64_LINUX_.....,</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RELEASE SOFTWARE (fc2)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Technical Support: http://www.cisco.com/techsupport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Copyright (c) 1986-2019 by Cisco Systems, Inc.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Compiled Thu 22-Aug-19 18:09 by mcpre </a:t>
            </a:r>
            <a:endParaRPr/>
          </a:p>
          <a:p>
            <a:pPr indent="0" lvl="0" marL="0" marR="0" rtl="0" algn="l">
              <a:spcBef>
                <a:spcPts val="0"/>
              </a:spcBef>
              <a:spcAft>
                <a:spcPts val="0"/>
              </a:spcAft>
              <a:buNone/>
            </a:pPr>
            <a:r>
              <a:t/>
            </a:r>
            <a:endParaRPr sz="11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Time remaining: 111 seconds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System Capabilities: B,R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Enabled Capabilities: R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Management Addresses - not advertised </a:t>
            </a:r>
            <a:endParaRPr/>
          </a:p>
          <a:p>
            <a:pPr indent="0" lvl="0" marL="0" marR="0" rtl="0" algn="l">
              <a:spcBef>
                <a:spcPts val="0"/>
              </a:spcBef>
              <a:spcAft>
                <a:spcPts val="0"/>
              </a:spcAft>
              <a:buNone/>
            </a:pPr>
            <a:r>
              <a:rPr lang="en-US" sz="1100">
                <a:solidFill>
                  <a:srgbClr val="DFDFDF"/>
                </a:solidFill>
                <a:latin typeface="Courier New"/>
                <a:ea typeface="Courier New"/>
                <a:cs typeface="Courier New"/>
                <a:sym typeface="Courier New"/>
              </a:rPr>
              <a:t>(output omitted)</a:t>
            </a:r>
            <a:endParaRPr sz="11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Device Discovery with LLDP</a:t>
            </a:r>
            <a:br>
              <a:rPr lang="en-US"/>
            </a:br>
            <a:r>
              <a:rPr lang="en-US" sz="2400"/>
              <a:t>Packet Tracer - Use LLDP to Map a Network</a:t>
            </a:r>
            <a:endParaRPr/>
          </a:p>
        </p:txBody>
      </p:sp>
      <p:sp>
        <p:nvSpPr>
          <p:cNvPr id="336" name="Google Shape;336;p1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800"/>
              <a:buNone/>
            </a:pPr>
            <a:r>
              <a:rPr lang="en-US" sz="1800">
                <a:solidFill>
                  <a:srgbClr val="000000"/>
                </a:solidFill>
              </a:rPr>
              <a:t>In this Packet Tracer activity,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Build the Network and Configure Basic Device Settings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Network Discovery with CDP</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Network Discovery with LLDP</a:t>
            </a:r>
            <a:endParaRPr/>
          </a:p>
          <a:p>
            <a:pPr indent="-285690" lvl="0" marL="28569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5"/>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10.3 NTP</a:t>
            </a:r>
            <a:endParaRPr/>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Time and Calendar Services</a:t>
            </a:r>
            <a:endParaRPr/>
          </a:p>
        </p:txBody>
      </p:sp>
      <p:sp>
        <p:nvSpPr>
          <p:cNvPr id="349" name="Google Shape;349;p16"/>
          <p:cNvSpPr txBox="1"/>
          <p:nvPr>
            <p:ph idx="1" type="body"/>
          </p:nvPr>
        </p:nvSpPr>
        <p:spPr>
          <a:xfrm>
            <a:off x="474662" y="731838"/>
            <a:ext cx="8280057" cy="2104128"/>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software clock on a router or switch starts when the system boots. It is the primary source of time for the system. It is important to synchronize the time across all devices on the network. When the time is not synchronized between devices, it will be impossible to determine the order of the events and the cause of an event.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Typically, the date and time settings on a router or switch can be set by using one of two methods You can manually configure the date and time, as shown in the example, or configure the Network Time Protocol (NTP).</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350" name="Google Shape;350;p16"/>
          <p:cNvSpPr/>
          <p:nvPr/>
        </p:nvSpPr>
        <p:spPr>
          <a:xfrm>
            <a:off x="829500" y="2975761"/>
            <a:ext cx="7485000" cy="1169551"/>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clock set 20:36:00 nov 15 2019</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*Nov 15 20:36:00.000: %SYS-6-CLOCKUPDATE: System clock has been updated from 21:32:31 UTC Fri Nov 15 2019 to 20:36:00 UTC Fri Nov 15 2019, configured from console by console.</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Time and Calendar Services (Cont.)</a:t>
            </a:r>
            <a:endParaRPr/>
          </a:p>
        </p:txBody>
      </p:sp>
      <p:sp>
        <p:nvSpPr>
          <p:cNvPr id="357" name="Google Shape;357;p1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As a network grows, it becomes difficult to ensure that all infrastructure devices are operating with synchronized time using the manual method.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better solution is to configure the NTP on the network. This protocol allows routers on the network to synchronize their time settings with an NTP server, which provides more consistent time settings. NTP can be set up to synchronize to a private master clock, or it can synchronize to a publicly available NTP server on the internet. NTP uses UDP port 123 and is documented in RFC 1305.</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NTP Operation</a:t>
            </a:r>
            <a:endParaRPr/>
          </a:p>
        </p:txBody>
      </p:sp>
      <p:sp>
        <p:nvSpPr>
          <p:cNvPr id="364" name="Google Shape;364;p18"/>
          <p:cNvSpPr txBox="1"/>
          <p:nvPr>
            <p:ph idx="1" type="body"/>
          </p:nvPr>
        </p:nvSpPr>
        <p:spPr>
          <a:xfrm>
            <a:off x="474662" y="731837"/>
            <a:ext cx="350191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NTP networks use a hierarchical system of time sources. Each level in this hierarchical system is called a stratum. The stratum level is defined as the number of hop counts from the authoritative source. The synchronized time is distributed across the network by using NTP.</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max hop count is 15. Stratum 16, the lowest stratum level, indicates that a device is unsynchronized.</a:t>
            </a:r>
            <a:endParaRPr/>
          </a:p>
        </p:txBody>
      </p:sp>
      <p:pic>
        <p:nvPicPr>
          <p:cNvPr id="365" name="Google Shape;365;p18"/>
          <p:cNvPicPr preferRelativeResize="0"/>
          <p:nvPr/>
        </p:nvPicPr>
        <p:blipFill rotWithShape="1">
          <a:blip r:embed="rId3">
            <a:alphaModFix/>
          </a:blip>
          <a:srcRect b="0" l="0" r="0" t="0"/>
          <a:stretch/>
        </p:blipFill>
        <p:spPr>
          <a:xfrm>
            <a:off x="4217321" y="910977"/>
            <a:ext cx="4693624" cy="33215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NTP Operation (Cont.)</a:t>
            </a:r>
            <a:endParaRPr/>
          </a:p>
        </p:txBody>
      </p:sp>
      <p:sp>
        <p:nvSpPr>
          <p:cNvPr id="372" name="Google Shape;372;p19"/>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b="1" lang="en-US" sz="1600">
                <a:solidFill>
                  <a:srgbClr val="000000"/>
                </a:solidFill>
              </a:rPr>
              <a:t>Stratum 0: </a:t>
            </a:r>
            <a:r>
              <a:rPr lang="en-US" sz="1600">
                <a:solidFill>
                  <a:srgbClr val="000000"/>
                </a:solidFill>
              </a:rPr>
              <a:t>These authoritative time sources are high-precision timekeeping devices assumed to be accurate and with little or no delay associated with them. </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Stratum 1: </a:t>
            </a:r>
            <a:r>
              <a:rPr lang="en-US" sz="1600">
                <a:solidFill>
                  <a:srgbClr val="000000"/>
                </a:solidFill>
              </a:rPr>
              <a:t>Devices that are directly connected to the authoritative time sources. They act as the primary network time standard.</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Stratum 2 and Lower: </a:t>
            </a:r>
            <a:r>
              <a:rPr lang="en-US" sz="1600">
                <a:solidFill>
                  <a:srgbClr val="000000"/>
                </a:solidFill>
              </a:rPr>
              <a:t>Stratum 2 servers are connected to stratum 1 devices through network connections. Stratum 2 devices, such as NTP clients, synchronize their time by using the NTP packets from stratum 1 servers. They could also act as servers for stratum 3 devices.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Time servers on the same stratum level can be configured to act as a peer with other time servers on the same stratum level for backup or verification of time.</a:t>
            </a:r>
            <a:br>
              <a:rPr lang="en-US" sz="1600">
                <a:solidFill>
                  <a:srgbClr val="000000"/>
                </a:solidFill>
              </a:rPr>
            </a:b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Configure and Verify NTP</a:t>
            </a:r>
            <a:endParaRPr/>
          </a:p>
        </p:txBody>
      </p:sp>
      <p:sp>
        <p:nvSpPr>
          <p:cNvPr id="379" name="Google Shape;379;p20"/>
          <p:cNvSpPr txBox="1"/>
          <p:nvPr>
            <p:ph idx="1" type="body"/>
          </p:nvPr>
        </p:nvSpPr>
        <p:spPr>
          <a:xfrm>
            <a:off x="474662" y="731837"/>
            <a:ext cx="8280057" cy="175959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Before NTP is configured on the network, the </a:t>
            </a:r>
            <a:r>
              <a:rPr b="1" lang="en-US" sz="1600">
                <a:solidFill>
                  <a:srgbClr val="000000"/>
                </a:solidFill>
              </a:rPr>
              <a:t>show clock</a:t>
            </a:r>
            <a:r>
              <a:rPr lang="en-US" sz="1600">
                <a:solidFill>
                  <a:srgbClr val="000000"/>
                </a:solidFill>
              </a:rPr>
              <a:t> command displays the current time on the software clock. With the </a:t>
            </a:r>
            <a:r>
              <a:rPr b="1" lang="en-US" sz="1600">
                <a:solidFill>
                  <a:srgbClr val="000000"/>
                </a:solidFill>
              </a:rPr>
              <a:t>detail</a:t>
            </a:r>
            <a:r>
              <a:rPr lang="en-US" sz="1600">
                <a:solidFill>
                  <a:srgbClr val="000000"/>
                </a:solidFill>
              </a:rPr>
              <a:t> option, notice that the time source is user configuration. That means the time was manually configured with the </a:t>
            </a:r>
            <a:r>
              <a:rPr b="1" lang="en-US" sz="1600">
                <a:solidFill>
                  <a:srgbClr val="000000"/>
                </a:solidFill>
              </a:rPr>
              <a:t>clock</a:t>
            </a:r>
            <a:r>
              <a:rPr lang="en-US" sz="1600">
                <a:solidFill>
                  <a:srgbClr val="000000"/>
                </a:solidFill>
              </a:rPr>
              <a:t> command.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ntp server</a:t>
            </a:r>
            <a:r>
              <a:rPr lang="en-US" sz="1600">
                <a:solidFill>
                  <a:srgbClr val="000000"/>
                </a:solidFill>
              </a:rPr>
              <a:t> </a:t>
            </a:r>
            <a:r>
              <a:rPr i="1" lang="en-US" sz="1600">
                <a:solidFill>
                  <a:srgbClr val="000000"/>
                </a:solidFill>
              </a:rPr>
              <a:t>ip-address</a:t>
            </a:r>
            <a:r>
              <a:rPr lang="en-US" sz="1600">
                <a:solidFill>
                  <a:srgbClr val="000000"/>
                </a:solidFill>
              </a:rPr>
              <a:t> command is issued in global configuration mode to configure 209.165.200.225 as the NTP server for R1. To verify the time source is set to NTP, use the </a:t>
            </a:r>
            <a:r>
              <a:rPr b="1" lang="en-US" sz="1600">
                <a:solidFill>
                  <a:srgbClr val="000000"/>
                </a:solidFill>
              </a:rPr>
              <a:t>show clock detail</a:t>
            </a:r>
            <a:r>
              <a:rPr lang="en-US" sz="1600">
                <a:solidFill>
                  <a:srgbClr val="000000"/>
                </a:solidFill>
              </a:rPr>
              <a:t> command. Notice that now the time source is NTP.</a:t>
            </a:r>
            <a:endParaRPr/>
          </a:p>
        </p:txBody>
      </p:sp>
      <p:sp>
        <p:nvSpPr>
          <p:cNvPr id="380" name="Google Shape;380;p20"/>
          <p:cNvSpPr/>
          <p:nvPr/>
        </p:nvSpPr>
        <p:spPr>
          <a:xfrm>
            <a:off x="2277074" y="2652070"/>
            <a:ext cx="4589851" cy="2031325"/>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 </a:t>
            </a:r>
            <a:r>
              <a:rPr b="1" lang="en-US" sz="1400">
                <a:solidFill>
                  <a:schemeClr val="lt1"/>
                </a:solidFill>
                <a:latin typeface="Courier New"/>
                <a:ea typeface="Courier New"/>
                <a:cs typeface="Courier New"/>
                <a:sym typeface="Courier New"/>
              </a:rPr>
              <a:t>show clock detail</a:t>
            </a:r>
            <a:r>
              <a:rPr lang="en-US" sz="14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20:55:10.207 UTC Fri Nov 15 2019 </a:t>
            </a:r>
            <a:endParaRPr/>
          </a:p>
          <a:p>
            <a:pPr indent="0" lvl="0" marL="0" marR="0" rtl="0" algn="l">
              <a:spcBef>
                <a:spcPts val="0"/>
              </a:spcBef>
              <a:spcAft>
                <a:spcPts val="0"/>
              </a:spcAft>
              <a:buNone/>
            </a:pPr>
            <a:r>
              <a:rPr lang="en-US" sz="1400">
                <a:solidFill>
                  <a:srgbClr val="FDCC72"/>
                </a:solidFill>
                <a:latin typeface="Courier New"/>
                <a:ea typeface="Courier New"/>
                <a:cs typeface="Courier New"/>
                <a:sym typeface="Courier New"/>
              </a:rPr>
              <a:t>Time source is user configuration</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 config t</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R1(config)# </a:t>
            </a:r>
            <a:r>
              <a:rPr b="1" lang="en-US" sz="1400">
                <a:solidFill>
                  <a:schemeClr val="lt1"/>
                </a:solidFill>
                <a:latin typeface="Courier New"/>
                <a:ea typeface="Courier New"/>
                <a:cs typeface="Courier New"/>
                <a:sym typeface="Courier New"/>
              </a:rPr>
              <a:t>ntp server 209.165.200.225</a:t>
            </a:r>
            <a:r>
              <a:rPr lang="en-US" sz="14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R1(config)# </a:t>
            </a:r>
            <a:r>
              <a:rPr b="1" lang="en-US" sz="1400">
                <a:solidFill>
                  <a:schemeClr val="lt1"/>
                </a:solidFill>
                <a:latin typeface="Courier New"/>
                <a:ea typeface="Courier New"/>
                <a:cs typeface="Courier New"/>
                <a:sym typeface="Courier New"/>
              </a:rPr>
              <a:t>end</a:t>
            </a:r>
            <a:r>
              <a:rPr lang="en-US" sz="14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R1# </a:t>
            </a:r>
            <a:r>
              <a:rPr b="1" lang="en-US" sz="1400">
                <a:solidFill>
                  <a:schemeClr val="lt1"/>
                </a:solidFill>
                <a:latin typeface="Courier New"/>
                <a:ea typeface="Courier New"/>
                <a:cs typeface="Courier New"/>
                <a:sym typeface="Courier New"/>
              </a:rPr>
              <a:t>show clock detail</a:t>
            </a:r>
            <a:r>
              <a:rPr lang="en-US" sz="14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chemeClr val="lt1"/>
                </a:solidFill>
                <a:latin typeface="Courier New"/>
                <a:ea typeface="Courier New"/>
                <a:cs typeface="Courier New"/>
                <a:sym typeface="Courier New"/>
              </a:rPr>
              <a:t>21:01:34.563 UTC Fri Nov 15 2019 </a:t>
            </a:r>
            <a:endParaRPr/>
          </a:p>
          <a:p>
            <a:pPr indent="0" lvl="0" marL="0" marR="0" rtl="0" algn="l">
              <a:spcBef>
                <a:spcPts val="0"/>
              </a:spcBef>
              <a:spcAft>
                <a:spcPts val="0"/>
              </a:spcAft>
              <a:buNone/>
            </a:pPr>
            <a:r>
              <a:rPr lang="en-US" sz="1400">
                <a:solidFill>
                  <a:srgbClr val="FDCC72"/>
                </a:solidFill>
                <a:latin typeface="Courier New"/>
                <a:ea typeface="Courier New"/>
                <a:cs typeface="Courier New"/>
                <a:sym typeface="Courier New"/>
              </a:rPr>
              <a:t>Time source is NTP</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Configure and Verify NTP (Cont.)</a:t>
            </a:r>
            <a:endParaRPr/>
          </a:p>
        </p:txBody>
      </p:sp>
      <p:sp>
        <p:nvSpPr>
          <p:cNvPr id="387" name="Google Shape;387;p21"/>
          <p:cNvSpPr txBox="1"/>
          <p:nvPr>
            <p:ph idx="1" type="body"/>
          </p:nvPr>
        </p:nvSpPr>
        <p:spPr>
          <a:xfrm>
            <a:off x="117446" y="731837"/>
            <a:ext cx="8825218" cy="133185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ntp associations</a:t>
            </a:r>
            <a:r>
              <a:rPr lang="en-US" sz="1600">
                <a:solidFill>
                  <a:srgbClr val="000000"/>
                </a:solidFill>
              </a:rPr>
              <a:t> and </a:t>
            </a:r>
            <a:r>
              <a:rPr b="1" lang="en-US" sz="1600">
                <a:solidFill>
                  <a:srgbClr val="000000"/>
                </a:solidFill>
              </a:rPr>
              <a:t>show ntp status</a:t>
            </a:r>
            <a:r>
              <a:rPr lang="en-US" sz="1600">
                <a:solidFill>
                  <a:srgbClr val="000000"/>
                </a:solidFill>
              </a:rPr>
              <a:t> commands are used to verify that R1 is synchronized with the NTP server at 209.165.200.225. Notice that R1 is synchronized with a stratum 1 NTP server at 209.165.200.225, which is synchronized with a GPS clock. The </a:t>
            </a:r>
            <a:r>
              <a:rPr b="1" lang="en-US" sz="1600">
                <a:solidFill>
                  <a:srgbClr val="000000"/>
                </a:solidFill>
              </a:rPr>
              <a:t>show ntp status</a:t>
            </a:r>
            <a:r>
              <a:rPr lang="en-US" sz="1600">
                <a:solidFill>
                  <a:srgbClr val="000000"/>
                </a:solidFill>
              </a:rPr>
              <a:t> command displays that R1 is now a stratum 2 device that is synchronized with the NTP server at 209.165.220.225.</a:t>
            </a:r>
            <a:endParaRPr/>
          </a:p>
        </p:txBody>
      </p:sp>
      <p:sp>
        <p:nvSpPr>
          <p:cNvPr id="388" name="Google Shape;388;p21"/>
          <p:cNvSpPr/>
          <p:nvPr/>
        </p:nvSpPr>
        <p:spPr>
          <a:xfrm>
            <a:off x="287078" y="2128311"/>
            <a:ext cx="8739963" cy="2246769"/>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show ntp associations</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address 			   ref clock 	</a:t>
            </a:r>
            <a:r>
              <a:rPr lang="en-US" sz="1400">
                <a:solidFill>
                  <a:srgbClr val="FBAB18"/>
                </a:solidFill>
                <a:latin typeface="Courier New"/>
                <a:ea typeface="Courier New"/>
                <a:cs typeface="Courier New"/>
                <a:sym typeface="Courier New"/>
              </a:rPr>
              <a:t>st</a:t>
            </a:r>
            <a:r>
              <a:rPr lang="en-US" sz="1400">
                <a:solidFill>
                  <a:srgbClr val="DFDFDF"/>
                </a:solidFill>
                <a:latin typeface="Courier New"/>
                <a:ea typeface="Courier New"/>
                <a:cs typeface="Courier New"/>
                <a:sym typeface="Courier New"/>
              </a:rPr>
              <a:t> 	 when poll each delay offset disp </a:t>
            </a:r>
            <a:endParaRPr/>
          </a:p>
          <a:p>
            <a:pPr indent="0" lvl="0" marL="0" marR="0" rtl="0" algn="l">
              <a:spcBef>
                <a:spcPts val="0"/>
              </a:spcBef>
              <a:spcAft>
                <a:spcPts val="0"/>
              </a:spcAft>
              <a:buNone/>
            </a:pPr>
            <a:r>
              <a:rPr lang="en-US" sz="1400">
                <a:solidFill>
                  <a:srgbClr val="FBAB18"/>
                </a:solidFill>
                <a:latin typeface="Courier New"/>
                <a:ea typeface="Courier New"/>
                <a:cs typeface="Courier New"/>
                <a:sym typeface="Courier New"/>
              </a:rPr>
              <a:t>*~209.165.200.225   .GPS. 		1</a:t>
            </a:r>
            <a:r>
              <a:rPr lang="en-US" sz="1400">
                <a:solidFill>
                  <a:srgbClr val="DFDFDF"/>
                </a:solidFill>
                <a:latin typeface="Courier New"/>
                <a:ea typeface="Courier New"/>
                <a:cs typeface="Courier New"/>
                <a:sym typeface="Courier New"/>
              </a:rPr>
              <a:t>    61   64   377  0.481 7.480  4.261 </a:t>
            </a:r>
            <a:endParaRPr/>
          </a:p>
          <a:p>
            <a:pPr indent="-171450" lvl="0" marL="171450" marR="0" rtl="0" algn="l">
              <a:spcBef>
                <a:spcPts val="0"/>
              </a:spcBef>
              <a:spcAft>
                <a:spcPts val="0"/>
              </a:spcAft>
              <a:buClr>
                <a:srgbClr val="DFDFDF"/>
              </a:buClr>
              <a:buSzPts val="1400"/>
              <a:buFont typeface="Arial"/>
              <a:buChar char="•"/>
            </a:pPr>
            <a:r>
              <a:rPr lang="en-US" sz="1400">
                <a:solidFill>
                  <a:srgbClr val="DFDFDF"/>
                </a:solidFill>
                <a:latin typeface="Courier New"/>
                <a:ea typeface="Courier New"/>
                <a:cs typeface="Courier New"/>
                <a:sym typeface="Courier New"/>
              </a:rPr>
              <a:t>sys.peer, # selected, + candidate, - outlyer, x falseticker, ~ configured </a:t>
            </a:r>
            <a:endParaRPr/>
          </a:p>
          <a:p>
            <a:pPr indent="-82550" lvl="0" marL="171450" marR="0" rtl="0" algn="l">
              <a:spcBef>
                <a:spcPts val="0"/>
              </a:spcBef>
              <a:spcAft>
                <a:spcPts val="0"/>
              </a:spcAft>
              <a:buClr>
                <a:schemeClr val="dk1"/>
              </a:buClr>
              <a:buSzPts val="1400"/>
              <a:buFont typeface="Arial"/>
              <a:buNone/>
            </a:pPr>
            <a:r>
              <a:t/>
            </a:r>
            <a:endParaRPr sz="14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show ntp status</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Clock is synchronized, </a:t>
            </a:r>
            <a:r>
              <a:rPr lang="en-US" sz="1400">
                <a:solidFill>
                  <a:srgbClr val="FBAB18"/>
                </a:solidFill>
                <a:latin typeface="Courier New"/>
                <a:ea typeface="Courier New"/>
                <a:cs typeface="Courier New"/>
                <a:sym typeface="Courier New"/>
              </a:rPr>
              <a:t>stratum 2</a:t>
            </a:r>
            <a:r>
              <a:rPr lang="en-US" sz="1400">
                <a:solidFill>
                  <a:srgbClr val="DFDFDF"/>
                </a:solidFill>
                <a:latin typeface="Courier New"/>
                <a:ea typeface="Courier New"/>
                <a:cs typeface="Courier New"/>
                <a:sym typeface="Courier New"/>
              </a:rPr>
              <a:t>, reference is 209.165.200.225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nominal freq is 250.0000 Hz, actual freq is 249.9995 Hz, precision is 2**19</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(output omitted)</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Configure and Verify NTP (Cont.)</a:t>
            </a:r>
            <a:endParaRPr/>
          </a:p>
        </p:txBody>
      </p:sp>
      <p:sp>
        <p:nvSpPr>
          <p:cNvPr id="395" name="Google Shape;395;p22"/>
          <p:cNvSpPr txBox="1"/>
          <p:nvPr>
            <p:ph idx="1" type="body"/>
          </p:nvPr>
        </p:nvSpPr>
        <p:spPr>
          <a:xfrm>
            <a:off x="474662" y="731837"/>
            <a:ext cx="8280057" cy="140176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clock on S1 is configured to synchronize to R1 with the </a:t>
            </a:r>
            <a:r>
              <a:rPr b="1" lang="en-US" sz="1600">
                <a:solidFill>
                  <a:srgbClr val="000000"/>
                </a:solidFill>
              </a:rPr>
              <a:t>ntp server</a:t>
            </a:r>
            <a:r>
              <a:rPr lang="en-US" sz="1600">
                <a:solidFill>
                  <a:srgbClr val="000000"/>
                </a:solidFill>
              </a:rPr>
              <a:t> command and the configuration is verified with the </a:t>
            </a:r>
            <a:r>
              <a:rPr b="1" lang="en-US" sz="1600">
                <a:solidFill>
                  <a:srgbClr val="000000"/>
                </a:solidFill>
              </a:rPr>
              <a:t>show ntp associations</a:t>
            </a:r>
            <a:r>
              <a:rPr lang="en-US" sz="1600">
                <a:solidFill>
                  <a:srgbClr val="000000"/>
                </a:solidFill>
              </a:rPr>
              <a:t> command.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Output from the </a:t>
            </a:r>
            <a:r>
              <a:rPr b="1" lang="en-US" sz="1600">
                <a:solidFill>
                  <a:srgbClr val="000000"/>
                </a:solidFill>
              </a:rPr>
              <a:t>show ntp associations</a:t>
            </a:r>
            <a:r>
              <a:rPr lang="en-US" sz="1600">
                <a:solidFill>
                  <a:srgbClr val="000000"/>
                </a:solidFill>
              </a:rPr>
              <a:t> command verifies that the clock on S1 is now synchronized with R1 at 192.168.1.1 via NTP. R1 is a stratum 2 device, making S1 is a stratum 3 device that can provide NTP service to other devices in the network.</a:t>
            </a:r>
            <a:endParaRPr/>
          </a:p>
        </p:txBody>
      </p:sp>
      <p:sp>
        <p:nvSpPr>
          <p:cNvPr id="396" name="Google Shape;396;p22"/>
          <p:cNvSpPr/>
          <p:nvPr/>
        </p:nvSpPr>
        <p:spPr>
          <a:xfrm>
            <a:off x="662473" y="2246376"/>
            <a:ext cx="7819054" cy="2308324"/>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S1(config)# </a:t>
            </a:r>
            <a:r>
              <a:rPr b="1" lang="en-US" sz="1200">
                <a:solidFill>
                  <a:srgbClr val="FFFFFF"/>
                </a:solidFill>
                <a:latin typeface="Courier New"/>
                <a:ea typeface="Courier New"/>
                <a:cs typeface="Courier New"/>
                <a:sym typeface="Courier New"/>
              </a:rPr>
              <a:t>ntp server 192.168.1.1</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S1(config)# </a:t>
            </a:r>
            <a:r>
              <a:rPr b="1" lang="en-US" sz="1200">
                <a:solidFill>
                  <a:srgbClr val="FFFFFF"/>
                </a:solidFill>
                <a:latin typeface="Courier New"/>
                <a:ea typeface="Courier New"/>
                <a:cs typeface="Courier New"/>
                <a:sym typeface="Courier New"/>
              </a:rPr>
              <a:t>end</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S1# </a:t>
            </a:r>
            <a:r>
              <a:rPr b="1" lang="en-US" sz="1200">
                <a:solidFill>
                  <a:srgbClr val="FFFFFF"/>
                </a:solidFill>
                <a:latin typeface="Courier New"/>
                <a:ea typeface="Courier New"/>
                <a:cs typeface="Courier New"/>
                <a:sym typeface="Courier New"/>
              </a:rPr>
              <a:t>show ntp associations</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address 		ref clock 	  st when poll reach delay offset disp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a:t>
            </a:r>
            <a:r>
              <a:rPr b="1" lang="en-US" sz="1200">
                <a:solidFill>
                  <a:srgbClr val="FBAB18"/>
                </a:solidFill>
                <a:latin typeface="Courier New"/>
                <a:ea typeface="Courier New"/>
                <a:cs typeface="Courier New"/>
                <a:sym typeface="Courier New"/>
              </a:rPr>
              <a:t>192.168.1.1  209.165.200.225  2</a:t>
            </a:r>
            <a:r>
              <a:rPr lang="en-US" sz="1200">
                <a:solidFill>
                  <a:srgbClr val="DFDFDF"/>
                </a:solidFill>
                <a:latin typeface="Courier New"/>
                <a:ea typeface="Courier New"/>
                <a:cs typeface="Courier New"/>
                <a:sym typeface="Courier New"/>
              </a:rPr>
              <a:t>  12   64   377   1.066 13.616 3.840 </a:t>
            </a:r>
            <a:endParaRPr/>
          </a:p>
          <a:p>
            <a:pPr indent="-171450" lvl="0" marL="171450" marR="0" rtl="0" algn="l">
              <a:spcBef>
                <a:spcPts val="0"/>
              </a:spcBef>
              <a:spcAft>
                <a:spcPts val="0"/>
              </a:spcAft>
              <a:buClr>
                <a:srgbClr val="DFDFDF"/>
              </a:buClr>
              <a:buSzPts val="1200"/>
              <a:buFont typeface="Arial"/>
              <a:buChar char="•"/>
            </a:pPr>
            <a:r>
              <a:rPr lang="en-US" sz="1200">
                <a:solidFill>
                  <a:srgbClr val="DFDFDF"/>
                </a:solidFill>
                <a:latin typeface="Courier New"/>
                <a:ea typeface="Courier New"/>
                <a:cs typeface="Courier New"/>
                <a:sym typeface="Courier New"/>
              </a:rPr>
              <a:t>sys.peer, # selected, + candidate, - outlyer, x falseticker, ~ configured</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(output omitted)</a:t>
            </a:r>
            <a:endParaRPr/>
          </a:p>
          <a:p>
            <a:pPr indent="0" lvl="0" marL="0" marR="0" rtl="0" algn="l">
              <a:spcBef>
                <a:spcPts val="0"/>
              </a:spcBef>
              <a:spcAft>
                <a:spcPts val="0"/>
              </a:spcAft>
              <a:buNone/>
            </a:pPr>
            <a:r>
              <a:t/>
            </a:r>
            <a:endParaRPr sz="12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S1# </a:t>
            </a:r>
            <a:r>
              <a:rPr b="1" lang="en-US" sz="1200">
                <a:solidFill>
                  <a:schemeClr val="lt1"/>
                </a:solidFill>
                <a:latin typeface="Courier New"/>
                <a:ea typeface="Courier New"/>
                <a:cs typeface="Courier New"/>
                <a:sym typeface="Courier New"/>
              </a:rPr>
              <a:t>show ntp status</a:t>
            </a:r>
            <a:r>
              <a:rPr lang="en-US" sz="12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Clock is synchronized, </a:t>
            </a:r>
            <a:r>
              <a:rPr lang="en-US" sz="1200">
                <a:solidFill>
                  <a:srgbClr val="FDCC72"/>
                </a:solidFill>
                <a:latin typeface="Courier New"/>
                <a:ea typeface="Courier New"/>
                <a:cs typeface="Courier New"/>
                <a:sym typeface="Courier New"/>
              </a:rPr>
              <a:t>stratum 3</a:t>
            </a:r>
            <a:r>
              <a:rPr lang="en-US" sz="1200">
                <a:solidFill>
                  <a:schemeClr val="lt1"/>
                </a:solidFill>
                <a:latin typeface="Courier New"/>
                <a:ea typeface="Courier New"/>
                <a:cs typeface="Courier New"/>
                <a:sym typeface="Courier New"/>
              </a:rPr>
              <a:t>, reference is 192.168.1.1 </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nominal freq is 119.2092 Hz, actual freq is 119.2088 Hz, precision is 2**17</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(output omitted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NTP</a:t>
            </a:r>
            <a:br>
              <a:rPr lang="en-US"/>
            </a:br>
            <a:r>
              <a:rPr lang="en-US" sz="2400"/>
              <a:t>Packet Tracer - Configure and Verify NTP</a:t>
            </a:r>
            <a:endParaRPr/>
          </a:p>
        </p:txBody>
      </p:sp>
      <p:sp>
        <p:nvSpPr>
          <p:cNvPr id="403" name="Google Shape;403;p2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you will configure NTP on R1 and R2 to allow time synchronization.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10.4 SNMP</a:t>
            </a:r>
            <a:endParaRPr/>
          </a:p>
        </p:txBody>
      </p:sp>
    </p:spTree>
  </p:cSld>
  <p:clrMapOvr>
    <a:masterClrMapping/>
  </p:clrMapOvr>
  <p:transition spd="slow">
    <p:wipe dir="l"/>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Introduction to SNMP</a:t>
            </a:r>
            <a:endParaRPr/>
          </a:p>
        </p:txBody>
      </p:sp>
      <p:sp>
        <p:nvSpPr>
          <p:cNvPr id="416" name="Google Shape;416;p2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SNMP was developed to allow administrators to manage nodes on an IP network. It enables network administrators to monitor and manage network performance, find and solve network problems, and plan for network growth.</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SNMP is an application layer protocol that provides a message format for communication between managers and agents. The SNMP system consists of three elements:</a:t>
            </a:r>
            <a:endParaRPr/>
          </a:p>
          <a:p>
            <a:pPr indent="-285750" lvl="1" marL="358835" rtl="0" algn="l">
              <a:lnSpc>
                <a:spcPct val="95000"/>
              </a:lnSpc>
              <a:spcBef>
                <a:spcPts val="600"/>
              </a:spcBef>
              <a:spcAft>
                <a:spcPts val="0"/>
              </a:spcAft>
              <a:buSzPts val="1600"/>
              <a:buChar char="•"/>
            </a:pPr>
            <a:r>
              <a:rPr lang="en-US" sz="1600">
                <a:solidFill>
                  <a:srgbClr val="000000"/>
                </a:solidFill>
              </a:rPr>
              <a:t>SNMP manager</a:t>
            </a:r>
            <a:endParaRPr/>
          </a:p>
          <a:p>
            <a:pPr indent="-285750" lvl="1" marL="358835" rtl="0" algn="l">
              <a:lnSpc>
                <a:spcPct val="95000"/>
              </a:lnSpc>
              <a:spcBef>
                <a:spcPts val="600"/>
              </a:spcBef>
              <a:spcAft>
                <a:spcPts val="0"/>
              </a:spcAft>
              <a:buSzPts val="1600"/>
              <a:buChar char="•"/>
            </a:pPr>
            <a:r>
              <a:rPr lang="en-US" sz="1600">
                <a:solidFill>
                  <a:srgbClr val="000000"/>
                </a:solidFill>
              </a:rPr>
              <a:t>SNMP agents (managed node)</a:t>
            </a:r>
            <a:endParaRPr/>
          </a:p>
          <a:p>
            <a:pPr indent="-285750" lvl="1" marL="358835" rtl="0" algn="l">
              <a:lnSpc>
                <a:spcPct val="95000"/>
              </a:lnSpc>
              <a:spcBef>
                <a:spcPts val="600"/>
              </a:spcBef>
              <a:spcAft>
                <a:spcPts val="0"/>
              </a:spcAft>
              <a:buSzPts val="1600"/>
              <a:buChar char="•"/>
            </a:pPr>
            <a:r>
              <a:rPr lang="en-US" sz="1600">
                <a:solidFill>
                  <a:srgbClr val="000000"/>
                </a:solidFill>
              </a:rPr>
              <a:t>Management Information Base (MIB)</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SNMP defines how management information is exchanged between network management applications and management agents. The SNMP manager polls the agents and queries the MIB for SNMP agents on UDP port 161. SNMP agents send any SNMP traps to the SNMP manager on UDP port 162.</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Introduction to SNMP (Cont.)</a:t>
            </a:r>
            <a:endParaRPr/>
          </a:p>
        </p:txBody>
      </p:sp>
      <p:sp>
        <p:nvSpPr>
          <p:cNvPr id="423" name="Google Shape;423;p26"/>
          <p:cNvSpPr txBox="1"/>
          <p:nvPr>
            <p:ph idx="1" type="body"/>
          </p:nvPr>
        </p:nvSpPr>
        <p:spPr>
          <a:xfrm>
            <a:off x="117447" y="731837"/>
            <a:ext cx="4462354"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SNMP manager is part of a network management system (NMS). The SNMP manager can collect information from an SNMP agent by using the “get” action and can change configurations on an agent by using the “set” action. SNMP agents can forward information directly to a network manager by using “traps”.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SNMP agent and MIB reside on SNMP client devices. MIBs store data about the device and operational statistics and are meant to be available to authenticated remote users. The SNMP agent is responsible for providing access to the local MIB.</a:t>
            </a:r>
            <a:endParaRPr/>
          </a:p>
        </p:txBody>
      </p:sp>
      <p:pic>
        <p:nvPicPr>
          <p:cNvPr id="424" name="Google Shape;424;p26"/>
          <p:cNvPicPr preferRelativeResize="0"/>
          <p:nvPr/>
        </p:nvPicPr>
        <p:blipFill rotWithShape="1">
          <a:blip r:embed="rId3">
            <a:alphaModFix/>
          </a:blip>
          <a:srcRect b="0" l="0" r="0" t="0"/>
          <a:stretch/>
        </p:blipFill>
        <p:spPr>
          <a:xfrm>
            <a:off x="4579800" y="985431"/>
            <a:ext cx="4089537" cy="317263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Operation</a:t>
            </a:r>
            <a:endParaRPr/>
          </a:p>
        </p:txBody>
      </p:sp>
      <p:sp>
        <p:nvSpPr>
          <p:cNvPr id="431" name="Google Shape;431;p27"/>
          <p:cNvSpPr txBox="1"/>
          <p:nvPr>
            <p:ph idx="1" type="body"/>
          </p:nvPr>
        </p:nvSpPr>
        <p:spPr>
          <a:xfrm>
            <a:off x="474662" y="731838"/>
            <a:ext cx="8280057" cy="1322250"/>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SNMP agents that reside on managed devices collect and store information about the device and its operation locally in the MIB. The SNMP manager then uses the SNMP agent to access information within the MIB.</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There are two primary SNMP manager requests, get and set. In addition to configuration, a set can cause an action to occur, like restarting a router.</a:t>
            </a:r>
            <a:endParaRPr/>
          </a:p>
        </p:txBody>
      </p:sp>
      <p:graphicFrame>
        <p:nvGraphicFramePr>
          <p:cNvPr id="432" name="Google Shape;432;p27"/>
          <p:cNvGraphicFramePr/>
          <p:nvPr/>
        </p:nvGraphicFramePr>
        <p:xfrm>
          <a:off x="660990" y="2204314"/>
          <a:ext cx="3000000" cy="3000000"/>
        </p:xfrm>
        <a:graphic>
          <a:graphicData uri="http://schemas.openxmlformats.org/drawingml/2006/table">
            <a:tbl>
              <a:tblPr bandRow="1" firstRow="1">
                <a:noFill/>
                <a:tableStyleId>{B53E40A0-49D7-40C5-8350-70DE36F2940E}</a:tableStyleId>
              </a:tblPr>
              <a:tblGrid>
                <a:gridCol w="1644500"/>
                <a:gridCol w="6177525"/>
              </a:tblGrid>
              <a:tr h="265050">
                <a:tc>
                  <a:txBody>
                    <a:bodyPr/>
                    <a:lstStyle/>
                    <a:p>
                      <a:pPr indent="0" lvl="0" marL="0" marR="0" rtl="0" algn="l">
                        <a:spcBef>
                          <a:spcPts val="0"/>
                        </a:spcBef>
                        <a:spcAft>
                          <a:spcPts val="0"/>
                        </a:spcAft>
                        <a:buNone/>
                      </a:pPr>
                      <a:r>
                        <a:rPr b="1" lang="en-US" sz="1200" u="none" cap="none" strike="noStrike"/>
                        <a:t>Operation</a:t>
                      </a:r>
                      <a:endParaRPr sz="1200" u="none" cap="none" strike="noStrike"/>
                    </a:p>
                  </a:txBody>
                  <a:tcPr marT="47625" marB="47625" marR="47625" marL="47625" anchor="ctr"/>
                </a:tc>
                <a:tc>
                  <a:txBody>
                    <a:bodyPr/>
                    <a:lstStyle/>
                    <a:p>
                      <a:pPr indent="0" lvl="0" marL="0" marR="0" rtl="0" algn="l">
                        <a:spcBef>
                          <a:spcPts val="0"/>
                        </a:spcBef>
                        <a:spcAft>
                          <a:spcPts val="0"/>
                        </a:spcAft>
                        <a:buNone/>
                      </a:pPr>
                      <a:r>
                        <a:rPr b="1" lang="en-US" sz="1200" u="none" cap="none" strike="noStrike"/>
                        <a:t>Description</a:t>
                      </a:r>
                      <a:endParaRPr sz="1200" u="none" cap="none" strike="noStrike"/>
                    </a:p>
                  </a:txBody>
                  <a:tcPr marT="47625" marB="47625" marR="47625" marL="47625" anchor="ctr"/>
                </a:tc>
              </a:tr>
              <a:tr h="265050">
                <a:tc>
                  <a:txBody>
                    <a:bodyPr/>
                    <a:lstStyle/>
                    <a:p>
                      <a:pPr indent="0" lvl="0" marL="0" marR="0" rtl="0" algn="l">
                        <a:spcBef>
                          <a:spcPts val="0"/>
                        </a:spcBef>
                        <a:spcAft>
                          <a:spcPts val="0"/>
                        </a:spcAft>
                        <a:buNone/>
                      </a:pPr>
                      <a:r>
                        <a:rPr b="1" lang="en-US" sz="1200" u="none" cap="none" strike="noStrike"/>
                        <a:t>get-request</a:t>
                      </a:r>
                      <a:endParaRPr b="0" sz="1200" u="none" cap="none" strike="noStrike"/>
                    </a:p>
                  </a:txBody>
                  <a:tcPr marT="47625" marB="47625" marR="47625" marL="47625" anchor="ctr"/>
                </a:tc>
                <a:tc>
                  <a:txBody>
                    <a:bodyPr/>
                    <a:lstStyle/>
                    <a:p>
                      <a:pPr indent="0" lvl="0" marL="0" marR="0" rtl="0" algn="l">
                        <a:spcBef>
                          <a:spcPts val="0"/>
                        </a:spcBef>
                        <a:spcAft>
                          <a:spcPts val="0"/>
                        </a:spcAft>
                        <a:buNone/>
                      </a:pPr>
                      <a:r>
                        <a:rPr b="0" lang="en-US" sz="1200" u="none" cap="none" strike="noStrike"/>
                        <a:t>Retrieves a value from a specific variable.</a:t>
                      </a:r>
                      <a:endParaRPr/>
                    </a:p>
                  </a:txBody>
                  <a:tcPr marT="47625" marB="47625" marR="47625" marL="47625" anchor="ctr"/>
                </a:tc>
              </a:tr>
              <a:tr h="460225">
                <a:tc>
                  <a:txBody>
                    <a:bodyPr/>
                    <a:lstStyle/>
                    <a:p>
                      <a:pPr indent="0" lvl="0" marL="0" marR="0" rtl="0" algn="l">
                        <a:spcBef>
                          <a:spcPts val="0"/>
                        </a:spcBef>
                        <a:spcAft>
                          <a:spcPts val="0"/>
                        </a:spcAft>
                        <a:buNone/>
                      </a:pPr>
                      <a:r>
                        <a:rPr b="1" lang="en-US" sz="1200" u="none" cap="none" strike="noStrike"/>
                        <a:t>get-next-request</a:t>
                      </a:r>
                      <a:endParaRPr b="0" sz="1200" u="none" cap="none" strike="noStrike"/>
                    </a:p>
                  </a:txBody>
                  <a:tcPr marT="47625" marB="47625" marR="47625" marL="47625" anchor="ctr"/>
                </a:tc>
                <a:tc>
                  <a:txBody>
                    <a:bodyPr/>
                    <a:lstStyle/>
                    <a:p>
                      <a:pPr indent="0" lvl="0" marL="0" marR="0" rtl="0" algn="l">
                        <a:spcBef>
                          <a:spcPts val="0"/>
                        </a:spcBef>
                        <a:spcAft>
                          <a:spcPts val="0"/>
                        </a:spcAft>
                        <a:buNone/>
                      </a:pPr>
                      <a:r>
                        <a:rPr b="0" lang="en-US" sz="1200" u="none" cap="none" strike="noStrike"/>
                        <a:t>Retrieves a value from a variable within a table; the SNMP manager does not need to know the exact variable name. A sequential search is performed to find the needed variable from within a table.</a:t>
                      </a:r>
                      <a:endParaRPr/>
                    </a:p>
                  </a:txBody>
                  <a:tcPr marT="47625" marB="47625" marR="47625" marL="47625" anchor="ctr"/>
                </a:tc>
              </a:tr>
              <a:tr h="329500">
                <a:tc>
                  <a:txBody>
                    <a:bodyPr/>
                    <a:lstStyle/>
                    <a:p>
                      <a:pPr indent="0" lvl="0" marL="0" marR="0" rtl="0" algn="l">
                        <a:spcBef>
                          <a:spcPts val="0"/>
                        </a:spcBef>
                        <a:spcAft>
                          <a:spcPts val="0"/>
                        </a:spcAft>
                        <a:buNone/>
                      </a:pPr>
                      <a:r>
                        <a:rPr b="1" lang="en-US" sz="1200" u="none" cap="none" strike="noStrike"/>
                        <a:t>get-bulk-request</a:t>
                      </a:r>
                      <a:endParaRPr b="0" sz="1200" u="none" cap="none" strike="noStrike"/>
                    </a:p>
                  </a:txBody>
                  <a:tcPr marT="47625" marB="47625" marR="47625" marL="47625" anchor="ctr"/>
                </a:tc>
                <a:tc>
                  <a:txBody>
                    <a:bodyPr/>
                    <a:lstStyle/>
                    <a:p>
                      <a:pPr indent="0" lvl="0" marL="0" marR="0" rtl="0" algn="l">
                        <a:spcBef>
                          <a:spcPts val="0"/>
                        </a:spcBef>
                        <a:spcAft>
                          <a:spcPts val="0"/>
                        </a:spcAft>
                        <a:buNone/>
                      </a:pPr>
                      <a:r>
                        <a:rPr b="0" lang="en-US" sz="1200" u="none" cap="none" strike="noStrike"/>
                        <a:t>Retrieves large blocks of data, such as multiple rows in a table, that would otherwise require the transmission of many small blocks of data. (Only works with SNMPv2 or later.)</a:t>
                      </a:r>
                      <a:endParaRPr/>
                    </a:p>
                  </a:txBody>
                  <a:tcPr marT="47625" marB="47625" marR="47625" marL="47625" anchor="ctr"/>
                </a:tc>
              </a:tr>
              <a:tr h="265050">
                <a:tc>
                  <a:txBody>
                    <a:bodyPr/>
                    <a:lstStyle/>
                    <a:p>
                      <a:pPr indent="0" lvl="0" marL="0" marR="0" rtl="0" algn="l">
                        <a:spcBef>
                          <a:spcPts val="0"/>
                        </a:spcBef>
                        <a:spcAft>
                          <a:spcPts val="0"/>
                        </a:spcAft>
                        <a:buNone/>
                      </a:pPr>
                      <a:r>
                        <a:rPr b="1" lang="en-US" sz="1200" u="none" cap="none" strike="noStrike"/>
                        <a:t>get-response</a:t>
                      </a:r>
                      <a:endParaRPr b="0" sz="1200" u="none" cap="none" strike="noStrike"/>
                    </a:p>
                  </a:txBody>
                  <a:tcPr marT="47625" marB="47625" marR="47625" marL="47625" anchor="ctr"/>
                </a:tc>
                <a:tc>
                  <a:txBody>
                    <a:bodyPr/>
                    <a:lstStyle/>
                    <a:p>
                      <a:pPr indent="0" lvl="0" marL="0" marR="0" rtl="0" algn="l">
                        <a:spcBef>
                          <a:spcPts val="0"/>
                        </a:spcBef>
                        <a:spcAft>
                          <a:spcPts val="0"/>
                        </a:spcAft>
                        <a:buNone/>
                      </a:pPr>
                      <a:r>
                        <a:rPr b="0" lang="en-US" sz="1200" u="none" cap="none" strike="noStrike"/>
                        <a:t>Replies to a </a:t>
                      </a:r>
                      <a:r>
                        <a:rPr b="1" lang="en-US" sz="1200" u="none" cap="none" strike="noStrike"/>
                        <a:t>get-request, get-next-request, </a:t>
                      </a:r>
                      <a:r>
                        <a:rPr b="0" lang="en-US" sz="1200" u="none" cap="none" strike="noStrike"/>
                        <a:t>and </a:t>
                      </a:r>
                      <a:r>
                        <a:rPr b="1" lang="en-US" sz="1200" u="none" cap="none" strike="noStrike"/>
                        <a:t>set-request </a:t>
                      </a:r>
                      <a:r>
                        <a:rPr b="0" lang="en-US" sz="1200" u="none" cap="none" strike="noStrike"/>
                        <a:t>sent by an NMS.</a:t>
                      </a:r>
                      <a:endParaRPr/>
                    </a:p>
                  </a:txBody>
                  <a:tcPr marT="47625" marB="47625" marR="47625" marL="47625" anchor="ctr"/>
                </a:tc>
              </a:tr>
              <a:tr h="265050">
                <a:tc>
                  <a:txBody>
                    <a:bodyPr/>
                    <a:lstStyle/>
                    <a:p>
                      <a:pPr indent="0" lvl="0" marL="0" marR="0" rtl="0" algn="l">
                        <a:spcBef>
                          <a:spcPts val="0"/>
                        </a:spcBef>
                        <a:spcAft>
                          <a:spcPts val="0"/>
                        </a:spcAft>
                        <a:buNone/>
                      </a:pPr>
                      <a:r>
                        <a:rPr b="1" lang="en-US" sz="1200" u="none" cap="none" strike="noStrike"/>
                        <a:t>set-request</a:t>
                      </a:r>
                      <a:endParaRPr b="0" sz="1200" u="none" cap="none" strike="noStrike"/>
                    </a:p>
                  </a:txBody>
                  <a:tcPr marT="47625" marB="47625" marR="47625" marL="47625" anchor="ctr"/>
                </a:tc>
                <a:tc>
                  <a:txBody>
                    <a:bodyPr/>
                    <a:lstStyle/>
                    <a:p>
                      <a:pPr indent="0" lvl="0" marL="0" marR="0" rtl="0" algn="l">
                        <a:spcBef>
                          <a:spcPts val="0"/>
                        </a:spcBef>
                        <a:spcAft>
                          <a:spcPts val="0"/>
                        </a:spcAft>
                        <a:buNone/>
                      </a:pPr>
                      <a:r>
                        <a:rPr b="0" lang="en-US" sz="1200" u="none" cap="none" strike="noStrike"/>
                        <a:t>Stores a value in a specific variable.</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Operation (Cont.)</a:t>
            </a:r>
            <a:endParaRPr/>
          </a:p>
        </p:txBody>
      </p:sp>
      <p:sp>
        <p:nvSpPr>
          <p:cNvPr id="439" name="Google Shape;439;p28"/>
          <p:cNvSpPr txBox="1"/>
          <p:nvPr>
            <p:ph idx="1" type="body"/>
          </p:nvPr>
        </p:nvSpPr>
        <p:spPr>
          <a:xfrm>
            <a:off x="474662" y="731837"/>
            <a:ext cx="8280057" cy="218364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SNMP agent responds to SNMP manager requests as follows: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Get an MIB variable</a:t>
            </a:r>
            <a:r>
              <a:rPr lang="en-US" sz="1600">
                <a:solidFill>
                  <a:srgbClr val="000000"/>
                </a:solidFill>
              </a:rPr>
              <a:t> - The SNMP agent performs this function in response to a GetRequest-PDU from the network manager. The agent retrieves the value of the requested MIB variable and responds to the network manager with that value.</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Set an MIB variable</a:t>
            </a:r>
            <a:r>
              <a:rPr lang="en-US" sz="1600">
                <a:solidFill>
                  <a:srgbClr val="000000"/>
                </a:solidFill>
              </a:rPr>
              <a:t> - The SNMP agent performs this function in response to a SetRequest-PDU from the network manager. The SNMP agent changes the value of the MIB variable to the value specified by the network manager. An SNMP agent reply to a set request includes the new settings in the device.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40" name="Google Shape;440;p28"/>
          <p:cNvPicPr preferRelativeResize="0"/>
          <p:nvPr/>
        </p:nvPicPr>
        <p:blipFill rotWithShape="1">
          <a:blip r:embed="rId3">
            <a:alphaModFix/>
          </a:blip>
          <a:srcRect b="0" l="0" r="0" t="0"/>
          <a:stretch/>
        </p:blipFill>
        <p:spPr>
          <a:xfrm>
            <a:off x="2239482" y="3019926"/>
            <a:ext cx="4665035" cy="18678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Agent Traps</a:t>
            </a:r>
            <a:endParaRPr/>
          </a:p>
        </p:txBody>
      </p:sp>
      <p:sp>
        <p:nvSpPr>
          <p:cNvPr id="447" name="Google Shape;447;p29"/>
          <p:cNvSpPr txBox="1"/>
          <p:nvPr>
            <p:ph idx="1" type="body"/>
          </p:nvPr>
        </p:nvSpPr>
        <p:spPr>
          <a:xfrm>
            <a:off x="474662" y="731837"/>
            <a:ext cx="8280057" cy="183991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Traps are unsolicited messages alerting the SNMP manager to a condition or event on the network. Trap-directed notifications reduce network and agent resources by eliminating the need for some of SNMP polling requests.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figure illustrates the use of an SNMP trap to alert the network administrator that interface G0/0/0 has failed. The NMS software can send the network administrator a text message, pop up a window on the NMS software, or turn the router icon red in the NMS GUI.</a:t>
            </a:r>
            <a:endParaRPr/>
          </a:p>
          <a:p>
            <a:pPr indent="0" lvl="0" marL="0" rtl="0" algn="l">
              <a:lnSpc>
                <a:spcPct val="100000"/>
              </a:lnSpc>
              <a:spcBef>
                <a:spcPts val="320"/>
              </a:spcBef>
              <a:spcAft>
                <a:spcPts val="0"/>
              </a:spcAft>
              <a:buSzPts val="1600"/>
              <a:buNone/>
            </a:pPr>
            <a:br>
              <a:rPr lang="en-US" sz="1600">
                <a:solidFill>
                  <a:srgbClr val="000000"/>
                </a:solidFill>
              </a:rPr>
            </a:b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48" name="Google Shape;448;p29"/>
          <p:cNvPicPr preferRelativeResize="0"/>
          <p:nvPr/>
        </p:nvPicPr>
        <p:blipFill rotWithShape="1">
          <a:blip r:embed="rId3">
            <a:alphaModFix/>
          </a:blip>
          <a:srcRect b="0" l="0" r="0" t="0"/>
          <a:stretch/>
        </p:blipFill>
        <p:spPr>
          <a:xfrm>
            <a:off x="1940601" y="2724398"/>
            <a:ext cx="5348177" cy="18054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Versions</a:t>
            </a:r>
            <a:endParaRPr/>
          </a:p>
        </p:txBody>
      </p:sp>
      <p:sp>
        <p:nvSpPr>
          <p:cNvPr id="455" name="Google Shape;455;p3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SNMPv1 - Legacy standard defined in RFC 1157. Uses a simple community-string based authentication method. Should not be used due to security risks.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SNMPv2c - Defined in RFCs 1901-1908. Uses a simple community-string based authentication method. Provides for bulk retrieval options, as well as more detailed error messages.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SNMPv3 - Defined in RFCs 3410-3415. Uses username authentication, provides data protection using HMAC-MD5 or HMAC-SHA and encryption using DES, 3DES, or AES encryption.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Community Strings</a:t>
            </a:r>
            <a:endParaRPr/>
          </a:p>
        </p:txBody>
      </p:sp>
      <p:sp>
        <p:nvSpPr>
          <p:cNvPr id="462" name="Google Shape;462;p3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SNMPv1 and SNMPv2c use community strings that control access to the MIB. Community strings are plaintext passwords. SNMP community strings authenticate access to MIB objects.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There are two types of community strings:</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Read-only (ro)</a:t>
            </a:r>
            <a:r>
              <a:rPr lang="en-US">
                <a:solidFill>
                  <a:srgbClr val="000000"/>
                </a:solidFill>
              </a:rPr>
              <a:t> - This type provides access to the MIB variables, but does not allow these variables to be changed, only read. Because security is minimal in version 2c, many organizations use SNMPv2c in read-only mode.</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Read-write (rw)</a:t>
            </a:r>
            <a:r>
              <a:rPr lang="en-US">
                <a:solidFill>
                  <a:srgbClr val="000000"/>
                </a:solidFill>
              </a:rPr>
              <a:t> - This type provides read and write access to all objects in the MIB.</a:t>
            </a:r>
            <a:endParaRPr/>
          </a:p>
          <a:p>
            <a:pPr indent="0" lvl="1" marL="73085" rtl="0" algn="l">
              <a:lnSpc>
                <a:spcPct val="95000"/>
              </a:lnSpc>
              <a:spcBef>
                <a:spcPts val="600"/>
              </a:spcBef>
              <a:spcAft>
                <a:spcPts val="0"/>
              </a:spcAft>
              <a:buSzPts val="1600"/>
              <a:buNone/>
            </a:pPr>
            <a:r>
              <a:t/>
            </a:r>
            <a:endParaRPr sz="1600">
              <a:solidFill>
                <a:srgbClr val="000000"/>
              </a:solidFill>
            </a:endParaRPr>
          </a:p>
          <a:p>
            <a:pPr indent="0" lvl="1" marL="73085" rtl="0" algn="l">
              <a:lnSpc>
                <a:spcPct val="95000"/>
              </a:lnSpc>
              <a:spcBef>
                <a:spcPts val="600"/>
              </a:spcBef>
              <a:spcAft>
                <a:spcPts val="0"/>
              </a:spcAft>
              <a:buSzPts val="1600"/>
              <a:buNone/>
            </a:pPr>
            <a:r>
              <a:rPr lang="en-US" sz="1600">
                <a:solidFill>
                  <a:srgbClr val="000000"/>
                </a:solidFill>
              </a:rPr>
              <a:t>To view or set MIB variables, the user must specify the appropriate community string for read or write access.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MIB Object ID</a:t>
            </a:r>
            <a:endParaRPr/>
          </a:p>
        </p:txBody>
      </p:sp>
      <p:sp>
        <p:nvSpPr>
          <p:cNvPr id="469" name="Google Shape;469;p3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MIB organizes variables hierarchically. Formally, the MIB defines each variable as an object ID (OID). OIDs uniquely identify managed objects. The MIB organizes the OIDs based on RFC standards into a hierarchy of OIDs, usually shown as a tree.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MIB tree for any given device includes some branches with variables common to many networking devices and some branches with variables specific to that device or vendor.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RFCs define some common public variables. Most devices implement these MIB variables. In addition, networking equipment vendors, like Cisco, can define their own private branches of the tree to accommodate new variables specific to their devices.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MIB Object ID (Cont.)</a:t>
            </a:r>
            <a:endParaRPr/>
          </a:p>
        </p:txBody>
      </p:sp>
      <p:sp>
        <p:nvSpPr>
          <p:cNvPr id="476" name="Google Shape;476;p33"/>
          <p:cNvSpPr txBox="1"/>
          <p:nvPr>
            <p:ph idx="1" type="body"/>
          </p:nvPr>
        </p:nvSpPr>
        <p:spPr>
          <a:xfrm>
            <a:off x="474662" y="731837"/>
            <a:ext cx="371456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figure shows portions of the MIB structure defined by Cisco. Note how the OID can be described in words or numbers to help locate a particular variable in the tree.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OIDs belonging to Cisco, are numbered as follows: .iso (1).org (3).dod (6).internet (1).private (4).enterprises (1).cisco (9).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Therefore, the OID is 1.3.6.1.4.1.9.</a:t>
            </a:r>
            <a:endParaRPr/>
          </a:p>
          <a:p>
            <a:pPr indent="0" lvl="0" marL="0" rtl="0" algn="l">
              <a:lnSpc>
                <a:spcPct val="100000"/>
              </a:lnSpc>
              <a:spcBef>
                <a:spcPts val="320"/>
              </a:spcBef>
              <a:spcAft>
                <a:spcPts val="0"/>
              </a:spcAft>
              <a:buSzPts val="1600"/>
              <a:buNone/>
            </a:pPr>
            <a:br>
              <a:rPr lang="en-US" sz="1600">
                <a:solidFill>
                  <a:srgbClr val="000000"/>
                </a:solidFill>
              </a:rPr>
            </a:br>
            <a:endParaRPr sz="16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477" name="Google Shape;477;p33"/>
          <p:cNvPicPr preferRelativeResize="0"/>
          <p:nvPr/>
        </p:nvPicPr>
        <p:blipFill rotWithShape="1">
          <a:blip r:embed="rId3">
            <a:alphaModFix/>
          </a:blip>
          <a:srcRect b="0" l="0" r="0" t="0"/>
          <a:stretch/>
        </p:blipFill>
        <p:spPr>
          <a:xfrm>
            <a:off x="4765716" y="599130"/>
            <a:ext cx="3320822" cy="38888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Polling Scenario</a:t>
            </a:r>
            <a:endParaRPr/>
          </a:p>
        </p:txBody>
      </p:sp>
      <p:sp>
        <p:nvSpPr>
          <p:cNvPr id="484" name="Google Shape;484;p34"/>
          <p:cNvSpPr txBox="1"/>
          <p:nvPr>
            <p:ph idx="1" type="body"/>
          </p:nvPr>
        </p:nvSpPr>
        <p:spPr>
          <a:xfrm>
            <a:off x="474662" y="731837"/>
            <a:ext cx="8280057" cy="170656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SNMP can be used is to observe CPU utilization over a period of time by polling devices. CPU statistics can then be compiled on the NMS and graphed. This creates a baseline for the network administrator.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data is retrieved via the snmpget utility, issued on the NMS. Using the snmpget utility, you can manually retrieve real-time data, or have the NMS run a report. This report would give you a period of time that you could use the data to get the average.</a:t>
            </a:r>
            <a:endParaRPr/>
          </a:p>
        </p:txBody>
      </p:sp>
      <p:pic>
        <p:nvPicPr>
          <p:cNvPr id="485" name="Google Shape;485;p34"/>
          <p:cNvPicPr preferRelativeResize="0"/>
          <p:nvPr/>
        </p:nvPicPr>
        <p:blipFill rotWithShape="1">
          <a:blip r:embed="rId3">
            <a:alphaModFix/>
          </a:blip>
          <a:srcRect b="0" l="0" r="0" t="0"/>
          <a:stretch/>
        </p:blipFill>
        <p:spPr>
          <a:xfrm>
            <a:off x="474662" y="2438400"/>
            <a:ext cx="6487591" cy="24028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SNMP Object Navigator</a:t>
            </a:r>
            <a:endParaRPr/>
          </a:p>
        </p:txBody>
      </p:sp>
      <p:sp>
        <p:nvSpPr>
          <p:cNvPr id="492" name="Google Shape;492;p35"/>
          <p:cNvSpPr txBox="1"/>
          <p:nvPr>
            <p:ph idx="1" type="body"/>
          </p:nvPr>
        </p:nvSpPr>
        <p:spPr>
          <a:xfrm>
            <a:off x="75406" y="768349"/>
            <a:ext cx="4097338"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snmpget utility gives some insight into the basic mechanics of how SNMP works. However, working with long MIB variable names like 1.3.6.1.4.1.9.2.1.58.0 can be problematic for the average user. More commonly, the network operations staff uses a network management product with an easy-to-use GUI, which makes the entire MIB data variable naming transparent to the user.</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Cisco SNMP Navigator on the </a:t>
            </a:r>
            <a:r>
              <a:rPr lang="en-US" sz="1600" u="sng">
                <a:solidFill>
                  <a:srgbClr val="000000"/>
                </a:solidFill>
                <a:hlinkClick r:id="rId3">
                  <a:extLst>
                    <a:ext uri="{A12FA001-AC4F-418D-AE19-62706E023703}">
                      <ahyp:hlinkClr val="tx"/>
                    </a:ext>
                  </a:extLst>
                </a:hlinkClick>
              </a:rPr>
              <a:t>http://www.cisco.com</a:t>
            </a:r>
            <a:r>
              <a:rPr lang="en-US" sz="1600">
                <a:solidFill>
                  <a:srgbClr val="000000"/>
                </a:solidFill>
              </a:rPr>
              <a:t> website allows a network administrator to research details about a particular OID.</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93" name="Google Shape;493;p35"/>
          <p:cNvPicPr preferRelativeResize="0"/>
          <p:nvPr/>
        </p:nvPicPr>
        <p:blipFill rotWithShape="1">
          <a:blip r:embed="rId4">
            <a:alphaModFix/>
          </a:blip>
          <a:srcRect b="0" l="0" r="0" t="0"/>
          <a:stretch/>
        </p:blipFill>
        <p:spPr>
          <a:xfrm>
            <a:off x="4572000" y="1115089"/>
            <a:ext cx="4362022" cy="2913321"/>
          </a:xfrm>
          <a:prstGeom prst="rect">
            <a:avLst/>
          </a:prstGeom>
          <a:noFill/>
          <a:ln cap="flat" cmpd="sng" w="9525">
            <a:solidFill>
              <a:srgbClr val="000000"/>
            </a:solidFill>
            <a:prstDash val="solid"/>
            <a:round/>
            <a:headEnd len="sm" w="sm" type="none"/>
            <a:tailEnd len="sm" w="sm" type="none"/>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SNMP</a:t>
            </a:r>
            <a:br>
              <a:rPr lang="en-US"/>
            </a:br>
            <a:r>
              <a:rPr lang="en-US" sz="2400"/>
              <a:t>Lab - Research Network Monitoring Software</a:t>
            </a:r>
            <a:endParaRPr/>
          </a:p>
        </p:txBody>
      </p:sp>
      <p:sp>
        <p:nvSpPr>
          <p:cNvPr id="500" name="Google Shape;500;p3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800"/>
              <a:buNone/>
            </a:pPr>
            <a:r>
              <a:rPr lang="en-US" sz="1800">
                <a:solidFill>
                  <a:srgbClr val="000000"/>
                </a:solidFill>
              </a:rPr>
              <a:t>In this lab, you will complete the following objectives:</a:t>
            </a:r>
            <a:endParaRPr/>
          </a:p>
          <a:p>
            <a:pPr indent="-215900" lvl="1" marL="358775" rtl="0" algn="l">
              <a:lnSpc>
                <a:spcPct val="95000"/>
              </a:lnSpc>
              <a:spcBef>
                <a:spcPts val="600"/>
              </a:spcBef>
              <a:spcAft>
                <a:spcPts val="0"/>
              </a:spcAft>
              <a:buSzPts val="1800"/>
              <a:buChar char="•"/>
            </a:pPr>
            <a:r>
              <a:rPr lang="en-US" sz="1800">
                <a:solidFill>
                  <a:srgbClr val="000000"/>
                </a:solidFill>
              </a:rPr>
              <a:t>Part 1: Survey Your Understanding of Network Monitoring</a:t>
            </a:r>
            <a:endParaRPr/>
          </a:p>
          <a:p>
            <a:pPr indent="-215900" lvl="1" marL="358775" rtl="0" algn="l">
              <a:lnSpc>
                <a:spcPct val="95000"/>
              </a:lnSpc>
              <a:spcBef>
                <a:spcPts val="600"/>
              </a:spcBef>
              <a:spcAft>
                <a:spcPts val="0"/>
              </a:spcAft>
              <a:buSzPts val="1800"/>
              <a:buChar char="•"/>
            </a:pPr>
            <a:r>
              <a:rPr lang="en-US" sz="1800">
                <a:solidFill>
                  <a:srgbClr val="000000"/>
                </a:solidFill>
              </a:rPr>
              <a:t>Part 2: Research Network Monitoring Tools</a:t>
            </a:r>
            <a:endParaRPr/>
          </a:p>
          <a:p>
            <a:pPr indent="-215900" lvl="1" marL="358775" rtl="0" algn="l">
              <a:lnSpc>
                <a:spcPct val="95000"/>
              </a:lnSpc>
              <a:spcBef>
                <a:spcPts val="600"/>
              </a:spcBef>
              <a:spcAft>
                <a:spcPts val="0"/>
              </a:spcAft>
              <a:buSzPts val="1800"/>
              <a:buChar char="•"/>
            </a:pPr>
            <a:r>
              <a:rPr lang="en-US" sz="1800">
                <a:solidFill>
                  <a:srgbClr val="000000"/>
                </a:solidFill>
              </a:rPr>
              <a:t>Part 3: Select a Network Monitoring Tool</a:t>
            </a:r>
            <a:endParaRPr/>
          </a:p>
          <a:p>
            <a:pPr indent="-285690" lvl="0" marL="28569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7"/>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10.5 Syslog</a:t>
            </a:r>
            <a:endParaRPr/>
          </a:p>
        </p:txBody>
      </p:sp>
    </p:spTree>
  </p:cSld>
  <p:clrMapOvr>
    <a:masterClrMapping/>
  </p:clrMapOvr>
  <p:transition spd="slow">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Introduction to Syslog</a:t>
            </a:r>
            <a:endParaRPr/>
          </a:p>
        </p:txBody>
      </p:sp>
      <p:sp>
        <p:nvSpPr>
          <p:cNvPr id="513" name="Google Shape;513;p38"/>
          <p:cNvSpPr txBox="1"/>
          <p:nvPr>
            <p:ph idx="1" type="body"/>
          </p:nvPr>
        </p:nvSpPr>
        <p:spPr>
          <a:xfrm>
            <a:off x="474662" y="731838"/>
            <a:ext cx="8280057" cy="208131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Syslog uses UDP port 514 to send event notification messages across IP networks to event message collectors, as shown in the figure.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syslog logging service provides three primary functions, as follows:</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The ability to gather logging information for monitoring and troubleshooting</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The ability to select the type of logging information that is captured</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The ability to specify the destinations of captured syslog messages</a:t>
            </a:r>
            <a:endParaRPr/>
          </a:p>
          <a:p>
            <a:pPr indent="0" lvl="0" marL="0" rtl="0" algn="l">
              <a:lnSpc>
                <a:spcPct val="100000"/>
              </a:lnSpc>
              <a:spcBef>
                <a:spcPts val="320"/>
              </a:spcBef>
              <a:spcAft>
                <a:spcPts val="0"/>
              </a:spcAft>
              <a:buSzPts val="1600"/>
              <a:buNone/>
            </a:pPr>
            <a:br>
              <a:rPr lang="en-US" sz="1600">
                <a:solidFill>
                  <a:srgbClr val="000000"/>
                </a:solidFill>
              </a:rPr>
            </a:br>
            <a:endParaRPr sz="1600">
              <a:solidFill>
                <a:srgbClr val="000000"/>
              </a:solidFill>
            </a:endParaRPr>
          </a:p>
        </p:txBody>
      </p:sp>
      <p:pic>
        <p:nvPicPr>
          <p:cNvPr id="514" name="Google Shape;514;p38"/>
          <p:cNvPicPr preferRelativeResize="0"/>
          <p:nvPr/>
        </p:nvPicPr>
        <p:blipFill rotWithShape="1">
          <a:blip r:embed="rId3">
            <a:alphaModFix/>
          </a:blip>
          <a:srcRect b="0" l="0" r="0" t="0"/>
          <a:stretch/>
        </p:blipFill>
        <p:spPr>
          <a:xfrm>
            <a:off x="2042614" y="2943225"/>
            <a:ext cx="3593510" cy="20813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Syslog Operation</a:t>
            </a:r>
            <a:endParaRPr/>
          </a:p>
        </p:txBody>
      </p:sp>
      <p:sp>
        <p:nvSpPr>
          <p:cNvPr id="521" name="Google Shape;521;p39"/>
          <p:cNvSpPr txBox="1"/>
          <p:nvPr>
            <p:ph idx="1" type="body"/>
          </p:nvPr>
        </p:nvSpPr>
        <p:spPr>
          <a:xfrm>
            <a:off x="409232" y="731837"/>
            <a:ext cx="8345488" cy="396398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syslog protocol starts by sending system messages and </a:t>
            </a:r>
            <a:r>
              <a:rPr b="1" lang="en-US" sz="1600">
                <a:solidFill>
                  <a:srgbClr val="000000"/>
                </a:solidFill>
              </a:rPr>
              <a:t>debug</a:t>
            </a:r>
            <a:r>
              <a:rPr lang="en-US" sz="1600">
                <a:solidFill>
                  <a:srgbClr val="000000"/>
                </a:solidFill>
              </a:rPr>
              <a:t> output to a local logging process. Syslog configuration may send these messages across the network to an external syslog server, where they can be retrieved without needing to access the actual device. </a:t>
            </a:r>
            <a:endParaRPr/>
          </a:p>
          <a:p>
            <a:pPr indent="0" lvl="0" marL="0" rtl="0" algn="l">
              <a:lnSpc>
                <a:spcPct val="100000"/>
              </a:lnSpc>
              <a:spcBef>
                <a:spcPts val="320"/>
              </a:spcBef>
              <a:spcAft>
                <a:spcPts val="0"/>
              </a:spcAft>
              <a:buSzPts val="1600"/>
              <a:buNone/>
            </a:pPr>
            <a:r>
              <a:rPr lang="en-US" sz="1600">
                <a:solidFill>
                  <a:srgbClr val="000000"/>
                </a:solidFill>
              </a:rPr>
              <a:t>Alternatively, syslog messages may be sent to an internal buffer. Messages sent to the internal buffer are only viewable through the CLI of the device.</a:t>
            </a:r>
            <a:endParaRPr/>
          </a:p>
          <a:p>
            <a:pPr indent="0" lvl="0" marL="0" rtl="0" algn="l">
              <a:lnSpc>
                <a:spcPct val="100000"/>
              </a:lnSpc>
              <a:spcBef>
                <a:spcPts val="320"/>
              </a:spcBef>
              <a:spcAft>
                <a:spcPts val="0"/>
              </a:spcAft>
              <a:buSzPts val="1600"/>
              <a:buNone/>
            </a:pPr>
            <a:r>
              <a:rPr lang="en-US" sz="1600">
                <a:solidFill>
                  <a:srgbClr val="000000"/>
                </a:solidFill>
              </a:rPr>
              <a:t>The network administrator may specify that only certain types of system messages be sent to various destinations. Popular destinations for syslog messages include the following:</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Logging buffer (RAM inside a router or switch)</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Console line</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Terminal line</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Syslog server</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Syslog Message Format</a:t>
            </a:r>
            <a:endParaRPr/>
          </a:p>
        </p:txBody>
      </p:sp>
      <p:sp>
        <p:nvSpPr>
          <p:cNvPr id="528" name="Google Shape;528;p40"/>
          <p:cNvSpPr txBox="1"/>
          <p:nvPr>
            <p:ph idx="1" type="body"/>
          </p:nvPr>
        </p:nvSpPr>
        <p:spPr>
          <a:xfrm>
            <a:off x="177208" y="946981"/>
            <a:ext cx="3342167" cy="381642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Cisco devices produce syslog messages as a result of network events. Every syslog message contains a severity level and a facility.</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The smaller numerical levels are the more critical syslog alarms. The severity level of the messages can be set to control where each type of message is displayed (i.e. on the console or the other destinations). The complete list of syslog levels is shown in the table.</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aphicFrame>
        <p:nvGraphicFramePr>
          <p:cNvPr id="529" name="Google Shape;529;p40"/>
          <p:cNvGraphicFramePr/>
          <p:nvPr/>
        </p:nvGraphicFramePr>
        <p:xfrm>
          <a:off x="3753038" y="1344497"/>
          <a:ext cx="3000000" cy="3000000"/>
        </p:xfrm>
        <a:graphic>
          <a:graphicData uri="http://schemas.openxmlformats.org/drawingml/2006/table">
            <a:tbl>
              <a:tblPr bandRow="1" firstRow="1">
                <a:noFill/>
                <a:tableStyleId>{B53E40A0-49D7-40C5-8350-70DE36F2940E}</a:tableStyleId>
              </a:tblPr>
              <a:tblGrid>
                <a:gridCol w="1412225"/>
                <a:gridCol w="1382225"/>
                <a:gridCol w="2419300"/>
              </a:tblGrid>
              <a:tr h="339150">
                <a:tc>
                  <a:txBody>
                    <a:bodyPr/>
                    <a:lstStyle/>
                    <a:p>
                      <a:pPr indent="0" lvl="0" marL="0" marR="0" rtl="0" algn="l">
                        <a:spcBef>
                          <a:spcPts val="0"/>
                        </a:spcBef>
                        <a:spcAft>
                          <a:spcPts val="0"/>
                        </a:spcAft>
                        <a:buNone/>
                      </a:pPr>
                      <a:r>
                        <a:rPr b="1" lang="en-US" sz="1400" u="none" cap="none" strike="noStrike"/>
                        <a:t>Severity Name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Severity Level</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Explanation</a:t>
                      </a:r>
                      <a:endParaRPr sz="1400" u="none" cap="none" strike="noStrike"/>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Emergency</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0</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System Unusable</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Alert</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1</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Immediate Action Needed</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Critical</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2</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Critical Condition</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Error</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3</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Error Condition</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Warning</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4</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Warning Condition</a:t>
                      </a:r>
                      <a:endParaRPr/>
                    </a:p>
                  </a:txBody>
                  <a:tcPr marT="47625" marB="47625" marR="47625" marL="47625" anchor="ctr"/>
                </a:tc>
              </a:tr>
              <a:tr h="347800">
                <a:tc>
                  <a:txBody>
                    <a:bodyPr/>
                    <a:lstStyle/>
                    <a:p>
                      <a:pPr indent="0" lvl="0" marL="0" marR="0" rtl="0" algn="l">
                        <a:spcBef>
                          <a:spcPts val="0"/>
                        </a:spcBef>
                        <a:spcAft>
                          <a:spcPts val="0"/>
                        </a:spcAft>
                        <a:buNone/>
                      </a:pPr>
                      <a:r>
                        <a:rPr b="0" lang="en-US" sz="1400" u="none" cap="none" strike="noStrike"/>
                        <a:t>Notification</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5</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Normal, but Significant Condition</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Informational</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6</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Informational Message</a:t>
                      </a:r>
                      <a:endParaRPr/>
                    </a:p>
                  </a:txBody>
                  <a:tcPr marT="47625" marB="47625" marR="47625" marL="47625" anchor="ctr"/>
                </a:tc>
              </a:tr>
              <a:tr h="279775">
                <a:tc>
                  <a:txBody>
                    <a:bodyPr/>
                    <a:lstStyle/>
                    <a:p>
                      <a:pPr indent="0" lvl="0" marL="0" marR="0" rtl="0" algn="l">
                        <a:spcBef>
                          <a:spcPts val="0"/>
                        </a:spcBef>
                        <a:spcAft>
                          <a:spcPts val="0"/>
                        </a:spcAft>
                        <a:buNone/>
                      </a:pPr>
                      <a:r>
                        <a:rPr b="0" lang="en-US" sz="1400" u="none" cap="none" strike="noStrike"/>
                        <a:t>Debugging</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Level 7</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Debugging Message</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Syslog Facilities</a:t>
            </a:r>
            <a:endParaRPr/>
          </a:p>
        </p:txBody>
      </p:sp>
      <p:sp>
        <p:nvSpPr>
          <p:cNvPr id="536" name="Google Shape;536;p4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addition to specifying the severity, syslog messages also contain information on the facility. Syslog facilities are service identifiers that identify and categorize system state data for error and event message reporting. The logging facility options that are available are specific to the networking device.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Some common syslog message facilities reported on Cisco IOS routers include:</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IP</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OSPF protocol</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SYS operating system</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IP security (IPsec)</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Interface IP (IF)</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Syslog Facilities (Cont.)</a:t>
            </a:r>
            <a:endParaRPr/>
          </a:p>
        </p:txBody>
      </p:sp>
      <p:sp>
        <p:nvSpPr>
          <p:cNvPr id="543" name="Google Shape;543;p4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By default, the format of syslog messages on the Cisco IOS Software is as follows:</a:t>
            </a:r>
            <a:endParaRPr/>
          </a:p>
          <a:p>
            <a:pPr indent="0" lvl="0" marL="0" rtl="0" algn="l">
              <a:lnSpc>
                <a:spcPct val="100000"/>
              </a:lnSpc>
              <a:spcBef>
                <a:spcPts val="320"/>
              </a:spcBef>
              <a:spcAft>
                <a:spcPts val="0"/>
              </a:spcAft>
              <a:buSzPts val="1600"/>
              <a:buNone/>
            </a:pPr>
            <a:r>
              <a:rPr lang="en-US" sz="1600">
                <a:solidFill>
                  <a:srgbClr val="000000"/>
                </a:solidFill>
              </a:rPr>
              <a:t>			%facility-severity-MNEMONIC: description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For example, sample output on a Cisco switch for an EtherChannel link changing state to up is:</a:t>
            </a:r>
            <a:endParaRPr/>
          </a:p>
          <a:p>
            <a:pPr indent="0" lvl="0" marL="0" rtl="0" algn="l">
              <a:lnSpc>
                <a:spcPct val="100000"/>
              </a:lnSpc>
              <a:spcBef>
                <a:spcPts val="320"/>
              </a:spcBef>
              <a:spcAft>
                <a:spcPts val="0"/>
              </a:spcAft>
              <a:buSzPts val="1600"/>
              <a:buNone/>
            </a:pPr>
            <a:r>
              <a:rPr lang="en-US" sz="1600">
                <a:solidFill>
                  <a:srgbClr val="000000"/>
                </a:solidFill>
                <a:latin typeface="Courier New"/>
                <a:ea typeface="Courier New"/>
                <a:cs typeface="Courier New"/>
                <a:sym typeface="Courier New"/>
              </a:rPr>
              <a:t>  %LINK-3-UPDOWN: Interface Port-channel1, changed state to up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Here the facility is LINK and the severity level is 3, with a MNEMONIC of UPDOWN.</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Syslog</a:t>
            </a:r>
            <a:br>
              <a:rPr lang="en-US" sz="1600"/>
            </a:br>
            <a:r>
              <a:rPr lang="en-US" sz="2400"/>
              <a:t>Configure Syslog Timestamp</a:t>
            </a:r>
            <a:endParaRPr/>
          </a:p>
        </p:txBody>
      </p:sp>
      <p:sp>
        <p:nvSpPr>
          <p:cNvPr id="550" name="Google Shape;550;p43"/>
          <p:cNvSpPr txBox="1"/>
          <p:nvPr>
            <p:ph idx="1" type="body"/>
          </p:nvPr>
        </p:nvSpPr>
        <p:spPr>
          <a:xfrm>
            <a:off x="474662" y="731838"/>
            <a:ext cx="8280057" cy="104395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By default, log messages are not timestamped. Log messages should be timestamped so that when they are sent to another destination, such as a Syslog server, there is record of when the message was generated. Use the command </a:t>
            </a:r>
            <a:r>
              <a:rPr b="1" lang="en-US" sz="1600">
                <a:solidFill>
                  <a:srgbClr val="000000"/>
                </a:solidFill>
              </a:rPr>
              <a:t>service timestamps log datetime</a:t>
            </a:r>
            <a:r>
              <a:rPr lang="en-US" sz="1600">
                <a:solidFill>
                  <a:srgbClr val="000000"/>
                </a:solidFill>
              </a:rPr>
              <a:t> to force logged events to display the date and time. </a:t>
            </a:r>
            <a:endParaRPr/>
          </a:p>
        </p:txBody>
      </p:sp>
      <p:sp>
        <p:nvSpPr>
          <p:cNvPr id="551" name="Google Shape;551;p43"/>
          <p:cNvSpPr/>
          <p:nvPr/>
        </p:nvSpPr>
        <p:spPr>
          <a:xfrm>
            <a:off x="249865" y="1880715"/>
            <a:ext cx="8644269" cy="267765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configure terminal</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interface g0/0/0</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R1(config-if)# </a:t>
            </a:r>
            <a:r>
              <a:rPr b="1" lang="en-US" sz="1200">
                <a:solidFill>
                  <a:srgbClr val="FFFFFF"/>
                </a:solidFill>
                <a:latin typeface="Courier New"/>
                <a:ea typeface="Courier New"/>
                <a:cs typeface="Courier New"/>
                <a:sym typeface="Courier New"/>
              </a:rPr>
              <a:t>shutdown</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%LINK-5-CHANGED: Interface GigabitEthernet0/0/0, changed state to administratively down</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%LINEPROTO-5-UPDOWN: Line protocol on Interface GigabitEthernet0/0/0, changed state to down R1(config-if)# </a:t>
            </a:r>
            <a:r>
              <a:rPr b="1" lang="en-US" sz="1200">
                <a:solidFill>
                  <a:srgbClr val="FFFFFF"/>
                </a:solidFill>
                <a:latin typeface="Courier New"/>
                <a:ea typeface="Courier New"/>
                <a:cs typeface="Courier New"/>
                <a:sym typeface="Courier New"/>
              </a:rPr>
              <a:t>exit</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service timestamps log datetime</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interface g0/0/0</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R1(config-if)# </a:t>
            </a:r>
            <a:r>
              <a:rPr b="1" lang="en-US" sz="1200">
                <a:solidFill>
                  <a:srgbClr val="FFFFFF"/>
                </a:solidFill>
                <a:latin typeface="Courier New"/>
                <a:ea typeface="Courier New"/>
                <a:cs typeface="Courier New"/>
                <a:sym typeface="Courier New"/>
              </a:rPr>
              <a:t>no shutdown</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FBAB18"/>
                </a:solidFill>
                <a:latin typeface="Courier New"/>
                <a:ea typeface="Courier New"/>
                <a:cs typeface="Courier New"/>
                <a:sym typeface="Courier New"/>
              </a:rPr>
              <a:t>*Mar 1 11:52:42:</a:t>
            </a:r>
            <a:r>
              <a:rPr lang="en-US" sz="1200">
                <a:solidFill>
                  <a:srgbClr val="DFDFDF"/>
                </a:solidFill>
                <a:latin typeface="Courier New"/>
                <a:ea typeface="Courier New"/>
                <a:cs typeface="Courier New"/>
                <a:sym typeface="Courier New"/>
              </a:rPr>
              <a:t> %LINK-3-UPDOWN: Interface GigabitEthernet0/0/0, changed state to down </a:t>
            </a:r>
            <a:endParaRPr/>
          </a:p>
          <a:p>
            <a:pPr indent="0" lvl="0" marL="0" marR="0" rtl="0" algn="l">
              <a:spcBef>
                <a:spcPts val="0"/>
              </a:spcBef>
              <a:spcAft>
                <a:spcPts val="0"/>
              </a:spcAft>
              <a:buNone/>
            </a:pPr>
            <a:r>
              <a:rPr lang="en-US" sz="1200">
                <a:solidFill>
                  <a:srgbClr val="FBAB18"/>
                </a:solidFill>
                <a:latin typeface="Courier New"/>
                <a:ea typeface="Courier New"/>
                <a:cs typeface="Courier New"/>
                <a:sym typeface="Courier New"/>
              </a:rPr>
              <a:t>*Mar 1 11:52:45:</a:t>
            </a:r>
            <a:r>
              <a:rPr lang="en-US" sz="1200">
                <a:solidFill>
                  <a:srgbClr val="DFDFDF"/>
                </a:solidFill>
                <a:latin typeface="Courier New"/>
                <a:ea typeface="Courier New"/>
                <a:cs typeface="Courier New"/>
                <a:sym typeface="Courier New"/>
              </a:rPr>
              <a:t> %LINK-3-UPDOWN: Interface GigabitEthernet0/0/0, changed state to up </a:t>
            </a:r>
            <a:endParaRPr/>
          </a:p>
          <a:p>
            <a:pPr indent="0" lvl="0" marL="0" marR="0" rtl="0" algn="l">
              <a:spcBef>
                <a:spcPts val="0"/>
              </a:spcBef>
              <a:spcAft>
                <a:spcPts val="0"/>
              </a:spcAft>
              <a:buNone/>
            </a:pPr>
            <a:r>
              <a:rPr lang="en-US" sz="1200">
                <a:solidFill>
                  <a:srgbClr val="FBAB18"/>
                </a:solidFill>
                <a:latin typeface="Courier New"/>
                <a:ea typeface="Courier New"/>
                <a:cs typeface="Courier New"/>
                <a:sym typeface="Courier New"/>
              </a:rPr>
              <a:t>*Mar 1 11:52:46:</a:t>
            </a:r>
            <a:r>
              <a:rPr lang="en-US" sz="1200">
                <a:solidFill>
                  <a:srgbClr val="DFDFDF"/>
                </a:solidFill>
                <a:latin typeface="Courier New"/>
                <a:ea typeface="Courier New"/>
                <a:cs typeface="Courier New"/>
                <a:sym typeface="Courier New"/>
              </a:rPr>
              <a:t> %LINEPROTO-5-UPDOWN: Line protocol on Interface GigabitEthernet0/0/0, changed state to up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R1(config-if)#</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10.6 Router and Switch File Maintenance</a:t>
            </a:r>
            <a:endParaRPr/>
          </a:p>
        </p:txBody>
      </p:sp>
    </p:spTree>
  </p:cSld>
  <p:clrMapOvr>
    <a:masterClrMapping/>
  </p:clrMapOvr>
  <p:transition spd="slow">
    <p:wipe dir="l"/>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Router File Systems</a:t>
            </a:r>
            <a:endParaRPr/>
          </a:p>
        </p:txBody>
      </p:sp>
      <p:sp>
        <p:nvSpPr>
          <p:cNvPr id="564" name="Google Shape;564;p45"/>
          <p:cNvSpPr txBox="1"/>
          <p:nvPr>
            <p:ph idx="1" type="body"/>
          </p:nvPr>
        </p:nvSpPr>
        <p:spPr>
          <a:xfrm>
            <a:off x="474663" y="816898"/>
            <a:ext cx="3310528" cy="36048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Cisco IOS File System (IFS) allows the administrator to navigate to different directories and list the files in a directory. The administrator can also create subdirectories in flash memory or on a disk. The directories available depend on the device.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example displays the output of the </a:t>
            </a:r>
            <a:r>
              <a:rPr b="1" lang="en-US" sz="1600">
                <a:solidFill>
                  <a:srgbClr val="000000"/>
                </a:solidFill>
              </a:rPr>
              <a:t>show file systems</a:t>
            </a:r>
            <a:r>
              <a:rPr lang="en-US" sz="1600">
                <a:solidFill>
                  <a:srgbClr val="000000"/>
                </a:solidFill>
              </a:rPr>
              <a:t> command, which lists all of the available file systems on a Cisco 4221 router.</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565" name="Google Shape;565;p45"/>
          <p:cNvSpPr/>
          <p:nvPr/>
        </p:nvSpPr>
        <p:spPr>
          <a:xfrm>
            <a:off x="3785191" y="3957270"/>
            <a:ext cx="4997302"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The asterisk indicates the current default file system. The pound sign (#) indicates a bootable disk. Both of these are assigned to the flash file system by default</a:t>
            </a:r>
            <a:endParaRPr/>
          </a:p>
        </p:txBody>
      </p:sp>
      <p:pic>
        <p:nvPicPr>
          <p:cNvPr id="566" name="Google Shape;566;p45"/>
          <p:cNvPicPr preferRelativeResize="0"/>
          <p:nvPr/>
        </p:nvPicPr>
        <p:blipFill rotWithShape="1">
          <a:blip r:embed="rId3">
            <a:alphaModFix/>
          </a:blip>
          <a:srcRect b="0" l="0" r="0" t="0"/>
          <a:stretch/>
        </p:blipFill>
        <p:spPr>
          <a:xfrm>
            <a:off x="3884686" y="467643"/>
            <a:ext cx="4528400" cy="34896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Router File Systems (Cont.)</a:t>
            </a:r>
            <a:endParaRPr/>
          </a:p>
        </p:txBody>
      </p:sp>
      <p:sp>
        <p:nvSpPr>
          <p:cNvPr id="573" name="Google Shape;573;p46"/>
          <p:cNvSpPr txBox="1"/>
          <p:nvPr>
            <p:ph idx="1" type="body"/>
          </p:nvPr>
        </p:nvSpPr>
        <p:spPr>
          <a:xfrm>
            <a:off x="474662" y="946298"/>
            <a:ext cx="2502453" cy="34754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Because flash is the default file system, the </a:t>
            </a:r>
            <a:r>
              <a:rPr b="1" lang="en-US" sz="1600">
                <a:solidFill>
                  <a:srgbClr val="000000"/>
                </a:solidFill>
              </a:rPr>
              <a:t>dir</a:t>
            </a:r>
            <a:r>
              <a:rPr lang="en-US" sz="1600">
                <a:solidFill>
                  <a:srgbClr val="000000"/>
                </a:solidFill>
              </a:rPr>
              <a:t> command lists the contents of flash. Of specific interest is the last listing. This is the name of the current Cisco IOS file image that is running in RAM.</a:t>
            </a:r>
            <a:endParaRPr/>
          </a:p>
        </p:txBody>
      </p:sp>
      <p:pic>
        <p:nvPicPr>
          <p:cNvPr id="574" name="Google Shape;574;p46"/>
          <p:cNvPicPr preferRelativeResize="0"/>
          <p:nvPr/>
        </p:nvPicPr>
        <p:blipFill rotWithShape="1">
          <a:blip r:embed="rId3">
            <a:alphaModFix/>
          </a:blip>
          <a:srcRect b="0" l="0" r="0" t="0"/>
          <a:stretch/>
        </p:blipFill>
        <p:spPr>
          <a:xfrm>
            <a:off x="3132804" y="731837"/>
            <a:ext cx="5687347" cy="3750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Router File Systems (Cont.)</a:t>
            </a:r>
            <a:endParaRPr/>
          </a:p>
        </p:txBody>
      </p:sp>
      <p:sp>
        <p:nvSpPr>
          <p:cNvPr id="581" name="Google Shape;581;p47"/>
          <p:cNvSpPr txBox="1"/>
          <p:nvPr>
            <p:ph idx="1" type="body"/>
          </p:nvPr>
        </p:nvSpPr>
        <p:spPr>
          <a:xfrm>
            <a:off x="257175" y="731837"/>
            <a:ext cx="3506752"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view the contents of NVRAM, you must change the current default file system by using the </a:t>
            </a:r>
            <a:r>
              <a:rPr b="1" lang="en-US" sz="1600">
                <a:solidFill>
                  <a:srgbClr val="000000"/>
                </a:solidFill>
              </a:rPr>
              <a:t>cd</a:t>
            </a:r>
            <a:r>
              <a:rPr lang="en-US" sz="1600">
                <a:solidFill>
                  <a:srgbClr val="000000"/>
                </a:solidFill>
              </a:rPr>
              <a:t> (change directory) command, as shown in the example.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present working directory command is </a:t>
            </a:r>
            <a:r>
              <a:rPr b="1" lang="en-US" sz="1600">
                <a:solidFill>
                  <a:srgbClr val="000000"/>
                </a:solidFill>
              </a:rPr>
              <a:t>pwd</a:t>
            </a:r>
            <a:r>
              <a:rPr lang="en-US" sz="1600">
                <a:solidFill>
                  <a:srgbClr val="000000"/>
                </a:solidFill>
              </a:rPr>
              <a:t>. This command verifies that we are viewing the NVRAM directory. Finally, the </a:t>
            </a:r>
            <a:r>
              <a:rPr b="1" lang="en-US" sz="1600">
                <a:solidFill>
                  <a:srgbClr val="000000"/>
                </a:solidFill>
              </a:rPr>
              <a:t>dir</a:t>
            </a:r>
            <a:r>
              <a:rPr lang="en-US" sz="1600">
                <a:solidFill>
                  <a:srgbClr val="000000"/>
                </a:solidFill>
              </a:rPr>
              <a:t> command lists the contents of NVRAM. Although there are several configuration files listed, of specific interest is the startup-configuration file.</a:t>
            </a:r>
            <a:br>
              <a:rPr lang="en-US" sz="1600">
                <a:solidFill>
                  <a:srgbClr val="000000"/>
                </a:solidFill>
              </a:rPr>
            </a:br>
            <a:endParaRPr sz="1600">
              <a:solidFill>
                <a:srgbClr val="000000"/>
              </a:solidFill>
            </a:endParaRPr>
          </a:p>
        </p:txBody>
      </p:sp>
      <p:pic>
        <p:nvPicPr>
          <p:cNvPr id="582" name="Google Shape;582;p47"/>
          <p:cNvPicPr preferRelativeResize="0"/>
          <p:nvPr/>
        </p:nvPicPr>
        <p:blipFill rotWithShape="1">
          <a:blip r:embed="rId3">
            <a:alphaModFix/>
          </a:blip>
          <a:srcRect b="0" l="0" r="0" t="0"/>
          <a:stretch/>
        </p:blipFill>
        <p:spPr>
          <a:xfrm>
            <a:off x="3991638" y="1061484"/>
            <a:ext cx="4792639" cy="3276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Switch File Systems</a:t>
            </a:r>
            <a:endParaRPr/>
          </a:p>
        </p:txBody>
      </p:sp>
      <p:sp>
        <p:nvSpPr>
          <p:cNvPr id="589" name="Google Shape;589;p48"/>
          <p:cNvSpPr txBox="1"/>
          <p:nvPr>
            <p:ph idx="1" type="body"/>
          </p:nvPr>
        </p:nvSpPr>
        <p:spPr>
          <a:xfrm>
            <a:off x="474662" y="731837"/>
            <a:ext cx="308724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With the Cisco 2960 switch flash file system, you can copy configuration files, and archive (upload and download) software images.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command to view the file systems on a Catalyst switch is the same as on a Cisco router: </a:t>
            </a:r>
            <a:r>
              <a:rPr b="1" lang="en-US" sz="1600">
                <a:solidFill>
                  <a:srgbClr val="000000"/>
                </a:solidFill>
              </a:rPr>
              <a:t>show file systems.</a:t>
            </a:r>
            <a:endParaRPr sz="16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590" name="Google Shape;590;p48"/>
          <p:cNvPicPr preferRelativeResize="0"/>
          <p:nvPr/>
        </p:nvPicPr>
        <p:blipFill rotWithShape="1">
          <a:blip r:embed="rId3">
            <a:alphaModFix/>
          </a:blip>
          <a:srcRect b="0" l="0" r="0" t="0"/>
          <a:stretch/>
        </p:blipFill>
        <p:spPr>
          <a:xfrm>
            <a:off x="3916142" y="822779"/>
            <a:ext cx="4753196" cy="36737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Use a Text File to Back Up a Configuration</a:t>
            </a:r>
            <a:endParaRPr/>
          </a:p>
        </p:txBody>
      </p:sp>
      <p:sp>
        <p:nvSpPr>
          <p:cNvPr id="597" name="Google Shape;597;p49"/>
          <p:cNvSpPr txBox="1"/>
          <p:nvPr>
            <p:ph idx="1" type="body"/>
          </p:nvPr>
        </p:nvSpPr>
        <p:spPr>
          <a:xfrm>
            <a:off x="231237" y="726749"/>
            <a:ext cx="3331800" cy="36900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Configuration files can be saved to a text file by using Tera Term:</a:t>
            </a:r>
            <a:endParaRPr/>
          </a:p>
          <a:p>
            <a:pPr indent="0" lvl="0" marL="0" rtl="0" algn="l">
              <a:lnSpc>
                <a:spcPct val="100000"/>
              </a:lnSpc>
              <a:spcBef>
                <a:spcPts val="280"/>
              </a:spcBef>
              <a:spcAft>
                <a:spcPts val="0"/>
              </a:spcAft>
              <a:buSzPts val="1400"/>
              <a:buNone/>
            </a:pPr>
            <a:r>
              <a:rPr b="1" lang="en-US" sz="1400">
                <a:solidFill>
                  <a:srgbClr val="000000"/>
                </a:solidFill>
              </a:rPr>
              <a:t>Step 1</a:t>
            </a:r>
            <a:r>
              <a:rPr lang="en-US" sz="1400">
                <a:solidFill>
                  <a:srgbClr val="000000"/>
                </a:solidFill>
              </a:rPr>
              <a:t>. On the File menu, click </a:t>
            </a:r>
            <a:r>
              <a:rPr b="1" lang="en-US" sz="1400">
                <a:solidFill>
                  <a:srgbClr val="000000"/>
                </a:solidFill>
              </a:rPr>
              <a:t>Log</a:t>
            </a:r>
            <a:r>
              <a:rPr lang="en-US" sz="1400">
                <a:solidFill>
                  <a:srgbClr val="000000"/>
                </a:solidFill>
              </a:rPr>
              <a:t>.</a:t>
            </a:r>
            <a:br>
              <a:rPr lang="en-US" sz="1400">
                <a:solidFill>
                  <a:srgbClr val="000000"/>
                </a:solidFill>
              </a:rPr>
            </a:br>
            <a:r>
              <a:rPr b="1" lang="en-US" sz="1400">
                <a:solidFill>
                  <a:srgbClr val="000000"/>
                </a:solidFill>
              </a:rPr>
              <a:t>Step 2</a:t>
            </a:r>
            <a:r>
              <a:rPr lang="en-US" sz="1400">
                <a:solidFill>
                  <a:srgbClr val="000000"/>
                </a:solidFill>
              </a:rPr>
              <a:t>. Choose the location to save the file. Tera Term will begin capturing text.</a:t>
            </a:r>
            <a:br>
              <a:rPr lang="en-US" sz="1400">
                <a:solidFill>
                  <a:srgbClr val="000000"/>
                </a:solidFill>
              </a:rPr>
            </a:br>
            <a:r>
              <a:rPr b="1" lang="en-US" sz="1400">
                <a:solidFill>
                  <a:srgbClr val="000000"/>
                </a:solidFill>
              </a:rPr>
              <a:t>Step 3</a:t>
            </a:r>
            <a:r>
              <a:rPr lang="en-US" sz="1400">
                <a:solidFill>
                  <a:srgbClr val="000000"/>
                </a:solidFill>
              </a:rPr>
              <a:t>. After capture has been started, execute the </a:t>
            </a:r>
            <a:r>
              <a:rPr b="1" lang="en-US" sz="1400">
                <a:solidFill>
                  <a:srgbClr val="000000"/>
                </a:solidFill>
              </a:rPr>
              <a:t>show running-config</a:t>
            </a:r>
            <a:r>
              <a:rPr lang="en-US" sz="1400">
                <a:solidFill>
                  <a:srgbClr val="000000"/>
                </a:solidFill>
              </a:rPr>
              <a:t> or </a:t>
            </a:r>
            <a:r>
              <a:rPr b="1" lang="en-US" sz="1400">
                <a:solidFill>
                  <a:srgbClr val="000000"/>
                </a:solidFill>
              </a:rPr>
              <a:t>show startup-config</a:t>
            </a:r>
            <a:r>
              <a:rPr lang="en-US" sz="1400">
                <a:solidFill>
                  <a:srgbClr val="000000"/>
                </a:solidFill>
              </a:rPr>
              <a:t> command at the privileged EXEC prompt. Text displayed in the terminal window will be directed to the chosen file.</a:t>
            </a:r>
            <a:br>
              <a:rPr lang="en-US" sz="1400">
                <a:solidFill>
                  <a:srgbClr val="000000"/>
                </a:solidFill>
              </a:rPr>
            </a:br>
            <a:r>
              <a:rPr b="1" lang="en-US" sz="1400">
                <a:solidFill>
                  <a:srgbClr val="000000"/>
                </a:solidFill>
              </a:rPr>
              <a:t>Step 4</a:t>
            </a:r>
            <a:r>
              <a:rPr lang="en-US" sz="1400">
                <a:solidFill>
                  <a:srgbClr val="000000"/>
                </a:solidFill>
              </a:rPr>
              <a:t>. When the capture is complete, select </a:t>
            </a:r>
            <a:r>
              <a:rPr b="1" lang="en-US" sz="1400">
                <a:solidFill>
                  <a:srgbClr val="000000"/>
                </a:solidFill>
              </a:rPr>
              <a:t>Close</a:t>
            </a:r>
            <a:r>
              <a:rPr lang="en-US" sz="1400">
                <a:solidFill>
                  <a:srgbClr val="000000"/>
                </a:solidFill>
              </a:rPr>
              <a:t> in the Tera Term: Log window.</a:t>
            </a:r>
            <a:br>
              <a:rPr lang="en-US" sz="1400">
                <a:solidFill>
                  <a:srgbClr val="000000"/>
                </a:solidFill>
              </a:rPr>
            </a:br>
            <a:r>
              <a:rPr b="1" lang="en-US" sz="1400">
                <a:solidFill>
                  <a:srgbClr val="000000"/>
                </a:solidFill>
              </a:rPr>
              <a:t>Step 5</a:t>
            </a:r>
            <a:r>
              <a:rPr lang="en-US" sz="1400">
                <a:solidFill>
                  <a:srgbClr val="000000"/>
                </a:solidFill>
              </a:rPr>
              <a:t>. View the file to verify that it was not corrupted.</a:t>
            </a:r>
            <a:endParaRPr/>
          </a:p>
        </p:txBody>
      </p:sp>
      <p:pic>
        <p:nvPicPr>
          <p:cNvPr id="598" name="Google Shape;598;p49"/>
          <p:cNvPicPr preferRelativeResize="0"/>
          <p:nvPr/>
        </p:nvPicPr>
        <p:blipFill rotWithShape="1">
          <a:blip r:embed="rId3">
            <a:alphaModFix/>
          </a:blip>
          <a:srcRect b="0" l="0" r="0" t="0"/>
          <a:stretch/>
        </p:blipFill>
        <p:spPr>
          <a:xfrm>
            <a:off x="3920800" y="816100"/>
            <a:ext cx="4899350" cy="360563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Use a Text File to Restore a Configuration</a:t>
            </a:r>
            <a:endParaRPr/>
          </a:p>
        </p:txBody>
      </p:sp>
      <p:sp>
        <p:nvSpPr>
          <p:cNvPr id="605" name="Google Shape;605;p50"/>
          <p:cNvSpPr txBox="1"/>
          <p:nvPr>
            <p:ph idx="1" type="body"/>
          </p:nvPr>
        </p:nvSpPr>
        <p:spPr>
          <a:xfrm>
            <a:off x="209550" y="808074"/>
            <a:ext cx="8545169" cy="36136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configuration can be copied from a file and then directly pasted to a device. The file will require editing to ensure that encrypted passwords are in plaintext, and that non-command text such as </a:t>
            </a:r>
            <a:r>
              <a:rPr b="1" lang="en-US" sz="1600">
                <a:solidFill>
                  <a:srgbClr val="000000"/>
                </a:solidFill>
              </a:rPr>
              <a:t>--More--</a:t>
            </a:r>
            <a:r>
              <a:rPr lang="en-US" sz="1600">
                <a:solidFill>
                  <a:srgbClr val="000000"/>
                </a:solidFill>
              </a:rPr>
              <a:t> and IOS messages are removed.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addition, you may want to add </a:t>
            </a:r>
            <a:r>
              <a:rPr b="1" lang="en-US" sz="1600">
                <a:solidFill>
                  <a:srgbClr val="000000"/>
                </a:solidFill>
              </a:rPr>
              <a:t>enable</a:t>
            </a:r>
            <a:r>
              <a:rPr lang="en-US" sz="1600">
                <a:solidFill>
                  <a:srgbClr val="000000"/>
                </a:solidFill>
              </a:rPr>
              <a:t> and </a:t>
            </a:r>
            <a:r>
              <a:rPr b="1" lang="en-US" sz="1600">
                <a:solidFill>
                  <a:srgbClr val="000000"/>
                </a:solidFill>
              </a:rPr>
              <a:t>configure terminal</a:t>
            </a:r>
            <a:r>
              <a:rPr lang="en-US" sz="1600">
                <a:solidFill>
                  <a:srgbClr val="000000"/>
                </a:solidFill>
              </a:rPr>
              <a:t> to the beginning of the file or enter global configuration mode before pasting the configuration. Instead of copying and pasting, a configuration can be restored from a text file by using Tera Term. When using Tera Term, the steps are as follows:</a:t>
            </a:r>
            <a:endParaRPr/>
          </a:p>
          <a:p>
            <a:pPr indent="0" lvl="2" marL="146110" rtl="0" algn="l">
              <a:lnSpc>
                <a:spcPct val="95000"/>
              </a:lnSpc>
              <a:spcBef>
                <a:spcPts val="625"/>
              </a:spcBef>
              <a:spcAft>
                <a:spcPts val="0"/>
              </a:spcAft>
              <a:buClr>
                <a:srgbClr val="000000"/>
              </a:buClr>
              <a:buSzPts val="1400"/>
              <a:buNone/>
            </a:pPr>
            <a:r>
              <a:rPr b="1" lang="en-US" sz="1400">
                <a:solidFill>
                  <a:srgbClr val="000000"/>
                </a:solidFill>
              </a:rPr>
              <a:t>	Step 1</a:t>
            </a:r>
            <a:r>
              <a:rPr lang="en-US" sz="1400">
                <a:solidFill>
                  <a:srgbClr val="000000"/>
                </a:solidFill>
              </a:rPr>
              <a:t>. On the File menu, click </a:t>
            </a:r>
            <a:r>
              <a:rPr b="1" lang="en-US" sz="1400">
                <a:solidFill>
                  <a:srgbClr val="000000"/>
                </a:solidFill>
              </a:rPr>
              <a:t>Send</a:t>
            </a:r>
            <a:r>
              <a:rPr lang="en-US" sz="1400">
                <a:solidFill>
                  <a:srgbClr val="000000"/>
                </a:solidFill>
              </a:rPr>
              <a:t> file.</a:t>
            </a:r>
            <a:br>
              <a:rPr lang="en-US" sz="1400">
                <a:solidFill>
                  <a:srgbClr val="000000"/>
                </a:solidFill>
              </a:rPr>
            </a:br>
            <a:r>
              <a:rPr lang="en-US" sz="1400">
                <a:solidFill>
                  <a:srgbClr val="000000"/>
                </a:solidFill>
              </a:rPr>
              <a:t>	</a:t>
            </a:r>
            <a:r>
              <a:rPr b="1" lang="en-US" sz="1400">
                <a:solidFill>
                  <a:srgbClr val="000000"/>
                </a:solidFill>
              </a:rPr>
              <a:t>Step 2</a:t>
            </a:r>
            <a:r>
              <a:rPr lang="en-US" sz="1400">
                <a:solidFill>
                  <a:srgbClr val="000000"/>
                </a:solidFill>
              </a:rPr>
              <a:t>. Locate the file to be copied into the device and click </a:t>
            </a:r>
            <a:r>
              <a:rPr b="1" lang="en-US" sz="1400">
                <a:solidFill>
                  <a:srgbClr val="000000"/>
                </a:solidFill>
              </a:rPr>
              <a:t>Open</a:t>
            </a:r>
            <a:r>
              <a:rPr lang="en-US" sz="1400">
                <a:solidFill>
                  <a:srgbClr val="000000"/>
                </a:solidFill>
              </a:rPr>
              <a:t>.</a:t>
            </a:r>
            <a:br>
              <a:rPr lang="en-US" sz="1400">
                <a:solidFill>
                  <a:srgbClr val="000000"/>
                </a:solidFill>
              </a:rPr>
            </a:br>
            <a:r>
              <a:rPr lang="en-US" sz="1400">
                <a:solidFill>
                  <a:srgbClr val="000000"/>
                </a:solidFill>
              </a:rPr>
              <a:t>	</a:t>
            </a:r>
            <a:r>
              <a:rPr b="1" lang="en-US" sz="1400">
                <a:solidFill>
                  <a:srgbClr val="000000"/>
                </a:solidFill>
              </a:rPr>
              <a:t>Step 3</a:t>
            </a:r>
            <a:r>
              <a:rPr lang="en-US" sz="1400">
                <a:solidFill>
                  <a:srgbClr val="000000"/>
                </a:solidFill>
              </a:rPr>
              <a:t>. Tera Term will paste the file into the device.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text in the file will be applied as commands in the CLI and become the running configuration on the device.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Using TFTP to Back Up and Restore a Configuration</a:t>
            </a:r>
            <a:endParaRPr/>
          </a:p>
        </p:txBody>
      </p:sp>
      <p:sp>
        <p:nvSpPr>
          <p:cNvPr id="612" name="Google Shape;612;p51"/>
          <p:cNvSpPr txBox="1"/>
          <p:nvPr>
            <p:ph idx="1" type="body"/>
          </p:nvPr>
        </p:nvSpPr>
        <p:spPr>
          <a:xfrm>
            <a:off x="474662" y="731838"/>
            <a:ext cx="8280057" cy="268763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Follow these steps to back up the running configuration to a TFTP server:</a:t>
            </a:r>
            <a:endParaRPr/>
          </a:p>
          <a:p>
            <a:pPr indent="0" lvl="0" marL="0" rtl="0" algn="l">
              <a:lnSpc>
                <a:spcPct val="100000"/>
              </a:lnSpc>
              <a:spcBef>
                <a:spcPts val="280"/>
              </a:spcBef>
              <a:spcAft>
                <a:spcPts val="0"/>
              </a:spcAft>
              <a:buSzPts val="1400"/>
              <a:buNone/>
            </a:pPr>
            <a:r>
              <a:rPr b="1" lang="en-US" sz="1400">
                <a:solidFill>
                  <a:srgbClr val="000000"/>
                </a:solidFill>
              </a:rPr>
              <a:t>Step 1</a:t>
            </a:r>
            <a:r>
              <a:rPr lang="en-US" sz="1400">
                <a:solidFill>
                  <a:srgbClr val="000000"/>
                </a:solidFill>
              </a:rPr>
              <a:t>. Enter the </a:t>
            </a:r>
            <a:r>
              <a:rPr b="1" lang="en-US" sz="1400">
                <a:solidFill>
                  <a:srgbClr val="000000"/>
                </a:solidFill>
              </a:rPr>
              <a:t>copy running-config tftp</a:t>
            </a:r>
            <a:r>
              <a:rPr lang="en-US" sz="1400">
                <a:solidFill>
                  <a:srgbClr val="000000"/>
                </a:solidFill>
              </a:rPr>
              <a:t> command.</a:t>
            </a:r>
            <a:br>
              <a:rPr lang="en-US" sz="1400">
                <a:solidFill>
                  <a:srgbClr val="000000"/>
                </a:solidFill>
              </a:rPr>
            </a:br>
            <a:r>
              <a:rPr b="1" lang="en-US" sz="1400">
                <a:solidFill>
                  <a:srgbClr val="000000"/>
                </a:solidFill>
              </a:rPr>
              <a:t>Step 2</a:t>
            </a:r>
            <a:r>
              <a:rPr lang="en-US" sz="1400">
                <a:solidFill>
                  <a:srgbClr val="000000"/>
                </a:solidFill>
              </a:rPr>
              <a:t>. Enter the IP address of the host where the configuration file will be stored.</a:t>
            </a:r>
            <a:br>
              <a:rPr lang="en-US" sz="1400">
                <a:solidFill>
                  <a:srgbClr val="000000"/>
                </a:solidFill>
              </a:rPr>
            </a:br>
            <a:r>
              <a:rPr b="1" lang="en-US" sz="1400">
                <a:solidFill>
                  <a:srgbClr val="000000"/>
                </a:solidFill>
              </a:rPr>
              <a:t>Step 3</a:t>
            </a:r>
            <a:r>
              <a:rPr lang="en-US" sz="1400">
                <a:solidFill>
                  <a:srgbClr val="000000"/>
                </a:solidFill>
              </a:rPr>
              <a:t>. Enter the name to assign to the configuration file.</a:t>
            </a:r>
            <a:br>
              <a:rPr lang="en-US" sz="1400">
                <a:solidFill>
                  <a:srgbClr val="000000"/>
                </a:solidFill>
              </a:rPr>
            </a:br>
            <a:r>
              <a:rPr b="1" lang="en-US" sz="1400">
                <a:solidFill>
                  <a:srgbClr val="000000"/>
                </a:solidFill>
              </a:rPr>
              <a:t>Step 4</a:t>
            </a:r>
            <a:r>
              <a:rPr lang="en-US" sz="1400">
                <a:solidFill>
                  <a:srgbClr val="000000"/>
                </a:solidFill>
              </a:rPr>
              <a:t>. Press Enter to confirm each choice.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Use the following steps to restore the running configuration from a TFTP server:</a:t>
            </a:r>
            <a:endParaRPr/>
          </a:p>
          <a:p>
            <a:pPr indent="0" lvl="0" marL="0" rtl="0" algn="l">
              <a:lnSpc>
                <a:spcPct val="100000"/>
              </a:lnSpc>
              <a:spcBef>
                <a:spcPts val="280"/>
              </a:spcBef>
              <a:spcAft>
                <a:spcPts val="0"/>
              </a:spcAft>
              <a:buSzPts val="1400"/>
              <a:buNone/>
            </a:pPr>
            <a:r>
              <a:rPr b="1" lang="en-US" sz="1400">
                <a:solidFill>
                  <a:srgbClr val="000000"/>
                </a:solidFill>
              </a:rPr>
              <a:t>Step 1</a:t>
            </a:r>
            <a:r>
              <a:rPr lang="en-US" sz="1400">
                <a:solidFill>
                  <a:srgbClr val="000000"/>
                </a:solidFill>
              </a:rPr>
              <a:t>. Enter the </a:t>
            </a:r>
            <a:r>
              <a:rPr b="1" lang="en-US" sz="1400">
                <a:solidFill>
                  <a:srgbClr val="000000"/>
                </a:solidFill>
              </a:rPr>
              <a:t>copy tftp running-config</a:t>
            </a:r>
            <a:r>
              <a:rPr lang="en-US" sz="1400">
                <a:solidFill>
                  <a:srgbClr val="000000"/>
                </a:solidFill>
              </a:rPr>
              <a:t> command.</a:t>
            </a:r>
            <a:br>
              <a:rPr lang="en-US" sz="1400">
                <a:solidFill>
                  <a:srgbClr val="000000"/>
                </a:solidFill>
              </a:rPr>
            </a:br>
            <a:r>
              <a:rPr b="1" lang="en-US" sz="1400">
                <a:solidFill>
                  <a:srgbClr val="000000"/>
                </a:solidFill>
              </a:rPr>
              <a:t>Step 2</a:t>
            </a:r>
            <a:r>
              <a:rPr lang="en-US" sz="1400">
                <a:solidFill>
                  <a:srgbClr val="000000"/>
                </a:solidFill>
              </a:rPr>
              <a:t>. Enter the IP address of the host where the configuration file is stored.</a:t>
            </a:r>
            <a:br>
              <a:rPr lang="en-US" sz="1400">
                <a:solidFill>
                  <a:srgbClr val="000000"/>
                </a:solidFill>
              </a:rPr>
            </a:br>
            <a:r>
              <a:rPr b="1" lang="en-US" sz="1400">
                <a:solidFill>
                  <a:srgbClr val="000000"/>
                </a:solidFill>
              </a:rPr>
              <a:t>Step 3</a:t>
            </a:r>
            <a:r>
              <a:rPr lang="en-US" sz="1400">
                <a:solidFill>
                  <a:srgbClr val="000000"/>
                </a:solidFill>
              </a:rPr>
              <a:t>. Enter the name to assign to the configuration file.</a:t>
            </a:r>
            <a:br>
              <a:rPr lang="en-US" sz="1400">
                <a:solidFill>
                  <a:srgbClr val="000000"/>
                </a:solidFill>
              </a:rPr>
            </a:br>
            <a:r>
              <a:rPr b="1" lang="en-US" sz="1400">
                <a:solidFill>
                  <a:srgbClr val="000000"/>
                </a:solidFill>
              </a:rPr>
              <a:t>Step 4</a:t>
            </a:r>
            <a:r>
              <a:rPr lang="en-US" sz="1400">
                <a:solidFill>
                  <a:srgbClr val="000000"/>
                </a:solidFill>
              </a:rPr>
              <a:t>. Press </a:t>
            </a:r>
            <a:r>
              <a:rPr b="1" lang="en-US" sz="1400">
                <a:solidFill>
                  <a:srgbClr val="000000"/>
                </a:solidFill>
              </a:rPr>
              <a:t>Enter</a:t>
            </a:r>
            <a:r>
              <a:rPr lang="en-US" sz="1400">
                <a:solidFill>
                  <a:srgbClr val="000000"/>
                </a:solidFill>
              </a:rPr>
              <a:t> to confirm each choice.</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613" name="Google Shape;613;p51"/>
          <p:cNvSpPr/>
          <p:nvPr/>
        </p:nvSpPr>
        <p:spPr>
          <a:xfrm>
            <a:off x="1381696" y="3531984"/>
            <a:ext cx="6113721" cy="1015663"/>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copy running-config tftp</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Remote host []?</a:t>
            </a:r>
            <a:r>
              <a:rPr b="1" lang="en-US" sz="1200">
                <a:solidFill>
                  <a:srgbClr val="FFFFFF"/>
                </a:solidFill>
                <a:latin typeface="Courier New"/>
                <a:ea typeface="Courier New"/>
                <a:cs typeface="Courier New"/>
                <a:sym typeface="Courier New"/>
              </a:rPr>
              <a:t>192.168.10.254</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Name of the configuration file to write[R1-config]? </a:t>
            </a:r>
            <a:r>
              <a:rPr b="1" lang="en-US" sz="1200">
                <a:solidFill>
                  <a:srgbClr val="FFFFFF"/>
                </a:solidFill>
                <a:latin typeface="Courier New"/>
                <a:ea typeface="Courier New"/>
                <a:cs typeface="Courier New"/>
                <a:sym typeface="Courier New"/>
              </a:rPr>
              <a:t>R1-Jan-2019</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Write file R1-Jan-2019 to 192.168.10.254? [confirm]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Writing R1-Jan-2019 !!!!!! [OK]</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USB Ports on a Cisco Router</a:t>
            </a:r>
            <a:endParaRPr/>
          </a:p>
        </p:txBody>
      </p:sp>
      <p:sp>
        <p:nvSpPr>
          <p:cNvPr id="620" name="Google Shape;620;p52"/>
          <p:cNvSpPr txBox="1"/>
          <p:nvPr>
            <p:ph idx="1" type="body"/>
          </p:nvPr>
        </p:nvSpPr>
        <p:spPr>
          <a:xfrm>
            <a:off x="474662" y="731838"/>
            <a:ext cx="8280057" cy="163951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Universal Serial Bus (USB) storage feature enables certain models of Cisco routers to support USB flash drives. The USB flash feature provides an optional secondary storage capability and an additional boot device. The USB ports of a Cisco 4321 Router are shown in the figure.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Use the </a:t>
            </a:r>
            <a:r>
              <a:rPr b="1" lang="en-US" sz="1600">
                <a:solidFill>
                  <a:srgbClr val="000000"/>
                </a:solidFill>
              </a:rPr>
              <a:t>dir</a:t>
            </a:r>
            <a:r>
              <a:rPr lang="en-US" sz="1600">
                <a:solidFill>
                  <a:srgbClr val="000000"/>
                </a:solidFill>
              </a:rPr>
              <a:t> command to view the contents of the USB flash drive.</a:t>
            </a:r>
            <a:endParaRPr/>
          </a:p>
        </p:txBody>
      </p:sp>
      <p:pic>
        <p:nvPicPr>
          <p:cNvPr id="621" name="Google Shape;621;p52"/>
          <p:cNvPicPr preferRelativeResize="0"/>
          <p:nvPr/>
        </p:nvPicPr>
        <p:blipFill rotWithShape="1">
          <a:blip r:embed="rId3">
            <a:alphaModFix/>
          </a:blip>
          <a:srcRect b="0" l="0" r="0" t="0"/>
          <a:stretch/>
        </p:blipFill>
        <p:spPr>
          <a:xfrm>
            <a:off x="523557" y="2504705"/>
            <a:ext cx="8182266" cy="11480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Using USB to Back Up and Restore a Configuration</a:t>
            </a:r>
            <a:endParaRPr/>
          </a:p>
        </p:txBody>
      </p:sp>
      <p:sp>
        <p:nvSpPr>
          <p:cNvPr id="628" name="Google Shape;628;p53"/>
          <p:cNvSpPr txBox="1"/>
          <p:nvPr>
            <p:ph idx="1" type="body"/>
          </p:nvPr>
        </p:nvSpPr>
        <p:spPr>
          <a:xfrm>
            <a:off x="474662" y="731837"/>
            <a:ext cx="8280057" cy="1839913"/>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Issue the </a:t>
            </a:r>
            <a:r>
              <a:rPr b="1" lang="en-US" sz="1600">
                <a:solidFill>
                  <a:srgbClr val="000000"/>
                </a:solidFill>
              </a:rPr>
              <a:t>show file systems</a:t>
            </a:r>
            <a:r>
              <a:rPr lang="en-US" sz="1600">
                <a:solidFill>
                  <a:srgbClr val="000000"/>
                </a:solidFill>
              </a:rPr>
              <a:t> command to verify that the USB drive is there and confirm its name. For this example, the USB file system is named </a:t>
            </a:r>
            <a:r>
              <a:rPr b="1" lang="en-US" sz="1600">
                <a:solidFill>
                  <a:srgbClr val="000000"/>
                </a:solidFill>
              </a:rPr>
              <a:t>usbflash0:</a:t>
            </a:r>
            <a:r>
              <a:rPr lang="en-US" sz="1600">
                <a:solidFill>
                  <a:srgbClr val="000000"/>
                </a:solidFill>
              </a:rPr>
              <a: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copy run usbflash0:</a:t>
            </a:r>
            <a:r>
              <a:rPr i="1" lang="en-US" sz="1600">
                <a:solidFill>
                  <a:srgbClr val="000000"/>
                </a:solidFill>
              </a:rPr>
              <a:t>/</a:t>
            </a:r>
            <a:r>
              <a:rPr lang="en-US" sz="1600">
                <a:solidFill>
                  <a:srgbClr val="000000"/>
                </a:solidFill>
              </a:rPr>
              <a:t> command to copy the configuration file to the USB flash drive. Be sure to use the name of the flash drive, as indicated in the file system. The slash is optional but indicates the root directory of the USB flash drive.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IOS will prompt for the filename. If the file already exists on the USB flash drive, the router will prompt to overwrite.</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sp>
        <p:nvSpPr>
          <p:cNvPr id="629" name="Google Shape;629;p53"/>
          <p:cNvSpPr/>
          <p:nvPr/>
        </p:nvSpPr>
        <p:spPr>
          <a:xfrm>
            <a:off x="871870" y="2714760"/>
            <a:ext cx="7797468" cy="160043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copy running-config usbflash0: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Destination filename [running-config]? R1-Config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%Warning:There is a file already existing with this name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Do you want to over write? [confirm] </a:t>
            </a:r>
            <a:endParaRPr/>
          </a:p>
          <a:p>
            <a:pPr indent="0" lvl="0" marL="0" marR="0" rtl="0" algn="l">
              <a:spcBef>
                <a:spcPts val="0"/>
              </a:spcBef>
              <a:spcAft>
                <a:spcPts val="0"/>
              </a:spcAft>
              <a:buNone/>
            </a:pPr>
            <a:r>
              <a:t/>
            </a:r>
            <a:endParaRPr sz="14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5024 bytes copied in 1.796 secs (2797 bytes/sec)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Using USB to Back Up and Restore a Configuration (Cont.)</a:t>
            </a:r>
            <a:endParaRPr/>
          </a:p>
        </p:txBody>
      </p:sp>
      <p:sp>
        <p:nvSpPr>
          <p:cNvPr id="636" name="Google Shape;636;p54"/>
          <p:cNvSpPr txBox="1"/>
          <p:nvPr>
            <p:ph idx="1" type="body"/>
          </p:nvPr>
        </p:nvSpPr>
        <p:spPr>
          <a:xfrm>
            <a:off x="474662" y="731837"/>
            <a:ext cx="3821149"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Use the </a:t>
            </a:r>
            <a:r>
              <a:rPr b="1" lang="en-US" sz="1600">
                <a:solidFill>
                  <a:srgbClr val="000000"/>
                </a:solidFill>
              </a:rPr>
              <a:t>dir</a:t>
            </a:r>
            <a:r>
              <a:rPr lang="en-US" sz="1600">
                <a:solidFill>
                  <a:srgbClr val="000000"/>
                </a:solidFill>
              </a:rPr>
              <a:t> command to see the file on the USB drive and use the </a:t>
            </a:r>
            <a:r>
              <a:rPr b="1" lang="en-US" sz="1600">
                <a:solidFill>
                  <a:srgbClr val="000000"/>
                </a:solidFill>
              </a:rPr>
              <a:t>more</a:t>
            </a:r>
            <a:r>
              <a:rPr lang="en-US" sz="1600">
                <a:solidFill>
                  <a:srgbClr val="000000"/>
                </a:solidFill>
              </a:rPr>
              <a:t> command to see the contents.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To Restore Configurations with a USB Flash Drive, it will be necessary to edit the USB R1-Config file with a text editor. Assuming the file name is </a:t>
            </a:r>
            <a:r>
              <a:rPr b="1" lang="en-US" sz="1600">
                <a:solidFill>
                  <a:srgbClr val="000000"/>
                </a:solidFill>
              </a:rPr>
              <a:t>R1-Config</a:t>
            </a:r>
            <a:r>
              <a:rPr lang="en-US" sz="1600">
                <a:solidFill>
                  <a:srgbClr val="000000"/>
                </a:solidFill>
              </a:rPr>
              <a:t>, use the command </a:t>
            </a:r>
            <a:r>
              <a:rPr b="1" lang="en-US" sz="1600">
                <a:solidFill>
                  <a:srgbClr val="000000"/>
                </a:solidFill>
              </a:rPr>
              <a:t>copy usbflash0:/R1-Config</a:t>
            </a:r>
            <a:r>
              <a:rPr lang="en-US" sz="1600">
                <a:solidFill>
                  <a:srgbClr val="000000"/>
                </a:solidFill>
              </a:rPr>
              <a:t> </a:t>
            </a:r>
            <a:r>
              <a:rPr i="1" lang="en-US" sz="1600">
                <a:solidFill>
                  <a:srgbClr val="000000"/>
                </a:solidFill>
              </a:rPr>
              <a:t>running-config</a:t>
            </a:r>
            <a:r>
              <a:rPr lang="en-US" sz="1600">
                <a:solidFill>
                  <a:srgbClr val="000000"/>
                </a:solidFill>
              </a:rPr>
              <a:t> to restore a running configuration.</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637" name="Google Shape;637;p54"/>
          <p:cNvPicPr preferRelativeResize="0"/>
          <p:nvPr/>
        </p:nvPicPr>
        <p:blipFill rotWithShape="1">
          <a:blip r:embed="rId3">
            <a:alphaModFix/>
          </a:blip>
          <a:srcRect b="0" l="0" r="0" t="0"/>
          <a:stretch/>
        </p:blipFill>
        <p:spPr>
          <a:xfrm>
            <a:off x="4344914" y="731837"/>
            <a:ext cx="4049676" cy="39100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Procedures</a:t>
            </a:r>
            <a:endParaRPr/>
          </a:p>
        </p:txBody>
      </p:sp>
      <p:sp>
        <p:nvSpPr>
          <p:cNvPr id="644" name="Google Shape;644;p5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Passwords on devices are used to prevent unauthorized access. For encrypted passwords, such as the enable secret passwords, the passwords must be replaced after recovery. Depending on the device, the detailed procedure for password recovery varies. </a:t>
            </a:r>
            <a:endParaRPr/>
          </a:p>
          <a:p>
            <a:pPr indent="0" lvl="0" marL="0" rtl="0" algn="l">
              <a:lnSpc>
                <a:spcPct val="100000"/>
              </a:lnSpc>
              <a:spcBef>
                <a:spcPts val="320"/>
              </a:spcBef>
              <a:spcAft>
                <a:spcPts val="0"/>
              </a:spcAft>
              <a:buSzPts val="1600"/>
              <a:buNone/>
            </a:pPr>
            <a:r>
              <a:rPr lang="en-US" sz="1600">
                <a:solidFill>
                  <a:srgbClr val="000000"/>
                </a:solidFill>
              </a:rPr>
              <a:t>However, all the password recovery procedures follow the same principle:</a:t>
            </a:r>
            <a:endParaRPr/>
          </a:p>
          <a:p>
            <a:pPr indent="0" lvl="0" marL="0" rtl="0" algn="l">
              <a:lnSpc>
                <a:spcPct val="100000"/>
              </a:lnSpc>
              <a:spcBef>
                <a:spcPts val="320"/>
              </a:spcBef>
              <a:spcAft>
                <a:spcPts val="0"/>
              </a:spcAft>
              <a:buSzPts val="1600"/>
              <a:buNone/>
            </a:pPr>
            <a:r>
              <a:rPr b="1" lang="en-US" sz="1600">
                <a:solidFill>
                  <a:srgbClr val="000000"/>
                </a:solidFill>
              </a:rPr>
              <a:t>Step 1</a:t>
            </a:r>
            <a:r>
              <a:rPr lang="en-US" sz="1600">
                <a:solidFill>
                  <a:srgbClr val="000000"/>
                </a:solidFill>
              </a:rPr>
              <a:t>. Enter the ROMMON mode.</a:t>
            </a:r>
            <a:br>
              <a:rPr lang="en-US" sz="1600">
                <a:solidFill>
                  <a:srgbClr val="000000"/>
                </a:solidFill>
              </a:rPr>
            </a:br>
            <a:r>
              <a:rPr b="1" lang="en-US" sz="1600">
                <a:solidFill>
                  <a:srgbClr val="000000"/>
                </a:solidFill>
              </a:rPr>
              <a:t>Step 2</a:t>
            </a:r>
            <a:r>
              <a:rPr lang="en-US" sz="1600">
                <a:solidFill>
                  <a:srgbClr val="000000"/>
                </a:solidFill>
              </a:rPr>
              <a:t>. Change the configuration register.</a:t>
            </a:r>
            <a:br>
              <a:rPr lang="en-US" sz="1600">
                <a:solidFill>
                  <a:srgbClr val="000000"/>
                </a:solidFill>
              </a:rPr>
            </a:br>
            <a:r>
              <a:rPr b="1" lang="en-US" sz="1600">
                <a:solidFill>
                  <a:srgbClr val="000000"/>
                </a:solidFill>
              </a:rPr>
              <a:t>Step 3</a:t>
            </a:r>
            <a:r>
              <a:rPr lang="en-US" sz="1600">
                <a:solidFill>
                  <a:srgbClr val="000000"/>
                </a:solidFill>
              </a:rPr>
              <a:t>. Copy the startup-config to the running-config.</a:t>
            </a:r>
            <a:br>
              <a:rPr lang="en-US" sz="1600">
                <a:solidFill>
                  <a:srgbClr val="000000"/>
                </a:solidFill>
              </a:rPr>
            </a:br>
            <a:r>
              <a:rPr b="1" lang="en-US" sz="1600">
                <a:solidFill>
                  <a:srgbClr val="000000"/>
                </a:solidFill>
              </a:rPr>
              <a:t>Step 4</a:t>
            </a:r>
            <a:r>
              <a:rPr lang="en-US" sz="1600">
                <a:solidFill>
                  <a:srgbClr val="000000"/>
                </a:solidFill>
              </a:rPr>
              <a:t>. Change the password.</a:t>
            </a:r>
            <a:br>
              <a:rPr lang="en-US" sz="1600">
                <a:solidFill>
                  <a:srgbClr val="000000"/>
                </a:solidFill>
              </a:rPr>
            </a:br>
            <a:r>
              <a:rPr b="1" lang="en-US" sz="1600">
                <a:solidFill>
                  <a:srgbClr val="000000"/>
                </a:solidFill>
              </a:rPr>
              <a:t>Step 5</a:t>
            </a:r>
            <a:r>
              <a:rPr lang="en-US" sz="1600">
                <a:solidFill>
                  <a:srgbClr val="000000"/>
                </a:solidFill>
              </a:rPr>
              <a:t>. Save the running-config as the new startup-config.</a:t>
            </a:r>
            <a:br>
              <a:rPr lang="en-US" sz="1600">
                <a:solidFill>
                  <a:srgbClr val="000000"/>
                </a:solidFill>
              </a:rPr>
            </a:br>
            <a:r>
              <a:rPr b="1" lang="en-US" sz="1600">
                <a:solidFill>
                  <a:srgbClr val="000000"/>
                </a:solidFill>
              </a:rPr>
              <a:t>Step 6</a:t>
            </a:r>
            <a:r>
              <a:rPr lang="en-US" sz="1600">
                <a:solidFill>
                  <a:srgbClr val="000000"/>
                </a:solidFill>
              </a:rPr>
              <a:t>. Reload the device.</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Example</a:t>
            </a:r>
            <a:endParaRPr/>
          </a:p>
        </p:txBody>
      </p:sp>
      <p:sp>
        <p:nvSpPr>
          <p:cNvPr id="651" name="Google Shape;651;p56"/>
          <p:cNvSpPr txBox="1"/>
          <p:nvPr>
            <p:ph idx="1" type="body"/>
          </p:nvPr>
        </p:nvSpPr>
        <p:spPr>
          <a:xfrm>
            <a:off x="474662" y="731837"/>
            <a:ext cx="8280057" cy="107721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1. Enter the ROMMON mode. </a:t>
            </a:r>
            <a:r>
              <a:rPr lang="en-US" sz="1600">
                <a:solidFill>
                  <a:srgbClr val="000000"/>
                </a:solidFill>
              </a:rPr>
              <a:t>With console access, a user can access the ROMMON mode by using a break sequence during the boot up process or removing the external flash memory when the device is powered off. </a:t>
            </a:r>
            <a:endParaRPr/>
          </a:p>
          <a:p>
            <a:pPr indent="0" lvl="0" marL="0" rtl="0" algn="l">
              <a:lnSpc>
                <a:spcPct val="100000"/>
              </a:lnSpc>
              <a:spcBef>
                <a:spcPts val="320"/>
              </a:spcBef>
              <a:spcAft>
                <a:spcPts val="0"/>
              </a:spcAft>
              <a:buSzPts val="1600"/>
              <a:buNone/>
            </a:pPr>
            <a:r>
              <a:rPr lang="en-US" sz="1600">
                <a:solidFill>
                  <a:srgbClr val="000000"/>
                </a:solidFill>
              </a:rPr>
              <a:t>When successful, the </a:t>
            </a:r>
            <a:r>
              <a:rPr b="1" lang="en-US" sz="1600">
                <a:solidFill>
                  <a:srgbClr val="000000"/>
                </a:solidFill>
              </a:rPr>
              <a:t>rommon 1 &gt;</a:t>
            </a:r>
            <a:r>
              <a:rPr lang="en-US" sz="1600">
                <a:solidFill>
                  <a:srgbClr val="000000"/>
                </a:solidFill>
              </a:rPr>
              <a:t> prompt displays, as shown in the example.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
        <p:nvSpPr>
          <p:cNvPr id="652" name="Google Shape;652;p56"/>
          <p:cNvSpPr/>
          <p:nvPr/>
        </p:nvSpPr>
        <p:spPr>
          <a:xfrm>
            <a:off x="903767" y="2110085"/>
            <a:ext cx="7336466" cy="1077218"/>
          </a:xfrm>
          <a:prstGeom prst="rect">
            <a:avLst/>
          </a:prstGeom>
          <a:solidFill>
            <a:srgbClr val="000000"/>
          </a:soli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Readonly ROMMON initialized </a:t>
            </a:r>
            <a:endParaRPr/>
          </a:p>
          <a:p>
            <a:pPr indent="0" lvl="0" marL="0" marR="0" rtl="0" algn="l">
              <a:spcBef>
                <a:spcPts val="0"/>
              </a:spcBef>
              <a:spcAft>
                <a:spcPts val="0"/>
              </a:spcAft>
              <a:buNone/>
            </a:pPr>
            <a:r>
              <a:t/>
            </a:r>
            <a:endParaRPr sz="16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monitor: command "boot" aborted due to user interrupt rommon 1 &gt; </a:t>
            </a:r>
            <a:endParaRPr sz="1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5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Example (Cont.)</a:t>
            </a:r>
            <a:endParaRPr/>
          </a:p>
        </p:txBody>
      </p:sp>
      <p:sp>
        <p:nvSpPr>
          <p:cNvPr id="659" name="Google Shape;659;p57"/>
          <p:cNvSpPr txBox="1"/>
          <p:nvPr>
            <p:ph idx="1" type="body"/>
          </p:nvPr>
        </p:nvSpPr>
        <p:spPr>
          <a:xfrm>
            <a:off x="474662" y="731837"/>
            <a:ext cx="8280057" cy="183991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2. Change the configuration register. </a:t>
            </a:r>
            <a:r>
              <a:rPr lang="en-US" sz="1600">
                <a:solidFill>
                  <a:srgbClr val="000000"/>
                </a:solidFill>
              </a:rPr>
              <a:t>The </a:t>
            </a:r>
            <a:r>
              <a:rPr b="1" lang="en-US" sz="1600">
                <a:solidFill>
                  <a:srgbClr val="000000"/>
                </a:solidFill>
              </a:rPr>
              <a:t>confreg 0x2142</a:t>
            </a:r>
            <a:r>
              <a:rPr lang="en-US" sz="1600">
                <a:solidFill>
                  <a:srgbClr val="000000"/>
                </a:solidFill>
              </a:rPr>
              <a:t> command allows the user to set the configuration register to 0x2142, which causes the device to ignore the startup config file during startup. </a:t>
            </a:r>
            <a:endParaRPr/>
          </a:p>
          <a:p>
            <a:pPr indent="0" lvl="0" marL="0" rtl="0" algn="l">
              <a:lnSpc>
                <a:spcPct val="100000"/>
              </a:lnSpc>
              <a:spcBef>
                <a:spcPts val="320"/>
              </a:spcBef>
              <a:spcAft>
                <a:spcPts val="0"/>
              </a:spcAft>
              <a:buSzPts val="1600"/>
              <a:buNone/>
            </a:pPr>
            <a:r>
              <a:rPr lang="en-US" sz="1600">
                <a:solidFill>
                  <a:srgbClr val="000000"/>
                </a:solidFill>
              </a:rPr>
              <a:t>After setting the configuration register to 0x2142, type </a:t>
            </a:r>
            <a:r>
              <a:rPr b="1" lang="en-US" sz="1600">
                <a:solidFill>
                  <a:srgbClr val="000000"/>
                </a:solidFill>
              </a:rPr>
              <a:t>reset</a:t>
            </a:r>
            <a:r>
              <a:rPr lang="en-US" sz="1600">
                <a:solidFill>
                  <a:srgbClr val="000000"/>
                </a:solidFill>
              </a:rPr>
              <a:t> at the prompt to restart the device. Enter the break sequence while the device is rebooting and decompressing the IOS. The example displays the terminal output of a 1941 router in the ROMMON mode after using a break sequence during the boot up process.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660" name="Google Shape;660;p57"/>
          <p:cNvSpPr/>
          <p:nvPr/>
        </p:nvSpPr>
        <p:spPr>
          <a:xfrm>
            <a:off x="1201479" y="2811225"/>
            <a:ext cx="7144009" cy="1600438"/>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rommon 1 &gt; </a:t>
            </a:r>
            <a:r>
              <a:rPr b="1" lang="en-US" sz="1400">
                <a:solidFill>
                  <a:srgbClr val="FFFFFF"/>
                </a:solidFill>
                <a:latin typeface="Courier New"/>
                <a:ea typeface="Courier New"/>
                <a:cs typeface="Courier New"/>
                <a:sym typeface="Courier New"/>
              </a:rPr>
              <a:t>confreg 0x2142</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rommon 2 &gt; </a:t>
            </a:r>
            <a:r>
              <a:rPr b="1" lang="en-US" sz="1400">
                <a:solidFill>
                  <a:srgbClr val="FFFFFF"/>
                </a:solidFill>
                <a:latin typeface="Courier New"/>
                <a:ea typeface="Courier New"/>
                <a:cs typeface="Courier New"/>
                <a:sym typeface="Courier New"/>
              </a:rPr>
              <a:t>reset</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t/>
            </a:r>
            <a:endParaRPr sz="14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System Bootstrap, Version 15.0(1r)M9, RELEASE SOFTWARE (fc1)</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Technical Support: http://www.cisco.com/techsupport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Copyright (c) 2010 by cisco Systems, Inc.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(output omitted)</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Example (Cont.)</a:t>
            </a:r>
            <a:endParaRPr/>
          </a:p>
        </p:txBody>
      </p:sp>
      <p:sp>
        <p:nvSpPr>
          <p:cNvPr id="667" name="Google Shape;667;p58"/>
          <p:cNvSpPr txBox="1"/>
          <p:nvPr>
            <p:ph idx="1" type="body"/>
          </p:nvPr>
        </p:nvSpPr>
        <p:spPr>
          <a:xfrm>
            <a:off x="474662" y="731838"/>
            <a:ext cx="8280057" cy="132344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3. Copy the startup-config to the running-config. </a:t>
            </a:r>
            <a:r>
              <a:rPr lang="en-US" sz="1600">
                <a:solidFill>
                  <a:srgbClr val="000000"/>
                </a:solidFill>
              </a:rPr>
              <a:t>After the device has finished reloading, issue the </a:t>
            </a:r>
            <a:r>
              <a:rPr b="1" lang="en-US" sz="1600">
                <a:solidFill>
                  <a:srgbClr val="000000"/>
                </a:solidFill>
              </a:rPr>
              <a:t>copy startup-config running-config</a:t>
            </a:r>
            <a:r>
              <a:rPr lang="en-US" sz="1600">
                <a:solidFill>
                  <a:srgbClr val="000000"/>
                </a:solidFill>
              </a:rPr>
              <a:t> command.</a:t>
            </a:r>
            <a:endParaRPr/>
          </a:p>
          <a:p>
            <a:pPr indent="0" lvl="0" marL="0" rtl="0" algn="l">
              <a:lnSpc>
                <a:spcPct val="100000"/>
              </a:lnSpc>
              <a:spcBef>
                <a:spcPts val="320"/>
              </a:spcBef>
              <a:spcAft>
                <a:spcPts val="0"/>
              </a:spcAft>
              <a:buSzPts val="1600"/>
              <a:buNone/>
            </a:pPr>
            <a:r>
              <a:rPr lang="en-US" sz="1600">
                <a:solidFill>
                  <a:srgbClr val="000000"/>
                </a:solidFill>
              </a:rPr>
              <a:t>CAUTION: Do not enter </a:t>
            </a:r>
            <a:r>
              <a:rPr b="1" lang="en-US" sz="1600">
                <a:solidFill>
                  <a:srgbClr val="000000"/>
                </a:solidFill>
              </a:rPr>
              <a:t>copy running-config startup-config</a:t>
            </a:r>
            <a:r>
              <a:rPr lang="en-US" sz="1600">
                <a:solidFill>
                  <a:srgbClr val="000000"/>
                </a:solidFill>
              </a:rPr>
              <a:t>. This command erases your original startup configuration.</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668" name="Google Shape;668;p58"/>
          <p:cNvSpPr/>
          <p:nvPr/>
        </p:nvSpPr>
        <p:spPr>
          <a:xfrm>
            <a:off x="1525932" y="2322184"/>
            <a:ext cx="6177516" cy="1323439"/>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Router# </a:t>
            </a:r>
            <a:r>
              <a:rPr b="1" lang="en-US" sz="1600">
                <a:solidFill>
                  <a:srgbClr val="FFFFFF"/>
                </a:solidFill>
                <a:latin typeface="Courier New"/>
                <a:ea typeface="Courier New"/>
                <a:cs typeface="Courier New"/>
                <a:sym typeface="Courier New"/>
              </a:rPr>
              <a:t>copy startup-config running-config</a:t>
            </a:r>
            <a:endParaRPr/>
          </a:p>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Destination filename [running-config]? </a:t>
            </a:r>
            <a:endParaRPr/>
          </a:p>
          <a:p>
            <a:pPr indent="0" lvl="0" marL="0" marR="0" rtl="0" algn="l">
              <a:spcBef>
                <a:spcPts val="0"/>
              </a:spcBef>
              <a:spcAft>
                <a:spcPts val="0"/>
              </a:spcAft>
              <a:buNone/>
            </a:pPr>
            <a:r>
              <a:t/>
            </a:r>
            <a:endParaRPr sz="16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1450 bytes copied in 0.156 secs (9295 bytes/sec) </a:t>
            </a:r>
            <a:endParaRPr/>
          </a:p>
          <a:p>
            <a:pPr indent="0" lvl="0" marL="0" marR="0" rtl="0" algn="l">
              <a:spcBef>
                <a:spcPts val="0"/>
              </a:spcBef>
              <a:spcAft>
                <a:spcPts val="0"/>
              </a:spcAft>
              <a:buNone/>
            </a:pPr>
            <a:r>
              <a:rPr lang="en-US" sz="1600">
                <a:solidFill>
                  <a:srgbClr val="DFDFDF"/>
                </a:solidFill>
                <a:latin typeface="Courier New"/>
                <a:ea typeface="Courier New"/>
                <a:cs typeface="Courier New"/>
                <a:sym typeface="Courier New"/>
              </a:rPr>
              <a:t>R1#</a:t>
            </a:r>
            <a:endParaRPr sz="16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5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Example (Cont.)</a:t>
            </a:r>
            <a:endParaRPr/>
          </a:p>
        </p:txBody>
      </p:sp>
      <p:sp>
        <p:nvSpPr>
          <p:cNvPr id="675" name="Google Shape;675;p59"/>
          <p:cNvSpPr txBox="1"/>
          <p:nvPr>
            <p:ph idx="1" type="body"/>
          </p:nvPr>
        </p:nvSpPr>
        <p:spPr>
          <a:xfrm>
            <a:off x="474662" y="731837"/>
            <a:ext cx="8280057" cy="125598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4. Change the password. </a:t>
            </a:r>
            <a:r>
              <a:rPr lang="en-US" sz="1600">
                <a:solidFill>
                  <a:srgbClr val="000000"/>
                </a:solidFill>
              </a:rPr>
              <a:t>Because you are in privileged EXEC mode, you can now configure all the necessary passwords.</a:t>
            </a:r>
            <a:endParaRPr/>
          </a:p>
          <a:p>
            <a:pPr indent="0" lvl="0" marL="0" rtl="0" algn="l">
              <a:lnSpc>
                <a:spcPct val="100000"/>
              </a:lnSpc>
              <a:spcBef>
                <a:spcPts val="320"/>
              </a:spcBef>
              <a:spcAft>
                <a:spcPts val="0"/>
              </a:spcAft>
              <a:buSzPts val="1600"/>
              <a:buNone/>
            </a:pPr>
            <a:r>
              <a:t/>
            </a:r>
            <a:endParaRPr b="1" sz="1600">
              <a:solidFill>
                <a:srgbClr val="000000"/>
              </a:solidFill>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The password </a:t>
            </a:r>
            <a:r>
              <a:rPr b="1" lang="en-US" sz="1600">
                <a:solidFill>
                  <a:srgbClr val="000000"/>
                </a:solidFill>
              </a:rPr>
              <a:t>cisco</a:t>
            </a:r>
            <a:r>
              <a:rPr lang="en-US" sz="1600">
                <a:solidFill>
                  <a:srgbClr val="000000"/>
                </a:solidFill>
              </a:rPr>
              <a:t> is not a strong password and is used here only as an example</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676" name="Google Shape;676;p59"/>
          <p:cNvSpPr/>
          <p:nvPr/>
        </p:nvSpPr>
        <p:spPr>
          <a:xfrm>
            <a:off x="999460" y="2333096"/>
            <a:ext cx="7006856" cy="738664"/>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 </a:t>
            </a:r>
            <a:r>
              <a:rPr b="1" lang="en-US" sz="1400">
                <a:solidFill>
                  <a:srgbClr val="FFFFFF"/>
                </a:solidFill>
                <a:latin typeface="Courier New"/>
                <a:ea typeface="Courier New"/>
                <a:cs typeface="Courier New"/>
                <a:sym typeface="Courier New"/>
              </a:rPr>
              <a:t>configure terminal</a:t>
            </a:r>
            <a:r>
              <a:rPr lang="en-US" sz="14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Enter configuration commands, one per line. End with CNTL/Z. </a:t>
            </a:r>
            <a:endParaRPr/>
          </a:p>
          <a:p>
            <a:pPr indent="0" lvl="0" marL="0" marR="0" rtl="0" algn="l">
              <a:spcBef>
                <a:spcPts val="0"/>
              </a:spcBef>
              <a:spcAft>
                <a:spcPts val="0"/>
              </a:spcAft>
              <a:buNone/>
            </a:pPr>
            <a:r>
              <a:rPr lang="en-US" sz="1400">
                <a:solidFill>
                  <a:srgbClr val="DFDFDF"/>
                </a:solidFill>
                <a:latin typeface="Courier New"/>
                <a:ea typeface="Courier New"/>
                <a:cs typeface="Courier New"/>
                <a:sym typeface="Courier New"/>
              </a:rPr>
              <a:t>R1(config)# </a:t>
            </a:r>
            <a:r>
              <a:rPr b="1" lang="en-US" sz="1400">
                <a:solidFill>
                  <a:srgbClr val="FFFFFF"/>
                </a:solidFill>
                <a:latin typeface="Courier New"/>
                <a:ea typeface="Courier New"/>
                <a:cs typeface="Courier New"/>
                <a:sym typeface="Courier New"/>
              </a:rPr>
              <a:t>enable secret cisco</a:t>
            </a:r>
            <a:endParaRPr sz="1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6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Password Recovery Example (Cont.)</a:t>
            </a:r>
            <a:endParaRPr/>
          </a:p>
        </p:txBody>
      </p:sp>
      <p:sp>
        <p:nvSpPr>
          <p:cNvPr id="683" name="Google Shape;683;p60"/>
          <p:cNvSpPr txBox="1"/>
          <p:nvPr>
            <p:ph idx="1" type="body"/>
          </p:nvPr>
        </p:nvSpPr>
        <p:spPr>
          <a:xfrm>
            <a:off x="474662" y="731838"/>
            <a:ext cx="8280057" cy="116322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5. Save the running-config as the new startup-config. </a:t>
            </a:r>
            <a:r>
              <a:rPr lang="en-US" sz="1600">
                <a:solidFill>
                  <a:srgbClr val="000000"/>
                </a:solidFill>
              </a:rPr>
              <a:t>After the new passwords are configured, change the configuration register back to 0x2102 by using the </a:t>
            </a:r>
            <a:r>
              <a:rPr b="1" lang="en-US" sz="1600">
                <a:solidFill>
                  <a:srgbClr val="000000"/>
                </a:solidFill>
              </a:rPr>
              <a:t>config-register 0x2102</a:t>
            </a:r>
            <a:r>
              <a:rPr lang="en-US" sz="1600">
                <a:solidFill>
                  <a:srgbClr val="000000"/>
                </a:solidFill>
              </a:rPr>
              <a:t> command in the global configuration mode. Save the running-config to startup-config.</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684" name="Google Shape;684;p60"/>
          <p:cNvSpPr/>
          <p:nvPr/>
        </p:nvSpPr>
        <p:spPr>
          <a:xfrm>
            <a:off x="1658678" y="1992299"/>
            <a:ext cx="5656521" cy="156966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ourier New"/>
                <a:ea typeface="Courier New"/>
                <a:cs typeface="Courier New"/>
                <a:sym typeface="Courier New"/>
              </a:rPr>
              <a:t>R1(config)# </a:t>
            </a:r>
            <a:r>
              <a:rPr b="1" lang="en-US" sz="1600">
                <a:solidFill>
                  <a:schemeClr val="lt1"/>
                </a:solidFill>
                <a:latin typeface="Courier New"/>
                <a:ea typeface="Courier New"/>
                <a:cs typeface="Courier New"/>
                <a:sym typeface="Courier New"/>
              </a:rPr>
              <a:t>config-register 0x2102</a:t>
            </a:r>
            <a:endParaRPr/>
          </a:p>
          <a:p>
            <a:pPr indent="0" lvl="0" marL="0" marR="0" rtl="0" algn="l">
              <a:spcBef>
                <a:spcPts val="0"/>
              </a:spcBef>
              <a:spcAft>
                <a:spcPts val="0"/>
              </a:spcAft>
              <a:buNone/>
            </a:pPr>
            <a:r>
              <a:rPr lang="en-US" sz="1600">
                <a:solidFill>
                  <a:schemeClr val="lt1"/>
                </a:solidFill>
                <a:latin typeface="Courier New"/>
                <a:ea typeface="Courier New"/>
                <a:cs typeface="Courier New"/>
                <a:sym typeface="Courier New"/>
              </a:rPr>
              <a:t>R1(config)# </a:t>
            </a:r>
            <a:r>
              <a:rPr b="1" lang="en-US" sz="1600">
                <a:solidFill>
                  <a:schemeClr val="lt1"/>
                </a:solidFill>
                <a:latin typeface="Courier New"/>
                <a:ea typeface="Courier New"/>
                <a:cs typeface="Courier New"/>
                <a:sym typeface="Courier New"/>
              </a:rPr>
              <a:t>end</a:t>
            </a:r>
            <a:r>
              <a:rPr lang="en-US" sz="16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600">
                <a:solidFill>
                  <a:schemeClr val="lt1"/>
                </a:solidFill>
                <a:latin typeface="Courier New"/>
                <a:ea typeface="Courier New"/>
                <a:cs typeface="Courier New"/>
                <a:sym typeface="Courier New"/>
              </a:rPr>
              <a:t>R1# </a:t>
            </a:r>
            <a:r>
              <a:rPr b="1" lang="en-US" sz="1600">
                <a:solidFill>
                  <a:schemeClr val="lt1"/>
                </a:solidFill>
                <a:latin typeface="Courier New"/>
                <a:ea typeface="Courier New"/>
                <a:cs typeface="Courier New"/>
                <a:sym typeface="Courier New"/>
              </a:rPr>
              <a:t>copy running-config startup-config</a:t>
            </a:r>
            <a:r>
              <a:rPr lang="en-US" sz="1600">
                <a:solidFill>
                  <a:schemeClr val="lt1"/>
                </a:solidFill>
                <a:latin typeface="Courier New"/>
                <a:ea typeface="Courier New"/>
                <a:cs typeface="Courier New"/>
                <a:sym typeface="Courier New"/>
              </a:rPr>
              <a:t> </a:t>
            </a:r>
            <a:endParaRPr/>
          </a:p>
          <a:p>
            <a:pPr indent="0" lvl="0" marL="0" marR="0" rtl="0" algn="l">
              <a:spcBef>
                <a:spcPts val="0"/>
              </a:spcBef>
              <a:spcAft>
                <a:spcPts val="0"/>
              </a:spcAft>
              <a:buNone/>
            </a:pPr>
            <a:r>
              <a:rPr lang="en-US" sz="1600">
                <a:solidFill>
                  <a:schemeClr val="lt1"/>
                </a:solidFill>
                <a:latin typeface="Courier New"/>
                <a:ea typeface="Courier New"/>
                <a:cs typeface="Courier New"/>
                <a:sym typeface="Courier New"/>
              </a:rPr>
              <a:t>Destination filename [startup-config]? Building configuration... [OK] </a:t>
            </a:r>
            <a:endParaRPr/>
          </a:p>
          <a:p>
            <a:pPr indent="0" lvl="0" marL="0" marR="0" rtl="0" algn="l">
              <a:spcBef>
                <a:spcPts val="0"/>
              </a:spcBef>
              <a:spcAft>
                <a:spcPts val="0"/>
              </a:spcAft>
              <a:buNone/>
            </a:pPr>
            <a:r>
              <a:rPr lang="en-US" sz="1600">
                <a:solidFill>
                  <a:schemeClr val="lt1"/>
                </a:solidFill>
                <a:latin typeface="Courier New"/>
                <a:ea typeface="Courier New"/>
                <a:cs typeface="Courier New"/>
                <a:sym typeface="Courier New"/>
              </a:rPr>
              <a:t>R1#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Packet Tracer - Backup Configuration Files</a:t>
            </a:r>
            <a:endParaRPr/>
          </a:p>
        </p:txBody>
      </p:sp>
      <p:sp>
        <p:nvSpPr>
          <p:cNvPr id="691" name="Google Shape;691;p6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activity, you will complete the following objectives: </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1: Establish Connectivity to TFTP Server </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2: Transfer the Configuration File from TFTP Server </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3: Backup Configuration and IOS to TFTP Server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Lab - Use Tera Term to Manage Router Configuration Files</a:t>
            </a:r>
            <a:endParaRPr/>
          </a:p>
        </p:txBody>
      </p:sp>
      <p:sp>
        <p:nvSpPr>
          <p:cNvPr id="698" name="Google Shape;698;p6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lab, you will complete the following objectives:</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1: Configure Basic Device Settings</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2: Use Terminal Emulation Software to Create a Backup Configuration File</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Part 3: Use a Backup Configuration File to Restore a Router</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3"/>
          <p:cNvSpPr txBox="1"/>
          <p:nvPr>
            <p:ph type="title"/>
          </p:nvPr>
        </p:nvSpPr>
        <p:spPr>
          <a:xfrm>
            <a:off x="0" y="385432"/>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Packet Tracer - Use TFTP, Flash, and USB to Manage Configuration Files – Physical Mode</a:t>
            </a:r>
            <a:br>
              <a:rPr lang="en-US" sz="2400"/>
            </a:br>
            <a:r>
              <a:rPr lang="en-US" sz="2400"/>
              <a:t>Lab - Use TFTP, Flash, and USB to Manage Configuration Files</a:t>
            </a:r>
            <a:endParaRPr/>
          </a:p>
        </p:txBody>
      </p:sp>
      <p:sp>
        <p:nvSpPr>
          <p:cNvPr id="705" name="Google Shape;705;p63"/>
          <p:cNvSpPr txBox="1"/>
          <p:nvPr>
            <p:ph idx="1" type="body"/>
          </p:nvPr>
        </p:nvSpPr>
        <p:spPr>
          <a:xfrm>
            <a:off x="431971" y="1614901"/>
            <a:ext cx="8280057" cy="352859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this Packet Tracer Physical Mode activity and in the Lab,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1: Cable the Network and Configure Basic Device Settings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2: Use TFTP to Back Up and Restore the Switch Running Configuration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3: Use TFTP to Back Up and Restore the Router Running Configuration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4: Back Up and Restore Running Configurations Using Router Flash Memory</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Part 5: (Optional) Use a USB Drive to Back Up and Restore the Running Configuration (Lab only)</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4"/>
          <p:cNvSpPr txBox="1"/>
          <p:nvPr>
            <p:ph type="title"/>
          </p:nvPr>
        </p:nvSpPr>
        <p:spPr>
          <a:xfrm>
            <a:off x="0" y="254175"/>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Router and Switch File Maintenance</a:t>
            </a:r>
            <a:br>
              <a:rPr lang="en-US"/>
            </a:br>
            <a:r>
              <a:rPr lang="en-US" sz="2400"/>
              <a:t>Packet Tracer – Research Password Recovery Procedures – Physical Mode</a:t>
            </a:r>
            <a:br>
              <a:rPr lang="en-US" sz="2400"/>
            </a:br>
            <a:r>
              <a:rPr lang="en-US" sz="2400"/>
              <a:t>Lab - Research Password Recovery Procedures</a:t>
            </a:r>
            <a:endParaRPr/>
          </a:p>
        </p:txBody>
      </p:sp>
      <p:sp>
        <p:nvSpPr>
          <p:cNvPr id="712" name="Google Shape;712;p64"/>
          <p:cNvSpPr txBox="1"/>
          <p:nvPr>
            <p:ph idx="1" type="body"/>
          </p:nvPr>
        </p:nvSpPr>
        <p:spPr>
          <a:xfrm>
            <a:off x="431971" y="1496136"/>
            <a:ext cx="8280057" cy="26706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Physical Mode activity and in the Lab,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Part 1: Research the Configuration Register</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Part 2: Document the Password Recovery Procedure for a Specific Cisco Router</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5"/>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10.7 IOS Image Management</a:t>
            </a:r>
            <a:endParaRPr/>
          </a:p>
        </p:txBody>
      </p:sp>
    </p:spTree>
  </p:cSld>
  <p:clrMapOvr>
    <a:masterClrMapping/>
  </p:clrMapOvr>
  <p:transition spd="slow">
    <p:wipe dir="l"/>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6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Video - Managing Cisco IOS Images</a:t>
            </a:r>
            <a:endParaRPr/>
          </a:p>
        </p:txBody>
      </p:sp>
      <p:sp>
        <p:nvSpPr>
          <p:cNvPr id="725" name="Google Shape;725;p6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This video will demonstrate the process of upgrading the IOS on a Cisco router.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TFTP Servers as a Backup Location</a:t>
            </a:r>
            <a:endParaRPr/>
          </a:p>
        </p:txBody>
      </p:sp>
      <p:sp>
        <p:nvSpPr>
          <p:cNvPr id="732" name="Google Shape;732;p6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As a network grows, Cisco IOS Software images and configuration files can be stored on a central TFTP server. This helps to control the number of IOS images and the revisions to those IOS images, as well as the configuration files that must be maintained.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Production internetworks usually span wide areas and contain multiple routers. For any network, it is good practice to keep a backup copy of the Cisco IOS Software image in case the system image on the router becomes corrupted or accidentally erased.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Widely distributed routers need a source or backup location for Cisco IOS Software images. Using a network TFTP server allows image and configuration uploads and downloads over the network. The network TFTP server can be another router, a workstation, or a host system.</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Backup IOS Image to TFTP Server Example</a:t>
            </a:r>
            <a:endParaRPr/>
          </a:p>
        </p:txBody>
      </p:sp>
      <p:sp>
        <p:nvSpPr>
          <p:cNvPr id="739" name="Google Shape;739;p6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maintain network operations with minimum down time, it is necessary to have procedures in place for backing up Cisco IOS images. This allows the network administrator to quickly copy an image back to a router in case of a corrupted or erased image. Use the following steps:</a:t>
            </a:r>
            <a:endParaRPr/>
          </a:p>
          <a:p>
            <a:pPr indent="0" lvl="1" marL="73085" rtl="0" algn="l">
              <a:lnSpc>
                <a:spcPct val="95000"/>
              </a:lnSpc>
              <a:spcBef>
                <a:spcPts val="600"/>
              </a:spcBef>
              <a:spcAft>
                <a:spcPts val="0"/>
              </a:spcAft>
              <a:buSzPts val="1600"/>
              <a:buNone/>
            </a:pPr>
            <a:r>
              <a:rPr b="1" lang="en-US" sz="1600">
                <a:solidFill>
                  <a:srgbClr val="000000"/>
                </a:solidFill>
              </a:rPr>
              <a:t>Step 1. Ping the TFTP server. </a:t>
            </a:r>
            <a:r>
              <a:rPr lang="en-US" sz="1600">
                <a:solidFill>
                  <a:srgbClr val="000000"/>
                </a:solidFill>
              </a:rPr>
              <a:t>Ping the TFTP server to test connectivity.</a:t>
            </a:r>
            <a:endParaRPr/>
          </a:p>
          <a:p>
            <a:pPr indent="0" lvl="1" marL="73085" rtl="0" algn="l">
              <a:lnSpc>
                <a:spcPct val="95000"/>
              </a:lnSpc>
              <a:spcBef>
                <a:spcPts val="600"/>
              </a:spcBef>
              <a:spcAft>
                <a:spcPts val="0"/>
              </a:spcAft>
              <a:buSzPts val="1600"/>
              <a:buNone/>
            </a:pPr>
            <a:r>
              <a:rPr b="1" lang="en-US" sz="1600">
                <a:solidFill>
                  <a:srgbClr val="000000"/>
                </a:solidFill>
              </a:rPr>
              <a:t>Step 2. Verify image size in flash. </a:t>
            </a:r>
            <a:r>
              <a:rPr lang="en-US" sz="1600">
                <a:solidFill>
                  <a:srgbClr val="000000"/>
                </a:solidFill>
              </a:rPr>
              <a:t>Verify that the TFTP server has sufficient disk space to accommodate the Cisco IOS Software image. Use the </a:t>
            </a:r>
            <a:r>
              <a:rPr b="1" lang="en-US" sz="1600">
                <a:solidFill>
                  <a:srgbClr val="000000"/>
                </a:solidFill>
              </a:rPr>
              <a:t>show flash0:</a:t>
            </a:r>
            <a:r>
              <a:rPr lang="en-US" sz="1600">
                <a:solidFill>
                  <a:srgbClr val="000000"/>
                </a:solidFill>
              </a:rPr>
              <a:t> command on the router to determine the size of the Cisco IOS image file. </a:t>
            </a:r>
            <a:endParaRPr/>
          </a:p>
          <a:p>
            <a:pPr indent="0" lvl="1" marL="73085" rtl="0" algn="l">
              <a:lnSpc>
                <a:spcPct val="95000"/>
              </a:lnSpc>
              <a:spcBef>
                <a:spcPts val="600"/>
              </a:spcBef>
              <a:spcAft>
                <a:spcPts val="0"/>
              </a:spcAft>
              <a:buSzPts val="1600"/>
              <a:buNone/>
            </a:pPr>
            <a:r>
              <a:rPr b="1" lang="en-US" sz="1600">
                <a:solidFill>
                  <a:srgbClr val="000000"/>
                </a:solidFill>
              </a:rPr>
              <a:t>Step 3. Copy the image to the TFTP server. </a:t>
            </a:r>
            <a:r>
              <a:rPr lang="en-US" sz="1600">
                <a:solidFill>
                  <a:srgbClr val="000000"/>
                </a:solidFill>
              </a:rPr>
              <a:t>Copy the image to the TFTP server by using the </a:t>
            </a:r>
            <a:r>
              <a:rPr b="1" lang="en-US" sz="1600">
                <a:solidFill>
                  <a:srgbClr val="000000"/>
                </a:solidFill>
              </a:rPr>
              <a:t>copy</a:t>
            </a:r>
            <a:r>
              <a:rPr lang="en-US" sz="1600">
                <a:solidFill>
                  <a:srgbClr val="000000"/>
                </a:solidFill>
              </a:rPr>
              <a:t> </a:t>
            </a:r>
            <a:r>
              <a:rPr i="1" lang="en-US" sz="1600">
                <a:solidFill>
                  <a:srgbClr val="000000"/>
                </a:solidFill>
              </a:rPr>
              <a:t>source-url destination-url</a:t>
            </a:r>
            <a:r>
              <a:rPr lang="en-US" sz="1600">
                <a:solidFill>
                  <a:srgbClr val="000000"/>
                </a:solidFill>
              </a:rPr>
              <a:t> command. After issuing the command by using the specified source and destination URLs, the user is prompted for the source file name, IP address of the remote host, and destination file name. The transfer will then begin.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6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Copy an IOS Image to a Device Example</a:t>
            </a:r>
            <a:endParaRPr/>
          </a:p>
        </p:txBody>
      </p:sp>
      <p:sp>
        <p:nvSpPr>
          <p:cNvPr id="746" name="Google Shape;746;p69"/>
          <p:cNvSpPr txBox="1"/>
          <p:nvPr>
            <p:ph idx="1" type="body"/>
          </p:nvPr>
        </p:nvSpPr>
        <p:spPr>
          <a:xfrm>
            <a:off x="198784" y="731837"/>
            <a:ext cx="8555936" cy="191687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Step 1. Ping the TFTP server. </a:t>
            </a:r>
            <a:r>
              <a:rPr lang="en-US" sz="1600">
                <a:solidFill>
                  <a:srgbClr val="000000"/>
                </a:solidFill>
              </a:rPr>
              <a:t>Ping the TFTP server to test connectivity.</a:t>
            </a:r>
            <a:endParaRPr/>
          </a:p>
          <a:p>
            <a:pPr indent="0" lvl="0" marL="0" rtl="0" algn="l">
              <a:lnSpc>
                <a:spcPct val="100000"/>
              </a:lnSpc>
              <a:spcBef>
                <a:spcPts val="320"/>
              </a:spcBef>
              <a:spcAft>
                <a:spcPts val="0"/>
              </a:spcAft>
              <a:buSzPts val="1600"/>
              <a:buNone/>
            </a:pPr>
            <a:r>
              <a:rPr b="1" lang="en-US" sz="1600">
                <a:solidFill>
                  <a:srgbClr val="000000"/>
                </a:solidFill>
              </a:rPr>
              <a:t>Step 2. Verify the amount of free flash. </a:t>
            </a:r>
            <a:r>
              <a:rPr lang="en-US" sz="1600">
                <a:solidFill>
                  <a:srgbClr val="000000"/>
                </a:solidFill>
              </a:rPr>
              <a:t>Ensure that there is sufficient flash space on the device being upgraded by using the </a:t>
            </a:r>
            <a:r>
              <a:rPr b="1" lang="en-US" sz="1600">
                <a:solidFill>
                  <a:srgbClr val="000000"/>
                </a:solidFill>
              </a:rPr>
              <a:t>show flash:</a:t>
            </a:r>
            <a:r>
              <a:rPr lang="en-US" sz="1600">
                <a:solidFill>
                  <a:srgbClr val="000000"/>
                </a:solidFill>
              </a:rPr>
              <a:t> command. Compare the free flash space with the new image file size.</a:t>
            </a:r>
            <a:endParaRPr/>
          </a:p>
          <a:p>
            <a:pPr indent="0" lvl="0" marL="0" rtl="0" algn="l">
              <a:lnSpc>
                <a:spcPct val="100000"/>
              </a:lnSpc>
              <a:spcBef>
                <a:spcPts val="320"/>
              </a:spcBef>
              <a:spcAft>
                <a:spcPts val="0"/>
              </a:spcAft>
              <a:buSzPts val="1600"/>
              <a:buNone/>
            </a:pPr>
            <a:r>
              <a:rPr b="1" lang="en-US" sz="1600">
                <a:solidFill>
                  <a:srgbClr val="000000"/>
                </a:solidFill>
              </a:rPr>
              <a:t>Step 3. </a:t>
            </a:r>
            <a:r>
              <a:rPr lang="en-US" sz="1600">
                <a:solidFill>
                  <a:srgbClr val="000000"/>
                </a:solidFill>
              </a:rPr>
              <a:t>Copy the IOS image file from the TFTP server to the router by using the </a:t>
            </a:r>
            <a:r>
              <a:rPr b="1" lang="en-US" sz="1600">
                <a:solidFill>
                  <a:srgbClr val="000000"/>
                </a:solidFill>
              </a:rPr>
              <a:t>copy</a:t>
            </a:r>
            <a:r>
              <a:rPr lang="en-US" sz="1600">
                <a:solidFill>
                  <a:srgbClr val="000000"/>
                </a:solidFill>
              </a:rPr>
              <a:t> </a:t>
            </a:r>
            <a:r>
              <a:rPr b="1" lang="en-US" sz="1600">
                <a:solidFill>
                  <a:srgbClr val="000000"/>
                </a:solidFill>
              </a:rPr>
              <a:t>tftp: flash: </a:t>
            </a:r>
            <a:r>
              <a:rPr lang="en-US" sz="1600">
                <a:solidFill>
                  <a:srgbClr val="000000"/>
                </a:solidFill>
              </a:rPr>
              <a:t>command. After issuing this command, the user will be prompted for the IP address of the remote host, source file name, and destination file name. </a:t>
            </a:r>
            <a:endParaRPr/>
          </a:p>
        </p:txBody>
      </p:sp>
      <p:sp>
        <p:nvSpPr>
          <p:cNvPr id="747" name="Google Shape;747;p69"/>
          <p:cNvSpPr/>
          <p:nvPr/>
        </p:nvSpPr>
        <p:spPr>
          <a:xfrm>
            <a:off x="609470" y="2767984"/>
            <a:ext cx="7925059" cy="193899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copy tftp: flash: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Address or name of remote host []? </a:t>
            </a:r>
            <a:r>
              <a:rPr b="1" lang="en-US" sz="1200">
                <a:solidFill>
                  <a:srgbClr val="DFDFDF"/>
                </a:solidFill>
                <a:latin typeface="Courier New"/>
                <a:ea typeface="Courier New"/>
                <a:cs typeface="Courier New"/>
                <a:sym typeface="Courier New"/>
              </a:rPr>
              <a:t>2001:DB8:CAFE:100::99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Source filename []? </a:t>
            </a:r>
            <a:r>
              <a:rPr b="1" lang="en-US" sz="1200">
                <a:solidFill>
                  <a:srgbClr val="FFFFFF"/>
                </a:solidFill>
                <a:latin typeface="Courier New"/>
                <a:ea typeface="Courier New"/>
                <a:cs typeface="Courier New"/>
                <a:sym typeface="Courier New"/>
              </a:rPr>
              <a:t>isr4200-universalk9_ias.16.09.04.SPA.bin</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Destination filename [isr4200-universalk9_ias.16.09.04.SPA.bin]?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Accessing tftp://2001:DB8:CAFE:100::99/ isr4200- universalk9_ias.16.09.04.SPA.bin... Loading isr4200-universalk9_ias.16.09.04.SPA.bin from 2001:DB8:CAFE:100::99 (via GigabitEthernet0/0/0): !!!!!!!!!!!!!!!!!!!! </a:t>
            </a:r>
            <a:endParaRPr/>
          </a:p>
          <a:p>
            <a:pPr indent="0" lvl="0" marL="0" marR="0" rtl="0" algn="l">
              <a:spcBef>
                <a:spcPts val="0"/>
              </a:spcBef>
              <a:spcAft>
                <a:spcPts val="0"/>
              </a:spcAft>
              <a:buNone/>
            </a:pPr>
            <a:r>
              <a:t/>
            </a:r>
            <a:endParaRPr sz="1200">
              <a:solidFill>
                <a:srgbClr val="DFDFDF"/>
              </a:solidFill>
              <a:latin typeface="Courier New"/>
              <a:ea typeface="Courier New"/>
              <a:cs typeface="Courier New"/>
              <a:sym typeface="Courier New"/>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[OK - 517153193 bytes]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517153193 bytes copied in 868.128 secs (265652 bytes/sec)</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The boot system Command</a:t>
            </a:r>
            <a:endParaRPr/>
          </a:p>
        </p:txBody>
      </p:sp>
      <p:sp>
        <p:nvSpPr>
          <p:cNvPr id="754" name="Google Shape;754;p70"/>
          <p:cNvSpPr txBox="1"/>
          <p:nvPr>
            <p:ph idx="1" type="body"/>
          </p:nvPr>
        </p:nvSpPr>
        <p:spPr>
          <a:xfrm>
            <a:off x="66676" y="628650"/>
            <a:ext cx="8688044" cy="298132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During startup, the bootstrap code parses the startup configuration file in NVRAM for the </a:t>
            </a:r>
            <a:r>
              <a:rPr b="1" lang="en-US" sz="1600">
                <a:solidFill>
                  <a:srgbClr val="000000"/>
                </a:solidFill>
              </a:rPr>
              <a:t>boot system</a:t>
            </a:r>
            <a:r>
              <a:rPr lang="en-US" sz="1600">
                <a:solidFill>
                  <a:srgbClr val="000000"/>
                </a:solidFill>
              </a:rPr>
              <a:t> commands that specify the name and location of the Cisco IOS Software image to load. Several </a:t>
            </a:r>
            <a:r>
              <a:rPr b="1" lang="en-US" sz="1600">
                <a:solidFill>
                  <a:srgbClr val="000000"/>
                </a:solidFill>
              </a:rPr>
              <a:t>boot system</a:t>
            </a:r>
            <a:r>
              <a:rPr lang="en-US" sz="1600">
                <a:solidFill>
                  <a:srgbClr val="000000"/>
                </a:solidFill>
              </a:rPr>
              <a:t> commands can be entered in sequence to provide a fault-tolerant boot plan.</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If there are no </a:t>
            </a:r>
            <a:r>
              <a:rPr b="1" lang="en-US" sz="1600">
                <a:solidFill>
                  <a:srgbClr val="000000"/>
                </a:solidFill>
              </a:rPr>
              <a:t>boot system</a:t>
            </a:r>
            <a:r>
              <a:rPr lang="en-US" sz="1600">
                <a:solidFill>
                  <a:srgbClr val="000000"/>
                </a:solidFill>
              </a:rPr>
              <a:t> commands in the configuration, the router defaults to loading the first valid Cisco IOS image in flash memory and runs it.</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To upgrade to the copied IOS image after that image is saved on the flash memory of the router, configure the router to load the new image by using the </a:t>
            </a:r>
            <a:r>
              <a:rPr b="1" lang="en-US" sz="1600">
                <a:solidFill>
                  <a:srgbClr val="000000"/>
                </a:solidFill>
              </a:rPr>
              <a:t>boot system</a:t>
            </a:r>
            <a:r>
              <a:rPr lang="en-US" sz="1600">
                <a:solidFill>
                  <a:srgbClr val="000000"/>
                </a:solidFill>
              </a:rPr>
              <a:t> command. Save the configuration. Reload the router to boot the router with new image.</a:t>
            </a:r>
            <a:endParaRPr/>
          </a:p>
        </p:txBody>
      </p:sp>
      <p:sp>
        <p:nvSpPr>
          <p:cNvPr id="755" name="Google Shape;755;p70"/>
          <p:cNvSpPr/>
          <p:nvPr/>
        </p:nvSpPr>
        <p:spPr>
          <a:xfrm>
            <a:off x="915065" y="3720396"/>
            <a:ext cx="6815469" cy="1015663"/>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configure terminal</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boot system flash0:isr4200-universalk9_ias.16.09.04.SPA.bin</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R1(config)# </a:t>
            </a:r>
            <a:r>
              <a:rPr b="1" lang="en-US" sz="1200">
                <a:solidFill>
                  <a:srgbClr val="FFFFFF"/>
                </a:solidFill>
                <a:latin typeface="Courier New"/>
                <a:ea typeface="Courier New"/>
                <a:cs typeface="Courier New"/>
                <a:sym typeface="Courier New"/>
              </a:rPr>
              <a:t>exit</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copy running-config startup-config</a:t>
            </a:r>
            <a:r>
              <a:rPr lang="en-US" sz="1200">
                <a:solidFill>
                  <a:srgbClr val="DFDFDF"/>
                </a:solidFill>
                <a:latin typeface="Courier New"/>
                <a:ea typeface="Courier New"/>
                <a:cs typeface="Courier New"/>
                <a:sym typeface="Courier New"/>
              </a:rPr>
              <a:t> </a:t>
            </a:r>
            <a:endParaRPr/>
          </a:p>
          <a:p>
            <a:pPr indent="0" lvl="0" marL="0" marR="0" rtl="0" algn="l">
              <a:spcBef>
                <a:spcPts val="0"/>
              </a:spcBef>
              <a:spcAft>
                <a:spcPts val="0"/>
              </a:spcAft>
              <a:buNone/>
            </a:pPr>
            <a:r>
              <a:rPr lang="en-US" sz="1200">
                <a:solidFill>
                  <a:srgbClr val="DFDFDF"/>
                </a:solidFill>
                <a:latin typeface="Courier New"/>
                <a:ea typeface="Courier New"/>
                <a:cs typeface="Courier New"/>
                <a:sym typeface="Courier New"/>
              </a:rPr>
              <a:t>R1# </a:t>
            </a:r>
            <a:r>
              <a:rPr b="1" lang="en-US" sz="1200">
                <a:solidFill>
                  <a:srgbClr val="FFFFFF"/>
                </a:solidFill>
                <a:latin typeface="Courier New"/>
                <a:ea typeface="Courier New"/>
                <a:cs typeface="Courier New"/>
                <a:sym typeface="Courier New"/>
              </a:rPr>
              <a:t>reload</a:t>
            </a:r>
            <a:endParaRPr sz="12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71"/>
          <p:cNvSpPr txBox="1"/>
          <p:nvPr>
            <p:ph type="title"/>
          </p:nvPr>
        </p:nvSpPr>
        <p:spPr>
          <a:xfrm>
            <a:off x="0" y="53165"/>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IOS Image Management</a:t>
            </a:r>
            <a:br>
              <a:rPr lang="en-US"/>
            </a:br>
            <a:r>
              <a:rPr lang="en-US" sz="2400"/>
              <a:t>Packet Tracer - Use a TFTP Server to Upgrade a Cisco IOS Image</a:t>
            </a:r>
            <a:endParaRPr/>
          </a:p>
        </p:txBody>
      </p:sp>
      <p:sp>
        <p:nvSpPr>
          <p:cNvPr id="762" name="Google Shape;762;p71"/>
          <p:cNvSpPr txBox="1"/>
          <p:nvPr>
            <p:ph idx="1" type="body"/>
          </p:nvPr>
        </p:nvSpPr>
        <p:spPr>
          <a:xfrm>
            <a:off x="474662" y="925033"/>
            <a:ext cx="8280057" cy="349670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Packet Tracer, you will complete the following objectives: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Part 1: Upgrade an IOS Image on a Cisco Device </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Part 2: Backup an IOS Image on a TFTP Server</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2"/>
          <p:cNvSpPr txBox="1"/>
          <p:nvPr>
            <p:ph type="ctrTitle"/>
          </p:nvPr>
        </p:nvSpPr>
        <p:spPr>
          <a:xfrm>
            <a:off x="416425" y="1747520"/>
            <a:ext cx="8280314" cy="97028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10.8 Module Practice and Quiz</a:t>
            </a:r>
            <a:endParaRPr/>
          </a:p>
        </p:txBody>
      </p:sp>
    </p:spTree>
  </p:cSld>
  <p:clrMapOvr>
    <a:masterClrMapping/>
  </p:clrMapOvr>
  <p:transition spd="slow">
    <p:wipe dir="l"/>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t>Packet Tracer - Configure CDP, LLDP, and NTP</a:t>
            </a:r>
            <a:endParaRPr>
              <a:latin typeface="Arial"/>
              <a:ea typeface="Arial"/>
              <a:cs typeface="Arial"/>
              <a:sym typeface="Arial"/>
            </a:endParaRPr>
          </a:p>
        </p:txBody>
      </p:sp>
      <p:sp>
        <p:nvSpPr>
          <p:cNvPr id="775" name="Google Shape;775;p73"/>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In this Packet Tracer activity, you will complete the following objectives:</a:t>
            </a:r>
            <a:endParaRPr/>
          </a:p>
          <a:p>
            <a:pPr indent="-169863" lvl="0" marL="169863" rtl="0" algn="l">
              <a:lnSpc>
                <a:spcPct val="100000"/>
              </a:lnSpc>
              <a:spcBef>
                <a:spcPts val="1200"/>
              </a:spcBef>
              <a:spcAft>
                <a:spcPts val="0"/>
              </a:spcAft>
              <a:buSzPts val="1620"/>
              <a:buFont typeface="Arial"/>
              <a:buChar char="•"/>
            </a:pPr>
            <a:r>
              <a:rPr lang="en-US" sz="1800"/>
              <a:t>Build the Network and Configure Basic Device Settings</a:t>
            </a:r>
            <a:endParaRPr/>
          </a:p>
          <a:p>
            <a:pPr indent="-169863" lvl="0" marL="169863" rtl="0" algn="l">
              <a:lnSpc>
                <a:spcPct val="100000"/>
              </a:lnSpc>
              <a:spcBef>
                <a:spcPts val="1200"/>
              </a:spcBef>
              <a:spcAft>
                <a:spcPts val="0"/>
              </a:spcAft>
              <a:buSzPts val="1620"/>
              <a:buFont typeface="Arial"/>
              <a:buChar char="•"/>
            </a:pPr>
            <a:r>
              <a:rPr lang="en-US" sz="1800"/>
              <a:t>Network Discovery with CDP</a:t>
            </a:r>
            <a:endParaRPr/>
          </a:p>
          <a:p>
            <a:pPr indent="-169863" lvl="0" marL="169863" rtl="0" algn="l">
              <a:lnSpc>
                <a:spcPct val="100000"/>
              </a:lnSpc>
              <a:spcBef>
                <a:spcPts val="1200"/>
              </a:spcBef>
              <a:spcAft>
                <a:spcPts val="0"/>
              </a:spcAft>
              <a:buSzPts val="1620"/>
              <a:buFont typeface="Arial"/>
              <a:buChar char="•"/>
            </a:pPr>
            <a:r>
              <a:rPr lang="en-US" sz="1800"/>
              <a:t>Network Discovery with LLDP</a:t>
            </a:r>
            <a:endParaRPr/>
          </a:p>
          <a:p>
            <a:pPr indent="-169863" lvl="0" marL="169863" rtl="0" algn="l">
              <a:lnSpc>
                <a:spcPct val="100000"/>
              </a:lnSpc>
              <a:spcBef>
                <a:spcPts val="1200"/>
              </a:spcBef>
              <a:spcAft>
                <a:spcPts val="0"/>
              </a:spcAft>
              <a:buSzPts val="1620"/>
              <a:buFont typeface="Arial"/>
              <a:buChar char="•"/>
            </a:pPr>
            <a:r>
              <a:rPr lang="en-US" sz="1800"/>
              <a:t>Configure and Verify NTP</a:t>
            </a:r>
            <a:endParaRPr/>
          </a:p>
          <a:p>
            <a:pPr indent="-78423" lvl="0" marL="169863" rtl="0" algn="l">
              <a:lnSpc>
                <a:spcPct val="100000"/>
              </a:lnSpc>
              <a:spcBef>
                <a:spcPts val="1200"/>
              </a:spcBef>
              <a:spcAft>
                <a:spcPts val="0"/>
              </a:spcAft>
              <a:buSzPts val="1440"/>
              <a:buFont typeface="Noto Sans Symbols"/>
              <a:buNone/>
            </a:pPr>
            <a:r>
              <a:t/>
            </a:r>
            <a:endParaRPr sz="1600"/>
          </a:p>
        </p:txBody>
      </p:sp>
    </p:spTree>
  </p:cSld>
  <p:clrMapOvr>
    <a:masterClrMapping/>
  </p:clrMapOvr>
  <p:transition spd="slow">
    <p:wipe dir="l"/>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t>Lab- Configure CDP, LLDP, and NTP</a:t>
            </a:r>
            <a:endParaRPr>
              <a:latin typeface="Arial"/>
              <a:ea typeface="Arial"/>
              <a:cs typeface="Arial"/>
              <a:sym typeface="Arial"/>
            </a:endParaRPr>
          </a:p>
        </p:txBody>
      </p:sp>
      <p:sp>
        <p:nvSpPr>
          <p:cNvPr id="782" name="Google Shape;782;p74"/>
          <p:cNvSpPr txBox="1"/>
          <p:nvPr>
            <p:ph idx="1" type="body"/>
          </p:nvPr>
        </p:nvSpPr>
        <p:spPr>
          <a:xfrm>
            <a:off x="144065" y="798944"/>
            <a:ext cx="8853286" cy="361113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In this lab, you will complete the following objectives:</a:t>
            </a:r>
            <a:endParaRPr/>
          </a:p>
          <a:p>
            <a:pPr indent="-169863" lvl="0" marL="169863" rtl="0" algn="l">
              <a:lnSpc>
                <a:spcPct val="100000"/>
              </a:lnSpc>
              <a:spcBef>
                <a:spcPts val="1200"/>
              </a:spcBef>
              <a:spcAft>
                <a:spcPts val="0"/>
              </a:spcAft>
              <a:buSzPts val="1620"/>
              <a:buFont typeface="Arial"/>
              <a:buChar char="•"/>
            </a:pPr>
            <a:r>
              <a:rPr lang="en-US" sz="1800"/>
              <a:t>Build the Network and Configure Basic Device Settings</a:t>
            </a:r>
            <a:endParaRPr/>
          </a:p>
          <a:p>
            <a:pPr indent="-169863" lvl="0" marL="169863" rtl="0" algn="l">
              <a:lnSpc>
                <a:spcPct val="100000"/>
              </a:lnSpc>
              <a:spcBef>
                <a:spcPts val="1200"/>
              </a:spcBef>
              <a:spcAft>
                <a:spcPts val="0"/>
              </a:spcAft>
              <a:buSzPts val="1620"/>
              <a:buFont typeface="Arial"/>
              <a:buChar char="•"/>
            </a:pPr>
            <a:r>
              <a:rPr lang="en-US" sz="1800"/>
              <a:t>Network Discovery with CDP</a:t>
            </a:r>
            <a:endParaRPr/>
          </a:p>
          <a:p>
            <a:pPr indent="-169863" lvl="0" marL="169863" rtl="0" algn="l">
              <a:lnSpc>
                <a:spcPct val="100000"/>
              </a:lnSpc>
              <a:spcBef>
                <a:spcPts val="1200"/>
              </a:spcBef>
              <a:spcAft>
                <a:spcPts val="0"/>
              </a:spcAft>
              <a:buSzPts val="1620"/>
              <a:buFont typeface="Arial"/>
              <a:buChar char="•"/>
            </a:pPr>
            <a:r>
              <a:rPr lang="en-US" sz="1800"/>
              <a:t>Network Discovery with LLDP</a:t>
            </a:r>
            <a:endParaRPr/>
          </a:p>
          <a:p>
            <a:pPr indent="-169863" lvl="0" marL="169863" rtl="0" algn="l">
              <a:lnSpc>
                <a:spcPct val="100000"/>
              </a:lnSpc>
              <a:spcBef>
                <a:spcPts val="1200"/>
              </a:spcBef>
              <a:spcAft>
                <a:spcPts val="0"/>
              </a:spcAft>
              <a:buSzPts val="1620"/>
              <a:buFont typeface="Arial"/>
              <a:buChar char="•"/>
            </a:pPr>
            <a:r>
              <a:rPr lang="en-US" sz="1800"/>
              <a:t>Configure and Verify NTP</a:t>
            </a:r>
            <a:endParaRPr/>
          </a:p>
          <a:p>
            <a:pPr indent="-78423" lvl="0" marL="169863" rtl="0" algn="l">
              <a:lnSpc>
                <a:spcPct val="100000"/>
              </a:lnSpc>
              <a:spcBef>
                <a:spcPts val="1200"/>
              </a:spcBef>
              <a:spcAft>
                <a:spcPts val="0"/>
              </a:spcAft>
              <a:buSzPts val="1440"/>
              <a:buFont typeface="Noto Sans Symbols"/>
              <a:buNone/>
            </a:pPr>
            <a:r>
              <a:t/>
            </a:r>
            <a:endParaRPr sz="1600"/>
          </a:p>
        </p:txBody>
      </p:sp>
    </p:spTree>
  </p:cSld>
  <p:clrMapOvr>
    <a:masterClrMapping/>
  </p:clrMapOvr>
  <p:transition spd="slow">
    <p:wipe dir="l"/>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7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789" name="Google Shape;789;p7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Cisco Discovery Protocol (CDP) is a Cisco proprietary Layer 2 protocol that is used to gather information about Cisco devices which share the same data link. </a:t>
            </a:r>
            <a:endParaRPr/>
          </a:p>
          <a:p>
            <a:pPr indent="-169863" lvl="0" marL="169863" rtl="0" algn="l">
              <a:lnSpc>
                <a:spcPct val="100000"/>
              </a:lnSpc>
              <a:spcBef>
                <a:spcPts val="0"/>
              </a:spcBef>
              <a:spcAft>
                <a:spcPts val="0"/>
              </a:spcAft>
              <a:buSzPts val="1350"/>
              <a:buFont typeface="Arial"/>
              <a:buChar char="•"/>
            </a:pPr>
            <a:r>
              <a:rPr lang="en-US"/>
              <a:t>CDP can be used as a network discovery tool to determine the information about the neighboring devices. This information gathered from CDP can help build a logical topology of a network when documentation is missing or lacking in detail. </a:t>
            </a:r>
            <a:endParaRPr/>
          </a:p>
          <a:p>
            <a:pPr indent="-169863" lvl="0" marL="169863" rtl="0" algn="l">
              <a:lnSpc>
                <a:spcPct val="100000"/>
              </a:lnSpc>
              <a:spcBef>
                <a:spcPts val="0"/>
              </a:spcBef>
              <a:spcAft>
                <a:spcPts val="0"/>
              </a:spcAft>
              <a:buSzPts val="1350"/>
              <a:buFont typeface="Arial"/>
              <a:buChar char="•"/>
            </a:pPr>
            <a:r>
              <a:rPr lang="en-US"/>
              <a:t>On Cisco devices, CDP is enabled by default. To enable CDP globally for all the supported interfaces on the device, enter cdp run in the global configuration mode. To enable CDP on the specific interface, enter the cdp enable command. </a:t>
            </a:r>
            <a:endParaRPr/>
          </a:p>
          <a:p>
            <a:pPr indent="-169863" lvl="0" marL="169863" rtl="0" algn="l">
              <a:lnSpc>
                <a:spcPct val="100000"/>
              </a:lnSpc>
              <a:spcBef>
                <a:spcPts val="0"/>
              </a:spcBef>
              <a:spcAft>
                <a:spcPts val="0"/>
              </a:spcAft>
              <a:buSzPts val="1350"/>
              <a:buFont typeface="Arial"/>
              <a:buChar char="•"/>
            </a:pPr>
            <a:r>
              <a:rPr lang="en-US"/>
              <a:t>To verify the status of CDP and display a list of neighbors, use the show cdp neighbors command in the privileged EXEC mode. </a:t>
            </a:r>
            <a:endParaRPr/>
          </a:p>
          <a:p>
            <a:pPr indent="-169863" lvl="0" marL="169863" rtl="0" algn="l">
              <a:lnSpc>
                <a:spcPct val="100000"/>
              </a:lnSpc>
              <a:spcBef>
                <a:spcPts val="0"/>
              </a:spcBef>
              <a:spcAft>
                <a:spcPts val="0"/>
              </a:spcAft>
              <a:buSzPts val="1350"/>
              <a:buFont typeface="Arial"/>
              <a:buChar char="•"/>
            </a:pPr>
            <a:r>
              <a:rPr lang="en-US"/>
              <a:t>Cisco devices also support Link Layer Discovery Protocol (LLDP), which is a vendor-neutral neighbor discovery protocol similar to CDP. </a:t>
            </a:r>
            <a:endParaRPr/>
          </a:p>
          <a:p>
            <a:pPr indent="-169863" lvl="0" marL="169863" rtl="0" algn="l">
              <a:lnSpc>
                <a:spcPct val="100000"/>
              </a:lnSpc>
              <a:spcBef>
                <a:spcPts val="0"/>
              </a:spcBef>
              <a:spcAft>
                <a:spcPts val="0"/>
              </a:spcAft>
              <a:buSzPts val="1350"/>
              <a:buFont typeface="Arial"/>
              <a:buChar char="•"/>
            </a:pPr>
            <a:r>
              <a:rPr lang="en-US"/>
              <a:t>To enable LLDP globally on a Cisco network device, enter the lldp run command in the global configuration mode. </a:t>
            </a:r>
            <a:endParaRPr/>
          </a:p>
        </p:txBody>
      </p:sp>
    </p:spTree>
  </p:cSld>
  <p:clrMapOvr>
    <a:masterClrMapping/>
  </p:clrMapOvr>
  <p:transition spd="slow">
    <p:wipe dir="l"/>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796" name="Google Shape;796;p7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With LLDP enabled, device neighbors can be discovered by using the show lldp neighbors command. When more details about the neighbors are needed, the show lldp neighbors detail command can provide information, such as the neighbor IOS version, IP address, and device capability.</a:t>
            </a:r>
            <a:endParaRPr/>
          </a:p>
          <a:p>
            <a:pPr indent="-169863" lvl="0" marL="169863" rtl="0" algn="l">
              <a:lnSpc>
                <a:spcPct val="100000"/>
              </a:lnSpc>
              <a:spcBef>
                <a:spcPts val="0"/>
              </a:spcBef>
              <a:spcAft>
                <a:spcPts val="0"/>
              </a:spcAft>
              <a:buSzPts val="1350"/>
              <a:buFont typeface="Arial"/>
              <a:buChar char="•"/>
            </a:pPr>
            <a:r>
              <a:rPr lang="en-US"/>
              <a:t>When the time is not synchronized between devices, it will be impossible to determine the order of the events and the cause of an event. </a:t>
            </a:r>
            <a:endParaRPr/>
          </a:p>
          <a:p>
            <a:pPr indent="-169863" lvl="0" marL="169863" rtl="0" algn="l">
              <a:lnSpc>
                <a:spcPct val="100000"/>
              </a:lnSpc>
              <a:spcBef>
                <a:spcPts val="0"/>
              </a:spcBef>
              <a:spcAft>
                <a:spcPts val="0"/>
              </a:spcAft>
              <a:buSzPts val="1350"/>
              <a:buFont typeface="Arial"/>
              <a:buChar char="•"/>
            </a:pPr>
            <a:r>
              <a:rPr lang="en-US"/>
              <a:t>You can manually configure the date and time, or you can configure the NTP, which allows devices on the network to synchronize their time settings with an NTP server. </a:t>
            </a:r>
            <a:endParaRPr/>
          </a:p>
          <a:p>
            <a:pPr indent="-169863" lvl="0" marL="169863" rtl="0" algn="l">
              <a:lnSpc>
                <a:spcPct val="100000"/>
              </a:lnSpc>
              <a:spcBef>
                <a:spcPts val="0"/>
              </a:spcBef>
              <a:spcAft>
                <a:spcPts val="0"/>
              </a:spcAft>
              <a:buSzPts val="1350"/>
              <a:buFont typeface="Arial"/>
              <a:buChar char="•"/>
            </a:pPr>
            <a:r>
              <a:rPr lang="en-US"/>
              <a:t>NTP networks use a hierarchical system of time sources and each level in this system is called a stratum. Authoritative time sources, also referred to as stratum 0 devices, are high-precision timekeeping devices. Stratum 1 devices are directly connected to the authoritative time sources. Stratum 2 devices, such as NTP clients, synchronize their time by using the NTP packets from stratum 1 servers. </a:t>
            </a:r>
            <a:endParaRPr/>
          </a:p>
          <a:p>
            <a:pPr indent="-169863" lvl="0" marL="169863" rtl="0" algn="l">
              <a:lnSpc>
                <a:spcPct val="100000"/>
              </a:lnSpc>
              <a:spcBef>
                <a:spcPts val="0"/>
              </a:spcBef>
              <a:spcAft>
                <a:spcPts val="0"/>
              </a:spcAft>
              <a:buSzPts val="1350"/>
              <a:buFont typeface="Arial"/>
              <a:buChar char="•"/>
            </a:pPr>
            <a:r>
              <a:rPr lang="en-US"/>
              <a:t>The ntp server ip-address command is issued in global configuration mode to configure a device as the NTP server. </a:t>
            </a:r>
            <a:endParaRPr/>
          </a:p>
        </p:txBody>
      </p:sp>
    </p:spTree>
  </p:cSld>
  <p:clrMapOvr>
    <a:masterClrMapping/>
  </p:clrMapOvr>
  <p:transition spd="slow">
    <p:wipe dir="l"/>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7"/>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803" name="Google Shape;803;p77"/>
          <p:cNvSpPr txBox="1"/>
          <p:nvPr>
            <p:ph idx="1" type="body"/>
          </p:nvPr>
        </p:nvSpPr>
        <p:spPr>
          <a:xfrm>
            <a:off x="106662" y="703694"/>
            <a:ext cx="893067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To verify the time source is set to NTP, use the show clock detail command. The show ntp associations and show ntp status commands are used to verify that a device is synchronized with the NTP server.</a:t>
            </a:r>
            <a:endParaRPr/>
          </a:p>
          <a:p>
            <a:pPr indent="-169863" lvl="0" marL="169863" rtl="0" algn="l">
              <a:lnSpc>
                <a:spcPct val="100000"/>
              </a:lnSpc>
              <a:spcBef>
                <a:spcPts val="0"/>
              </a:spcBef>
              <a:spcAft>
                <a:spcPts val="0"/>
              </a:spcAft>
              <a:buSzPts val="1350"/>
              <a:buFont typeface="Arial"/>
              <a:buChar char="•"/>
            </a:pPr>
            <a:r>
              <a:rPr lang="en-US"/>
              <a:t>SNMP is an application layer protocol that provides a message format for communication between managers and agents. </a:t>
            </a:r>
            <a:endParaRPr/>
          </a:p>
          <a:p>
            <a:pPr indent="-169863" lvl="0" marL="169863" rtl="0" algn="l">
              <a:lnSpc>
                <a:spcPct val="100000"/>
              </a:lnSpc>
              <a:spcBef>
                <a:spcPts val="0"/>
              </a:spcBef>
              <a:spcAft>
                <a:spcPts val="0"/>
              </a:spcAft>
              <a:buSzPts val="1350"/>
              <a:buFont typeface="Arial"/>
              <a:buChar char="•"/>
            </a:pPr>
            <a:r>
              <a:rPr lang="en-US"/>
              <a:t>The SNMP system consists of three elements: SNMP manager, SNMP agents, and the MIB. </a:t>
            </a:r>
            <a:endParaRPr/>
          </a:p>
          <a:p>
            <a:pPr indent="-169863" lvl="0" marL="169863" rtl="0" algn="l">
              <a:lnSpc>
                <a:spcPct val="100000"/>
              </a:lnSpc>
              <a:spcBef>
                <a:spcPts val="0"/>
              </a:spcBef>
              <a:spcAft>
                <a:spcPts val="0"/>
              </a:spcAft>
              <a:buSzPts val="1350"/>
              <a:buFont typeface="Arial"/>
              <a:buChar char="•"/>
            </a:pPr>
            <a:r>
              <a:rPr lang="en-US"/>
              <a:t>The SNMP manager can collect information from an SNMP agent by using the “get” action and can change configurations on an agent by using the “set” action. SNMP agents can forward information directly to a network manager by using “traps”. </a:t>
            </a:r>
            <a:endParaRPr/>
          </a:p>
          <a:p>
            <a:pPr indent="-169863" lvl="0" marL="169863" rtl="0" algn="l">
              <a:lnSpc>
                <a:spcPct val="100000"/>
              </a:lnSpc>
              <a:spcBef>
                <a:spcPts val="0"/>
              </a:spcBef>
              <a:spcAft>
                <a:spcPts val="0"/>
              </a:spcAft>
              <a:buSzPts val="1350"/>
              <a:buFont typeface="Arial"/>
              <a:buChar char="•"/>
            </a:pPr>
            <a:r>
              <a:rPr lang="en-US"/>
              <a:t>SNMPv1, SNMPv2c, and SNMPv3 are all versions of SNMP. SNMPv1 is a legacy solution. Both SNMPv1 and SNMPv2c use a community-based form of security. SNMPv3 provides for both security models and security levels. </a:t>
            </a:r>
            <a:endParaRPr/>
          </a:p>
          <a:p>
            <a:pPr indent="-169863" lvl="0" marL="169863" rtl="0" algn="l">
              <a:lnSpc>
                <a:spcPct val="100000"/>
              </a:lnSpc>
              <a:spcBef>
                <a:spcPts val="0"/>
              </a:spcBef>
              <a:spcAft>
                <a:spcPts val="0"/>
              </a:spcAft>
              <a:buSzPts val="1350"/>
              <a:buFont typeface="Arial"/>
              <a:buChar char="•"/>
            </a:pPr>
            <a:r>
              <a:rPr lang="en-US"/>
              <a:t>The MIB organizes variables hierarchically. OIDs uniquely identify managed objects in the MIB hierarchy. The Cisco SNMP Navigator on the http://www.cisco.com website allows a network administrator to research details about a particular OID.</a:t>
            </a:r>
            <a:endParaRPr/>
          </a:p>
          <a:p>
            <a:pPr indent="-169863" lvl="0" marL="169863" rtl="0" algn="l">
              <a:lnSpc>
                <a:spcPct val="100000"/>
              </a:lnSpc>
              <a:spcBef>
                <a:spcPts val="0"/>
              </a:spcBef>
              <a:spcAft>
                <a:spcPts val="0"/>
              </a:spcAft>
              <a:buSzPts val="1350"/>
              <a:buFont typeface="Arial"/>
              <a:buChar char="•"/>
            </a:pPr>
            <a:r>
              <a:rPr lang="en-US"/>
              <a:t>The syslog protocol uses UDP port 514 to allow networking devices to send their system messages across the network to syslog servers. </a:t>
            </a:r>
            <a:endParaRPr/>
          </a:p>
        </p:txBody>
      </p:sp>
    </p:spTree>
  </p:cSld>
  <p:clrMapOvr>
    <a:masterClrMapping/>
  </p:clrMapOvr>
  <p:transition spd="slow">
    <p:wipe dir="l"/>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78"/>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810" name="Google Shape;810;p78"/>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The syslog logging service provides three primary functions: gather logging information for monitoring and troubleshooting, select the type of logging information that is captured, and specify the destinations of captured syslog messages. </a:t>
            </a:r>
            <a:endParaRPr/>
          </a:p>
          <a:p>
            <a:pPr indent="-169863" lvl="0" marL="169863" rtl="0" algn="l">
              <a:lnSpc>
                <a:spcPct val="100000"/>
              </a:lnSpc>
              <a:spcBef>
                <a:spcPts val="0"/>
              </a:spcBef>
              <a:spcAft>
                <a:spcPts val="0"/>
              </a:spcAft>
              <a:buSzPts val="1350"/>
              <a:buFont typeface="Arial"/>
              <a:buChar char="•"/>
            </a:pPr>
            <a:r>
              <a:rPr lang="en-US"/>
              <a:t>Destinations for syslog messages include the logging buffer (RAM inside a router or switch), console line, terminal line, and syslog server. </a:t>
            </a:r>
            <a:endParaRPr/>
          </a:p>
          <a:p>
            <a:pPr indent="-169863" lvl="0" marL="169863" rtl="0" algn="l">
              <a:lnSpc>
                <a:spcPct val="100000"/>
              </a:lnSpc>
              <a:spcBef>
                <a:spcPts val="0"/>
              </a:spcBef>
              <a:spcAft>
                <a:spcPts val="0"/>
              </a:spcAft>
              <a:buSzPts val="1350"/>
              <a:buFont typeface="Arial"/>
              <a:buChar char="•"/>
            </a:pPr>
            <a:r>
              <a:rPr lang="en-US"/>
              <a:t>Syslog facilities identify and categorize system state data for error and event message reporting. Common syslog message facilities reported on Cisco IOS routers include: IP, OSPF protocol, SYS operating system, IPsec, and IF. </a:t>
            </a:r>
            <a:endParaRPr/>
          </a:p>
          <a:p>
            <a:pPr indent="-169863" lvl="0" marL="169863" rtl="0" algn="l">
              <a:lnSpc>
                <a:spcPct val="100000"/>
              </a:lnSpc>
              <a:spcBef>
                <a:spcPts val="0"/>
              </a:spcBef>
              <a:spcAft>
                <a:spcPts val="0"/>
              </a:spcAft>
              <a:buSzPts val="1350"/>
              <a:buFont typeface="Arial"/>
              <a:buChar char="•"/>
            </a:pPr>
            <a:r>
              <a:rPr lang="en-US"/>
              <a:t>The default format of syslog messages on Cisco IOS software is: %facility-severity-MNEMONIC: description. </a:t>
            </a:r>
            <a:endParaRPr/>
          </a:p>
          <a:p>
            <a:pPr indent="-169863" lvl="0" marL="169863" rtl="0" algn="l">
              <a:lnSpc>
                <a:spcPct val="100000"/>
              </a:lnSpc>
              <a:spcBef>
                <a:spcPts val="0"/>
              </a:spcBef>
              <a:spcAft>
                <a:spcPts val="0"/>
              </a:spcAft>
              <a:buSzPts val="1350"/>
              <a:buFont typeface="Arial"/>
              <a:buChar char="•"/>
            </a:pPr>
            <a:r>
              <a:rPr lang="en-US"/>
              <a:t>Use the command service timestamps log datetime to force logged events to display the date and time.</a:t>
            </a:r>
            <a:endParaRPr/>
          </a:p>
          <a:p>
            <a:pPr indent="-169863" lvl="0" marL="169863" rtl="0" algn="l">
              <a:lnSpc>
                <a:spcPct val="100000"/>
              </a:lnSpc>
              <a:spcBef>
                <a:spcPts val="0"/>
              </a:spcBef>
              <a:spcAft>
                <a:spcPts val="0"/>
              </a:spcAft>
              <a:buSzPts val="1350"/>
              <a:buFont typeface="Arial"/>
              <a:buChar char="•"/>
            </a:pPr>
            <a:r>
              <a:rPr lang="en-US"/>
              <a:t>The Cisco IFS lets the administrator navigate to different directories and list the files in a directory, and to create subdirectories in flash memory or on a disk. </a:t>
            </a:r>
            <a:endParaRPr/>
          </a:p>
          <a:p>
            <a:pPr indent="-169863" lvl="0" marL="169863" rtl="0" algn="l">
              <a:lnSpc>
                <a:spcPct val="100000"/>
              </a:lnSpc>
              <a:spcBef>
                <a:spcPts val="0"/>
              </a:spcBef>
              <a:spcAft>
                <a:spcPts val="0"/>
              </a:spcAft>
              <a:buSzPts val="1350"/>
              <a:buFont typeface="Arial"/>
              <a:buChar char="•"/>
            </a:pPr>
            <a:r>
              <a:rPr lang="en-US"/>
              <a:t>Use the show file systems command to view the file systems on a Catalyst switch or a Cisco router. </a:t>
            </a:r>
            <a:endParaRPr/>
          </a:p>
        </p:txBody>
      </p:sp>
    </p:spTree>
  </p:cSld>
  <p:clrMapOvr>
    <a:masterClrMapping/>
  </p:clrMapOvr>
  <p:transition spd="slow">
    <p:wipe dir="l"/>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 (Cont.)</a:t>
            </a:r>
            <a:endParaRPr/>
          </a:p>
        </p:txBody>
      </p:sp>
      <p:sp>
        <p:nvSpPr>
          <p:cNvPr id="817" name="Google Shape;817;p79"/>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Configuration files can be saved to a text file by using Tera Term. A configuration can be copied from a file and then directly pasted to a device. </a:t>
            </a:r>
            <a:endParaRPr/>
          </a:p>
          <a:p>
            <a:pPr indent="-169863" lvl="0" marL="169863" rtl="0" algn="l">
              <a:lnSpc>
                <a:spcPct val="100000"/>
              </a:lnSpc>
              <a:spcBef>
                <a:spcPts val="0"/>
              </a:spcBef>
              <a:spcAft>
                <a:spcPts val="0"/>
              </a:spcAft>
              <a:buSzPts val="1350"/>
              <a:buFont typeface="Arial"/>
              <a:buChar char="•"/>
            </a:pPr>
            <a:r>
              <a:rPr lang="en-US"/>
              <a:t>Configuration files can be stored on a TFTP server, or a USB drive. </a:t>
            </a:r>
            <a:endParaRPr/>
          </a:p>
          <a:p>
            <a:pPr indent="-169863" lvl="0" marL="169863" rtl="0" algn="l">
              <a:lnSpc>
                <a:spcPct val="100000"/>
              </a:lnSpc>
              <a:spcBef>
                <a:spcPts val="0"/>
              </a:spcBef>
              <a:spcAft>
                <a:spcPts val="0"/>
              </a:spcAft>
              <a:buSzPts val="1350"/>
              <a:buFont typeface="Arial"/>
              <a:buChar char="•"/>
            </a:pPr>
            <a:r>
              <a:rPr lang="en-US"/>
              <a:t>To save the running configuration or the startup configuration to a TFTP server, use either the copy running-config tftp or copy startup-config tftp command. </a:t>
            </a:r>
            <a:endParaRPr/>
          </a:p>
          <a:p>
            <a:pPr indent="-169863" lvl="0" marL="169863" rtl="0" algn="l">
              <a:lnSpc>
                <a:spcPct val="100000"/>
              </a:lnSpc>
              <a:spcBef>
                <a:spcPts val="0"/>
              </a:spcBef>
              <a:spcAft>
                <a:spcPts val="0"/>
              </a:spcAft>
              <a:buSzPts val="1350"/>
              <a:buFont typeface="Arial"/>
              <a:buChar char="•"/>
            </a:pPr>
            <a:r>
              <a:rPr lang="en-US"/>
              <a:t>Cisco IOS Software images and configuration files can be stored on a central TFTP server to control the number of IOS images and the revisions to those IOS images, as well as the configuration files that must be maintained. </a:t>
            </a:r>
            <a:endParaRPr/>
          </a:p>
          <a:p>
            <a:pPr indent="-169863" lvl="0" marL="169863" rtl="0" algn="l">
              <a:lnSpc>
                <a:spcPct val="100000"/>
              </a:lnSpc>
              <a:spcBef>
                <a:spcPts val="0"/>
              </a:spcBef>
              <a:spcAft>
                <a:spcPts val="0"/>
              </a:spcAft>
              <a:buSzPts val="1350"/>
              <a:buFont typeface="Arial"/>
              <a:buChar char="•"/>
            </a:pPr>
            <a:r>
              <a:rPr lang="en-US"/>
              <a:t>Select a Cisco IOS image file that meets the requirements in terms of platform, features, and software. Download the file from cisco.com and transfer it to the TFTP server. </a:t>
            </a:r>
            <a:endParaRPr/>
          </a:p>
          <a:p>
            <a:pPr indent="-169863" lvl="0" marL="169863" rtl="0" algn="l">
              <a:lnSpc>
                <a:spcPct val="100000"/>
              </a:lnSpc>
              <a:spcBef>
                <a:spcPts val="0"/>
              </a:spcBef>
              <a:spcAft>
                <a:spcPts val="0"/>
              </a:spcAft>
              <a:buSzPts val="1350"/>
              <a:buFont typeface="Arial"/>
              <a:buChar char="•"/>
            </a:pPr>
            <a:r>
              <a:rPr lang="en-US"/>
              <a:t>To upgrade to the copied IOS image after that image is saved on the router's flash memory, configure the router to load the new image during bootup by using the boot system command.</a:t>
            </a:r>
            <a:endParaRPr/>
          </a:p>
        </p:txBody>
      </p:sp>
    </p:spTree>
  </p:cSld>
  <p:clrMapOvr>
    <a:masterClrMapping/>
  </p:clrMapOvr>
  <p:transition spd="slow">
    <p:wipe dir="l"/>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2" name="Shape 822"/>
        <p:cNvGrpSpPr/>
        <p:nvPr/>
      </p:nvGrpSpPr>
      <p:grpSpPr>
        <a:xfrm>
          <a:off x="0" y="0"/>
          <a:ext cx="0" cy="0"/>
          <a:chOff x="0" y="0"/>
          <a:chExt cx="0" cy="0"/>
        </a:xfrm>
      </p:grpSpPr>
      <p:sp>
        <p:nvSpPr>
          <p:cNvPr id="823" name="Google Shape;823;p80"/>
          <p:cNvSpPr txBox="1"/>
          <p:nvPr>
            <p:ph type="title"/>
          </p:nvPr>
        </p:nvSpPr>
        <p:spPr>
          <a:xfrm>
            <a:off x="0" y="67733"/>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10: Network Management</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824" name="Google Shape;824;p80"/>
          <p:cNvSpPr txBox="1"/>
          <p:nvPr>
            <p:ph idx="1" type="body"/>
          </p:nvPr>
        </p:nvSpPr>
        <p:spPr>
          <a:xfrm>
            <a:off x="144064" y="798944"/>
            <a:ext cx="3682871"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Char char="▪"/>
            </a:pPr>
            <a:r>
              <a:rPr lang="en-US"/>
              <a:t>Cisco Discovery Protocol (CDP)</a:t>
            </a:r>
            <a:endParaRPr/>
          </a:p>
          <a:p>
            <a:pPr indent="-169863" lvl="0" marL="169863" rtl="0" algn="l">
              <a:lnSpc>
                <a:spcPct val="100000"/>
              </a:lnSpc>
              <a:spcBef>
                <a:spcPts val="0"/>
              </a:spcBef>
              <a:spcAft>
                <a:spcPts val="0"/>
              </a:spcAft>
              <a:buSzPts val="1350"/>
              <a:buChar char="▪"/>
            </a:pPr>
            <a:r>
              <a:rPr b="1" lang="en-US"/>
              <a:t>cdp run</a:t>
            </a:r>
            <a:endParaRPr/>
          </a:p>
          <a:p>
            <a:pPr indent="-169863" lvl="0" marL="169863" rtl="0" algn="l">
              <a:lnSpc>
                <a:spcPct val="100000"/>
              </a:lnSpc>
              <a:spcBef>
                <a:spcPts val="0"/>
              </a:spcBef>
              <a:spcAft>
                <a:spcPts val="0"/>
              </a:spcAft>
              <a:buSzPts val="1350"/>
              <a:buChar char="▪"/>
            </a:pPr>
            <a:r>
              <a:rPr b="1" lang="en-US"/>
              <a:t>cdp enable</a:t>
            </a:r>
            <a:endParaRPr/>
          </a:p>
          <a:p>
            <a:pPr indent="-169863" lvl="0" marL="169863" rtl="0" algn="l">
              <a:lnSpc>
                <a:spcPct val="100000"/>
              </a:lnSpc>
              <a:spcBef>
                <a:spcPts val="0"/>
              </a:spcBef>
              <a:spcAft>
                <a:spcPts val="0"/>
              </a:spcAft>
              <a:buSzPts val="1350"/>
              <a:buChar char="▪"/>
            </a:pPr>
            <a:r>
              <a:rPr b="1" lang="en-US"/>
              <a:t>show cdp </a:t>
            </a:r>
            <a:endParaRPr/>
          </a:p>
          <a:p>
            <a:pPr indent="-169863" lvl="0" marL="169863" rtl="0" algn="l">
              <a:lnSpc>
                <a:spcPct val="100000"/>
              </a:lnSpc>
              <a:spcBef>
                <a:spcPts val="0"/>
              </a:spcBef>
              <a:spcAft>
                <a:spcPts val="0"/>
              </a:spcAft>
              <a:buSzPts val="1350"/>
              <a:buChar char="▪"/>
            </a:pPr>
            <a:r>
              <a:rPr b="1" lang="en-US"/>
              <a:t>show cdp interface</a:t>
            </a:r>
            <a:endParaRPr/>
          </a:p>
          <a:p>
            <a:pPr indent="-169863" lvl="0" marL="169863" rtl="0" algn="l">
              <a:lnSpc>
                <a:spcPct val="100000"/>
              </a:lnSpc>
              <a:spcBef>
                <a:spcPts val="0"/>
              </a:spcBef>
              <a:spcAft>
                <a:spcPts val="0"/>
              </a:spcAft>
              <a:buSzPts val="1350"/>
              <a:buChar char="▪"/>
            </a:pPr>
            <a:r>
              <a:rPr b="1" lang="en-US"/>
              <a:t>show cdp neighbors</a:t>
            </a:r>
            <a:endParaRPr/>
          </a:p>
          <a:p>
            <a:pPr indent="-169863" lvl="0" marL="169863" rtl="0" algn="l">
              <a:lnSpc>
                <a:spcPct val="100000"/>
              </a:lnSpc>
              <a:spcBef>
                <a:spcPts val="0"/>
              </a:spcBef>
              <a:spcAft>
                <a:spcPts val="0"/>
              </a:spcAft>
              <a:buSzPts val="1350"/>
              <a:buChar char="▪"/>
            </a:pPr>
            <a:r>
              <a:rPr b="1" lang="en-US"/>
              <a:t>show cdp neighbors detail</a:t>
            </a:r>
            <a:endParaRPr/>
          </a:p>
          <a:p>
            <a:pPr indent="-169863" lvl="0" marL="169863" rtl="0" algn="l">
              <a:lnSpc>
                <a:spcPct val="100000"/>
              </a:lnSpc>
              <a:spcBef>
                <a:spcPts val="0"/>
              </a:spcBef>
              <a:spcAft>
                <a:spcPts val="0"/>
              </a:spcAft>
              <a:buSzPts val="1350"/>
              <a:buChar char="▪"/>
            </a:pPr>
            <a:r>
              <a:rPr lang="en-US"/>
              <a:t>Link Layer Discovery Protocol (LLDP)</a:t>
            </a:r>
            <a:endParaRPr/>
          </a:p>
          <a:p>
            <a:pPr indent="-169863" lvl="0" marL="169863" rtl="0" algn="l">
              <a:lnSpc>
                <a:spcPct val="100000"/>
              </a:lnSpc>
              <a:spcBef>
                <a:spcPts val="0"/>
              </a:spcBef>
              <a:spcAft>
                <a:spcPts val="0"/>
              </a:spcAft>
              <a:buSzPts val="1350"/>
              <a:buChar char="▪"/>
            </a:pPr>
            <a:r>
              <a:rPr b="1" lang="en-US"/>
              <a:t>lldp run</a:t>
            </a:r>
            <a:endParaRPr/>
          </a:p>
          <a:p>
            <a:pPr indent="-169863" lvl="0" marL="169863" rtl="0" algn="l">
              <a:lnSpc>
                <a:spcPct val="100000"/>
              </a:lnSpc>
              <a:spcBef>
                <a:spcPts val="0"/>
              </a:spcBef>
              <a:spcAft>
                <a:spcPts val="0"/>
              </a:spcAft>
              <a:buSzPts val="1350"/>
              <a:buChar char="▪"/>
            </a:pPr>
            <a:r>
              <a:rPr b="1" lang="en-US"/>
              <a:t>lldp enable</a:t>
            </a:r>
            <a:endParaRPr/>
          </a:p>
          <a:p>
            <a:pPr indent="-169863" lvl="0" marL="169863" rtl="0" algn="l">
              <a:lnSpc>
                <a:spcPct val="100000"/>
              </a:lnSpc>
              <a:spcBef>
                <a:spcPts val="0"/>
              </a:spcBef>
              <a:spcAft>
                <a:spcPts val="0"/>
              </a:spcAft>
              <a:buSzPts val="1350"/>
              <a:buChar char="▪"/>
            </a:pPr>
            <a:r>
              <a:rPr b="1" lang="en-US"/>
              <a:t>lldp transmit</a:t>
            </a:r>
            <a:endParaRPr/>
          </a:p>
          <a:p>
            <a:pPr indent="-169863" lvl="0" marL="169863" rtl="0" algn="l">
              <a:lnSpc>
                <a:spcPct val="100000"/>
              </a:lnSpc>
              <a:spcBef>
                <a:spcPts val="0"/>
              </a:spcBef>
              <a:spcAft>
                <a:spcPts val="0"/>
              </a:spcAft>
              <a:buSzPts val="1350"/>
              <a:buChar char="▪"/>
            </a:pPr>
            <a:r>
              <a:rPr b="1" lang="en-US"/>
              <a:t>lldp receive</a:t>
            </a:r>
            <a:endParaRPr/>
          </a:p>
          <a:p>
            <a:pPr indent="-169863" lvl="0" marL="169863" rtl="0" algn="l">
              <a:lnSpc>
                <a:spcPct val="100000"/>
              </a:lnSpc>
              <a:spcBef>
                <a:spcPts val="0"/>
              </a:spcBef>
              <a:spcAft>
                <a:spcPts val="0"/>
              </a:spcAft>
              <a:buSzPts val="1350"/>
              <a:buChar char="▪"/>
            </a:pPr>
            <a:r>
              <a:rPr b="1" lang="en-US"/>
              <a:t>show lldp</a:t>
            </a:r>
            <a:endParaRPr b="1"/>
          </a:p>
          <a:p>
            <a:pPr indent="-169863" lvl="0" marL="169863" rtl="0" algn="l">
              <a:lnSpc>
                <a:spcPct val="100000"/>
              </a:lnSpc>
              <a:spcBef>
                <a:spcPts val="0"/>
              </a:spcBef>
              <a:spcAft>
                <a:spcPts val="0"/>
              </a:spcAft>
              <a:buSzPts val="1350"/>
              <a:buChar char="▪"/>
            </a:pPr>
            <a:r>
              <a:rPr b="1" lang="en-US"/>
              <a:t>show lldp neighbors</a:t>
            </a:r>
            <a:endParaRPr/>
          </a:p>
          <a:p>
            <a:pPr indent="-169863" lvl="0" marL="169863" rtl="0" algn="l">
              <a:lnSpc>
                <a:spcPct val="100000"/>
              </a:lnSpc>
              <a:spcBef>
                <a:spcPts val="0"/>
              </a:spcBef>
              <a:spcAft>
                <a:spcPts val="0"/>
              </a:spcAft>
              <a:buSzPts val="1350"/>
              <a:buChar char="▪"/>
            </a:pPr>
            <a:r>
              <a:rPr b="1" lang="en-US"/>
              <a:t>show lldp neighbors detail</a:t>
            </a:r>
            <a:endParaRPr/>
          </a:p>
          <a:p>
            <a:pPr indent="-169863" lvl="0" marL="169863" rtl="0" algn="l">
              <a:lnSpc>
                <a:spcPct val="100000"/>
              </a:lnSpc>
              <a:spcBef>
                <a:spcPts val="0"/>
              </a:spcBef>
              <a:spcAft>
                <a:spcPts val="0"/>
              </a:spcAft>
              <a:buSzPts val="1350"/>
              <a:buChar char="▪"/>
            </a:pPr>
            <a:r>
              <a:rPr b="1" lang="en-US"/>
              <a:t>clock set hh:mm:ss mm dd yyyy</a:t>
            </a:r>
            <a:endParaRPr b="1"/>
          </a:p>
          <a:p>
            <a:pPr indent="-84138" lvl="0" marL="169863" rtl="0" algn="l">
              <a:lnSpc>
                <a:spcPct val="100000"/>
              </a:lnSpc>
              <a:spcBef>
                <a:spcPts val="600"/>
              </a:spcBef>
              <a:spcAft>
                <a:spcPts val="0"/>
              </a:spcAft>
              <a:buSzPts val="1350"/>
              <a:buFont typeface="Noto Sans Symbols"/>
              <a:buNone/>
            </a:pPr>
            <a:r>
              <a:t/>
            </a:r>
            <a:endParaRPr/>
          </a:p>
        </p:txBody>
      </p:sp>
      <p:sp>
        <p:nvSpPr>
          <p:cNvPr id="825" name="Google Shape;825;p80"/>
          <p:cNvSpPr txBox="1"/>
          <p:nvPr/>
        </p:nvSpPr>
        <p:spPr>
          <a:xfrm>
            <a:off x="3859621" y="798943"/>
            <a:ext cx="4508202" cy="4155319"/>
          </a:xfrm>
          <a:prstGeom prst="rect">
            <a:avLst/>
          </a:prstGeom>
          <a:noFill/>
          <a:ln>
            <a:noFill/>
          </a:ln>
        </p:spPr>
        <p:txBody>
          <a:bodyPr anchorCtr="0" anchor="t" bIns="45700" lIns="91425" spcFirstLastPara="1" rIns="182875" wrap="square" tIns="45700">
            <a:noAutofit/>
          </a:bodyPr>
          <a:lstStyle/>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Network Time Protocol (NTP)</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Stratum</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show clock</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show clock detail</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ntp server ip-address</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show ntp associations</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show ntp status</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Simple Network Management Protocol (SNMP)</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Network Management System (NMS)</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SNMP Manager</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SNMP Agent</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Management Information Base (MIB)</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Object Identifier (OID)</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get-request</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get-next-request</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get-bulk-request</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get-response</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set-request</a:t>
            </a:r>
            <a:endParaRPr/>
          </a:p>
        </p:txBody>
      </p:sp>
    </p:spTree>
  </p:cSld>
  <p:clrMapOvr>
    <a:masterClrMapping/>
  </p:clrMapOvr>
  <p:transition spd="slow">
    <p:wipe dir="l"/>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0" name="Shape 830"/>
        <p:cNvGrpSpPr/>
        <p:nvPr/>
      </p:nvGrpSpPr>
      <p:grpSpPr>
        <a:xfrm>
          <a:off x="0" y="0"/>
          <a:ext cx="0" cy="0"/>
          <a:chOff x="0" y="0"/>
          <a:chExt cx="0" cy="0"/>
        </a:xfrm>
      </p:grpSpPr>
      <p:sp>
        <p:nvSpPr>
          <p:cNvPr id="831" name="Google Shape;831;p81"/>
          <p:cNvSpPr txBox="1"/>
          <p:nvPr>
            <p:ph type="title"/>
          </p:nvPr>
        </p:nvSpPr>
        <p:spPr>
          <a:xfrm>
            <a:off x="0" y="67733"/>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10: Network Management</a:t>
            </a:r>
            <a:br>
              <a:rPr lang="en-US">
                <a:latin typeface="Arial"/>
                <a:ea typeface="Arial"/>
                <a:cs typeface="Arial"/>
                <a:sym typeface="Arial"/>
              </a:rPr>
            </a:br>
            <a:r>
              <a:rPr lang="en-US">
                <a:latin typeface="Arial"/>
                <a:ea typeface="Arial"/>
                <a:cs typeface="Arial"/>
                <a:sym typeface="Arial"/>
              </a:rPr>
              <a:t>New Terms and Commands (Cont.)</a:t>
            </a:r>
            <a:endParaRPr/>
          </a:p>
        </p:txBody>
      </p:sp>
      <p:sp>
        <p:nvSpPr>
          <p:cNvPr id="832" name="Google Shape;832;p81"/>
          <p:cNvSpPr txBox="1"/>
          <p:nvPr>
            <p:ph idx="1" type="body"/>
          </p:nvPr>
        </p:nvSpPr>
        <p:spPr>
          <a:xfrm>
            <a:off x="144064" y="798944"/>
            <a:ext cx="3682871"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Char char="▪"/>
            </a:pPr>
            <a:r>
              <a:rPr lang="en-US"/>
              <a:t>MIB Variable</a:t>
            </a:r>
            <a:endParaRPr/>
          </a:p>
          <a:p>
            <a:pPr indent="-169863" lvl="0" marL="169863" rtl="0" algn="l">
              <a:lnSpc>
                <a:spcPct val="100000"/>
              </a:lnSpc>
              <a:spcBef>
                <a:spcPts val="0"/>
              </a:spcBef>
              <a:spcAft>
                <a:spcPts val="0"/>
              </a:spcAft>
              <a:buSzPts val="1350"/>
              <a:buChar char="▪"/>
            </a:pPr>
            <a:r>
              <a:rPr lang="en-US"/>
              <a:t>SNMP Agent Trap</a:t>
            </a:r>
            <a:endParaRPr/>
          </a:p>
          <a:p>
            <a:pPr indent="-169863" lvl="0" marL="169863" rtl="0" algn="l">
              <a:lnSpc>
                <a:spcPct val="100000"/>
              </a:lnSpc>
              <a:spcBef>
                <a:spcPts val="0"/>
              </a:spcBef>
              <a:spcAft>
                <a:spcPts val="0"/>
              </a:spcAft>
              <a:buSzPts val="1350"/>
              <a:buChar char="▪"/>
            </a:pPr>
            <a:r>
              <a:rPr lang="en-US"/>
              <a:t>SNMPv1</a:t>
            </a:r>
            <a:endParaRPr/>
          </a:p>
          <a:p>
            <a:pPr indent="-169863" lvl="0" marL="169863" rtl="0" algn="l">
              <a:lnSpc>
                <a:spcPct val="100000"/>
              </a:lnSpc>
              <a:spcBef>
                <a:spcPts val="0"/>
              </a:spcBef>
              <a:spcAft>
                <a:spcPts val="0"/>
              </a:spcAft>
              <a:buSzPts val="1350"/>
              <a:buChar char="▪"/>
            </a:pPr>
            <a:r>
              <a:rPr lang="en-US"/>
              <a:t>SNMPv2c</a:t>
            </a:r>
            <a:endParaRPr/>
          </a:p>
          <a:p>
            <a:pPr indent="-169863" lvl="0" marL="169863" rtl="0" algn="l">
              <a:lnSpc>
                <a:spcPct val="100000"/>
              </a:lnSpc>
              <a:spcBef>
                <a:spcPts val="0"/>
              </a:spcBef>
              <a:spcAft>
                <a:spcPts val="0"/>
              </a:spcAft>
              <a:buSzPts val="1350"/>
              <a:buChar char="▪"/>
            </a:pPr>
            <a:r>
              <a:rPr lang="en-US"/>
              <a:t>SNMPv3</a:t>
            </a:r>
            <a:endParaRPr/>
          </a:p>
          <a:p>
            <a:pPr indent="-169863" lvl="0" marL="169863" rtl="0" algn="l">
              <a:lnSpc>
                <a:spcPct val="100000"/>
              </a:lnSpc>
              <a:spcBef>
                <a:spcPts val="0"/>
              </a:spcBef>
              <a:spcAft>
                <a:spcPts val="0"/>
              </a:spcAft>
              <a:buSzPts val="1350"/>
              <a:buChar char="▪"/>
            </a:pPr>
            <a:r>
              <a:rPr lang="en-US"/>
              <a:t>noAuthNoPriv</a:t>
            </a:r>
            <a:endParaRPr/>
          </a:p>
          <a:p>
            <a:pPr indent="-169863" lvl="0" marL="169863" rtl="0" algn="l">
              <a:lnSpc>
                <a:spcPct val="100000"/>
              </a:lnSpc>
              <a:spcBef>
                <a:spcPts val="0"/>
              </a:spcBef>
              <a:spcAft>
                <a:spcPts val="0"/>
              </a:spcAft>
              <a:buSzPts val="1350"/>
              <a:buChar char="▪"/>
            </a:pPr>
            <a:r>
              <a:rPr lang="en-US"/>
              <a:t>authNoPriv</a:t>
            </a:r>
            <a:endParaRPr/>
          </a:p>
          <a:p>
            <a:pPr indent="-169863" lvl="0" marL="169863" rtl="0" algn="l">
              <a:lnSpc>
                <a:spcPct val="100000"/>
              </a:lnSpc>
              <a:spcBef>
                <a:spcPts val="0"/>
              </a:spcBef>
              <a:spcAft>
                <a:spcPts val="0"/>
              </a:spcAft>
              <a:buSzPts val="1350"/>
              <a:buChar char="▪"/>
            </a:pPr>
            <a:r>
              <a:rPr lang="en-US"/>
              <a:t>authPriv</a:t>
            </a:r>
            <a:endParaRPr/>
          </a:p>
          <a:p>
            <a:pPr indent="-169863" lvl="0" marL="169863" rtl="0" algn="l">
              <a:lnSpc>
                <a:spcPct val="100000"/>
              </a:lnSpc>
              <a:spcBef>
                <a:spcPts val="0"/>
              </a:spcBef>
              <a:spcAft>
                <a:spcPts val="0"/>
              </a:spcAft>
              <a:buSzPts val="1350"/>
              <a:buChar char="▪"/>
            </a:pPr>
            <a:r>
              <a:rPr lang="en-US"/>
              <a:t>Community Strings</a:t>
            </a:r>
            <a:endParaRPr/>
          </a:p>
          <a:p>
            <a:pPr indent="-169863" lvl="0" marL="169863" rtl="0" algn="l">
              <a:lnSpc>
                <a:spcPct val="100000"/>
              </a:lnSpc>
              <a:spcBef>
                <a:spcPts val="0"/>
              </a:spcBef>
              <a:spcAft>
                <a:spcPts val="0"/>
              </a:spcAft>
              <a:buSzPts val="1350"/>
              <a:buChar char="▪"/>
            </a:pPr>
            <a:r>
              <a:rPr lang="en-US"/>
              <a:t>snmpget</a:t>
            </a:r>
            <a:endParaRPr/>
          </a:p>
          <a:p>
            <a:pPr indent="-169863" lvl="0" marL="169863" rtl="0" algn="l">
              <a:lnSpc>
                <a:spcPct val="100000"/>
              </a:lnSpc>
              <a:spcBef>
                <a:spcPts val="0"/>
              </a:spcBef>
              <a:spcAft>
                <a:spcPts val="0"/>
              </a:spcAft>
              <a:buSzPts val="1350"/>
              <a:buChar char="▪"/>
            </a:pPr>
            <a:r>
              <a:rPr lang="en-US"/>
              <a:t>Cisco SNMP Object Navigator</a:t>
            </a:r>
            <a:endParaRPr/>
          </a:p>
          <a:p>
            <a:pPr indent="-169863" lvl="0" marL="169863" rtl="0" algn="l">
              <a:lnSpc>
                <a:spcPct val="100000"/>
              </a:lnSpc>
              <a:spcBef>
                <a:spcPts val="0"/>
              </a:spcBef>
              <a:spcAft>
                <a:spcPts val="0"/>
              </a:spcAft>
              <a:buSzPts val="1350"/>
              <a:buChar char="▪"/>
            </a:pPr>
            <a:r>
              <a:rPr lang="en-US"/>
              <a:t>Syslog</a:t>
            </a:r>
            <a:endParaRPr/>
          </a:p>
          <a:p>
            <a:pPr indent="-169863" lvl="0" marL="169863" rtl="0" algn="l">
              <a:lnSpc>
                <a:spcPct val="100000"/>
              </a:lnSpc>
              <a:spcBef>
                <a:spcPts val="0"/>
              </a:spcBef>
              <a:spcAft>
                <a:spcPts val="0"/>
              </a:spcAft>
              <a:buSzPts val="1350"/>
              <a:buChar char="▪"/>
            </a:pPr>
            <a:r>
              <a:rPr lang="en-US"/>
              <a:t>Syslog Facility</a:t>
            </a:r>
            <a:endParaRPr/>
          </a:p>
          <a:p>
            <a:pPr indent="-169863" lvl="0" marL="169863" rtl="0" algn="l">
              <a:lnSpc>
                <a:spcPct val="100000"/>
              </a:lnSpc>
              <a:spcBef>
                <a:spcPts val="0"/>
              </a:spcBef>
              <a:spcAft>
                <a:spcPts val="0"/>
              </a:spcAft>
              <a:buSzPts val="1350"/>
              <a:buChar char="▪"/>
            </a:pPr>
            <a:r>
              <a:rPr b="1" lang="en-US"/>
              <a:t>service timestamps log datetime</a:t>
            </a:r>
            <a:endParaRPr/>
          </a:p>
          <a:p>
            <a:pPr indent="-169863" lvl="0" marL="169863" rtl="0" algn="l">
              <a:lnSpc>
                <a:spcPct val="100000"/>
              </a:lnSpc>
              <a:spcBef>
                <a:spcPts val="0"/>
              </a:spcBef>
              <a:spcAft>
                <a:spcPts val="0"/>
              </a:spcAft>
              <a:buSzPts val="1350"/>
              <a:buChar char="▪"/>
            </a:pPr>
            <a:r>
              <a:rPr lang="en-US"/>
              <a:t>Cisco Integrated File System (IFS)</a:t>
            </a:r>
            <a:endParaRPr/>
          </a:p>
          <a:p>
            <a:pPr indent="-169863" lvl="0" marL="169863" rtl="0" algn="l">
              <a:lnSpc>
                <a:spcPct val="100000"/>
              </a:lnSpc>
              <a:spcBef>
                <a:spcPts val="0"/>
              </a:spcBef>
              <a:spcAft>
                <a:spcPts val="0"/>
              </a:spcAft>
              <a:buSzPts val="1350"/>
              <a:buChar char="▪"/>
            </a:pPr>
            <a:r>
              <a:rPr lang="en-US"/>
              <a:t>show file systems</a:t>
            </a:r>
            <a:endParaRPr/>
          </a:p>
          <a:p>
            <a:pPr indent="-84138" lvl="0" marL="169863" rtl="0" algn="l">
              <a:lnSpc>
                <a:spcPct val="100000"/>
              </a:lnSpc>
              <a:spcBef>
                <a:spcPts val="0"/>
              </a:spcBef>
              <a:spcAft>
                <a:spcPts val="0"/>
              </a:spcAft>
              <a:buSzPts val="1350"/>
              <a:buNone/>
            </a:pPr>
            <a:r>
              <a:t/>
            </a:r>
            <a:endParaRPr/>
          </a:p>
          <a:p>
            <a:pPr indent="-84138" lvl="0" marL="169863" rtl="0" algn="l">
              <a:lnSpc>
                <a:spcPct val="100000"/>
              </a:lnSpc>
              <a:spcBef>
                <a:spcPts val="600"/>
              </a:spcBef>
              <a:spcAft>
                <a:spcPts val="0"/>
              </a:spcAft>
              <a:buSzPts val="1350"/>
              <a:buFont typeface="Noto Sans Symbols"/>
              <a:buNone/>
            </a:pPr>
            <a:r>
              <a:t/>
            </a:r>
            <a:endParaRPr/>
          </a:p>
        </p:txBody>
      </p:sp>
      <p:sp>
        <p:nvSpPr>
          <p:cNvPr id="833" name="Google Shape;833;p81"/>
          <p:cNvSpPr txBox="1"/>
          <p:nvPr/>
        </p:nvSpPr>
        <p:spPr>
          <a:xfrm>
            <a:off x="3859621" y="798943"/>
            <a:ext cx="4508202" cy="4155319"/>
          </a:xfrm>
          <a:prstGeom prst="rect">
            <a:avLst/>
          </a:prstGeom>
          <a:noFill/>
          <a:ln>
            <a:noFill/>
          </a:ln>
        </p:spPr>
        <p:txBody>
          <a:bodyPr anchorCtr="0" anchor="t" bIns="45700" lIns="91425" spcFirstLastPara="1" rIns="182875" wrap="square" tIns="45700">
            <a:noAutofit/>
          </a:bodyPr>
          <a:lstStyle/>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bootflash</a:t>
            </a:r>
            <a:endParaRPr sz="1500">
              <a:solidFill>
                <a:srgbClr val="000000"/>
              </a:solidFill>
              <a:latin typeface="Arial"/>
              <a:ea typeface="Arial"/>
              <a:cs typeface="Arial"/>
              <a:sym typeface="Arial"/>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pwd</a:t>
            </a:r>
            <a:endParaRPr b="1" sz="1500">
              <a:solidFill>
                <a:srgbClr val="000000"/>
              </a:solidFill>
              <a:latin typeface="Arial"/>
              <a:ea typeface="Arial"/>
              <a:cs typeface="Arial"/>
              <a:sym typeface="Arial"/>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copy running-config tftp</a:t>
            </a:r>
            <a:endParaRPr b="1" sz="1500">
              <a:solidFill>
                <a:srgbClr val="000000"/>
              </a:solidFill>
              <a:latin typeface="Arial"/>
              <a:ea typeface="Arial"/>
              <a:cs typeface="Arial"/>
              <a:sym typeface="Arial"/>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copy tftp running-config</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copy running-config usbflash0:</a:t>
            </a:r>
            <a:endParaRPr/>
          </a:p>
          <a:p>
            <a:pPr indent="-169863" lvl="0" marL="169863" marR="0" rtl="0" algn="l">
              <a:lnSpc>
                <a:spcPct val="100000"/>
              </a:lnSpc>
              <a:spcBef>
                <a:spcPts val="0"/>
              </a:spcBef>
              <a:spcAft>
                <a:spcPts val="0"/>
              </a:spcAft>
              <a:buClr>
                <a:schemeClr val="dk2"/>
              </a:buClr>
              <a:buSzPts val="1350"/>
              <a:buFont typeface="Noto Sans Symbols"/>
              <a:buChar char="▪"/>
            </a:pPr>
            <a:r>
              <a:rPr lang="en-US" sz="1500">
                <a:solidFill>
                  <a:srgbClr val="000000"/>
                </a:solidFill>
                <a:latin typeface="Arial"/>
                <a:ea typeface="Arial"/>
                <a:cs typeface="Arial"/>
                <a:sym typeface="Arial"/>
              </a:rPr>
              <a:t>ROMMON</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confreg</a:t>
            </a:r>
            <a:endParaRPr b="1" sz="1500">
              <a:solidFill>
                <a:srgbClr val="000000"/>
              </a:solidFill>
              <a:latin typeface="Arial"/>
              <a:ea typeface="Arial"/>
              <a:cs typeface="Arial"/>
              <a:sym typeface="Arial"/>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config-register</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copy tftp: flash:</a:t>
            </a:r>
            <a:endParaRPr/>
          </a:p>
          <a:p>
            <a:pPr indent="-169863" lvl="0" marL="169863" marR="0" rtl="0" algn="l">
              <a:lnSpc>
                <a:spcPct val="100000"/>
              </a:lnSpc>
              <a:spcBef>
                <a:spcPts val="0"/>
              </a:spcBef>
              <a:spcAft>
                <a:spcPts val="0"/>
              </a:spcAft>
              <a:buClr>
                <a:schemeClr val="dk2"/>
              </a:buClr>
              <a:buSzPts val="1350"/>
              <a:buFont typeface="Noto Sans Symbols"/>
              <a:buChar char="▪"/>
            </a:pPr>
            <a:r>
              <a:rPr b="1" lang="en-US" sz="1500">
                <a:solidFill>
                  <a:srgbClr val="000000"/>
                </a:solidFill>
                <a:latin typeface="Arial"/>
                <a:ea typeface="Arial"/>
                <a:cs typeface="Arial"/>
                <a:sym typeface="Arial"/>
              </a:rPr>
              <a:t>boot system</a:t>
            </a:r>
            <a:endParaRPr/>
          </a:p>
          <a:p>
            <a:pPr indent="-84138" lvl="0" marL="169863" marR="0" rtl="0" algn="l">
              <a:lnSpc>
                <a:spcPct val="100000"/>
              </a:lnSpc>
              <a:spcBef>
                <a:spcPts val="0"/>
              </a:spcBef>
              <a:spcAft>
                <a:spcPts val="0"/>
              </a:spcAft>
              <a:buClr>
                <a:schemeClr val="dk2"/>
              </a:buClr>
              <a:buSzPts val="1350"/>
              <a:buFont typeface="Noto Sans Symbols"/>
              <a:buNone/>
            </a:pPr>
            <a:r>
              <a:t/>
            </a:r>
            <a:endParaRPr sz="1500">
              <a:solidFill>
                <a:srgbClr val="000000"/>
              </a:solidFill>
              <a:latin typeface="Arial"/>
              <a:ea typeface="Arial"/>
              <a:cs typeface="Arial"/>
              <a:sym typeface="Arial"/>
            </a:endParaRPr>
          </a:p>
        </p:txBody>
      </p:sp>
    </p:spTree>
  </p:cSld>
  <p:clrMapOvr>
    <a:masterClrMapping/>
  </p:clrMapOvr>
  <p:transition spd="slow">
    <p:wipe dir="l"/>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