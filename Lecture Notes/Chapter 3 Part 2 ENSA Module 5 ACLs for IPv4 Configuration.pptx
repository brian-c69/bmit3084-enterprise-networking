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59" roundtripDataSignature="AMtx7mhJS8qTXBQ+WK/EYaDvvdh3ASaN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5070843-E879-459A-8258-64A6CC751895}">
  <a:tblStyle styleId="{25070843-E879-459A-8258-64A6CC751895}"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AF813924-6A0A-4DFE-9B5E-82DAB826C5EE}"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chemeClr val="accent3"/>
          </a:solidFill>
        </a:fill>
      </a:tcStyle>
    </a:wholeTbl>
    <a:band1H>
      <a:tcTxStyle/>
      <a:tcStyle>
        <a:fill>
          <a:solidFill>
            <a:schemeClr val="accent3"/>
          </a:solidFill>
        </a:fill>
      </a:tcStyle>
    </a:band1H>
    <a:band2H>
      <a:tcTxStyle/>
    </a:band2H>
    <a:band1V>
      <a:tcTxStyle/>
      <a:tcStyle>
        <a:fill>
          <a:solidFill>
            <a:schemeClr val="accent3"/>
          </a:solidFill>
        </a:fill>
      </a:tcStyle>
    </a:band1V>
    <a:band2V>
      <a:tcTxStyle/>
    </a:band2V>
    <a:lastCol>
      <a:tcTxStyle b="on" i="off">
        <a:font>
          <a:latin typeface="Arial"/>
          <a:ea typeface="Arial"/>
          <a:cs typeface="Arial"/>
        </a:font>
        <a:schemeClr val="lt1"/>
      </a:tcTxStyle>
      <a:tcStyle>
        <a:fill>
          <a:solidFill>
            <a:schemeClr val="accent3"/>
          </a:solidFill>
        </a:fill>
      </a:tcStyle>
    </a:lastCol>
    <a:firstCol>
      <a:tcTxStyle b="on" i="off">
        <a:font>
          <a:latin typeface="Arial"/>
          <a:ea typeface="Arial"/>
          <a:cs typeface="Arial"/>
        </a:font>
        <a:schemeClr val="lt1"/>
      </a:tcTxStyle>
      <a:tcStyle>
        <a:fill>
          <a:solidFill>
            <a:schemeClr val="accent3"/>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a:t>Cisco Networking Academy Program</a:t>
            </a:r>
            <a:endParaRPr/>
          </a:p>
          <a:p>
            <a:pPr indent="0" lvl="0" marL="0" rtl="0" algn="l">
              <a:spcBef>
                <a:spcPts val="0"/>
              </a:spcBef>
              <a:spcAft>
                <a:spcPts val="0"/>
              </a:spcAft>
              <a:buNone/>
            </a:pPr>
            <a:r>
              <a:rPr lang="en-US">
                <a:solidFill>
                  <a:srgbClr val="B6DDE7"/>
                </a:solidFill>
              </a:rPr>
              <a:t>Enterprise Networking, Security, and Automation v7.0 (ENSA) </a:t>
            </a:r>
            <a:endParaRPr/>
          </a:p>
          <a:p>
            <a:pPr indent="0" lvl="0" marL="0" rtl="0" algn="l">
              <a:spcBef>
                <a:spcPts val="0"/>
              </a:spcBef>
              <a:spcAft>
                <a:spcPts val="0"/>
              </a:spcAft>
              <a:buClr>
                <a:schemeClr val="dk1"/>
              </a:buClr>
              <a:buSzPts val="1200"/>
              <a:buFont typeface="Calibri"/>
              <a:buNone/>
            </a:pPr>
            <a:r>
              <a:rPr b="0" lang="en-US"/>
              <a:t>Module 5: ACLs for IPv4 Configuration</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spcBef>
                <a:spcPts val="0"/>
              </a:spcBef>
              <a:spcAft>
                <a:spcPts val="0"/>
              </a:spcAft>
              <a:buNone/>
            </a:pPr>
            <a:fld id="{00000000-1234-1234-1234-123412341234}" type="slidenum">
              <a:rPr b="0" lang="en-US" sz="800">
                <a:solidFill>
                  <a:srgbClr val="000000"/>
                </a:solidFill>
                <a:latin typeface="Arial"/>
                <a:ea typeface="Arial"/>
                <a:cs typeface="Arial"/>
                <a:sym typeface="Arial"/>
              </a:rPr>
              <a:t>‹#›</a:t>
            </a:fld>
            <a:endParaRPr b="0" sz="800">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5 – ACLs for IPv4 Configuration</a:t>
            </a:r>
            <a:endParaRPr/>
          </a:p>
          <a:p>
            <a:pPr indent="0" lvl="0" marL="0" rtl="0" algn="l">
              <a:spcBef>
                <a:spcPts val="0"/>
              </a:spcBef>
              <a:spcAft>
                <a:spcPts val="0"/>
              </a:spcAft>
              <a:buClr>
                <a:schemeClr val="dk1"/>
              </a:buClr>
              <a:buSzPts val="1200"/>
              <a:buFont typeface="Calibri"/>
              <a:buNone/>
            </a:pPr>
            <a:r>
              <a:rPr lang="en-US"/>
              <a:t>5.0.2 -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5.1.1 – Create an ACL</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5.1.2 – Numbered Standard IPv4 ACL Syntax</a:t>
            </a:r>
            <a:endParaRPr/>
          </a:p>
        </p:txBody>
      </p:sp>
      <p:sp>
        <p:nvSpPr>
          <p:cNvPr id="264" name="Google Shape;264;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5.1.3 – Named Standard IPv4 ACL Syntax</a:t>
            </a:r>
            <a:endParaRPr/>
          </a:p>
        </p:txBody>
      </p:sp>
      <p:sp>
        <p:nvSpPr>
          <p:cNvPr id="274" name="Google Shape;274;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5.1.4 – Apply a Standard IPv4 ACL</a:t>
            </a:r>
            <a:endParaRPr/>
          </a:p>
        </p:txBody>
      </p:sp>
      <p:sp>
        <p:nvSpPr>
          <p:cNvPr id="283" name="Google Shape;28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5.1.5 – Numbered Standard IPv4 ACL Example</a:t>
            </a:r>
            <a:endParaRPr/>
          </a:p>
        </p:txBody>
      </p:sp>
      <p:sp>
        <p:nvSpPr>
          <p:cNvPr id="291" name="Google Shape;291;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5.1.5 – Numbered Standard IPv4 ACL Example (Cont.)</a:t>
            </a:r>
            <a:endParaRPr/>
          </a:p>
        </p:txBody>
      </p:sp>
      <p:sp>
        <p:nvSpPr>
          <p:cNvPr id="301" name="Google Shape;301;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5.1.6 – Named Standard IPv4 ACL Example</a:t>
            </a:r>
            <a:endParaRPr/>
          </a:p>
          <a:p>
            <a:pPr indent="0" lvl="0" marL="0" rtl="0" algn="l">
              <a:spcBef>
                <a:spcPts val="0"/>
              </a:spcBef>
              <a:spcAft>
                <a:spcPts val="0"/>
              </a:spcAft>
              <a:buNone/>
            </a:pPr>
            <a:r>
              <a:t/>
            </a:r>
            <a:endParaRPr/>
          </a:p>
        </p:txBody>
      </p:sp>
      <p:sp>
        <p:nvSpPr>
          <p:cNvPr id="310" name="Google Shape;310;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9" name="Google Shape;31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5.1.6 – Named Standard IPv4 ACL Example (Cont.)</a:t>
            </a:r>
            <a:endParaRPr/>
          </a:p>
          <a:p>
            <a:pPr indent="0" lvl="0" marL="0" rtl="0" algn="l">
              <a:spcBef>
                <a:spcPts val="0"/>
              </a:spcBef>
              <a:spcAft>
                <a:spcPts val="0"/>
              </a:spcAft>
              <a:buNone/>
            </a:pPr>
            <a:r>
              <a:rPr lang="en-US"/>
              <a:t>5.1.7 – Syntax Checker – Configure Standard IPv4 ACLs</a:t>
            </a:r>
            <a:endParaRPr/>
          </a:p>
        </p:txBody>
      </p:sp>
      <p:sp>
        <p:nvSpPr>
          <p:cNvPr id="320" name="Google Shape;320;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5.1.8 – Packet Tracer – Configure Numbered Standard IPv4 ACLs</a:t>
            </a:r>
            <a:endParaRPr/>
          </a:p>
        </p:txBody>
      </p:sp>
      <p:sp>
        <p:nvSpPr>
          <p:cNvPr id="329" name="Google Shape;329;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5.1 – Configure Standard IPv4 ACLs</a:t>
            </a:r>
            <a:endParaRPr/>
          </a:p>
          <a:p>
            <a:pPr indent="0" lvl="0" marL="0" rtl="0" algn="l">
              <a:spcBef>
                <a:spcPts val="0"/>
              </a:spcBef>
              <a:spcAft>
                <a:spcPts val="0"/>
              </a:spcAft>
              <a:buNone/>
            </a:pPr>
            <a:r>
              <a:rPr lang="en-US"/>
              <a:t>5.1.8 – Packet Tracer – Configure Numbered Standard IPv4 ACLs</a:t>
            </a:r>
            <a:endParaRPr/>
          </a:p>
        </p:txBody>
      </p:sp>
      <p:sp>
        <p:nvSpPr>
          <p:cNvPr id="336" name="Google Shape;336;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t/>
            </a:r>
            <a:endParaRPr/>
          </a:p>
        </p:txBody>
      </p:sp>
      <p:sp>
        <p:nvSpPr>
          <p:cNvPr id="343" name="Google Shape;343;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5.2.1 – Two Methods to Modify and ACL</a:t>
            </a:r>
            <a:endParaRPr/>
          </a:p>
        </p:txBody>
      </p:sp>
      <p:sp>
        <p:nvSpPr>
          <p:cNvPr id="349" name="Google Shape;349;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5.2.2 – Text Editor Method</a:t>
            </a:r>
            <a:endParaRPr/>
          </a:p>
        </p:txBody>
      </p:sp>
      <p:sp>
        <p:nvSpPr>
          <p:cNvPr id="356" name="Google Shape;356;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5.2.3 – Sequence Number Method</a:t>
            </a:r>
            <a:endParaRPr/>
          </a:p>
        </p:txBody>
      </p:sp>
      <p:sp>
        <p:nvSpPr>
          <p:cNvPr id="365" name="Google Shape;365;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5.2.4 – Modify a Named ACL Example</a:t>
            </a:r>
            <a:endParaRPr/>
          </a:p>
        </p:txBody>
      </p:sp>
      <p:sp>
        <p:nvSpPr>
          <p:cNvPr id="374" name="Google Shape;374;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rtl="0" algn="l">
              <a:spcBef>
                <a:spcPts val="0"/>
              </a:spcBef>
              <a:spcAft>
                <a:spcPts val="0"/>
              </a:spcAft>
              <a:buNone/>
            </a:pPr>
            <a:r>
              <a:rPr lang="en-US"/>
              <a:t>5.2.5 – ACL Statistics</a:t>
            </a:r>
            <a:endParaRPr/>
          </a:p>
          <a:p>
            <a:pPr indent="0" lvl="0" marL="0" rtl="0" algn="l">
              <a:spcBef>
                <a:spcPts val="0"/>
              </a:spcBef>
              <a:spcAft>
                <a:spcPts val="0"/>
              </a:spcAft>
              <a:buNone/>
            </a:pPr>
            <a:r>
              <a:rPr lang="en-US"/>
              <a:t>5.2.6 – Syntax Checker – Modify IPv4 ACLs</a:t>
            </a:r>
            <a:endParaRPr/>
          </a:p>
          <a:p>
            <a:pPr indent="0" lvl="0" marL="0" rtl="0" algn="l">
              <a:spcBef>
                <a:spcPts val="0"/>
              </a:spcBef>
              <a:spcAft>
                <a:spcPts val="0"/>
              </a:spcAft>
              <a:buNone/>
            </a:pPr>
            <a:r>
              <a:t/>
            </a:r>
            <a:endParaRPr/>
          </a:p>
        </p:txBody>
      </p:sp>
      <p:sp>
        <p:nvSpPr>
          <p:cNvPr id="383" name="Google Shape;383;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5.2 – Modify IPv4 ACLs</a:t>
            </a:r>
            <a:endParaRPr/>
          </a:p>
          <a:p>
            <a:pPr indent="0" lvl="0" marL="0" marR="0" rtl="0" algn="l">
              <a:lnSpc>
                <a:spcPct val="100000"/>
              </a:lnSpc>
              <a:spcBef>
                <a:spcPts val="0"/>
              </a:spcBef>
              <a:spcAft>
                <a:spcPts val="0"/>
              </a:spcAft>
              <a:buClr>
                <a:schemeClr val="dk1"/>
              </a:buClr>
              <a:buSzPts val="1200"/>
              <a:buFont typeface="Calibri"/>
              <a:buNone/>
            </a:pPr>
            <a:r>
              <a:rPr lang="en-US"/>
              <a:t>5.2.7 – Packet Tracer – Configure and Modify Standard IPv4 ACLs</a:t>
            </a:r>
            <a:endParaRPr/>
          </a:p>
          <a:p>
            <a:pPr indent="0" lvl="0" marL="0" rtl="0" algn="l">
              <a:spcBef>
                <a:spcPts val="0"/>
              </a:spcBef>
              <a:spcAft>
                <a:spcPts val="0"/>
              </a:spcAft>
              <a:buNone/>
            </a:pPr>
            <a:r>
              <a:t/>
            </a:r>
            <a:endParaRPr/>
          </a:p>
        </p:txBody>
      </p:sp>
      <p:sp>
        <p:nvSpPr>
          <p:cNvPr id="391" name="Google Shape;391;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t/>
            </a:r>
            <a:endParaRPr/>
          </a:p>
        </p:txBody>
      </p:sp>
      <p:sp>
        <p:nvSpPr>
          <p:cNvPr id="398" name="Google Shape;398;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rPr lang="en-US"/>
              <a:t>5.3.1 – The access-class Command</a:t>
            </a:r>
            <a:endParaRPr/>
          </a:p>
        </p:txBody>
      </p:sp>
      <p:sp>
        <p:nvSpPr>
          <p:cNvPr id="404" name="Google Shape;404;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rPr lang="en-US"/>
              <a:t>5.3.2 – Secure VTY Access Example</a:t>
            </a:r>
            <a:endParaRPr/>
          </a:p>
        </p:txBody>
      </p:sp>
      <p:sp>
        <p:nvSpPr>
          <p:cNvPr id="412" name="Google Shape;412;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5.3 – Secure VTY Ports with a Standard ACL</a:t>
            </a:r>
            <a:endParaRPr/>
          </a:p>
          <a:p>
            <a:pPr indent="0" lvl="0" marL="0" rtl="0" algn="l">
              <a:spcBef>
                <a:spcPts val="0"/>
              </a:spcBef>
              <a:spcAft>
                <a:spcPts val="0"/>
              </a:spcAft>
              <a:buNone/>
            </a:pPr>
            <a:r>
              <a:rPr lang="en-US"/>
              <a:t>5.3.3 – Verify the VTY Port is Secured</a:t>
            </a:r>
            <a:endParaRPr/>
          </a:p>
          <a:p>
            <a:pPr indent="0" lvl="0" marL="0" rtl="0" algn="l">
              <a:spcBef>
                <a:spcPts val="0"/>
              </a:spcBef>
              <a:spcAft>
                <a:spcPts val="0"/>
              </a:spcAft>
              <a:buNone/>
            </a:pPr>
            <a:r>
              <a:rPr lang="en-US"/>
              <a:t>5.3.4 – Syntax Checker – Secure the VTY Ports</a:t>
            </a:r>
            <a:endParaRPr/>
          </a:p>
        </p:txBody>
      </p:sp>
      <p:sp>
        <p:nvSpPr>
          <p:cNvPr id="420" name="Google Shape;420;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t/>
            </a:r>
            <a:endParaRPr/>
          </a:p>
        </p:txBody>
      </p:sp>
      <p:sp>
        <p:nvSpPr>
          <p:cNvPr id="428" name="Google Shape;428;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 – Extended ACLs</a:t>
            </a:r>
            <a:endParaRPr/>
          </a:p>
        </p:txBody>
      </p:sp>
      <p:sp>
        <p:nvSpPr>
          <p:cNvPr id="434" name="Google Shape;434;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5.4.3 – Protocols and Ports</a:t>
            </a:r>
            <a:endParaRPr/>
          </a:p>
        </p:txBody>
      </p:sp>
      <p:sp>
        <p:nvSpPr>
          <p:cNvPr id="441" name="Google Shape;441;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5.4.3 – Protocols and Ports</a:t>
            </a:r>
            <a:endParaRPr/>
          </a:p>
        </p:txBody>
      </p:sp>
      <p:sp>
        <p:nvSpPr>
          <p:cNvPr id="450" name="Google Shape;45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5.4.4 – Protocols and Port Numbers Configuration Examples</a:t>
            </a:r>
            <a:endParaRPr/>
          </a:p>
        </p:txBody>
      </p:sp>
      <p:sp>
        <p:nvSpPr>
          <p:cNvPr id="458" name="Google Shape;458;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5.4.5 – Apply a Numbered Extended IPv4 ACL</a:t>
            </a:r>
            <a:endParaRPr/>
          </a:p>
        </p:txBody>
      </p:sp>
      <p:sp>
        <p:nvSpPr>
          <p:cNvPr id="468" name="Google Shape;468;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5" name="Google Shape;475;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5.4.6 – TCP Established Extended ACL</a:t>
            </a:r>
            <a:endParaRPr/>
          </a:p>
        </p:txBody>
      </p:sp>
      <p:sp>
        <p:nvSpPr>
          <p:cNvPr id="476" name="Google Shape;476;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5.4.6 – TCP Established Extended ACL (Cont.)</a:t>
            </a:r>
            <a:endParaRPr/>
          </a:p>
        </p:txBody>
      </p:sp>
      <p:sp>
        <p:nvSpPr>
          <p:cNvPr id="484" name="Google Shape;484;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5.4.7 – Named Extended IPv4 ACL Syntax</a:t>
            </a:r>
            <a:endParaRPr/>
          </a:p>
        </p:txBody>
      </p:sp>
      <p:sp>
        <p:nvSpPr>
          <p:cNvPr id="492" name="Google Shape;492;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5.4.8 – Named Extended IPv4 ACL Example</a:t>
            </a:r>
            <a:endParaRPr/>
          </a:p>
        </p:txBody>
      </p:sp>
      <p:sp>
        <p:nvSpPr>
          <p:cNvPr id="501" name="Google Shape;501;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5.4.8 – Named Extended IPv4 ACL Example (Cont.)</a:t>
            </a:r>
            <a:endParaRPr/>
          </a:p>
        </p:txBody>
      </p:sp>
      <p:sp>
        <p:nvSpPr>
          <p:cNvPr id="509" name="Google Shape;509;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6" name="Google Shape;516;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5.4.8 – Named Extended IPv4 ACL Example (Cont.)</a:t>
            </a:r>
            <a:endParaRPr/>
          </a:p>
        </p:txBody>
      </p:sp>
      <p:sp>
        <p:nvSpPr>
          <p:cNvPr id="517" name="Google Shape;517;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4" name="Google Shape;52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5.4.9 – Edit Extended ACLs</a:t>
            </a:r>
            <a:endParaRPr/>
          </a:p>
        </p:txBody>
      </p:sp>
      <p:sp>
        <p:nvSpPr>
          <p:cNvPr id="525" name="Google Shape;525;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5.4.9 – Edit Extended ACLs (Cont.)</a:t>
            </a:r>
            <a:endParaRPr/>
          </a:p>
        </p:txBody>
      </p:sp>
      <p:sp>
        <p:nvSpPr>
          <p:cNvPr id="533" name="Google Shape;533;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1" name="Google Shape;541;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5.4.10 – Another Extended IPv4 ACL Example</a:t>
            </a:r>
            <a:endParaRPr/>
          </a:p>
        </p:txBody>
      </p:sp>
      <p:sp>
        <p:nvSpPr>
          <p:cNvPr id="542" name="Google Shape;542;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9" name="Google Shape;549;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5.4.10 – Another Extended IPv4 ACL Example (Cont.)</a:t>
            </a:r>
            <a:endParaRPr/>
          </a:p>
        </p:txBody>
      </p:sp>
      <p:sp>
        <p:nvSpPr>
          <p:cNvPr id="550" name="Google Shape;550;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7" name="Google Shape;557;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5.4.11 – Verify Extended ACLs</a:t>
            </a:r>
            <a:endParaRPr/>
          </a:p>
        </p:txBody>
      </p:sp>
      <p:sp>
        <p:nvSpPr>
          <p:cNvPr id="558" name="Google Shape;558;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5.4.11 – Verify Extended ACLs (Cont.)</a:t>
            </a:r>
            <a:endParaRPr/>
          </a:p>
        </p:txBody>
      </p:sp>
      <p:sp>
        <p:nvSpPr>
          <p:cNvPr id="566" name="Google Shape;566;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5.4.11 – Verify Extended ACLs (Cont.)</a:t>
            </a:r>
            <a:endParaRPr/>
          </a:p>
        </p:txBody>
      </p:sp>
      <p:sp>
        <p:nvSpPr>
          <p:cNvPr id="574" name="Google Shape;574;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1" name="Google Shape;581;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5.4.12 – Packet Tracer – Configure Extended IPv4 ACLs – Scenario 1</a:t>
            </a:r>
            <a:endParaRPr/>
          </a:p>
        </p:txBody>
      </p:sp>
      <p:sp>
        <p:nvSpPr>
          <p:cNvPr id="582" name="Google Shape;582;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5.4 – Configure Extended IPv4 ACLs</a:t>
            </a:r>
            <a:endParaRPr/>
          </a:p>
          <a:p>
            <a:pPr indent="0" lvl="0" marL="0" rtl="0" algn="l">
              <a:spcBef>
                <a:spcPts val="0"/>
              </a:spcBef>
              <a:spcAft>
                <a:spcPts val="0"/>
              </a:spcAft>
              <a:buNone/>
            </a:pPr>
            <a:r>
              <a:rPr lang="en-US"/>
              <a:t>5.4.13 – Packet Tracer – Configure Extended IPv4 ACLs – Scenario 2</a:t>
            </a:r>
            <a:endParaRPr/>
          </a:p>
        </p:txBody>
      </p:sp>
      <p:sp>
        <p:nvSpPr>
          <p:cNvPr id="589" name="Google Shape;589;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5" name="Google Shape;595;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 ACLs for IPv4 Configuration</a:t>
            </a:r>
            <a:endParaRPr/>
          </a:p>
          <a:p>
            <a:pPr indent="0" lvl="0" marL="0" rtl="0" algn="l">
              <a:spcBef>
                <a:spcPts val="0"/>
              </a:spcBef>
              <a:spcAft>
                <a:spcPts val="0"/>
              </a:spcAft>
              <a:buNone/>
            </a:pPr>
            <a:r>
              <a:rPr lang="en-US"/>
              <a:t>5.5 – Module Practice and Quiz</a:t>
            </a:r>
            <a:endParaRPr/>
          </a:p>
          <a:p>
            <a:pPr indent="0" lvl="0" marL="0" rtl="0" algn="l">
              <a:spcBef>
                <a:spcPts val="0"/>
              </a:spcBef>
              <a:spcAft>
                <a:spcPts val="0"/>
              </a:spcAft>
              <a:buNone/>
            </a:pPr>
            <a:r>
              <a:t/>
            </a:r>
            <a:endParaRPr/>
          </a:p>
        </p:txBody>
      </p:sp>
      <p:sp>
        <p:nvSpPr>
          <p:cNvPr id="596" name="Google Shape;596;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5.5 – Module Practice and Quiz</a:t>
            </a:r>
            <a:endParaRPr/>
          </a:p>
          <a:p>
            <a:pPr indent="0" lvl="0" marL="0" rtl="0" algn="l">
              <a:spcBef>
                <a:spcPts val="0"/>
              </a:spcBef>
              <a:spcAft>
                <a:spcPts val="0"/>
              </a:spcAft>
              <a:buNone/>
            </a:pPr>
            <a:r>
              <a:rPr lang="en-US"/>
              <a:t>5.5.1 – Packet Tracer – IPv4 ACL Implementation Challenge</a:t>
            </a:r>
            <a:endParaRPr/>
          </a:p>
        </p:txBody>
      </p:sp>
      <p:sp>
        <p:nvSpPr>
          <p:cNvPr id="602" name="Google Shape;602;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5.5 – Module Practice and Quiz</a:t>
            </a:r>
            <a:endParaRPr/>
          </a:p>
          <a:p>
            <a:pPr indent="0" lvl="0" marL="0" rtl="0" algn="l">
              <a:spcBef>
                <a:spcPts val="0"/>
              </a:spcBef>
              <a:spcAft>
                <a:spcPts val="0"/>
              </a:spcAft>
              <a:buNone/>
            </a:pPr>
            <a:r>
              <a:rPr lang="en-US"/>
              <a:t>5.5.2 – PTPM and Lab – Configure and Verify Extended IPv4 ACLs</a:t>
            </a:r>
            <a:endParaRPr/>
          </a:p>
        </p:txBody>
      </p:sp>
      <p:sp>
        <p:nvSpPr>
          <p:cNvPr id="609" name="Google Shape;609;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15" name="Google Shape;615;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6" name="Google Shape;616;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5.5 – Module Practice and Quiz</a:t>
            </a:r>
            <a:endParaRPr/>
          </a:p>
          <a:p>
            <a:pPr indent="0" lvl="0" marL="0" rtl="0" algn="l">
              <a:spcBef>
                <a:spcPts val="0"/>
              </a:spcBef>
              <a:spcAft>
                <a:spcPts val="0"/>
              </a:spcAft>
              <a:buNone/>
            </a:pPr>
            <a:r>
              <a:rPr lang="en-US"/>
              <a:t>5.5.3 – What did I learn in this module?</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22" name="Google Shape;622;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3" name="Google Shape;623;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5.0 - ACLs for IPv4 Configuration	</a:t>
            </a:r>
            <a:endParaRPr/>
          </a:p>
          <a:p>
            <a:pPr indent="0" lvl="0" marL="0" rtl="0" algn="l">
              <a:spcBef>
                <a:spcPts val="0"/>
              </a:spcBef>
              <a:spcAft>
                <a:spcPts val="0"/>
              </a:spcAft>
              <a:buNone/>
            </a:pPr>
            <a:r>
              <a:rPr lang="en-US"/>
              <a:t>5.5 – Module Practice and Quiz</a:t>
            </a:r>
            <a:endParaRPr/>
          </a:p>
          <a:p>
            <a:pPr indent="0" lvl="0" marL="0" rtl="0" algn="l">
              <a:spcBef>
                <a:spcPts val="0"/>
              </a:spcBef>
              <a:spcAft>
                <a:spcPts val="0"/>
              </a:spcAft>
              <a:buNone/>
            </a:pPr>
            <a:r>
              <a:rPr lang="en-US"/>
              <a:t>5.5.3 – What did I learn in this module?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29" name="Google Shape;629;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0" name="Google Shape;630;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7" name="Google Shape;637;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5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54"/>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54"/>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54"/>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54"/>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54"/>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54"/>
          <p:cNvGrpSpPr/>
          <p:nvPr/>
        </p:nvGrpSpPr>
        <p:grpSpPr>
          <a:xfrm>
            <a:off x="492125" y="395288"/>
            <a:ext cx="796924" cy="423863"/>
            <a:chOff x="310" y="249"/>
            <a:chExt cx="502" cy="267"/>
          </a:xfrm>
        </p:grpSpPr>
        <p:sp>
          <p:nvSpPr>
            <p:cNvPr id="36" name="Google Shape;36;p54"/>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54"/>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54"/>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54"/>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54"/>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54"/>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54"/>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54"/>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54"/>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54"/>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54"/>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54"/>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54"/>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54"/>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55"/>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5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5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56"/>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56"/>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56"/>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56"/>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56"/>
          <p:cNvGrpSpPr/>
          <p:nvPr/>
        </p:nvGrpSpPr>
        <p:grpSpPr>
          <a:xfrm>
            <a:off x="508039" y="4715197"/>
            <a:ext cx="340257" cy="180974"/>
            <a:chOff x="310" y="249"/>
            <a:chExt cx="502" cy="267"/>
          </a:xfrm>
        </p:grpSpPr>
        <p:sp>
          <p:nvSpPr>
            <p:cNvPr id="60" name="Google Shape;60;p56"/>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5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5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5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5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5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5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5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5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5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5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5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5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5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57"/>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57"/>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58"/>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58"/>
          <p:cNvGrpSpPr/>
          <p:nvPr/>
        </p:nvGrpSpPr>
        <p:grpSpPr>
          <a:xfrm>
            <a:off x="3746294" y="2129856"/>
            <a:ext cx="1617944" cy="860542"/>
            <a:chOff x="310" y="249"/>
            <a:chExt cx="502" cy="267"/>
          </a:xfrm>
        </p:grpSpPr>
        <p:sp>
          <p:nvSpPr>
            <p:cNvPr id="80" name="Google Shape;80;p58"/>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58"/>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58"/>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58"/>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58"/>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58"/>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58"/>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58"/>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58"/>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58"/>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58"/>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58"/>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58"/>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58"/>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59"/>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59"/>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59"/>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59"/>
          <p:cNvGrpSpPr/>
          <p:nvPr/>
        </p:nvGrpSpPr>
        <p:grpSpPr>
          <a:xfrm>
            <a:off x="492125" y="395288"/>
            <a:ext cx="796924" cy="423863"/>
            <a:chOff x="310" y="249"/>
            <a:chExt cx="502" cy="267"/>
          </a:xfrm>
        </p:grpSpPr>
        <p:sp>
          <p:nvSpPr>
            <p:cNvPr id="99" name="Google Shape;99;p59"/>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59"/>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59"/>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59"/>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59"/>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59"/>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59"/>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59"/>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59"/>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59"/>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59"/>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59"/>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59"/>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59"/>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3" name="Google Shape;113;p59"/>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59"/>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60"/>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60"/>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60"/>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60"/>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60"/>
          <p:cNvGrpSpPr/>
          <p:nvPr/>
        </p:nvGrpSpPr>
        <p:grpSpPr>
          <a:xfrm>
            <a:off x="492125" y="395288"/>
            <a:ext cx="796924" cy="423863"/>
            <a:chOff x="310" y="249"/>
            <a:chExt cx="502" cy="267"/>
          </a:xfrm>
        </p:grpSpPr>
        <p:sp>
          <p:nvSpPr>
            <p:cNvPr id="121" name="Google Shape;121;p6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6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6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6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6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6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6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6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6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6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6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6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6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6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 name="Google Shape;135;p60"/>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60"/>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62"/>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62"/>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41" name="Google Shape;141;p62"/>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42" name="Google Shape;142;p62"/>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43" name="Google Shape;143;p62"/>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62"/>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62"/>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62"/>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62"/>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62"/>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6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63"/>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2" name="Google Shape;152;p63"/>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3" name="Google Shape;153;p63"/>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4" name="Google Shape;154;p63"/>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63"/>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63"/>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63"/>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63"/>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63"/>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63"/>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1" name="Google Shape;161;p63"/>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63"/>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63"/>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4" name="Google Shape;164;p63"/>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63"/>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6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64"/>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64"/>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70" name="Google Shape;170;p64"/>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1" name="Google Shape;171;p64"/>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64"/>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64"/>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64"/>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64"/>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64"/>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64"/>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8" name="Google Shape;178;p64"/>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64"/>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64"/>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1" name="Google Shape;181;p64"/>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64"/>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64"/>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4" name="Google Shape;184;p64"/>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5" name="Google Shape;185;p64"/>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6" name="Google Shape;186;p64"/>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64"/>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64"/>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64"/>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64"/>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64"/>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64"/>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3" name="Google Shape;193;p64"/>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64"/>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64"/>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6" name="Google Shape;196;p64"/>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64"/>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65"/>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65"/>
          <p:cNvGrpSpPr/>
          <p:nvPr/>
        </p:nvGrpSpPr>
        <p:grpSpPr>
          <a:xfrm>
            <a:off x="3746294" y="2129856"/>
            <a:ext cx="1617944" cy="860542"/>
            <a:chOff x="310" y="249"/>
            <a:chExt cx="502" cy="267"/>
          </a:xfrm>
        </p:grpSpPr>
        <p:sp>
          <p:nvSpPr>
            <p:cNvPr id="201" name="Google Shape;201;p6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6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6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6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6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6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6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6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6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6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6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6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6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6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66"/>
          <p:cNvGrpSpPr/>
          <p:nvPr/>
        </p:nvGrpSpPr>
        <p:grpSpPr>
          <a:xfrm>
            <a:off x="3746294" y="2129856"/>
            <a:ext cx="1617944" cy="860542"/>
            <a:chOff x="310" y="249"/>
            <a:chExt cx="502" cy="267"/>
          </a:xfrm>
        </p:grpSpPr>
        <p:sp>
          <p:nvSpPr>
            <p:cNvPr id="217" name="Google Shape;217;p66"/>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6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6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6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6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6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6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6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6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6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6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6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6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6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67"/>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3"/>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53"/>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53"/>
          <p:cNvSpPr/>
          <p:nvPr/>
        </p:nvSpPr>
        <p:spPr>
          <a:xfrm>
            <a:off x="5623232" y="4741653"/>
            <a:ext cx="2902294"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D8D8D8"/>
                </a:solidFill>
                <a:latin typeface="Arial"/>
                <a:ea typeface="Arial"/>
                <a:cs typeface="Arial"/>
                <a:sym typeface="Arial"/>
              </a:rPr>
              <a:t>© 2019, 2021  Cisco and/or its affiliates. All rights reserved.   Cisco Confidential</a:t>
            </a:r>
            <a:endParaRPr/>
          </a:p>
        </p:txBody>
      </p:sp>
      <p:grpSp>
        <p:nvGrpSpPr>
          <p:cNvPr id="13" name="Google Shape;13;p53"/>
          <p:cNvGrpSpPr/>
          <p:nvPr/>
        </p:nvGrpSpPr>
        <p:grpSpPr>
          <a:xfrm>
            <a:off x="508039" y="4715197"/>
            <a:ext cx="340257" cy="180974"/>
            <a:chOff x="310" y="249"/>
            <a:chExt cx="502" cy="267"/>
          </a:xfrm>
        </p:grpSpPr>
        <p:sp>
          <p:nvSpPr>
            <p:cNvPr id="14" name="Google Shape;14;p53"/>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5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5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5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5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5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5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5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5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5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5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5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5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5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0.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38.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19.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4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45.png"/><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4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5: ACLs for IPv4 Configuration</a:t>
            </a:r>
            <a:endParaRPr/>
          </a:p>
        </p:txBody>
      </p:sp>
      <p:sp>
        <p:nvSpPr>
          <p:cNvPr id="239" name="Google Shape;239;p1"/>
          <p:cNvSpPr txBox="1"/>
          <p:nvPr>
            <p:ph idx="1" type="subTitle"/>
          </p:nvPr>
        </p:nvSpPr>
        <p:spPr>
          <a:xfrm>
            <a:off x="469497" y="3809526"/>
            <a:ext cx="2368954"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 (ENSA) </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Module Objectives</a:t>
            </a:r>
            <a:endParaRPr/>
          </a:p>
        </p:txBody>
      </p:sp>
      <p:sp>
        <p:nvSpPr>
          <p:cNvPr id="246" name="Google Shape;246;p2"/>
          <p:cNvSpPr/>
          <p:nvPr/>
        </p:nvSpPr>
        <p:spPr>
          <a:xfrm>
            <a:off x="169682" y="769894"/>
            <a:ext cx="8804635" cy="83099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Module Title: </a:t>
            </a:r>
            <a:r>
              <a:rPr b="0" i="0" lang="en-US" sz="1600" u="none" cap="none" strike="noStrike">
                <a:solidFill>
                  <a:schemeClr val="dk1"/>
                </a:solidFill>
                <a:latin typeface="Arial"/>
                <a:ea typeface="Arial"/>
                <a:cs typeface="Arial"/>
                <a:sym typeface="Arial"/>
              </a:rPr>
              <a:t>ACLs for IPv4 Configuration</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1" i="0" lang="en-US" sz="1600" u="none" cap="none" strike="noStrike">
                <a:solidFill>
                  <a:schemeClr val="dk1"/>
                </a:solidFill>
                <a:latin typeface="Arial"/>
                <a:ea typeface="Arial"/>
                <a:cs typeface="Arial"/>
                <a:sym typeface="Arial"/>
              </a:rPr>
              <a:t>Module Objective</a:t>
            </a:r>
            <a:r>
              <a:rPr b="0" i="0" lang="en-US" sz="1600" u="none" cap="none" strike="noStrike">
                <a:solidFill>
                  <a:schemeClr val="dk1"/>
                </a:solidFill>
                <a:latin typeface="Arial"/>
                <a:ea typeface="Arial"/>
                <a:cs typeface="Arial"/>
                <a:sym typeface="Arial"/>
              </a:rPr>
              <a:t>: </a:t>
            </a:r>
            <a:r>
              <a:rPr lang="en-US" sz="1600">
                <a:solidFill>
                  <a:schemeClr val="dk1"/>
                </a:solidFill>
                <a:latin typeface="Arial"/>
                <a:ea typeface="Arial"/>
                <a:cs typeface="Arial"/>
                <a:sym typeface="Arial"/>
              </a:rPr>
              <a:t>Implement IPv4 ACLs to filter traffic and secure administrative access.</a:t>
            </a:r>
            <a:endParaRPr b="0" i="0" sz="1800" u="none" cap="none" strike="noStrike">
              <a:solidFill>
                <a:schemeClr val="dk1"/>
              </a:solidFill>
              <a:latin typeface="Arial"/>
              <a:ea typeface="Arial"/>
              <a:cs typeface="Arial"/>
              <a:sym typeface="Arial"/>
            </a:endParaRPr>
          </a:p>
        </p:txBody>
      </p:sp>
      <p:graphicFrame>
        <p:nvGraphicFramePr>
          <p:cNvPr id="247" name="Google Shape;247;p2"/>
          <p:cNvGraphicFramePr/>
          <p:nvPr/>
        </p:nvGraphicFramePr>
        <p:xfrm>
          <a:off x="766914" y="1892353"/>
          <a:ext cx="3000000" cy="3000000"/>
        </p:xfrm>
        <a:graphic>
          <a:graphicData uri="http://schemas.openxmlformats.org/drawingml/2006/table">
            <a:tbl>
              <a:tblPr bandRow="1" firstCol="1" firstRow="1">
                <a:noFill/>
                <a:tableStyleId>{25070843-E879-459A-8258-64A6CC751895}</a:tableStyleId>
              </a:tblPr>
              <a:tblGrid>
                <a:gridCol w="3802050"/>
                <a:gridCol w="3802050"/>
              </a:tblGrid>
              <a:tr h="216350">
                <a:tc>
                  <a:txBody>
                    <a:bodyPr/>
                    <a:lstStyle/>
                    <a:p>
                      <a:pPr indent="0" lvl="0" marL="0" marR="0" rtl="0" algn="l">
                        <a:lnSpc>
                          <a:spcPct val="107000"/>
                        </a:lnSpc>
                        <a:spcBef>
                          <a:spcPts val="0"/>
                        </a:spcBef>
                        <a:spcAft>
                          <a:spcPts val="0"/>
                        </a:spcAft>
                        <a:buNone/>
                      </a:pPr>
                      <a:r>
                        <a:rPr lang="en-US" sz="1200" u="none" cap="none" strike="noStrike"/>
                        <a:t>Topic Title</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t>Topic Objective</a:t>
                      </a:r>
                      <a:endParaRPr sz="1100" u="none" cap="none" strike="noStrike">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lang="en-US" sz="1200" u="none" cap="none" strike="noStrike"/>
                        <a:t>Configure Standard IPv4 ACLs</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solidFill>
                            <a:srgbClr val="000000"/>
                          </a:solidFill>
                        </a:rPr>
                        <a:t>Configure standard IPv4 ACLs to filter traffic to meet networking requirements.</a:t>
                      </a:r>
                      <a:endParaRPr sz="1100" u="none" cap="none" strike="noStrike">
                        <a:solidFill>
                          <a:srgbClr val="000000"/>
                        </a:solidFill>
                        <a:latin typeface="Calibri"/>
                        <a:ea typeface="Calibri"/>
                        <a:cs typeface="Calibri"/>
                        <a:sym typeface="Calibri"/>
                      </a:endParaRPr>
                    </a:p>
                  </a:txBody>
                  <a:tcPr marT="0" marB="0" marR="68575" marL="68575"/>
                </a:tc>
              </a:tr>
              <a:tr h="315925">
                <a:tc>
                  <a:txBody>
                    <a:bodyPr/>
                    <a:lstStyle/>
                    <a:p>
                      <a:pPr indent="0" lvl="0" marL="0" marR="0" rtl="0" algn="l">
                        <a:lnSpc>
                          <a:spcPct val="107000"/>
                        </a:lnSpc>
                        <a:spcBef>
                          <a:spcPts val="0"/>
                        </a:spcBef>
                        <a:spcAft>
                          <a:spcPts val="0"/>
                        </a:spcAft>
                        <a:buNone/>
                      </a:pPr>
                      <a:r>
                        <a:rPr lang="en-US" sz="1200" u="none" cap="none" strike="noStrike"/>
                        <a:t>Modify IPv4 ACLs</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solidFill>
                            <a:srgbClr val="000000"/>
                          </a:solidFill>
                        </a:rPr>
                        <a:t>Use sequence numbers to edit existing standard IPv4 ACLs.</a:t>
                      </a:r>
                      <a:endParaRPr sz="1100" u="none" cap="none" strike="noStrike">
                        <a:solidFill>
                          <a:srgbClr val="000000"/>
                        </a:solidFill>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lang="en-US" sz="1200" u="none" cap="none" strike="noStrike"/>
                        <a:t>Secure VTY Ports with a Standard IPv4 ACL</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solidFill>
                            <a:srgbClr val="000000"/>
                          </a:solidFill>
                        </a:rPr>
                        <a:t>Configure a standard ACL to secure VTY access.</a:t>
                      </a:r>
                      <a:endParaRPr sz="1100" u="none" cap="none" strike="noStrike">
                        <a:solidFill>
                          <a:srgbClr val="000000"/>
                        </a:solidFill>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lang="en-US" sz="1200" u="none" cap="none" strike="noStrike"/>
                        <a:t>Configure Extended IPv4 ACLs</a:t>
                      </a:r>
                      <a:endParaRPr sz="11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200" u="none" cap="none" strike="noStrike">
                          <a:solidFill>
                            <a:srgbClr val="000000"/>
                          </a:solidFill>
                        </a:rPr>
                        <a:t>Configure extended IPv4 ACLs to filter traffic according to networking requirements.</a:t>
                      </a:r>
                      <a:endParaRPr sz="1100" u="none" cap="none" strike="noStrike">
                        <a:solidFill>
                          <a:srgbClr val="000000"/>
                        </a:solidFill>
                        <a:latin typeface="Calibri"/>
                        <a:ea typeface="Calibri"/>
                        <a:cs typeface="Calibri"/>
                        <a:sym typeface="Calibri"/>
                      </a:endParaRPr>
                    </a:p>
                  </a:txBody>
                  <a:tcPr marT="0" marB="0" marR="68575" marL="68575"/>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331089"/>
            <a:ext cx="7598042" cy="1386711"/>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5.1 Configure Standard IPv4 ACLs</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Create an ACL</a:t>
            </a:r>
            <a:endParaRPr/>
          </a:p>
        </p:txBody>
      </p:sp>
      <p:sp>
        <p:nvSpPr>
          <p:cNvPr id="260" name="Google Shape;260;p4"/>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All access control lists (ACLs) must be planned. When configuring a complex ACL, it is suggested that you:</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a text editor and write out the specifics of the policy to be implemented.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Add the IOS configuration commands to accomplish those tasks.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Include remarks to document the ACL.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Copy and paste the commands onto the device.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Always thoroughly test an ACL to ensure that it correctly applies the desired policy.</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Numbered Standard IPv4 ACL Syntax</a:t>
            </a:r>
            <a:endParaRPr/>
          </a:p>
        </p:txBody>
      </p:sp>
      <p:sp>
        <p:nvSpPr>
          <p:cNvPr id="267" name="Google Shape;267;p5"/>
          <p:cNvSpPr txBox="1"/>
          <p:nvPr>
            <p:ph idx="1" type="body"/>
          </p:nvPr>
        </p:nvSpPr>
        <p:spPr>
          <a:xfrm>
            <a:off x="431971" y="855419"/>
            <a:ext cx="8280057" cy="42187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create a numbered standard ACL, use the </a:t>
            </a:r>
            <a:r>
              <a:rPr b="1" lang="en-US" sz="1600">
                <a:solidFill>
                  <a:srgbClr val="000000"/>
                </a:solidFill>
              </a:rPr>
              <a:t>access-list</a:t>
            </a:r>
            <a:r>
              <a:rPr lang="en-US" sz="1600">
                <a:solidFill>
                  <a:srgbClr val="000000"/>
                </a:solidFill>
              </a:rPr>
              <a:t> command.</a:t>
            </a:r>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268" name="Google Shape;268;p5"/>
          <p:cNvPicPr preferRelativeResize="0"/>
          <p:nvPr/>
        </p:nvPicPr>
        <p:blipFill rotWithShape="1">
          <a:blip r:embed="rId3">
            <a:alphaModFix/>
          </a:blip>
          <a:srcRect b="0" l="0" r="0" t="0"/>
          <a:stretch/>
        </p:blipFill>
        <p:spPr>
          <a:xfrm>
            <a:off x="838199" y="1428889"/>
            <a:ext cx="7467600" cy="428625"/>
          </a:xfrm>
          <a:prstGeom prst="rect">
            <a:avLst/>
          </a:prstGeom>
          <a:noFill/>
          <a:ln>
            <a:noFill/>
          </a:ln>
        </p:spPr>
      </p:pic>
      <p:graphicFrame>
        <p:nvGraphicFramePr>
          <p:cNvPr id="269" name="Google Shape;269;p5"/>
          <p:cNvGraphicFramePr/>
          <p:nvPr/>
        </p:nvGraphicFramePr>
        <p:xfrm>
          <a:off x="532455" y="2009111"/>
          <a:ext cx="3000000" cy="3000000"/>
        </p:xfrm>
        <a:graphic>
          <a:graphicData uri="http://schemas.openxmlformats.org/drawingml/2006/table">
            <a:tbl>
              <a:tblPr bandRow="1" firstRow="1">
                <a:noFill/>
                <a:tableStyleId>{25070843-E879-459A-8258-64A6CC751895}</a:tableStyleId>
              </a:tblPr>
              <a:tblGrid>
                <a:gridCol w="2441500"/>
                <a:gridCol w="5597175"/>
              </a:tblGrid>
              <a:tr h="154850">
                <a:tc>
                  <a:txBody>
                    <a:bodyPr/>
                    <a:lstStyle/>
                    <a:p>
                      <a:pPr indent="0" lvl="0" marL="0" marR="0" rtl="0" algn="l">
                        <a:spcBef>
                          <a:spcPts val="0"/>
                        </a:spcBef>
                        <a:spcAft>
                          <a:spcPts val="0"/>
                        </a:spcAft>
                        <a:buNone/>
                      </a:pPr>
                      <a:r>
                        <a:rPr lang="en-US" sz="1100" u="none" cap="none" strike="noStrike"/>
                        <a:t>Parameter</a:t>
                      </a:r>
                      <a:endParaRPr/>
                    </a:p>
                  </a:txBody>
                  <a:tcPr marT="45725" marB="45725" marR="91450" marL="91450"/>
                </a:tc>
                <a:tc>
                  <a:txBody>
                    <a:bodyPr/>
                    <a:lstStyle/>
                    <a:p>
                      <a:pPr indent="0" lvl="0" marL="0" marR="0" rtl="0" algn="l">
                        <a:spcBef>
                          <a:spcPts val="0"/>
                        </a:spcBef>
                        <a:spcAft>
                          <a:spcPts val="0"/>
                        </a:spcAft>
                        <a:buNone/>
                      </a:pPr>
                      <a:r>
                        <a:rPr lang="en-US" sz="1100"/>
                        <a:t>Description</a:t>
                      </a:r>
                      <a:endParaRPr/>
                    </a:p>
                  </a:txBody>
                  <a:tcPr marT="45725" marB="45725" marR="91450" marL="91450"/>
                </a:tc>
              </a:tr>
              <a:tr h="154850">
                <a:tc>
                  <a:txBody>
                    <a:bodyPr/>
                    <a:lstStyle/>
                    <a:p>
                      <a:pPr indent="0" lvl="0" marL="0" marR="0" rtl="0" algn="l">
                        <a:spcBef>
                          <a:spcPts val="0"/>
                        </a:spcBef>
                        <a:spcAft>
                          <a:spcPts val="0"/>
                        </a:spcAft>
                        <a:buNone/>
                      </a:pPr>
                      <a:r>
                        <a:rPr i="1" lang="en-US" sz="1100">
                          <a:solidFill>
                            <a:srgbClr val="000000"/>
                          </a:solidFill>
                        </a:rPr>
                        <a:t>access-list-number</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Number range is 1 to 99 or 1300 to 1999</a:t>
                      </a:r>
                      <a:endParaRPr/>
                    </a:p>
                  </a:txBody>
                  <a:tcPr marT="45725" marB="45725" marR="91450" marL="91450"/>
                </a:tc>
              </a:tr>
              <a:tr h="154850">
                <a:tc>
                  <a:txBody>
                    <a:bodyPr/>
                    <a:lstStyle/>
                    <a:p>
                      <a:pPr indent="0" lvl="0" marL="0" marR="0" rtl="0" algn="l">
                        <a:spcBef>
                          <a:spcPts val="0"/>
                        </a:spcBef>
                        <a:spcAft>
                          <a:spcPts val="0"/>
                        </a:spcAft>
                        <a:buNone/>
                      </a:pPr>
                      <a:r>
                        <a:rPr b="1" lang="en-US" sz="1100">
                          <a:solidFill>
                            <a:srgbClr val="000000"/>
                          </a:solidFill>
                        </a:rPr>
                        <a:t>deny</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Denies access if the condition is matched</a:t>
                      </a:r>
                      <a:endParaRPr/>
                    </a:p>
                  </a:txBody>
                  <a:tcPr marT="45725" marB="45725" marR="91450" marL="91450"/>
                </a:tc>
              </a:tr>
              <a:tr h="154850">
                <a:tc>
                  <a:txBody>
                    <a:bodyPr/>
                    <a:lstStyle/>
                    <a:p>
                      <a:pPr indent="0" lvl="0" marL="0" marR="0" rtl="0" algn="l">
                        <a:spcBef>
                          <a:spcPts val="0"/>
                        </a:spcBef>
                        <a:spcAft>
                          <a:spcPts val="0"/>
                        </a:spcAft>
                        <a:buNone/>
                      </a:pPr>
                      <a:r>
                        <a:rPr b="1" lang="en-US" sz="1100">
                          <a:solidFill>
                            <a:srgbClr val="000000"/>
                          </a:solidFill>
                        </a:rPr>
                        <a:t>permit</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Permits access if the condition is matched</a:t>
                      </a:r>
                      <a:endParaRPr/>
                    </a:p>
                  </a:txBody>
                  <a:tcPr marT="45725" marB="45725" marR="91450" marL="91450"/>
                </a:tc>
              </a:tr>
              <a:tr h="154850">
                <a:tc>
                  <a:txBody>
                    <a:bodyPr/>
                    <a:lstStyle/>
                    <a:p>
                      <a:pPr indent="0" lvl="0" marL="0" marR="0" rtl="0" algn="l">
                        <a:spcBef>
                          <a:spcPts val="0"/>
                        </a:spcBef>
                        <a:spcAft>
                          <a:spcPts val="0"/>
                        </a:spcAft>
                        <a:buNone/>
                      </a:pPr>
                      <a:r>
                        <a:rPr b="1" lang="en-US" sz="1100">
                          <a:solidFill>
                            <a:srgbClr val="000000"/>
                          </a:solidFill>
                        </a:rPr>
                        <a:t>remark</a:t>
                      </a:r>
                      <a:r>
                        <a:rPr lang="en-US" sz="1100">
                          <a:solidFill>
                            <a:srgbClr val="000000"/>
                          </a:solidFill>
                        </a:rPr>
                        <a:t> </a:t>
                      </a:r>
                      <a:r>
                        <a:rPr i="1" lang="en-US" sz="1100">
                          <a:solidFill>
                            <a:srgbClr val="000000"/>
                          </a:solidFill>
                        </a:rPr>
                        <a:t>text</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(Optional) text entry for documentation purposes</a:t>
                      </a:r>
                      <a:endParaRPr/>
                    </a:p>
                  </a:txBody>
                  <a:tcPr marT="45725" marB="45725" marR="91450" marL="91450"/>
                </a:tc>
              </a:tr>
              <a:tr h="154850">
                <a:tc>
                  <a:txBody>
                    <a:bodyPr/>
                    <a:lstStyle/>
                    <a:p>
                      <a:pPr indent="0" lvl="0" marL="0" marR="0" rtl="0" algn="l">
                        <a:spcBef>
                          <a:spcPts val="0"/>
                        </a:spcBef>
                        <a:spcAft>
                          <a:spcPts val="0"/>
                        </a:spcAft>
                        <a:buNone/>
                      </a:pPr>
                      <a:r>
                        <a:rPr i="1" lang="en-US" sz="1100">
                          <a:solidFill>
                            <a:srgbClr val="000000"/>
                          </a:solidFill>
                        </a:rPr>
                        <a:t>source</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Identifies the source network or host address to filter</a:t>
                      </a:r>
                      <a:endParaRPr/>
                    </a:p>
                  </a:txBody>
                  <a:tcPr marT="45725" marB="45725" marR="91450" marL="91450"/>
                </a:tc>
              </a:tr>
              <a:tr h="154850">
                <a:tc>
                  <a:txBody>
                    <a:bodyPr/>
                    <a:lstStyle/>
                    <a:p>
                      <a:pPr indent="0" lvl="0" marL="0" marR="0" rtl="0" algn="l">
                        <a:spcBef>
                          <a:spcPts val="0"/>
                        </a:spcBef>
                        <a:spcAft>
                          <a:spcPts val="0"/>
                        </a:spcAft>
                        <a:buNone/>
                      </a:pPr>
                      <a:r>
                        <a:rPr i="1" lang="en-US" sz="1100">
                          <a:solidFill>
                            <a:srgbClr val="000000"/>
                          </a:solidFill>
                        </a:rPr>
                        <a:t>source-wildcard</a:t>
                      </a:r>
                      <a:endParaRPr/>
                    </a:p>
                  </a:txBody>
                  <a:tcPr marT="45725" marB="45725" marR="91450" marL="91450"/>
                </a:tc>
                <a:tc>
                  <a:txBody>
                    <a:bodyPr/>
                    <a:lstStyle/>
                    <a:p>
                      <a:pPr indent="0" lvl="0" marL="0" marR="0" rtl="0" algn="l">
                        <a:spcBef>
                          <a:spcPts val="0"/>
                        </a:spcBef>
                        <a:spcAft>
                          <a:spcPts val="0"/>
                        </a:spcAft>
                        <a:buClr>
                          <a:srgbClr val="000000"/>
                        </a:buClr>
                        <a:buSzPts val="1100"/>
                        <a:buFont typeface="Arial"/>
                        <a:buNone/>
                      </a:pPr>
                      <a:r>
                        <a:rPr lang="en-US" sz="1100">
                          <a:solidFill>
                            <a:srgbClr val="000000"/>
                          </a:solidFill>
                        </a:rPr>
                        <a:t>(Optional) 32-bit wildcard mask that is applied to the source</a:t>
                      </a:r>
                      <a:endParaRPr/>
                    </a:p>
                  </a:txBody>
                  <a:tcPr marT="45725" marB="45725" marR="91450" marL="91450"/>
                </a:tc>
              </a:tr>
              <a:tr h="179700">
                <a:tc>
                  <a:txBody>
                    <a:bodyPr/>
                    <a:lstStyle/>
                    <a:p>
                      <a:pPr indent="0" lvl="0" marL="0" marR="0" rtl="0" algn="l">
                        <a:spcBef>
                          <a:spcPts val="0"/>
                        </a:spcBef>
                        <a:spcAft>
                          <a:spcPts val="0"/>
                        </a:spcAft>
                        <a:buNone/>
                      </a:pPr>
                      <a:r>
                        <a:rPr b="1" lang="en-US" sz="1100">
                          <a:solidFill>
                            <a:srgbClr val="000000"/>
                          </a:solidFill>
                        </a:rPr>
                        <a:t>log</a:t>
                      </a:r>
                      <a:endParaRPr/>
                    </a:p>
                  </a:txBody>
                  <a:tcPr marT="45725" marB="45725" marR="91450" marL="91450"/>
                </a:tc>
                <a:tc>
                  <a:txBody>
                    <a:bodyPr/>
                    <a:lstStyle/>
                    <a:p>
                      <a:pPr indent="0" lvl="0" marL="0" marR="0" rtl="0" algn="l">
                        <a:spcBef>
                          <a:spcPts val="0"/>
                        </a:spcBef>
                        <a:spcAft>
                          <a:spcPts val="0"/>
                        </a:spcAft>
                        <a:buNone/>
                      </a:pPr>
                      <a:r>
                        <a:rPr lang="en-US" sz="1100">
                          <a:solidFill>
                            <a:srgbClr val="000000"/>
                          </a:solidFill>
                        </a:rPr>
                        <a:t>(Optional) Generates and sends an informational message when the ACE is matched</a:t>
                      </a:r>
                      <a:endParaRPr/>
                    </a:p>
                  </a:txBody>
                  <a:tcPr marT="45725" marB="45725" marR="91450" marL="91450"/>
                </a:tc>
              </a:tr>
            </a:tbl>
          </a:graphicData>
        </a:graphic>
      </p:graphicFrame>
      <p:sp>
        <p:nvSpPr>
          <p:cNvPr id="270" name="Google Shape;270;p5"/>
          <p:cNvSpPr/>
          <p:nvPr/>
        </p:nvSpPr>
        <p:spPr>
          <a:xfrm>
            <a:off x="396319" y="4149581"/>
            <a:ext cx="817481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Note: Use the </a:t>
            </a:r>
            <a:r>
              <a:rPr b="1" lang="en-US" sz="1200">
                <a:solidFill>
                  <a:srgbClr val="000000"/>
                </a:solidFill>
                <a:latin typeface="Arial"/>
                <a:ea typeface="Arial"/>
                <a:cs typeface="Arial"/>
                <a:sym typeface="Arial"/>
              </a:rPr>
              <a:t>no access-list</a:t>
            </a:r>
            <a:r>
              <a:rPr lang="en-US" sz="1200">
                <a:solidFill>
                  <a:srgbClr val="000000"/>
                </a:solidFill>
                <a:latin typeface="Arial"/>
                <a:ea typeface="Arial"/>
                <a:cs typeface="Arial"/>
                <a:sym typeface="Arial"/>
              </a:rPr>
              <a:t> </a:t>
            </a:r>
            <a:r>
              <a:rPr i="1" lang="en-US" sz="1200">
                <a:solidFill>
                  <a:srgbClr val="000000"/>
                </a:solidFill>
                <a:latin typeface="Arial"/>
                <a:ea typeface="Arial"/>
                <a:cs typeface="Arial"/>
                <a:sym typeface="Arial"/>
              </a:rPr>
              <a:t>access-list-number</a:t>
            </a:r>
            <a:r>
              <a:rPr lang="en-US" sz="1200">
                <a:solidFill>
                  <a:srgbClr val="000000"/>
                </a:solidFill>
                <a:latin typeface="Arial"/>
                <a:ea typeface="Arial"/>
                <a:cs typeface="Arial"/>
                <a:sym typeface="Arial"/>
              </a:rPr>
              <a:t> global configuration command to remove a numbered standard 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Named Standard IPv4 ACL Syntax</a:t>
            </a:r>
            <a:endParaRPr/>
          </a:p>
        </p:txBody>
      </p:sp>
      <p:sp>
        <p:nvSpPr>
          <p:cNvPr id="277" name="Google Shape;277;p6"/>
          <p:cNvSpPr txBox="1"/>
          <p:nvPr>
            <p:ph idx="1" type="body"/>
          </p:nvPr>
        </p:nvSpPr>
        <p:spPr>
          <a:xfrm>
            <a:off x="431971" y="855420"/>
            <a:ext cx="8280057" cy="116555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create a named standard ACL, use the </a:t>
            </a:r>
            <a:r>
              <a:rPr b="1" lang="en-US" sz="1600">
                <a:solidFill>
                  <a:srgbClr val="000000"/>
                </a:solidFill>
              </a:rPr>
              <a:t>ip access-list standard </a:t>
            </a:r>
            <a:r>
              <a:rPr lang="en-US" sz="1600">
                <a:solidFill>
                  <a:srgbClr val="000000"/>
                </a:solidFill>
              </a:rPr>
              <a:t>command.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ACL names are alphanumeric, case sensitive, and must be unique.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Capitalizing ACL names is not required but makes them stand out when viewing the running-config output.</a:t>
            </a:r>
            <a:endParaRPr/>
          </a:p>
        </p:txBody>
      </p:sp>
      <p:pic>
        <p:nvPicPr>
          <p:cNvPr id="278" name="Google Shape;278;p6"/>
          <p:cNvPicPr preferRelativeResize="0"/>
          <p:nvPr/>
        </p:nvPicPr>
        <p:blipFill rotWithShape="1">
          <a:blip r:embed="rId3">
            <a:alphaModFix/>
          </a:blip>
          <a:srcRect b="0" l="0" r="0" t="0"/>
          <a:stretch/>
        </p:blipFill>
        <p:spPr>
          <a:xfrm>
            <a:off x="2264148" y="2080932"/>
            <a:ext cx="4400550" cy="228600"/>
          </a:xfrm>
          <a:prstGeom prst="rect">
            <a:avLst/>
          </a:prstGeom>
          <a:noFill/>
          <a:ln>
            <a:noFill/>
          </a:ln>
        </p:spPr>
      </p:pic>
      <p:pic>
        <p:nvPicPr>
          <p:cNvPr id="279" name="Google Shape;279;p6"/>
          <p:cNvPicPr preferRelativeResize="0"/>
          <p:nvPr/>
        </p:nvPicPr>
        <p:blipFill rotWithShape="1">
          <a:blip r:embed="rId4">
            <a:alphaModFix/>
          </a:blip>
          <a:srcRect b="0" l="0" r="0" t="0"/>
          <a:stretch/>
        </p:blipFill>
        <p:spPr>
          <a:xfrm>
            <a:off x="2273673" y="2369493"/>
            <a:ext cx="4391025" cy="2105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Apply a Standard IPv4 ACL</a:t>
            </a:r>
            <a:endParaRPr/>
          </a:p>
        </p:txBody>
      </p:sp>
      <p:sp>
        <p:nvSpPr>
          <p:cNvPr id="286" name="Google Shape;286;p7"/>
          <p:cNvSpPr txBox="1"/>
          <p:nvPr>
            <p:ph idx="1" type="body"/>
          </p:nvPr>
        </p:nvSpPr>
        <p:spPr>
          <a:xfrm>
            <a:off x="431971" y="855419"/>
            <a:ext cx="8280057" cy="137849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a standard IPv4 ACL is configured, it must be linked to an interface or feature.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ip access-group </a:t>
            </a:r>
            <a:r>
              <a:rPr lang="en-US" sz="1600">
                <a:solidFill>
                  <a:srgbClr val="000000"/>
                </a:solidFill>
              </a:rPr>
              <a:t>command is used to bind a numbered or named standard IPv4 ACL to an interface.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remove an ACL from an interface, first enter the </a:t>
            </a:r>
            <a:r>
              <a:rPr b="1" lang="en-US" sz="1600">
                <a:solidFill>
                  <a:srgbClr val="000000"/>
                </a:solidFill>
              </a:rPr>
              <a:t>no ip access-group</a:t>
            </a:r>
            <a:r>
              <a:rPr lang="en-US" sz="1600">
                <a:solidFill>
                  <a:srgbClr val="000000"/>
                </a:solidFill>
              </a:rPr>
              <a:t> interface configuration command.</a:t>
            </a:r>
            <a:endParaRPr/>
          </a:p>
        </p:txBody>
      </p:sp>
      <p:pic>
        <p:nvPicPr>
          <p:cNvPr id="287" name="Google Shape;287;p7"/>
          <p:cNvPicPr preferRelativeResize="0"/>
          <p:nvPr/>
        </p:nvPicPr>
        <p:blipFill rotWithShape="1">
          <a:blip r:embed="rId3">
            <a:alphaModFix/>
          </a:blip>
          <a:srcRect b="0" l="0" r="0" t="0"/>
          <a:stretch/>
        </p:blipFill>
        <p:spPr>
          <a:xfrm>
            <a:off x="1366837" y="2462212"/>
            <a:ext cx="6410325" cy="219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Numbered Standard ACL Example</a:t>
            </a:r>
            <a:endParaRPr/>
          </a:p>
        </p:txBody>
      </p:sp>
      <p:sp>
        <p:nvSpPr>
          <p:cNvPr id="294" name="Google Shape;294;p8"/>
          <p:cNvSpPr txBox="1"/>
          <p:nvPr>
            <p:ph idx="1" type="body"/>
          </p:nvPr>
        </p:nvSpPr>
        <p:spPr>
          <a:xfrm>
            <a:off x="431971" y="855419"/>
            <a:ext cx="1809205" cy="349551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example ACL permits traffic from host 192.168.10.10 and all hosts on the 192.168.20.0/24 network out interface serial 0/1/0 on router R1.</a:t>
            </a:r>
            <a:endParaRPr/>
          </a:p>
        </p:txBody>
      </p:sp>
      <p:pic>
        <p:nvPicPr>
          <p:cNvPr id="295" name="Google Shape;295;p8"/>
          <p:cNvPicPr preferRelativeResize="0"/>
          <p:nvPr/>
        </p:nvPicPr>
        <p:blipFill rotWithShape="1">
          <a:blip r:embed="rId3">
            <a:alphaModFix/>
          </a:blip>
          <a:srcRect b="0" l="0" r="0" t="0"/>
          <a:stretch/>
        </p:blipFill>
        <p:spPr>
          <a:xfrm>
            <a:off x="2315257" y="956819"/>
            <a:ext cx="6677026" cy="1216747"/>
          </a:xfrm>
          <a:prstGeom prst="rect">
            <a:avLst/>
          </a:prstGeom>
          <a:noFill/>
          <a:ln>
            <a:noFill/>
          </a:ln>
        </p:spPr>
      </p:pic>
      <p:pic>
        <p:nvPicPr>
          <p:cNvPr id="296" name="Google Shape;296;p8"/>
          <p:cNvPicPr preferRelativeResize="0"/>
          <p:nvPr/>
        </p:nvPicPr>
        <p:blipFill rotWithShape="1">
          <a:blip r:embed="rId4">
            <a:alphaModFix/>
          </a:blip>
          <a:srcRect b="0" l="0" r="0" t="0"/>
          <a:stretch/>
        </p:blipFill>
        <p:spPr>
          <a:xfrm>
            <a:off x="2315255" y="2207301"/>
            <a:ext cx="6677025" cy="1371600"/>
          </a:xfrm>
          <a:prstGeom prst="rect">
            <a:avLst/>
          </a:prstGeom>
          <a:noFill/>
          <a:ln>
            <a:noFill/>
          </a:ln>
        </p:spPr>
      </p:pic>
      <p:pic>
        <p:nvPicPr>
          <p:cNvPr id="297" name="Google Shape;297;p8"/>
          <p:cNvPicPr preferRelativeResize="0"/>
          <p:nvPr/>
        </p:nvPicPr>
        <p:blipFill rotWithShape="1">
          <a:blip r:embed="rId5">
            <a:alphaModFix/>
          </a:blip>
          <a:srcRect b="0" l="0" r="0" t="0"/>
          <a:stretch/>
        </p:blipFill>
        <p:spPr>
          <a:xfrm>
            <a:off x="2315255" y="3612636"/>
            <a:ext cx="6677025" cy="80842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Numbered Standard ACL Example (Cont.)</a:t>
            </a:r>
            <a:endParaRPr/>
          </a:p>
        </p:txBody>
      </p:sp>
      <p:sp>
        <p:nvSpPr>
          <p:cNvPr id="304" name="Google Shape;304;p9"/>
          <p:cNvSpPr txBox="1"/>
          <p:nvPr>
            <p:ph idx="1" type="body"/>
          </p:nvPr>
        </p:nvSpPr>
        <p:spPr>
          <a:xfrm>
            <a:off x="431971" y="855419"/>
            <a:ext cx="8280057" cy="73183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Use the </a:t>
            </a:r>
            <a:r>
              <a:rPr b="1" lang="en-US" sz="1600">
                <a:solidFill>
                  <a:srgbClr val="000000"/>
                </a:solidFill>
              </a:rPr>
              <a:t>show running-config</a:t>
            </a:r>
            <a:r>
              <a:rPr lang="en-US" sz="1600">
                <a:solidFill>
                  <a:srgbClr val="000000"/>
                </a:solidFill>
              </a:rPr>
              <a:t> command to review the ACL in the configuration.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show ip interface</a:t>
            </a:r>
            <a:r>
              <a:rPr lang="en-US" sz="1600">
                <a:solidFill>
                  <a:srgbClr val="000000"/>
                </a:solidFill>
              </a:rPr>
              <a:t> command to verify the ACL is applied to the interface.</a:t>
            </a:r>
            <a:endParaRPr/>
          </a:p>
        </p:txBody>
      </p:sp>
      <p:pic>
        <p:nvPicPr>
          <p:cNvPr id="305" name="Google Shape;305;p9"/>
          <p:cNvPicPr preferRelativeResize="0"/>
          <p:nvPr/>
        </p:nvPicPr>
        <p:blipFill rotWithShape="1">
          <a:blip r:embed="rId3">
            <a:alphaModFix/>
          </a:blip>
          <a:srcRect b="0" l="0" r="0" t="0"/>
          <a:stretch/>
        </p:blipFill>
        <p:spPr>
          <a:xfrm>
            <a:off x="2519361" y="1666874"/>
            <a:ext cx="4105275" cy="1200150"/>
          </a:xfrm>
          <a:prstGeom prst="rect">
            <a:avLst/>
          </a:prstGeom>
          <a:noFill/>
          <a:ln>
            <a:noFill/>
          </a:ln>
        </p:spPr>
      </p:pic>
      <p:pic>
        <p:nvPicPr>
          <p:cNvPr id="306" name="Google Shape;306;p9"/>
          <p:cNvPicPr preferRelativeResize="0"/>
          <p:nvPr/>
        </p:nvPicPr>
        <p:blipFill rotWithShape="1">
          <a:blip r:embed="rId4">
            <a:alphaModFix/>
          </a:blip>
          <a:srcRect b="0" l="0" r="0" t="0"/>
          <a:stretch/>
        </p:blipFill>
        <p:spPr>
          <a:xfrm>
            <a:off x="2519361" y="3096030"/>
            <a:ext cx="4086225" cy="11334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Named Standard ACL Example</a:t>
            </a:r>
            <a:endParaRPr/>
          </a:p>
        </p:txBody>
      </p:sp>
      <p:sp>
        <p:nvSpPr>
          <p:cNvPr id="313" name="Google Shape;313;p10"/>
          <p:cNvSpPr txBox="1"/>
          <p:nvPr>
            <p:ph idx="1" type="body"/>
          </p:nvPr>
        </p:nvSpPr>
        <p:spPr>
          <a:xfrm>
            <a:off x="431971" y="855419"/>
            <a:ext cx="3476641" cy="349551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example ACL permits traffic from host 192.168.10.10 and all hosts on the 192.168.20.0/24 network out interface serial 0/1/0 on router R1.</a:t>
            </a:r>
            <a:endParaRPr/>
          </a:p>
        </p:txBody>
      </p:sp>
      <p:pic>
        <p:nvPicPr>
          <p:cNvPr id="314" name="Google Shape;314;p10"/>
          <p:cNvPicPr preferRelativeResize="0"/>
          <p:nvPr/>
        </p:nvPicPr>
        <p:blipFill rotWithShape="1">
          <a:blip r:embed="rId3">
            <a:alphaModFix/>
          </a:blip>
          <a:srcRect b="0" l="0" r="0" t="0"/>
          <a:stretch/>
        </p:blipFill>
        <p:spPr>
          <a:xfrm>
            <a:off x="4235278" y="1068200"/>
            <a:ext cx="4476750" cy="981075"/>
          </a:xfrm>
          <a:prstGeom prst="rect">
            <a:avLst/>
          </a:prstGeom>
          <a:noFill/>
          <a:ln>
            <a:noFill/>
          </a:ln>
        </p:spPr>
      </p:pic>
      <p:pic>
        <p:nvPicPr>
          <p:cNvPr id="315" name="Google Shape;315;p10"/>
          <p:cNvPicPr preferRelativeResize="0"/>
          <p:nvPr/>
        </p:nvPicPr>
        <p:blipFill rotWithShape="1">
          <a:blip r:embed="rId4">
            <a:alphaModFix/>
          </a:blip>
          <a:srcRect b="0" l="0" r="0" t="0"/>
          <a:stretch/>
        </p:blipFill>
        <p:spPr>
          <a:xfrm>
            <a:off x="4235278" y="2060069"/>
            <a:ext cx="4476750" cy="1241937"/>
          </a:xfrm>
          <a:prstGeom prst="rect">
            <a:avLst/>
          </a:prstGeom>
          <a:noFill/>
          <a:ln>
            <a:noFill/>
          </a:ln>
        </p:spPr>
      </p:pic>
      <p:pic>
        <p:nvPicPr>
          <p:cNvPr id="316" name="Google Shape;316;p10"/>
          <p:cNvPicPr preferRelativeResize="0"/>
          <p:nvPr/>
        </p:nvPicPr>
        <p:blipFill rotWithShape="1">
          <a:blip r:embed="rId5">
            <a:alphaModFix/>
          </a:blip>
          <a:srcRect b="0" l="0" r="0" t="0"/>
          <a:stretch/>
        </p:blipFill>
        <p:spPr>
          <a:xfrm>
            <a:off x="4235278" y="3312799"/>
            <a:ext cx="4491454" cy="82889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Named Standard ACL Example (Cont.)</a:t>
            </a:r>
            <a:endParaRPr/>
          </a:p>
        </p:txBody>
      </p:sp>
      <p:sp>
        <p:nvSpPr>
          <p:cNvPr id="323" name="Google Shape;323;p11"/>
          <p:cNvSpPr txBox="1"/>
          <p:nvPr>
            <p:ph idx="1" type="body"/>
          </p:nvPr>
        </p:nvSpPr>
        <p:spPr>
          <a:xfrm>
            <a:off x="431971" y="855419"/>
            <a:ext cx="3144947" cy="349551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Use the </a:t>
            </a:r>
            <a:r>
              <a:rPr b="1" lang="en-US" sz="1600">
                <a:solidFill>
                  <a:srgbClr val="000000"/>
                </a:solidFill>
              </a:rPr>
              <a:t>show access-list</a:t>
            </a:r>
            <a:r>
              <a:rPr lang="en-US" sz="1600">
                <a:solidFill>
                  <a:srgbClr val="000000"/>
                </a:solidFill>
              </a:rPr>
              <a:t> command to review the ACL in the configuration.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show ip interface</a:t>
            </a:r>
            <a:r>
              <a:rPr lang="en-US" sz="1600">
                <a:solidFill>
                  <a:srgbClr val="000000"/>
                </a:solidFill>
              </a:rPr>
              <a:t> command to verify the ACL is applied to the interface.</a:t>
            </a:r>
            <a:endParaRPr/>
          </a:p>
        </p:txBody>
      </p:sp>
      <p:pic>
        <p:nvPicPr>
          <p:cNvPr id="324" name="Google Shape;324;p11"/>
          <p:cNvPicPr preferRelativeResize="0"/>
          <p:nvPr/>
        </p:nvPicPr>
        <p:blipFill rotWithShape="1">
          <a:blip r:embed="rId3">
            <a:alphaModFix/>
          </a:blip>
          <a:srcRect b="0" l="0" r="0" t="0"/>
          <a:stretch/>
        </p:blipFill>
        <p:spPr>
          <a:xfrm>
            <a:off x="4411663" y="946056"/>
            <a:ext cx="3933825" cy="2085975"/>
          </a:xfrm>
          <a:prstGeom prst="rect">
            <a:avLst/>
          </a:prstGeom>
          <a:noFill/>
          <a:ln>
            <a:noFill/>
          </a:ln>
        </p:spPr>
      </p:pic>
      <p:pic>
        <p:nvPicPr>
          <p:cNvPr id="325" name="Google Shape;325;p11"/>
          <p:cNvPicPr preferRelativeResize="0"/>
          <p:nvPr/>
        </p:nvPicPr>
        <p:blipFill rotWithShape="1">
          <a:blip r:embed="rId4">
            <a:alphaModFix/>
          </a:blip>
          <a:srcRect b="0" l="0" r="0" t="0"/>
          <a:stretch/>
        </p:blipFill>
        <p:spPr>
          <a:xfrm>
            <a:off x="4411663" y="3061006"/>
            <a:ext cx="3933825" cy="11364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Packet Tracer – Configure Numbered Standard IPv4 ACLs</a:t>
            </a:r>
            <a:endParaRPr/>
          </a:p>
        </p:txBody>
      </p:sp>
      <p:sp>
        <p:nvSpPr>
          <p:cNvPr id="332" name="Google Shape;332;p12"/>
          <p:cNvSpPr txBox="1"/>
          <p:nvPr>
            <p:ph idx="1" type="body"/>
          </p:nvPr>
        </p:nvSpPr>
        <p:spPr>
          <a:xfrm>
            <a:off x="431971" y="855419"/>
            <a:ext cx="8280057" cy="349551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Plan an ACL Implementation.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Apply, and Verify a Standard 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Standard IPv4 ACLs</a:t>
            </a:r>
            <a:br>
              <a:rPr lang="en-US"/>
            </a:br>
            <a:r>
              <a:rPr lang="en-US" sz="2400"/>
              <a:t>Packet Tracer – Configure Named Standard IPv4 ACLs</a:t>
            </a:r>
            <a:endParaRPr/>
          </a:p>
        </p:txBody>
      </p:sp>
      <p:sp>
        <p:nvSpPr>
          <p:cNvPr id="339" name="Google Shape;339;p13"/>
          <p:cNvSpPr txBox="1"/>
          <p:nvPr>
            <p:ph idx="1" type="body"/>
          </p:nvPr>
        </p:nvSpPr>
        <p:spPr>
          <a:xfrm>
            <a:off x="431971" y="855419"/>
            <a:ext cx="8280057" cy="3495517"/>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and Apply a Named Standard ACL.</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Verify the ACL Implementation.</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4"/>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5.2 Modify IPv4 ACLs</a:t>
            </a:r>
            <a:endParaRPr/>
          </a:p>
        </p:txBody>
      </p:sp>
    </p:spTree>
  </p:cSld>
  <p:clrMapOvr>
    <a:masterClrMapping/>
  </p:clrMapOvr>
  <p:transition spd="slow">
    <p:wipe dir="l"/>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Two Methods to Modify an ACL</a:t>
            </a:r>
            <a:endParaRPr/>
          </a:p>
        </p:txBody>
      </p:sp>
      <p:sp>
        <p:nvSpPr>
          <p:cNvPr id="352" name="Google Shape;352;p15"/>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an ACL is configured, it may need to be modified. ACLs with multiple ACEs can be complex to configure. Sometimes the configured ACE does not yield the expected behaviors. </a:t>
            </a:r>
            <a:endParaRPr/>
          </a:p>
          <a:p>
            <a:pPr indent="0" lvl="0" marL="0" rtl="0" algn="l">
              <a:lnSpc>
                <a:spcPct val="100000"/>
              </a:lnSpc>
              <a:spcBef>
                <a:spcPts val="320"/>
              </a:spcBef>
              <a:spcAft>
                <a:spcPts val="0"/>
              </a:spcAft>
              <a:buSzPts val="1600"/>
              <a:buNone/>
            </a:pPr>
            <a:r>
              <a:rPr lang="en-US" sz="1600">
                <a:solidFill>
                  <a:srgbClr val="000000"/>
                </a:solidFill>
              </a:rPr>
              <a:t>There are two methods to use when modifying an ACL:</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Use a text editor.</a:t>
            </a:r>
            <a:endParaRPr/>
          </a:p>
          <a:p>
            <a:pPr indent="-285750" lvl="1" marL="358835" rtl="0" algn="l">
              <a:lnSpc>
                <a:spcPct val="95000"/>
              </a:lnSpc>
              <a:spcBef>
                <a:spcPts val="600"/>
              </a:spcBef>
              <a:spcAft>
                <a:spcPts val="0"/>
              </a:spcAft>
              <a:buSzPts val="1600"/>
              <a:buFont typeface="Arial"/>
              <a:buChar char="•"/>
            </a:pPr>
            <a:r>
              <a:rPr lang="en-US" sz="1600">
                <a:solidFill>
                  <a:srgbClr val="000000"/>
                </a:solidFill>
              </a:rPr>
              <a:t>Use sequence numbers.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Text Editor Method</a:t>
            </a:r>
            <a:endParaRPr/>
          </a:p>
        </p:txBody>
      </p:sp>
      <p:sp>
        <p:nvSpPr>
          <p:cNvPr id="359" name="Google Shape;359;p16"/>
          <p:cNvSpPr txBox="1"/>
          <p:nvPr>
            <p:ph idx="1" type="body"/>
          </p:nvPr>
        </p:nvSpPr>
        <p:spPr>
          <a:xfrm>
            <a:off x="431971" y="855419"/>
            <a:ext cx="8280057" cy="221227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ACLs with multiple ACEs should be created in a text editor. This allows you to plan the required ACEs, create the ACL, and then paste it into the router interface. It also simplifies the tasks to edit and fix an ACL.</a:t>
            </a:r>
            <a:endParaRPr/>
          </a:p>
          <a:p>
            <a:pPr indent="0" lvl="0" marL="0" rtl="0" algn="l">
              <a:lnSpc>
                <a:spcPct val="100000"/>
              </a:lnSpc>
              <a:spcBef>
                <a:spcPts val="320"/>
              </a:spcBef>
              <a:spcAft>
                <a:spcPts val="0"/>
              </a:spcAft>
              <a:buSzPts val="1600"/>
              <a:buNone/>
            </a:pPr>
            <a:r>
              <a:rPr lang="en-US" sz="1600">
                <a:solidFill>
                  <a:srgbClr val="000000"/>
                </a:solidFill>
              </a:rPr>
              <a:t>To correct an error in an ACL:</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Copy the ACL from the running configuration and paste it into the text editor.</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Make the necessary edits or changes.</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Remove the previously configured ACL on the router.</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Copy and paste the edited ACL back to the router.</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360" name="Google Shape;360;p16"/>
          <p:cNvPicPr preferRelativeResize="0"/>
          <p:nvPr/>
        </p:nvPicPr>
        <p:blipFill rotWithShape="1">
          <a:blip r:embed="rId3">
            <a:alphaModFix/>
          </a:blip>
          <a:srcRect b="0" l="0" r="0" t="0"/>
          <a:stretch/>
        </p:blipFill>
        <p:spPr>
          <a:xfrm>
            <a:off x="2500310" y="3067698"/>
            <a:ext cx="4143375" cy="790575"/>
          </a:xfrm>
          <a:prstGeom prst="rect">
            <a:avLst/>
          </a:prstGeom>
          <a:noFill/>
          <a:ln>
            <a:noFill/>
          </a:ln>
        </p:spPr>
      </p:pic>
      <p:pic>
        <p:nvPicPr>
          <p:cNvPr id="361" name="Google Shape;361;p16"/>
          <p:cNvPicPr preferRelativeResize="0"/>
          <p:nvPr/>
        </p:nvPicPr>
        <p:blipFill rotWithShape="1">
          <a:blip r:embed="rId4">
            <a:alphaModFix/>
          </a:blip>
          <a:srcRect b="0" l="0" r="0" t="0"/>
          <a:stretch/>
        </p:blipFill>
        <p:spPr>
          <a:xfrm>
            <a:off x="2500311" y="3929365"/>
            <a:ext cx="4143375" cy="97435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Sequence Number Method</a:t>
            </a:r>
            <a:endParaRPr/>
          </a:p>
        </p:txBody>
      </p:sp>
      <p:sp>
        <p:nvSpPr>
          <p:cNvPr id="368" name="Google Shape;368;p17"/>
          <p:cNvSpPr txBox="1"/>
          <p:nvPr>
            <p:ph idx="1" type="body"/>
          </p:nvPr>
        </p:nvSpPr>
        <p:spPr>
          <a:xfrm>
            <a:off x="431972" y="855419"/>
            <a:ext cx="4229676"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ACL ACE can be deleted or added using the ACL sequence numbers.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 the </a:t>
            </a:r>
            <a:r>
              <a:rPr b="1" lang="en-US" sz="1600">
                <a:solidFill>
                  <a:srgbClr val="000000"/>
                </a:solidFill>
              </a:rPr>
              <a:t>ip access-list standard</a:t>
            </a:r>
            <a:r>
              <a:rPr lang="en-US" sz="1600">
                <a:solidFill>
                  <a:srgbClr val="000000"/>
                </a:solidFill>
              </a:rPr>
              <a:t> command to edit an ACL.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Statements cannot be overwritten using an existing sequence number. The current statement must be deleted first with the </a:t>
            </a:r>
            <a:r>
              <a:rPr b="1" lang="en-US" sz="1600">
                <a:solidFill>
                  <a:srgbClr val="000000"/>
                </a:solidFill>
              </a:rPr>
              <a:t>no 10</a:t>
            </a:r>
            <a:r>
              <a:rPr lang="en-US" sz="1600">
                <a:solidFill>
                  <a:srgbClr val="000000"/>
                </a:solidFill>
              </a:rPr>
              <a:t> command. Then the correct ACE can be added using sequence number. </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369" name="Google Shape;369;p17"/>
          <p:cNvPicPr preferRelativeResize="0"/>
          <p:nvPr/>
        </p:nvPicPr>
        <p:blipFill rotWithShape="1">
          <a:blip r:embed="rId3">
            <a:alphaModFix/>
          </a:blip>
          <a:srcRect b="0" l="0" r="0" t="0"/>
          <a:stretch/>
        </p:blipFill>
        <p:spPr>
          <a:xfrm>
            <a:off x="4778203" y="875692"/>
            <a:ext cx="3933825" cy="952500"/>
          </a:xfrm>
          <a:prstGeom prst="rect">
            <a:avLst/>
          </a:prstGeom>
          <a:noFill/>
          <a:ln>
            <a:noFill/>
          </a:ln>
        </p:spPr>
      </p:pic>
      <p:pic>
        <p:nvPicPr>
          <p:cNvPr id="370" name="Google Shape;370;p17"/>
          <p:cNvPicPr preferRelativeResize="0"/>
          <p:nvPr/>
        </p:nvPicPr>
        <p:blipFill rotWithShape="1">
          <a:blip r:embed="rId4">
            <a:alphaModFix/>
          </a:blip>
          <a:srcRect b="0" l="0" r="0" t="0"/>
          <a:stretch/>
        </p:blipFill>
        <p:spPr>
          <a:xfrm>
            <a:off x="4778203" y="1972047"/>
            <a:ext cx="3933825" cy="195731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1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Modify a Named ACL Example</a:t>
            </a:r>
            <a:endParaRPr/>
          </a:p>
        </p:txBody>
      </p:sp>
      <p:sp>
        <p:nvSpPr>
          <p:cNvPr id="377" name="Google Shape;377;p18"/>
          <p:cNvSpPr txBox="1"/>
          <p:nvPr>
            <p:ph idx="1" type="body"/>
          </p:nvPr>
        </p:nvSpPr>
        <p:spPr>
          <a:xfrm>
            <a:off x="431971" y="855420"/>
            <a:ext cx="8280057" cy="73183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Named ACLs can also use sequence numbers to delete and add ACEs. In the example an ACE is added to deny hosts 192.168.10.11.</a:t>
            </a:r>
            <a:endParaRPr sz="14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378" name="Google Shape;378;p18"/>
          <p:cNvPicPr preferRelativeResize="0"/>
          <p:nvPr/>
        </p:nvPicPr>
        <p:blipFill rotWithShape="1">
          <a:blip r:embed="rId3">
            <a:alphaModFix/>
          </a:blip>
          <a:srcRect b="0" l="0" r="0" t="0"/>
          <a:stretch/>
        </p:blipFill>
        <p:spPr>
          <a:xfrm>
            <a:off x="2586036" y="1684803"/>
            <a:ext cx="4114800" cy="828881"/>
          </a:xfrm>
          <a:prstGeom prst="rect">
            <a:avLst/>
          </a:prstGeom>
          <a:noFill/>
          <a:ln>
            <a:noFill/>
          </a:ln>
        </p:spPr>
      </p:pic>
      <p:pic>
        <p:nvPicPr>
          <p:cNvPr id="379" name="Google Shape;379;p18"/>
          <p:cNvPicPr preferRelativeResize="0"/>
          <p:nvPr/>
        </p:nvPicPr>
        <p:blipFill rotWithShape="1">
          <a:blip r:embed="rId4">
            <a:alphaModFix/>
          </a:blip>
          <a:srcRect b="0" l="0" r="0" t="0"/>
          <a:stretch/>
        </p:blipFill>
        <p:spPr>
          <a:xfrm>
            <a:off x="2586036" y="2548422"/>
            <a:ext cx="4114800" cy="2162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ACL Statistics</a:t>
            </a:r>
            <a:endParaRPr/>
          </a:p>
        </p:txBody>
      </p:sp>
      <p:sp>
        <p:nvSpPr>
          <p:cNvPr id="386" name="Google Shape;386;p19"/>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access-lists</a:t>
            </a:r>
            <a:r>
              <a:rPr lang="en-US" sz="1600">
                <a:solidFill>
                  <a:srgbClr val="000000"/>
                </a:solidFill>
              </a:rPr>
              <a:t> command in the example shows statistics for each statement that has been matched.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deny ACE has been matched 20 times and the permit ACE has been matched 64 times.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Note that the implied deny any statement does not display any statistics. To track how many implicit denied packets have been matched, you must manually configure the </a:t>
            </a:r>
            <a:r>
              <a:rPr b="1" lang="en-US" sz="1400">
                <a:solidFill>
                  <a:srgbClr val="000000"/>
                </a:solidFill>
              </a:rPr>
              <a:t>deny any</a:t>
            </a:r>
            <a:r>
              <a:rPr lang="en-US" sz="1400">
                <a:solidFill>
                  <a:srgbClr val="000000"/>
                </a:solidFill>
              </a:rPr>
              <a:t> command.</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Use the </a:t>
            </a:r>
            <a:r>
              <a:rPr b="1" lang="en-US" sz="1400">
                <a:solidFill>
                  <a:srgbClr val="000000"/>
                </a:solidFill>
              </a:rPr>
              <a:t>clear access-list counters</a:t>
            </a:r>
            <a:r>
              <a:rPr lang="en-US" sz="1400">
                <a:solidFill>
                  <a:srgbClr val="000000"/>
                </a:solidFill>
              </a:rPr>
              <a:t> command to clear the ACL statistics.</a:t>
            </a:r>
            <a:endParaRPr/>
          </a:p>
        </p:txBody>
      </p:sp>
      <p:pic>
        <p:nvPicPr>
          <p:cNvPr id="387" name="Google Shape;387;p19"/>
          <p:cNvPicPr preferRelativeResize="0"/>
          <p:nvPr/>
        </p:nvPicPr>
        <p:blipFill rotWithShape="1">
          <a:blip r:embed="rId3">
            <a:alphaModFix/>
          </a:blip>
          <a:srcRect b="0" l="0" r="0" t="0"/>
          <a:stretch/>
        </p:blipFill>
        <p:spPr>
          <a:xfrm>
            <a:off x="2147886" y="2571750"/>
            <a:ext cx="4848225" cy="1943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Modify IPv4 ACLs</a:t>
            </a:r>
            <a:br>
              <a:rPr lang="en-US"/>
            </a:br>
            <a:r>
              <a:rPr lang="en-US" sz="2400"/>
              <a:t>Packet Tracer – Configure and Modify Standard IPv4 ACLs</a:t>
            </a:r>
            <a:endParaRPr/>
          </a:p>
        </p:txBody>
      </p:sp>
      <p:sp>
        <p:nvSpPr>
          <p:cNvPr id="394" name="Google Shape;394;p20"/>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Devices and Verify Connectivity.</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and Verify Standard Numbered and Named ACLs.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Modify a Standard 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1"/>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5.3 Secure VTY Ports with a Standard IPv4 ACL</a:t>
            </a:r>
            <a:endParaRPr/>
          </a:p>
        </p:txBody>
      </p:sp>
    </p:spTree>
  </p:cSld>
  <p:clrMapOvr>
    <a:masterClrMapping/>
  </p:clrMapOvr>
  <p:transition spd="slow">
    <p:wipe dir="l"/>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Secure VTY Ports with a Standard IPv4 ACL</a:t>
            </a:r>
            <a:br>
              <a:rPr lang="en-US"/>
            </a:br>
            <a:r>
              <a:rPr lang="en-US" sz="2400"/>
              <a:t>The access-class Command</a:t>
            </a:r>
            <a:endParaRPr/>
          </a:p>
        </p:txBody>
      </p:sp>
      <p:sp>
        <p:nvSpPr>
          <p:cNvPr id="407" name="Google Shape;407;p22"/>
          <p:cNvSpPr txBox="1"/>
          <p:nvPr>
            <p:ph idx="1" type="body"/>
          </p:nvPr>
        </p:nvSpPr>
        <p:spPr>
          <a:xfrm>
            <a:off x="431971" y="855419"/>
            <a:ext cx="8280057" cy="115857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standard ACL can secure remote administrative access to a device using the vty lines by implementing the following two steps: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Create an ACL to identify which administrative hosts should be allowed remote access.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Apply the ACL to incoming traffic on the vty lines.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408" name="Google Shape;408;p22"/>
          <p:cNvPicPr preferRelativeResize="0"/>
          <p:nvPr/>
        </p:nvPicPr>
        <p:blipFill rotWithShape="1">
          <a:blip r:embed="rId3">
            <a:alphaModFix/>
          </a:blip>
          <a:srcRect b="0" l="0" r="0" t="0"/>
          <a:stretch/>
        </p:blipFill>
        <p:spPr>
          <a:xfrm>
            <a:off x="1528761" y="2362200"/>
            <a:ext cx="6086475" cy="2095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Secure VTY Ports with a Standard IPv4 ACL</a:t>
            </a:r>
            <a:br>
              <a:rPr lang="en-US"/>
            </a:br>
            <a:r>
              <a:rPr lang="en-US" sz="2400"/>
              <a:t>Secure VTY Access Example</a:t>
            </a:r>
            <a:endParaRPr/>
          </a:p>
        </p:txBody>
      </p:sp>
      <p:sp>
        <p:nvSpPr>
          <p:cNvPr id="415" name="Google Shape;415;p23"/>
          <p:cNvSpPr txBox="1"/>
          <p:nvPr>
            <p:ph idx="1" type="body"/>
          </p:nvPr>
        </p:nvSpPr>
        <p:spPr>
          <a:xfrm>
            <a:off x="431971" y="855419"/>
            <a:ext cx="8280057" cy="12308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This example demonstrates how to configure an ACL to filter vty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First, a local database entry for a user </a:t>
            </a:r>
            <a:r>
              <a:rPr b="1" lang="en-US" sz="1600">
                <a:solidFill>
                  <a:srgbClr val="000000"/>
                </a:solidFill>
              </a:rPr>
              <a:t>ADMIN</a:t>
            </a:r>
            <a:r>
              <a:rPr lang="en-US" sz="1600">
                <a:solidFill>
                  <a:srgbClr val="000000"/>
                </a:solidFill>
              </a:rPr>
              <a:t> and password </a:t>
            </a:r>
            <a:r>
              <a:rPr b="1" lang="en-US" sz="1600">
                <a:solidFill>
                  <a:srgbClr val="000000"/>
                </a:solidFill>
              </a:rPr>
              <a:t>class </a:t>
            </a:r>
            <a:r>
              <a:rPr lang="en-US" sz="1600">
                <a:solidFill>
                  <a:srgbClr val="000000"/>
                </a:solidFill>
              </a:rPr>
              <a:t>is configured.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vty lines on R1 are configured to use the local database for authentication, permit SSH traffic, and use the ADMIN-HOST ACL to restrict traffic.</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416" name="Google Shape;416;p23"/>
          <p:cNvPicPr preferRelativeResize="0"/>
          <p:nvPr/>
        </p:nvPicPr>
        <p:blipFill rotWithShape="1">
          <a:blip r:embed="rId3">
            <a:alphaModFix/>
          </a:blip>
          <a:srcRect b="0" l="0" r="0" t="0"/>
          <a:stretch/>
        </p:blipFill>
        <p:spPr>
          <a:xfrm>
            <a:off x="2209799" y="2086255"/>
            <a:ext cx="4724400" cy="2333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Secure VTY Ports with a Standard IPv4 ACL</a:t>
            </a:r>
            <a:br>
              <a:rPr lang="en-US"/>
            </a:br>
            <a:r>
              <a:rPr lang="en-US" sz="2400"/>
              <a:t>Verify the VTY Port is Secured</a:t>
            </a:r>
            <a:endParaRPr/>
          </a:p>
        </p:txBody>
      </p:sp>
      <p:sp>
        <p:nvSpPr>
          <p:cNvPr id="423" name="Google Shape;423;p24"/>
          <p:cNvSpPr txBox="1"/>
          <p:nvPr>
            <p:ph idx="1" type="body"/>
          </p:nvPr>
        </p:nvSpPr>
        <p:spPr>
          <a:xfrm>
            <a:off x="431971" y="855419"/>
            <a:ext cx="8280057" cy="230242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After an ACL to restrict access to the vty lines is configured, it is important to verify it works as expected.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To verify the ACL statistics, issue the </a:t>
            </a:r>
            <a:r>
              <a:rPr b="1" lang="en-US" sz="1600">
                <a:solidFill>
                  <a:srgbClr val="000000"/>
                </a:solidFill>
              </a:rPr>
              <a:t>show access-lists</a:t>
            </a:r>
            <a:r>
              <a:rPr lang="en-US" sz="1600">
                <a:solidFill>
                  <a:srgbClr val="000000"/>
                </a:solidFill>
              </a:rPr>
              <a:t> command.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match in the permit line of the output is a result of a successful SSH connection by host with IP address 192.168.10.10.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match in the deny statement is due to the failed attempt to create a SSH connection from a device on another network.</a:t>
            </a:r>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424" name="Google Shape;424;p24"/>
          <p:cNvPicPr preferRelativeResize="0"/>
          <p:nvPr/>
        </p:nvPicPr>
        <p:blipFill rotWithShape="1">
          <a:blip r:embed="rId3">
            <a:alphaModFix/>
          </a:blip>
          <a:srcRect b="0" l="0" r="0" t="0"/>
          <a:stretch/>
        </p:blipFill>
        <p:spPr>
          <a:xfrm>
            <a:off x="862011" y="3157840"/>
            <a:ext cx="7419975" cy="15430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25"/>
          <p:cNvSpPr txBox="1"/>
          <p:nvPr>
            <p:ph type="ctrTitle"/>
          </p:nvPr>
        </p:nvSpPr>
        <p:spPr>
          <a:xfrm>
            <a:off x="416425" y="1354238"/>
            <a:ext cx="7848344" cy="1363562"/>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5.4 Configure Extended IPv4 ACLs</a:t>
            </a:r>
            <a:endParaRPr/>
          </a:p>
        </p:txBody>
      </p:sp>
    </p:spTree>
  </p:cSld>
  <p:clrMapOvr>
    <a:masterClrMapping/>
  </p:clrMapOvr>
  <p:transition spd="slow">
    <p:wipe dir="l"/>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Extended ACLs</a:t>
            </a:r>
            <a:endParaRPr/>
          </a:p>
        </p:txBody>
      </p:sp>
      <p:sp>
        <p:nvSpPr>
          <p:cNvPr id="437" name="Google Shape;437;p26"/>
          <p:cNvSpPr txBox="1"/>
          <p:nvPr>
            <p:ph idx="1" type="body"/>
          </p:nvPr>
        </p:nvSpPr>
        <p:spPr>
          <a:xfrm>
            <a:off x="431971" y="855419"/>
            <a:ext cx="8280057" cy="307394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Extended ACLs provide a greater degree of control. They can filter on source address, destination address, protocol (i.e., IP, TCP, UDP, ICMP), and port number.</a:t>
            </a:r>
            <a:endParaRPr/>
          </a:p>
          <a:p>
            <a:pPr indent="0" lvl="0" marL="0" rtl="0" algn="l">
              <a:lnSpc>
                <a:spcPct val="100000"/>
              </a:lnSpc>
              <a:spcBef>
                <a:spcPts val="360"/>
              </a:spcBef>
              <a:spcAft>
                <a:spcPts val="0"/>
              </a:spcAft>
              <a:buSzPts val="1800"/>
              <a:buNone/>
            </a:pPr>
            <a:r>
              <a:t/>
            </a:r>
            <a:endParaRPr sz="1800">
              <a:solidFill>
                <a:srgbClr val="000000"/>
              </a:solidFill>
            </a:endParaRPr>
          </a:p>
          <a:p>
            <a:pPr indent="0" lvl="0" marL="0" rtl="0" algn="l">
              <a:lnSpc>
                <a:spcPct val="100000"/>
              </a:lnSpc>
              <a:spcBef>
                <a:spcPts val="360"/>
              </a:spcBef>
              <a:spcAft>
                <a:spcPts val="0"/>
              </a:spcAft>
              <a:buSzPts val="1800"/>
              <a:buNone/>
            </a:pPr>
            <a:r>
              <a:rPr lang="en-US" sz="1800">
                <a:solidFill>
                  <a:srgbClr val="000000"/>
                </a:solidFill>
              </a:rPr>
              <a:t>Extended ACLs can be created as: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Numbered Extended ACL</a:t>
            </a:r>
            <a:r>
              <a:rPr lang="en-US" sz="1600">
                <a:solidFill>
                  <a:srgbClr val="000000"/>
                </a:solidFill>
              </a:rPr>
              <a:t> - Created using the </a:t>
            </a:r>
            <a:r>
              <a:rPr b="1" lang="en-US" sz="1600">
                <a:solidFill>
                  <a:srgbClr val="000000"/>
                </a:solidFill>
              </a:rPr>
              <a:t>access-list</a:t>
            </a:r>
            <a:r>
              <a:rPr lang="en-US" sz="1600">
                <a:solidFill>
                  <a:srgbClr val="000000"/>
                </a:solidFill>
              </a:rPr>
              <a:t> </a:t>
            </a:r>
            <a:r>
              <a:rPr i="1" lang="en-US" sz="1600">
                <a:solidFill>
                  <a:srgbClr val="000000"/>
                </a:solidFill>
              </a:rPr>
              <a:t>access-list-number</a:t>
            </a:r>
            <a:r>
              <a:rPr lang="en-US" sz="1600">
                <a:solidFill>
                  <a:srgbClr val="000000"/>
                </a:solidFill>
              </a:rPr>
              <a:t> global configuration command.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Named Extended ACL</a:t>
            </a:r>
            <a:r>
              <a:rPr lang="en-US" sz="1600">
                <a:solidFill>
                  <a:srgbClr val="000000"/>
                </a:solidFill>
              </a:rPr>
              <a:t> - Created using the </a:t>
            </a:r>
            <a:r>
              <a:rPr b="1" lang="en-US" sz="1600">
                <a:solidFill>
                  <a:srgbClr val="000000"/>
                </a:solidFill>
              </a:rPr>
              <a:t>ip access-list extended</a:t>
            </a:r>
            <a:r>
              <a:rPr lang="en-US" sz="1600">
                <a:solidFill>
                  <a:srgbClr val="000000"/>
                </a:solidFill>
              </a:rPr>
              <a:t> </a:t>
            </a:r>
            <a:r>
              <a:rPr i="1" lang="en-US" sz="1600">
                <a:solidFill>
                  <a:srgbClr val="000000"/>
                </a:solidFill>
              </a:rPr>
              <a:t>access-list-name</a:t>
            </a:r>
            <a:r>
              <a:rPr lang="en-US" sz="1600">
                <a:solidFill>
                  <a:srgbClr val="000000"/>
                </a:solidFill>
              </a:rPr>
              <a:t>.</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Protocols and Ports</a:t>
            </a:r>
            <a:endParaRPr/>
          </a:p>
        </p:txBody>
      </p:sp>
      <p:sp>
        <p:nvSpPr>
          <p:cNvPr id="444" name="Google Shape;444;p27"/>
          <p:cNvSpPr txBox="1"/>
          <p:nvPr>
            <p:ph idx="1" type="body"/>
          </p:nvPr>
        </p:nvSpPr>
        <p:spPr>
          <a:xfrm>
            <a:off x="431971" y="855418"/>
            <a:ext cx="1603017" cy="355709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Extended ACLs can filter on internet protocols and ports. Use the </a:t>
            </a:r>
            <a:r>
              <a:rPr b="1" lang="en-US" sz="1600">
                <a:solidFill>
                  <a:srgbClr val="000000"/>
                </a:solidFill>
              </a:rPr>
              <a:t>?</a:t>
            </a:r>
            <a:r>
              <a:rPr lang="en-US" sz="1600">
                <a:solidFill>
                  <a:srgbClr val="000000"/>
                </a:solidFill>
              </a:rPr>
              <a:t> to get help when entering a complex ACE.  The four highlighted protocols are the most popular options.</a:t>
            </a:r>
            <a:endParaRPr/>
          </a:p>
        </p:txBody>
      </p:sp>
      <p:sp>
        <p:nvSpPr>
          <p:cNvPr id="445" name="Google Shape;445;p27"/>
          <p:cNvSpPr txBox="1"/>
          <p:nvPr/>
        </p:nvSpPr>
        <p:spPr>
          <a:xfrm>
            <a:off x="4535954" y="370329"/>
            <a:ext cx="189026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Protocol Options</a:t>
            </a:r>
            <a:endParaRPr/>
          </a:p>
        </p:txBody>
      </p:sp>
      <p:pic>
        <p:nvPicPr>
          <p:cNvPr id="446" name="Google Shape;446;p27"/>
          <p:cNvPicPr preferRelativeResize="0"/>
          <p:nvPr/>
        </p:nvPicPr>
        <p:blipFill rotWithShape="1">
          <a:blip r:embed="rId3">
            <a:alphaModFix/>
          </a:blip>
          <a:srcRect b="0" l="0" r="0" t="0"/>
          <a:stretch/>
        </p:blipFill>
        <p:spPr>
          <a:xfrm>
            <a:off x="3211034" y="793799"/>
            <a:ext cx="4540102" cy="39368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Protocols and Ports (Cont.)</a:t>
            </a:r>
            <a:endParaRPr/>
          </a:p>
        </p:txBody>
      </p:sp>
      <p:sp>
        <p:nvSpPr>
          <p:cNvPr id="453" name="Google Shape;453;p28"/>
          <p:cNvSpPr txBox="1"/>
          <p:nvPr>
            <p:ph idx="1" type="body"/>
          </p:nvPr>
        </p:nvSpPr>
        <p:spPr>
          <a:xfrm>
            <a:off x="431971" y="855418"/>
            <a:ext cx="1603017" cy="243004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Selecting a protocol influences port options. Many TCP port options are available, as shown in the output.</a:t>
            </a:r>
            <a:endParaRPr/>
          </a:p>
        </p:txBody>
      </p:sp>
      <p:pic>
        <p:nvPicPr>
          <p:cNvPr id="454" name="Google Shape;454;p28"/>
          <p:cNvPicPr preferRelativeResize="0"/>
          <p:nvPr/>
        </p:nvPicPr>
        <p:blipFill rotWithShape="1">
          <a:blip r:embed="rId3">
            <a:alphaModFix/>
          </a:blip>
          <a:srcRect b="0" l="0" r="0" t="0"/>
          <a:stretch/>
        </p:blipFill>
        <p:spPr>
          <a:xfrm>
            <a:off x="4172744" y="365918"/>
            <a:ext cx="2355562" cy="43500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Protocols and Port Numbers Configuration Examples</a:t>
            </a:r>
            <a:endParaRPr/>
          </a:p>
        </p:txBody>
      </p:sp>
      <p:sp>
        <p:nvSpPr>
          <p:cNvPr id="461" name="Google Shape;461;p29"/>
          <p:cNvSpPr txBox="1"/>
          <p:nvPr>
            <p:ph idx="1" type="body"/>
          </p:nvPr>
        </p:nvSpPr>
        <p:spPr>
          <a:xfrm>
            <a:off x="431971" y="855418"/>
            <a:ext cx="8280057" cy="127432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Extended ACLs can filter on different port number and port name options.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This example configures an extended ACL 100 to filter HTTP traffic. The first ACE uses the </a:t>
            </a:r>
            <a:r>
              <a:rPr b="1" lang="en-US" sz="1600">
                <a:solidFill>
                  <a:srgbClr val="000000"/>
                </a:solidFill>
              </a:rPr>
              <a:t>www</a:t>
            </a:r>
            <a:r>
              <a:rPr lang="en-US" sz="1600">
                <a:solidFill>
                  <a:srgbClr val="000000"/>
                </a:solidFill>
              </a:rPr>
              <a:t> port name. The second ACE uses the port number </a:t>
            </a:r>
            <a:r>
              <a:rPr b="1" lang="en-US" sz="1600">
                <a:solidFill>
                  <a:srgbClr val="000000"/>
                </a:solidFill>
              </a:rPr>
              <a:t>80</a:t>
            </a:r>
            <a:r>
              <a:rPr lang="en-US" sz="1600">
                <a:solidFill>
                  <a:srgbClr val="000000"/>
                </a:solidFill>
              </a:rPr>
              <a:t>. Both ACEs achieve exactly the same result.</a:t>
            </a:r>
            <a:endParaRPr/>
          </a:p>
        </p:txBody>
      </p:sp>
      <p:pic>
        <p:nvPicPr>
          <p:cNvPr id="462" name="Google Shape;462;p29"/>
          <p:cNvPicPr preferRelativeResize="0"/>
          <p:nvPr/>
        </p:nvPicPr>
        <p:blipFill rotWithShape="1">
          <a:blip r:embed="rId3">
            <a:alphaModFix/>
          </a:blip>
          <a:srcRect b="0" l="0" r="0" t="0"/>
          <a:stretch/>
        </p:blipFill>
        <p:spPr>
          <a:xfrm>
            <a:off x="2533650" y="2276475"/>
            <a:ext cx="4076700" cy="590550"/>
          </a:xfrm>
          <a:prstGeom prst="rect">
            <a:avLst/>
          </a:prstGeom>
          <a:noFill/>
          <a:ln>
            <a:noFill/>
          </a:ln>
        </p:spPr>
      </p:pic>
      <p:sp>
        <p:nvSpPr>
          <p:cNvPr id="463" name="Google Shape;463;p29"/>
          <p:cNvSpPr txBox="1"/>
          <p:nvPr/>
        </p:nvSpPr>
        <p:spPr>
          <a:xfrm>
            <a:off x="431971" y="2888991"/>
            <a:ext cx="8280057" cy="1067974"/>
          </a:xfrm>
          <a:prstGeom prst="rect">
            <a:avLst/>
          </a:prstGeom>
          <a:no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1600"/>
              <a:buFont typeface="Arial"/>
              <a:buNone/>
            </a:pPr>
            <a:r>
              <a:rPr b="0" i="0" lang="en-US" sz="1600">
                <a:solidFill>
                  <a:srgbClr val="000000"/>
                </a:solidFill>
                <a:latin typeface="Arial"/>
                <a:ea typeface="Arial"/>
                <a:cs typeface="Arial"/>
                <a:sym typeface="Arial"/>
              </a:rPr>
              <a:t>Configuring the port number is required when there is not a specific protocol name listed such as SSH (port number 22) or an HTTPS (port number 443), as shown in the next example.</a:t>
            </a:r>
            <a:endParaRPr/>
          </a:p>
        </p:txBody>
      </p:sp>
      <p:pic>
        <p:nvPicPr>
          <p:cNvPr id="464" name="Google Shape;464;p29"/>
          <p:cNvPicPr preferRelativeResize="0"/>
          <p:nvPr/>
        </p:nvPicPr>
        <p:blipFill rotWithShape="1">
          <a:blip r:embed="rId4">
            <a:alphaModFix/>
          </a:blip>
          <a:srcRect b="0" l="0" r="0" t="0"/>
          <a:stretch/>
        </p:blipFill>
        <p:spPr>
          <a:xfrm>
            <a:off x="2571749" y="3642640"/>
            <a:ext cx="4000500" cy="6286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Apply a Numbered Extended IPv4 ACL</a:t>
            </a:r>
            <a:endParaRPr/>
          </a:p>
        </p:txBody>
      </p:sp>
      <p:sp>
        <p:nvSpPr>
          <p:cNvPr id="471" name="Google Shape;471;p30"/>
          <p:cNvSpPr txBox="1"/>
          <p:nvPr>
            <p:ph idx="1" type="body"/>
          </p:nvPr>
        </p:nvSpPr>
        <p:spPr>
          <a:xfrm>
            <a:off x="431971" y="855419"/>
            <a:ext cx="8280057" cy="106797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In this example, the ACL permits both HTTP and HTTPS traffic from the 192.168.10.0 network to go to any destination.</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Extended ACLs can be applied in various locations. However, they are commonly applied close to the source. Here ACL 110 is applied inbound on the R1 G0/0/0 interface.</a:t>
            </a:r>
            <a:endParaRPr/>
          </a:p>
        </p:txBody>
      </p:sp>
      <p:pic>
        <p:nvPicPr>
          <p:cNvPr id="472" name="Google Shape;472;p30"/>
          <p:cNvPicPr preferRelativeResize="0"/>
          <p:nvPr/>
        </p:nvPicPr>
        <p:blipFill rotWithShape="1">
          <a:blip r:embed="rId3">
            <a:alphaModFix/>
          </a:blip>
          <a:srcRect b="0" l="0" r="0" t="0"/>
          <a:stretch/>
        </p:blipFill>
        <p:spPr>
          <a:xfrm>
            <a:off x="1876424" y="2634320"/>
            <a:ext cx="5391150" cy="1171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TCP Established Extended ACL</a:t>
            </a:r>
            <a:endParaRPr/>
          </a:p>
        </p:txBody>
      </p:sp>
      <p:sp>
        <p:nvSpPr>
          <p:cNvPr id="479" name="Google Shape;479;p31"/>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TCP can also perform basic stateful firewall services using the TCP </a:t>
            </a:r>
            <a:r>
              <a:rPr b="1" lang="en-US" sz="1600">
                <a:solidFill>
                  <a:srgbClr val="000000"/>
                </a:solidFill>
              </a:rPr>
              <a:t>established</a:t>
            </a:r>
            <a:r>
              <a:rPr lang="en-US" sz="1600">
                <a:solidFill>
                  <a:srgbClr val="000000"/>
                </a:solidFill>
              </a:rPr>
              <a:t> keyword.</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established</a:t>
            </a:r>
            <a:r>
              <a:rPr lang="en-US" sz="1600">
                <a:solidFill>
                  <a:srgbClr val="000000"/>
                </a:solidFill>
              </a:rPr>
              <a:t> keyword enables inside traffic to exit the inside private network and permits the returning reply traffic to enter the inside private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TCP traffic generated by an outside host and attempting to communicate with an inside host is denied.</a:t>
            </a:r>
            <a:endParaRPr/>
          </a:p>
        </p:txBody>
      </p:sp>
      <p:pic>
        <p:nvPicPr>
          <p:cNvPr id="480" name="Google Shape;480;p31"/>
          <p:cNvPicPr preferRelativeResize="0"/>
          <p:nvPr/>
        </p:nvPicPr>
        <p:blipFill rotWithShape="1">
          <a:blip r:embed="rId3">
            <a:alphaModFix/>
          </a:blip>
          <a:srcRect b="0" l="0" r="0" t="0"/>
          <a:stretch/>
        </p:blipFill>
        <p:spPr>
          <a:xfrm>
            <a:off x="1801791" y="2301765"/>
            <a:ext cx="4563150" cy="24884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TCP Established Extended ACL (Cont.)</a:t>
            </a:r>
            <a:endParaRPr/>
          </a:p>
        </p:txBody>
      </p:sp>
      <p:sp>
        <p:nvSpPr>
          <p:cNvPr id="487" name="Google Shape;487;p32"/>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ACL 120 is configured to only permit returning web traffic to the inside hosts. The ACL is then applied outbound on the R1 G0/0/0 interface.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show access-lists</a:t>
            </a:r>
            <a:r>
              <a:rPr lang="en-US" sz="1600">
                <a:solidFill>
                  <a:srgbClr val="000000"/>
                </a:solidFill>
              </a:rPr>
              <a:t> command shows that inside hosts are accessing the secure web resources from the internet. </a:t>
            </a:r>
            <a:endParaRPr/>
          </a:p>
          <a:p>
            <a:pPr indent="0" lvl="1" marL="73085" rtl="0" algn="l">
              <a:lnSpc>
                <a:spcPct val="95000"/>
              </a:lnSpc>
              <a:spcBef>
                <a:spcPts val="600"/>
              </a:spcBef>
              <a:spcAft>
                <a:spcPts val="0"/>
              </a:spcAft>
              <a:buSzPts val="1400"/>
              <a:buNone/>
            </a:pPr>
            <a:r>
              <a:rPr b="1" lang="en-US">
                <a:solidFill>
                  <a:srgbClr val="000000"/>
                </a:solidFill>
              </a:rPr>
              <a:t>Note</a:t>
            </a:r>
            <a:r>
              <a:rPr lang="en-US">
                <a:solidFill>
                  <a:srgbClr val="000000"/>
                </a:solidFill>
              </a:rPr>
              <a:t>: A match occurs if the returning TCP segment has the ACK or reset (RST) flag bits set, indicating that the packet belongs to an existing connection.</a:t>
            </a:r>
            <a:endParaRPr/>
          </a:p>
        </p:txBody>
      </p:sp>
      <p:pic>
        <p:nvPicPr>
          <p:cNvPr id="488" name="Google Shape;488;p32"/>
          <p:cNvPicPr preferRelativeResize="0"/>
          <p:nvPr/>
        </p:nvPicPr>
        <p:blipFill rotWithShape="1">
          <a:blip r:embed="rId3">
            <a:alphaModFix/>
          </a:blip>
          <a:srcRect b="0" l="0" r="0" t="0"/>
          <a:stretch/>
        </p:blipFill>
        <p:spPr>
          <a:xfrm>
            <a:off x="1676399" y="2571750"/>
            <a:ext cx="5791200" cy="213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Syntax</a:t>
            </a:r>
            <a:endParaRPr/>
          </a:p>
        </p:txBody>
      </p:sp>
      <p:sp>
        <p:nvSpPr>
          <p:cNvPr id="495" name="Google Shape;495;p33"/>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Naming an ACL makes it easier to understand its function. To create a named extended ACL, use the </a:t>
            </a:r>
            <a:r>
              <a:rPr b="1" lang="en-US" sz="1600">
                <a:solidFill>
                  <a:srgbClr val="000000"/>
                </a:solidFill>
              </a:rPr>
              <a:t>ip access-list extended </a:t>
            </a:r>
            <a:r>
              <a:rPr lang="en-US" sz="1600">
                <a:solidFill>
                  <a:srgbClr val="000000"/>
                </a:solidFill>
              </a:rPr>
              <a:t>configuration command.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In the example, a named extended ACL called NO-FTP-ACCESS is created and the prompt changed to named extended ACL configuration mode. ACE statements are entered in the named extended ACL sub configuration mode.</a:t>
            </a:r>
            <a:endParaRPr/>
          </a:p>
        </p:txBody>
      </p:sp>
      <p:pic>
        <p:nvPicPr>
          <p:cNvPr id="496" name="Google Shape;496;p33"/>
          <p:cNvPicPr preferRelativeResize="0"/>
          <p:nvPr/>
        </p:nvPicPr>
        <p:blipFill rotWithShape="1">
          <a:blip r:embed="rId3">
            <a:alphaModFix/>
          </a:blip>
          <a:srcRect b="0" l="0" r="0" t="0"/>
          <a:stretch/>
        </p:blipFill>
        <p:spPr>
          <a:xfrm>
            <a:off x="2452686" y="2571750"/>
            <a:ext cx="4238625" cy="276225"/>
          </a:xfrm>
          <a:prstGeom prst="rect">
            <a:avLst/>
          </a:prstGeom>
          <a:noFill/>
          <a:ln>
            <a:noFill/>
          </a:ln>
        </p:spPr>
      </p:pic>
      <p:pic>
        <p:nvPicPr>
          <p:cNvPr id="497" name="Google Shape;497;p33"/>
          <p:cNvPicPr preferRelativeResize="0"/>
          <p:nvPr/>
        </p:nvPicPr>
        <p:blipFill rotWithShape="1">
          <a:blip r:embed="rId4">
            <a:alphaModFix/>
          </a:blip>
          <a:srcRect b="0" l="0" r="0" t="0"/>
          <a:stretch/>
        </p:blipFill>
        <p:spPr>
          <a:xfrm>
            <a:off x="2452686" y="3117960"/>
            <a:ext cx="4238625" cy="4397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Example</a:t>
            </a:r>
            <a:endParaRPr/>
          </a:p>
        </p:txBody>
      </p:sp>
      <p:sp>
        <p:nvSpPr>
          <p:cNvPr id="504" name="Google Shape;504;p34"/>
          <p:cNvSpPr txBox="1"/>
          <p:nvPr>
            <p:ph idx="1" type="body"/>
          </p:nvPr>
        </p:nvSpPr>
        <p:spPr>
          <a:xfrm>
            <a:off x="431971" y="855418"/>
            <a:ext cx="8280057" cy="1509409"/>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topology below is used to demonstrate configuring and applying two named extended IPv4 ACLs to an interface:</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SURFING</a:t>
            </a:r>
            <a:r>
              <a:rPr lang="en-US" sz="1400">
                <a:solidFill>
                  <a:srgbClr val="000000"/>
                </a:solidFill>
              </a:rPr>
              <a:t> - This will permit inside HTTP and HTTPS traffic to exit to the internet.</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BROWSING</a:t>
            </a:r>
            <a:r>
              <a:rPr lang="en-US" sz="1400">
                <a:solidFill>
                  <a:srgbClr val="000000"/>
                </a:solidFill>
              </a:rPr>
              <a:t> - This will only permit returning web traffic to the inside hosts while all other traffic exiting the R1 G0/0/0 interface is implicitly denied.</a:t>
            </a:r>
            <a:endParaRPr/>
          </a:p>
        </p:txBody>
      </p:sp>
      <p:pic>
        <p:nvPicPr>
          <p:cNvPr id="505" name="Google Shape;505;p34"/>
          <p:cNvPicPr preferRelativeResize="0"/>
          <p:nvPr/>
        </p:nvPicPr>
        <p:blipFill rotWithShape="1">
          <a:blip r:embed="rId3">
            <a:alphaModFix/>
          </a:blip>
          <a:srcRect b="0" l="0" r="0" t="0"/>
          <a:stretch/>
        </p:blipFill>
        <p:spPr>
          <a:xfrm>
            <a:off x="946359" y="2571750"/>
            <a:ext cx="7251281" cy="19851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Example (Cont.)</a:t>
            </a:r>
            <a:endParaRPr/>
          </a:p>
        </p:txBody>
      </p:sp>
      <p:sp>
        <p:nvSpPr>
          <p:cNvPr id="512" name="Google Shape;512;p35"/>
          <p:cNvSpPr txBox="1"/>
          <p:nvPr>
            <p:ph idx="1" type="body"/>
          </p:nvPr>
        </p:nvSpPr>
        <p:spPr>
          <a:xfrm>
            <a:off x="431972" y="855418"/>
            <a:ext cx="2732570" cy="3223523"/>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400"/>
              <a:buFont typeface="Arial"/>
              <a:buChar char="•"/>
            </a:pPr>
            <a:r>
              <a:rPr lang="en-US" sz="1400">
                <a:solidFill>
                  <a:srgbClr val="000000"/>
                </a:solidFill>
              </a:rPr>
              <a:t>The SURFING ACL permits HTTP and HTTPS traffic from inside users to exit the G0/0/1 interface connected to the internet. Web traffic returning from the internet is permitted back into the inside private network by the BROWSING ACL.</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SURFING ACL is applied inbound and the BROWSING ACL is applied outbound on the R1 G0/0/0 interface.</a:t>
            </a:r>
            <a:endParaRPr/>
          </a:p>
        </p:txBody>
      </p:sp>
      <p:pic>
        <p:nvPicPr>
          <p:cNvPr id="513" name="Google Shape;513;p35"/>
          <p:cNvPicPr preferRelativeResize="0"/>
          <p:nvPr/>
        </p:nvPicPr>
        <p:blipFill rotWithShape="1">
          <a:blip r:embed="rId3">
            <a:alphaModFix/>
          </a:blip>
          <a:srcRect b="0" l="0" r="0" t="0"/>
          <a:stretch/>
        </p:blipFill>
        <p:spPr>
          <a:xfrm>
            <a:off x="3358978" y="571500"/>
            <a:ext cx="5353050" cy="4000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Named Extended IPv4 ACL Example (Cont.)</a:t>
            </a:r>
            <a:endParaRPr/>
          </a:p>
        </p:txBody>
      </p:sp>
      <p:sp>
        <p:nvSpPr>
          <p:cNvPr id="520" name="Google Shape;520;p36"/>
          <p:cNvSpPr txBox="1"/>
          <p:nvPr>
            <p:ph idx="1" type="body"/>
          </p:nvPr>
        </p:nvSpPr>
        <p:spPr>
          <a:xfrm>
            <a:off x="431971" y="855418"/>
            <a:ext cx="8280057" cy="125716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The show access-lists</a:t>
            </a:r>
            <a:r>
              <a:rPr lang="en-US" sz="1600">
                <a:solidFill>
                  <a:srgbClr val="000000"/>
                </a:solidFill>
              </a:rPr>
              <a:t> command is used to verify the ACL statistics. Notice that the permit secure HTTPS counters (i.e., eq 443) in the SURFING ACL and the return established counters in the BROWSING ACL have increased.</a:t>
            </a:r>
            <a:endParaRPr/>
          </a:p>
        </p:txBody>
      </p:sp>
      <p:pic>
        <p:nvPicPr>
          <p:cNvPr id="521" name="Google Shape;521;p36"/>
          <p:cNvPicPr preferRelativeResize="0"/>
          <p:nvPr/>
        </p:nvPicPr>
        <p:blipFill rotWithShape="1">
          <a:blip r:embed="rId3">
            <a:alphaModFix/>
          </a:blip>
          <a:srcRect b="0" l="0" r="0" t="0"/>
          <a:stretch/>
        </p:blipFill>
        <p:spPr>
          <a:xfrm>
            <a:off x="2419350" y="1881187"/>
            <a:ext cx="4305300" cy="1381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Edit Extended ACLs</a:t>
            </a:r>
            <a:endParaRPr/>
          </a:p>
        </p:txBody>
      </p:sp>
      <p:sp>
        <p:nvSpPr>
          <p:cNvPr id="528" name="Google Shape;528;p37"/>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 extended ACL can be edited using a text editor when many changes are required. Or, if the edit applies to one or two ACEs, then sequence numbers can be used.</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Example: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ACE sequence number 10 in the SURFING ACL has an incorrect source IP networks address.</a:t>
            </a:r>
            <a:endParaRPr/>
          </a:p>
        </p:txBody>
      </p:sp>
      <p:pic>
        <p:nvPicPr>
          <p:cNvPr id="529" name="Google Shape;529;p37"/>
          <p:cNvPicPr preferRelativeResize="0"/>
          <p:nvPr/>
        </p:nvPicPr>
        <p:blipFill rotWithShape="1">
          <a:blip r:embed="rId3">
            <a:alphaModFix/>
          </a:blip>
          <a:srcRect b="0" l="0" r="0" t="0"/>
          <a:stretch/>
        </p:blipFill>
        <p:spPr>
          <a:xfrm>
            <a:off x="2419349" y="2823731"/>
            <a:ext cx="4305300" cy="1381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Edit Extended ACLs (Cont.)</a:t>
            </a:r>
            <a:endParaRPr/>
          </a:p>
        </p:txBody>
      </p:sp>
      <p:sp>
        <p:nvSpPr>
          <p:cNvPr id="536" name="Google Shape;536;p38"/>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To correct this error the original statement is removed with the </a:t>
            </a:r>
            <a:r>
              <a:rPr b="1" lang="en-US" sz="1600">
                <a:solidFill>
                  <a:srgbClr val="000000"/>
                </a:solidFill>
              </a:rPr>
              <a:t>no</a:t>
            </a:r>
            <a:r>
              <a:rPr lang="en-US" sz="1600">
                <a:solidFill>
                  <a:srgbClr val="000000"/>
                </a:solidFill>
              </a:rPr>
              <a:t> </a:t>
            </a:r>
            <a:r>
              <a:rPr i="1" lang="en-US" sz="1600">
                <a:solidFill>
                  <a:srgbClr val="000000"/>
                </a:solidFill>
              </a:rPr>
              <a:t>sequence_#</a:t>
            </a:r>
            <a:r>
              <a:rPr lang="en-US" sz="1600">
                <a:solidFill>
                  <a:srgbClr val="000000"/>
                </a:solidFill>
              </a:rPr>
              <a:t> command and the corrected statement is added replacing the original statement.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show access-lists</a:t>
            </a:r>
            <a:r>
              <a:rPr lang="en-US" sz="1600">
                <a:solidFill>
                  <a:srgbClr val="000000"/>
                </a:solidFill>
              </a:rPr>
              <a:t> command output verifies the configuration change.</a:t>
            </a:r>
            <a:endParaRPr/>
          </a:p>
        </p:txBody>
      </p:sp>
      <p:pic>
        <p:nvPicPr>
          <p:cNvPr id="537" name="Google Shape;537;p38"/>
          <p:cNvPicPr preferRelativeResize="0"/>
          <p:nvPr/>
        </p:nvPicPr>
        <p:blipFill rotWithShape="1">
          <a:blip r:embed="rId3">
            <a:alphaModFix/>
          </a:blip>
          <a:srcRect b="0" l="0" r="0" t="0"/>
          <a:stretch/>
        </p:blipFill>
        <p:spPr>
          <a:xfrm>
            <a:off x="2024062" y="2062162"/>
            <a:ext cx="5095875" cy="1019175"/>
          </a:xfrm>
          <a:prstGeom prst="rect">
            <a:avLst/>
          </a:prstGeom>
          <a:noFill/>
          <a:ln>
            <a:noFill/>
          </a:ln>
        </p:spPr>
      </p:pic>
      <p:pic>
        <p:nvPicPr>
          <p:cNvPr id="538" name="Google Shape;538;p38"/>
          <p:cNvPicPr preferRelativeResize="0"/>
          <p:nvPr/>
        </p:nvPicPr>
        <p:blipFill rotWithShape="1">
          <a:blip r:embed="rId4">
            <a:alphaModFix/>
          </a:blip>
          <a:srcRect b="0" l="0" r="0" t="0"/>
          <a:stretch/>
        </p:blipFill>
        <p:spPr>
          <a:xfrm>
            <a:off x="2024062" y="3226455"/>
            <a:ext cx="5095875" cy="134200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3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Another Extended IPv4 ACL Example</a:t>
            </a:r>
            <a:endParaRPr/>
          </a:p>
        </p:txBody>
      </p:sp>
      <p:sp>
        <p:nvSpPr>
          <p:cNvPr id="545" name="Google Shape;545;p39"/>
          <p:cNvSpPr txBox="1"/>
          <p:nvPr>
            <p:ph idx="1" type="body"/>
          </p:nvPr>
        </p:nvSpPr>
        <p:spPr>
          <a:xfrm>
            <a:off x="431971" y="855418"/>
            <a:ext cx="8280057" cy="14463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Two named extended ACLs will be created:</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PERMIT-PC1</a:t>
            </a:r>
            <a:r>
              <a:rPr lang="en-US" sz="1400">
                <a:solidFill>
                  <a:srgbClr val="000000"/>
                </a:solidFill>
              </a:rPr>
              <a:t> - This will only permit PC1 TCP access to the internet and deny all other hosts in the private network.</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REPLY-PC1</a:t>
            </a:r>
            <a:r>
              <a:rPr lang="en-US" sz="1400">
                <a:solidFill>
                  <a:srgbClr val="000000"/>
                </a:solidFill>
              </a:rPr>
              <a:t> - This will only permit specified returning TCP traffic to PC1 implicitly deny all other traffic.</a:t>
            </a:r>
            <a:endParaRPr/>
          </a:p>
        </p:txBody>
      </p:sp>
      <p:pic>
        <p:nvPicPr>
          <p:cNvPr id="546" name="Google Shape;546;p39"/>
          <p:cNvPicPr preferRelativeResize="0"/>
          <p:nvPr/>
        </p:nvPicPr>
        <p:blipFill rotWithShape="1">
          <a:blip r:embed="rId3">
            <a:alphaModFix/>
          </a:blip>
          <a:srcRect b="0" l="0" r="0" t="0"/>
          <a:stretch/>
        </p:blipFill>
        <p:spPr>
          <a:xfrm>
            <a:off x="792163" y="2301765"/>
            <a:ext cx="7553325" cy="20193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Another Extended IPv4 ACL Example (Cont.)</a:t>
            </a:r>
            <a:endParaRPr/>
          </a:p>
        </p:txBody>
      </p:sp>
      <p:sp>
        <p:nvSpPr>
          <p:cNvPr id="553" name="Google Shape;553;p40"/>
          <p:cNvSpPr txBox="1"/>
          <p:nvPr>
            <p:ph idx="1" type="body"/>
          </p:nvPr>
        </p:nvSpPr>
        <p:spPr>
          <a:xfrm>
            <a:off x="431972" y="855418"/>
            <a:ext cx="3243558" cy="1446347"/>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The </a:t>
            </a:r>
            <a:r>
              <a:rPr b="1" lang="en-US" sz="1600">
                <a:solidFill>
                  <a:srgbClr val="000000"/>
                </a:solidFill>
              </a:rPr>
              <a:t>PERMIT-PC1</a:t>
            </a:r>
            <a:r>
              <a:rPr lang="en-US" sz="1600">
                <a:solidFill>
                  <a:srgbClr val="000000"/>
                </a:solidFill>
              </a:rPr>
              <a:t> ACL permits PC1 (192.168.10.10) TCP access to the FTP, SSH, Telnet, DNS , HTTP, and HTTPS traffic.</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REPLY-PC1</a:t>
            </a:r>
            <a:r>
              <a:rPr lang="en-US" sz="1600">
                <a:solidFill>
                  <a:srgbClr val="000000"/>
                </a:solidFill>
              </a:rPr>
              <a:t> ACL will permit return traffic to PC1.</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a:t>
            </a:r>
            <a:r>
              <a:rPr b="1" lang="en-US" sz="1600">
                <a:solidFill>
                  <a:srgbClr val="000000"/>
                </a:solidFill>
              </a:rPr>
              <a:t>PERMIT-PC1</a:t>
            </a:r>
            <a:r>
              <a:rPr lang="en-US" sz="1600">
                <a:solidFill>
                  <a:srgbClr val="000000"/>
                </a:solidFill>
              </a:rPr>
              <a:t> ACL is applied inbound and the </a:t>
            </a:r>
            <a:r>
              <a:rPr b="1" lang="en-US" sz="1600">
                <a:solidFill>
                  <a:srgbClr val="000000"/>
                </a:solidFill>
              </a:rPr>
              <a:t>REPLY-PC1</a:t>
            </a:r>
            <a:r>
              <a:rPr lang="en-US" sz="1600">
                <a:solidFill>
                  <a:srgbClr val="000000"/>
                </a:solidFill>
              </a:rPr>
              <a:t> ACL applied outbound on the R1 G0/0/0 interface.</a:t>
            </a:r>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554" name="Google Shape;554;p40"/>
          <p:cNvPicPr preferRelativeResize="0"/>
          <p:nvPr/>
        </p:nvPicPr>
        <p:blipFill rotWithShape="1">
          <a:blip r:embed="rId3">
            <a:alphaModFix/>
          </a:blip>
          <a:srcRect b="0" l="0" r="0" t="0"/>
          <a:stretch/>
        </p:blipFill>
        <p:spPr>
          <a:xfrm>
            <a:off x="3778078" y="643218"/>
            <a:ext cx="4933950" cy="4000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Verify Extended ACLs</a:t>
            </a:r>
            <a:endParaRPr/>
          </a:p>
        </p:txBody>
      </p:sp>
      <p:sp>
        <p:nvSpPr>
          <p:cNvPr id="561" name="Google Shape;561;p41"/>
          <p:cNvSpPr txBox="1"/>
          <p:nvPr>
            <p:ph idx="1" type="body"/>
          </p:nvPr>
        </p:nvSpPr>
        <p:spPr>
          <a:xfrm>
            <a:off x="431971" y="855419"/>
            <a:ext cx="4068311" cy="10364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ip interface</a:t>
            </a:r>
            <a:r>
              <a:rPr lang="en-US" sz="1600">
                <a:solidFill>
                  <a:srgbClr val="000000"/>
                </a:solidFill>
              </a:rPr>
              <a:t> command is used to verify the ACL on the interface and the direction in which it was applied.</a:t>
            </a:r>
            <a:endParaRPr/>
          </a:p>
        </p:txBody>
      </p:sp>
      <p:pic>
        <p:nvPicPr>
          <p:cNvPr id="562" name="Google Shape;562;p41"/>
          <p:cNvPicPr preferRelativeResize="0"/>
          <p:nvPr/>
        </p:nvPicPr>
        <p:blipFill rotWithShape="1">
          <a:blip r:embed="rId3">
            <a:alphaModFix/>
          </a:blip>
          <a:srcRect b="0" l="0" r="0" t="0"/>
          <a:stretch/>
        </p:blipFill>
        <p:spPr>
          <a:xfrm>
            <a:off x="4904325" y="265672"/>
            <a:ext cx="3652667" cy="441166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Verify Extended ACLs (Cont.)</a:t>
            </a:r>
            <a:endParaRPr/>
          </a:p>
        </p:txBody>
      </p:sp>
      <p:sp>
        <p:nvSpPr>
          <p:cNvPr id="569" name="Google Shape;569;p42"/>
          <p:cNvSpPr txBox="1"/>
          <p:nvPr>
            <p:ph idx="1" type="body"/>
          </p:nvPr>
        </p:nvSpPr>
        <p:spPr>
          <a:xfrm>
            <a:off x="431971" y="855419"/>
            <a:ext cx="8280057" cy="10364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access-lists</a:t>
            </a:r>
            <a:r>
              <a:rPr lang="en-US" sz="1600">
                <a:solidFill>
                  <a:srgbClr val="000000"/>
                </a:solidFill>
              </a:rPr>
              <a:t> command can be used to confirm that the ACLs work as expected. The command displays statistic counters that increase whenever an ACE is matched.</a:t>
            </a:r>
            <a:endParaRPr/>
          </a:p>
          <a:p>
            <a:pPr indent="0" lvl="0" marL="0" rtl="0" algn="l">
              <a:lnSpc>
                <a:spcPct val="100000"/>
              </a:lnSpc>
              <a:spcBef>
                <a:spcPts val="320"/>
              </a:spcBef>
              <a:spcAft>
                <a:spcPts val="0"/>
              </a:spcAft>
              <a:buSzPts val="1600"/>
              <a:buNone/>
            </a:pPr>
            <a:r>
              <a:rPr b="1" lang="en-US" sz="1600">
                <a:solidFill>
                  <a:srgbClr val="000000"/>
                </a:solidFill>
              </a:rPr>
              <a:t>Note</a:t>
            </a:r>
            <a:r>
              <a:rPr lang="en-US" sz="1600">
                <a:solidFill>
                  <a:srgbClr val="000000"/>
                </a:solidFill>
              </a:rPr>
              <a:t>: Traffic must be generated to verify the operation of the ACL.</a:t>
            </a:r>
            <a:endParaRPr/>
          </a:p>
        </p:txBody>
      </p:sp>
      <p:pic>
        <p:nvPicPr>
          <p:cNvPr id="570" name="Google Shape;570;p42"/>
          <p:cNvPicPr preferRelativeResize="0"/>
          <p:nvPr/>
        </p:nvPicPr>
        <p:blipFill rotWithShape="1">
          <a:blip r:embed="rId3">
            <a:alphaModFix/>
          </a:blip>
          <a:srcRect b="0" l="0" r="0" t="0"/>
          <a:stretch/>
        </p:blipFill>
        <p:spPr>
          <a:xfrm>
            <a:off x="2747961" y="2094940"/>
            <a:ext cx="3648075" cy="24955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Verify Extended ACLs (Cont.)</a:t>
            </a:r>
            <a:endParaRPr/>
          </a:p>
        </p:txBody>
      </p:sp>
      <p:sp>
        <p:nvSpPr>
          <p:cNvPr id="577" name="Google Shape;577;p43"/>
          <p:cNvSpPr txBox="1"/>
          <p:nvPr>
            <p:ph idx="1" type="body"/>
          </p:nvPr>
        </p:nvSpPr>
        <p:spPr>
          <a:xfrm>
            <a:off x="431971" y="855419"/>
            <a:ext cx="8280057" cy="10364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a:t>
            </a:r>
            <a:r>
              <a:rPr b="1" lang="en-US" sz="1600">
                <a:solidFill>
                  <a:srgbClr val="000000"/>
                </a:solidFill>
              </a:rPr>
              <a:t>show running-config</a:t>
            </a:r>
            <a:r>
              <a:rPr lang="en-US" sz="1600">
                <a:solidFill>
                  <a:srgbClr val="000000"/>
                </a:solidFill>
              </a:rPr>
              <a:t> command can be used to validate what was configured. The command also displays configured remarks.</a:t>
            </a:r>
            <a:endParaRPr/>
          </a:p>
        </p:txBody>
      </p:sp>
      <p:pic>
        <p:nvPicPr>
          <p:cNvPr id="578" name="Google Shape;578;p43"/>
          <p:cNvPicPr preferRelativeResize="0"/>
          <p:nvPr/>
        </p:nvPicPr>
        <p:blipFill rotWithShape="1">
          <a:blip r:embed="rId3">
            <a:alphaModFix/>
          </a:blip>
          <a:srcRect b="0" l="0" r="0" t="0"/>
          <a:stretch/>
        </p:blipFill>
        <p:spPr>
          <a:xfrm>
            <a:off x="2786061" y="1568543"/>
            <a:ext cx="3571875" cy="28670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Packet Tracer – Configure Extended IPv4 ACLs - Scenario 1</a:t>
            </a:r>
            <a:endParaRPr/>
          </a:p>
        </p:txBody>
      </p:sp>
      <p:sp>
        <p:nvSpPr>
          <p:cNvPr id="585" name="Google Shape;585;p44"/>
          <p:cNvSpPr txBox="1"/>
          <p:nvPr>
            <p:ph idx="1" type="body"/>
          </p:nvPr>
        </p:nvSpPr>
        <p:spPr>
          <a:xfrm>
            <a:off x="431971" y="855419"/>
            <a:ext cx="8280057" cy="1036444"/>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Apply, and Verify an Extended Numbered IPv4 ACL.</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Apply, and Verify an Extended Named IPv4 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Configure Extended IPv4 ACLs</a:t>
            </a:r>
            <a:br>
              <a:rPr lang="en-US"/>
            </a:br>
            <a:r>
              <a:rPr lang="en-US" sz="2400"/>
              <a:t>Packet Tracer – Configure Extended IPv4 ACLs - Scenario 2</a:t>
            </a:r>
            <a:endParaRPr/>
          </a:p>
        </p:txBody>
      </p:sp>
      <p:sp>
        <p:nvSpPr>
          <p:cNvPr id="592" name="Google Shape;592;p45"/>
          <p:cNvSpPr txBox="1"/>
          <p:nvPr>
            <p:ph idx="1" type="body"/>
          </p:nvPr>
        </p:nvSpPr>
        <p:spPr>
          <a:xfrm>
            <a:off x="431971" y="855419"/>
            <a:ext cx="8280057" cy="1036444"/>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 Named Extended IPv4 ACL.</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Apply and Verify the Extended IPv4 ACL.</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6"/>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5.5 Module Practice and Quiz</a:t>
            </a:r>
            <a:endParaRPr/>
          </a:p>
        </p:txBody>
      </p:sp>
    </p:spTree>
  </p:cSld>
  <p:clrMapOvr>
    <a:masterClrMapping/>
  </p:clrMapOvr>
  <p:transition spd="slow">
    <p:wipe dir="l"/>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Module Practice and Quiz</a:t>
            </a:r>
            <a:br>
              <a:rPr lang="en-US"/>
            </a:br>
            <a:r>
              <a:rPr lang="en-US" sz="2400"/>
              <a:t>Packet Tracer – IPv4 ACL Implementation Challenge</a:t>
            </a:r>
            <a:endParaRPr/>
          </a:p>
        </p:txBody>
      </p:sp>
      <p:sp>
        <p:nvSpPr>
          <p:cNvPr id="605" name="Google Shape;605;p47"/>
          <p:cNvSpPr txBox="1"/>
          <p:nvPr>
            <p:ph idx="1" type="body"/>
          </p:nvPr>
        </p:nvSpPr>
        <p:spPr>
          <a:xfrm>
            <a:off x="431971" y="855419"/>
            <a:ext cx="8280057" cy="2539422"/>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In this Packet Tracer, you will complete the following objectives: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 router with standard named ACLs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 router with extended named ACLs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 router with extended ACLs to meet specific communication requirements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an ACL to control access to network device terminal lines</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Configure the appropriate router interfaces with ACLs in the appropriate direction</a:t>
            </a:r>
            <a:endParaRPr/>
          </a:p>
          <a:p>
            <a:pPr indent="-342900" lvl="0" marL="342900" rtl="0" algn="l">
              <a:lnSpc>
                <a:spcPct val="100000"/>
              </a:lnSpc>
              <a:spcBef>
                <a:spcPts val="320"/>
              </a:spcBef>
              <a:spcAft>
                <a:spcPts val="0"/>
              </a:spcAft>
              <a:buSzPts val="1600"/>
              <a:buFont typeface="Arial"/>
              <a:buChar char="•"/>
            </a:pPr>
            <a:r>
              <a:rPr lang="en-US" sz="1600">
                <a:solidFill>
                  <a:srgbClr val="000000"/>
                </a:solidFill>
              </a:rPr>
              <a:t>Verify the operation of the configured ACLs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8"/>
          <p:cNvSpPr txBox="1"/>
          <p:nvPr>
            <p:ph type="title"/>
          </p:nvPr>
        </p:nvSpPr>
        <p:spPr>
          <a:xfrm>
            <a:off x="0" y="288133"/>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Module Practice and Quiz</a:t>
            </a:r>
            <a:br>
              <a:rPr lang="en-US"/>
            </a:br>
            <a:r>
              <a:rPr lang="en-US" sz="2400"/>
              <a:t>Packet Tracer – Configure and Verify Extended IPv4 ACLs – Physical Mode</a:t>
            </a:r>
            <a:br>
              <a:rPr lang="en-US" sz="2400"/>
            </a:br>
            <a:r>
              <a:rPr lang="en-US" sz="2400"/>
              <a:t>Lab – Configure and Verify Extended IPv4 ACLs</a:t>
            </a:r>
            <a:endParaRPr/>
          </a:p>
        </p:txBody>
      </p:sp>
      <p:sp>
        <p:nvSpPr>
          <p:cNvPr id="612" name="Google Shape;612;p48"/>
          <p:cNvSpPr txBox="1"/>
          <p:nvPr>
            <p:ph idx="1" type="body"/>
          </p:nvPr>
        </p:nvSpPr>
        <p:spPr>
          <a:xfrm>
            <a:off x="431971" y="1310963"/>
            <a:ext cx="8280057" cy="354440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In this Packet Tracer Physical Mode activity, you will complete the following objectives: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Build the Network and Configure Basic Device Settings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Configure VLANs on the Switches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Configure Trunking</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Configure Routing</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Configure Remote Access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Verify Connectivity</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Configure and Verify Extended Access Control Lists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280"/>
              </a:spcBef>
              <a:spcAft>
                <a:spcPts val="0"/>
              </a:spcAft>
              <a:buSzPts val="1400"/>
              <a:buNone/>
            </a:pPr>
            <a:r>
              <a:rPr lang="en-US" sz="1400">
                <a:solidFill>
                  <a:srgbClr val="000000"/>
                </a:solidFill>
              </a:rPr>
              <a:t>In this Lab, you will complete the following objectives: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Build the Network and Configure Basic Device Settings</a:t>
            </a:r>
            <a:endParaRPr/>
          </a:p>
          <a:p>
            <a:pPr indent="-342900" lvl="0" marL="342900" rtl="0" algn="l">
              <a:lnSpc>
                <a:spcPct val="100000"/>
              </a:lnSpc>
              <a:spcBef>
                <a:spcPts val="280"/>
              </a:spcBef>
              <a:spcAft>
                <a:spcPts val="0"/>
              </a:spcAft>
              <a:buSzPts val="1400"/>
              <a:buFont typeface="Arial"/>
              <a:buChar char="•"/>
            </a:pPr>
            <a:r>
              <a:rPr lang="en-US" sz="1400">
                <a:solidFill>
                  <a:srgbClr val="000000"/>
                </a:solidFill>
              </a:rPr>
              <a:t>Configure and Verify Extended IPv4 ACLs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9"/>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19" name="Google Shape;619;p49"/>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To create a numbered standard ACL, use the use the </a:t>
            </a:r>
            <a:r>
              <a:rPr b="1" lang="en-US" sz="1600"/>
              <a:t>ip access-list standard</a:t>
            </a:r>
            <a:r>
              <a:rPr lang="en-US" sz="1600"/>
              <a:t> </a:t>
            </a:r>
            <a:r>
              <a:rPr i="1" lang="en-US" sz="1600"/>
              <a:t>access-list-name</a:t>
            </a:r>
            <a:r>
              <a:rPr lang="en-US" sz="1600"/>
              <a:t> global configuration command.</a:t>
            </a:r>
            <a:endParaRPr/>
          </a:p>
          <a:p>
            <a:pPr indent="-169863" lvl="0" marL="169863" rtl="0" algn="l">
              <a:lnSpc>
                <a:spcPct val="100000"/>
              </a:lnSpc>
              <a:spcBef>
                <a:spcPts val="0"/>
              </a:spcBef>
              <a:spcAft>
                <a:spcPts val="0"/>
              </a:spcAft>
              <a:buSzPts val="1440"/>
              <a:buFont typeface="Arial"/>
              <a:buChar char="•"/>
            </a:pPr>
            <a:r>
              <a:rPr lang="en-US" sz="1600"/>
              <a:t>Use the </a:t>
            </a:r>
            <a:r>
              <a:rPr b="1" lang="en-US" sz="1600"/>
              <a:t>no access-list</a:t>
            </a:r>
            <a:r>
              <a:rPr lang="en-US" sz="1600"/>
              <a:t> </a:t>
            </a:r>
            <a:r>
              <a:rPr i="1" lang="en-US" sz="1600"/>
              <a:t>access-list-number</a:t>
            </a:r>
            <a:r>
              <a:rPr lang="en-US" sz="1600"/>
              <a:t> global configuration command to remove a numbered standard ACL. </a:t>
            </a:r>
            <a:endParaRPr/>
          </a:p>
          <a:p>
            <a:pPr indent="-169863" lvl="0" marL="169863" rtl="0" algn="l">
              <a:lnSpc>
                <a:spcPct val="100000"/>
              </a:lnSpc>
              <a:spcBef>
                <a:spcPts val="0"/>
              </a:spcBef>
              <a:spcAft>
                <a:spcPts val="0"/>
              </a:spcAft>
              <a:buSzPts val="1440"/>
              <a:buFont typeface="Arial"/>
              <a:buChar char="•"/>
            </a:pPr>
            <a:r>
              <a:rPr lang="en-US" sz="1600"/>
              <a:t>Use the </a:t>
            </a:r>
            <a:r>
              <a:rPr b="1" lang="en-US" sz="1600"/>
              <a:t>show ip interface</a:t>
            </a:r>
            <a:r>
              <a:rPr lang="en-US" sz="1600"/>
              <a:t> command to verify if an interface has an ACL applied to it.</a:t>
            </a:r>
            <a:endParaRPr/>
          </a:p>
          <a:p>
            <a:pPr indent="-169863" lvl="0" marL="169863" rtl="0" algn="l">
              <a:lnSpc>
                <a:spcPct val="100000"/>
              </a:lnSpc>
              <a:spcBef>
                <a:spcPts val="0"/>
              </a:spcBef>
              <a:spcAft>
                <a:spcPts val="0"/>
              </a:spcAft>
              <a:buSzPts val="1440"/>
              <a:buFont typeface="Arial"/>
              <a:buChar char="•"/>
            </a:pPr>
            <a:r>
              <a:rPr lang="en-US" sz="1600"/>
              <a:t>To create a named standard ACL, use the </a:t>
            </a:r>
            <a:r>
              <a:rPr b="1" lang="en-US" sz="1600"/>
              <a:t>ip access-list standard</a:t>
            </a:r>
            <a:r>
              <a:rPr lang="en-US" sz="1600"/>
              <a:t> </a:t>
            </a:r>
            <a:r>
              <a:rPr i="1" lang="en-US" sz="1600"/>
              <a:t>access-list-name</a:t>
            </a:r>
            <a:r>
              <a:rPr lang="en-US" sz="1600"/>
              <a:t> global configuration command. </a:t>
            </a:r>
            <a:endParaRPr/>
          </a:p>
          <a:p>
            <a:pPr indent="-169863" lvl="0" marL="169863" rtl="0" algn="l">
              <a:lnSpc>
                <a:spcPct val="100000"/>
              </a:lnSpc>
              <a:spcBef>
                <a:spcPts val="0"/>
              </a:spcBef>
              <a:spcAft>
                <a:spcPts val="0"/>
              </a:spcAft>
              <a:buSzPts val="1440"/>
              <a:buFont typeface="Arial"/>
              <a:buChar char="•"/>
            </a:pPr>
            <a:r>
              <a:rPr lang="en-US" sz="1600"/>
              <a:t>Use the </a:t>
            </a:r>
            <a:r>
              <a:rPr b="1" lang="en-US" sz="1600"/>
              <a:t>no ip access-list</a:t>
            </a:r>
            <a:r>
              <a:rPr lang="en-US" sz="1600"/>
              <a:t> </a:t>
            </a:r>
            <a:r>
              <a:rPr b="1" lang="en-US" sz="1600"/>
              <a:t>standard</a:t>
            </a:r>
            <a:r>
              <a:rPr lang="en-US" sz="1600"/>
              <a:t> </a:t>
            </a:r>
            <a:r>
              <a:rPr i="1" lang="en-US" sz="1600"/>
              <a:t>access-list-name</a:t>
            </a:r>
            <a:r>
              <a:rPr lang="en-US" sz="1600"/>
              <a:t> global configuration command to remove a named standard IPv4 ACL.</a:t>
            </a:r>
            <a:endParaRPr/>
          </a:p>
          <a:p>
            <a:pPr indent="-169863" lvl="0" marL="169863" rtl="0" algn="l">
              <a:lnSpc>
                <a:spcPct val="100000"/>
              </a:lnSpc>
              <a:spcBef>
                <a:spcPts val="0"/>
              </a:spcBef>
              <a:spcAft>
                <a:spcPts val="0"/>
              </a:spcAft>
              <a:buSzPts val="1440"/>
              <a:buFont typeface="Arial"/>
              <a:buChar char="•"/>
            </a:pPr>
            <a:r>
              <a:rPr lang="en-US" sz="1600"/>
              <a:t>To bind a numbered or named standard IPv4 ACL to an interface, use the </a:t>
            </a:r>
            <a:r>
              <a:rPr b="1" lang="en-US" sz="1600"/>
              <a:t>ip access-group</a:t>
            </a:r>
            <a:r>
              <a:rPr lang="en-US" sz="1600"/>
              <a:t> {</a:t>
            </a:r>
            <a:r>
              <a:rPr i="1" lang="en-US" sz="1600"/>
              <a:t>access-list-number</a:t>
            </a:r>
            <a:r>
              <a:rPr lang="en-US" sz="1600"/>
              <a:t> | </a:t>
            </a:r>
            <a:r>
              <a:rPr i="1" lang="en-US" sz="1600"/>
              <a:t>access-list-name</a:t>
            </a:r>
            <a:r>
              <a:rPr lang="en-US" sz="1600"/>
              <a:t>} { </a:t>
            </a:r>
            <a:r>
              <a:rPr b="1" lang="en-US" sz="1600"/>
              <a:t>in</a:t>
            </a:r>
            <a:r>
              <a:rPr lang="en-US" sz="1600"/>
              <a:t> | </a:t>
            </a:r>
            <a:r>
              <a:rPr b="1" lang="en-US" sz="1600"/>
              <a:t>out</a:t>
            </a:r>
            <a:r>
              <a:rPr lang="en-US" sz="1600"/>
              <a:t> } global configuration command.</a:t>
            </a:r>
            <a:endParaRPr/>
          </a:p>
          <a:p>
            <a:pPr indent="-169863" lvl="0" marL="169863" rtl="0" algn="l">
              <a:lnSpc>
                <a:spcPct val="100000"/>
              </a:lnSpc>
              <a:spcBef>
                <a:spcPts val="0"/>
              </a:spcBef>
              <a:spcAft>
                <a:spcPts val="0"/>
              </a:spcAft>
              <a:buSzPts val="1440"/>
              <a:buFont typeface="Arial"/>
              <a:buChar char="•"/>
            </a:pPr>
            <a:r>
              <a:rPr lang="en-US" sz="1600"/>
              <a:t>To remove an ACL from an interface, first enter the </a:t>
            </a:r>
            <a:r>
              <a:rPr b="1" lang="en-US" sz="1600"/>
              <a:t>no ip access-group</a:t>
            </a:r>
            <a:r>
              <a:rPr lang="en-US" sz="1600"/>
              <a:t> interface configuration command. </a:t>
            </a:r>
            <a:endParaRPr/>
          </a:p>
          <a:p>
            <a:pPr indent="-169863" lvl="0" marL="169863" rtl="0" algn="l">
              <a:lnSpc>
                <a:spcPct val="100000"/>
              </a:lnSpc>
              <a:spcBef>
                <a:spcPts val="0"/>
              </a:spcBef>
              <a:spcAft>
                <a:spcPts val="0"/>
              </a:spcAft>
              <a:buSzPts val="1440"/>
              <a:buFont typeface="Arial"/>
              <a:buChar char="•"/>
            </a:pPr>
            <a:r>
              <a:rPr lang="en-US" sz="1600"/>
              <a:t>To remove the ACL from the router, use the </a:t>
            </a:r>
            <a:r>
              <a:rPr b="1" lang="en-US" sz="1600"/>
              <a:t>no access-list</a:t>
            </a:r>
            <a:r>
              <a:rPr lang="en-US" sz="1600"/>
              <a:t> global configuration command.</a:t>
            </a:r>
            <a:endParaRPr/>
          </a:p>
          <a:p>
            <a:pPr indent="-78423" lvl="0" marL="169863" rtl="0" algn="l">
              <a:lnSpc>
                <a:spcPct val="100000"/>
              </a:lnSpc>
              <a:spcBef>
                <a:spcPts val="0"/>
              </a:spcBef>
              <a:spcAft>
                <a:spcPts val="0"/>
              </a:spcAft>
              <a:buSzPts val="1440"/>
              <a:buNone/>
            </a:pPr>
            <a:r>
              <a:t/>
            </a:r>
            <a:endParaRPr sz="1600"/>
          </a:p>
        </p:txBody>
      </p:sp>
    </p:spTree>
  </p:cSld>
  <p:clrMapOvr>
    <a:masterClrMapping/>
  </p:clrMapOvr>
  <p:transition spd="slow">
    <p:wipe dir="l"/>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0"/>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26" name="Google Shape;626;p50"/>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Extended ACLs can filter on source address, destination address, protocol (i.e., IP, TCP, UDP, ICMP), and port number.</a:t>
            </a:r>
            <a:endParaRPr/>
          </a:p>
          <a:p>
            <a:pPr indent="-169863" lvl="0" marL="169863" rtl="0" algn="l">
              <a:lnSpc>
                <a:spcPct val="100000"/>
              </a:lnSpc>
              <a:spcBef>
                <a:spcPts val="0"/>
              </a:spcBef>
              <a:spcAft>
                <a:spcPts val="0"/>
              </a:spcAft>
              <a:buSzPts val="1440"/>
              <a:buFont typeface="Arial"/>
              <a:buChar char="•"/>
            </a:pPr>
            <a:r>
              <a:rPr lang="en-US" sz="1600"/>
              <a:t>To create a numbered extended ACL, use the Router(config)# </a:t>
            </a:r>
            <a:r>
              <a:rPr b="1" lang="en-US" sz="1600"/>
              <a:t>access-list</a:t>
            </a:r>
            <a:r>
              <a:rPr lang="en-US" sz="1600"/>
              <a:t> </a:t>
            </a:r>
            <a:r>
              <a:rPr i="1" lang="en-US" sz="1600"/>
              <a:t>access-list-number</a:t>
            </a:r>
            <a:r>
              <a:rPr lang="en-US" sz="1600"/>
              <a:t> {</a:t>
            </a:r>
            <a:r>
              <a:rPr b="1" lang="en-US" sz="1600"/>
              <a:t>deny</a:t>
            </a:r>
            <a:r>
              <a:rPr lang="en-US" sz="1600"/>
              <a:t> | </a:t>
            </a:r>
            <a:r>
              <a:rPr b="1" lang="en-US" sz="1600"/>
              <a:t>permit</a:t>
            </a:r>
            <a:r>
              <a:rPr lang="en-US" sz="1600"/>
              <a:t> | </a:t>
            </a:r>
            <a:r>
              <a:rPr b="1" lang="en-US" sz="1600"/>
              <a:t>remark</a:t>
            </a:r>
            <a:r>
              <a:rPr lang="en-US" sz="1600"/>
              <a:t> </a:t>
            </a:r>
            <a:r>
              <a:rPr i="1" lang="en-US" sz="1600"/>
              <a:t>text</a:t>
            </a:r>
            <a:r>
              <a:rPr lang="en-US" sz="1600"/>
              <a:t>} </a:t>
            </a:r>
            <a:r>
              <a:rPr i="1" lang="en-US" sz="1600"/>
              <a:t>protocol</a:t>
            </a:r>
            <a:r>
              <a:rPr lang="en-US" sz="1600"/>
              <a:t> </a:t>
            </a:r>
            <a:r>
              <a:rPr i="1" lang="en-US" sz="1600"/>
              <a:t>source source-wildcard</a:t>
            </a:r>
            <a:r>
              <a:rPr lang="en-US" sz="1600"/>
              <a:t> [</a:t>
            </a:r>
            <a:r>
              <a:rPr i="1" lang="en-US" sz="1600"/>
              <a:t>operator</a:t>
            </a:r>
            <a:r>
              <a:rPr lang="en-US" sz="1600"/>
              <a:t> [</a:t>
            </a:r>
            <a:r>
              <a:rPr i="1" lang="en-US" sz="1600"/>
              <a:t>port</a:t>
            </a:r>
            <a:r>
              <a:rPr lang="en-US" sz="1600"/>
              <a:t>]] </a:t>
            </a:r>
            <a:r>
              <a:rPr i="1" lang="en-US" sz="1600"/>
              <a:t>destination</a:t>
            </a:r>
            <a:r>
              <a:rPr lang="en-US" sz="1600"/>
              <a:t> </a:t>
            </a:r>
            <a:r>
              <a:rPr i="1" lang="en-US" sz="1600"/>
              <a:t>destination-wildcard</a:t>
            </a:r>
            <a:r>
              <a:rPr lang="en-US" sz="1600"/>
              <a:t> [</a:t>
            </a:r>
            <a:r>
              <a:rPr i="1" lang="en-US" sz="1600"/>
              <a:t>operator</a:t>
            </a:r>
            <a:r>
              <a:rPr lang="en-US" sz="1600"/>
              <a:t> [</a:t>
            </a:r>
            <a:r>
              <a:rPr i="1" lang="en-US" sz="1600"/>
              <a:t>port</a:t>
            </a:r>
            <a:r>
              <a:rPr lang="en-US" sz="1600"/>
              <a:t>]] [</a:t>
            </a:r>
            <a:r>
              <a:rPr b="1" lang="en-US" sz="1600"/>
              <a:t>established</a:t>
            </a:r>
            <a:r>
              <a:rPr lang="en-US" sz="1600"/>
              <a:t>] [</a:t>
            </a:r>
            <a:r>
              <a:rPr b="1" lang="en-US" sz="1600"/>
              <a:t>log</a:t>
            </a:r>
            <a:r>
              <a:rPr lang="en-US" sz="1600"/>
              <a:t>] global configuration command. </a:t>
            </a:r>
            <a:endParaRPr/>
          </a:p>
          <a:p>
            <a:pPr indent="-169863" lvl="0" marL="169863" rtl="0" algn="l">
              <a:lnSpc>
                <a:spcPct val="100000"/>
              </a:lnSpc>
              <a:spcBef>
                <a:spcPts val="0"/>
              </a:spcBef>
              <a:spcAft>
                <a:spcPts val="0"/>
              </a:spcAft>
              <a:buSzPts val="1440"/>
              <a:buFont typeface="Arial"/>
              <a:buChar char="•"/>
            </a:pPr>
            <a:r>
              <a:rPr lang="en-US" sz="1600"/>
              <a:t>ALCs can also perform basic stateful firewall services using the TCP </a:t>
            </a:r>
            <a:r>
              <a:rPr b="1" lang="en-US" sz="1600"/>
              <a:t>established</a:t>
            </a:r>
            <a:r>
              <a:rPr lang="en-US" sz="1600"/>
              <a:t> keyword.</a:t>
            </a:r>
            <a:endParaRPr/>
          </a:p>
          <a:p>
            <a:pPr indent="-169863" lvl="0" marL="169863" rtl="0" algn="l">
              <a:lnSpc>
                <a:spcPct val="100000"/>
              </a:lnSpc>
              <a:spcBef>
                <a:spcPts val="0"/>
              </a:spcBef>
              <a:spcAft>
                <a:spcPts val="0"/>
              </a:spcAft>
              <a:buSzPts val="1440"/>
              <a:buFont typeface="Arial"/>
              <a:buChar char="•"/>
            </a:pPr>
            <a:r>
              <a:rPr lang="en-US" sz="1600"/>
              <a:t>The </a:t>
            </a:r>
            <a:r>
              <a:rPr b="1" lang="en-US" sz="1600"/>
              <a:t>show ip interface</a:t>
            </a:r>
            <a:r>
              <a:rPr lang="en-US" sz="1600"/>
              <a:t> command is used to verify the ACL on the interface and the direction in which it was applied.</a:t>
            </a:r>
            <a:endParaRPr/>
          </a:p>
          <a:p>
            <a:pPr indent="-169863" lvl="0" marL="169863" rtl="0" algn="l">
              <a:lnSpc>
                <a:spcPct val="100000"/>
              </a:lnSpc>
              <a:spcBef>
                <a:spcPts val="0"/>
              </a:spcBef>
              <a:spcAft>
                <a:spcPts val="0"/>
              </a:spcAft>
              <a:buSzPts val="1440"/>
              <a:buFont typeface="Arial"/>
              <a:buChar char="•"/>
            </a:pPr>
            <a:r>
              <a:rPr lang="en-US" sz="1600"/>
              <a:t>To modify an ACL, use a text editor or use sequence numbers.</a:t>
            </a:r>
            <a:endParaRPr/>
          </a:p>
          <a:p>
            <a:pPr indent="-169863" lvl="0" marL="169863" rtl="0" algn="l">
              <a:lnSpc>
                <a:spcPct val="100000"/>
              </a:lnSpc>
              <a:spcBef>
                <a:spcPts val="0"/>
              </a:spcBef>
              <a:spcAft>
                <a:spcPts val="0"/>
              </a:spcAft>
              <a:buSzPts val="1440"/>
              <a:buFont typeface="Arial"/>
              <a:buChar char="•"/>
            </a:pPr>
            <a:r>
              <a:rPr lang="en-US" sz="1600"/>
              <a:t>An ACL ACE can also be deleted or added using the ACL sequence numbers. </a:t>
            </a:r>
            <a:endParaRPr/>
          </a:p>
          <a:p>
            <a:pPr indent="-169863" lvl="0" marL="169863" rtl="0" algn="l">
              <a:lnSpc>
                <a:spcPct val="100000"/>
              </a:lnSpc>
              <a:spcBef>
                <a:spcPts val="0"/>
              </a:spcBef>
              <a:spcAft>
                <a:spcPts val="0"/>
              </a:spcAft>
              <a:buSzPts val="1440"/>
              <a:buFont typeface="Arial"/>
              <a:buChar char="•"/>
            </a:pPr>
            <a:r>
              <a:rPr lang="en-US" sz="1600"/>
              <a:t>Sequence numbers are automatically assigned when an ACE is entered.</a:t>
            </a:r>
            <a:endParaRPr/>
          </a:p>
          <a:p>
            <a:pPr indent="0" lvl="0" marL="0" rtl="0" algn="l">
              <a:lnSpc>
                <a:spcPct val="100000"/>
              </a:lnSpc>
              <a:spcBef>
                <a:spcPts val="0"/>
              </a:spcBef>
              <a:spcAft>
                <a:spcPts val="0"/>
              </a:spcAft>
              <a:buSzPts val="1440"/>
              <a:buNone/>
            </a:pPr>
            <a:r>
              <a:t/>
            </a:r>
            <a:endParaRPr sz="1600"/>
          </a:p>
        </p:txBody>
      </p:sp>
    </p:spTree>
  </p:cSld>
  <p:clrMapOvr>
    <a:masterClrMapping/>
  </p:clrMapOvr>
  <p:transition spd="slow">
    <p:wipe dir="l"/>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31" name="Shape 631"/>
        <p:cNvGrpSpPr/>
        <p:nvPr/>
      </p:nvGrpSpPr>
      <p:grpSpPr>
        <a:xfrm>
          <a:off x="0" y="0"/>
          <a:ext cx="0" cy="0"/>
          <a:chOff x="0" y="0"/>
          <a:chExt cx="0" cy="0"/>
        </a:xfrm>
      </p:grpSpPr>
      <p:sp>
        <p:nvSpPr>
          <p:cNvPr id="632" name="Google Shape;632;p51"/>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5: ACLs for IPv4 Configuration</a:t>
            </a:r>
            <a:br>
              <a:rPr lang="en-US">
                <a:latin typeface="Arial"/>
                <a:ea typeface="Arial"/>
                <a:cs typeface="Arial"/>
                <a:sym typeface="Arial"/>
              </a:rPr>
            </a:br>
            <a:r>
              <a:rPr lang="en-US">
                <a:latin typeface="Arial"/>
                <a:ea typeface="Arial"/>
                <a:cs typeface="Arial"/>
                <a:sym typeface="Arial"/>
              </a:rPr>
              <a:t>New Terms and Commands</a:t>
            </a:r>
            <a:endParaRPr/>
          </a:p>
        </p:txBody>
      </p:sp>
      <p:graphicFrame>
        <p:nvGraphicFramePr>
          <p:cNvPr id="633" name="Google Shape;633;p51"/>
          <p:cNvGraphicFramePr/>
          <p:nvPr/>
        </p:nvGraphicFramePr>
        <p:xfrm>
          <a:off x="144463" y="798513"/>
          <a:ext cx="3000000" cy="3000000"/>
        </p:xfrm>
        <a:graphic>
          <a:graphicData uri="http://schemas.openxmlformats.org/drawingml/2006/table">
            <a:tbl>
              <a:tblPr bandRow="1" firstRow="1">
                <a:noFill/>
                <a:tableStyleId>{AF813924-6A0A-4DFE-9B5E-82DAB826C5EE}</a:tableStyleId>
              </a:tblPr>
              <a:tblGrid>
                <a:gridCol w="8853475"/>
              </a:tblGrid>
              <a:tr h="370850">
                <a:tc>
                  <a:txBody>
                    <a:bodyPr/>
                    <a:lstStyle/>
                    <a:p>
                      <a:pPr indent="-285750" lvl="0" marL="285750" marR="0" rtl="0" algn="l">
                        <a:spcBef>
                          <a:spcPts val="0"/>
                        </a:spcBef>
                        <a:spcAft>
                          <a:spcPts val="0"/>
                        </a:spcAft>
                        <a:buClr>
                          <a:srgbClr val="000000"/>
                        </a:buClr>
                        <a:buSzPts val="1400"/>
                        <a:buFont typeface="Arial"/>
                        <a:buChar char="•"/>
                      </a:pPr>
                      <a:r>
                        <a:rPr b="0" lang="en-US" sz="1400">
                          <a:solidFill>
                            <a:srgbClr val="000000"/>
                          </a:solidFill>
                        </a:rPr>
                        <a:t>numbered extended ACL</a:t>
                      </a:r>
                      <a:endParaRPr/>
                    </a:p>
                    <a:p>
                      <a:pPr indent="-285750" lvl="0" marL="285750" marR="0" rtl="0" algn="l">
                        <a:lnSpc>
                          <a:spcPct val="100000"/>
                        </a:lnSpc>
                        <a:spcBef>
                          <a:spcPts val="0"/>
                        </a:spcBef>
                        <a:spcAft>
                          <a:spcPts val="0"/>
                        </a:spcAft>
                        <a:buClr>
                          <a:srgbClr val="000000"/>
                        </a:buClr>
                        <a:buSzPts val="1400"/>
                        <a:buFont typeface="Arial"/>
                        <a:buChar char="•"/>
                      </a:pPr>
                      <a:r>
                        <a:rPr b="0" lang="en-US" sz="1400">
                          <a:solidFill>
                            <a:srgbClr val="000000"/>
                          </a:solidFill>
                        </a:rPr>
                        <a:t>named extended ACL</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numbered standard ACL</a:t>
                      </a:r>
                      <a:endParaRPr/>
                    </a:p>
                    <a:p>
                      <a:pPr indent="-285750" lvl="0" marL="285750" marR="0" rtl="0" algn="l">
                        <a:lnSpc>
                          <a:spcPct val="100000"/>
                        </a:lnSpc>
                        <a:spcBef>
                          <a:spcPts val="0"/>
                        </a:spcBef>
                        <a:spcAft>
                          <a:spcPts val="0"/>
                        </a:spcAft>
                        <a:buClr>
                          <a:srgbClr val="000000"/>
                        </a:buClr>
                        <a:buSzPts val="1400"/>
                        <a:buFont typeface="Arial"/>
                        <a:buChar char="•"/>
                      </a:pPr>
                      <a:r>
                        <a:rPr b="0" lang="en-US" sz="1400">
                          <a:solidFill>
                            <a:srgbClr val="000000"/>
                          </a:solidFill>
                        </a:rPr>
                        <a:t>named standard ACL</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ip access-list standard</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no ip access-list</a:t>
                      </a:r>
                      <a:r>
                        <a:rPr lang="en-US" sz="1400">
                          <a:solidFill>
                            <a:srgbClr val="000000"/>
                          </a:solidFill>
                        </a:rPr>
                        <a:t> </a:t>
                      </a:r>
                      <a:r>
                        <a:rPr b="1" lang="en-US" sz="1400">
                          <a:solidFill>
                            <a:srgbClr val="000000"/>
                          </a:solidFill>
                        </a:rPr>
                        <a:t>standard</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ip access-list extended</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ip access-list</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ip access-group</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show access-lists</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clear access-list counters</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access-class</a:t>
                      </a:r>
                      <a:endParaRPr/>
                    </a:p>
                    <a:p>
                      <a:pPr indent="-285750" lvl="0" marL="285750" marR="0" rtl="0" algn="l">
                        <a:spcBef>
                          <a:spcPts val="0"/>
                        </a:spcBef>
                        <a:spcAft>
                          <a:spcPts val="0"/>
                        </a:spcAft>
                        <a:buClr>
                          <a:srgbClr val="000000"/>
                        </a:buClr>
                        <a:buSzPts val="1400"/>
                        <a:buFont typeface="Arial"/>
                        <a:buChar char="•"/>
                      </a:pPr>
                      <a:r>
                        <a:rPr b="1" lang="en-US" sz="1400">
                          <a:solidFill>
                            <a:srgbClr val="000000"/>
                          </a:solidFill>
                        </a:rPr>
                        <a:t>established</a:t>
                      </a:r>
                      <a:endParaRPr/>
                    </a:p>
                    <a:p>
                      <a:pPr indent="-196850" lvl="0" marL="285750" marR="0" rtl="0" algn="l">
                        <a:spcBef>
                          <a:spcPts val="0"/>
                        </a:spcBef>
                        <a:spcAft>
                          <a:spcPts val="0"/>
                        </a:spcAft>
                        <a:buClr>
                          <a:schemeClr val="dk1"/>
                        </a:buClr>
                        <a:buSzPts val="1400"/>
                        <a:buFont typeface="Arial"/>
                        <a:buNone/>
                      </a:pPr>
                      <a:r>
                        <a:t/>
                      </a:r>
                      <a:endParaRPr b="1" sz="1400">
                        <a:solidFill>
                          <a:srgbClr val="000000"/>
                        </a:solidFill>
                      </a:endParaRPr>
                    </a:p>
                    <a:p>
                      <a:pPr indent="-196850" lvl="0" marL="285750" marR="0" rtl="0" algn="l">
                        <a:spcBef>
                          <a:spcPts val="0"/>
                        </a:spcBef>
                        <a:spcAft>
                          <a:spcPts val="0"/>
                        </a:spcAft>
                        <a:buClr>
                          <a:schemeClr val="dk1"/>
                        </a:buClr>
                        <a:buSzPts val="1400"/>
                        <a:buFont typeface="Arial"/>
                        <a:buNone/>
                      </a:pPr>
                      <a:r>
                        <a:t/>
                      </a:r>
                      <a:endParaRPr b="1" sz="1400">
                        <a:solidFill>
                          <a:srgbClr val="000000"/>
                        </a:solidFill>
                      </a:endParaRPr>
                    </a:p>
                    <a:p>
                      <a:pPr indent="0" lvl="0" marL="0" marR="0" rtl="0" algn="l">
                        <a:spcBef>
                          <a:spcPts val="0"/>
                        </a:spcBef>
                        <a:spcAft>
                          <a:spcPts val="0"/>
                        </a:spcAft>
                        <a:buNone/>
                      </a:pPr>
                      <a:r>
                        <a:t/>
                      </a:r>
                      <a:endParaRPr sz="1400">
                        <a:solidFill>
                          <a:srgbClr val="000000"/>
                        </a:solidFill>
                      </a:endParaRPr>
                    </a:p>
                    <a:p>
                      <a:pPr indent="0" lvl="0" marL="0" marR="0" rtl="0" algn="l">
                        <a:spcBef>
                          <a:spcPts val="0"/>
                        </a:spcBef>
                        <a:spcAft>
                          <a:spcPts val="0"/>
                        </a:spcAft>
                        <a:buNone/>
                      </a:pPr>
                      <a:r>
                        <a:t/>
                      </a:r>
                      <a:endParaRPr sz="1400">
                        <a:solidFill>
                          <a:srgbClr val="000000"/>
                        </a:solidFill>
                      </a:endParaRPr>
                    </a:p>
                    <a:p>
                      <a:pPr indent="0" lvl="0" marL="0" marR="0" rtl="0" algn="l">
                        <a:spcBef>
                          <a:spcPts val="0"/>
                        </a:spcBef>
                        <a:spcAft>
                          <a:spcPts val="0"/>
                        </a:spcAft>
                        <a:buNone/>
                      </a:pPr>
                      <a:r>
                        <a:t/>
                      </a:r>
                      <a:endParaRPr sz="1400">
                        <a:solidFill>
                          <a:srgbClr val="00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slow">
    <p:wipe dir="l"/>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