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65" roundtripDataSignature="AMtx7mh85xbtF+z9ZPT4eBkcKO8GyipK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A7A84D-0A23-45B2-A747-7ADBBB7CDECA}">
  <a:tblStyle styleId="{13A7A84D-0A23-45B2-A747-7ADBBB7CDEC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b="off" i="off"/>
      <a:tcStyle>
        <a:fill>
          <a:solidFill>
            <a:srgbClr val="CACED3"/>
          </a:solidFill>
        </a:fill>
      </a:tcStyle>
    </a:band1H>
    <a:band2H>
      <a:tcTxStyle b="off" i="off"/>
    </a:band2H>
    <a:band1V>
      <a:tcTxStyle b="off" i="off"/>
      <a:tcStyle>
        <a:fill>
          <a:solidFill>
            <a:srgbClr val="CACED3"/>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1EDEA052-2B7B-402E-8EBE-2060F714A14F}"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chemeClr val="accent3"/>
          </a:solidFill>
        </a:fill>
      </a:tcStyle>
    </a:wholeTbl>
    <a:band1H>
      <a:tcTxStyle b="off" i="off"/>
      <a:tcStyle>
        <a:fill>
          <a:solidFill>
            <a:schemeClr val="accent3"/>
          </a:solidFill>
        </a:fill>
      </a:tcStyle>
    </a:band1H>
    <a:band2H>
      <a:tcTxStyle b="off" i="off"/>
    </a:band2H>
    <a:band1V>
      <a:tcTxStyle b="off" i="off"/>
      <a:tcStyle>
        <a:fill>
          <a:solidFill>
            <a:schemeClr val="accent3"/>
          </a:solidFill>
        </a:fill>
      </a:tcStyle>
    </a:band1V>
    <a:band2V>
      <a:tcTxStyle b="off" i="off"/>
    </a:band2V>
    <a:lastCol>
      <a:tcTxStyle b="on" i="off">
        <a:font>
          <a:latin typeface="Arial"/>
          <a:ea typeface="Arial"/>
          <a:cs typeface="Arial"/>
        </a:font>
        <a:schemeClr val="lt1"/>
      </a:tcTxStyle>
      <a:tcStyle>
        <a:fill>
          <a:solidFill>
            <a:schemeClr val="accent3"/>
          </a:solidFill>
        </a:fill>
      </a:tcStyle>
    </a:lastCol>
    <a:firstCol>
      <a:tcTxStyle b="on" i="off">
        <a:font>
          <a:latin typeface="Arial"/>
          <a:ea typeface="Arial"/>
          <a:cs typeface="Arial"/>
        </a:font>
        <a:schemeClr val="lt1"/>
      </a:tcTxStyle>
      <a:tcStyle>
        <a:fill>
          <a:solidFill>
            <a:schemeClr val="accent3"/>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65"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lang="en-US"/>
              <a:t>Cisco Networking Academy Program</a:t>
            </a:r>
            <a:endParaRPr/>
          </a:p>
          <a:p>
            <a:pPr indent="0" lvl="0" marL="0" rtl="0" algn="l">
              <a:lnSpc>
                <a:spcPct val="100000"/>
              </a:lnSpc>
              <a:spcBef>
                <a:spcPts val="0"/>
              </a:spcBef>
              <a:spcAft>
                <a:spcPts val="0"/>
              </a:spcAft>
              <a:buSzPts val="1400"/>
              <a:buNone/>
            </a:pPr>
            <a:r>
              <a:rPr lang="en-US">
                <a:solidFill>
                  <a:srgbClr val="B6DDE7"/>
                </a:solidFill>
              </a:rPr>
              <a:t>Enterprise Networking, Security, and Automation v7.0 (ENSA) </a:t>
            </a:r>
            <a:endParaRPr/>
          </a:p>
          <a:p>
            <a:pPr indent="0" lvl="0" marL="0" rtl="0" algn="l">
              <a:lnSpc>
                <a:spcPct val="100000"/>
              </a:lnSpc>
              <a:spcBef>
                <a:spcPts val="0"/>
              </a:spcBef>
              <a:spcAft>
                <a:spcPts val="0"/>
              </a:spcAft>
              <a:buClr>
                <a:schemeClr val="dk1"/>
              </a:buClr>
              <a:buSzPts val="1200"/>
              <a:buFont typeface="Calibri"/>
              <a:buNone/>
            </a:pPr>
            <a:r>
              <a:rPr b="0" lang="en-US"/>
              <a:t>Module 6: NAT for IPv6</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US"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lang="en-US"/>
              <a:t>6 – NAT for IPv4</a:t>
            </a:r>
            <a:endParaRPr/>
          </a:p>
          <a:p>
            <a:pPr indent="0" lvl="0" marL="0" rtl="0" algn="l">
              <a:lnSpc>
                <a:spcPct val="100000"/>
              </a:lnSpc>
              <a:spcBef>
                <a:spcPts val="0"/>
              </a:spcBef>
              <a:spcAft>
                <a:spcPts val="0"/>
              </a:spcAft>
              <a:buClr>
                <a:schemeClr val="dk1"/>
              </a:buClr>
              <a:buSzPts val="1200"/>
              <a:buFont typeface="Calibri"/>
              <a:buNone/>
            </a:pPr>
            <a:r>
              <a:rPr lang="en-US"/>
              <a:t>6.0.2 -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6.1 – NAT Characteristics</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6.1 – NAT Characteristics</a:t>
            </a:r>
            <a:endParaRPr/>
          </a:p>
          <a:p>
            <a:pPr indent="0" lvl="0" marL="0" rtl="0" algn="l">
              <a:lnSpc>
                <a:spcPct val="100000"/>
              </a:lnSpc>
              <a:spcBef>
                <a:spcPts val="0"/>
              </a:spcBef>
              <a:spcAft>
                <a:spcPts val="0"/>
              </a:spcAft>
              <a:buSzPts val="1400"/>
              <a:buNone/>
            </a:pPr>
            <a:r>
              <a:rPr lang="en-US"/>
              <a:t>6.1.2 – IPv4 Address Space</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6.1 – NAT Characteristics</a:t>
            </a:r>
            <a:endParaRPr/>
          </a:p>
          <a:p>
            <a:pPr indent="0" lvl="0" marL="0" rtl="0" algn="l">
              <a:lnSpc>
                <a:spcPct val="100000"/>
              </a:lnSpc>
              <a:spcBef>
                <a:spcPts val="0"/>
              </a:spcBef>
              <a:spcAft>
                <a:spcPts val="0"/>
              </a:spcAft>
              <a:buSzPts val="1400"/>
              <a:buNone/>
            </a:pPr>
            <a:r>
              <a:rPr lang="en-US"/>
              <a:t>6.1.2 – What is NAT</a:t>
            </a:r>
            <a:endParaRPr/>
          </a:p>
        </p:txBody>
      </p:sp>
      <p:sp>
        <p:nvSpPr>
          <p:cNvPr id="266" name="Google Shape;26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6.1 – NAT Characteristics</a:t>
            </a:r>
            <a:endParaRPr/>
          </a:p>
          <a:p>
            <a:pPr indent="0" lvl="0" marL="0" rtl="0" algn="l">
              <a:lnSpc>
                <a:spcPct val="100000"/>
              </a:lnSpc>
              <a:spcBef>
                <a:spcPts val="0"/>
              </a:spcBef>
              <a:spcAft>
                <a:spcPts val="0"/>
              </a:spcAft>
              <a:buSzPts val="1400"/>
              <a:buNone/>
            </a:pPr>
            <a:r>
              <a:rPr lang="en-US"/>
              <a:t>6.1.3 – How NAT Works</a:t>
            </a:r>
            <a:endParaRPr/>
          </a:p>
        </p:txBody>
      </p:sp>
      <p:sp>
        <p:nvSpPr>
          <p:cNvPr id="274" name="Google Shape;27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6.1 – NAT Characteristics</a:t>
            </a:r>
            <a:endParaRPr/>
          </a:p>
          <a:p>
            <a:pPr indent="0" lvl="0" marL="0" rtl="0" algn="l">
              <a:lnSpc>
                <a:spcPct val="100000"/>
              </a:lnSpc>
              <a:spcBef>
                <a:spcPts val="0"/>
              </a:spcBef>
              <a:spcAft>
                <a:spcPts val="0"/>
              </a:spcAft>
              <a:buSzPts val="1400"/>
              <a:buNone/>
            </a:pPr>
            <a:r>
              <a:rPr lang="en-US"/>
              <a:t>6.1.4 – NAT Terminology</a:t>
            </a:r>
            <a:endParaRPr/>
          </a:p>
        </p:txBody>
      </p:sp>
      <p:sp>
        <p:nvSpPr>
          <p:cNvPr id="282" name="Google Shape;28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6.1 – NAT Characteristics</a:t>
            </a:r>
            <a:endParaRPr/>
          </a:p>
          <a:p>
            <a:pPr indent="0" lvl="0" marL="0" rtl="0" algn="l">
              <a:lnSpc>
                <a:spcPct val="100000"/>
              </a:lnSpc>
              <a:spcBef>
                <a:spcPts val="0"/>
              </a:spcBef>
              <a:spcAft>
                <a:spcPts val="0"/>
              </a:spcAft>
              <a:buSzPts val="1400"/>
              <a:buNone/>
            </a:pPr>
            <a:r>
              <a:rPr lang="en-US"/>
              <a:t>6.1.4 – NAT Terminology (Cont.)</a:t>
            </a:r>
            <a:endParaRPr/>
          </a:p>
          <a:p>
            <a:pPr indent="0" lvl="0" marL="0" rtl="0" algn="l">
              <a:lnSpc>
                <a:spcPct val="100000"/>
              </a:lnSpc>
              <a:spcBef>
                <a:spcPts val="0"/>
              </a:spcBef>
              <a:spcAft>
                <a:spcPts val="0"/>
              </a:spcAft>
              <a:buSzPts val="1400"/>
              <a:buNone/>
            </a:pPr>
            <a:r>
              <a:rPr lang="en-US"/>
              <a:t>6.1.5 – Check Your Understanding – NAT Characteristics</a:t>
            </a:r>
            <a:endParaRPr/>
          </a:p>
        </p:txBody>
      </p:sp>
      <p:sp>
        <p:nvSpPr>
          <p:cNvPr id="289" name="Google Shape;289;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p:txBody>
      </p:sp>
      <p:sp>
        <p:nvSpPr>
          <p:cNvPr id="297" name="Google Shape;29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6.2.1 – Static NAT</a:t>
            </a:r>
            <a:endParaRPr/>
          </a:p>
        </p:txBody>
      </p:sp>
      <p:sp>
        <p:nvSpPr>
          <p:cNvPr id="303" name="Google Shape;30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6.2.2 – Dynamic NAT</a:t>
            </a:r>
            <a:endParaRPr/>
          </a:p>
        </p:txBody>
      </p:sp>
      <p:sp>
        <p:nvSpPr>
          <p:cNvPr id="312" name="Google Shape;31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6.2.3 – Port Address Translation</a:t>
            </a:r>
            <a:endParaRPr/>
          </a:p>
        </p:txBody>
      </p:sp>
      <p:sp>
        <p:nvSpPr>
          <p:cNvPr id="321" name="Google Shape;32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6.2.4 – Next Available Port</a:t>
            </a:r>
            <a:endParaRPr/>
          </a:p>
        </p:txBody>
      </p:sp>
      <p:sp>
        <p:nvSpPr>
          <p:cNvPr id="329" name="Google Shape;32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6.2.5 – NAT and PAT Comparison</a:t>
            </a:r>
            <a:endParaRPr/>
          </a:p>
        </p:txBody>
      </p:sp>
      <p:sp>
        <p:nvSpPr>
          <p:cNvPr id="337" name="Google Shape;33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6.2.6 – Packets without a Layer 4 Segment</a:t>
            </a:r>
            <a:endParaRPr/>
          </a:p>
        </p:txBody>
      </p:sp>
      <p:sp>
        <p:nvSpPr>
          <p:cNvPr id="347" name="Google Shape;34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6.2 – Types of NAT</a:t>
            </a:r>
            <a:endParaRPr/>
          </a:p>
          <a:p>
            <a:pPr indent="0" lvl="0" marL="0" rtl="0" algn="l">
              <a:lnSpc>
                <a:spcPct val="100000"/>
              </a:lnSpc>
              <a:spcBef>
                <a:spcPts val="0"/>
              </a:spcBef>
              <a:spcAft>
                <a:spcPts val="0"/>
              </a:spcAft>
              <a:buSzPts val="1400"/>
              <a:buNone/>
            </a:pPr>
            <a:r>
              <a:rPr lang="en-US"/>
              <a:t>6.2.7 – Packet Tracer – Investigate NAT Operations</a:t>
            </a:r>
            <a:endParaRPr/>
          </a:p>
          <a:p>
            <a:pPr indent="0" lvl="0" marL="0" rtl="0" algn="l">
              <a:lnSpc>
                <a:spcPct val="100000"/>
              </a:lnSpc>
              <a:spcBef>
                <a:spcPts val="0"/>
              </a:spcBef>
              <a:spcAft>
                <a:spcPts val="0"/>
              </a:spcAft>
              <a:buSzPts val="1400"/>
              <a:buNone/>
            </a:pPr>
            <a:r>
              <a:t/>
            </a:r>
            <a:endParaRPr/>
          </a:p>
        </p:txBody>
      </p:sp>
      <p:sp>
        <p:nvSpPr>
          <p:cNvPr id="355" name="Google Shape;35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6.3 – NAT Advantages and Disadvantages</a:t>
            </a:r>
            <a:endParaRPr/>
          </a:p>
        </p:txBody>
      </p:sp>
      <p:sp>
        <p:nvSpPr>
          <p:cNvPr id="362" name="Google Shape;36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6.3 – NAT Advantages and Disadvantages</a:t>
            </a:r>
            <a:endParaRPr/>
          </a:p>
          <a:p>
            <a:pPr indent="0" lvl="0" marL="0" rtl="0" algn="l">
              <a:lnSpc>
                <a:spcPct val="100000"/>
              </a:lnSpc>
              <a:spcBef>
                <a:spcPts val="0"/>
              </a:spcBef>
              <a:spcAft>
                <a:spcPts val="0"/>
              </a:spcAft>
              <a:buSzPts val="1400"/>
              <a:buNone/>
            </a:pPr>
            <a:r>
              <a:rPr lang="en-US"/>
              <a:t>6.3.1 – Advantages of NAT</a:t>
            </a:r>
            <a:endParaRPr/>
          </a:p>
        </p:txBody>
      </p:sp>
      <p:sp>
        <p:nvSpPr>
          <p:cNvPr id="368" name="Google Shape;36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6.3 – NAT Advantages and Disadvantages</a:t>
            </a:r>
            <a:endParaRPr/>
          </a:p>
          <a:p>
            <a:pPr indent="0" lvl="0" marL="0" rtl="0" algn="l">
              <a:lnSpc>
                <a:spcPct val="100000"/>
              </a:lnSpc>
              <a:spcBef>
                <a:spcPts val="0"/>
              </a:spcBef>
              <a:spcAft>
                <a:spcPts val="0"/>
              </a:spcAft>
              <a:buSzPts val="1400"/>
              <a:buNone/>
            </a:pPr>
            <a:r>
              <a:rPr lang="en-US"/>
              <a:t>6.3.2 – Disadvantages of NAT</a:t>
            </a:r>
            <a:endParaRPr/>
          </a:p>
          <a:p>
            <a:pPr indent="0" lvl="0" marL="0" rtl="0" algn="l">
              <a:lnSpc>
                <a:spcPct val="100000"/>
              </a:lnSpc>
              <a:spcBef>
                <a:spcPts val="0"/>
              </a:spcBef>
              <a:spcAft>
                <a:spcPts val="0"/>
              </a:spcAft>
              <a:buSzPts val="1400"/>
              <a:buNone/>
            </a:pPr>
            <a:r>
              <a:rPr lang="en-US"/>
              <a:t>6.3.3 – Check Your Understanding – NAT Advantages and Disadvantages</a:t>
            </a:r>
            <a:endParaRPr/>
          </a:p>
        </p:txBody>
      </p:sp>
      <p:sp>
        <p:nvSpPr>
          <p:cNvPr id="375" name="Google Shape;37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p:txBody>
      </p:sp>
      <p:sp>
        <p:nvSpPr>
          <p:cNvPr id="382" name="Google Shape;382;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a:p>
            <a:pPr indent="0" lvl="0" marL="0" rtl="0" algn="l">
              <a:lnSpc>
                <a:spcPct val="100000"/>
              </a:lnSpc>
              <a:spcBef>
                <a:spcPts val="0"/>
              </a:spcBef>
              <a:spcAft>
                <a:spcPts val="0"/>
              </a:spcAft>
              <a:buSzPts val="1400"/>
              <a:buNone/>
            </a:pPr>
            <a:r>
              <a:rPr lang="en-US"/>
              <a:t>6.4.1 – Static NAT Scenario</a:t>
            </a:r>
            <a:endParaRPr/>
          </a:p>
        </p:txBody>
      </p:sp>
      <p:sp>
        <p:nvSpPr>
          <p:cNvPr id="388" name="Google Shape;38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a:p>
            <a:pPr indent="0" lvl="0" marL="0" rtl="0" algn="l">
              <a:lnSpc>
                <a:spcPct val="100000"/>
              </a:lnSpc>
              <a:spcBef>
                <a:spcPts val="0"/>
              </a:spcBef>
              <a:spcAft>
                <a:spcPts val="0"/>
              </a:spcAft>
              <a:buSzPts val="1400"/>
              <a:buNone/>
            </a:pPr>
            <a:r>
              <a:rPr lang="en-US"/>
              <a:t>6.4.2 – Configure Static NAT</a:t>
            </a:r>
            <a:endParaRPr/>
          </a:p>
        </p:txBody>
      </p:sp>
      <p:sp>
        <p:nvSpPr>
          <p:cNvPr id="396" name="Google Shape;396;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a:p>
            <a:pPr indent="0" lvl="0" marL="0" rtl="0" algn="l">
              <a:lnSpc>
                <a:spcPct val="100000"/>
              </a:lnSpc>
              <a:spcBef>
                <a:spcPts val="0"/>
              </a:spcBef>
              <a:spcAft>
                <a:spcPts val="0"/>
              </a:spcAft>
              <a:buSzPts val="1400"/>
              <a:buNone/>
            </a:pPr>
            <a:r>
              <a:rPr lang="en-US"/>
              <a:t>6.4.3 – Analyze Static NAT</a:t>
            </a:r>
            <a:endParaRPr/>
          </a:p>
        </p:txBody>
      </p:sp>
      <p:sp>
        <p:nvSpPr>
          <p:cNvPr id="404" name="Google Shape;40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a:p>
            <a:pPr indent="0" lvl="0" marL="0" rtl="0" algn="l">
              <a:lnSpc>
                <a:spcPct val="100000"/>
              </a:lnSpc>
              <a:spcBef>
                <a:spcPts val="0"/>
              </a:spcBef>
              <a:spcAft>
                <a:spcPts val="0"/>
              </a:spcAft>
              <a:buSzPts val="1400"/>
              <a:buNone/>
            </a:pPr>
            <a:r>
              <a:rPr lang="en-US"/>
              <a:t>6.4.4 – Verify Static NAT</a:t>
            </a:r>
            <a:endParaRPr/>
          </a:p>
        </p:txBody>
      </p:sp>
      <p:sp>
        <p:nvSpPr>
          <p:cNvPr id="412" name="Google Shape;412;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a:p>
            <a:pPr indent="0" lvl="0" marL="0" rtl="0" algn="l">
              <a:lnSpc>
                <a:spcPct val="100000"/>
              </a:lnSpc>
              <a:spcBef>
                <a:spcPts val="0"/>
              </a:spcBef>
              <a:spcAft>
                <a:spcPts val="0"/>
              </a:spcAft>
              <a:buSzPts val="1400"/>
              <a:buNone/>
            </a:pPr>
            <a:r>
              <a:rPr lang="en-US"/>
              <a:t>6.4.4 – Verify Static NAT (Cont.)</a:t>
            </a:r>
            <a:endParaRPr/>
          </a:p>
        </p:txBody>
      </p:sp>
      <p:sp>
        <p:nvSpPr>
          <p:cNvPr id="421" name="Google Shape;421;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6.4 – Static NAT</a:t>
            </a:r>
            <a:endParaRPr/>
          </a:p>
          <a:p>
            <a:pPr indent="0" lvl="0" marL="0" rtl="0" algn="l">
              <a:lnSpc>
                <a:spcPct val="100000"/>
              </a:lnSpc>
              <a:spcBef>
                <a:spcPts val="0"/>
              </a:spcBef>
              <a:spcAft>
                <a:spcPts val="0"/>
              </a:spcAft>
              <a:buSzPts val="1400"/>
              <a:buNone/>
            </a:pPr>
            <a:r>
              <a:rPr lang="en-US"/>
              <a:t>6.4.5 – Packet Tracer – Configure Static NAT</a:t>
            </a:r>
            <a:endParaRPr/>
          </a:p>
          <a:p>
            <a:pPr indent="0" lvl="0" marL="0" rtl="0" algn="l">
              <a:lnSpc>
                <a:spcPct val="100000"/>
              </a:lnSpc>
              <a:spcBef>
                <a:spcPts val="0"/>
              </a:spcBef>
              <a:spcAft>
                <a:spcPts val="0"/>
              </a:spcAft>
              <a:buSzPts val="1400"/>
              <a:buNone/>
            </a:pPr>
            <a:r>
              <a:t/>
            </a:r>
            <a:endParaRPr/>
          </a:p>
        </p:txBody>
      </p:sp>
      <p:sp>
        <p:nvSpPr>
          <p:cNvPr id="429" name="Google Shape;429;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p:txBody>
      </p:sp>
      <p:sp>
        <p:nvSpPr>
          <p:cNvPr id="436" name="Google Shape;43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6.5.1 – Dynamic NAT Scenario</a:t>
            </a:r>
            <a:endParaRPr/>
          </a:p>
        </p:txBody>
      </p:sp>
      <p:sp>
        <p:nvSpPr>
          <p:cNvPr id="442" name="Google Shape;442;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6.5.2 – Configure Dynamic NAT</a:t>
            </a:r>
            <a:endParaRPr/>
          </a:p>
        </p:txBody>
      </p:sp>
      <p:sp>
        <p:nvSpPr>
          <p:cNvPr id="450" name="Google Shape;45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6.5.2 – Configure Dynamic NAT (Cont.)</a:t>
            </a:r>
            <a:endParaRPr/>
          </a:p>
        </p:txBody>
      </p:sp>
      <p:sp>
        <p:nvSpPr>
          <p:cNvPr id="458" name="Google Shape;458;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6.5.3 – Analyze Dynamic NAT – Inside to Outside</a:t>
            </a:r>
            <a:endParaRPr/>
          </a:p>
        </p:txBody>
      </p:sp>
      <p:sp>
        <p:nvSpPr>
          <p:cNvPr id="466" name="Google Shape;466;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6.5.4 – Analyze Dynamic NAT – Outside to Inside</a:t>
            </a:r>
            <a:endParaRPr/>
          </a:p>
        </p:txBody>
      </p:sp>
      <p:sp>
        <p:nvSpPr>
          <p:cNvPr id="474" name="Google Shape;474;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6.5.4 – Analyze Dynamic NAT – Outside to Inside (Cont.)</a:t>
            </a:r>
            <a:endParaRPr/>
          </a:p>
        </p:txBody>
      </p:sp>
      <p:sp>
        <p:nvSpPr>
          <p:cNvPr id="482" name="Google Shape;482;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6.5.5 – Verify Dynamic NAT</a:t>
            </a:r>
            <a:endParaRPr/>
          </a:p>
        </p:txBody>
      </p:sp>
      <p:sp>
        <p:nvSpPr>
          <p:cNvPr id="490" name="Google Shape;490;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6.5.5 – Verify Dynamic NAT (Cont.)</a:t>
            </a:r>
            <a:endParaRPr/>
          </a:p>
        </p:txBody>
      </p:sp>
      <p:sp>
        <p:nvSpPr>
          <p:cNvPr id="498" name="Google Shape;498;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6.5.5 – Verify Dynamic NAT (Cont.)</a:t>
            </a:r>
            <a:endParaRPr/>
          </a:p>
        </p:txBody>
      </p:sp>
      <p:sp>
        <p:nvSpPr>
          <p:cNvPr id="506" name="Google Shape;506;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6.5.5 – Verify Dynamic NAT (Cont.)</a:t>
            </a:r>
            <a:endParaRPr/>
          </a:p>
        </p:txBody>
      </p:sp>
      <p:sp>
        <p:nvSpPr>
          <p:cNvPr id="515" name="Google Shape;515;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6.5.5 – Verify Dynamic NAT (Cont.)</a:t>
            </a:r>
            <a:endParaRPr/>
          </a:p>
        </p:txBody>
      </p:sp>
      <p:sp>
        <p:nvSpPr>
          <p:cNvPr id="523" name="Google Shape;52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6.5 – Dynamic NAT</a:t>
            </a:r>
            <a:endParaRPr/>
          </a:p>
          <a:p>
            <a:pPr indent="0" lvl="0" marL="0" rtl="0" algn="l">
              <a:lnSpc>
                <a:spcPct val="100000"/>
              </a:lnSpc>
              <a:spcBef>
                <a:spcPts val="0"/>
              </a:spcBef>
              <a:spcAft>
                <a:spcPts val="0"/>
              </a:spcAft>
              <a:buSzPts val="1400"/>
              <a:buNone/>
            </a:pPr>
            <a:r>
              <a:rPr lang="en-US"/>
              <a:t>6.4.6 – Packet Tracer – Configure Dynamic NAT</a:t>
            </a:r>
            <a:endParaRPr/>
          </a:p>
          <a:p>
            <a:pPr indent="0" lvl="0" marL="0" rtl="0" algn="l">
              <a:lnSpc>
                <a:spcPct val="100000"/>
              </a:lnSpc>
              <a:spcBef>
                <a:spcPts val="0"/>
              </a:spcBef>
              <a:spcAft>
                <a:spcPts val="0"/>
              </a:spcAft>
              <a:buSzPts val="1400"/>
              <a:buNone/>
            </a:pPr>
            <a:r>
              <a:t/>
            </a:r>
            <a:endParaRPr/>
          </a:p>
        </p:txBody>
      </p:sp>
      <p:sp>
        <p:nvSpPr>
          <p:cNvPr id="531" name="Google Shape;531;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p:txBody>
      </p:sp>
      <p:sp>
        <p:nvSpPr>
          <p:cNvPr id="538" name="Google Shape;538;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6.6.2 – Configure PAT to Use a Single IPv4 Address</a:t>
            </a:r>
            <a:endParaRPr/>
          </a:p>
        </p:txBody>
      </p:sp>
      <p:sp>
        <p:nvSpPr>
          <p:cNvPr id="544" name="Google Shape;54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6.6.3 – Configure PAT to Use an Address Pool</a:t>
            </a:r>
            <a:endParaRPr/>
          </a:p>
        </p:txBody>
      </p:sp>
      <p:sp>
        <p:nvSpPr>
          <p:cNvPr id="552" name="Google Shape;552;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6.6.4 – Analyze PAT – Server to PC</a:t>
            </a:r>
            <a:endParaRPr/>
          </a:p>
        </p:txBody>
      </p:sp>
      <p:sp>
        <p:nvSpPr>
          <p:cNvPr id="560" name="Google Shape;560;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6.6.5 – Analyze PAT – PC to Server</a:t>
            </a:r>
            <a:endParaRPr/>
          </a:p>
        </p:txBody>
      </p:sp>
      <p:sp>
        <p:nvSpPr>
          <p:cNvPr id="568" name="Google Shape;568;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6.6.5 – Analyze PAT – Server to PC</a:t>
            </a:r>
            <a:endParaRPr/>
          </a:p>
        </p:txBody>
      </p:sp>
      <p:sp>
        <p:nvSpPr>
          <p:cNvPr id="576" name="Google Shape;576;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6.6.6 – Verify PAT</a:t>
            </a:r>
            <a:endParaRPr/>
          </a:p>
        </p:txBody>
      </p:sp>
      <p:sp>
        <p:nvSpPr>
          <p:cNvPr id="584" name="Google Shape;584;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PAT</a:t>
            </a:r>
            <a:endParaRPr/>
          </a:p>
          <a:p>
            <a:pPr indent="0" lvl="0" marL="0" rtl="0" algn="l">
              <a:lnSpc>
                <a:spcPct val="100000"/>
              </a:lnSpc>
              <a:spcBef>
                <a:spcPts val="0"/>
              </a:spcBef>
              <a:spcAft>
                <a:spcPts val="0"/>
              </a:spcAft>
              <a:buSzPts val="1400"/>
              <a:buNone/>
            </a:pPr>
            <a:r>
              <a:rPr lang="en-US"/>
              <a:t>6.6.6 – Verify PAT (Cont.)</a:t>
            </a:r>
            <a:endParaRPr/>
          </a:p>
        </p:txBody>
      </p:sp>
      <p:sp>
        <p:nvSpPr>
          <p:cNvPr id="592" name="Google Shape;592;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6.6 – Dynamic NAT</a:t>
            </a:r>
            <a:endParaRPr/>
          </a:p>
          <a:p>
            <a:pPr indent="0" lvl="0" marL="0" rtl="0" algn="l">
              <a:lnSpc>
                <a:spcPct val="100000"/>
              </a:lnSpc>
              <a:spcBef>
                <a:spcPts val="0"/>
              </a:spcBef>
              <a:spcAft>
                <a:spcPts val="0"/>
              </a:spcAft>
              <a:buSzPts val="1400"/>
              <a:buNone/>
            </a:pPr>
            <a:r>
              <a:rPr lang="en-US"/>
              <a:t>6.6.7 – Packet Tracer – Configure PAT</a:t>
            </a:r>
            <a:endParaRPr/>
          </a:p>
          <a:p>
            <a:pPr indent="0" lvl="0" marL="0" rtl="0" algn="l">
              <a:lnSpc>
                <a:spcPct val="100000"/>
              </a:lnSpc>
              <a:spcBef>
                <a:spcPts val="0"/>
              </a:spcBef>
              <a:spcAft>
                <a:spcPts val="0"/>
              </a:spcAft>
              <a:buSzPts val="1400"/>
              <a:buNone/>
            </a:pPr>
            <a:r>
              <a:t/>
            </a:r>
            <a:endParaRPr/>
          </a:p>
        </p:txBody>
      </p:sp>
      <p:sp>
        <p:nvSpPr>
          <p:cNvPr id="600" name="Google Shape;600;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6.7 – NAT64</a:t>
            </a:r>
            <a:endParaRPr/>
          </a:p>
        </p:txBody>
      </p:sp>
      <p:sp>
        <p:nvSpPr>
          <p:cNvPr id="607" name="Google Shape;607;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6.7 – NAT64</a:t>
            </a:r>
            <a:endParaRPr/>
          </a:p>
          <a:p>
            <a:pPr indent="0" lvl="0" marL="0" rtl="0" algn="l">
              <a:lnSpc>
                <a:spcPct val="100000"/>
              </a:lnSpc>
              <a:spcBef>
                <a:spcPts val="0"/>
              </a:spcBef>
              <a:spcAft>
                <a:spcPts val="0"/>
              </a:spcAft>
              <a:buSzPts val="1400"/>
              <a:buNone/>
            </a:pPr>
            <a:r>
              <a:rPr lang="en-US"/>
              <a:t>6.7.1 – NAT for IPv6?</a:t>
            </a:r>
            <a:endParaRPr/>
          </a:p>
        </p:txBody>
      </p:sp>
      <p:sp>
        <p:nvSpPr>
          <p:cNvPr id="613" name="Google Shape;613;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6.7 – NAT64</a:t>
            </a:r>
            <a:endParaRPr/>
          </a:p>
          <a:p>
            <a:pPr indent="0" lvl="0" marL="0" rtl="0" algn="l">
              <a:lnSpc>
                <a:spcPct val="100000"/>
              </a:lnSpc>
              <a:spcBef>
                <a:spcPts val="0"/>
              </a:spcBef>
              <a:spcAft>
                <a:spcPts val="0"/>
              </a:spcAft>
              <a:buSzPts val="1400"/>
              <a:buNone/>
            </a:pPr>
            <a:r>
              <a:rPr lang="en-US"/>
              <a:t>6.7.2 – NAT64</a:t>
            </a:r>
            <a:endParaRPr/>
          </a:p>
        </p:txBody>
      </p:sp>
      <p:sp>
        <p:nvSpPr>
          <p:cNvPr id="620" name="Google Shape;620;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6.8 – Module Practice and Quiz</a:t>
            </a:r>
            <a:endParaRPr/>
          </a:p>
        </p:txBody>
      </p:sp>
      <p:sp>
        <p:nvSpPr>
          <p:cNvPr id="628" name="Google Shape;628;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6.8 – Module Practice and Quiz</a:t>
            </a:r>
            <a:endParaRPr/>
          </a:p>
          <a:p>
            <a:pPr indent="0" lvl="0" marL="0" rtl="0" algn="l">
              <a:lnSpc>
                <a:spcPct val="100000"/>
              </a:lnSpc>
              <a:spcBef>
                <a:spcPts val="0"/>
              </a:spcBef>
              <a:spcAft>
                <a:spcPts val="0"/>
              </a:spcAft>
              <a:buSzPts val="1400"/>
              <a:buNone/>
            </a:pPr>
            <a:r>
              <a:rPr lang="en-US"/>
              <a:t>6.8.1 – Packet Tracer – Configure NAT for IPv4</a:t>
            </a:r>
            <a:endParaRPr/>
          </a:p>
          <a:p>
            <a:pPr indent="0" lvl="0" marL="0" rtl="0" algn="l">
              <a:lnSpc>
                <a:spcPct val="100000"/>
              </a:lnSpc>
              <a:spcBef>
                <a:spcPts val="0"/>
              </a:spcBef>
              <a:spcAft>
                <a:spcPts val="0"/>
              </a:spcAft>
              <a:buSzPts val="1400"/>
              <a:buNone/>
            </a:pPr>
            <a:r>
              <a:t/>
            </a:r>
            <a:endParaRPr/>
          </a:p>
        </p:txBody>
      </p:sp>
      <p:sp>
        <p:nvSpPr>
          <p:cNvPr id="634" name="Google Shape;634;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6.8 – Module Practice and Quiz</a:t>
            </a:r>
            <a:endParaRPr/>
          </a:p>
          <a:p>
            <a:pPr indent="0" lvl="0" marL="0" rtl="0" algn="l">
              <a:lnSpc>
                <a:spcPct val="100000"/>
              </a:lnSpc>
              <a:spcBef>
                <a:spcPts val="0"/>
              </a:spcBef>
              <a:spcAft>
                <a:spcPts val="0"/>
              </a:spcAft>
              <a:buSzPts val="1400"/>
              <a:buNone/>
            </a:pPr>
            <a:r>
              <a:rPr lang="en-US"/>
              <a:t>6.8.2 – Lab – Configure NAT for IPv4</a:t>
            </a:r>
            <a:endParaRPr/>
          </a:p>
          <a:p>
            <a:pPr indent="0" lvl="0" marL="0" rtl="0" algn="l">
              <a:lnSpc>
                <a:spcPct val="100000"/>
              </a:lnSpc>
              <a:spcBef>
                <a:spcPts val="0"/>
              </a:spcBef>
              <a:spcAft>
                <a:spcPts val="0"/>
              </a:spcAft>
              <a:buSzPts val="1400"/>
              <a:buNone/>
            </a:pPr>
            <a:r>
              <a:t/>
            </a:r>
            <a:endParaRPr/>
          </a:p>
        </p:txBody>
      </p:sp>
      <p:sp>
        <p:nvSpPr>
          <p:cNvPr id="641" name="Google Shape;641;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47" name="Google Shape;647;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6.8 – Module Practice and Quiz</a:t>
            </a:r>
            <a:endParaRPr/>
          </a:p>
          <a:p>
            <a:pPr indent="0" lvl="0" marL="0" rtl="0" algn="l">
              <a:lnSpc>
                <a:spcPct val="100000"/>
              </a:lnSpc>
              <a:spcBef>
                <a:spcPts val="0"/>
              </a:spcBef>
              <a:spcAft>
                <a:spcPts val="0"/>
              </a:spcAft>
              <a:buSzPts val="1400"/>
              <a:buNone/>
            </a:pPr>
            <a:r>
              <a:rPr lang="en-US"/>
              <a:t>6.8.3 – What did I learn in this module?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54" name="Google Shape;654;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6.0 – NAT for IPv4</a:t>
            </a:r>
            <a:endParaRPr/>
          </a:p>
          <a:p>
            <a:pPr indent="0" lvl="0" marL="0" rtl="0" algn="l">
              <a:lnSpc>
                <a:spcPct val="100000"/>
              </a:lnSpc>
              <a:spcBef>
                <a:spcPts val="0"/>
              </a:spcBef>
              <a:spcAft>
                <a:spcPts val="0"/>
              </a:spcAft>
              <a:buSzPts val="1400"/>
              <a:buNone/>
            </a:pPr>
            <a:r>
              <a:rPr lang="en-US"/>
              <a:t>6.8 – Module Practice and Quiz</a:t>
            </a:r>
            <a:endParaRPr/>
          </a:p>
          <a:p>
            <a:pPr indent="0" lvl="0" marL="0" rtl="0" algn="l">
              <a:lnSpc>
                <a:spcPct val="100000"/>
              </a:lnSpc>
              <a:spcBef>
                <a:spcPts val="0"/>
              </a:spcBef>
              <a:spcAft>
                <a:spcPts val="0"/>
              </a:spcAft>
              <a:buSzPts val="1400"/>
              <a:buNone/>
            </a:pPr>
            <a:r>
              <a:rPr lang="en-US"/>
              <a:t>6.8.3 – What did I learn in this module? (Cont.)</a:t>
            </a:r>
            <a:endParaRPr/>
          </a:p>
          <a:p>
            <a:pPr indent="0" lvl="0" marL="0" rtl="0" algn="l">
              <a:lnSpc>
                <a:spcPct val="100000"/>
              </a:lnSpc>
              <a:spcBef>
                <a:spcPts val="0"/>
              </a:spcBef>
              <a:spcAft>
                <a:spcPts val="0"/>
              </a:spcAft>
              <a:buSzPts val="1400"/>
              <a:buNone/>
            </a:pPr>
            <a:r>
              <a:rPr lang="en-US"/>
              <a:t>6.8.4 – Module Quiz – NAT for IPv4</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61" name="Google Shape;661;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6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6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6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6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6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6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60"/>
          <p:cNvGrpSpPr/>
          <p:nvPr/>
        </p:nvGrpSpPr>
        <p:grpSpPr>
          <a:xfrm>
            <a:off x="492125" y="395288"/>
            <a:ext cx="796924" cy="423863"/>
            <a:chOff x="310" y="249"/>
            <a:chExt cx="502" cy="267"/>
          </a:xfrm>
        </p:grpSpPr>
        <p:sp>
          <p:nvSpPr>
            <p:cNvPr id="36" name="Google Shape;36;p6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 name="Google Shape;37;p6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6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6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6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6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6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 name="Google Shape;43;p6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 name="Google Shape;44;p6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 name="Google Shape;45;p6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 name="Google Shape;46;p6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 name="Google Shape;47;p6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6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 name="Google Shape;49;p6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61"/>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61"/>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61"/>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62"/>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6" name="Google Shape;56;p62"/>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62"/>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58" name="Google Shape;58;p62"/>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59" name="Google Shape;59;p62"/>
          <p:cNvGrpSpPr/>
          <p:nvPr/>
        </p:nvGrpSpPr>
        <p:grpSpPr>
          <a:xfrm>
            <a:off x="508039" y="4715197"/>
            <a:ext cx="340257" cy="180974"/>
            <a:chOff x="310" y="249"/>
            <a:chExt cx="502" cy="267"/>
          </a:xfrm>
        </p:grpSpPr>
        <p:sp>
          <p:nvSpPr>
            <p:cNvPr id="60" name="Google Shape;60;p62"/>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6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 name="Google Shape;62;p6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 name="Google Shape;63;p6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6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 name="Google Shape;65;p6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 name="Google Shape;66;p6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 name="Google Shape;67;p6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6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 name="Google Shape;69;p6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 name="Google Shape;70;p6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6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 name="Google Shape;72;p6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6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63"/>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63"/>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64"/>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64"/>
          <p:cNvGrpSpPr/>
          <p:nvPr/>
        </p:nvGrpSpPr>
        <p:grpSpPr>
          <a:xfrm>
            <a:off x="3746294" y="2129856"/>
            <a:ext cx="1617944" cy="860542"/>
            <a:chOff x="310" y="249"/>
            <a:chExt cx="502" cy="267"/>
          </a:xfrm>
        </p:grpSpPr>
        <p:sp>
          <p:nvSpPr>
            <p:cNvPr id="80" name="Google Shape;80;p6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6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6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6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p6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 name="Google Shape;85;p6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 name="Google Shape;86;p6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6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6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6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0" name="Google Shape;90;p6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 name="Google Shape;91;p6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6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6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6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6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6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65"/>
          <p:cNvGrpSpPr/>
          <p:nvPr/>
        </p:nvGrpSpPr>
        <p:grpSpPr>
          <a:xfrm>
            <a:off x="492125" y="395288"/>
            <a:ext cx="796924" cy="423863"/>
            <a:chOff x="310" y="249"/>
            <a:chExt cx="502" cy="267"/>
          </a:xfrm>
        </p:grpSpPr>
        <p:sp>
          <p:nvSpPr>
            <p:cNvPr id="99" name="Google Shape;99;p65"/>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6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6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6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p6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6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6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 name="Google Shape;106;p6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 name="Google Shape;107;p6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6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6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6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6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 name="Google Shape;112;p6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3" name="Google Shape;113;p6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6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66"/>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 name="Google Shape;117;p66"/>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66"/>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66"/>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66"/>
          <p:cNvGrpSpPr/>
          <p:nvPr/>
        </p:nvGrpSpPr>
        <p:grpSpPr>
          <a:xfrm>
            <a:off x="492125" y="395288"/>
            <a:ext cx="796924" cy="423863"/>
            <a:chOff x="310" y="249"/>
            <a:chExt cx="502" cy="267"/>
          </a:xfrm>
        </p:grpSpPr>
        <p:sp>
          <p:nvSpPr>
            <p:cNvPr id="121" name="Google Shape;121;p6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6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6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6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6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6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6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6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6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6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6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6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 name="Google Shape;133;p6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4" name="Google Shape;134;p6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35" name="Google Shape;135;p66"/>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66"/>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6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68"/>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141" name="Google Shape;141;p68"/>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a:ea typeface="Arial"/>
              <a:cs typeface="Arial"/>
              <a:sym typeface="Arial"/>
            </a:endParaRPr>
          </a:p>
        </p:txBody>
      </p:sp>
      <p:sp>
        <p:nvSpPr>
          <p:cNvPr id="142" name="Google Shape;142;p68"/>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49FD9"/>
              </a:solidFill>
              <a:latin typeface="Arial"/>
              <a:ea typeface="Arial"/>
              <a:cs typeface="Arial"/>
              <a:sym typeface="Arial"/>
            </a:endParaRPr>
          </a:p>
        </p:txBody>
      </p:sp>
      <p:sp>
        <p:nvSpPr>
          <p:cNvPr id="143" name="Google Shape;143;p68"/>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68"/>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68"/>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68"/>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68"/>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68"/>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6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69"/>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2" name="Google Shape;152;p69"/>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3" name="Google Shape;153;p69"/>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4" name="Google Shape;154;p69"/>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69"/>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69"/>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69"/>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69"/>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69"/>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69"/>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61" name="Google Shape;161;p69"/>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69"/>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69"/>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64" name="Google Shape;164;p69"/>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69"/>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7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70"/>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69" name="Google Shape;169;p70"/>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70" name="Google Shape;170;p70"/>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71" name="Google Shape;171;p70"/>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70"/>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70"/>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70"/>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70"/>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70"/>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70"/>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78" name="Google Shape;178;p70"/>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70"/>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70"/>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1" name="Google Shape;181;p70"/>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70"/>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70"/>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4" name="Google Shape;184;p70"/>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5" name="Google Shape;185;p70"/>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6" name="Google Shape;186;p70"/>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70"/>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70"/>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70"/>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70"/>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70"/>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70"/>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93" name="Google Shape;193;p70"/>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70"/>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70"/>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96" name="Google Shape;196;p70"/>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70"/>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71"/>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00" name="Google Shape;200;p71"/>
          <p:cNvGrpSpPr/>
          <p:nvPr/>
        </p:nvGrpSpPr>
        <p:grpSpPr>
          <a:xfrm>
            <a:off x="3746294" y="2129856"/>
            <a:ext cx="1617944" cy="860542"/>
            <a:chOff x="310" y="249"/>
            <a:chExt cx="502" cy="267"/>
          </a:xfrm>
        </p:grpSpPr>
        <p:sp>
          <p:nvSpPr>
            <p:cNvPr id="201" name="Google Shape;201;p7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2" name="Google Shape;202;p7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p7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7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7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7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7" name="Google Shape;207;p7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7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9" name="Google Shape;209;p7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p7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7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p7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3" name="Google Shape;213;p7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4" name="Google Shape;214;p7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72"/>
          <p:cNvGrpSpPr/>
          <p:nvPr/>
        </p:nvGrpSpPr>
        <p:grpSpPr>
          <a:xfrm>
            <a:off x="3746294" y="2129856"/>
            <a:ext cx="1617944" cy="860542"/>
            <a:chOff x="310" y="249"/>
            <a:chExt cx="502" cy="267"/>
          </a:xfrm>
        </p:grpSpPr>
        <p:sp>
          <p:nvSpPr>
            <p:cNvPr id="217" name="Google Shape;217;p72"/>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7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7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7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1" name="Google Shape;221;p7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2" name="Google Shape;222;p7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p7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p7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5" name="Google Shape;225;p7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7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p7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8" name="Google Shape;228;p7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9" name="Google Shape;229;p7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7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7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Clr>
                <a:srgbClr val="000000"/>
              </a:buClr>
              <a:buSzPts val="1400"/>
              <a:buFont typeface="Arial"/>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9pPr>
          </a:lstStyle>
          <a:p/>
        </p:txBody>
      </p:sp>
      <p:sp>
        <p:nvSpPr>
          <p:cNvPr id="11" name="Google Shape;11;p59"/>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59"/>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D8D8D8"/>
                </a:solidFill>
                <a:latin typeface="Arial"/>
                <a:ea typeface="Arial"/>
                <a:cs typeface="Arial"/>
                <a:sym typeface="Arial"/>
              </a:rPr>
              <a:t>© 2019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13" name="Google Shape;13;p59"/>
          <p:cNvGrpSpPr/>
          <p:nvPr/>
        </p:nvGrpSpPr>
        <p:grpSpPr>
          <a:xfrm>
            <a:off x="508039" y="4715197"/>
            <a:ext cx="340257" cy="180974"/>
            <a:chOff x="310" y="249"/>
            <a:chExt cx="502" cy="267"/>
          </a:xfrm>
        </p:grpSpPr>
        <p:sp>
          <p:nvSpPr>
            <p:cNvPr id="14" name="Google Shape;14;p5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5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5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5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5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5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5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5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5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5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5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5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5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5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6: NAT for IPv4</a:t>
            </a:r>
            <a:endParaRPr/>
          </a:p>
        </p:txBody>
      </p:sp>
      <p:sp>
        <p:nvSpPr>
          <p:cNvPr id="239" name="Google Shape;239;p1"/>
          <p:cNvSpPr txBox="1"/>
          <p:nvPr>
            <p:ph idx="1" type="subTitle"/>
          </p:nvPr>
        </p:nvSpPr>
        <p:spPr>
          <a:xfrm>
            <a:off x="469497" y="3809526"/>
            <a:ext cx="2368954"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 (ENSA) </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4"/>
            <a:ext cx="9144000" cy="60539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Module Objectives</a:t>
            </a:r>
            <a:endParaRPr/>
          </a:p>
        </p:txBody>
      </p:sp>
      <p:sp>
        <p:nvSpPr>
          <p:cNvPr id="246" name="Google Shape;246;p2"/>
          <p:cNvSpPr/>
          <p:nvPr/>
        </p:nvSpPr>
        <p:spPr>
          <a:xfrm>
            <a:off x="169682" y="646783"/>
            <a:ext cx="8804635" cy="10772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Module Title: </a:t>
            </a:r>
            <a:r>
              <a:rPr b="0" i="0" lang="en-US" sz="1600" u="none" cap="none" strike="noStrike">
                <a:solidFill>
                  <a:schemeClr val="dk1"/>
                </a:solidFill>
                <a:latin typeface="Arial"/>
                <a:ea typeface="Arial"/>
                <a:cs typeface="Arial"/>
                <a:sym typeface="Arial"/>
              </a:rPr>
              <a:t>NAT for IPv4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Module Objective</a:t>
            </a:r>
            <a:r>
              <a:rPr b="0" i="0" lang="en-US" sz="1600" u="none" cap="none" strike="noStrike">
                <a:solidFill>
                  <a:schemeClr val="dk1"/>
                </a:solidFill>
                <a:latin typeface="Arial"/>
                <a:ea typeface="Arial"/>
                <a:cs typeface="Arial"/>
                <a:sym typeface="Arial"/>
              </a:rPr>
              <a:t>: Configure NAT services on the edge router to provide IPv4 address scalability.</a:t>
            </a:r>
            <a:endParaRPr b="0" i="0" sz="1800" u="none" cap="none" strike="noStrike">
              <a:solidFill>
                <a:schemeClr val="dk1"/>
              </a:solidFill>
              <a:latin typeface="Arial"/>
              <a:ea typeface="Arial"/>
              <a:cs typeface="Arial"/>
              <a:sym typeface="Arial"/>
            </a:endParaRPr>
          </a:p>
        </p:txBody>
      </p:sp>
      <p:graphicFrame>
        <p:nvGraphicFramePr>
          <p:cNvPr id="247" name="Google Shape;247;p2"/>
          <p:cNvGraphicFramePr/>
          <p:nvPr/>
        </p:nvGraphicFramePr>
        <p:xfrm>
          <a:off x="766914" y="1892354"/>
          <a:ext cx="3000000" cy="3000000"/>
        </p:xfrm>
        <a:graphic>
          <a:graphicData uri="http://schemas.openxmlformats.org/drawingml/2006/table">
            <a:tbl>
              <a:tblPr bandRow="1" firstCol="1" firstRow="1">
                <a:noFill/>
                <a:tableStyleId>{13A7A84D-0A23-45B2-A747-7ADBBB7CDECA}</a:tableStyleId>
              </a:tblPr>
              <a:tblGrid>
                <a:gridCol w="2833025"/>
                <a:gridCol w="4771075"/>
              </a:tblGrid>
              <a:tr h="160200">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t>Topic Title</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t>Topic Objective</a:t>
                      </a:r>
                      <a:endParaRPr sz="1100" u="none" cap="none" strike="noStrike">
                        <a:latin typeface="Calibri"/>
                        <a:ea typeface="Calibri"/>
                        <a:cs typeface="Calibri"/>
                        <a:sym typeface="Calibri"/>
                      </a:endParaRPr>
                    </a:p>
                  </a:txBody>
                  <a:tcPr marT="0" marB="0" marR="68575" marL="68575"/>
                </a:tc>
              </a:tr>
              <a:tr h="328875">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t>NAT Characteristics</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Explain the purpose and function of NAT.</a:t>
                      </a:r>
                      <a:endParaRPr sz="1100" u="none" cap="none" strike="noStrike">
                        <a:solidFill>
                          <a:srgbClr val="000000"/>
                        </a:solidFill>
                        <a:latin typeface="Calibri"/>
                        <a:ea typeface="Calibri"/>
                        <a:cs typeface="Calibri"/>
                        <a:sym typeface="Calibri"/>
                      </a:endParaRPr>
                    </a:p>
                  </a:txBody>
                  <a:tcPr marT="0" marB="0" marR="68575" marL="68575"/>
                </a:tc>
              </a:tr>
              <a:tr h="282550">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t>Types of NAT</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Explain the operation of different types of NAT.</a:t>
                      </a:r>
                      <a:endParaRPr sz="1100" u="none" cap="none" strike="noStrike">
                        <a:solidFill>
                          <a:srgbClr val="000000"/>
                        </a:solidFill>
                        <a:latin typeface="Calibri"/>
                        <a:ea typeface="Calibri"/>
                        <a:cs typeface="Calibri"/>
                        <a:sym typeface="Calibri"/>
                      </a:endParaRPr>
                    </a:p>
                  </a:txBody>
                  <a:tcPr marT="0" marB="0" marR="68575" marL="68575"/>
                </a:tc>
              </a:tr>
              <a:tr h="328875">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t>NAT Advantages and Disadvantages</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Describe the advantages and disadvantages of NAT.</a:t>
                      </a:r>
                      <a:endParaRPr sz="1100" u="none" cap="none" strike="noStrike">
                        <a:solidFill>
                          <a:srgbClr val="000000"/>
                        </a:solidFill>
                        <a:latin typeface="Calibri"/>
                        <a:ea typeface="Calibri"/>
                        <a:cs typeface="Calibri"/>
                        <a:sym typeface="Calibri"/>
                      </a:endParaRPr>
                    </a:p>
                  </a:txBody>
                  <a:tcPr marT="0" marB="0" marR="68575" marL="68575"/>
                </a:tc>
              </a:tr>
              <a:tr h="328875">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t>Static NAT</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Configure static NAT using the CLI.</a:t>
                      </a:r>
                      <a:endParaRPr sz="1100" u="none" cap="none" strike="noStrike">
                        <a:solidFill>
                          <a:srgbClr val="000000"/>
                        </a:solidFill>
                        <a:latin typeface="Calibri"/>
                        <a:ea typeface="Calibri"/>
                        <a:cs typeface="Calibri"/>
                        <a:sym typeface="Calibri"/>
                      </a:endParaRPr>
                    </a:p>
                  </a:txBody>
                  <a:tcPr marT="0" marB="0" marR="68575" marL="68575"/>
                </a:tc>
              </a:tr>
              <a:tr h="328875">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Dynamic NAT</a:t>
                      </a:r>
                      <a:endParaRPr sz="1400" u="none" cap="none" strike="noStrike"/>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Configure dynamic NAT using the CLI.</a:t>
                      </a:r>
                      <a:endParaRPr sz="1100" u="none" cap="none" strike="noStrike">
                        <a:solidFill>
                          <a:srgbClr val="000000"/>
                        </a:solidFill>
                        <a:latin typeface="Calibri"/>
                        <a:ea typeface="Calibri"/>
                        <a:cs typeface="Calibri"/>
                        <a:sym typeface="Calibri"/>
                      </a:endParaRPr>
                    </a:p>
                  </a:txBody>
                  <a:tcPr marT="0" marB="0" marR="68575" marL="68575"/>
                </a:tc>
              </a:tr>
              <a:tr h="328875">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PAT</a:t>
                      </a:r>
                      <a:endParaRPr sz="1400" u="none" cap="none" strike="noStrike"/>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Configure PAT using the CLI.</a:t>
                      </a:r>
                      <a:endParaRPr sz="1100" u="none" cap="none" strike="noStrike">
                        <a:solidFill>
                          <a:srgbClr val="000000"/>
                        </a:solidFill>
                        <a:latin typeface="Calibri"/>
                        <a:ea typeface="Calibri"/>
                        <a:cs typeface="Calibri"/>
                        <a:sym typeface="Calibri"/>
                      </a:endParaRPr>
                    </a:p>
                  </a:txBody>
                  <a:tcPr marT="0" marB="0" marR="68575" marL="68575"/>
                </a:tc>
              </a:tr>
              <a:tr h="328875">
                <a:tc>
                  <a:txBody>
                    <a:bodyPr/>
                    <a:lstStyle/>
                    <a:p>
                      <a:pPr indent="0" lvl="0" marL="0" marR="0" rtl="0" algn="l">
                        <a:lnSpc>
                          <a:spcPct val="107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NAT64</a:t>
                      </a:r>
                      <a:endParaRPr sz="1400" u="none" cap="none" strike="noStrike"/>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Describe NAT for IPv6.</a:t>
                      </a:r>
                      <a:endParaRPr sz="1100" u="none" cap="none" strike="noStrike">
                        <a:solidFill>
                          <a:srgbClr val="000000"/>
                        </a:solidFill>
                        <a:latin typeface="Calibri"/>
                        <a:ea typeface="Calibri"/>
                        <a:cs typeface="Calibri"/>
                        <a:sym typeface="Calibri"/>
                      </a:endParaRPr>
                    </a:p>
                  </a:txBody>
                  <a:tcPr marT="0" marB="0" marR="68575" marL="68575"/>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6.1 NAT Characteristics</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Characteristics</a:t>
            </a:r>
            <a:br>
              <a:rPr lang="en-US"/>
            </a:br>
            <a:r>
              <a:rPr lang="en-US" sz="2400"/>
              <a:t>IPv4 Address Space</a:t>
            </a:r>
            <a:endParaRPr/>
          </a:p>
        </p:txBody>
      </p:sp>
      <p:sp>
        <p:nvSpPr>
          <p:cNvPr id="260" name="Google Shape;260;p4"/>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Networks are commonly implemented using private IPv4 addresses, as defined in RFC 1918.</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Private IPv4 addresses cannot be routed over the internet and are used within an organization or site to allow devices to communicate locally.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allow a device with a private IPv4 address to access devices and resources outside of the local network, the private address must first be translated to a public address.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provides the translation of private addresses to public addresses.</a:t>
            </a:r>
            <a:endParaRPr/>
          </a:p>
        </p:txBody>
      </p:sp>
      <p:graphicFrame>
        <p:nvGraphicFramePr>
          <p:cNvPr id="261" name="Google Shape;261;p4"/>
          <p:cNvGraphicFramePr/>
          <p:nvPr/>
        </p:nvGraphicFramePr>
        <p:xfrm>
          <a:off x="4759036" y="1219248"/>
          <a:ext cx="3000000" cy="3000000"/>
        </p:xfrm>
        <a:graphic>
          <a:graphicData uri="http://schemas.openxmlformats.org/drawingml/2006/table">
            <a:tbl>
              <a:tblPr bandRow="1" firstRow="1">
                <a:noFill/>
                <a:tableStyleId>{13A7A84D-0A23-45B2-A747-7ADBBB7CDECA}</a:tableStyleId>
              </a:tblPr>
              <a:tblGrid>
                <a:gridCol w="853000"/>
                <a:gridCol w="2100600"/>
                <a:gridCol w="1188900"/>
              </a:tblGrid>
              <a:tr h="301425">
                <a:tc>
                  <a:txBody>
                    <a:bodyPr/>
                    <a:lstStyle/>
                    <a:p>
                      <a:pPr indent="0" lvl="0" marL="0" marR="0" rtl="0" algn="ctr">
                        <a:lnSpc>
                          <a:spcPct val="100000"/>
                        </a:lnSpc>
                        <a:spcBef>
                          <a:spcPts val="0"/>
                        </a:spcBef>
                        <a:spcAft>
                          <a:spcPts val="0"/>
                        </a:spcAft>
                        <a:buClr>
                          <a:schemeClr val="dk1"/>
                        </a:buClr>
                        <a:buSzPts val="1200"/>
                        <a:buFont typeface="Arial"/>
                        <a:buNone/>
                      </a:pPr>
                      <a:r>
                        <a:rPr lang="en-US" sz="1200" u="none" cap="none" strike="noStrike"/>
                        <a:t>Class</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200"/>
                        <a:buFont typeface="Arial"/>
                        <a:buNone/>
                      </a:pPr>
                      <a:r>
                        <a:rPr lang="en-US" sz="1200" u="none" cap="none" strike="noStrike"/>
                        <a:t>Activity Type</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Activity Name</a:t>
                      </a:r>
                      <a:endParaRPr sz="1400" u="none" cap="none" strike="noStrike"/>
                    </a:p>
                  </a:txBody>
                  <a:tcPr marT="34300" marB="34300" marR="68575" marL="68575" anchor="ctr"/>
                </a:tc>
              </a:tr>
              <a:tr h="350775">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t>A</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10.0.0.0 – 10.255.255.255</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10.0.0.0/8</a:t>
                      </a:r>
                      <a:endParaRPr sz="1400" u="none" cap="none" strike="noStrike"/>
                    </a:p>
                  </a:txBody>
                  <a:tcPr marT="34300" marB="34300" marR="68575" marL="68575" anchor="ctr"/>
                </a:tc>
              </a:tr>
              <a:tr h="350775">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t>B</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172.16.0.0 – 172.31.255.255</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172.16.0.0/12</a:t>
                      </a:r>
                      <a:endParaRPr sz="1400" u="none" cap="none" strike="noStrike"/>
                    </a:p>
                  </a:txBody>
                  <a:tcPr marT="34300" marB="34300" marR="68575" marL="68575" anchor="ctr"/>
                </a:tc>
              </a:tr>
              <a:tr h="350775">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t>C</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192.168.0.0 – 192.168.255.255</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192.168.0.0/16</a:t>
                      </a:r>
                      <a:endParaRPr sz="1400" u="none" cap="none" strike="noStrike"/>
                    </a:p>
                  </a:txBody>
                  <a:tcPr marT="34300" marB="34300" marR="68575" marL="68575" anchor="ctr"/>
                </a:tc>
              </a:tr>
            </a:tbl>
          </a:graphicData>
        </a:graphic>
      </p:graphicFrame>
      <p:pic>
        <p:nvPicPr>
          <p:cNvPr id="262" name="Google Shape;262;p4"/>
          <p:cNvPicPr preferRelativeResize="0"/>
          <p:nvPr/>
        </p:nvPicPr>
        <p:blipFill rotWithShape="1">
          <a:blip r:embed="rId3">
            <a:alphaModFix/>
          </a:blip>
          <a:srcRect b="0" l="0" r="0" t="0"/>
          <a:stretch/>
        </p:blipFill>
        <p:spPr>
          <a:xfrm>
            <a:off x="5016842" y="3079599"/>
            <a:ext cx="3621817" cy="13051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Characteristics</a:t>
            </a:r>
            <a:br>
              <a:rPr lang="en-US"/>
            </a:br>
            <a:r>
              <a:rPr lang="en-US" sz="2400"/>
              <a:t>What is NAT</a:t>
            </a:r>
            <a:endParaRPr/>
          </a:p>
        </p:txBody>
      </p:sp>
      <p:sp>
        <p:nvSpPr>
          <p:cNvPr id="269" name="Google Shape;269;p5"/>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The primary use of NAT is to conserve public IPv4 addresses.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allows networks to use private IPv4 addresses internally and translates them to a public address when needed.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NAT router typically operates at the border of a stub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a device inside the stub network wants to communicate with a device outside of its network, the packet is forwarded to the border router which performs the NAT process, translating the internal private address of the device to a public, outside, routable address.</a:t>
            </a:r>
            <a:endParaRPr/>
          </a:p>
          <a:p>
            <a:pPr indent="0" lvl="0" marL="0" rtl="0" algn="l">
              <a:lnSpc>
                <a:spcPct val="100000"/>
              </a:lnSpc>
              <a:spcBef>
                <a:spcPts val="280"/>
              </a:spcBef>
              <a:spcAft>
                <a:spcPts val="0"/>
              </a:spcAft>
              <a:buSzPts val="1400"/>
              <a:buNone/>
            </a:pPr>
            <a:r>
              <a:t/>
            </a:r>
            <a:endParaRPr sz="1400">
              <a:solidFill>
                <a:srgbClr val="000000"/>
              </a:solidFill>
            </a:endParaRPr>
          </a:p>
        </p:txBody>
      </p:sp>
      <p:pic>
        <p:nvPicPr>
          <p:cNvPr id="270" name="Google Shape;270;p5"/>
          <p:cNvPicPr preferRelativeResize="0"/>
          <p:nvPr/>
        </p:nvPicPr>
        <p:blipFill rotWithShape="1">
          <a:blip r:embed="rId3">
            <a:alphaModFix/>
          </a:blip>
          <a:srcRect b="0" l="0" r="0" t="0"/>
          <a:stretch/>
        </p:blipFill>
        <p:spPr>
          <a:xfrm>
            <a:off x="4572000" y="1219522"/>
            <a:ext cx="4230047" cy="27044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Characteristics</a:t>
            </a:r>
            <a:br>
              <a:rPr lang="en-US"/>
            </a:br>
            <a:r>
              <a:rPr lang="en-US" sz="2400"/>
              <a:t>How NAT Works</a:t>
            </a:r>
            <a:endParaRPr/>
          </a:p>
        </p:txBody>
      </p:sp>
      <p:sp>
        <p:nvSpPr>
          <p:cNvPr id="277" name="Google Shape;277;p6"/>
          <p:cNvSpPr txBox="1"/>
          <p:nvPr>
            <p:ph idx="1" type="body"/>
          </p:nvPr>
        </p:nvSpPr>
        <p:spPr>
          <a:xfrm>
            <a:off x="113123" y="731837"/>
            <a:ext cx="5045329" cy="41158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PC1 wants to communicate with an outside web server with public address 209.165.201.1.</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PC1 sends a packet addressed to the web server. </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receives the packet and reads the source IPv4 address to determine if it needs translation.</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adds mapping of the local to global address to the NAT table.</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sends the packet with the translated source address toward the destination.</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The web server responds with a packet addressed to the inside global address of PC1 (209.165.200.226).</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receives the packet with destination address 209.165.200.226. R2 checks the NAT table and finds an entry for this mapping. R2 uses this information and translates the inside global address (209.165.200.226) to the inside local address (192.168.10.10), and the packet is forwarded toward PC1.</a:t>
            </a:r>
            <a:endParaRPr/>
          </a:p>
          <a:p>
            <a:pPr indent="-152400" lvl="0" marL="228600" rtl="0" algn="l">
              <a:lnSpc>
                <a:spcPct val="100000"/>
              </a:lnSpc>
              <a:spcBef>
                <a:spcPts val="240"/>
              </a:spcBef>
              <a:spcAft>
                <a:spcPts val="0"/>
              </a:spcAft>
              <a:buSzPts val="1200"/>
              <a:buFont typeface="Arial"/>
              <a:buNone/>
            </a:pPr>
            <a:r>
              <a:t/>
            </a:r>
            <a:endParaRPr sz="1200">
              <a:solidFill>
                <a:srgbClr val="000000"/>
              </a:solidFill>
            </a:endParaRPr>
          </a:p>
        </p:txBody>
      </p:sp>
      <p:pic>
        <p:nvPicPr>
          <p:cNvPr id="278" name="Google Shape;278;p6"/>
          <p:cNvPicPr preferRelativeResize="0"/>
          <p:nvPr/>
        </p:nvPicPr>
        <p:blipFill rotWithShape="1">
          <a:blip r:embed="rId3">
            <a:alphaModFix/>
          </a:blip>
          <a:srcRect b="0" l="0" r="0" t="0"/>
          <a:stretch/>
        </p:blipFill>
        <p:spPr>
          <a:xfrm>
            <a:off x="5158452" y="1541376"/>
            <a:ext cx="3712798" cy="20607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Characteristics</a:t>
            </a:r>
            <a:br>
              <a:rPr lang="en-US"/>
            </a:br>
            <a:r>
              <a:rPr lang="en-US" sz="2400"/>
              <a:t>NAT Terminology</a:t>
            </a:r>
            <a:endParaRPr/>
          </a:p>
        </p:txBody>
      </p:sp>
      <p:sp>
        <p:nvSpPr>
          <p:cNvPr id="285" name="Google Shape;285;p7"/>
          <p:cNvSpPr txBox="1"/>
          <p:nvPr>
            <p:ph idx="1" type="body"/>
          </p:nvPr>
        </p:nvSpPr>
        <p:spPr>
          <a:xfrm>
            <a:off x="431971" y="855418"/>
            <a:ext cx="7913517"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NAT includes four types of addresses: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Inside local address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Inside global address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Outside local address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Outside global address</a:t>
            </a:r>
            <a:endParaRPr/>
          </a:p>
          <a:p>
            <a:pPr indent="0" lvl="0" marL="0" rtl="0" algn="l">
              <a:lnSpc>
                <a:spcPct val="100000"/>
              </a:lnSpc>
              <a:spcBef>
                <a:spcPts val="320"/>
              </a:spcBef>
              <a:spcAft>
                <a:spcPts val="0"/>
              </a:spcAft>
              <a:buSzPts val="1600"/>
              <a:buNone/>
            </a:pPr>
            <a:r>
              <a:rPr lang="en-US" sz="1600">
                <a:solidFill>
                  <a:srgbClr val="000000"/>
                </a:solidFill>
              </a:rPr>
              <a:t>NAT terminology is always applied from the perspective of the device with the translated address:</a:t>
            </a:r>
            <a:endParaRPr b="1" sz="1600">
              <a:solidFill>
                <a:srgbClr val="000000"/>
              </a:solidFill>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Inside address</a:t>
            </a:r>
            <a:r>
              <a:rPr lang="en-US" sz="1600">
                <a:solidFill>
                  <a:srgbClr val="000000"/>
                </a:solidFill>
              </a:rPr>
              <a:t> - The address of the device which is being translated by NAT.</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Outside address</a:t>
            </a:r>
            <a:r>
              <a:rPr lang="en-US" sz="1600">
                <a:solidFill>
                  <a:srgbClr val="000000"/>
                </a:solidFill>
              </a:rPr>
              <a:t> - The address of the destination device.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Local address</a:t>
            </a:r>
            <a:r>
              <a:rPr lang="en-US" sz="1600">
                <a:solidFill>
                  <a:srgbClr val="000000"/>
                </a:solidFill>
              </a:rPr>
              <a:t> - A local address is any address that appears on the inside portion of the network.</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Global address</a:t>
            </a:r>
            <a:r>
              <a:rPr lang="en-US" sz="1600">
                <a:solidFill>
                  <a:srgbClr val="000000"/>
                </a:solidFill>
              </a:rPr>
              <a:t> - A global address is any address that appears on the outside portion of the network.</a:t>
            </a:r>
            <a:endParaRPr/>
          </a:p>
          <a:p>
            <a:pPr indent="0" lvl="0" marL="0" rtl="0" algn="l">
              <a:lnSpc>
                <a:spcPct val="100000"/>
              </a:lnSpc>
              <a:spcBef>
                <a:spcPts val="240"/>
              </a:spcBef>
              <a:spcAft>
                <a:spcPts val="0"/>
              </a:spcAft>
              <a:buSzPts val="1200"/>
              <a:buNone/>
            </a:pPr>
            <a:r>
              <a:t/>
            </a:r>
            <a:endParaRPr sz="12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Characteristics</a:t>
            </a:r>
            <a:br>
              <a:rPr lang="en-US"/>
            </a:br>
            <a:r>
              <a:rPr lang="en-US" sz="2400"/>
              <a:t>NAT Terminology (Cont.)</a:t>
            </a:r>
            <a:endParaRPr/>
          </a:p>
        </p:txBody>
      </p:sp>
      <p:sp>
        <p:nvSpPr>
          <p:cNvPr id="292" name="Google Shape;292;p8"/>
          <p:cNvSpPr txBox="1"/>
          <p:nvPr>
            <p:ph idx="1" type="body"/>
          </p:nvPr>
        </p:nvSpPr>
        <p:spPr>
          <a:xfrm>
            <a:off x="237063" y="668151"/>
            <a:ext cx="5023094"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b="1" lang="en-US" sz="1400">
                <a:solidFill>
                  <a:srgbClr val="000000"/>
                </a:solidFill>
              </a:rPr>
              <a:t>Inside local address</a:t>
            </a:r>
            <a:endParaRPr/>
          </a:p>
          <a:p>
            <a:pPr indent="0" lvl="0" marL="0" rtl="0" algn="l">
              <a:lnSpc>
                <a:spcPct val="100000"/>
              </a:lnSpc>
              <a:spcBef>
                <a:spcPts val="280"/>
              </a:spcBef>
              <a:spcAft>
                <a:spcPts val="0"/>
              </a:spcAft>
              <a:buSzPts val="1400"/>
              <a:buNone/>
            </a:pPr>
            <a:r>
              <a:rPr lang="en-US" sz="1400">
                <a:solidFill>
                  <a:srgbClr val="000000"/>
                </a:solidFill>
              </a:rPr>
              <a:t>The address of the source as seen from inside the network. This is typically a private IPv4 address. The inside local address of PC1 is 192.168.10.10.</a:t>
            </a:r>
            <a:endParaRPr/>
          </a:p>
          <a:p>
            <a:pPr indent="0" lvl="0" marL="0" rtl="0" algn="l">
              <a:lnSpc>
                <a:spcPct val="100000"/>
              </a:lnSpc>
              <a:spcBef>
                <a:spcPts val="280"/>
              </a:spcBef>
              <a:spcAft>
                <a:spcPts val="0"/>
              </a:spcAft>
              <a:buSzPts val="1400"/>
              <a:buNone/>
            </a:pPr>
            <a:r>
              <a:rPr b="1" lang="en-US" sz="1400">
                <a:solidFill>
                  <a:srgbClr val="000000"/>
                </a:solidFill>
              </a:rPr>
              <a:t>Inside global addresses</a:t>
            </a:r>
            <a:endParaRPr/>
          </a:p>
          <a:p>
            <a:pPr indent="0" lvl="0" marL="0" rtl="0" algn="l">
              <a:lnSpc>
                <a:spcPct val="100000"/>
              </a:lnSpc>
              <a:spcBef>
                <a:spcPts val="280"/>
              </a:spcBef>
              <a:spcAft>
                <a:spcPts val="0"/>
              </a:spcAft>
              <a:buSzPts val="1400"/>
              <a:buNone/>
            </a:pPr>
            <a:r>
              <a:rPr lang="en-US" sz="1400">
                <a:solidFill>
                  <a:srgbClr val="000000"/>
                </a:solidFill>
              </a:rPr>
              <a:t>The address of source as seen from the outside network. The inside global address of PC1 is 209.165.200.226</a:t>
            </a:r>
            <a:endParaRPr/>
          </a:p>
          <a:p>
            <a:pPr indent="0" lvl="0" marL="0" rtl="0" algn="l">
              <a:lnSpc>
                <a:spcPct val="100000"/>
              </a:lnSpc>
              <a:spcBef>
                <a:spcPts val="280"/>
              </a:spcBef>
              <a:spcAft>
                <a:spcPts val="0"/>
              </a:spcAft>
              <a:buSzPts val="1400"/>
              <a:buNone/>
            </a:pPr>
            <a:r>
              <a:rPr b="1" lang="en-US" sz="1400">
                <a:solidFill>
                  <a:srgbClr val="000000"/>
                </a:solidFill>
              </a:rPr>
              <a:t>Outside global address</a:t>
            </a:r>
            <a:endParaRPr/>
          </a:p>
          <a:p>
            <a:pPr indent="0" lvl="0" marL="0" rtl="0" algn="l">
              <a:lnSpc>
                <a:spcPct val="100000"/>
              </a:lnSpc>
              <a:spcBef>
                <a:spcPts val="280"/>
              </a:spcBef>
              <a:spcAft>
                <a:spcPts val="0"/>
              </a:spcAft>
              <a:buSzPts val="1400"/>
              <a:buNone/>
            </a:pPr>
            <a:r>
              <a:rPr lang="en-US" sz="1400">
                <a:solidFill>
                  <a:srgbClr val="000000"/>
                </a:solidFill>
              </a:rPr>
              <a:t>The address of the destination as seen from the outside network. The outside global address of the web server is 209.165.201.1</a:t>
            </a:r>
            <a:endParaRPr/>
          </a:p>
          <a:p>
            <a:pPr indent="0" lvl="0" marL="0" rtl="0" algn="l">
              <a:lnSpc>
                <a:spcPct val="100000"/>
              </a:lnSpc>
              <a:spcBef>
                <a:spcPts val="280"/>
              </a:spcBef>
              <a:spcAft>
                <a:spcPts val="0"/>
              </a:spcAft>
              <a:buSzPts val="1400"/>
              <a:buNone/>
            </a:pPr>
            <a:r>
              <a:rPr b="1" lang="en-US" sz="1400">
                <a:solidFill>
                  <a:srgbClr val="000000"/>
                </a:solidFill>
              </a:rPr>
              <a:t>Outside local address</a:t>
            </a:r>
            <a:endParaRPr/>
          </a:p>
          <a:p>
            <a:pPr indent="0" lvl="0" marL="0" rtl="0" algn="l">
              <a:lnSpc>
                <a:spcPct val="100000"/>
              </a:lnSpc>
              <a:spcBef>
                <a:spcPts val="280"/>
              </a:spcBef>
              <a:spcAft>
                <a:spcPts val="0"/>
              </a:spcAft>
              <a:buSzPts val="1400"/>
              <a:buNone/>
            </a:pPr>
            <a:r>
              <a:rPr lang="en-US" sz="1400">
                <a:solidFill>
                  <a:srgbClr val="000000"/>
                </a:solidFill>
              </a:rPr>
              <a:t>The address of the destination as seen from the inside network. PC1 sends traffic to the web server at the IPv4 address 209.165.201.1. While uncommon, this address could be different than the globally routable address of the destination.</a:t>
            </a:r>
            <a:endParaRPr/>
          </a:p>
        </p:txBody>
      </p:sp>
      <p:pic>
        <p:nvPicPr>
          <p:cNvPr id="293" name="Google Shape;293;p8"/>
          <p:cNvPicPr preferRelativeResize="0"/>
          <p:nvPr/>
        </p:nvPicPr>
        <p:blipFill rotWithShape="1">
          <a:blip r:embed="rId3">
            <a:alphaModFix/>
          </a:blip>
          <a:srcRect b="0" l="0" r="0" t="0"/>
          <a:stretch/>
        </p:blipFill>
        <p:spPr>
          <a:xfrm>
            <a:off x="5439275" y="1327452"/>
            <a:ext cx="3467662" cy="24909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9"/>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6.2 Types of NAT</a:t>
            </a:r>
            <a:endParaRPr/>
          </a:p>
        </p:txBody>
      </p:sp>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Static NAT</a:t>
            </a:r>
            <a:endParaRPr/>
          </a:p>
        </p:txBody>
      </p:sp>
      <p:sp>
        <p:nvSpPr>
          <p:cNvPr id="306" name="Google Shape;306;p10"/>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Static NAT uses a one-to-one mapping of local and global addresses configured by the network administrator that remain constant.</a:t>
            </a:r>
            <a:endParaRPr/>
          </a:p>
          <a:p>
            <a:pPr indent="-171450" lvl="0" marL="171450" rtl="0" algn="l">
              <a:lnSpc>
                <a:spcPct val="100000"/>
              </a:lnSpc>
              <a:spcBef>
                <a:spcPts val="320"/>
              </a:spcBef>
              <a:spcAft>
                <a:spcPts val="0"/>
              </a:spcAft>
              <a:buSzPts val="1600"/>
              <a:buFont typeface="Arial"/>
              <a:buChar char="•"/>
            </a:pPr>
            <a:r>
              <a:rPr lang="en-US" sz="1600">
                <a:solidFill>
                  <a:srgbClr val="000000"/>
                </a:solidFill>
              </a:rPr>
              <a:t>Static NAT is useful for web servers or devices that must have a consistent address that is accessible from the internet, such as a company web server. </a:t>
            </a:r>
            <a:endParaRPr/>
          </a:p>
          <a:p>
            <a:pPr indent="-171450" lvl="0" marL="171450" rtl="0" algn="l">
              <a:lnSpc>
                <a:spcPct val="100000"/>
              </a:lnSpc>
              <a:spcBef>
                <a:spcPts val="320"/>
              </a:spcBef>
              <a:spcAft>
                <a:spcPts val="0"/>
              </a:spcAft>
              <a:buSzPts val="1600"/>
              <a:buFont typeface="Arial"/>
              <a:buChar char="•"/>
            </a:pPr>
            <a:r>
              <a:rPr lang="en-US" sz="1600">
                <a:solidFill>
                  <a:srgbClr val="000000"/>
                </a:solidFill>
              </a:rPr>
              <a:t>It is also useful for devices that must be accessible by authorized personnel when offsite, but not by the general public on the internet.</a:t>
            </a:r>
            <a:endParaRPr/>
          </a:p>
        </p:txBody>
      </p:sp>
      <p:sp>
        <p:nvSpPr>
          <p:cNvPr id="307" name="Google Shape;307;p10"/>
          <p:cNvSpPr/>
          <p:nvPr/>
        </p:nvSpPr>
        <p:spPr>
          <a:xfrm>
            <a:off x="4910208" y="3980776"/>
            <a:ext cx="370589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Note</a:t>
            </a:r>
            <a:r>
              <a:rPr b="0" i="0" lang="en-US" sz="1400" u="none" cap="none" strike="noStrike">
                <a:solidFill>
                  <a:schemeClr val="dk1"/>
                </a:solidFill>
                <a:latin typeface="Arial"/>
                <a:ea typeface="Arial"/>
                <a:cs typeface="Arial"/>
                <a:sym typeface="Arial"/>
              </a:rPr>
              <a:t>: Static NAT requires that enough public addresses are available to satisfy the total number of simultaneous user sessions.</a:t>
            </a:r>
            <a:endParaRPr b="0" i="0" sz="1400" u="none" cap="none" strike="noStrike">
              <a:solidFill>
                <a:srgbClr val="000000"/>
              </a:solidFill>
              <a:latin typeface="Arial"/>
              <a:ea typeface="Arial"/>
              <a:cs typeface="Arial"/>
              <a:sym typeface="Arial"/>
            </a:endParaRPr>
          </a:p>
        </p:txBody>
      </p:sp>
      <p:pic>
        <p:nvPicPr>
          <p:cNvPr id="308" name="Google Shape;308;p10"/>
          <p:cNvPicPr preferRelativeResize="0"/>
          <p:nvPr/>
        </p:nvPicPr>
        <p:blipFill rotWithShape="1">
          <a:blip r:embed="rId3">
            <a:alphaModFix/>
          </a:blip>
          <a:srcRect b="0" l="0" r="0" t="0"/>
          <a:stretch/>
        </p:blipFill>
        <p:spPr>
          <a:xfrm>
            <a:off x="4910209" y="731837"/>
            <a:ext cx="3801820" cy="30916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Dynamic NAT</a:t>
            </a:r>
            <a:endParaRPr/>
          </a:p>
        </p:txBody>
      </p:sp>
      <p:sp>
        <p:nvSpPr>
          <p:cNvPr id="315" name="Google Shape;315;p11"/>
          <p:cNvSpPr txBox="1"/>
          <p:nvPr>
            <p:ph idx="1" type="body"/>
          </p:nvPr>
        </p:nvSpPr>
        <p:spPr>
          <a:xfrm>
            <a:off x="431971" y="855418"/>
            <a:ext cx="4140029" cy="229313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Dynamic NAT uses a pool of public addresses and assigns them on a first-come, first-served basis.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an inside device requests access to an outside network, dynamic NAT assigns an available public IPv4 address from the pool.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other addresses in the pool are still available for use. </a:t>
            </a:r>
            <a:endParaRPr/>
          </a:p>
        </p:txBody>
      </p:sp>
      <p:sp>
        <p:nvSpPr>
          <p:cNvPr id="316" name="Google Shape;316;p11"/>
          <p:cNvSpPr/>
          <p:nvPr/>
        </p:nvSpPr>
        <p:spPr>
          <a:xfrm>
            <a:off x="337703" y="3268379"/>
            <a:ext cx="423429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Note</a:t>
            </a:r>
            <a:r>
              <a:rPr b="0" i="0" lang="en-US" sz="1600" u="none" cap="none" strike="noStrike">
                <a:solidFill>
                  <a:schemeClr val="dk1"/>
                </a:solidFill>
                <a:latin typeface="Arial"/>
                <a:ea typeface="Arial"/>
                <a:cs typeface="Arial"/>
                <a:sym typeface="Arial"/>
              </a:rPr>
              <a:t>: Dynamic NAT requires that enough public addresses are available to satisfy the total number of simultaneous user sessions.</a:t>
            </a:r>
            <a:endParaRPr b="0" i="0" sz="1400" u="none" cap="none" strike="noStrike">
              <a:solidFill>
                <a:srgbClr val="000000"/>
              </a:solidFill>
              <a:latin typeface="Arial"/>
              <a:ea typeface="Arial"/>
              <a:cs typeface="Arial"/>
              <a:sym typeface="Arial"/>
            </a:endParaRPr>
          </a:p>
        </p:txBody>
      </p:sp>
      <p:pic>
        <p:nvPicPr>
          <p:cNvPr id="317" name="Google Shape;317;p11"/>
          <p:cNvPicPr preferRelativeResize="0"/>
          <p:nvPr/>
        </p:nvPicPr>
        <p:blipFill rotWithShape="1">
          <a:blip r:embed="rId3">
            <a:alphaModFix/>
          </a:blip>
          <a:srcRect b="0" l="0" r="0" t="0"/>
          <a:stretch/>
        </p:blipFill>
        <p:spPr>
          <a:xfrm>
            <a:off x="4936604" y="967651"/>
            <a:ext cx="3775425" cy="290089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Port Address Translation</a:t>
            </a:r>
            <a:endParaRPr/>
          </a:p>
        </p:txBody>
      </p:sp>
      <p:sp>
        <p:nvSpPr>
          <p:cNvPr id="324" name="Google Shape;324;p12"/>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Port Address Translation (PAT), also known as NAT overload, maps multiple private IPv4 addresses to a single public IPv4 address or a few addresses.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With PAT, when the NAT router receives a packet from the client, it uses the source port number to uniquely identify the specific NAT translation.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PAT ensures that devices use a different TCP port number for each session with a server on the internet.</a:t>
            </a:r>
            <a:endParaRPr/>
          </a:p>
        </p:txBody>
      </p:sp>
      <p:pic>
        <p:nvPicPr>
          <p:cNvPr id="325" name="Google Shape;325;p12"/>
          <p:cNvPicPr preferRelativeResize="0"/>
          <p:nvPr/>
        </p:nvPicPr>
        <p:blipFill rotWithShape="1">
          <a:blip r:embed="rId3">
            <a:alphaModFix/>
          </a:blip>
          <a:srcRect b="0" l="0" r="0" t="0"/>
          <a:stretch/>
        </p:blipFill>
        <p:spPr>
          <a:xfrm>
            <a:off x="4819910" y="1136822"/>
            <a:ext cx="3785284" cy="242787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Next Available Port</a:t>
            </a:r>
            <a:endParaRPr/>
          </a:p>
        </p:txBody>
      </p:sp>
      <p:sp>
        <p:nvSpPr>
          <p:cNvPr id="332" name="Google Shape;332;p13"/>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PAT attempts to preserve the original source port. If the original source port is already used, PAT assigns the first available port number starting from the beginning of the appropriate port group 0-511, 512-1,023, or 1,024-65,535.</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there are no more ports available and there is more than one external address in the address pool, PAT moves to the next address to try to allocate the original source port.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process continues until there are no more available ports or external IPv4 addresses in the address pool.</a:t>
            </a:r>
            <a:endParaRPr/>
          </a:p>
        </p:txBody>
      </p:sp>
      <p:pic>
        <p:nvPicPr>
          <p:cNvPr id="333" name="Google Shape;333;p13"/>
          <p:cNvPicPr preferRelativeResize="0"/>
          <p:nvPr/>
        </p:nvPicPr>
        <p:blipFill rotWithShape="1">
          <a:blip r:embed="rId3">
            <a:alphaModFix/>
          </a:blip>
          <a:srcRect b="0" l="0" r="0" t="0"/>
          <a:stretch/>
        </p:blipFill>
        <p:spPr>
          <a:xfrm>
            <a:off x="4766953" y="1467858"/>
            <a:ext cx="4061689" cy="220778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NAT and PAT Comparison</a:t>
            </a:r>
            <a:endParaRPr/>
          </a:p>
        </p:txBody>
      </p:sp>
      <p:sp>
        <p:nvSpPr>
          <p:cNvPr id="340" name="Google Shape;340;p14"/>
          <p:cNvSpPr txBox="1"/>
          <p:nvPr>
            <p:ph idx="1" type="body"/>
          </p:nvPr>
        </p:nvSpPr>
        <p:spPr>
          <a:xfrm>
            <a:off x="431971" y="855418"/>
            <a:ext cx="4140029" cy="84140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Summary of the differences between NAT and PAT.</a:t>
            </a:r>
            <a:endParaRPr/>
          </a:p>
          <a:p>
            <a:pPr indent="0" lvl="0" marL="0" rtl="0" algn="l">
              <a:lnSpc>
                <a:spcPct val="100000"/>
              </a:lnSpc>
              <a:spcBef>
                <a:spcPts val="280"/>
              </a:spcBef>
              <a:spcAft>
                <a:spcPts val="0"/>
              </a:spcAft>
              <a:buSzPts val="1400"/>
              <a:buNone/>
            </a:pPr>
            <a:r>
              <a:rPr b="1" lang="en-US" sz="1400">
                <a:solidFill>
                  <a:srgbClr val="000000"/>
                </a:solidFill>
              </a:rPr>
              <a:t>NAT</a:t>
            </a:r>
            <a:r>
              <a:rPr lang="en-US" sz="1400">
                <a:solidFill>
                  <a:srgbClr val="000000"/>
                </a:solidFill>
              </a:rPr>
              <a:t> - Only modifies the IPv4 addresses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rPr b="1" lang="en-US" sz="1400">
                <a:solidFill>
                  <a:srgbClr val="000000"/>
                </a:solidFill>
              </a:rPr>
              <a:t>PAT</a:t>
            </a:r>
            <a:r>
              <a:rPr lang="en-US" sz="1400">
                <a:solidFill>
                  <a:srgbClr val="000000"/>
                </a:solidFill>
              </a:rPr>
              <a:t> - PAT modifies both the IPv4 address and the port number.</a:t>
            </a:r>
            <a:endParaRPr/>
          </a:p>
        </p:txBody>
      </p:sp>
      <p:graphicFrame>
        <p:nvGraphicFramePr>
          <p:cNvPr id="341" name="Google Shape;341;p14"/>
          <p:cNvGraphicFramePr/>
          <p:nvPr/>
        </p:nvGraphicFramePr>
        <p:xfrm>
          <a:off x="477557" y="1811596"/>
          <a:ext cx="3000000" cy="3000000"/>
        </p:xfrm>
        <a:graphic>
          <a:graphicData uri="http://schemas.openxmlformats.org/drawingml/2006/table">
            <a:tbl>
              <a:tblPr bandRow="1" firstRow="1">
                <a:noFill/>
                <a:tableStyleId>{13A7A84D-0A23-45B2-A747-7ADBBB7CDECA}</a:tableStyleId>
              </a:tblPr>
              <a:tblGrid>
                <a:gridCol w="1849025"/>
                <a:gridCol w="1846175"/>
              </a:tblGrid>
              <a:tr h="301425">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Inside Global Address</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Inside Local Address</a:t>
                      </a:r>
                      <a:endParaRPr sz="1400" u="none" cap="none" strike="noStrike"/>
                    </a:p>
                  </a:txBody>
                  <a:tcPr marT="34300" marB="34300" marR="68575" marL="68575" anchor="ctr"/>
                </a:tc>
              </a:tr>
              <a:tr h="350775">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209.165.200.226</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192.168.10.10</a:t>
                      </a:r>
                      <a:endParaRPr sz="1400" u="none" cap="none" strike="noStrike"/>
                    </a:p>
                  </a:txBody>
                  <a:tcPr marT="34300" marB="34300" marR="68575" marL="68575" anchor="ctr"/>
                </a:tc>
              </a:tr>
            </a:tbl>
          </a:graphicData>
        </a:graphic>
      </p:graphicFrame>
      <p:graphicFrame>
        <p:nvGraphicFramePr>
          <p:cNvPr id="342" name="Google Shape;342;p14"/>
          <p:cNvGraphicFramePr/>
          <p:nvPr/>
        </p:nvGraphicFramePr>
        <p:xfrm>
          <a:off x="477557" y="3254870"/>
          <a:ext cx="3000000" cy="3000000"/>
        </p:xfrm>
        <a:graphic>
          <a:graphicData uri="http://schemas.openxmlformats.org/drawingml/2006/table">
            <a:tbl>
              <a:tblPr bandRow="1" firstRow="1">
                <a:noFill/>
                <a:tableStyleId>{13A7A84D-0A23-45B2-A747-7ADBBB7CDECA}</a:tableStyleId>
              </a:tblPr>
              <a:tblGrid>
                <a:gridCol w="1849025"/>
                <a:gridCol w="1846175"/>
              </a:tblGrid>
              <a:tr h="301425">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Inside Global Address</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Inside Local Address</a:t>
                      </a:r>
                      <a:endParaRPr sz="1400" u="none" cap="none" strike="noStrike"/>
                    </a:p>
                  </a:txBody>
                  <a:tcPr marT="34300" marB="34300" marR="68575" marL="68575" anchor="ctr"/>
                </a:tc>
              </a:tr>
              <a:tr h="350775">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209.165.200.226:2031</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192.168.10.10:2031</a:t>
                      </a:r>
                      <a:endParaRPr sz="1400" u="none" cap="none" strike="noStrike"/>
                    </a:p>
                  </a:txBody>
                  <a:tcPr marT="34300" marB="34300" marR="68575" marL="68575" anchor="ctr"/>
                </a:tc>
              </a:tr>
            </a:tbl>
          </a:graphicData>
        </a:graphic>
      </p:graphicFrame>
      <p:graphicFrame>
        <p:nvGraphicFramePr>
          <p:cNvPr id="343" name="Google Shape;343;p14"/>
          <p:cNvGraphicFramePr/>
          <p:nvPr/>
        </p:nvGraphicFramePr>
        <p:xfrm>
          <a:off x="5016842" y="855418"/>
          <a:ext cx="3000000" cy="3000000"/>
        </p:xfrm>
        <a:graphic>
          <a:graphicData uri="http://schemas.openxmlformats.org/drawingml/2006/table">
            <a:tbl>
              <a:tblPr bandRow="1" firstRow="1">
                <a:noFill/>
                <a:tableStyleId>{13A7A84D-0A23-45B2-A747-7ADBBB7CDECA}</a:tableStyleId>
              </a:tblPr>
              <a:tblGrid>
                <a:gridCol w="1849025"/>
                <a:gridCol w="1846175"/>
              </a:tblGrid>
              <a:tr h="301425">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NAT</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PAT</a:t>
                      </a:r>
                      <a:endParaRPr sz="1400" u="none" cap="none" strike="noStrike"/>
                    </a:p>
                  </a:txBody>
                  <a:tcPr marT="34300" marB="34300" marR="68575" marL="68575" anchor="ctr"/>
                </a:tc>
              </a:tr>
              <a:tr h="350775">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One-to-one mapping between Inside Local and Inside Global addresses.</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One Inside Global address can be mapped to many Inside Local addresses.</a:t>
                      </a:r>
                      <a:endParaRPr sz="1400" u="none" cap="none" strike="noStrike"/>
                    </a:p>
                  </a:txBody>
                  <a:tcPr marT="34300" marB="34300" marR="68575" marL="68575" anchor="ctr"/>
                </a:tc>
              </a:tr>
              <a:tr h="3507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Uses only IPv4 addresses in translation process.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Uses IPv4 addresses and TCP or UDP source port numbers in translation process.</a:t>
                      </a:r>
                      <a:endParaRPr sz="1400" u="none" cap="none" strike="noStrike"/>
                    </a:p>
                  </a:txBody>
                  <a:tcPr marT="45725" marB="45725" marR="91450" marL="91450" anchor="ctr"/>
                </a:tc>
              </a:tr>
              <a:tr h="3507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A unique Inside Global address is required for each inside host accessing the outside network.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A single unique Inside Global address can be shared by many inside hosts accessing the outside network.</a:t>
                      </a:r>
                      <a:endParaRPr sz="1400" u="none" cap="none" strike="noStrike"/>
                    </a:p>
                  </a:txBody>
                  <a:tcPr marT="45725" marB="45725" marR="91450" marL="9145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Packets without a Layer 4 Segment</a:t>
            </a:r>
            <a:endParaRPr/>
          </a:p>
        </p:txBody>
      </p:sp>
      <p:sp>
        <p:nvSpPr>
          <p:cNvPr id="350" name="Google Shape;350;p15"/>
          <p:cNvSpPr txBox="1"/>
          <p:nvPr>
            <p:ph idx="1" type="body"/>
          </p:nvPr>
        </p:nvSpPr>
        <p:spPr>
          <a:xfrm>
            <a:off x="431971" y="855419"/>
            <a:ext cx="8020051" cy="218001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Some packets do not contain a Layer 4 port number, such as ICMPv4 messages. Each of these types of protocols is handled differently by PAT.</a:t>
            </a:r>
            <a:endParaRPr/>
          </a:p>
          <a:p>
            <a:pPr indent="0" lvl="0" marL="0" rtl="0" algn="l">
              <a:lnSpc>
                <a:spcPct val="100000"/>
              </a:lnSpc>
              <a:spcBef>
                <a:spcPts val="360"/>
              </a:spcBef>
              <a:spcAft>
                <a:spcPts val="0"/>
              </a:spcAft>
              <a:buSzPts val="1800"/>
              <a:buNone/>
            </a:pPr>
            <a:r>
              <a:t/>
            </a:r>
            <a:endParaRPr sz="1800">
              <a:solidFill>
                <a:srgbClr val="000000"/>
              </a:solidFill>
            </a:endParaRPr>
          </a:p>
          <a:p>
            <a:pPr indent="0" lvl="0" marL="0" rtl="0" algn="l">
              <a:lnSpc>
                <a:spcPct val="100000"/>
              </a:lnSpc>
              <a:spcBef>
                <a:spcPts val="360"/>
              </a:spcBef>
              <a:spcAft>
                <a:spcPts val="0"/>
              </a:spcAft>
              <a:buSzPts val="1800"/>
              <a:buNone/>
            </a:pPr>
            <a:r>
              <a:rPr lang="en-US" sz="1800">
                <a:solidFill>
                  <a:srgbClr val="000000"/>
                </a:solidFill>
              </a:rPr>
              <a:t>For example, ICMPv4 query messages, echo requests, and echo replies include a Query ID. ICMPv4 uses the Query ID to identify an echo request with its corresponding echo reply.</a:t>
            </a:r>
            <a:endParaRPr/>
          </a:p>
        </p:txBody>
      </p:sp>
      <p:sp>
        <p:nvSpPr>
          <p:cNvPr id="351" name="Google Shape;351;p15"/>
          <p:cNvSpPr/>
          <p:nvPr/>
        </p:nvSpPr>
        <p:spPr>
          <a:xfrm>
            <a:off x="518984" y="3143262"/>
            <a:ext cx="78265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Note</a:t>
            </a:r>
            <a:r>
              <a:rPr b="0" i="0" lang="en-US" sz="1600" u="none" cap="none" strike="noStrike">
                <a:solidFill>
                  <a:schemeClr val="dk1"/>
                </a:solidFill>
                <a:latin typeface="Arial"/>
                <a:ea typeface="Arial"/>
                <a:cs typeface="Arial"/>
                <a:sym typeface="Arial"/>
              </a:rPr>
              <a:t>: Other ICMPv4 messages do not use the Query ID. These messages and other protocols that do not use TCP or UDP port numbers vary and are beyond the scope of this curriculum.</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NAT</a:t>
            </a:r>
            <a:br>
              <a:rPr lang="en-US"/>
            </a:br>
            <a:r>
              <a:rPr lang="en-US" sz="2400"/>
              <a:t>Packet Tracer – Investigate NAT Operations</a:t>
            </a:r>
            <a:endParaRPr/>
          </a:p>
        </p:txBody>
      </p:sp>
      <p:sp>
        <p:nvSpPr>
          <p:cNvPr id="358" name="Google Shape;358;p16"/>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800"/>
              <a:buNone/>
            </a:pPr>
            <a:r>
              <a:rPr lang="en-US" sz="1800">
                <a:solidFill>
                  <a:srgbClr val="000000"/>
                </a:solidFill>
              </a:rPr>
              <a:t>In this Packet Tracer,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Investigate NAT operation across the intranet</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Investigate NAT operation across the internet</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Conduct further investigations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7"/>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6.3 NAT Advantages and Disadvantages</a:t>
            </a:r>
            <a:endParaRPr/>
          </a:p>
        </p:txBody>
      </p: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Advantages and Disadvantages</a:t>
            </a:r>
            <a:br>
              <a:rPr lang="en-US"/>
            </a:br>
            <a:r>
              <a:rPr lang="en-US" sz="2400"/>
              <a:t>Advantages of NAT</a:t>
            </a:r>
            <a:endParaRPr/>
          </a:p>
        </p:txBody>
      </p:sp>
      <p:sp>
        <p:nvSpPr>
          <p:cNvPr id="371" name="Google Shape;371;p18"/>
          <p:cNvSpPr txBox="1"/>
          <p:nvPr>
            <p:ph idx="1" type="body"/>
          </p:nvPr>
        </p:nvSpPr>
        <p:spPr>
          <a:xfrm>
            <a:off x="431971" y="855419"/>
            <a:ext cx="8020051" cy="25797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NAT provides many benefits: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conserves the legally registered addressing scheme by allowing the privatization of intranets.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conserves addresses through application port-level multiplexing.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increases the flexibility of connections to the public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provides consistency for internal network addressing schemes.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allows the existing private IPv4 address scheme to remain while allowing for easy change to a new public addressing scheme.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hides the IPv4 addresses of users and other devices.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 Advantages and Disadvantages</a:t>
            </a:r>
            <a:br>
              <a:rPr lang="en-US"/>
            </a:br>
            <a:r>
              <a:rPr lang="en-US" sz="2400"/>
              <a:t>Disadvantages of NAT</a:t>
            </a:r>
            <a:endParaRPr/>
          </a:p>
        </p:txBody>
      </p:sp>
      <p:sp>
        <p:nvSpPr>
          <p:cNvPr id="378" name="Google Shape;378;p19"/>
          <p:cNvSpPr txBox="1"/>
          <p:nvPr>
            <p:ph idx="1" type="body"/>
          </p:nvPr>
        </p:nvSpPr>
        <p:spPr>
          <a:xfrm>
            <a:off x="431971" y="855419"/>
            <a:ext cx="8020051" cy="25797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NAT does have drawbacks: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increases forwarding delays.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End-to-end addressing is lost.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End-to-end IPv4 traceability is lost.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complicates the use of tunneling protocols, such as IPsec.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Services that require the initiation of TCP connections from the outside network, or stateless protocols, such as those using UDP, can be disrupted. </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0"/>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6.4 Static NAT</a:t>
            </a:r>
            <a:endParaRPr/>
          </a:p>
        </p:txBody>
      </p:sp>
    </p:spTree>
  </p:cSld>
  <p:clrMapOvr>
    <a:masterClrMapping/>
  </p:clrMapOvr>
  <p:transition spd="slow">
    <p:wipe dir="l"/>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Static NAT Scenario</a:t>
            </a:r>
            <a:endParaRPr/>
          </a:p>
        </p:txBody>
      </p:sp>
      <p:sp>
        <p:nvSpPr>
          <p:cNvPr id="391" name="Google Shape;391;p21"/>
          <p:cNvSpPr txBox="1"/>
          <p:nvPr>
            <p:ph idx="1" type="body"/>
          </p:nvPr>
        </p:nvSpPr>
        <p:spPr>
          <a:xfrm>
            <a:off x="431971" y="855418"/>
            <a:ext cx="4140029" cy="351063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800"/>
              <a:buFont typeface="Arial"/>
              <a:buChar char="•"/>
            </a:pPr>
            <a:r>
              <a:rPr lang="en-US" sz="1800">
                <a:solidFill>
                  <a:srgbClr val="000000"/>
                </a:solidFill>
              </a:rPr>
              <a:t>Static NAT is a one-to-one mapping between an inside address and an outside address. </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Static NAT allows external devices to initiate connections to internal devices using the statically assigned public address. </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For instance, an internal web server may be mapped to a specific inside global address so that it is accessible from outside networks.</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pic>
        <p:nvPicPr>
          <p:cNvPr id="392" name="Google Shape;392;p21"/>
          <p:cNvPicPr preferRelativeResize="0"/>
          <p:nvPr/>
        </p:nvPicPr>
        <p:blipFill rotWithShape="1">
          <a:blip r:embed="rId3">
            <a:alphaModFix/>
          </a:blip>
          <a:srcRect b="0" l="0" r="0" t="0"/>
          <a:stretch/>
        </p:blipFill>
        <p:spPr>
          <a:xfrm>
            <a:off x="4741003" y="1694420"/>
            <a:ext cx="4002202" cy="17546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Configure Static NAT</a:t>
            </a:r>
            <a:endParaRPr/>
          </a:p>
        </p:txBody>
      </p:sp>
      <p:sp>
        <p:nvSpPr>
          <p:cNvPr id="399" name="Google Shape;399;p22"/>
          <p:cNvSpPr txBox="1"/>
          <p:nvPr>
            <p:ph idx="1" type="body"/>
          </p:nvPr>
        </p:nvSpPr>
        <p:spPr>
          <a:xfrm>
            <a:off x="431971" y="855418"/>
            <a:ext cx="7913517" cy="161440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There are two basic tasks when configuring static NAT translations: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1 </a:t>
            </a:r>
            <a:r>
              <a:rPr lang="en-US" sz="1600">
                <a:solidFill>
                  <a:srgbClr val="000000"/>
                </a:solidFill>
              </a:rPr>
              <a:t>- Create a mapping between the inside local address and the inside global addresses using the </a:t>
            </a:r>
            <a:r>
              <a:rPr b="1" lang="en-US" sz="1600">
                <a:solidFill>
                  <a:srgbClr val="000000"/>
                </a:solidFill>
              </a:rPr>
              <a:t>ip nat inside source static </a:t>
            </a:r>
            <a:r>
              <a:rPr lang="en-US" sz="1600">
                <a:solidFill>
                  <a:srgbClr val="000000"/>
                </a:solidFill>
              </a:rPr>
              <a:t>command.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2</a:t>
            </a:r>
            <a:r>
              <a:rPr lang="en-US" sz="1600">
                <a:solidFill>
                  <a:srgbClr val="000000"/>
                </a:solidFill>
              </a:rPr>
              <a:t> - The interfaces participating in the translation are configured as inside or outside relative to NAT with the </a:t>
            </a:r>
            <a:r>
              <a:rPr b="1" lang="en-US" sz="1600">
                <a:solidFill>
                  <a:srgbClr val="000000"/>
                </a:solidFill>
              </a:rPr>
              <a:t>ip nat inside </a:t>
            </a:r>
            <a:r>
              <a:rPr lang="en-US" sz="1600">
                <a:solidFill>
                  <a:srgbClr val="000000"/>
                </a:solidFill>
              </a:rPr>
              <a:t>and </a:t>
            </a:r>
            <a:r>
              <a:rPr b="1" lang="en-US" sz="1600">
                <a:solidFill>
                  <a:srgbClr val="000000"/>
                </a:solidFill>
              </a:rPr>
              <a:t>ip nat outside </a:t>
            </a:r>
            <a:r>
              <a:rPr lang="en-US" sz="1600">
                <a:solidFill>
                  <a:srgbClr val="000000"/>
                </a:solidFill>
              </a:rPr>
              <a:t>commands.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400" name="Google Shape;400;p22"/>
          <p:cNvSpPr txBox="1"/>
          <p:nvPr/>
        </p:nvSpPr>
        <p:spPr>
          <a:xfrm>
            <a:off x="993429" y="2741505"/>
            <a:ext cx="5634876" cy="1546577"/>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rgbClr val="CA8403"/>
                </a:solidFill>
                <a:latin typeface="Courier New"/>
                <a:ea typeface="Courier New"/>
                <a:cs typeface="Courier New"/>
                <a:sym typeface="Courier New"/>
              </a:rPr>
              <a:t>ip nat inside source static 192.168.10.254 209.165.201.5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interface serial 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ip address 192.168.1.2 255.255.255.252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rgbClr val="CA8403"/>
                </a:solidFill>
                <a:latin typeface="Courier New"/>
                <a:ea typeface="Courier New"/>
                <a:cs typeface="Courier New"/>
                <a:sym typeface="Courier New"/>
              </a:rPr>
              <a:t>ip nat inside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exit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interface serial 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ip address 209.165.200.1 255.255.255.252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rgbClr val="CA8403"/>
                </a:solidFill>
                <a:latin typeface="Courier New"/>
                <a:ea typeface="Courier New"/>
                <a:cs typeface="Courier New"/>
                <a:sym typeface="Courier New"/>
              </a:rPr>
              <a:t>ip nat outside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Analyze Static NAT</a:t>
            </a:r>
            <a:endParaRPr/>
          </a:p>
        </p:txBody>
      </p:sp>
      <p:sp>
        <p:nvSpPr>
          <p:cNvPr id="407" name="Google Shape;407;p23"/>
          <p:cNvSpPr txBox="1"/>
          <p:nvPr>
            <p:ph idx="1" type="body"/>
          </p:nvPr>
        </p:nvSpPr>
        <p:spPr>
          <a:xfrm>
            <a:off x="104396" y="613610"/>
            <a:ext cx="4920091" cy="391627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static NAT translation process between the client and the web server:</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The client sends a packet to the web server.</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R2 receives packets from the client on its NAT outside interface and checks its NAT table. </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R2 translates the inside global address of to the inside local address and forwards the packet towards the web server.</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The web server receives the packet and responds to the client using its inside local address.</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(a) R2 receives the packet from the web server on its NAT inside interface with source address of the inside local address of the web server and (b) translates the source address to the inside global address. </a:t>
            </a:r>
            <a:endParaRPr/>
          </a:p>
        </p:txBody>
      </p:sp>
      <p:pic>
        <p:nvPicPr>
          <p:cNvPr id="408" name="Google Shape;408;p23"/>
          <p:cNvPicPr preferRelativeResize="0"/>
          <p:nvPr/>
        </p:nvPicPr>
        <p:blipFill rotWithShape="1">
          <a:blip r:embed="rId3">
            <a:alphaModFix/>
          </a:blip>
          <a:srcRect b="0" l="0" r="0" t="0"/>
          <a:stretch/>
        </p:blipFill>
        <p:spPr>
          <a:xfrm>
            <a:off x="5024487" y="1243862"/>
            <a:ext cx="4093595" cy="24295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Static NAT</a:t>
            </a:r>
            <a:endParaRPr/>
          </a:p>
        </p:txBody>
      </p:sp>
      <p:sp>
        <p:nvSpPr>
          <p:cNvPr id="415" name="Google Shape;415;p24"/>
          <p:cNvSpPr txBox="1"/>
          <p:nvPr>
            <p:ph idx="1" type="body"/>
          </p:nvPr>
        </p:nvSpPr>
        <p:spPr>
          <a:xfrm>
            <a:off x="278922" y="731837"/>
            <a:ext cx="8345488" cy="14673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verify NAT operation, issue the </a:t>
            </a:r>
            <a:r>
              <a:rPr b="1" lang="en-US" sz="1600">
                <a:solidFill>
                  <a:srgbClr val="000000"/>
                </a:solidFill>
              </a:rPr>
              <a:t>show ip nat translations</a:t>
            </a:r>
            <a:r>
              <a:rPr lang="en-US" sz="1600">
                <a:solidFill>
                  <a:srgbClr val="000000"/>
                </a:solidFill>
              </a:rPr>
              <a:t> command.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This command shows active NAT translations.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Because the example is a static NAT configuration, the translation is always present in the NAT table regardless of any active communications.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If the command is issued during an active session, the output also indicates the address of the outside device.</a:t>
            </a:r>
            <a:endParaRPr/>
          </a:p>
        </p:txBody>
      </p:sp>
      <p:sp>
        <p:nvSpPr>
          <p:cNvPr id="416" name="Google Shape;416;p24"/>
          <p:cNvSpPr txBox="1"/>
          <p:nvPr/>
        </p:nvSpPr>
        <p:spPr>
          <a:xfrm>
            <a:off x="547392" y="2571750"/>
            <a:ext cx="7808548" cy="738664"/>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translations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Pro  Inside global       Inside local       Outside local     Outside 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209.165.201.5       192.168.10.254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Total number of translations: 1</a:t>
            </a:r>
            <a:endParaRPr b="1" i="0" sz="1050" u="none" cap="none" strike="noStrike">
              <a:solidFill>
                <a:srgbClr val="CA8403"/>
              </a:solidFill>
              <a:latin typeface="Courier New"/>
              <a:ea typeface="Courier New"/>
              <a:cs typeface="Courier New"/>
              <a:sym typeface="Courier New"/>
            </a:endParaRPr>
          </a:p>
        </p:txBody>
      </p:sp>
      <p:sp>
        <p:nvSpPr>
          <p:cNvPr id="417" name="Google Shape;417;p24"/>
          <p:cNvSpPr txBox="1"/>
          <p:nvPr/>
        </p:nvSpPr>
        <p:spPr>
          <a:xfrm>
            <a:off x="547392" y="3623619"/>
            <a:ext cx="6756978" cy="90024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translations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Pro  Inside global       Inside local        Outside local         Outside 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tcp  209.165.201.5       192.168.10.254      209.165.200.254       209.165.200.254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209.165.201.5       192.168.10.254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Total number of translations: 2</a:t>
            </a:r>
            <a:endParaRPr b="1" i="0" sz="1050" u="none" cap="none" strike="noStrike">
              <a:solidFill>
                <a:srgbClr val="CA8403"/>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Static NAT (Cont.)</a:t>
            </a:r>
            <a:endParaRPr/>
          </a:p>
        </p:txBody>
      </p:sp>
      <p:sp>
        <p:nvSpPr>
          <p:cNvPr id="424" name="Google Shape;424;p25"/>
          <p:cNvSpPr txBox="1"/>
          <p:nvPr>
            <p:ph idx="1" type="body"/>
          </p:nvPr>
        </p:nvSpPr>
        <p:spPr>
          <a:xfrm>
            <a:off x="431971" y="855419"/>
            <a:ext cx="7913517" cy="14673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Another useful command is </a:t>
            </a:r>
            <a:r>
              <a:rPr b="1" lang="en-US" sz="1600">
                <a:solidFill>
                  <a:srgbClr val="000000"/>
                </a:solidFill>
              </a:rPr>
              <a:t>show ip nat statistics.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It displays information about the total number of active translations, NAT configuration parameters, the number of addresses in the pool, and the number of addresses that have been allocated.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verify that the NAT translation is working, it is best to clear statistics from any past translations using the </a:t>
            </a:r>
            <a:r>
              <a:rPr b="1" lang="en-US" sz="1600">
                <a:solidFill>
                  <a:srgbClr val="000000"/>
                </a:solidFill>
              </a:rPr>
              <a:t>clear ip nat statistics</a:t>
            </a:r>
            <a:r>
              <a:rPr lang="en-US" sz="1600">
                <a:solidFill>
                  <a:srgbClr val="000000"/>
                </a:solidFill>
              </a:rPr>
              <a:t> command before testing.</a:t>
            </a:r>
            <a:endParaRPr/>
          </a:p>
        </p:txBody>
      </p:sp>
      <p:sp>
        <p:nvSpPr>
          <p:cNvPr id="425" name="Google Shape;425;p25"/>
          <p:cNvSpPr txBox="1"/>
          <p:nvPr/>
        </p:nvSpPr>
        <p:spPr>
          <a:xfrm>
            <a:off x="536940" y="2897732"/>
            <a:ext cx="7808548" cy="1569660"/>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R2# </a:t>
            </a:r>
            <a:r>
              <a:rPr b="1" i="0" lang="en-US" sz="1200" u="none" cap="none" strike="noStrike">
                <a:solidFill>
                  <a:schemeClr val="lt1"/>
                </a:solidFill>
                <a:latin typeface="Courier New"/>
                <a:ea typeface="Courier New"/>
                <a:cs typeface="Courier New"/>
                <a:sym typeface="Courier New"/>
              </a:rPr>
              <a:t>show ip nat statistics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Total active translations: 1 (1 static, 0 dynamic; 0 extended)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Outside interfaces: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  Serial0/1/1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Inside interfaces: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  Serial0/1/0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A8403"/>
                </a:solidFill>
                <a:latin typeface="Courier New"/>
                <a:ea typeface="Courier New"/>
                <a:cs typeface="Courier New"/>
                <a:sym typeface="Courier New"/>
              </a:rPr>
              <a:t>Hits: 4  Misses: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(output omitted)</a:t>
            </a:r>
            <a:endParaRPr b="1" i="0" sz="1200" u="none" cap="none" strike="noStrike">
              <a:solidFill>
                <a:srgbClr val="CA8403"/>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Packet Tracer – Configure Static NAT</a:t>
            </a:r>
            <a:endParaRPr/>
          </a:p>
        </p:txBody>
      </p:sp>
      <p:sp>
        <p:nvSpPr>
          <p:cNvPr id="432" name="Google Shape;432;p26"/>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Test Access without NAT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Configure Static NAT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Test Access with NAT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7"/>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6.5 Dynamic NAT</a:t>
            </a:r>
            <a:endParaRPr/>
          </a:p>
        </p:txBody>
      </p:sp>
    </p:spTree>
  </p:cSld>
  <p:clrMapOvr>
    <a:masterClrMapping/>
  </p:clrMapOvr>
  <p:transition spd="slow">
    <p:wipe dir="l"/>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Dynamic NAT Scenario</a:t>
            </a:r>
            <a:endParaRPr/>
          </a:p>
        </p:txBody>
      </p:sp>
      <p:sp>
        <p:nvSpPr>
          <p:cNvPr id="445" name="Google Shape;445;p28"/>
          <p:cNvSpPr txBox="1"/>
          <p:nvPr>
            <p:ph idx="1" type="body"/>
          </p:nvPr>
        </p:nvSpPr>
        <p:spPr>
          <a:xfrm>
            <a:off x="431971" y="855418"/>
            <a:ext cx="4140029" cy="351063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800"/>
              <a:buFont typeface="Arial"/>
              <a:buChar char="•"/>
            </a:pPr>
            <a:r>
              <a:rPr lang="en-US" sz="1800">
                <a:solidFill>
                  <a:srgbClr val="000000"/>
                </a:solidFill>
              </a:rPr>
              <a:t>Dynamic NAT automatically maps inside local addresses to inside global addresses.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Dynamic NAT uses a pool of inside global addresses.</a:t>
            </a:r>
            <a:endParaRPr sz="1600">
              <a:solidFill>
                <a:srgbClr val="000000"/>
              </a:solidFill>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The pool of inside global addresses is available to any device on the inside network on a first-come first-served basis.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If all addresses in the pool are in use, a device must wait for an available address before it can access the outside network.</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pic>
        <p:nvPicPr>
          <p:cNvPr id="446" name="Google Shape;446;p28"/>
          <p:cNvPicPr preferRelativeResize="0"/>
          <p:nvPr/>
        </p:nvPicPr>
        <p:blipFill rotWithShape="1">
          <a:blip r:embed="rId3">
            <a:alphaModFix/>
          </a:blip>
          <a:srcRect b="0" l="0" r="0" t="0"/>
          <a:stretch/>
        </p:blipFill>
        <p:spPr>
          <a:xfrm>
            <a:off x="4653079" y="1708570"/>
            <a:ext cx="4350016" cy="18043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Configure Dynamic NAT</a:t>
            </a:r>
            <a:endParaRPr/>
          </a:p>
        </p:txBody>
      </p:sp>
      <p:sp>
        <p:nvSpPr>
          <p:cNvPr id="453" name="Google Shape;453;p29"/>
          <p:cNvSpPr txBox="1"/>
          <p:nvPr>
            <p:ph idx="1" type="body"/>
          </p:nvPr>
        </p:nvSpPr>
        <p:spPr>
          <a:xfrm>
            <a:off x="431971" y="855418"/>
            <a:ext cx="7913517" cy="190880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There are five tasks when configuring dynamic NAT translations: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1 </a:t>
            </a:r>
            <a:r>
              <a:rPr lang="en-US" sz="1600">
                <a:solidFill>
                  <a:srgbClr val="000000"/>
                </a:solidFill>
              </a:rPr>
              <a:t>- Define the pool of addresses that will be used for translation using the </a:t>
            </a:r>
            <a:r>
              <a:rPr b="1" lang="en-US" sz="1600">
                <a:solidFill>
                  <a:srgbClr val="000000"/>
                </a:solidFill>
              </a:rPr>
              <a:t>ip nat pool</a:t>
            </a:r>
            <a:r>
              <a:rPr lang="en-US" sz="1600">
                <a:solidFill>
                  <a:srgbClr val="000000"/>
                </a:solidFill>
              </a:rPr>
              <a:t> command. </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2</a:t>
            </a:r>
            <a:r>
              <a:rPr lang="en-US" sz="1600">
                <a:solidFill>
                  <a:srgbClr val="000000"/>
                </a:solidFill>
              </a:rPr>
              <a:t> - Configure a standard ACL to identify (permit) only those addresses that are to be translated.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3 </a:t>
            </a:r>
            <a:r>
              <a:rPr lang="en-US" sz="1600">
                <a:solidFill>
                  <a:srgbClr val="000000"/>
                </a:solidFill>
              </a:rPr>
              <a:t>-</a:t>
            </a:r>
            <a:r>
              <a:rPr b="1" lang="en-US" sz="1600">
                <a:solidFill>
                  <a:srgbClr val="000000"/>
                </a:solidFill>
              </a:rPr>
              <a:t> </a:t>
            </a:r>
            <a:r>
              <a:rPr lang="en-US" sz="1600">
                <a:solidFill>
                  <a:srgbClr val="000000"/>
                </a:solidFill>
              </a:rPr>
              <a:t>Bind the ACL to the pool, using the </a:t>
            </a:r>
            <a:r>
              <a:rPr b="1" lang="en-US" sz="1600">
                <a:solidFill>
                  <a:srgbClr val="000000"/>
                </a:solidFill>
              </a:rPr>
              <a:t>ip nat inside source list</a:t>
            </a:r>
            <a:r>
              <a:rPr lang="en-US" sz="1600">
                <a:solidFill>
                  <a:srgbClr val="000000"/>
                </a:solidFill>
              </a:rPr>
              <a:t> command.</a:t>
            </a:r>
            <a:endParaRPr/>
          </a:p>
          <a:p>
            <a:pPr indent="-209550" lvl="0" marL="285750" rtl="0" algn="l">
              <a:lnSpc>
                <a:spcPct val="100000"/>
              </a:lnSpc>
              <a:spcBef>
                <a:spcPts val="240"/>
              </a:spcBef>
              <a:spcAft>
                <a:spcPts val="0"/>
              </a:spcAft>
              <a:buSzPts val="1200"/>
              <a:buFont typeface="Arial"/>
              <a:buNone/>
            </a:pPr>
            <a:r>
              <a:t/>
            </a:r>
            <a:endParaRPr sz="1200">
              <a:solidFill>
                <a:srgbClr val="000000"/>
              </a:solidFill>
            </a:endParaRPr>
          </a:p>
        </p:txBody>
      </p:sp>
      <p:sp>
        <p:nvSpPr>
          <p:cNvPr id="454" name="Google Shape;454;p29"/>
          <p:cNvSpPr txBox="1"/>
          <p:nvPr/>
        </p:nvSpPr>
        <p:spPr>
          <a:xfrm>
            <a:off x="342316" y="3024299"/>
            <a:ext cx="8459367" cy="646331"/>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R2(config)# </a:t>
            </a:r>
            <a:r>
              <a:rPr b="1" i="0" lang="en-US" sz="1200" u="none" cap="none" strike="noStrike">
                <a:solidFill>
                  <a:schemeClr val="lt1"/>
                </a:solidFill>
                <a:latin typeface="Courier New"/>
                <a:ea typeface="Courier New"/>
                <a:cs typeface="Courier New"/>
                <a:sym typeface="Courier New"/>
              </a:rPr>
              <a:t>ip nat pool NAT-POOL1 209.165.200.226 209.165.200.240 netmask 255.255.255.224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R2(config)# </a:t>
            </a:r>
            <a:r>
              <a:rPr b="1" i="0" lang="en-US" sz="1200" u="none" cap="none" strike="noStrike">
                <a:solidFill>
                  <a:schemeClr val="lt1"/>
                </a:solidFill>
                <a:latin typeface="Courier New"/>
                <a:ea typeface="Courier New"/>
                <a:cs typeface="Courier New"/>
                <a:sym typeface="Courier New"/>
              </a:rPr>
              <a:t>access-list 1 permit 192.168.0.0 0.0.255.255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ourier New"/>
                <a:ea typeface="Courier New"/>
                <a:cs typeface="Courier New"/>
                <a:sym typeface="Courier New"/>
              </a:rPr>
              <a:t>R2(config)# </a:t>
            </a:r>
            <a:r>
              <a:rPr b="1" i="0" lang="en-US" sz="1200" u="none" cap="none" strike="noStrike">
                <a:solidFill>
                  <a:schemeClr val="lt1"/>
                </a:solidFill>
                <a:latin typeface="Courier New"/>
                <a:ea typeface="Courier New"/>
                <a:cs typeface="Courier New"/>
                <a:sym typeface="Courier New"/>
              </a:rPr>
              <a:t>ip nat inside source list 1 pool NAT-POOL1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Configure Dynamic NAT (Cont.)</a:t>
            </a:r>
            <a:endParaRPr/>
          </a:p>
        </p:txBody>
      </p:sp>
      <p:sp>
        <p:nvSpPr>
          <p:cNvPr id="461" name="Google Shape;461;p30"/>
          <p:cNvSpPr txBox="1"/>
          <p:nvPr>
            <p:ph idx="1" type="body"/>
          </p:nvPr>
        </p:nvSpPr>
        <p:spPr>
          <a:xfrm>
            <a:off x="431971" y="855418"/>
            <a:ext cx="7913517" cy="190880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There are five tasks when configuring dynamic NAT translations: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4 </a:t>
            </a:r>
            <a:r>
              <a:rPr lang="en-US" sz="1600">
                <a:solidFill>
                  <a:srgbClr val="000000"/>
                </a:solidFill>
              </a:rPr>
              <a:t>- Identify which interfaces are inside. </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5</a:t>
            </a:r>
            <a:r>
              <a:rPr lang="en-US" sz="1600">
                <a:solidFill>
                  <a:srgbClr val="000000"/>
                </a:solidFill>
              </a:rPr>
              <a:t> - Identify which interfaces are outside. </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sp>
        <p:nvSpPr>
          <p:cNvPr id="462" name="Google Shape;462;p30"/>
          <p:cNvSpPr txBox="1"/>
          <p:nvPr/>
        </p:nvSpPr>
        <p:spPr>
          <a:xfrm>
            <a:off x="307621" y="2571750"/>
            <a:ext cx="8528758" cy="122341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ip nat pool NAT-POOL1 209.165.200.226 209.165.200.240 netmask 255.255.255.224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access-list 1 permit 192.168.0.0 0.0.255.255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ip nat inside source list 1 pool NAT-POOL1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interface serial 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rgbClr val="FFC000"/>
                </a:solidFill>
                <a:latin typeface="Courier New"/>
                <a:ea typeface="Courier New"/>
                <a:cs typeface="Courier New"/>
                <a:sym typeface="Courier New"/>
              </a:rPr>
              <a:t>ip nat inside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interface serial 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rgbClr val="FFC000"/>
                </a:solidFill>
                <a:latin typeface="Courier New"/>
                <a:ea typeface="Courier New"/>
                <a:cs typeface="Courier New"/>
                <a:sym typeface="Courier New"/>
              </a:rPr>
              <a:t>ip nat outside</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Analyze Dynamic NAT – Inside to Outside</a:t>
            </a:r>
            <a:endParaRPr/>
          </a:p>
        </p:txBody>
      </p:sp>
      <p:sp>
        <p:nvSpPr>
          <p:cNvPr id="469" name="Google Shape;469;p31"/>
          <p:cNvSpPr txBox="1"/>
          <p:nvPr>
            <p:ph idx="1" type="body"/>
          </p:nvPr>
        </p:nvSpPr>
        <p:spPr>
          <a:xfrm>
            <a:off x="1" y="855418"/>
            <a:ext cx="4572000" cy="413699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Dynamic NAT translation process:</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PC1 and PC2 send packets requesting a connection to the server.</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receives the first packet from PC1, checks the ALC to determine if the packet should be translated, selects an available global address, and creates a translation entry in the NAT table.</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replaces the inside local source address of PC1, 192.168.10.10, with the translated inside global address of 209.165.200.226 and forwards the packet. (The same process occurs for the packet from PC2 using the translated address of 209.165.200.227.)</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pic>
        <p:nvPicPr>
          <p:cNvPr id="470" name="Google Shape;470;p31"/>
          <p:cNvPicPr preferRelativeResize="0"/>
          <p:nvPr/>
        </p:nvPicPr>
        <p:blipFill rotWithShape="1">
          <a:blip r:embed="rId3">
            <a:alphaModFix/>
          </a:blip>
          <a:srcRect b="0" l="0" r="0" t="0"/>
          <a:stretch/>
        </p:blipFill>
        <p:spPr>
          <a:xfrm>
            <a:off x="4572000" y="1110016"/>
            <a:ext cx="4241113" cy="317806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Analyze Dynamic NAT – Outside to Inside</a:t>
            </a:r>
            <a:endParaRPr/>
          </a:p>
        </p:txBody>
      </p:sp>
      <p:sp>
        <p:nvSpPr>
          <p:cNvPr id="477" name="Google Shape;477;p32"/>
          <p:cNvSpPr txBox="1"/>
          <p:nvPr>
            <p:ph idx="1" type="body"/>
          </p:nvPr>
        </p:nvSpPr>
        <p:spPr>
          <a:xfrm>
            <a:off x="75415" y="855418"/>
            <a:ext cx="4496586" cy="413699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Dynamic NAT translation process:</a:t>
            </a:r>
            <a:endParaRPr/>
          </a:p>
          <a:p>
            <a:pPr indent="-342900" lvl="0" marL="342900" rtl="0" algn="l">
              <a:lnSpc>
                <a:spcPct val="100000"/>
              </a:lnSpc>
              <a:spcBef>
                <a:spcPts val="280"/>
              </a:spcBef>
              <a:spcAft>
                <a:spcPts val="0"/>
              </a:spcAft>
              <a:buSzPts val="1400"/>
              <a:buFont typeface="Arial"/>
              <a:buAutoNum type="arabicPeriod" startAt="4"/>
            </a:pPr>
            <a:r>
              <a:rPr lang="en-US" sz="1400">
                <a:solidFill>
                  <a:srgbClr val="000000"/>
                </a:solidFill>
              </a:rPr>
              <a:t>The server receives the packet from PC1 and responds using the destination address of 209.165.200.226. The server receives the packet from PC2, it responds to using the destination address of 209.165.200.227.</a:t>
            </a:r>
            <a:endParaRPr/>
          </a:p>
          <a:p>
            <a:pPr indent="-342900" lvl="0" marL="342900" rtl="0" algn="l">
              <a:lnSpc>
                <a:spcPct val="100000"/>
              </a:lnSpc>
              <a:spcBef>
                <a:spcPts val="280"/>
              </a:spcBef>
              <a:spcAft>
                <a:spcPts val="0"/>
              </a:spcAft>
              <a:buSzPts val="1400"/>
              <a:buFont typeface="Arial"/>
              <a:buAutoNum type="arabicPeriod" startAt="4"/>
            </a:pPr>
            <a:r>
              <a:rPr lang="en-US" sz="1400">
                <a:solidFill>
                  <a:srgbClr val="000000"/>
                </a:solidFill>
              </a:rPr>
              <a:t>(a) When R2 receives the packet with the destination address of 209.165.200.226; it performs a NAT table lookup and translates the address back to the inside local address and forwards the packet toward PC1.</a:t>
            </a:r>
            <a:br>
              <a:rPr lang="en-US" sz="1400">
                <a:solidFill>
                  <a:srgbClr val="000000"/>
                </a:solidFill>
              </a:rPr>
            </a:br>
            <a:r>
              <a:rPr lang="en-US" sz="1400">
                <a:solidFill>
                  <a:srgbClr val="000000"/>
                </a:solidFill>
              </a:rPr>
              <a:t>(b) When R2 receives the packet with the destination address of 209.165.200.227; it performs a NAT table lookup and translates the address back to the inside local address 192.168.11.10 and forwards the packet toward PC2.</a:t>
            </a:r>
            <a:endParaRPr/>
          </a:p>
          <a:p>
            <a:pPr indent="0" lvl="0" marL="0" rtl="0" algn="l">
              <a:lnSpc>
                <a:spcPct val="100000"/>
              </a:lnSpc>
              <a:spcBef>
                <a:spcPts val="240"/>
              </a:spcBef>
              <a:spcAft>
                <a:spcPts val="0"/>
              </a:spcAft>
              <a:buSzPts val="1200"/>
              <a:buNone/>
            </a:pPr>
            <a:r>
              <a:t/>
            </a:r>
            <a:endParaRPr sz="1200">
              <a:solidFill>
                <a:srgbClr val="000000"/>
              </a:solidFill>
            </a:endParaRPr>
          </a:p>
        </p:txBody>
      </p:sp>
      <p:pic>
        <p:nvPicPr>
          <p:cNvPr id="478" name="Google Shape;478;p32"/>
          <p:cNvPicPr preferRelativeResize="0"/>
          <p:nvPr/>
        </p:nvPicPr>
        <p:blipFill rotWithShape="1">
          <a:blip r:embed="rId3">
            <a:alphaModFix/>
          </a:blip>
          <a:srcRect b="0" l="0" r="0" t="0"/>
          <a:stretch/>
        </p:blipFill>
        <p:spPr>
          <a:xfrm>
            <a:off x="4810639" y="1366414"/>
            <a:ext cx="3995330" cy="31150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Analyze Dynamic NAT – Outside to Inside (Cont.)</a:t>
            </a:r>
            <a:endParaRPr/>
          </a:p>
        </p:txBody>
      </p:sp>
      <p:sp>
        <p:nvSpPr>
          <p:cNvPr id="485" name="Google Shape;485;p33"/>
          <p:cNvSpPr txBox="1"/>
          <p:nvPr>
            <p:ph idx="1" type="body"/>
          </p:nvPr>
        </p:nvSpPr>
        <p:spPr>
          <a:xfrm>
            <a:off x="431971" y="855418"/>
            <a:ext cx="4140029" cy="413699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Dynamic NAT translation process:</a:t>
            </a:r>
            <a:endParaRPr/>
          </a:p>
          <a:p>
            <a:pPr indent="-342900" lvl="0" marL="342900" rtl="0" algn="l">
              <a:lnSpc>
                <a:spcPct val="100000"/>
              </a:lnSpc>
              <a:spcBef>
                <a:spcPts val="280"/>
              </a:spcBef>
              <a:spcAft>
                <a:spcPts val="0"/>
              </a:spcAft>
              <a:buSzPts val="1400"/>
              <a:buFont typeface="Arial"/>
              <a:buAutoNum type="arabicPeriod" startAt="6"/>
            </a:pPr>
            <a:r>
              <a:rPr lang="en-US" sz="1400">
                <a:solidFill>
                  <a:srgbClr val="000000"/>
                </a:solidFill>
              </a:rPr>
              <a:t>PC1 and PC2 receive the packets and continue the conversation. The router performs Steps 2 to 5 for each packet.</a:t>
            </a:r>
            <a:endParaRPr sz="1200">
              <a:solidFill>
                <a:srgbClr val="000000"/>
              </a:solidFill>
            </a:endParaRPr>
          </a:p>
        </p:txBody>
      </p:sp>
      <p:pic>
        <p:nvPicPr>
          <p:cNvPr id="486" name="Google Shape;486;p33"/>
          <p:cNvPicPr preferRelativeResize="0"/>
          <p:nvPr/>
        </p:nvPicPr>
        <p:blipFill rotWithShape="1">
          <a:blip r:embed="rId3">
            <a:alphaModFix/>
          </a:blip>
          <a:srcRect b="0" l="0" r="0" t="0"/>
          <a:stretch/>
        </p:blipFill>
        <p:spPr>
          <a:xfrm>
            <a:off x="4810639" y="1366414"/>
            <a:ext cx="3995330" cy="31150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Dynamic NAT</a:t>
            </a:r>
            <a:endParaRPr/>
          </a:p>
        </p:txBody>
      </p:sp>
      <p:sp>
        <p:nvSpPr>
          <p:cNvPr id="493" name="Google Shape;493;p34"/>
          <p:cNvSpPr txBox="1"/>
          <p:nvPr>
            <p:ph idx="1" type="body"/>
          </p:nvPr>
        </p:nvSpPr>
        <p:spPr>
          <a:xfrm>
            <a:off x="431971" y="855419"/>
            <a:ext cx="7913517" cy="9002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The output of the </a:t>
            </a:r>
            <a:r>
              <a:rPr b="1" lang="en-US" sz="1800">
                <a:solidFill>
                  <a:srgbClr val="000000"/>
                </a:solidFill>
              </a:rPr>
              <a:t>show ip nat translations</a:t>
            </a:r>
            <a:r>
              <a:rPr lang="en-US" sz="1800">
                <a:solidFill>
                  <a:srgbClr val="000000"/>
                </a:solidFill>
              </a:rPr>
              <a:t> command displays all static translations that have been configured and any dynamic translations that have been created by traffic.</a:t>
            </a:r>
            <a:endParaRPr sz="1200">
              <a:solidFill>
                <a:srgbClr val="000000"/>
              </a:solidFill>
            </a:endParaRPr>
          </a:p>
        </p:txBody>
      </p:sp>
      <p:sp>
        <p:nvSpPr>
          <p:cNvPr id="494" name="Google Shape;494;p34"/>
          <p:cNvSpPr txBox="1"/>
          <p:nvPr/>
        </p:nvSpPr>
        <p:spPr>
          <a:xfrm>
            <a:off x="307621" y="2063918"/>
            <a:ext cx="8528758" cy="90024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translations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Pro Inside global      Inside local       Outside local      Outside 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--- 209.165.200.228    192.168.10.10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--- 209.165.200.229    192.168.11.10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Dynamic NAT (Cont.)</a:t>
            </a:r>
            <a:endParaRPr/>
          </a:p>
        </p:txBody>
      </p:sp>
      <p:sp>
        <p:nvSpPr>
          <p:cNvPr id="501" name="Google Shape;501;p35"/>
          <p:cNvSpPr txBox="1"/>
          <p:nvPr>
            <p:ph idx="1" type="body"/>
          </p:nvPr>
        </p:nvSpPr>
        <p:spPr>
          <a:xfrm>
            <a:off x="431971" y="855419"/>
            <a:ext cx="7913517" cy="103937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Adding the </a:t>
            </a:r>
            <a:r>
              <a:rPr b="1" lang="en-US" sz="1800">
                <a:solidFill>
                  <a:srgbClr val="000000"/>
                </a:solidFill>
              </a:rPr>
              <a:t>verbose</a:t>
            </a:r>
            <a:r>
              <a:rPr lang="en-US" sz="1800">
                <a:solidFill>
                  <a:srgbClr val="000000"/>
                </a:solidFill>
              </a:rPr>
              <a:t> keyword displays additional information about each translation, including how long ago the entry was created and used.</a:t>
            </a:r>
            <a:endParaRPr sz="1200">
              <a:solidFill>
                <a:srgbClr val="000000"/>
              </a:solidFill>
            </a:endParaRPr>
          </a:p>
        </p:txBody>
      </p:sp>
      <p:sp>
        <p:nvSpPr>
          <p:cNvPr id="502" name="Google Shape;502;p35"/>
          <p:cNvSpPr txBox="1"/>
          <p:nvPr/>
        </p:nvSpPr>
        <p:spPr>
          <a:xfrm>
            <a:off x="307621" y="2063918"/>
            <a:ext cx="8528758" cy="1869743"/>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translation verbose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Pro Inside global      Inside local       Outside local      Outside 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tcp 209.165.200.228    192.168.10.10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create 00:02:11, use 00:02:11 timeout:86400000, left 23:57:48, Map-Id(In):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flags: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none, use_count: 0, entry-id: 10, lc_entries: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tcp 209.165.200.229    192.168.11.10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create 00:02:10, use 00:02:10 timeout:86400000, left 23:57:49, Map-Id(In):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flags: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none, use_count: 0, entry-id: 12, lc_entries: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Dynamic NAT (Cont.)</a:t>
            </a:r>
            <a:endParaRPr/>
          </a:p>
        </p:txBody>
      </p:sp>
      <p:sp>
        <p:nvSpPr>
          <p:cNvPr id="509" name="Google Shape;509;p36"/>
          <p:cNvSpPr txBox="1"/>
          <p:nvPr>
            <p:ph idx="1" type="body"/>
          </p:nvPr>
        </p:nvSpPr>
        <p:spPr>
          <a:xfrm>
            <a:off x="431971" y="855418"/>
            <a:ext cx="7913517" cy="128446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By default, translation entries time out after 24 hours, unless the timers have been reconfigured with the </a:t>
            </a:r>
            <a:r>
              <a:rPr b="1" lang="en-US" sz="1600">
                <a:solidFill>
                  <a:srgbClr val="000000"/>
                </a:solidFill>
              </a:rPr>
              <a:t>ip nat translation timeout</a:t>
            </a:r>
            <a:r>
              <a:rPr lang="en-US" sz="1600">
                <a:solidFill>
                  <a:srgbClr val="000000"/>
                </a:solidFill>
              </a:rPr>
              <a:t> </a:t>
            </a:r>
            <a:r>
              <a:rPr i="1" lang="en-US" sz="1600">
                <a:solidFill>
                  <a:srgbClr val="000000"/>
                </a:solidFill>
              </a:rPr>
              <a:t>timeout-seconds</a:t>
            </a:r>
            <a:r>
              <a:rPr lang="en-US" sz="1600">
                <a:solidFill>
                  <a:srgbClr val="000000"/>
                </a:solidFill>
              </a:rPr>
              <a:t> command in global configuration mode. To clear dynamic entries before the timeout has expired, use the </a:t>
            </a:r>
            <a:r>
              <a:rPr b="1" lang="en-US" sz="1600">
                <a:solidFill>
                  <a:srgbClr val="000000"/>
                </a:solidFill>
              </a:rPr>
              <a:t>clear ip nat translation</a:t>
            </a:r>
            <a:r>
              <a:rPr lang="en-US" sz="1600">
                <a:solidFill>
                  <a:srgbClr val="000000"/>
                </a:solidFill>
              </a:rPr>
              <a:t> privileged EXEC mode command.</a:t>
            </a:r>
            <a:endParaRPr/>
          </a:p>
        </p:txBody>
      </p:sp>
      <p:sp>
        <p:nvSpPr>
          <p:cNvPr id="510" name="Google Shape;510;p36"/>
          <p:cNvSpPr txBox="1"/>
          <p:nvPr/>
        </p:nvSpPr>
        <p:spPr>
          <a:xfrm>
            <a:off x="307621" y="2263793"/>
            <a:ext cx="8528758" cy="430887"/>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clear ip nat translation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translation</a:t>
            </a:r>
            <a:endParaRPr b="1" i="0" sz="1050" u="none" cap="none" strike="noStrike">
              <a:solidFill>
                <a:srgbClr val="FFC000"/>
              </a:solidFill>
              <a:latin typeface="Courier New"/>
              <a:ea typeface="Courier New"/>
              <a:cs typeface="Courier New"/>
              <a:sym typeface="Courier New"/>
            </a:endParaRPr>
          </a:p>
        </p:txBody>
      </p:sp>
      <p:graphicFrame>
        <p:nvGraphicFramePr>
          <p:cNvPr id="511" name="Google Shape;511;p36"/>
          <p:cNvGraphicFramePr/>
          <p:nvPr/>
        </p:nvGraphicFramePr>
        <p:xfrm>
          <a:off x="715887" y="2911367"/>
          <a:ext cx="3000000" cy="3000000"/>
        </p:xfrm>
        <a:graphic>
          <a:graphicData uri="http://schemas.openxmlformats.org/drawingml/2006/table">
            <a:tbl>
              <a:tblPr bandRow="1" firstRow="1">
                <a:noFill/>
                <a:tableStyleId>{13A7A84D-0A23-45B2-A747-7ADBBB7CDECA}</a:tableStyleId>
              </a:tblPr>
              <a:tblGrid>
                <a:gridCol w="3675675"/>
                <a:gridCol w="3670000"/>
              </a:tblGrid>
              <a:tr h="2818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Command</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Description</a:t>
                      </a:r>
                      <a:endParaRPr sz="1400" u="none" cap="none" strike="noStrike"/>
                    </a:p>
                  </a:txBody>
                  <a:tcPr marT="34300" marB="34300" marR="68575" marL="68575" anchor="ctr"/>
                </a:tc>
              </a:tr>
              <a:tr h="347625">
                <a:tc>
                  <a:txBody>
                    <a:bodyPr/>
                    <a:lstStyle/>
                    <a:p>
                      <a:pPr indent="0" lvl="0" marL="0" marR="0" rtl="0" algn="l">
                        <a:lnSpc>
                          <a:spcPct val="100000"/>
                        </a:lnSpc>
                        <a:spcBef>
                          <a:spcPts val="0"/>
                        </a:spcBef>
                        <a:spcAft>
                          <a:spcPts val="0"/>
                        </a:spcAft>
                        <a:buClr>
                          <a:schemeClr val="dk1"/>
                        </a:buClr>
                        <a:buSzPts val="1000"/>
                        <a:buFont typeface="Courier New"/>
                        <a:buNone/>
                      </a:pPr>
                      <a:r>
                        <a:rPr b="1" lang="en-US" sz="1000" u="none" cap="none" strike="noStrike">
                          <a:solidFill>
                            <a:schemeClr val="dk1"/>
                          </a:solidFill>
                          <a:latin typeface="Courier New"/>
                          <a:ea typeface="Courier New"/>
                          <a:cs typeface="Courier New"/>
                          <a:sym typeface="Courier New"/>
                        </a:rPr>
                        <a:t>clear ip nat translation *</a:t>
                      </a:r>
                      <a:endParaRPr sz="1000" u="none" cap="none" strike="noStrike">
                        <a:latin typeface="Courier New"/>
                        <a:ea typeface="Courier New"/>
                        <a:cs typeface="Courier New"/>
                        <a:sym typeface="Courier New"/>
                      </a:endParaRPr>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Clears all dynamic address translation entries from the NAT translation table.</a:t>
                      </a:r>
                      <a:endParaRPr sz="1400" u="none" cap="none" strike="noStrike"/>
                    </a:p>
                  </a:txBody>
                  <a:tcPr marT="34300" marB="34300" marR="68575" marL="68575" anchor="ctr"/>
                </a:tc>
              </a:tr>
              <a:tr h="341075">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Courier New"/>
                          <a:ea typeface="Courier New"/>
                          <a:cs typeface="Courier New"/>
                          <a:sym typeface="Courier New"/>
                        </a:rPr>
                        <a:t>clear ip nat translation inside</a:t>
                      </a:r>
                      <a:r>
                        <a:rPr lang="en-US" sz="1000" u="none" cap="none" strike="noStrike">
                          <a:latin typeface="Courier New"/>
                          <a:ea typeface="Courier New"/>
                          <a:cs typeface="Courier New"/>
                          <a:sym typeface="Courier New"/>
                        </a:rPr>
                        <a:t> </a:t>
                      </a:r>
                      <a:r>
                        <a:rPr i="1" lang="en-US" sz="1000" u="none" cap="none" strike="noStrike">
                          <a:latin typeface="Courier New"/>
                          <a:ea typeface="Courier New"/>
                          <a:cs typeface="Courier New"/>
                          <a:sym typeface="Courier New"/>
                        </a:rPr>
                        <a:t>global-ip local-ip </a:t>
                      </a:r>
                      <a:r>
                        <a:rPr lang="en-US" sz="1000" u="none" cap="none" strike="noStrike">
                          <a:latin typeface="Courier New"/>
                          <a:ea typeface="Courier New"/>
                          <a:cs typeface="Courier New"/>
                          <a:sym typeface="Courier New"/>
                        </a:rPr>
                        <a:t>[</a:t>
                      </a:r>
                      <a:r>
                        <a:rPr b="1" lang="en-US" sz="1000" u="none" cap="none" strike="noStrike">
                          <a:latin typeface="Courier New"/>
                          <a:ea typeface="Courier New"/>
                          <a:cs typeface="Courier New"/>
                          <a:sym typeface="Courier New"/>
                        </a:rPr>
                        <a:t>outside</a:t>
                      </a:r>
                      <a:r>
                        <a:rPr i="1" lang="en-US" sz="1000" u="none" cap="none" strike="noStrike">
                          <a:latin typeface="Courier New"/>
                          <a:ea typeface="Courier New"/>
                          <a:cs typeface="Courier New"/>
                          <a:sym typeface="Courier New"/>
                        </a:rPr>
                        <a:t> local-ip global-ip</a:t>
                      </a:r>
                      <a:r>
                        <a:rPr lang="en-US" sz="1000" u="none" cap="none" strike="noStrike">
                          <a:latin typeface="Courier New"/>
                          <a:ea typeface="Courier New"/>
                          <a:cs typeface="Courier New"/>
                          <a:sym typeface="Courier New"/>
                        </a:rPr>
                        <a: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Clears a simple dynamic translation entry containing an inside translation or both inside and outside translation.</a:t>
                      </a:r>
                      <a:endParaRPr sz="1400" u="none" cap="none" strike="noStrike"/>
                    </a:p>
                  </a:txBody>
                  <a:tcPr marT="45725" marB="45725" marR="91450" marL="91450" anchor="ctr"/>
                </a:tc>
              </a:tr>
              <a:tr h="603450">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Courier New"/>
                          <a:ea typeface="Courier New"/>
                          <a:cs typeface="Courier New"/>
                          <a:sym typeface="Courier New"/>
                        </a:rPr>
                        <a:t>clear ip nat translation</a:t>
                      </a:r>
                      <a:r>
                        <a:rPr lang="en-US" sz="1000" u="none" cap="none" strike="noStrike">
                          <a:latin typeface="Courier New"/>
                          <a:ea typeface="Courier New"/>
                          <a:cs typeface="Courier New"/>
                          <a:sym typeface="Courier New"/>
                        </a:rPr>
                        <a:t> </a:t>
                      </a:r>
                      <a:r>
                        <a:rPr i="1" lang="en-US" sz="1000" u="none" cap="none" strike="noStrike">
                          <a:latin typeface="Courier New"/>
                          <a:ea typeface="Courier New"/>
                          <a:cs typeface="Courier New"/>
                          <a:sym typeface="Courier New"/>
                        </a:rPr>
                        <a:t>protocol</a:t>
                      </a:r>
                      <a:r>
                        <a:rPr lang="en-US" sz="1000" u="none" cap="none" strike="noStrike">
                          <a:latin typeface="Courier New"/>
                          <a:ea typeface="Courier New"/>
                          <a:cs typeface="Courier New"/>
                          <a:sym typeface="Courier New"/>
                        </a:rPr>
                        <a:t> </a:t>
                      </a:r>
                      <a:r>
                        <a:rPr b="1" lang="en-US" sz="1000" u="none" cap="none" strike="noStrike">
                          <a:latin typeface="Courier New"/>
                          <a:ea typeface="Courier New"/>
                          <a:cs typeface="Courier New"/>
                          <a:sym typeface="Courier New"/>
                        </a:rPr>
                        <a:t>inside</a:t>
                      </a:r>
                      <a:r>
                        <a:rPr lang="en-US" sz="1000" u="none" cap="none" strike="noStrike">
                          <a:latin typeface="Courier New"/>
                          <a:ea typeface="Courier New"/>
                          <a:cs typeface="Courier New"/>
                          <a:sym typeface="Courier New"/>
                        </a:rPr>
                        <a:t> </a:t>
                      </a:r>
                      <a:r>
                        <a:rPr i="1" lang="en-US" sz="1000" u="none" cap="none" strike="noStrike">
                          <a:latin typeface="Courier New"/>
                          <a:ea typeface="Courier New"/>
                          <a:cs typeface="Courier New"/>
                          <a:sym typeface="Courier New"/>
                        </a:rPr>
                        <a:t>global-ip global-port local-ip local-port</a:t>
                      </a:r>
                      <a:r>
                        <a:rPr lang="en-US" sz="1000" u="none" cap="none" strike="noStrike">
                          <a:latin typeface="Courier New"/>
                          <a:ea typeface="Courier New"/>
                          <a:cs typeface="Courier New"/>
                          <a:sym typeface="Courier New"/>
                        </a:rPr>
                        <a:t> [ </a:t>
                      </a:r>
                      <a:r>
                        <a:rPr b="1" lang="en-US" sz="1000" u="none" cap="none" strike="noStrike">
                          <a:latin typeface="Courier New"/>
                          <a:ea typeface="Courier New"/>
                          <a:cs typeface="Courier New"/>
                          <a:sym typeface="Courier New"/>
                        </a:rPr>
                        <a:t>outside</a:t>
                      </a:r>
                      <a:r>
                        <a:rPr lang="en-US" sz="1000" u="none" cap="none" strike="noStrike">
                          <a:latin typeface="Courier New"/>
                          <a:ea typeface="Courier New"/>
                          <a:cs typeface="Courier New"/>
                          <a:sym typeface="Courier New"/>
                        </a:rPr>
                        <a:t> </a:t>
                      </a:r>
                      <a:r>
                        <a:rPr i="1" lang="en-US" sz="1000" u="none" cap="none" strike="noStrike">
                          <a:latin typeface="Courier New"/>
                          <a:ea typeface="Courier New"/>
                          <a:cs typeface="Courier New"/>
                          <a:sym typeface="Courier New"/>
                        </a:rPr>
                        <a:t>local-ip local-port global-ip global-port</a:t>
                      </a:r>
                      <a:r>
                        <a:rPr lang="en-US" sz="1000" u="none" cap="none" strike="noStrike">
                          <a:latin typeface="Courier New"/>
                          <a:ea typeface="Courier New"/>
                          <a:cs typeface="Courier New"/>
                          <a:sym typeface="Courier New"/>
                        </a:rPr>
                        <a: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Clears an extended dynamic translation entry.</a:t>
                      </a:r>
                      <a:endParaRPr sz="1400" u="none" cap="none" strike="noStrike"/>
                    </a:p>
                  </a:txBody>
                  <a:tcPr marT="45725" marB="45725" marR="91450" marL="9145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Dynamic NAT (Cont.)</a:t>
            </a:r>
            <a:endParaRPr/>
          </a:p>
        </p:txBody>
      </p:sp>
      <p:sp>
        <p:nvSpPr>
          <p:cNvPr id="518" name="Google Shape;518;p37"/>
          <p:cNvSpPr txBox="1"/>
          <p:nvPr>
            <p:ph idx="1" type="body"/>
          </p:nvPr>
        </p:nvSpPr>
        <p:spPr>
          <a:xfrm>
            <a:off x="431971" y="855419"/>
            <a:ext cx="7913517" cy="87176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ip nat statistics</a:t>
            </a:r>
            <a:r>
              <a:rPr lang="en-US" sz="1600">
                <a:solidFill>
                  <a:srgbClr val="000000"/>
                </a:solidFill>
              </a:rPr>
              <a:t> command displays information about the total number of active translations, NAT configuration parameters, the number of addresses in the pool, and how many of the addresses have been allocated.</a:t>
            </a:r>
            <a:endParaRPr/>
          </a:p>
        </p:txBody>
      </p:sp>
      <p:sp>
        <p:nvSpPr>
          <p:cNvPr id="519" name="Google Shape;519;p37"/>
          <p:cNvSpPr txBox="1"/>
          <p:nvPr/>
        </p:nvSpPr>
        <p:spPr>
          <a:xfrm>
            <a:off x="431971" y="1727180"/>
            <a:ext cx="8528758" cy="286232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R2# </a:t>
            </a:r>
            <a:r>
              <a:rPr b="1" i="0" lang="en-US" sz="1000" u="none" cap="none" strike="noStrike">
                <a:solidFill>
                  <a:schemeClr val="lt1"/>
                </a:solidFill>
                <a:latin typeface="Courier New"/>
                <a:ea typeface="Courier New"/>
                <a:cs typeface="Courier New"/>
                <a:sym typeface="Courier New"/>
              </a:rPr>
              <a:t>show ip nat statistics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Total active translations: 4 (0 static, 4 dynamic; 0 extended)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Peak translations: 4, occurred 00:31:43 ago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Outside interfaces: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  Serial0/1/1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Inside interfaces: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  Serial0/1/0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Hits: 47  Misses: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CEF Translated packets: 47, CEF Punted packets: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Expired translations: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Dynamic mappings: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 Inside Source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[Id: 1] access-list 1 pool NAT-POOL1 refcount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 </a:t>
            </a:r>
            <a:r>
              <a:rPr b="0" i="0" lang="en-US" sz="1000" u="none" cap="none" strike="noStrike">
                <a:solidFill>
                  <a:srgbClr val="CA8403"/>
                </a:solidFill>
                <a:latin typeface="Courier New"/>
                <a:ea typeface="Courier New"/>
                <a:cs typeface="Courier New"/>
                <a:sym typeface="Courier New"/>
              </a:rPr>
              <a:t>pool NAT-POOL1: netmask 255.255.255.224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CA8403"/>
                </a:solidFill>
                <a:latin typeface="Courier New"/>
                <a:ea typeface="Courier New"/>
                <a:cs typeface="Courier New"/>
                <a:sym typeface="Courier New"/>
              </a:rPr>
              <a:t>	start 209.165.200.226 end 209.165.200.240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CA8403"/>
                </a:solidFill>
                <a:latin typeface="Courier New"/>
                <a:ea typeface="Courier New"/>
                <a:cs typeface="Courier New"/>
                <a:sym typeface="Courier New"/>
              </a:rPr>
              <a:t>	type generic, total addresses 15, allocated 2 (13%), misses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(output omitted)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ourier New"/>
                <a:ea typeface="Courier New"/>
                <a:cs typeface="Courier New"/>
                <a:sym typeface="Courier New"/>
              </a:rPr>
              <a:t>R2#</a:t>
            </a:r>
            <a:endParaRPr b="1" i="0" sz="100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Static NAT</a:t>
            </a:r>
            <a:br>
              <a:rPr lang="en-US"/>
            </a:br>
            <a:r>
              <a:rPr lang="en-US" sz="2400"/>
              <a:t>Verify Dynamic NAT (Cont.)</a:t>
            </a:r>
            <a:endParaRPr/>
          </a:p>
        </p:txBody>
      </p:sp>
      <p:sp>
        <p:nvSpPr>
          <p:cNvPr id="526" name="Google Shape;526;p38"/>
          <p:cNvSpPr txBox="1"/>
          <p:nvPr>
            <p:ph idx="1" type="body"/>
          </p:nvPr>
        </p:nvSpPr>
        <p:spPr>
          <a:xfrm>
            <a:off x="431971" y="855419"/>
            <a:ext cx="7913517" cy="6434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running-config</a:t>
            </a:r>
            <a:r>
              <a:rPr lang="en-US" sz="1600">
                <a:solidFill>
                  <a:srgbClr val="000000"/>
                </a:solidFill>
              </a:rPr>
              <a:t> command and show s the NAT, ACL, interface, or pool commands with the required values. </a:t>
            </a:r>
            <a:endParaRPr/>
          </a:p>
        </p:txBody>
      </p:sp>
      <p:sp>
        <p:nvSpPr>
          <p:cNvPr id="527" name="Google Shape;527;p38"/>
          <p:cNvSpPr txBox="1"/>
          <p:nvPr/>
        </p:nvSpPr>
        <p:spPr>
          <a:xfrm>
            <a:off x="431971" y="1727180"/>
            <a:ext cx="8528758" cy="577081"/>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running-config | include NAT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ip nat pool NAT-POOL1 209.165.200.226 209.165.200.240 netmask 255.255.255.224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ip nat inside source list 1 pool NAT-POOL1</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Dynamic NAT</a:t>
            </a:r>
            <a:br>
              <a:rPr lang="en-US"/>
            </a:br>
            <a:r>
              <a:rPr lang="en-US" sz="2400"/>
              <a:t>Packet Tracer – Configure Dynamic NAT</a:t>
            </a:r>
            <a:endParaRPr/>
          </a:p>
        </p:txBody>
      </p:sp>
      <p:sp>
        <p:nvSpPr>
          <p:cNvPr id="534" name="Google Shape;534;p39"/>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Packet Tracer,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Dynamic NAT</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Verify NAT Implementation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0"/>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6.6 PAT</a:t>
            </a:r>
            <a:endParaRPr/>
          </a:p>
        </p:txBody>
      </p:sp>
    </p:spTree>
  </p:cSld>
  <p:clrMapOvr>
    <a:masterClrMapping/>
  </p:clrMapOvr>
  <p:transition spd="slow">
    <p:wipe dir="l"/>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Configure PAT to Use a Single IPv4 Address</a:t>
            </a:r>
            <a:endParaRPr/>
          </a:p>
        </p:txBody>
      </p:sp>
      <p:sp>
        <p:nvSpPr>
          <p:cNvPr id="547" name="Google Shape;547;p41"/>
          <p:cNvSpPr txBox="1"/>
          <p:nvPr>
            <p:ph idx="1" type="body"/>
          </p:nvPr>
        </p:nvSpPr>
        <p:spPr>
          <a:xfrm>
            <a:off x="431971" y="855419"/>
            <a:ext cx="8007836" cy="20769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configure PAT to use a single IPv4 address, add the keyword </a:t>
            </a:r>
            <a:r>
              <a:rPr b="1" lang="en-US" sz="1600">
                <a:solidFill>
                  <a:srgbClr val="000000"/>
                </a:solidFill>
              </a:rPr>
              <a:t>overload</a:t>
            </a:r>
            <a:r>
              <a:rPr lang="en-US" sz="1600">
                <a:solidFill>
                  <a:srgbClr val="000000"/>
                </a:solidFill>
              </a:rPr>
              <a:t> to the </a:t>
            </a:r>
            <a:r>
              <a:rPr b="1" lang="en-US" sz="1600">
                <a:solidFill>
                  <a:srgbClr val="000000"/>
                </a:solidFill>
              </a:rPr>
              <a:t>ip nat inside source</a:t>
            </a:r>
            <a:r>
              <a:rPr lang="en-US" sz="1600">
                <a:solidFill>
                  <a:srgbClr val="000000"/>
                </a:solidFill>
              </a:rPr>
              <a:t> command.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the example, all hosts from network 192.168.0.0/16 (matching ACL 1) that send traffic through router R2 to the internet will be translated to IPv4 address 209.165.200.225 (IPv4 address of interface S0/1/1). The traffic flows will be identified by port numbers in the NAT table because the </a:t>
            </a:r>
            <a:r>
              <a:rPr b="1" lang="en-US" sz="1600">
                <a:solidFill>
                  <a:srgbClr val="000000"/>
                </a:solidFill>
              </a:rPr>
              <a:t>overload</a:t>
            </a:r>
            <a:r>
              <a:rPr lang="en-US" sz="1600">
                <a:solidFill>
                  <a:srgbClr val="000000"/>
                </a:solidFill>
              </a:rPr>
              <a:t> keyword is configured.</a:t>
            </a:r>
            <a:endParaRPr/>
          </a:p>
          <a:p>
            <a:pPr indent="0" lvl="0" marL="0" rtl="0" algn="l">
              <a:lnSpc>
                <a:spcPct val="100000"/>
              </a:lnSpc>
              <a:spcBef>
                <a:spcPts val="360"/>
              </a:spcBef>
              <a:spcAft>
                <a:spcPts val="0"/>
              </a:spcAft>
              <a:buSzPts val="1800"/>
              <a:buNone/>
            </a:pPr>
            <a:r>
              <a:t/>
            </a:r>
            <a:endParaRPr sz="1800">
              <a:solidFill>
                <a:srgbClr val="000000"/>
              </a:solidFill>
            </a:endParaRPr>
          </a:p>
        </p:txBody>
      </p:sp>
      <p:sp>
        <p:nvSpPr>
          <p:cNvPr id="548" name="Google Shape;548;p41"/>
          <p:cNvSpPr txBox="1"/>
          <p:nvPr/>
        </p:nvSpPr>
        <p:spPr>
          <a:xfrm>
            <a:off x="431971" y="2932387"/>
            <a:ext cx="8280058" cy="122341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ip nat inside source list 1 interface serial 0/1/0 </a:t>
            </a:r>
            <a:r>
              <a:rPr b="1" i="0" lang="en-US" sz="1050" u="none" cap="none" strike="noStrike">
                <a:solidFill>
                  <a:srgbClr val="CA8403"/>
                </a:solidFill>
                <a:latin typeface="Courier New"/>
                <a:ea typeface="Courier New"/>
                <a:cs typeface="Courier New"/>
                <a:sym typeface="Courier New"/>
              </a:rPr>
              <a:t>overload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access-list 1 permit 192.168.0.0 0.0.255.255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interface serial0/1/0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ip nat inside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exit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t>
            </a:r>
            <a:r>
              <a:rPr b="1" i="0" lang="en-US" sz="1050" u="none" cap="none" strike="noStrike">
                <a:solidFill>
                  <a:schemeClr val="lt1"/>
                </a:solidFill>
                <a:latin typeface="Courier New"/>
                <a:ea typeface="Courier New"/>
                <a:cs typeface="Courier New"/>
                <a:sym typeface="Courier New"/>
              </a:rPr>
              <a:t>interface Serial0/1/1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a:t>
            </a:r>
            <a:r>
              <a:rPr b="1" i="0" lang="en-US" sz="1050" u="none" cap="none" strike="noStrike">
                <a:solidFill>
                  <a:schemeClr val="lt1"/>
                </a:solidFill>
                <a:latin typeface="Courier New"/>
                <a:ea typeface="Courier New"/>
                <a:cs typeface="Courier New"/>
                <a:sym typeface="Courier New"/>
              </a:rPr>
              <a:t>ip nat outside</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Configure PAT to Use an Address Pool</a:t>
            </a:r>
            <a:endParaRPr/>
          </a:p>
        </p:txBody>
      </p:sp>
      <p:sp>
        <p:nvSpPr>
          <p:cNvPr id="555" name="Google Shape;555;p42"/>
          <p:cNvSpPr txBox="1"/>
          <p:nvPr>
            <p:ph idx="1" type="body"/>
          </p:nvPr>
        </p:nvSpPr>
        <p:spPr>
          <a:xfrm>
            <a:off x="568082" y="823837"/>
            <a:ext cx="8007836" cy="20769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ISP may allocate more than one public IPv4 address to an organization. In this scenario the organization can configure PAT to use a pool of IPv4 public addresses for translation.</a:t>
            </a:r>
            <a:endParaRPr/>
          </a:p>
          <a:p>
            <a:pPr indent="0" lvl="0" marL="0" rtl="0" algn="l">
              <a:lnSpc>
                <a:spcPct val="100000"/>
              </a:lnSpc>
              <a:spcBef>
                <a:spcPts val="320"/>
              </a:spcBef>
              <a:spcAft>
                <a:spcPts val="0"/>
              </a:spcAft>
              <a:buSzPts val="1600"/>
              <a:buNone/>
            </a:pPr>
            <a:r>
              <a:rPr lang="en-US" sz="1600">
                <a:solidFill>
                  <a:srgbClr val="000000"/>
                </a:solidFill>
              </a:rPr>
              <a:t>To configure PAT for a dynamic NAT address pool, simply add the keyword </a:t>
            </a:r>
            <a:r>
              <a:rPr b="1" lang="en-US" sz="1600">
                <a:solidFill>
                  <a:srgbClr val="000000"/>
                </a:solidFill>
              </a:rPr>
              <a:t>overload</a:t>
            </a:r>
            <a:r>
              <a:rPr lang="en-US" sz="1600">
                <a:solidFill>
                  <a:srgbClr val="000000"/>
                </a:solidFill>
              </a:rPr>
              <a:t> to the </a:t>
            </a:r>
            <a:r>
              <a:rPr b="1" lang="en-US" sz="1600">
                <a:solidFill>
                  <a:srgbClr val="000000"/>
                </a:solidFill>
              </a:rPr>
              <a:t>ip nat inside source</a:t>
            </a:r>
            <a:r>
              <a:rPr lang="en-US" sz="1600">
                <a:solidFill>
                  <a:srgbClr val="000000"/>
                </a:solidFill>
              </a:rPr>
              <a:t> command.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the example, NAT-POOL2 is bound to an ACL to permit 192.168.0.0/16 to be translated. These hosts can share an IPv4 address from the pool because PAT is enabled with the keyword </a:t>
            </a:r>
            <a:r>
              <a:rPr b="1" lang="en-US" sz="1600">
                <a:solidFill>
                  <a:srgbClr val="000000"/>
                </a:solidFill>
              </a:rPr>
              <a:t>overload</a:t>
            </a:r>
            <a:r>
              <a:rPr lang="en-US" sz="1400">
                <a:solidFill>
                  <a:srgbClr val="000000"/>
                </a:solidFill>
              </a:rPr>
              <a:t>.</a:t>
            </a:r>
            <a:endParaRPr/>
          </a:p>
        </p:txBody>
      </p:sp>
      <p:sp>
        <p:nvSpPr>
          <p:cNvPr id="556" name="Google Shape;556;p42"/>
          <p:cNvSpPr txBox="1"/>
          <p:nvPr/>
        </p:nvSpPr>
        <p:spPr>
          <a:xfrm>
            <a:off x="431971" y="3281179"/>
            <a:ext cx="8280058" cy="122341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ip nat pool NAT-POOL2 209.165.200.226 209.165.200.240 netmask 255.255.255.224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access-list 1 permit 192.168.0.0 0.0.255.255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ip nat inside source list 1 pool NAT-POOL2 </a:t>
            </a:r>
            <a:r>
              <a:rPr b="0" i="0" lang="en-US" sz="1050" u="none" cap="none" strike="noStrike">
                <a:solidFill>
                  <a:srgbClr val="CA8403"/>
                </a:solidFill>
                <a:latin typeface="Courier New"/>
                <a:ea typeface="Courier New"/>
                <a:cs typeface="Courier New"/>
                <a:sym typeface="Courier New"/>
              </a:rPr>
              <a:t>overload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 interface serial0/1/0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ip nat inside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interface serial0/1/0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R2(config-if)# ip nat outside</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Analyze PAT – Server to PC</a:t>
            </a:r>
            <a:endParaRPr/>
          </a:p>
        </p:txBody>
      </p:sp>
      <p:sp>
        <p:nvSpPr>
          <p:cNvPr id="563" name="Google Shape;563;p43"/>
          <p:cNvSpPr txBox="1"/>
          <p:nvPr>
            <p:ph idx="1" type="body"/>
          </p:nvPr>
        </p:nvSpPr>
        <p:spPr>
          <a:xfrm>
            <a:off x="0" y="855419"/>
            <a:ext cx="4235669" cy="381570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AutoNum type="arabicPeriod"/>
            </a:pPr>
            <a:r>
              <a:rPr lang="en-US" sz="1600">
                <a:solidFill>
                  <a:srgbClr val="000000"/>
                </a:solidFill>
              </a:rPr>
              <a:t>PC1 and PC2 send packets to Svr1 and Svr2.</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PC1 reaches R2 first. R2 modifies the source IPv4 address to 209.165.200.225 (inside global address). The packet is then forwarded towards Svr1.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1445.</a:t>
            </a:r>
            <a:endParaRPr/>
          </a:p>
        </p:txBody>
      </p:sp>
      <p:pic>
        <p:nvPicPr>
          <p:cNvPr id="564" name="Google Shape;564;p43"/>
          <p:cNvPicPr preferRelativeResize="0"/>
          <p:nvPr/>
        </p:nvPicPr>
        <p:blipFill rotWithShape="1">
          <a:blip r:embed="rId3">
            <a:alphaModFix/>
          </a:blip>
          <a:srcRect b="0" l="0" r="0" t="0"/>
          <a:stretch/>
        </p:blipFill>
        <p:spPr>
          <a:xfrm>
            <a:off x="4761186" y="954060"/>
            <a:ext cx="3950843" cy="37170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Analyze PAT – PC to Server</a:t>
            </a:r>
            <a:endParaRPr/>
          </a:p>
        </p:txBody>
      </p:sp>
      <p:sp>
        <p:nvSpPr>
          <p:cNvPr id="571" name="Google Shape;571;p44"/>
          <p:cNvSpPr txBox="1"/>
          <p:nvPr>
            <p:ph idx="1" type="body"/>
          </p:nvPr>
        </p:nvSpPr>
        <p:spPr>
          <a:xfrm>
            <a:off x="122548" y="855419"/>
            <a:ext cx="4113121" cy="381570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AutoNum type="arabicPeriod"/>
            </a:pPr>
            <a:r>
              <a:rPr lang="en-US" sz="1600">
                <a:solidFill>
                  <a:srgbClr val="000000"/>
                </a:solidFill>
              </a:rPr>
              <a:t>PC1 and PC2 send packets to Svr1 and Svr2.</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PC1 reaches R2 first. R2 modifies the source IPv4 address to 209.165.200.225 (inside global address). The packet is then forwarded towards Svr1.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it is 1445.</a:t>
            </a:r>
            <a:endParaRPr/>
          </a:p>
        </p:txBody>
      </p:sp>
      <p:pic>
        <p:nvPicPr>
          <p:cNvPr id="572" name="Google Shape;572;p44"/>
          <p:cNvPicPr preferRelativeResize="0"/>
          <p:nvPr/>
        </p:nvPicPr>
        <p:blipFill rotWithShape="1">
          <a:blip r:embed="rId3">
            <a:alphaModFix/>
          </a:blip>
          <a:srcRect b="0" l="0" r="0" t="0"/>
          <a:stretch/>
        </p:blipFill>
        <p:spPr>
          <a:xfrm>
            <a:off x="4761186" y="954060"/>
            <a:ext cx="3950843" cy="37170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Analyze PAT – Server to PC</a:t>
            </a:r>
            <a:endParaRPr/>
          </a:p>
        </p:txBody>
      </p:sp>
      <p:sp>
        <p:nvSpPr>
          <p:cNvPr id="579" name="Google Shape;579;p45"/>
          <p:cNvSpPr txBox="1"/>
          <p:nvPr>
            <p:ph idx="1" type="body"/>
          </p:nvPr>
        </p:nvSpPr>
        <p:spPr>
          <a:xfrm>
            <a:off x="141402" y="855419"/>
            <a:ext cx="4404123" cy="381570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AutoNum type="arabicPeriod"/>
            </a:pPr>
            <a:r>
              <a:rPr lang="en-US" sz="1600">
                <a:solidFill>
                  <a:srgbClr val="000000"/>
                </a:solidFill>
              </a:rPr>
              <a:t>The servers use the source port from the received packet as the destination port, and the source address as the destination address for the return traffic.</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changes the destination IPv4 address of the packet from Srv1 from 209.165.200.225 to 192.168.10.10, and forwards the packet toward PC1.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changes the destination address of packet from Srv2. from 209.165.200.225 to 192.168.10.11. and modifies the destinations port back to its original value of 1444. The packet is then forwarded toward PC2.</a:t>
            </a:r>
            <a:endParaRPr/>
          </a:p>
        </p:txBody>
      </p:sp>
      <p:pic>
        <p:nvPicPr>
          <p:cNvPr id="580" name="Google Shape;580;p45"/>
          <p:cNvPicPr preferRelativeResize="0"/>
          <p:nvPr/>
        </p:nvPicPr>
        <p:blipFill rotWithShape="1">
          <a:blip r:embed="rId3">
            <a:alphaModFix/>
          </a:blip>
          <a:srcRect b="0" l="0" r="0" t="0"/>
          <a:stretch/>
        </p:blipFill>
        <p:spPr>
          <a:xfrm>
            <a:off x="4762922" y="731837"/>
            <a:ext cx="4113556" cy="38157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Verify PAT</a:t>
            </a:r>
            <a:endParaRPr/>
          </a:p>
        </p:txBody>
      </p:sp>
      <p:sp>
        <p:nvSpPr>
          <p:cNvPr id="587" name="Google Shape;587;p46"/>
          <p:cNvSpPr txBox="1"/>
          <p:nvPr>
            <p:ph idx="1" type="body"/>
          </p:nvPr>
        </p:nvSpPr>
        <p:spPr>
          <a:xfrm>
            <a:off x="431970" y="855419"/>
            <a:ext cx="7913517" cy="15248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same commands used to verify static and dynamic NAT are used to verify PAT. The </a:t>
            </a:r>
            <a:r>
              <a:rPr b="1" lang="en-US" sz="1600">
                <a:solidFill>
                  <a:srgbClr val="000000"/>
                </a:solidFill>
              </a:rPr>
              <a:t>show ip nat translations</a:t>
            </a:r>
            <a:r>
              <a:rPr lang="en-US" sz="1600">
                <a:solidFill>
                  <a:srgbClr val="000000"/>
                </a:solidFill>
              </a:rPr>
              <a:t> command displays the translations from two different hosts to different web servers. Notice that two different inside hosts are allocated the same IPv4 address of 209.165.200.226 (inside global address). The source port numbers in the NAT table differentiate the two transactions.</a:t>
            </a:r>
            <a:endParaRPr/>
          </a:p>
        </p:txBody>
      </p:sp>
      <p:sp>
        <p:nvSpPr>
          <p:cNvPr id="588" name="Google Shape;588;p46"/>
          <p:cNvSpPr txBox="1"/>
          <p:nvPr/>
        </p:nvSpPr>
        <p:spPr>
          <a:xfrm>
            <a:off x="431971" y="2763272"/>
            <a:ext cx="8280058" cy="90024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translations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Pro Inside global          Inside local         Outside local      Outside 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tcp </a:t>
            </a:r>
            <a:r>
              <a:rPr b="0" i="0" lang="en-US" sz="1050" u="none" cap="none" strike="noStrike">
                <a:solidFill>
                  <a:srgbClr val="CA8403"/>
                </a:solidFill>
                <a:latin typeface="Courier New"/>
                <a:ea typeface="Courier New"/>
                <a:cs typeface="Courier New"/>
                <a:sym typeface="Courier New"/>
              </a:rPr>
              <a:t>209.165.200.225:1444</a:t>
            </a:r>
            <a:r>
              <a:rPr b="0" i="0" lang="en-US" sz="1050" u="none" cap="none" strike="noStrike">
                <a:solidFill>
                  <a:schemeClr val="lt1"/>
                </a:solidFill>
                <a:latin typeface="Courier New"/>
                <a:ea typeface="Courier New"/>
                <a:cs typeface="Courier New"/>
                <a:sym typeface="Courier New"/>
              </a:rPr>
              <a:t>  192.168.10.10:1444  209.165.201.1:80   209.165.201.1:80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tcp </a:t>
            </a:r>
            <a:r>
              <a:rPr b="0" i="0" lang="en-US" sz="1050" u="none" cap="none" strike="noStrike">
                <a:solidFill>
                  <a:srgbClr val="CA8403"/>
                </a:solidFill>
                <a:latin typeface="Courier New"/>
                <a:ea typeface="Courier New"/>
                <a:cs typeface="Courier New"/>
                <a:sym typeface="Courier New"/>
              </a:rPr>
              <a:t>209.165.200.225:1445</a:t>
            </a:r>
            <a:r>
              <a:rPr b="0" i="0" lang="en-US" sz="1050" u="none" cap="none" strike="noStrike">
                <a:solidFill>
                  <a:schemeClr val="lt1"/>
                </a:solidFill>
                <a:latin typeface="Courier New"/>
                <a:ea typeface="Courier New"/>
                <a:cs typeface="Courier New"/>
                <a:sym typeface="Courier New"/>
              </a:rPr>
              <a:t>  192.168.11.10:1444  209.165.202.129:80 209.165.202.129:80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PAT</a:t>
            </a:r>
            <a:br>
              <a:rPr lang="en-US"/>
            </a:br>
            <a:r>
              <a:rPr lang="en-US" sz="2400"/>
              <a:t>Verify PAT (Cont.)</a:t>
            </a:r>
            <a:endParaRPr/>
          </a:p>
        </p:txBody>
      </p:sp>
      <p:sp>
        <p:nvSpPr>
          <p:cNvPr id="595" name="Google Shape;595;p47"/>
          <p:cNvSpPr txBox="1"/>
          <p:nvPr>
            <p:ph idx="1" type="body"/>
          </p:nvPr>
        </p:nvSpPr>
        <p:spPr>
          <a:xfrm>
            <a:off x="179110" y="593889"/>
            <a:ext cx="8166378" cy="99336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ip nat statistics</a:t>
            </a:r>
            <a:r>
              <a:rPr lang="en-US" sz="1600">
                <a:solidFill>
                  <a:srgbClr val="000000"/>
                </a:solidFill>
              </a:rPr>
              <a:t> command verifies that NAT-POOL2 has allocated a single address for both translations. Also shown are the number and type of active translations, NAT configuration parameters, the number of addresses in the pool, and how many have been allocated.</a:t>
            </a:r>
            <a:endParaRPr/>
          </a:p>
        </p:txBody>
      </p:sp>
      <p:sp>
        <p:nvSpPr>
          <p:cNvPr id="596" name="Google Shape;596;p47"/>
          <p:cNvSpPr txBox="1"/>
          <p:nvPr/>
        </p:nvSpPr>
        <p:spPr>
          <a:xfrm>
            <a:off x="431972" y="1656411"/>
            <a:ext cx="8280058" cy="3000821"/>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 </a:t>
            </a:r>
            <a:r>
              <a:rPr b="1" i="0" lang="en-US" sz="1050" u="none" cap="none" strike="noStrike">
                <a:solidFill>
                  <a:schemeClr val="lt1"/>
                </a:solidFill>
                <a:latin typeface="Courier New"/>
                <a:ea typeface="Courier New"/>
                <a:cs typeface="Courier New"/>
                <a:sym typeface="Courier New"/>
              </a:rPr>
              <a:t>show ip nat statistics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Total active translations: 4 (0 static, 2 dynamic; 2 extended)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Peak translations: 2, occurred 00:31:43 ago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Outside interfaces: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Serial0/1/1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Inside interfaces: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Serial0/1/0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Hits: 4  Misses: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CEF Translated packets: 47, CEF Punted packets: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Expired translations: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Dynamic mappings: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Inside Source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[Id: 3] access-list 1 pool NAT-POOL2 refcount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 </a:t>
            </a:r>
            <a:r>
              <a:rPr b="0" i="0" lang="en-US" sz="1050" u="none" cap="none" strike="noStrike">
                <a:solidFill>
                  <a:srgbClr val="CA8403"/>
                </a:solidFill>
                <a:latin typeface="Courier New"/>
                <a:ea typeface="Courier New"/>
                <a:cs typeface="Courier New"/>
                <a:sym typeface="Courier New"/>
              </a:rPr>
              <a:t>pool NAT-POOL2: netmask 255.255.255.224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CA8403"/>
                </a:solidFill>
                <a:latin typeface="Courier New"/>
                <a:ea typeface="Courier New"/>
                <a:cs typeface="Courier New"/>
                <a:sym typeface="Courier New"/>
              </a:rPr>
              <a:t>	start 209.165.200.225 end 209.165.200.240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CA8403"/>
                </a:solidFill>
                <a:latin typeface="Courier New"/>
                <a:ea typeface="Courier New"/>
                <a:cs typeface="Courier New"/>
                <a:sym typeface="Courier New"/>
              </a:rPr>
              <a:t>	type generic, total addresses 15, allocated 1 (6%), misses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(output omitted)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urier New"/>
                <a:ea typeface="Courier New"/>
                <a:cs typeface="Courier New"/>
                <a:sym typeface="Courier New"/>
              </a:rPr>
              <a:t>R2#</a:t>
            </a:r>
            <a:endParaRPr b="1" i="0" sz="1050" u="none" cap="none" strike="noStrike">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Dynamic NAT</a:t>
            </a:r>
            <a:br>
              <a:rPr lang="en-US"/>
            </a:br>
            <a:r>
              <a:rPr lang="en-US" sz="2400"/>
              <a:t>Packet Tracer – Configure PAT</a:t>
            </a:r>
            <a:endParaRPr/>
          </a:p>
        </p:txBody>
      </p:sp>
      <p:sp>
        <p:nvSpPr>
          <p:cNvPr id="603" name="Google Shape;603;p48"/>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Packet Tracer,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Dynamic NAT with Overload</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Verify Dynamic NAT with Overload Implementation</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PAT using an Interface</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Verify PAT Interface Implementation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49"/>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6.7 NAT64</a:t>
            </a:r>
            <a:endParaRPr/>
          </a:p>
        </p:txBody>
      </p:sp>
    </p:spTree>
  </p:cSld>
  <p:clrMapOvr>
    <a:masterClrMapping/>
  </p:clrMapOvr>
  <p:transition spd="slow">
    <p:wipe dir="l"/>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NAT64</a:t>
            </a:r>
            <a:br>
              <a:rPr lang="en-US"/>
            </a:br>
            <a:r>
              <a:rPr lang="en-US" sz="2400"/>
              <a:t>NAT for IPv6?</a:t>
            </a:r>
            <a:endParaRPr/>
          </a:p>
        </p:txBody>
      </p:sp>
      <p:sp>
        <p:nvSpPr>
          <p:cNvPr id="616" name="Google Shape;616;p50"/>
          <p:cNvSpPr txBox="1"/>
          <p:nvPr>
            <p:ph idx="1" type="body"/>
          </p:nvPr>
        </p:nvSpPr>
        <p:spPr>
          <a:xfrm>
            <a:off x="431971" y="855419"/>
            <a:ext cx="8007836" cy="290587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IPv6 was developed with the intention of making NAT for IPv4 with translation between public and private IPv4 addresses unnecessary.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However, IPv6 does include its own IPv6 private address space, unique local addresses (ULAs).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IPv6 unique local addresses (ULA) are similar to RFC 1918 private addresses in IPv4 but have a different purpose.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ULA addresses are meant for only local communications within a site. ULA addresses are not meant to provide additional IPv6 address space, nor to provide a level of security.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IPv6 does provide for protocol translation between IPv4 and IPv6 known as NAT64.</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NAT64</a:t>
            </a:r>
            <a:br>
              <a:rPr lang="en-US"/>
            </a:br>
            <a:r>
              <a:rPr lang="en-US" sz="2400"/>
              <a:t>NAT64</a:t>
            </a:r>
            <a:endParaRPr/>
          </a:p>
        </p:txBody>
      </p:sp>
      <p:sp>
        <p:nvSpPr>
          <p:cNvPr id="623" name="Google Shape;623;p51"/>
          <p:cNvSpPr txBox="1"/>
          <p:nvPr>
            <p:ph idx="1" type="body"/>
          </p:nvPr>
        </p:nvSpPr>
        <p:spPr>
          <a:xfrm>
            <a:off x="431971" y="855418"/>
            <a:ext cx="4140029" cy="354841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NAT for IPv6 is used in a much different context than NAT for IPv4.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varieties of NAT for IPv6 are used to transparently provide access between IPv6-only and IPv4-only networks, as shown. It is not used as a form of private IPv6 to global IPv6 translation.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for IPv6 should not be used as a long-term strategy, but as a temporary mechanism to assist in the migration from IPv4 to IPv6. </a:t>
            </a:r>
            <a:endParaRPr/>
          </a:p>
        </p:txBody>
      </p:sp>
      <p:pic>
        <p:nvPicPr>
          <p:cNvPr id="624" name="Google Shape;624;p51"/>
          <p:cNvPicPr preferRelativeResize="0"/>
          <p:nvPr/>
        </p:nvPicPr>
        <p:blipFill rotWithShape="1">
          <a:blip r:embed="rId3">
            <a:alphaModFix/>
          </a:blip>
          <a:srcRect b="0" l="0" r="0" t="0"/>
          <a:stretch/>
        </p:blipFill>
        <p:spPr>
          <a:xfrm>
            <a:off x="4571506" y="1322825"/>
            <a:ext cx="4140523" cy="24978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2"/>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6.8 Module Practice and Quiz</a:t>
            </a:r>
            <a:endParaRPr/>
          </a:p>
        </p:txBody>
      </p:sp>
    </p:spTree>
  </p:cSld>
  <p:clrMapOvr>
    <a:masterClrMapping/>
  </p:clrMapOvr>
  <p:transition spd="slow">
    <p:wipe dir="l"/>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5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Dynamic NAT</a:t>
            </a:r>
            <a:br>
              <a:rPr lang="en-US"/>
            </a:br>
            <a:r>
              <a:rPr lang="en-US" sz="2400"/>
              <a:t>Packet Tracer – Configure NAT for IPv4</a:t>
            </a:r>
            <a:endParaRPr/>
          </a:p>
        </p:txBody>
      </p:sp>
      <p:sp>
        <p:nvSpPr>
          <p:cNvPr id="637" name="Google Shape;637;p53"/>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Packet Tracer,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Dynamic NAT with PAT</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Static NAT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Dynamic NAT</a:t>
            </a:r>
            <a:br>
              <a:rPr lang="en-US"/>
            </a:br>
            <a:r>
              <a:rPr lang="en-US" sz="2400"/>
              <a:t>Packet Tracer – Configure NAT for IPv4</a:t>
            </a:r>
            <a:endParaRPr/>
          </a:p>
        </p:txBody>
      </p:sp>
      <p:sp>
        <p:nvSpPr>
          <p:cNvPr id="644" name="Google Shape;644;p54"/>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Lab,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Build the Network and Configure Basic Device Settings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and verify NAT for IPv4</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and verify PAT for IPv4</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Configure and verify Static NAT for IPv4</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51" name="Google Shape;651;p5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There are not enough public IPv4 addresses to assign a unique address to each device connected to the internet.</a:t>
            </a:r>
            <a:endParaRPr/>
          </a:p>
          <a:p>
            <a:pPr indent="-169863" lvl="0" marL="169863" rtl="0" algn="l">
              <a:lnSpc>
                <a:spcPct val="100000"/>
              </a:lnSpc>
              <a:spcBef>
                <a:spcPts val="0"/>
              </a:spcBef>
              <a:spcAft>
                <a:spcPts val="0"/>
              </a:spcAft>
              <a:buSzPts val="1440"/>
              <a:buFont typeface="Arial"/>
              <a:buChar char="•"/>
            </a:pPr>
            <a:r>
              <a:rPr lang="en-US" sz="1600"/>
              <a:t>The primary use of NAT is to conserve public IPv4 addresses.</a:t>
            </a:r>
            <a:endParaRPr/>
          </a:p>
          <a:p>
            <a:pPr indent="-169863" lvl="0" marL="169863" rtl="0" algn="l">
              <a:lnSpc>
                <a:spcPct val="100000"/>
              </a:lnSpc>
              <a:spcBef>
                <a:spcPts val="0"/>
              </a:spcBef>
              <a:spcAft>
                <a:spcPts val="0"/>
              </a:spcAft>
              <a:buSzPts val="1440"/>
              <a:buFont typeface="Arial"/>
              <a:buChar char="•"/>
            </a:pPr>
            <a:r>
              <a:rPr lang="en-US" sz="1600"/>
              <a:t>In NAT terminology, the inside network is the set of networks that is subject to translation. The outside network refers to all other networks.</a:t>
            </a:r>
            <a:endParaRPr/>
          </a:p>
          <a:p>
            <a:pPr indent="-169863" lvl="0" marL="169863" rtl="0" algn="l">
              <a:lnSpc>
                <a:spcPct val="100000"/>
              </a:lnSpc>
              <a:spcBef>
                <a:spcPts val="0"/>
              </a:spcBef>
              <a:spcAft>
                <a:spcPts val="0"/>
              </a:spcAft>
              <a:buSzPts val="1440"/>
              <a:buFont typeface="Arial"/>
              <a:buChar char="•"/>
            </a:pPr>
            <a:r>
              <a:rPr lang="en-US" sz="1600"/>
              <a:t>NAT terminology is always applied from the perspective of the device with the translated address.</a:t>
            </a:r>
            <a:endParaRPr/>
          </a:p>
          <a:p>
            <a:pPr indent="-169863" lvl="0" marL="169863" rtl="0" algn="l">
              <a:lnSpc>
                <a:spcPct val="100000"/>
              </a:lnSpc>
              <a:spcBef>
                <a:spcPts val="0"/>
              </a:spcBef>
              <a:spcAft>
                <a:spcPts val="0"/>
              </a:spcAft>
              <a:buSzPts val="1440"/>
              <a:buFont typeface="Arial"/>
              <a:buChar char="•"/>
            </a:pPr>
            <a:r>
              <a:rPr lang="en-US" sz="1600"/>
              <a:t>Inside address are the address of the device which is being translated by NAT.</a:t>
            </a:r>
            <a:endParaRPr/>
          </a:p>
          <a:p>
            <a:pPr indent="-169863" lvl="0" marL="169863" rtl="0" algn="l">
              <a:lnSpc>
                <a:spcPct val="100000"/>
              </a:lnSpc>
              <a:spcBef>
                <a:spcPts val="0"/>
              </a:spcBef>
              <a:spcAft>
                <a:spcPts val="0"/>
              </a:spcAft>
              <a:buSzPts val="1440"/>
              <a:buFont typeface="Arial"/>
              <a:buChar char="•"/>
            </a:pPr>
            <a:r>
              <a:rPr lang="en-US" sz="1600"/>
              <a:t>Outside address are the address of the destination device.</a:t>
            </a:r>
            <a:endParaRPr/>
          </a:p>
          <a:p>
            <a:pPr indent="-169863" lvl="0" marL="169863" rtl="0" algn="l">
              <a:lnSpc>
                <a:spcPct val="100000"/>
              </a:lnSpc>
              <a:spcBef>
                <a:spcPts val="0"/>
              </a:spcBef>
              <a:spcAft>
                <a:spcPts val="0"/>
              </a:spcAft>
              <a:buSzPts val="1440"/>
              <a:buFont typeface="Arial"/>
              <a:buChar char="•"/>
            </a:pPr>
            <a:r>
              <a:rPr lang="en-US" sz="1600"/>
              <a:t>Local address is any address that appears on the inside portion of the network.</a:t>
            </a:r>
            <a:endParaRPr/>
          </a:p>
          <a:p>
            <a:pPr indent="-169863" lvl="0" marL="169863" rtl="0" algn="l">
              <a:lnSpc>
                <a:spcPct val="100000"/>
              </a:lnSpc>
              <a:spcBef>
                <a:spcPts val="0"/>
              </a:spcBef>
              <a:spcAft>
                <a:spcPts val="0"/>
              </a:spcAft>
              <a:buSzPts val="1440"/>
              <a:buFont typeface="Arial"/>
              <a:buChar char="•"/>
            </a:pPr>
            <a:r>
              <a:rPr lang="en-US" sz="1600"/>
              <a:t>Global address is any address that appears on the outside portion of the network.</a:t>
            </a:r>
            <a:endParaRPr/>
          </a:p>
          <a:p>
            <a:pPr indent="-169863" lvl="0" marL="169863" rtl="0" algn="l">
              <a:lnSpc>
                <a:spcPct val="100000"/>
              </a:lnSpc>
              <a:spcBef>
                <a:spcPts val="0"/>
              </a:spcBef>
              <a:spcAft>
                <a:spcPts val="0"/>
              </a:spcAft>
              <a:buSzPts val="1440"/>
              <a:buFont typeface="Arial"/>
              <a:buChar char="•"/>
            </a:pPr>
            <a:r>
              <a:rPr lang="en-US" sz="1600"/>
              <a:t>Static NAT uses a one-to-one mapping of local and global addresses.</a:t>
            </a:r>
            <a:endParaRPr/>
          </a:p>
          <a:p>
            <a:pPr indent="-169863" lvl="0" marL="169863" rtl="0" algn="l">
              <a:lnSpc>
                <a:spcPct val="100000"/>
              </a:lnSpc>
              <a:spcBef>
                <a:spcPts val="0"/>
              </a:spcBef>
              <a:spcAft>
                <a:spcPts val="0"/>
              </a:spcAft>
              <a:buSzPts val="1440"/>
              <a:buFont typeface="Arial"/>
              <a:buChar char="•"/>
            </a:pPr>
            <a:r>
              <a:rPr lang="en-US" sz="1600"/>
              <a:t>Dynamic NAT uses a pool of public addresses and assigns them on a first-come, first-served basis.</a:t>
            </a:r>
            <a:endParaRPr/>
          </a:p>
          <a:p>
            <a:pPr indent="-78423" lvl="0" marL="169863" rtl="0" algn="l">
              <a:lnSpc>
                <a:spcPct val="100000"/>
              </a:lnSpc>
              <a:spcBef>
                <a:spcPts val="0"/>
              </a:spcBef>
              <a:spcAft>
                <a:spcPts val="0"/>
              </a:spcAft>
              <a:buSzPts val="1440"/>
              <a:buNone/>
            </a:pPr>
            <a:r>
              <a:t/>
            </a:r>
            <a:endParaRPr sz="1600"/>
          </a:p>
        </p:txBody>
      </p:sp>
    </p:spTree>
  </p:cSld>
  <p:clrMapOvr>
    <a:masterClrMapping/>
  </p:clrMapOvr>
  <p:transition spd="slow">
    <p:wipe dir="l"/>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658" name="Google Shape;658;p56"/>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Port Address Translation (PAT), also known as NAT overload, maps multiple private IPv4 addresses to a single public IPv4 address or a few addresses. </a:t>
            </a:r>
            <a:endParaRPr/>
          </a:p>
          <a:p>
            <a:pPr indent="-169863" lvl="0" marL="169863" rtl="0" algn="l">
              <a:lnSpc>
                <a:spcPct val="100000"/>
              </a:lnSpc>
              <a:spcBef>
                <a:spcPts val="0"/>
              </a:spcBef>
              <a:spcAft>
                <a:spcPts val="0"/>
              </a:spcAft>
              <a:buSzPts val="1440"/>
              <a:buFont typeface="Arial"/>
              <a:buChar char="•"/>
            </a:pPr>
            <a:r>
              <a:rPr lang="en-US" sz="1600"/>
              <a:t>NAT increases forwarding delays because the translation of each IPv4 address within the packet headers takes time.</a:t>
            </a:r>
            <a:endParaRPr/>
          </a:p>
          <a:p>
            <a:pPr indent="-169863" lvl="0" marL="169863" rtl="0" algn="l">
              <a:lnSpc>
                <a:spcPct val="100000"/>
              </a:lnSpc>
              <a:spcBef>
                <a:spcPts val="0"/>
              </a:spcBef>
              <a:spcAft>
                <a:spcPts val="0"/>
              </a:spcAft>
              <a:buSzPts val="1440"/>
              <a:buFont typeface="Arial"/>
              <a:buChar char="•"/>
            </a:pPr>
            <a:r>
              <a:rPr lang="en-US" sz="1600"/>
              <a:t>NAT complicates the use of tunneling protocols, such as IPsec, because NAT modifies values in the headers, causing integrity checks to fail.</a:t>
            </a:r>
            <a:endParaRPr/>
          </a:p>
          <a:p>
            <a:pPr indent="-169863" lvl="0" marL="169863" rtl="0" algn="l">
              <a:lnSpc>
                <a:spcPct val="100000"/>
              </a:lnSpc>
              <a:spcBef>
                <a:spcPts val="0"/>
              </a:spcBef>
              <a:spcAft>
                <a:spcPts val="0"/>
              </a:spcAft>
              <a:buSzPts val="1440"/>
              <a:buFont typeface="Arial"/>
              <a:buChar char="•"/>
            </a:pPr>
            <a:r>
              <a:rPr lang="en-US" sz="1600"/>
              <a:t>The </a:t>
            </a:r>
            <a:r>
              <a:rPr b="1" lang="en-US" sz="1600"/>
              <a:t>show ip nat translations</a:t>
            </a:r>
            <a:r>
              <a:rPr lang="en-US" sz="1600"/>
              <a:t> command displays all static translations that have been configured and any dynamic translations that have been created by traffic. </a:t>
            </a:r>
            <a:endParaRPr/>
          </a:p>
          <a:p>
            <a:pPr indent="-169863" lvl="0" marL="169863" rtl="0" algn="l">
              <a:lnSpc>
                <a:spcPct val="100000"/>
              </a:lnSpc>
              <a:spcBef>
                <a:spcPts val="0"/>
              </a:spcBef>
              <a:spcAft>
                <a:spcPts val="0"/>
              </a:spcAft>
              <a:buSzPts val="1440"/>
              <a:buFont typeface="Arial"/>
              <a:buChar char="•"/>
            </a:pPr>
            <a:r>
              <a:rPr lang="en-US" sz="1600"/>
              <a:t>To clear dynamic entries before the timeout has expired, use the </a:t>
            </a:r>
            <a:r>
              <a:rPr b="1" lang="en-US" sz="1600"/>
              <a:t>clear ip nat translation</a:t>
            </a:r>
            <a:r>
              <a:rPr lang="en-US" sz="1600"/>
              <a:t> privileged EXEC mode command.</a:t>
            </a:r>
            <a:endParaRPr/>
          </a:p>
          <a:p>
            <a:pPr indent="-169863" lvl="0" marL="169863" rtl="0" algn="l">
              <a:lnSpc>
                <a:spcPct val="100000"/>
              </a:lnSpc>
              <a:spcBef>
                <a:spcPts val="0"/>
              </a:spcBef>
              <a:spcAft>
                <a:spcPts val="0"/>
              </a:spcAft>
              <a:buSzPts val="1440"/>
              <a:buFont typeface="Arial"/>
              <a:buChar char="•"/>
            </a:pPr>
            <a:r>
              <a:rPr lang="en-US" sz="1600"/>
              <a:t>IPv6 was developed with the intention of making NAT for IPv4 with translation between public and private IPv4 addresses unnecessary.</a:t>
            </a:r>
            <a:endParaRPr/>
          </a:p>
          <a:p>
            <a:pPr indent="-169863" lvl="0" marL="169863" rtl="0" algn="l">
              <a:lnSpc>
                <a:spcPct val="100000"/>
              </a:lnSpc>
              <a:spcBef>
                <a:spcPts val="0"/>
              </a:spcBef>
              <a:spcAft>
                <a:spcPts val="0"/>
              </a:spcAft>
              <a:buSzPts val="1440"/>
              <a:buFont typeface="Arial"/>
              <a:buChar char="•"/>
            </a:pPr>
            <a:r>
              <a:rPr lang="en-US" sz="1600"/>
              <a:t>IPv6 unique local addresses (ULA) are similar to RFC 1918 private addresses in IPv4 but have a different purpose.</a:t>
            </a:r>
            <a:endParaRPr/>
          </a:p>
          <a:p>
            <a:pPr indent="-169863" lvl="0" marL="169863" rtl="0" algn="l">
              <a:lnSpc>
                <a:spcPct val="100000"/>
              </a:lnSpc>
              <a:spcBef>
                <a:spcPts val="0"/>
              </a:spcBef>
              <a:spcAft>
                <a:spcPts val="0"/>
              </a:spcAft>
              <a:buSzPts val="1440"/>
              <a:buFont typeface="Arial"/>
              <a:buChar char="•"/>
            </a:pPr>
            <a:r>
              <a:rPr lang="en-US" sz="1600"/>
              <a:t>IPv6 does provide for protocol translation between IPv4 and IPv6 known as NAT64.</a:t>
            </a:r>
            <a:endParaRPr/>
          </a:p>
          <a:p>
            <a:pPr indent="-78423" lvl="0" marL="169863" rtl="0" algn="l">
              <a:lnSpc>
                <a:spcPct val="100000"/>
              </a:lnSpc>
              <a:spcBef>
                <a:spcPts val="0"/>
              </a:spcBef>
              <a:spcAft>
                <a:spcPts val="0"/>
              </a:spcAft>
              <a:buSzPts val="1440"/>
              <a:buNone/>
            </a:pPr>
            <a:r>
              <a:t/>
            </a:r>
            <a:endParaRPr sz="1600"/>
          </a:p>
        </p:txBody>
      </p:sp>
    </p:spTree>
  </p:cSld>
  <p:clrMapOvr>
    <a:masterClrMapping/>
  </p:clrMapOvr>
  <p:transition spd="slow">
    <p:wipe dir="l"/>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3" name="Shape 663"/>
        <p:cNvGrpSpPr/>
        <p:nvPr/>
      </p:nvGrpSpPr>
      <p:grpSpPr>
        <a:xfrm>
          <a:off x="0" y="0"/>
          <a:ext cx="0" cy="0"/>
          <a:chOff x="0" y="0"/>
          <a:chExt cx="0" cy="0"/>
        </a:xfrm>
      </p:grpSpPr>
      <p:sp>
        <p:nvSpPr>
          <p:cNvPr id="664" name="Google Shape;664;p57"/>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6: NAT for IPv4</a:t>
            </a:r>
            <a:br>
              <a:rPr lang="en-US">
                <a:latin typeface="Arial"/>
                <a:ea typeface="Arial"/>
                <a:cs typeface="Arial"/>
                <a:sym typeface="Arial"/>
              </a:rPr>
            </a:br>
            <a:r>
              <a:rPr lang="en-US">
                <a:latin typeface="Arial"/>
                <a:ea typeface="Arial"/>
                <a:cs typeface="Arial"/>
                <a:sym typeface="Arial"/>
              </a:rPr>
              <a:t>New Terms and Commands</a:t>
            </a:r>
            <a:endParaRPr/>
          </a:p>
        </p:txBody>
      </p:sp>
      <p:graphicFrame>
        <p:nvGraphicFramePr>
          <p:cNvPr id="665" name="Google Shape;665;p57"/>
          <p:cNvGraphicFramePr/>
          <p:nvPr/>
        </p:nvGraphicFramePr>
        <p:xfrm>
          <a:off x="144463" y="779659"/>
          <a:ext cx="3000000" cy="3000000"/>
        </p:xfrm>
        <a:graphic>
          <a:graphicData uri="http://schemas.openxmlformats.org/drawingml/2006/table">
            <a:tbl>
              <a:tblPr bandRow="1" firstRow="1">
                <a:noFill/>
                <a:tableStyleId>{1EDEA052-2B7B-402E-8EBE-2060F714A14F}</a:tableStyleId>
              </a:tblPr>
              <a:tblGrid>
                <a:gridCol w="2815550"/>
              </a:tblGrid>
              <a:tr h="370850">
                <a:tc>
                  <a:txBody>
                    <a:bodyPr/>
                    <a:lstStyle/>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RFC1918</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inside local address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inside global address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outside local address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outside global address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static NAT</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dynamic NAT</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PAT</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ip nat inside source static</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show ip nat translations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show ip nat statistics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ip nat outside</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ip nat inside</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ip nat pool</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rgbClr val="000000"/>
                          </a:solidFill>
                        </a:rPr>
                        <a:t>clear ip nat translation *</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Overload</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NAT 64</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slow">
    <p:wipe dir="l"/>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