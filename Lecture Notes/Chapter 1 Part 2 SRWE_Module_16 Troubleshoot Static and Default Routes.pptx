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24" roundtripDataSignature="AMtx7mhL+e+lWGxOV8pVKoC1BSqyDmz6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E801907-AC78-44CA-ADAF-86CCCA993BC6}">
  <a:tblStyle styleId="{CE801907-AC78-44CA-ADAF-86CCCA993BC6}"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CA"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CA"/>
              <a:t>Cisco Networking Academy Program</a:t>
            </a:r>
            <a:endParaRPr/>
          </a:p>
          <a:p>
            <a:pPr indent="0" lvl="0" marL="0" rtl="0" algn="l">
              <a:lnSpc>
                <a:spcPct val="100000"/>
              </a:lnSpc>
              <a:spcBef>
                <a:spcPts val="0"/>
              </a:spcBef>
              <a:spcAft>
                <a:spcPts val="0"/>
              </a:spcAft>
              <a:buNone/>
            </a:pPr>
            <a:r>
              <a:rPr lang="en-CA">
                <a:solidFill>
                  <a:srgbClr val="B6DDE7"/>
                </a:solidFill>
              </a:rPr>
              <a:t>Switching, Routing and Wireless Essentials v7.0 (SRWE)</a:t>
            </a:r>
            <a:endParaRPr/>
          </a:p>
          <a:p>
            <a:pPr indent="0" lvl="0" marL="0" rtl="0" algn="l">
              <a:spcBef>
                <a:spcPts val="0"/>
              </a:spcBef>
              <a:spcAft>
                <a:spcPts val="0"/>
              </a:spcAft>
              <a:buNone/>
            </a:pPr>
            <a:r>
              <a:rPr lang="en-CA">
                <a:solidFill>
                  <a:srgbClr val="B6DDE7"/>
                </a:solidFill>
              </a:rPr>
              <a:t>Module 16: Troubleshoot Static and Default Routes</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spcBef>
                <a:spcPts val="0"/>
              </a:spcBef>
              <a:spcAft>
                <a:spcPts val="0"/>
              </a:spcAft>
              <a:buNone/>
            </a:pPr>
            <a:fld id="{00000000-1234-1234-1234-123412341234}" type="slidenum">
              <a:rPr b="0" lang="en-CA" sz="800">
                <a:solidFill>
                  <a:srgbClr val="000000"/>
                </a:solidFill>
                <a:latin typeface="Arial"/>
                <a:ea typeface="Arial"/>
                <a:cs typeface="Arial"/>
                <a:sym typeface="Arial"/>
              </a:rPr>
              <a:t>‹#›</a:t>
            </a:fld>
            <a:endParaRPr b="0" sz="800">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6DDE7"/>
              </a:buClr>
              <a:buSzPts val="1200"/>
              <a:buFont typeface="Calibri"/>
              <a:buNone/>
            </a:pPr>
            <a:r>
              <a:rPr lang="en-CA" sz="1200">
                <a:solidFill>
                  <a:srgbClr val="B6DDE7"/>
                </a:solidFill>
              </a:rPr>
              <a:t>16 – Troubleshoot Static and Default Routes</a:t>
            </a:r>
            <a:endParaRPr/>
          </a:p>
          <a:p>
            <a:pPr indent="0" lvl="0" marL="0" rtl="0" algn="l">
              <a:spcBef>
                <a:spcPts val="0"/>
              </a:spcBef>
              <a:spcAft>
                <a:spcPts val="0"/>
              </a:spcAft>
              <a:buClr>
                <a:schemeClr val="dk1"/>
              </a:buClr>
              <a:buSzPts val="1200"/>
              <a:buFont typeface="Calibri"/>
              <a:buNone/>
            </a:pPr>
            <a:r>
              <a:rPr b="0" lang="en-CA" sz="1200"/>
              <a:t>16.0 – Introduction</a:t>
            </a:r>
            <a:endParaRPr b="0"/>
          </a:p>
          <a:p>
            <a:pPr indent="0" lvl="0" marL="0" rtl="0" algn="l">
              <a:lnSpc>
                <a:spcPct val="80000"/>
              </a:lnSpc>
              <a:spcBef>
                <a:spcPts val="0"/>
              </a:spcBef>
              <a:spcAft>
                <a:spcPts val="0"/>
              </a:spcAft>
              <a:buClr>
                <a:schemeClr val="dk1"/>
              </a:buClr>
              <a:buSzPts val="1200"/>
              <a:buFont typeface="Arial"/>
              <a:buNone/>
            </a:pPr>
            <a:r>
              <a:rPr lang="en-CA" sz="1200">
                <a:solidFill>
                  <a:schemeClr val="dk1"/>
                </a:solidFill>
                <a:latin typeface="Arial"/>
                <a:ea typeface="Arial"/>
                <a:cs typeface="Arial"/>
                <a:sym typeface="Arial"/>
              </a:rPr>
              <a:t>16.0.2 – </a:t>
            </a:r>
            <a:r>
              <a:rPr lang="en-CA" sz="1200">
                <a:solidFill>
                  <a:schemeClr val="dk1"/>
                </a:solidFill>
                <a:latin typeface="Calibri"/>
                <a:ea typeface="Calibri"/>
                <a:cs typeface="Calibri"/>
                <a:sym typeface="Calibri"/>
              </a:rPr>
              <a:t>What will I learn to do in this module?</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6DDE7"/>
              </a:buClr>
              <a:buSzPts val="1200"/>
              <a:buFont typeface="Calibri"/>
              <a:buNone/>
            </a:pPr>
            <a:r>
              <a:rPr lang="en-CA" sz="1200">
                <a:solidFill>
                  <a:srgbClr val="B6DDE7"/>
                </a:solidFill>
              </a:rPr>
              <a:t>16 – Troubleshoot Static and Default Routes</a:t>
            </a:r>
            <a:endParaRPr/>
          </a:p>
          <a:p>
            <a:pPr indent="0" lvl="0" marL="0" rtl="0" algn="l">
              <a:spcBef>
                <a:spcPts val="0"/>
              </a:spcBef>
              <a:spcAft>
                <a:spcPts val="0"/>
              </a:spcAft>
              <a:buClr>
                <a:schemeClr val="dk1"/>
              </a:buClr>
              <a:buSzPts val="1200"/>
              <a:buFont typeface="Calibri"/>
              <a:buNone/>
            </a:pPr>
            <a:r>
              <a:rPr b="0" lang="en-CA" sz="1200"/>
              <a:t>16.1 – </a:t>
            </a:r>
            <a:r>
              <a:rPr lang="en-CA"/>
              <a:t>Packet Processing with Static Routes</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6DDE7"/>
              </a:buClr>
              <a:buSzPts val="1200"/>
              <a:buFont typeface="Calibri"/>
              <a:buNone/>
            </a:pPr>
            <a:r>
              <a:rPr lang="en-CA" sz="1200">
                <a:solidFill>
                  <a:srgbClr val="B6DDE7"/>
                </a:solidFill>
              </a:rPr>
              <a:t>16 – Troubleshoot Static and Default Routes</a:t>
            </a:r>
            <a:endParaRPr/>
          </a:p>
          <a:p>
            <a:pPr indent="0" lvl="0" marL="0" rtl="0" algn="l">
              <a:spcBef>
                <a:spcPts val="0"/>
              </a:spcBef>
              <a:spcAft>
                <a:spcPts val="0"/>
              </a:spcAft>
              <a:buNone/>
            </a:pPr>
            <a:r>
              <a:rPr lang="en-CA"/>
              <a:t>16.1 – Packet Processing with Static Routes</a:t>
            </a:r>
            <a:endParaRPr/>
          </a:p>
          <a:p>
            <a:pPr indent="0" lvl="0" marL="0" marR="0" rtl="0" algn="l">
              <a:lnSpc>
                <a:spcPct val="100000"/>
              </a:lnSpc>
              <a:spcBef>
                <a:spcPts val="0"/>
              </a:spcBef>
              <a:spcAft>
                <a:spcPts val="0"/>
              </a:spcAft>
              <a:buClr>
                <a:schemeClr val="dk1"/>
              </a:buClr>
              <a:buSzPts val="1200"/>
              <a:buFont typeface="Calibri"/>
              <a:buNone/>
            </a:pPr>
            <a:r>
              <a:rPr lang="en-CA"/>
              <a:t>16.1.1 – </a:t>
            </a:r>
            <a:r>
              <a:rPr b="0" i="0" lang="en-CA" sz="1200">
                <a:solidFill>
                  <a:schemeClr val="dk1"/>
                </a:solidFill>
                <a:latin typeface="Calibri"/>
                <a:ea typeface="Calibri"/>
                <a:cs typeface="Calibri"/>
                <a:sym typeface="Calibri"/>
              </a:rPr>
              <a:t>Static Routes and Packet Forwarding</a:t>
            </a:r>
            <a:endParaRPr/>
          </a:p>
          <a:p>
            <a:pPr indent="0" lvl="0" marL="0" rtl="0" algn="l">
              <a:spcBef>
                <a:spcPts val="0"/>
              </a:spcBef>
              <a:spcAft>
                <a:spcPts val="0"/>
              </a:spcAft>
              <a:buNone/>
            </a:pPr>
            <a:r>
              <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6DDE7"/>
              </a:buClr>
              <a:buSzPts val="1200"/>
              <a:buFont typeface="Calibri"/>
              <a:buNone/>
            </a:pPr>
            <a:r>
              <a:rPr lang="en-CA" sz="1200">
                <a:solidFill>
                  <a:srgbClr val="B6DDE7"/>
                </a:solidFill>
              </a:rPr>
              <a:t>16 – Troubleshoot Static and Default Routes</a:t>
            </a:r>
            <a:endParaRPr/>
          </a:p>
          <a:p>
            <a:pPr indent="0" lvl="0" marL="0" rtl="0" algn="l">
              <a:spcBef>
                <a:spcPts val="0"/>
              </a:spcBef>
              <a:spcAft>
                <a:spcPts val="0"/>
              </a:spcAft>
              <a:buNone/>
            </a:pPr>
            <a:r>
              <a:rPr lang="en-CA"/>
              <a:t>16.1 – Packet Processing with Static Routes</a:t>
            </a:r>
            <a:endParaRPr/>
          </a:p>
          <a:p>
            <a:pPr indent="0" lvl="0" marL="0" marR="0" rtl="0" algn="l">
              <a:lnSpc>
                <a:spcPct val="100000"/>
              </a:lnSpc>
              <a:spcBef>
                <a:spcPts val="0"/>
              </a:spcBef>
              <a:spcAft>
                <a:spcPts val="0"/>
              </a:spcAft>
              <a:buClr>
                <a:schemeClr val="dk1"/>
              </a:buClr>
              <a:buSzPts val="1200"/>
              <a:buFont typeface="Calibri"/>
              <a:buNone/>
            </a:pPr>
            <a:r>
              <a:rPr lang="en-CA"/>
              <a:t>16.1.1 – </a:t>
            </a:r>
            <a:r>
              <a:rPr b="0" i="0" lang="en-CA" sz="1200">
                <a:solidFill>
                  <a:schemeClr val="dk1"/>
                </a:solidFill>
                <a:latin typeface="Calibri"/>
                <a:ea typeface="Calibri"/>
                <a:cs typeface="Calibri"/>
                <a:sym typeface="Calibri"/>
              </a:rPr>
              <a:t>Static Routes and Packet Forwarding (Cont.)</a:t>
            </a:r>
            <a:endParaRPr/>
          </a:p>
        </p:txBody>
      </p:sp>
      <p:sp>
        <p:nvSpPr>
          <p:cNvPr id="266" name="Google Shape;26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6DDE7"/>
              </a:buClr>
              <a:buSzPts val="1200"/>
              <a:buFont typeface="Calibri"/>
              <a:buNone/>
            </a:pPr>
            <a:r>
              <a:rPr lang="en-CA" sz="1200">
                <a:solidFill>
                  <a:srgbClr val="B6DDE7"/>
                </a:solidFill>
              </a:rPr>
              <a:t>16 – Troubleshoot Static and Default Routes</a:t>
            </a:r>
            <a:endParaRPr/>
          </a:p>
          <a:p>
            <a:pPr indent="0" lvl="0" marL="0" rtl="0" algn="l">
              <a:spcBef>
                <a:spcPts val="0"/>
              </a:spcBef>
              <a:spcAft>
                <a:spcPts val="0"/>
              </a:spcAft>
              <a:buNone/>
            </a:pPr>
            <a:r>
              <a:rPr lang="en-CA"/>
              <a:t>16.1 – Packet Processing with Static Routes</a:t>
            </a:r>
            <a:endParaRPr/>
          </a:p>
          <a:p>
            <a:pPr indent="0" lvl="0" marL="0" marR="0" rtl="0" algn="l">
              <a:lnSpc>
                <a:spcPct val="100000"/>
              </a:lnSpc>
              <a:spcBef>
                <a:spcPts val="0"/>
              </a:spcBef>
              <a:spcAft>
                <a:spcPts val="0"/>
              </a:spcAft>
              <a:buClr>
                <a:schemeClr val="dk1"/>
              </a:buClr>
              <a:buSzPts val="1200"/>
              <a:buFont typeface="Calibri"/>
              <a:buNone/>
            </a:pPr>
            <a:r>
              <a:rPr lang="en-CA"/>
              <a:t>16.1.1 – </a:t>
            </a:r>
            <a:r>
              <a:rPr b="0" i="0" lang="en-CA" sz="1200">
                <a:solidFill>
                  <a:schemeClr val="dk1"/>
                </a:solidFill>
                <a:latin typeface="Calibri"/>
                <a:ea typeface="Calibri"/>
                <a:cs typeface="Calibri"/>
                <a:sym typeface="Calibri"/>
              </a:rPr>
              <a:t>Static Routes and Packet Forwarding (Cont.)</a:t>
            </a:r>
            <a:endParaRPr/>
          </a:p>
          <a:p>
            <a:pPr indent="0" lvl="0" marL="0" marR="0" rtl="0" algn="l">
              <a:lnSpc>
                <a:spcPct val="100000"/>
              </a:lnSpc>
              <a:spcBef>
                <a:spcPts val="0"/>
              </a:spcBef>
              <a:spcAft>
                <a:spcPts val="0"/>
              </a:spcAft>
              <a:buClr>
                <a:schemeClr val="dk1"/>
              </a:buClr>
              <a:buSzPts val="1200"/>
              <a:buFont typeface="Calibri"/>
              <a:buNone/>
            </a:pPr>
            <a:r>
              <a:rPr b="0" i="0" lang="en-CA" sz="1200">
                <a:solidFill>
                  <a:schemeClr val="dk1"/>
                </a:solidFill>
                <a:latin typeface="Calibri"/>
                <a:ea typeface="Calibri"/>
                <a:cs typeface="Calibri"/>
                <a:sym typeface="Calibri"/>
              </a:rPr>
              <a:t>16.1.2</a:t>
            </a:r>
            <a:r>
              <a:rPr lang="en-CA"/>
              <a:t> – </a:t>
            </a:r>
            <a:r>
              <a:rPr b="0" i="0" lang="en-CA" sz="1200">
                <a:solidFill>
                  <a:schemeClr val="dk1"/>
                </a:solidFill>
                <a:latin typeface="Calibri"/>
                <a:ea typeface="Calibri"/>
                <a:cs typeface="Calibri"/>
                <a:sym typeface="Calibri"/>
              </a:rPr>
              <a:t>Check Your Understanding - Packet Processing with Static Routes</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275" name="Google Shape;27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16.2 – Troubleshoot IPv4 Static and Default Route Configuration</a:t>
            </a:r>
            <a:endParaRPr/>
          </a:p>
          <a:p>
            <a:pPr indent="0" lvl="0" marL="0" rtl="0" algn="l">
              <a:spcBef>
                <a:spcPts val="0"/>
              </a:spcBef>
              <a:spcAft>
                <a:spcPts val="0"/>
              </a:spcAft>
              <a:buNone/>
            </a:pPr>
            <a:r>
              <a:t/>
            </a:r>
            <a:endParaRPr/>
          </a:p>
        </p:txBody>
      </p:sp>
      <p:sp>
        <p:nvSpPr>
          <p:cNvPr id="284" name="Google Shape;28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16.2 – Troubleshoot IPv4 Static and Default Route Configuration</a:t>
            </a:r>
            <a:endParaRPr/>
          </a:p>
          <a:p>
            <a:pPr indent="0" lvl="0" marL="0" rtl="0" algn="l">
              <a:spcBef>
                <a:spcPts val="0"/>
              </a:spcBef>
              <a:spcAft>
                <a:spcPts val="0"/>
              </a:spcAft>
              <a:buNone/>
            </a:pPr>
            <a:r>
              <a:rPr lang="en-CA"/>
              <a:t>16.2.1 – Network Changes</a:t>
            </a:r>
            <a:endParaRPr/>
          </a:p>
          <a:p>
            <a:pPr indent="0" lvl="0" marL="0" rtl="0" algn="l">
              <a:spcBef>
                <a:spcPts val="0"/>
              </a:spcBef>
              <a:spcAft>
                <a:spcPts val="0"/>
              </a:spcAft>
              <a:buNone/>
            </a:pPr>
            <a:r>
              <a:t/>
            </a:r>
            <a:endParaRPr/>
          </a:p>
        </p:txBody>
      </p:sp>
      <p:sp>
        <p:nvSpPr>
          <p:cNvPr id="290" name="Google Shape;29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16.2 – Troubleshoot IPv4 Static and Default Route Configuration</a:t>
            </a:r>
            <a:endParaRPr/>
          </a:p>
          <a:p>
            <a:pPr indent="0" lvl="0" marL="0" rtl="0" algn="l">
              <a:spcBef>
                <a:spcPts val="0"/>
              </a:spcBef>
              <a:spcAft>
                <a:spcPts val="0"/>
              </a:spcAft>
              <a:buNone/>
            </a:pPr>
            <a:r>
              <a:rPr lang="en-CA"/>
              <a:t>16.2.2 – Common Troubleshooting Commands</a:t>
            </a:r>
            <a:endParaRPr/>
          </a:p>
        </p:txBody>
      </p:sp>
      <p:sp>
        <p:nvSpPr>
          <p:cNvPr id="297" name="Google Shape;29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16.2 – Troubleshoot IPv4 Static and Default Route Configuration</a:t>
            </a:r>
            <a:endParaRPr/>
          </a:p>
          <a:p>
            <a:pPr indent="0" lvl="0" marL="0" rtl="0" algn="l">
              <a:spcBef>
                <a:spcPts val="0"/>
              </a:spcBef>
              <a:spcAft>
                <a:spcPts val="0"/>
              </a:spcAft>
              <a:buNone/>
            </a:pPr>
            <a:r>
              <a:rPr lang="en-CA"/>
              <a:t>16.2.3 –</a:t>
            </a:r>
            <a:r>
              <a:rPr b="0" i="0" lang="en-CA" sz="1200">
                <a:solidFill>
                  <a:schemeClr val="dk1"/>
                </a:solidFill>
                <a:latin typeface="Calibri"/>
                <a:ea typeface="Calibri"/>
                <a:cs typeface="Calibri"/>
                <a:sym typeface="Calibri"/>
              </a:rPr>
              <a:t>Solve a Connectivity Problem</a:t>
            </a:r>
            <a:endParaRPr/>
          </a:p>
          <a:p>
            <a:pPr indent="0" lvl="0" marL="0" marR="0" rtl="0" algn="l">
              <a:lnSpc>
                <a:spcPct val="100000"/>
              </a:lnSpc>
              <a:spcBef>
                <a:spcPts val="0"/>
              </a:spcBef>
              <a:spcAft>
                <a:spcPts val="0"/>
              </a:spcAft>
              <a:buClr>
                <a:schemeClr val="dk1"/>
              </a:buClr>
              <a:buSzPts val="1200"/>
              <a:buFont typeface="Calibri"/>
              <a:buNone/>
            </a:pPr>
            <a:r>
              <a:rPr lang="en-CA"/>
              <a:t>16.2.4 – </a:t>
            </a:r>
            <a:r>
              <a:rPr b="0" i="0" lang="en-CA" sz="1200">
                <a:solidFill>
                  <a:schemeClr val="dk1"/>
                </a:solidFill>
                <a:latin typeface="Calibri"/>
                <a:ea typeface="Calibri"/>
                <a:cs typeface="Calibri"/>
                <a:sym typeface="Calibri"/>
              </a:rPr>
              <a:t>Syntax Checker - Troubleshoot IPv4 Static and Default Routes</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304" name="Google Shape;30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16.3 - Module Practice and Quiz</a:t>
            </a:r>
            <a:endParaRPr/>
          </a:p>
          <a:p>
            <a:pPr indent="0" lvl="0" marL="0" rtl="0" algn="l">
              <a:spcBef>
                <a:spcPts val="0"/>
              </a:spcBef>
              <a:spcAft>
                <a:spcPts val="0"/>
              </a:spcAft>
              <a:buClr>
                <a:schemeClr val="dk1"/>
              </a:buClr>
              <a:buSzPts val="1200"/>
              <a:buFont typeface="Calibri"/>
              <a:buNone/>
            </a:pPr>
            <a:r>
              <a:t/>
            </a:r>
            <a:endParaRPr/>
          </a:p>
        </p:txBody>
      </p:sp>
      <p:sp>
        <p:nvSpPr>
          <p:cNvPr id="314" name="Google Shape;314;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16.3 - Module Practice and Quiz</a:t>
            </a:r>
            <a:endParaRPr/>
          </a:p>
          <a:p>
            <a:pPr indent="0" lvl="0" marL="0" marR="0" rtl="0" algn="l">
              <a:lnSpc>
                <a:spcPct val="100000"/>
              </a:lnSpc>
              <a:spcBef>
                <a:spcPts val="0"/>
              </a:spcBef>
              <a:spcAft>
                <a:spcPts val="0"/>
              </a:spcAft>
              <a:buClr>
                <a:schemeClr val="dk1"/>
              </a:buClr>
              <a:buSzPts val="1200"/>
              <a:buFont typeface="Calibri"/>
              <a:buNone/>
            </a:pPr>
            <a:r>
              <a:rPr lang="en-CA"/>
              <a:t>16.3.1 – Packet Tracer – </a:t>
            </a:r>
            <a:r>
              <a:rPr b="0" i="0" lang="en-CA" sz="1200">
                <a:solidFill>
                  <a:schemeClr val="dk1"/>
                </a:solidFill>
                <a:latin typeface="Calibri"/>
                <a:ea typeface="Calibri"/>
                <a:cs typeface="Calibri"/>
                <a:sym typeface="Calibri"/>
              </a:rPr>
              <a:t>Troubleshoot Static and Default Routes</a:t>
            </a:r>
            <a:endParaRPr/>
          </a:p>
          <a:p>
            <a:pPr indent="0" lvl="0" marL="0" rtl="0" algn="l">
              <a:spcBef>
                <a:spcPts val="0"/>
              </a:spcBef>
              <a:spcAft>
                <a:spcPts val="0"/>
              </a:spcAft>
              <a:buNone/>
            </a:pPr>
            <a:r>
              <a:t/>
            </a:r>
            <a:endParaRPr/>
          </a:p>
        </p:txBody>
      </p:sp>
      <p:sp>
        <p:nvSpPr>
          <p:cNvPr id="320" name="Google Shape;320;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16.3 - Module Practice and Quiz</a:t>
            </a:r>
            <a:endParaRPr/>
          </a:p>
          <a:p>
            <a:pPr indent="0" lvl="0" marL="0" rtl="0" algn="l">
              <a:spcBef>
                <a:spcPts val="0"/>
              </a:spcBef>
              <a:spcAft>
                <a:spcPts val="0"/>
              </a:spcAft>
              <a:buNone/>
            </a:pPr>
            <a:r>
              <a:rPr lang="en-CA"/>
              <a:t>16.3.2 – Lab - </a:t>
            </a:r>
            <a:r>
              <a:rPr b="0" i="0" lang="en-CA" sz="1200">
                <a:solidFill>
                  <a:schemeClr val="dk1"/>
                </a:solidFill>
                <a:latin typeface="Calibri"/>
                <a:ea typeface="Calibri"/>
                <a:cs typeface="Calibri"/>
                <a:sym typeface="Calibri"/>
              </a:rPr>
              <a:t>Troubleshoot Static and Default Routes</a:t>
            </a:r>
            <a:endParaRPr/>
          </a:p>
          <a:p>
            <a:pPr indent="0" lvl="0" marL="0" rtl="0" algn="l">
              <a:spcBef>
                <a:spcPts val="0"/>
              </a:spcBef>
              <a:spcAft>
                <a:spcPts val="0"/>
              </a:spcAft>
              <a:buNone/>
            </a:pPr>
            <a:br>
              <a:rPr b="0" i="0" lang="en-CA" sz="1200">
                <a:solidFill>
                  <a:schemeClr val="dk1"/>
                </a:solidFill>
                <a:latin typeface="Calibri"/>
                <a:ea typeface="Calibri"/>
                <a:cs typeface="Calibri"/>
                <a:sym typeface="Calibri"/>
              </a:rPr>
            </a:br>
            <a:endParaRPr/>
          </a:p>
        </p:txBody>
      </p:sp>
      <p:sp>
        <p:nvSpPr>
          <p:cNvPr id="327" name="Google Shape;327;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333" name="Google Shape;33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16.3 - Module Practice and Quiz</a:t>
            </a:r>
            <a:endParaRPr/>
          </a:p>
          <a:p>
            <a:pPr indent="0" lvl="0" marL="0" rtl="0" algn="l">
              <a:spcBef>
                <a:spcPts val="0"/>
              </a:spcBef>
              <a:spcAft>
                <a:spcPts val="0"/>
              </a:spcAft>
              <a:buNone/>
            </a:pPr>
            <a:r>
              <a:rPr lang="en-CA"/>
              <a:t>16.3.3 – What did I learn in this module?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340" name="Google Shape;34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16.3 - Module Practice and Quiz</a:t>
            </a:r>
            <a:endParaRPr/>
          </a:p>
          <a:p>
            <a:pPr indent="0" lvl="0" marL="0" rtl="0" algn="l">
              <a:spcBef>
                <a:spcPts val="0"/>
              </a:spcBef>
              <a:spcAft>
                <a:spcPts val="0"/>
              </a:spcAft>
              <a:buNone/>
            </a:pPr>
            <a:r>
              <a:rPr lang="en-CA"/>
              <a:t>16.3.3 – What did I learn in this module? (Cont.)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347" name="Google Shape;34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8" name="Google Shape;348;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CA"/>
              <a:t>16 – Troubleshoot Static and Default Routes</a:t>
            </a:r>
            <a:endParaRPr/>
          </a:p>
          <a:p>
            <a:pPr indent="0" lvl="0" marL="0" rtl="0" algn="l">
              <a:spcBef>
                <a:spcPts val="0"/>
              </a:spcBef>
              <a:spcAft>
                <a:spcPts val="0"/>
              </a:spcAft>
              <a:buNone/>
            </a:pPr>
            <a:r>
              <a:rPr lang="en-CA"/>
              <a:t>16.3 - Module Practice and Quiz</a:t>
            </a:r>
            <a:endParaRPr/>
          </a:p>
          <a:p>
            <a:pPr indent="0" lvl="0" marL="0" rtl="0" algn="l">
              <a:spcBef>
                <a:spcPts val="0"/>
              </a:spcBef>
              <a:spcAft>
                <a:spcPts val="0"/>
              </a:spcAft>
              <a:buNone/>
            </a:pPr>
            <a:r>
              <a:rPr lang="en-CA"/>
              <a:t>16.3.3 – What did I learn in this module? (Cont.)</a:t>
            </a:r>
            <a:endParaRPr/>
          </a:p>
          <a:p>
            <a:pPr indent="0" lvl="0" marL="0" rtl="0" algn="l">
              <a:spcBef>
                <a:spcPts val="0"/>
              </a:spcBef>
              <a:spcAft>
                <a:spcPts val="0"/>
              </a:spcAft>
              <a:buNone/>
            </a:pPr>
            <a:r>
              <a:rPr lang="en-CA"/>
              <a:t>16.3.4 – Module Quiz – Troubleshoot Static and Default Routes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19"/>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19"/>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19"/>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19"/>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19"/>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19"/>
          <p:cNvGrpSpPr/>
          <p:nvPr/>
        </p:nvGrpSpPr>
        <p:grpSpPr>
          <a:xfrm>
            <a:off x="492125" y="395288"/>
            <a:ext cx="796924" cy="423863"/>
            <a:chOff x="310" y="249"/>
            <a:chExt cx="502" cy="267"/>
          </a:xfrm>
        </p:grpSpPr>
        <p:sp>
          <p:nvSpPr>
            <p:cNvPr id="36" name="Google Shape;36;p19"/>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1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1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1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1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1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1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1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1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1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1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1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1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1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20"/>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CA"/>
              <a:t>‹#›</a:t>
            </a:fld>
            <a:endParaRPr/>
          </a:p>
        </p:txBody>
      </p:sp>
      <p:sp>
        <p:nvSpPr>
          <p:cNvPr id="52" name="Google Shape;52;p20"/>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20"/>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21"/>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21"/>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21"/>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CA"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21"/>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CA"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21"/>
          <p:cNvGrpSpPr/>
          <p:nvPr/>
        </p:nvGrpSpPr>
        <p:grpSpPr>
          <a:xfrm>
            <a:off x="508039" y="4715197"/>
            <a:ext cx="340257" cy="180974"/>
            <a:chOff x="310" y="249"/>
            <a:chExt cx="502" cy="267"/>
          </a:xfrm>
        </p:grpSpPr>
        <p:sp>
          <p:nvSpPr>
            <p:cNvPr id="60" name="Google Shape;60;p21"/>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2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2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2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2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2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2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2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2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2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2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2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2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2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22"/>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22"/>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23"/>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23"/>
          <p:cNvGrpSpPr/>
          <p:nvPr/>
        </p:nvGrpSpPr>
        <p:grpSpPr>
          <a:xfrm>
            <a:off x="3746294" y="2129856"/>
            <a:ext cx="1617944" cy="860542"/>
            <a:chOff x="310" y="249"/>
            <a:chExt cx="502" cy="267"/>
          </a:xfrm>
        </p:grpSpPr>
        <p:sp>
          <p:nvSpPr>
            <p:cNvPr id="80" name="Google Shape;80;p2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2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2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2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2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2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2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2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2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2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2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2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2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2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2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2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2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24"/>
          <p:cNvGrpSpPr/>
          <p:nvPr/>
        </p:nvGrpSpPr>
        <p:grpSpPr>
          <a:xfrm>
            <a:off x="492125" y="395288"/>
            <a:ext cx="796924" cy="423863"/>
            <a:chOff x="310" y="249"/>
            <a:chExt cx="502" cy="267"/>
          </a:xfrm>
        </p:grpSpPr>
        <p:sp>
          <p:nvSpPr>
            <p:cNvPr id="99" name="Google Shape;99;p24"/>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2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2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2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2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2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2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2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2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2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2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2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2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2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3" name="Google Shape;113;p2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2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25"/>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25"/>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25"/>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25"/>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25"/>
          <p:cNvGrpSpPr/>
          <p:nvPr/>
        </p:nvGrpSpPr>
        <p:grpSpPr>
          <a:xfrm>
            <a:off x="492125" y="395288"/>
            <a:ext cx="796924" cy="423863"/>
            <a:chOff x="310" y="249"/>
            <a:chExt cx="502" cy="267"/>
          </a:xfrm>
        </p:grpSpPr>
        <p:sp>
          <p:nvSpPr>
            <p:cNvPr id="121" name="Google Shape;121;p2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2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2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2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2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2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2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2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2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2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2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2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2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2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 name="Google Shape;135;p25"/>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25"/>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2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27"/>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41" name="Google Shape;141;p27"/>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42" name="Google Shape;142;p27"/>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43" name="Google Shape;143;p27"/>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27"/>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27"/>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27"/>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27"/>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27"/>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2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28"/>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2" name="Google Shape;152;p28"/>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3" name="Google Shape;153;p28"/>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4" name="Google Shape;154;p28"/>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28"/>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28"/>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28"/>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28"/>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28"/>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28"/>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1" name="Google Shape;161;p28"/>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28"/>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28"/>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4" name="Google Shape;164;p28"/>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28"/>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2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29"/>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29"/>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70" name="Google Shape;170;p29"/>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1" name="Google Shape;171;p29"/>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29"/>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29"/>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29"/>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29"/>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29"/>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29"/>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8" name="Google Shape;178;p29"/>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29"/>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29"/>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1" name="Google Shape;181;p29"/>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29"/>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29"/>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4" name="Google Shape;184;p29"/>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5" name="Google Shape;185;p29"/>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6" name="Google Shape;186;p29"/>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29"/>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29"/>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29"/>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29"/>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29"/>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29"/>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3" name="Google Shape;193;p29"/>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29"/>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29"/>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6" name="Google Shape;196;p29"/>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29"/>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30"/>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30"/>
          <p:cNvGrpSpPr/>
          <p:nvPr/>
        </p:nvGrpSpPr>
        <p:grpSpPr>
          <a:xfrm>
            <a:off x="3746294" y="2129856"/>
            <a:ext cx="1617944" cy="860542"/>
            <a:chOff x="310" y="249"/>
            <a:chExt cx="502" cy="267"/>
          </a:xfrm>
        </p:grpSpPr>
        <p:sp>
          <p:nvSpPr>
            <p:cNvPr id="201" name="Google Shape;201;p3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3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3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3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3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3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3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3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3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3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3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3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3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3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31"/>
          <p:cNvGrpSpPr/>
          <p:nvPr/>
        </p:nvGrpSpPr>
        <p:grpSpPr>
          <a:xfrm>
            <a:off x="3746294" y="2129856"/>
            <a:ext cx="1617944" cy="860542"/>
            <a:chOff x="310" y="249"/>
            <a:chExt cx="502" cy="267"/>
          </a:xfrm>
        </p:grpSpPr>
        <p:sp>
          <p:nvSpPr>
            <p:cNvPr id="217" name="Google Shape;217;p31"/>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3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3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3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3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3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3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3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3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3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3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3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3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3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3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18"/>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CA"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18"/>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CA" sz="600" u="none" cap="none" strike="noStrike">
                <a:solidFill>
                  <a:srgbClr val="D8D8D8"/>
                </a:solidFill>
                <a:latin typeface="Arial"/>
                <a:ea typeface="Arial"/>
                <a:cs typeface="Arial"/>
                <a:sym typeface="Arial"/>
              </a:rPr>
              <a:t>© 2016  Cisco and/or its affiliates. All rights reserved.   Cisco Confidential</a:t>
            </a:r>
            <a:endParaRPr/>
          </a:p>
        </p:txBody>
      </p:sp>
      <p:grpSp>
        <p:nvGrpSpPr>
          <p:cNvPr id="13" name="Google Shape;13;p18"/>
          <p:cNvGrpSpPr/>
          <p:nvPr/>
        </p:nvGrpSpPr>
        <p:grpSpPr>
          <a:xfrm>
            <a:off x="508039" y="4715197"/>
            <a:ext cx="340257" cy="180974"/>
            <a:chOff x="310" y="249"/>
            <a:chExt cx="502" cy="267"/>
          </a:xfrm>
        </p:grpSpPr>
        <p:sp>
          <p:nvSpPr>
            <p:cNvPr id="14" name="Google Shape;14;p18"/>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1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1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1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1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1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1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1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1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1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1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1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1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1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58416"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400"/>
              <a:buFont typeface="Arial"/>
              <a:buNone/>
            </a:pPr>
            <a:r>
              <a:rPr lang="en-CA" sz="4400">
                <a:solidFill>
                  <a:srgbClr val="AEE8FA"/>
                </a:solidFill>
              </a:rPr>
              <a:t>Chapter 1 Part 2 </a:t>
            </a:r>
            <a:br>
              <a:rPr lang="en-CA" sz="4400">
                <a:solidFill>
                  <a:srgbClr val="AEE8FA"/>
                </a:solidFill>
              </a:rPr>
            </a:br>
            <a:r>
              <a:rPr lang="en-CA" sz="4400">
                <a:solidFill>
                  <a:srgbClr val="AEE8FA"/>
                </a:solidFill>
              </a:rPr>
              <a:t>Module 16: Troubleshoot Static and Default Routes</a:t>
            </a:r>
            <a:endParaRPr sz="4400">
              <a:solidFill>
                <a:srgbClr val="AEE8FA"/>
              </a:solidFill>
            </a:endParaRPr>
          </a:p>
        </p:txBody>
      </p:sp>
      <p:sp>
        <p:nvSpPr>
          <p:cNvPr id="239" name="Google Shape;239;p1"/>
          <p:cNvSpPr txBox="1"/>
          <p:nvPr>
            <p:ph idx="1" type="subTitle"/>
          </p:nvPr>
        </p:nvSpPr>
        <p:spPr>
          <a:xfrm>
            <a:off x="469497" y="3809526"/>
            <a:ext cx="2368954" cy="902174"/>
          </a:xfrm>
          <a:prstGeom prst="rect">
            <a:avLst/>
          </a:prstGeom>
          <a:noFill/>
          <a:ln>
            <a:noFill/>
          </a:ln>
        </p:spPr>
        <p:txBody>
          <a:bodyPr anchorCtr="0" anchor="b" bIns="45700" lIns="91400" spcFirstLastPara="1" rIns="91400" wrap="square" tIns="45700">
            <a:noAutofit/>
          </a:bodyPr>
          <a:lstStyle/>
          <a:p>
            <a:pPr indent="0" lvl="0" marL="0" rtl="0" algn="l">
              <a:lnSpc>
                <a:spcPct val="100000"/>
              </a:lnSpc>
              <a:spcBef>
                <a:spcPts val="0"/>
              </a:spcBef>
              <a:spcAft>
                <a:spcPts val="0"/>
              </a:spcAft>
              <a:buClr>
                <a:srgbClr val="AEE8FA"/>
              </a:buClr>
              <a:buSzPts val="1200"/>
              <a:buNone/>
            </a:pPr>
            <a:r>
              <a:rPr lang="en-CA">
                <a:solidFill>
                  <a:srgbClr val="AEE8FA"/>
                </a:solidFill>
              </a:rPr>
              <a:t>Switching, Routing and Wireless Essentials v7.0 (SRWE)</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CA"/>
              <a:t>Module Objectives</a:t>
            </a:r>
            <a:endParaRPr/>
          </a:p>
        </p:txBody>
      </p:sp>
      <p:sp>
        <p:nvSpPr>
          <p:cNvPr id="246" name="Google Shape;246;p2"/>
          <p:cNvSpPr/>
          <p:nvPr/>
        </p:nvSpPr>
        <p:spPr>
          <a:xfrm>
            <a:off x="169682" y="769893"/>
            <a:ext cx="8804635"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CA" sz="1600" u="none" cap="none" strike="noStrike">
                <a:solidFill>
                  <a:schemeClr val="dk1"/>
                </a:solidFill>
                <a:latin typeface="Arial"/>
                <a:ea typeface="Arial"/>
                <a:cs typeface="Arial"/>
                <a:sym typeface="Arial"/>
              </a:rPr>
              <a:t>Module Title: </a:t>
            </a:r>
            <a:r>
              <a:rPr b="0" i="0" lang="en-CA" sz="1600" u="none" cap="none" strike="noStrike">
                <a:solidFill>
                  <a:schemeClr val="dk1"/>
                </a:solidFill>
                <a:latin typeface="Arial"/>
                <a:ea typeface="Arial"/>
                <a:cs typeface="Arial"/>
                <a:sym typeface="Arial"/>
              </a:rPr>
              <a:t>Troubleshoot Static and Default Routes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1" i="0" lang="en-CA" sz="1600" u="none" cap="none" strike="noStrike">
                <a:solidFill>
                  <a:schemeClr val="dk1"/>
                </a:solidFill>
                <a:latin typeface="Arial"/>
                <a:ea typeface="Arial"/>
                <a:cs typeface="Arial"/>
                <a:sym typeface="Arial"/>
              </a:rPr>
              <a:t>Module Objective</a:t>
            </a:r>
            <a:r>
              <a:rPr b="0" i="0" lang="en-CA" sz="1600" u="none" cap="none" strike="noStrike">
                <a:solidFill>
                  <a:schemeClr val="dk1"/>
                </a:solidFill>
                <a:latin typeface="Arial"/>
                <a:ea typeface="Arial"/>
                <a:cs typeface="Arial"/>
                <a:sym typeface="Arial"/>
              </a:rPr>
              <a:t>: </a:t>
            </a:r>
            <a:r>
              <a:rPr lang="en-CA" sz="1600">
                <a:solidFill>
                  <a:schemeClr val="dk1"/>
                </a:solidFill>
                <a:latin typeface="Arial"/>
                <a:ea typeface="Arial"/>
                <a:cs typeface="Arial"/>
                <a:sym typeface="Arial"/>
              </a:rPr>
              <a:t>Troubleshoot static and default route configurations.</a:t>
            </a:r>
            <a:endParaRPr b="0" i="0" sz="1800" u="none" cap="none" strike="noStrike">
              <a:solidFill>
                <a:schemeClr val="dk1"/>
              </a:solidFill>
              <a:latin typeface="Arial"/>
              <a:ea typeface="Arial"/>
              <a:cs typeface="Arial"/>
              <a:sym typeface="Arial"/>
            </a:endParaRPr>
          </a:p>
        </p:txBody>
      </p:sp>
      <p:graphicFrame>
        <p:nvGraphicFramePr>
          <p:cNvPr id="247" name="Google Shape;247;p2"/>
          <p:cNvGraphicFramePr/>
          <p:nvPr/>
        </p:nvGraphicFramePr>
        <p:xfrm>
          <a:off x="407549" y="1736541"/>
          <a:ext cx="3000000" cy="3000000"/>
        </p:xfrm>
        <a:graphic>
          <a:graphicData uri="http://schemas.openxmlformats.org/drawingml/2006/table">
            <a:tbl>
              <a:tblPr bandRow="1" firstCol="1" firstRow="1">
                <a:noFill/>
                <a:tableStyleId>{CE801907-AC78-44CA-ADAF-86CCCA993BC6}</a:tableStyleId>
              </a:tblPr>
              <a:tblGrid>
                <a:gridCol w="4120000"/>
                <a:gridCol w="4208900"/>
              </a:tblGrid>
              <a:tr h="216350">
                <a:tc>
                  <a:txBody>
                    <a:bodyPr/>
                    <a:lstStyle/>
                    <a:p>
                      <a:pPr indent="0" lvl="0" marL="0" marR="0" rtl="0" algn="l">
                        <a:lnSpc>
                          <a:spcPct val="107000"/>
                        </a:lnSpc>
                        <a:spcBef>
                          <a:spcPts val="0"/>
                        </a:spcBef>
                        <a:spcAft>
                          <a:spcPts val="0"/>
                        </a:spcAft>
                        <a:buNone/>
                      </a:pPr>
                      <a:r>
                        <a:rPr lang="en-CA" sz="1200" u="none" cap="none" strike="noStrike"/>
                        <a:t>Topic Title</a:t>
                      </a:r>
                      <a:endParaRPr sz="12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CA" sz="1200" u="none" cap="none" strike="noStrike"/>
                        <a:t>Topic Objective</a:t>
                      </a:r>
                      <a:endParaRPr sz="1200" u="none" cap="none" strike="noStrike">
                        <a:latin typeface="Calibri"/>
                        <a:ea typeface="Calibri"/>
                        <a:cs typeface="Calibri"/>
                        <a:sym typeface="Calibri"/>
                      </a:endParaRPr>
                    </a:p>
                  </a:txBody>
                  <a:tcPr marT="0" marB="0" marR="68575" marL="68575"/>
                </a:tc>
              </a:tr>
              <a:tr h="559350">
                <a:tc>
                  <a:txBody>
                    <a:bodyPr/>
                    <a:lstStyle/>
                    <a:p>
                      <a:pPr indent="0" lvl="0" marL="0" marR="0" rtl="0" algn="l">
                        <a:lnSpc>
                          <a:spcPct val="107000"/>
                        </a:lnSpc>
                        <a:spcBef>
                          <a:spcPts val="0"/>
                        </a:spcBef>
                        <a:spcAft>
                          <a:spcPts val="0"/>
                        </a:spcAft>
                        <a:buNone/>
                      </a:pPr>
                      <a:r>
                        <a:rPr lang="en-CA" sz="1200" u="none" cap="none" strike="noStrike">
                          <a:latin typeface="Arial"/>
                          <a:ea typeface="Arial"/>
                          <a:cs typeface="Arial"/>
                          <a:sym typeface="Arial"/>
                        </a:rPr>
                        <a:t>Packet Processing with Static Routes </a:t>
                      </a:r>
                      <a:endParaRPr/>
                    </a:p>
                  </a:txBody>
                  <a:tcPr marT="0" marB="0" marR="68575" marL="68575"/>
                </a:tc>
                <a:tc>
                  <a:txBody>
                    <a:bodyPr/>
                    <a:lstStyle/>
                    <a:p>
                      <a:pPr indent="0" lvl="0" marL="0" marR="0" rtl="0" algn="l">
                        <a:lnSpc>
                          <a:spcPct val="107000"/>
                        </a:lnSpc>
                        <a:spcBef>
                          <a:spcPts val="0"/>
                        </a:spcBef>
                        <a:spcAft>
                          <a:spcPts val="0"/>
                        </a:spcAft>
                        <a:buNone/>
                      </a:pPr>
                      <a:r>
                        <a:rPr lang="en-CA" sz="1200" u="none" cap="none" strike="noStrike">
                          <a:solidFill>
                            <a:srgbClr val="000000"/>
                          </a:solidFill>
                          <a:latin typeface="Arial"/>
                          <a:ea typeface="Arial"/>
                          <a:cs typeface="Arial"/>
                          <a:sym typeface="Arial"/>
                        </a:rPr>
                        <a:t>Explain how a router processes packets when a static route is configured.</a:t>
                      </a:r>
                      <a:endParaRPr sz="1200" u="none" cap="none" strike="noStrike">
                        <a:solidFill>
                          <a:srgbClr val="000000"/>
                        </a:solidFill>
                        <a:latin typeface="Arial"/>
                        <a:ea typeface="Arial"/>
                        <a:cs typeface="Arial"/>
                        <a:sym typeface="Arial"/>
                      </a:endParaRPr>
                    </a:p>
                  </a:txBody>
                  <a:tcPr marT="0" marB="0" marR="68575" marL="68575"/>
                </a:tc>
              </a:tr>
              <a:tr h="559350">
                <a:tc>
                  <a:txBody>
                    <a:bodyPr/>
                    <a:lstStyle/>
                    <a:p>
                      <a:pPr indent="0" lvl="0" marL="0" marR="0" rtl="0" algn="l">
                        <a:lnSpc>
                          <a:spcPct val="107000"/>
                        </a:lnSpc>
                        <a:spcBef>
                          <a:spcPts val="0"/>
                        </a:spcBef>
                        <a:spcAft>
                          <a:spcPts val="0"/>
                        </a:spcAft>
                        <a:buNone/>
                      </a:pPr>
                      <a:r>
                        <a:rPr lang="en-CA" sz="1200" u="none" cap="none" strike="noStrike">
                          <a:latin typeface="Arial"/>
                          <a:ea typeface="Arial"/>
                          <a:cs typeface="Arial"/>
                          <a:sym typeface="Arial"/>
                        </a:rPr>
                        <a:t>Troubleshoot IPv4 Static and Default Route Configuration</a:t>
                      </a:r>
                      <a:endParaRPr sz="1200" u="none" cap="none" strike="noStrike">
                        <a:latin typeface="Arial"/>
                        <a:ea typeface="Arial"/>
                        <a:cs typeface="Arial"/>
                        <a:sym typeface="Arial"/>
                      </a:endParaRPr>
                    </a:p>
                  </a:txBody>
                  <a:tcPr marT="0" marB="0" marR="68575" marL="68575"/>
                </a:tc>
                <a:tc>
                  <a:txBody>
                    <a:bodyPr/>
                    <a:lstStyle/>
                    <a:p>
                      <a:pPr indent="0" lvl="0" marL="0" marR="0" rtl="0" algn="l">
                        <a:lnSpc>
                          <a:spcPct val="107000"/>
                        </a:lnSpc>
                        <a:spcBef>
                          <a:spcPts val="0"/>
                        </a:spcBef>
                        <a:spcAft>
                          <a:spcPts val="0"/>
                        </a:spcAft>
                        <a:buNone/>
                      </a:pPr>
                      <a:r>
                        <a:rPr lang="en-CA" sz="1200" u="none" cap="none" strike="noStrike">
                          <a:solidFill>
                            <a:srgbClr val="000000"/>
                          </a:solidFill>
                          <a:latin typeface="Arial"/>
                          <a:ea typeface="Arial"/>
                          <a:cs typeface="Arial"/>
                          <a:sym typeface="Arial"/>
                        </a:rPr>
                        <a:t>Troubleshoot common static and default route configuration issues.</a:t>
                      </a:r>
                      <a:endParaRPr sz="1200" u="none" cap="none" strike="noStrike">
                        <a:solidFill>
                          <a:srgbClr val="000000"/>
                        </a:solidFill>
                        <a:latin typeface="Arial"/>
                        <a:ea typeface="Arial"/>
                        <a:cs typeface="Arial"/>
                        <a:sym typeface="Arial"/>
                      </a:endParaRPr>
                    </a:p>
                  </a:txBody>
                  <a:tcPr marT="0" marB="0" marR="68575" marL="68575"/>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CA">
                <a:solidFill>
                  <a:srgbClr val="AEE8FA"/>
                </a:solidFill>
              </a:rPr>
              <a:t>16.1 Packet Processing with Static Routes</a:t>
            </a:r>
            <a:endParaRPr>
              <a:solidFill>
                <a:srgbClr val="AEE8FA"/>
              </a:solidFill>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Packet Processing with Static Routes</a:t>
            </a:r>
            <a:br>
              <a:rPr lang="en-CA"/>
            </a:br>
            <a:r>
              <a:rPr lang="en-CA" sz="2400"/>
              <a:t>Static Routes and Packet Forwarding</a:t>
            </a:r>
            <a:endParaRPr sz="2400"/>
          </a:p>
        </p:txBody>
      </p:sp>
      <p:sp>
        <p:nvSpPr>
          <p:cNvPr id="260" name="Google Shape;260;p4"/>
          <p:cNvSpPr txBox="1"/>
          <p:nvPr>
            <p:ph idx="1" type="body"/>
          </p:nvPr>
        </p:nvSpPr>
        <p:spPr>
          <a:xfrm>
            <a:off x="431972" y="855419"/>
            <a:ext cx="5464332" cy="1530430"/>
          </a:xfrm>
          <a:prstGeom prst="rect">
            <a:avLst/>
          </a:prstGeom>
          <a:noFill/>
          <a:ln>
            <a:noFill/>
          </a:ln>
        </p:spPr>
        <p:txBody>
          <a:bodyPr anchorCtr="0" anchor="t" bIns="45700" lIns="91425" spcFirstLastPara="1" rIns="182875" wrap="square" tIns="45700">
            <a:noAutofit/>
          </a:bodyPr>
          <a:lstStyle/>
          <a:p>
            <a:pPr indent="-166688" lvl="0" marL="182563" rtl="0" algn="l">
              <a:lnSpc>
                <a:spcPct val="100000"/>
              </a:lnSpc>
              <a:spcBef>
                <a:spcPts val="0"/>
              </a:spcBef>
              <a:spcAft>
                <a:spcPts val="0"/>
              </a:spcAft>
              <a:buClr>
                <a:schemeClr val="dk2"/>
              </a:buClr>
              <a:buSzPts val="1440"/>
              <a:buFont typeface="Arial"/>
              <a:buChar char="•"/>
            </a:pPr>
            <a:r>
              <a:rPr lang="en-CA" sz="1600">
                <a:solidFill>
                  <a:srgbClr val="000000"/>
                </a:solidFill>
              </a:rPr>
              <a:t>PC1 addresses a packet to PC3 and sends it to the default gateway address.</a:t>
            </a:r>
            <a:endParaRPr/>
          </a:p>
          <a:p>
            <a:pPr indent="-166688" lvl="0" marL="182563" rtl="0" algn="l">
              <a:lnSpc>
                <a:spcPct val="100000"/>
              </a:lnSpc>
              <a:spcBef>
                <a:spcPts val="600"/>
              </a:spcBef>
              <a:spcAft>
                <a:spcPts val="0"/>
              </a:spcAft>
              <a:buClr>
                <a:schemeClr val="dk2"/>
              </a:buClr>
              <a:buSzPts val="1440"/>
              <a:buFont typeface="Arial"/>
              <a:buChar char="•"/>
            </a:pPr>
            <a:r>
              <a:rPr lang="en-CA" sz="1600">
                <a:solidFill>
                  <a:srgbClr val="000000"/>
                </a:solidFill>
              </a:rPr>
              <a:t>When the packet arrives on the R1 G0/0/0 interface, R1 </a:t>
            </a:r>
            <a:r>
              <a:rPr lang="en-CA" sz="1600">
                <a:solidFill>
                  <a:srgbClr val="FF0000"/>
                </a:solidFill>
              </a:rPr>
              <a:t>decapsulates</a:t>
            </a:r>
            <a:r>
              <a:rPr lang="en-CA" sz="1600">
                <a:solidFill>
                  <a:srgbClr val="000000"/>
                </a:solidFill>
              </a:rPr>
              <a:t> the packet and </a:t>
            </a:r>
            <a:r>
              <a:rPr lang="en-CA" sz="1600">
                <a:solidFill>
                  <a:srgbClr val="FF0000"/>
                </a:solidFill>
              </a:rPr>
              <a:t>searches the routing table </a:t>
            </a:r>
            <a:r>
              <a:rPr lang="en-CA" sz="1600">
                <a:solidFill>
                  <a:srgbClr val="000000"/>
                </a:solidFill>
              </a:rPr>
              <a:t>for a matching destination network entry.</a:t>
            </a:r>
            <a:endParaRPr/>
          </a:p>
        </p:txBody>
      </p:sp>
      <p:sp>
        <p:nvSpPr>
          <p:cNvPr id="261" name="Google Shape;261;p4"/>
          <p:cNvSpPr txBox="1"/>
          <p:nvPr/>
        </p:nvSpPr>
        <p:spPr>
          <a:xfrm>
            <a:off x="431971" y="2680138"/>
            <a:ext cx="8470291" cy="1891862"/>
          </a:xfrm>
          <a:prstGeom prst="rect">
            <a:avLst/>
          </a:prstGeom>
          <a:noFill/>
          <a:ln>
            <a:noFill/>
          </a:ln>
        </p:spPr>
        <p:txBody>
          <a:bodyPr anchorCtr="0" anchor="t" bIns="45700" lIns="91425" spcFirstLastPara="1" rIns="182875" wrap="square" tIns="45700">
            <a:noAutofit/>
          </a:bodyPr>
          <a:lstStyle/>
          <a:p>
            <a:pPr indent="0" lvl="0" marL="15875" marR="0" rtl="0" algn="l">
              <a:lnSpc>
                <a:spcPct val="100000"/>
              </a:lnSpc>
              <a:spcBef>
                <a:spcPts val="0"/>
              </a:spcBef>
              <a:spcAft>
                <a:spcPts val="0"/>
              </a:spcAft>
              <a:buClr>
                <a:srgbClr val="000000"/>
              </a:buClr>
              <a:buSzPts val="1440"/>
              <a:buFont typeface="Arial"/>
              <a:buNone/>
            </a:pPr>
            <a:r>
              <a:rPr b="0" i="0" lang="en-CA" sz="1600">
                <a:solidFill>
                  <a:srgbClr val="000000"/>
                </a:solidFill>
                <a:latin typeface="Arial"/>
                <a:ea typeface="Arial"/>
                <a:cs typeface="Arial"/>
                <a:sym typeface="Arial"/>
              </a:rPr>
              <a:t>If the destination IP address:</a:t>
            </a:r>
            <a:endParaRPr/>
          </a:p>
          <a:p>
            <a:pPr indent="-166688" lvl="1" marL="371475" marR="0" rtl="0" algn="l">
              <a:lnSpc>
                <a:spcPct val="100000"/>
              </a:lnSpc>
              <a:spcBef>
                <a:spcPts val="600"/>
              </a:spcBef>
              <a:spcAft>
                <a:spcPts val="0"/>
              </a:spcAft>
              <a:buClr>
                <a:schemeClr val="dk2"/>
              </a:buClr>
              <a:buSzPts val="1400"/>
              <a:buFont typeface="Arial"/>
              <a:buChar char="•"/>
            </a:pPr>
            <a:r>
              <a:rPr b="0" i="0" lang="en-CA" sz="1400" u="none" cap="none" strike="noStrike">
                <a:solidFill>
                  <a:srgbClr val="7030A0"/>
                </a:solidFill>
                <a:latin typeface="Arial"/>
                <a:ea typeface="Arial"/>
                <a:cs typeface="Arial"/>
                <a:sym typeface="Arial"/>
              </a:rPr>
              <a:t>Matches</a:t>
            </a:r>
            <a:r>
              <a:rPr b="0" i="0" lang="en-CA" sz="1400" u="none" cap="none" strike="noStrike">
                <a:solidFill>
                  <a:srgbClr val="000000"/>
                </a:solidFill>
                <a:latin typeface="Arial"/>
                <a:ea typeface="Arial"/>
                <a:cs typeface="Arial"/>
                <a:sym typeface="Arial"/>
              </a:rPr>
              <a:t> </a:t>
            </a:r>
            <a:r>
              <a:rPr b="0" i="0" lang="en-CA" sz="1400" u="none" cap="none" strike="noStrike">
                <a:solidFill>
                  <a:srgbClr val="FF0000"/>
                </a:solidFill>
                <a:latin typeface="Arial"/>
                <a:ea typeface="Arial"/>
                <a:cs typeface="Arial"/>
                <a:sym typeface="Arial"/>
              </a:rPr>
              <a:t>a static route entry</a:t>
            </a:r>
            <a:r>
              <a:rPr b="0" i="0" lang="en-CA" sz="1400" u="none" cap="none" strike="noStrike">
                <a:solidFill>
                  <a:srgbClr val="000000"/>
                </a:solidFill>
                <a:latin typeface="Arial"/>
                <a:ea typeface="Arial"/>
                <a:cs typeface="Arial"/>
                <a:sym typeface="Arial"/>
              </a:rPr>
              <a:t>, R1 will use the static route to identify the </a:t>
            </a:r>
            <a:r>
              <a:rPr b="0" i="0" lang="en-CA" sz="1400" u="none" cap="none" strike="noStrike">
                <a:solidFill>
                  <a:srgbClr val="FF0000"/>
                </a:solidFill>
                <a:latin typeface="Arial"/>
                <a:ea typeface="Arial"/>
                <a:cs typeface="Arial"/>
                <a:sym typeface="Arial"/>
              </a:rPr>
              <a:t>next-hop IP address </a:t>
            </a:r>
            <a:r>
              <a:rPr b="0" i="0" lang="en-CA" sz="1400" u="none" cap="none" strike="noStrike">
                <a:solidFill>
                  <a:srgbClr val="000000"/>
                </a:solidFill>
                <a:latin typeface="Arial"/>
                <a:ea typeface="Arial"/>
                <a:cs typeface="Arial"/>
                <a:sym typeface="Arial"/>
              </a:rPr>
              <a:t>or </a:t>
            </a:r>
            <a:r>
              <a:rPr b="0" i="0" lang="en-CA" sz="1400" u="none" cap="none" strike="noStrike">
                <a:solidFill>
                  <a:srgbClr val="FF0000"/>
                </a:solidFill>
                <a:latin typeface="Arial"/>
                <a:ea typeface="Arial"/>
                <a:cs typeface="Arial"/>
                <a:sym typeface="Arial"/>
              </a:rPr>
              <a:t>exit interface.</a:t>
            </a:r>
            <a:endParaRPr/>
          </a:p>
          <a:p>
            <a:pPr indent="-166688" lvl="1" marL="371475" marR="0" rtl="0" algn="l">
              <a:lnSpc>
                <a:spcPct val="100000"/>
              </a:lnSpc>
              <a:spcBef>
                <a:spcPts val="600"/>
              </a:spcBef>
              <a:spcAft>
                <a:spcPts val="0"/>
              </a:spcAft>
              <a:buClr>
                <a:schemeClr val="dk2"/>
              </a:buClr>
              <a:buSzPts val="1400"/>
              <a:buFont typeface="Arial"/>
              <a:buChar char="•"/>
            </a:pPr>
            <a:r>
              <a:rPr b="0" i="0" lang="en-CA" sz="1400" u="none" cap="none" strike="noStrike">
                <a:solidFill>
                  <a:srgbClr val="7030A0"/>
                </a:solidFill>
                <a:latin typeface="Arial"/>
                <a:ea typeface="Arial"/>
                <a:cs typeface="Arial"/>
                <a:sym typeface="Arial"/>
              </a:rPr>
              <a:t>Does not match </a:t>
            </a:r>
            <a:r>
              <a:rPr b="0" i="0" lang="en-CA" sz="1400" u="none" cap="none" strike="noStrike">
                <a:solidFill>
                  <a:srgbClr val="000000"/>
                </a:solidFill>
                <a:latin typeface="Arial"/>
                <a:ea typeface="Arial"/>
                <a:cs typeface="Arial"/>
                <a:sym typeface="Arial"/>
              </a:rPr>
              <a:t>a specific route to the destination network, then R1 will use the </a:t>
            </a:r>
            <a:r>
              <a:rPr b="0" i="0" lang="en-CA" sz="1400" u="none" cap="none" strike="noStrike">
                <a:solidFill>
                  <a:srgbClr val="FF0000"/>
                </a:solidFill>
                <a:latin typeface="Arial"/>
                <a:ea typeface="Arial"/>
                <a:cs typeface="Arial"/>
                <a:sym typeface="Arial"/>
              </a:rPr>
              <a:t>default static route </a:t>
            </a:r>
            <a:r>
              <a:rPr b="0" i="0" lang="en-CA" sz="1400" u="none" cap="none" strike="noStrike">
                <a:solidFill>
                  <a:srgbClr val="000000"/>
                </a:solidFill>
                <a:latin typeface="Arial"/>
                <a:ea typeface="Arial"/>
                <a:cs typeface="Arial"/>
                <a:sym typeface="Arial"/>
              </a:rPr>
              <a:t>(if configured).</a:t>
            </a:r>
            <a:endParaRPr/>
          </a:p>
          <a:p>
            <a:pPr indent="-166688" lvl="1" marL="371475" marR="0" rtl="0" algn="l">
              <a:lnSpc>
                <a:spcPct val="100000"/>
              </a:lnSpc>
              <a:spcBef>
                <a:spcPts val="600"/>
              </a:spcBef>
              <a:spcAft>
                <a:spcPts val="0"/>
              </a:spcAft>
              <a:buClr>
                <a:schemeClr val="dk2"/>
              </a:buClr>
              <a:buSzPts val="1400"/>
              <a:buFont typeface="Arial"/>
              <a:buChar char="•"/>
            </a:pPr>
            <a:r>
              <a:rPr b="0" i="0" lang="en-CA" sz="1400" u="none" cap="none" strike="noStrike">
                <a:solidFill>
                  <a:srgbClr val="7030A0"/>
                </a:solidFill>
                <a:latin typeface="Arial"/>
                <a:ea typeface="Arial"/>
                <a:cs typeface="Arial"/>
                <a:sym typeface="Arial"/>
              </a:rPr>
              <a:t>Does not match </a:t>
            </a:r>
            <a:r>
              <a:rPr b="0" i="0" lang="en-CA" sz="1400" u="none" cap="none" strike="noStrike">
                <a:solidFill>
                  <a:srgbClr val="000000"/>
                </a:solidFill>
                <a:latin typeface="Arial"/>
                <a:ea typeface="Arial"/>
                <a:cs typeface="Arial"/>
                <a:sym typeface="Arial"/>
              </a:rPr>
              <a:t>a route table entry, then R1 will </a:t>
            </a:r>
            <a:r>
              <a:rPr b="0" i="0" lang="en-CA" sz="1400" u="none" cap="none" strike="noStrike">
                <a:solidFill>
                  <a:srgbClr val="FF0000"/>
                </a:solidFill>
                <a:latin typeface="Arial"/>
                <a:ea typeface="Arial"/>
                <a:cs typeface="Arial"/>
                <a:sym typeface="Arial"/>
              </a:rPr>
              <a:t>drop</a:t>
            </a:r>
            <a:r>
              <a:rPr b="0" i="0" lang="en-CA" sz="1400" u="none" cap="none" strike="noStrike">
                <a:solidFill>
                  <a:srgbClr val="000000"/>
                </a:solidFill>
                <a:latin typeface="Arial"/>
                <a:ea typeface="Arial"/>
                <a:cs typeface="Arial"/>
                <a:sym typeface="Arial"/>
              </a:rPr>
              <a:t> the packet and </a:t>
            </a:r>
            <a:r>
              <a:rPr b="0" i="0" lang="en-CA" sz="1400" u="none" cap="none" strike="noStrike">
                <a:solidFill>
                  <a:srgbClr val="FF0000"/>
                </a:solidFill>
                <a:latin typeface="Arial"/>
                <a:ea typeface="Arial"/>
                <a:cs typeface="Arial"/>
                <a:sym typeface="Arial"/>
              </a:rPr>
              <a:t>send an ICMP message back </a:t>
            </a:r>
            <a:r>
              <a:rPr b="0" i="0" lang="en-CA" sz="1400" u="none" cap="none" strike="noStrike">
                <a:solidFill>
                  <a:srgbClr val="000000"/>
                </a:solidFill>
                <a:latin typeface="Arial"/>
                <a:ea typeface="Arial"/>
                <a:cs typeface="Arial"/>
                <a:sym typeface="Arial"/>
              </a:rPr>
              <a:t>to the source (i.e., PC1).</a:t>
            </a:r>
            <a:endParaRPr/>
          </a:p>
        </p:txBody>
      </p:sp>
      <p:pic>
        <p:nvPicPr>
          <p:cNvPr id="262" name="Google Shape;262;p4"/>
          <p:cNvPicPr preferRelativeResize="0"/>
          <p:nvPr/>
        </p:nvPicPr>
        <p:blipFill rotWithShape="1">
          <a:blip r:embed="rId3">
            <a:alphaModFix/>
          </a:blip>
          <a:srcRect b="0" l="0" r="0" t="0"/>
          <a:stretch/>
        </p:blipFill>
        <p:spPr>
          <a:xfrm>
            <a:off x="5766575" y="731831"/>
            <a:ext cx="3377425" cy="196435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Packet Processing with Static Routes</a:t>
            </a:r>
            <a:br>
              <a:rPr lang="en-CA"/>
            </a:br>
            <a:r>
              <a:rPr lang="en-CA" sz="2400"/>
              <a:t>Static Routes and Packet Forwarding (Cont.)</a:t>
            </a:r>
            <a:endParaRPr sz="2400"/>
          </a:p>
        </p:txBody>
      </p:sp>
      <p:sp>
        <p:nvSpPr>
          <p:cNvPr id="269" name="Google Shape;269;p5"/>
          <p:cNvSpPr txBox="1"/>
          <p:nvPr>
            <p:ph idx="1" type="body"/>
          </p:nvPr>
        </p:nvSpPr>
        <p:spPr>
          <a:xfrm>
            <a:off x="431971" y="855418"/>
            <a:ext cx="5054429" cy="3727091"/>
          </a:xfrm>
          <a:prstGeom prst="rect">
            <a:avLst/>
          </a:prstGeom>
          <a:noFill/>
          <a:ln>
            <a:noFill/>
          </a:ln>
        </p:spPr>
        <p:txBody>
          <a:bodyPr anchorCtr="0" anchor="t" bIns="45700" lIns="91425" spcFirstLastPara="1" rIns="182875" wrap="square" tIns="45700">
            <a:noAutofit/>
          </a:bodyPr>
          <a:lstStyle/>
          <a:p>
            <a:pPr indent="0" lvl="0" marL="15875" rtl="0" algn="l">
              <a:lnSpc>
                <a:spcPct val="100000"/>
              </a:lnSpc>
              <a:spcBef>
                <a:spcPts val="0"/>
              </a:spcBef>
              <a:spcAft>
                <a:spcPts val="0"/>
              </a:spcAft>
              <a:buClr>
                <a:schemeClr val="dk2"/>
              </a:buClr>
              <a:buSzPts val="1440"/>
              <a:buNone/>
            </a:pPr>
            <a:r>
              <a:rPr lang="en-CA" sz="1600">
                <a:solidFill>
                  <a:srgbClr val="000000"/>
                </a:solidFill>
              </a:rPr>
              <a:t>Assuming </a:t>
            </a:r>
            <a:r>
              <a:rPr lang="en-CA" sz="1600">
                <a:solidFill>
                  <a:srgbClr val="7030A0"/>
                </a:solidFill>
              </a:rPr>
              <a:t>R1</a:t>
            </a:r>
            <a:r>
              <a:rPr lang="en-CA" sz="1600">
                <a:solidFill>
                  <a:srgbClr val="000000"/>
                </a:solidFill>
              </a:rPr>
              <a:t> </a:t>
            </a:r>
            <a:r>
              <a:rPr lang="en-CA" sz="1600">
                <a:solidFill>
                  <a:srgbClr val="FF0000"/>
                </a:solidFill>
              </a:rPr>
              <a:t>matched</a:t>
            </a:r>
            <a:r>
              <a:rPr lang="en-CA" sz="1600">
                <a:solidFill>
                  <a:srgbClr val="000000"/>
                </a:solidFill>
              </a:rPr>
              <a:t> a routing table entry, it encapsulates the packet in a new frame and </a:t>
            </a:r>
            <a:r>
              <a:rPr lang="en-CA" sz="1600">
                <a:solidFill>
                  <a:srgbClr val="FF0000"/>
                </a:solidFill>
              </a:rPr>
              <a:t>forwards</a:t>
            </a:r>
            <a:r>
              <a:rPr lang="en-CA" sz="1600">
                <a:solidFill>
                  <a:srgbClr val="000000"/>
                </a:solidFill>
              </a:rPr>
              <a:t> it out of interface </a:t>
            </a:r>
            <a:r>
              <a:rPr lang="en-CA" sz="1600">
                <a:solidFill>
                  <a:srgbClr val="FF0000"/>
                </a:solidFill>
              </a:rPr>
              <a:t>S0/1/0</a:t>
            </a:r>
            <a:r>
              <a:rPr lang="en-CA" sz="1600">
                <a:solidFill>
                  <a:srgbClr val="000000"/>
                </a:solidFill>
              </a:rPr>
              <a:t> to </a:t>
            </a:r>
            <a:r>
              <a:rPr lang="en-CA" sz="1600">
                <a:solidFill>
                  <a:srgbClr val="FF0000"/>
                </a:solidFill>
              </a:rPr>
              <a:t>R2</a:t>
            </a:r>
            <a:r>
              <a:rPr lang="en-CA" sz="1600">
                <a:solidFill>
                  <a:srgbClr val="000000"/>
                </a:solidFill>
              </a:rPr>
              <a:t>. </a:t>
            </a:r>
            <a:endParaRPr/>
          </a:p>
          <a:p>
            <a:pPr indent="-166688" lvl="0" marL="182563" rtl="0" algn="l">
              <a:lnSpc>
                <a:spcPct val="100000"/>
              </a:lnSpc>
              <a:spcBef>
                <a:spcPts val="600"/>
              </a:spcBef>
              <a:spcAft>
                <a:spcPts val="0"/>
              </a:spcAft>
              <a:buClr>
                <a:schemeClr val="dk2"/>
              </a:buClr>
              <a:buSzPts val="1440"/>
              <a:buFont typeface="Arial"/>
              <a:buChar char="•"/>
            </a:pPr>
            <a:r>
              <a:rPr lang="en-CA" sz="1600">
                <a:solidFill>
                  <a:srgbClr val="7030A0"/>
                </a:solidFill>
              </a:rPr>
              <a:t>R2</a:t>
            </a:r>
            <a:r>
              <a:rPr lang="en-CA" sz="1600">
                <a:solidFill>
                  <a:srgbClr val="000000"/>
                </a:solidFill>
              </a:rPr>
              <a:t> receives the packet on its </a:t>
            </a:r>
            <a:r>
              <a:rPr lang="en-CA" sz="1600">
                <a:solidFill>
                  <a:srgbClr val="FF0000"/>
                </a:solidFill>
              </a:rPr>
              <a:t>S0/1/0</a:t>
            </a:r>
            <a:r>
              <a:rPr lang="en-CA" sz="1600">
                <a:solidFill>
                  <a:srgbClr val="000000"/>
                </a:solidFill>
              </a:rPr>
              <a:t> interface.</a:t>
            </a:r>
            <a:endParaRPr/>
          </a:p>
          <a:p>
            <a:pPr indent="-166688" lvl="0" marL="182563" rtl="0" algn="l">
              <a:lnSpc>
                <a:spcPct val="100000"/>
              </a:lnSpc>
              <a:spcBef>
                <a:spcPts val="600"/>
              </a:spcBef>
              <a:spcAft>
                <a:spcPts val="0"/>
              </a:spcAft>
              <a:buClr>
                <a:schemeClr val="dk2"/>
              </a:buClr>
              <a:buSzPts val="1440"/>
              <a:buFont typeface="Arial"/>
              <a:buChar char="•"/>
            </a:pPr>
            <a:r>
              <a:rPr lang="en-CA" sz="1600">
                <a:solidFill>
                  <a:srgbClr val="000000"/>
                </a:solidFill>
              </a:rPr>
              <a:t>It decapsulates and processes the packet the same way R1 did.</a:t>
            </a:r>
            <a:endParaRPr/>
          </a:p>
          <a:p>
            <a:pPr indent="-166688" lvl="0" marL="182563" rtl="0" algn="l">
              <a:lnSpc>
                <a:spcPct val="100000"/>
              </a:lnSpc>
              <a:spcBef>
                <a:spcPts val="600"/>
              </a:spcBef>
              <a:spcAft>
                <a:spcPts val="0"/>
              </a:spcAft>
              <a:buClr>
                <a:schemeClr val="dk2"/>
              </a:buClr>
              <a:buSzPts val="1440"/>
              <a:buFont typeface="Arial"/>
              <a:buChar char="•"/>
            </a:pPr>
            <a:r>
              <a:rPr lang="en-CA" sz="1600">
                <a:solidFill>
                  <a:srgbClr val="000000"/>
                </a:solidFill>
              </a:rPr>
              <a:t>When R2 finds a </a:t>
            </a:r>
            <a:r>
              <a:rPr lang="en-CA" sz="1600">
                <a:solidFill>
                  <a:srgbClr val="FF0000"/>
                </a:solidFill>
              </a:rPr>
              <a:t>match</a:t>
            </a:r>
            <a:r>
              <a:rPr lang="en-CA" sz="1600">
                <a:solidFill>
                  <a:srgbClr val="000000"/>
                </a:solidFill>
              </a:rPr>
              <a:t> in the routing table, it uses the identified </a:t>
            </a:r>
            <a:r>
              <a:rPr lang="en-CA" sz="1600">
                <a:solidFill>
                  <a:srgbClr val="FF0000"/>
                </a:solidFill>
              </a:rPr>
              <a:t>next-hop IP address </a:t>
            </a:r>
            <a:r>
              <a:rPr lang="en-CA" sz="1600">
                <a:solidFill>
                  <a:srgbClr val="000000"/>
                </a:solidFill>
              </a:rPr>
              <a:t>or </a:t>
            </a:r>
            <a:r>
              <a:rPr lang="en-CA" sz="1600">
                <a:solidFill>
                  <a:srgbClr val="FF0000"/>
                </a:solidFill>
              </a:rPr>
              <a:t>exit interface </a:t>
            </a:r>
            <a:r>
              <a:rPr lang="en-CA" sz="1600">
                <a:solidFill>
                  <a:srgbClr val="000000"/>
                </a:solidFill>
              </a:rPr>
              <a:t>and sends the packet out of its </a:t>
            </a:r>
            <a:r>
              <a:rPr lang="en-CA" sz="1600">
                <a:solidFill>
                  <a:srgbClr val="FF0000"/>
                </a:solidFill>
              </a:rPr>
              <a:t>interface S0/1/1 </a:t>
            </a:r>
            <a:r>
              <a:rPr lang="en-CA" sz="1600">
                <a:solidFill>
                  <a:srgbClr val="000000"/>
                </a:solidFill>
              </a:rPr>
              <a:t>towards R3.</a:t>
            </a:r>
            <a:endParaRPr/>
          </a:p>
          <a:p>
            <a:pPr indent="0" lvl="0" marL="15875" rtl="0" algn="l">
              <a:lnSpc>
                <a:spcPct val="100000"/>
              </a:lnSpc>
              <a:spcBef>
                <a:spcPts val="600"/>
              </a:spcBef>
              <a:spcAft>
                <a:spcPts val="0"/>
              </a:spcAft>
              <a:buClr>
                <a:schemeClr val="dk2"/>
              </a:buClr>
              <a:buSzPts val="1440"/>
              <a:buNone/>
            </a:pPr>
            <a:r>
              <a:t/>
            </a:r>
            <a:endParaRPr sz="1600">
              <a:solidFill>
                <a:srgbClr val="000000"/>
              </a:solidFill>
            </a:endParaRPr>
          </a:p>
        </p:txBody>
      </p:sp>
      <p:sp>
        <p:nvSpPr>
          <p:cNvPr id="270" name="Google Shape;270;p5"/>
          <p:cNvSpPr txBox="1"/>
          <p:nvPr/>
        </p:nvSpPr>
        <p:spPr>
          <a:xfrm>
            <a:off x="431971" y="3018448"/>
            <a:ext cx="8470291" cy="951691"/>
          </a:xfrm>
          <a:prstGeom prst="rect">
            <a:avLst/>
          </a:prstGeom>
          <a:noFill/>
          <a:ln>
            <a:noFill/>
          </a:ln>
        </p:spPr>
        <p:txBody>
          <a:bodyPr anchorCtr="0" anchor="t" bIns="45700" lIns="91425" spcFirstLastPara="1" rIns="182875" wrap="square" tIns="45700">
            <a:noAutofit/>
          </a:bodyPr>
          <a:lstStyle/>
          <a:p>
            <a:pPr indent="-75248" lvl="0" marL="182563" marR="0" rtl="0" algn="l">
              <a:lnSpc>
                <a:spcPct val="100000"/>
              </a:lnSpc>
              <a:spcBef>
                <a:spcPts val="0"/>
              </a:spcBef>
              <a:spcAft>
                <a:spcPts val="0"/>
              </a:spcAft>
              <a:buClr>
                <a:schemeClr val="lt1"/>
              </a:buClr>
              <a:buSzPts val="1440"/>
              <a:buFont typeface="Arial"/>
              <a:buNone/>
            </a:pPr>
            <a:r>
              <a:t/>
            </a:r>
            <a:endParaRPr b="0" i="0" sz="1600">
              <a:solidFill>
                <a:srgbClr val="000000"/>
              </a:solidFill>
              <a:latin typeface="Arial"/>
              <a:ea typeface="Arial"/>
              <a:cs typeface="Arial"/>
              <a:sym typeface="Arial"/>
            </a:endParaRPr>
          </a:p>
        </p:txBody>
      </p:sp>
      <p:pic>
        <p:nvPicPr>
          <p:cNvPr id="271" name="Google Shape;271;p5"/>
          <p:cNvPicPr preferRelativeResize="0"/>
          <p:nvPr/>
        </p:nvPicPr>
        <p:blipFill rotWithShape="1">
          <a:blip r:embed="rId3">
            <a:alphaModFix/>
          </a:blip>
          <a:srcRect b="0" l="0" r="0" t="0"/>
          <a:stretch/>
        </p:blipFill>
        <p:spPr>
          <a:xfrm>
            <a:off x="5318005" y="928988"/>
            <a:ext cx="3677794" cy="196435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Packet Processing with Static Routes</a:t>
            </a:r>
            <a:br>
              <a:rPr lang="en-CA"/>
            </a:br>
            <a:r>
              <a:rPr lang="en-CA" sz="2400"/>
              <a:t>Static Routes and Packet Forwarding (Cont.)</a:t>
            </a:r>
            <a:endParaRPr sz="2400"/>
          </a:p>
        </p:txBody>
      </p:sp>
      <p:sp>
        <p:nvSpPr>
          <p:cNvPr id="278" name="Google Shape;278;p6"/>
          <p:cNvSpPr txBox="1"/>
          <p:nvPr>
            <p:ph idx="1" type="body"/>
          </p:nvPr>
        </p:nvSpPr>
        <p:spPr>
          <a:xfrm>
            <a:off x="221535" y="793627"/>
            <a:ext cx="4982061" cy="2291709"/>
          </a:xfrm>
          <a:prstGeom prst="rect">
            <a:avLst/>
          </a:prstGeom>
          <a:noFill/>
          <a:ln>
            <a:noFill/>
          </a:ln>
        </p:spPr>
        <p:txBody>
          <a:bodyPr anchorCtr="0" anchor="t" bIns="45700" lIns="91425" spcFirstLastPara="1" rIns="182875" wrap="square" tIns="45700">
            <a:noAutofit/>
          </a:bodyPr>
          <a:lstStyle/>
          <a:p>
            <a:pPr indent="-166688" lvl="0" marL="182563" rtl="0" algn="l">
              <a:lnSpc>
                <a:spcPct val="100000"/>
              </a:lnSpc>
              <a:spcBef>
                <a:spcPts val="0"/>
              </a:spcBef>
              <a:spcAft>
                <a:spcPts val="0"/>
              </a:spcAft>
              <a:buClr>
                <a:schemeClr val="dk2"/>
              </a:buClr>
              <a:buSzPts val="1440"/>
              <a:buFont typeface="Arial"/>
              <a:buChar char="•"/>
            </a:pPr>
            <a:r>
              <a:rPr lang="en-CA" sz="1600">
                <a:solidFill>
                  <a:srgbClr val="7030A0"/>
                </a:solidFill>
              </a:rPr>
              <a:t>R3</a:t>
            </a:r>
            <a:r>
              <a:rPr lang="en-CA" sz="1600">
                <a:solidFill>
                  <a:srgbClr val="000000"/>
                </a:solidFill>
              </a:rPr>
              <a:t> receives the packet, decapsulates it, and searches the routing table for a match.</a:t>
            </a:r>
            <a:endParaRPr/>
          </a:p>
          <a:p>
            <a:pPr indent="-166688" lvl="0" marL="182563" rtl="0" algn="l">
              <a:lnSpc>
                <a:spcPct val="100000"/>
              </a:lnSpc>
              <a:spcBef>
                <a:spcPts val="600"/>
              </a:spcBef>
              <a:spcAft>
                <a:spcPts val="0"/>
              </a:spcAft>
              <a:buClr>
                <a:schemeClr val="dk2"/>
              </a:buClr>
              <a:buSzPts val="1440"/>
              <a:buFont typeface="Arial"/>
              <a:buChar char="•"/>
            </a:pPr>
            <a:r>
              <a:rPr lang="en-CA" sz="1600">
                <a:solidFill>
                  <a:srgbClr val="000000"/>
                </a:solidFill>
              </a:rPr>
              <a:t>The </a:t>
            </a:r>
            <a:r>
              <a:rPr lang="en-CA" sz="1600">
                <a:solidFill>
                  <a:srgbClr val="FF0000"/>
                </a:solidFill>
              </a:rPr>
              <a:t>destination IP address </a:t>
            </a:r>
            <a:r>
              <a:rPr lang="en-CA" sz="1600">
                <a:solidFill>
                  <a:srgbClr val="000000"/>
                </a:solidFill>
              </a:rPr>
              <a:t>of PC3 matches the directly connected </a:t>
            </a:r>
            <a:r>
              <a:rPr lang="en-CA" sz="1600">
                <a:solidFill>
                  <a:srgbClr val="FF0000"/>
                </a:solidFill>
              </a:rPr>
              <a:t>G0/0/0 interface</a:t>
            </a:r>
            <a:r>
              <a:rPr lang="en-CA" sz="1600">
                <a:solidFill>
                  <a:srgbClr val="000000"/>
                </a:solidFill>
              </a:rPr>
              <a:t>. Therefore, R3 searches the ARP table for the Layer 2 MAC address of PC3. </a:t>
            </a:r>
            <a:endParaRPr/>
          </a:p>
          <a:p>
            <a:pPr indent="-166688" lvl="0" marL="182563" rtl="0" algn="l">
              <a:lnSpc>
                <a:spcPct val="100000"/>
              </a:lnSpc>
              <a:spcBef>
                <a:spcPts val="600"/>
              </a:spcBef>
              <a:spcAft>
                <a:spcPts val="0"/>
              </a:spcAft>
              <a:buClr>
                <a:schemeClr val="dk2"/>
              </a:buClr>
              <a:buSzPts val="1440"/>
              <a:buFont typeface="Arial"/>
              <a:buChar char="•"/>
            </a:pPr>
            <a:r>
              <a:rPr lang="en-CA" sz="1600">
                <a:solidFill>
                  <a:srgbClr val="000000"/>
                </a:solidFill>
              </a:rPr>
              <a:t>If </a:t>
            </a:r>
            <a:r>
              <a:rPr lang="en-CA" sz="1600">
                <a:solidFill>
                  <a:srgbClr val="FF0000"/>
                </a:solidFill>
              </a:rPr>
              <a:t>no</a:t>
            </a:r>
            <a:r>
              <a:rPr lang="en-CA" sz="1600">
                <a:solidFill>
                  <a:srgbClr val="000000"/>
                </a:solidFill>
              </a:rPr>
              <a:t> ARP entry exists, then R3 sends an ARP request out of the </a:t>
            </a:r>
            <a:r>
              <a:rPr lang="en-CA" sz="1600">
                <a:solidFill>
                  <a:srgbClr val="FF0000"/>
                </a:solidFill>
              </a:rPr>
              <a:t>G0/0/0 interface</a:t>
            </a:r>
            <a:r>
              <a:rPr lang="en-CA" sz="1600">
                <a:solidFill>
                  <a:srgbClr val="000000"/>
                </a:solidFill>
              </a:rPr>
              <a:t>.</a:t>
            </a:r>
            <a:endParaRPr sz="1600">
              <a:solidFill>
                <a:srgbClr val="000000"/>
              </a:solidFill>
            </a:endParaRPr>
          </a:p>
        </p:txBody>
      </p:sp>
      <p:sp>
        <p:nvSpPr>
          <p:cNvPr id="279" name="Google Shape;279;p6"/>
          <p:cNvSpPr txBox="1"/>
          <p:nvPr/>
        </p:nvSpPr>
        <p:spPr>
          <a:xfrm>
            <a:off x="431970" y="3147127"/>
            <a:ext cx="8345488" cy="1674574"/>
          </a:xfrm>
          <a:prstGeom prst="rect">
            <a:avLst/>
          </a:prstGeom>
          <a:noFill/>
          <a:ln>
            <a:noFill/>
          </a:ln>
        </p:spPr>
        <p:txBody>
          <a:bodyPr anchorCtr="0" anchor="t" bIns="45700" lIns="91425" spcFirstLastPara="1" rIns="182875" wrap="square" tIns="45700">
            <a:noAutofit/>
          </a:bodyPr>
          <a:lstStyle/>
          <a:p>
            <a:pPr indent="-166688" lvl="0" marL="182563" marR="0" rtl="0" algn="l">
              <a:lnSpc>
                <a:spcPct val="100000"/>
              </a:lnSpc>
              <a:spcBef>
                <a:spcPts val="0"/>
              </a:spcBef>
              <a:spcAft>
                <a:spcPts val="0"/>
              </a:spcAft>
              <a:buClr>
                <a:srgbClr val="000000"/>
              </a:buClr>
              <a:buSzPts val="1440"/>
              <a:buFont typeface="Arial"/>
              <a:buChar char="•"/>
            </a:pPr>
            <a:r>
              <a:rPr b="0" i="0" lang="en-CA" sz="1600">
                <a:solidFill>
                  <a:srgbClr val="000000"/>
                </a:solidFill>
                <a:latin typeface="Arial"/>
                <a:ea typeface="Arial"/>
                <a:cs typeface="Arial"/>
                <a:sym typeface="Arial"/>
              </a:rPr>
              <a:t>PC3 responds with an ARP reply containing its MAC address.</a:t>
            </a:r>
            <a:endParaRPr/>
          </a:p>
          <a:p>
            <a:pPr indent="-166688" lvl="0" marL="182563" marR="0" rtl="0" algn="l">
              <a:lnSpc>
                <a:spcPct val="100000"/>
              </a:lnSpc>
              <a:spcBef>
                <a:spcPts val="600"/>
              </a:spcBef>
              <a:spcAft>
                <a:spcPts val="0"/>
              </a:spcAft>
              <a:buClr>
                <a:srgbClr val="000000"/>
              </a:buClr>
              <a:buSzPts val="1440"/>
              <a:buFont typeface="Arial"/>
              <a:buChar char="•"/>
            </a:pPr>
            <a:r>
              <a:rPr b="0" i="0" lang="en-CA" sz="1600">
                <a:solidFill>
                  <a:srgbClr val="000000"/>
                </a:solidFill>
                <a:latin typeface="Arial"/>
                <a:ea typeface="Arial"/>
                <a:cs typeface="Arial"/>
                <a:sym typeface="Arial"/>
              </a:rPr>
              <a:t>R3 </a:t>
            </a:r>
            <a:r>
              <a:rPr b="0" i="0" lang="en-CA" sz="1600">
                <a:solidFill>
                  <a:srgbClr val="FF0000"/>
                </a:solidFill>
                <a:latin typeface="Arial"/>
                <a:ea typeface="Arial"/>
                <a:cs typeface="Arial"/>
                <a:sym typeface="Arial"/>
              </a:rPr>
              <a:t>encapsulates</a:t>
            </a:r>
            <a:r>
              <a:rPr b="0" i="0" lang="en-CA" sz="1600">
                <a:solidFill>
                  <a:srgbClr val="000000"/>
                </a:solidFill>
                <a:latin typeface="Arial"/>
                <a:ea typeface="Arial"/>
                <a:cs typeface="Arial"/>
                <a:sym typeface="Arial"/>
              </a:rPr>
              <a:t> the packet in a new frame and uses the PC3 MAC address as the destination MAC address and the G0/0/0 MAC address as the source MAC address.</a:t>
            </a:r>
            <a:endParaRPr/>
          </a:p>
          <a:p>
            <a:pPr indent="-166688" lvl="0" marL="182563" marR="0" rtl="0" algn="l">
              <a:lnSpc>
                <a:spcPct val="100000"/>
              </a:lnSpc>
              <a:spcBef>
                <a:spcPts val="600"/>
              </a:spcBef>
              <a:spcAft>
                <a:spcPts val="0"/>
              </a:spcAft>
              <a:buClr>
                <a:srgbClr val="000000"/>
              </a:buClr>
              <a:buSzPts val="1440"/>
              <a:buFont typeface="Arial"/>
              <a:buChar char="•"/>
            </a:pPr>
            <a:r>
              <a:rPr b="0" i="0" lang="en-CA" sz="1600">
                <a:solidFill>
                  <a:srgbClr val="000000"/>
                </a:solidFill>
                <a:latin typeface="Arial"/>
                <a:ea typeface="Arial"/>
                <a:cs typeface="Arial"/>
                <a:sym typeface="Arial"/>
              </a:rPr>
              <a:t>The frame is forwarded out of </a:t>
            </a:r>
            <a:r>
              <a:rPr b="0" i="0" lang="en-CA" sz="1600">
                <a:solidFill>
                  <a:srgbClr val="FF0000"/>
                </a:solidFill>
                <a:latin typeface="Arial"/>
                <a:ea typeface="Arial"/>
                <a:cs typeface="Arial"/>
                <a:sym typeface="Arial"/>
              </a:rPr>
              <a:t>interface G0/0/0 </a:t>
            </a:r>
            <a:r>
              <a:rPr b="0" i="0" lang="en-CA" sz="1600">
                <a:solidFill>
                  <a:srgbClr val="000000"/>
                </a:solidFill>
                <a:latin typeface="Arial"/>
                <a:ea typeface="Arial"/>
                <a:cs typeface="Arial"/>
                <a:sym typeface="Arial"/>
              </a:rPr>
              <a:t>and PC3 receives and processes it accordingly.</a:t>
            </a:r>
            <a:endParaRPr/>
          </a:p>
          <a:p>
            <a:pPr indent="-75248" lvl="0" marL="182563" marR="0" rtl="0" algn="l">
              <a:lnSpc>
                <a:spcPct val="100000"/>
              </a:lnSpc>
              <a:spcBef>
                <a:spcPts val="600"/>
              </a:spcBef>
              <a:spcAft>
                <a:spcPts val="0"/>
              </a:spcAft>
              <a:buClr>
                <a:schemeClr val="lt1"/>
              </a:buClr>
              <a:buSzPts val="1440"/>
              <a:buFont typeface="Arial"/>
              <a:buNone/>
            </a:pPr>
            <a:r>
              <a:t/>
            </a:r>
            <a:endParaRPr b="0" i="0" sz="1600">
              <a:solidFill>
                <a:srgbClr val="000000"/>
              </a:solidFill>
              <a:latin typeface="Arial"/>
              <a:ea typeface="Arial"/>
              <a:cs typeface="Arial"/>
              <a:sym typeface="Arial"/>
            </a:endParaRPr>
          </a:p>
        </p:txBody>
      </p:sp>
      <p:pic>
        <p:nvPicPr>
          <p:cNvPr id="280" name="Google Shape;280;p6"/>
          <p:cNvPicPr preferRelativeResize="0"/>
          <p:nvPr/>
        </p:nvPicPr>
        <p:blipFill rotWithShape="1">
          <a:blip r:embed="rId3">
            <a:alphaModFix/>
          </a:blip>
          <a:srcRect b="0" l="0" r="0" t="0"/>
          <a:stretch/>
        </p:blipFill>
        <p:spPr>
          <a:xfrm>
            <a:off x="5318005" y="928988"/>
            <a:ext cx="3677794" cy="196435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7"/>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CA">
                <a:solidFill>
                  <a:srgbClr val="AEE8FA"/>
                </a:solidFill>
              </a:rPr>
              <a:t>16.2 Troubleshoot IPv4 Static and Default Route Configuration</a:t>
            </a:r>
            <a:endParaRPr>
              <a:solidFill>
                <a:srgbClr val="AEE8FA"/>
              </a:solidFill>
            </a:endParaRPr>
          </a:p>
        </p:txBody>
      </p:sp>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Troubleshoot IPv4 Static and Default Route Configuration</a:t>
            </a:r>
            <a:br>
              <a:rPr lang="en-CA"/>
            </a:br>
            <a:r>
              <a:rPr lang="en-CA" sz="2400"/>
              <a:t>Network Changes</a:t>
            </a:r>
            <a:endParaRPr/>
          </a:p>
        </p:txBody>
      </p:sp>
      <p:sp>
        <p:nvSpPr>
          <p:cNvPr id="293" name="Google Shape;293;p8"/>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CA" sz="1600">
                <a:solidFill>
                  <a:srgbClr val="000000"/>
                </a:solidFill>
              </a:rPr>
              <a:t>Networks fail for a number of reasons:</a:t>
            </a:r>
            <a:endParaRPr/>
          </a:p>
          <a:p>
            <a:pPr indent="-342900" lvl="0" marL="342900" rtl="0" algn="l">
              <a:lnSpc>
                <a:spcPct val="100000"/>
              </a:lnSpc>
              <a:spcBef>
                <a:spcPts val="320"/>
              </a:spcBef>
              <a:spcAft>
                <a:spcPts val="0"/>
              </a:spcAft>
              <a:buSzPts val="1600"/>
              <a:buFont typeface="Arial"/>
              <a:buChar char="•"/>
            </a:pPr>
            <a:r>
              <a:rPr lang="en-CA" sz="1600">
                <a:solidFill>
                  <a:srgbClr val="000000"/>
                </a:solidFill>
              </a:rPr>
              <a:t>An </a:t>
            </a:r>
            <a:r>
              <a:rPr lang="en-CA" sz="1600">
                <a:solidFill>
                  <a:srgbClr val="FF0000"/>
                </a:solidFill>
              </a:rPr>
              <a:t>interface</a:t>
            </a:r>
            <a:r>
              <a:rPr lang="en-CA" sz="1600">
                <a:solidFill>
                  <a:srgbClr val="000000"/>
                </a:solidFill>
              </a:rPr>
              <a:t> can </a:t>
            </a:r>
            <a:r>
              <a:rPr lang="en-CA" sz="1600">
                <a:solidFill>
                  <a:srgbClr val="FF0000"/>
                </a:solidFill>
              </a:rPr>
              <a:t>fail</a:t>
            </a:r>
            <a:endParaRPr/>
          </a:p>
          <a:p>
            <a:pPr indent="-342900" lvl="0" marL="342900" rtl="0" algn="l">
              <a:lnSpc>
                <a:spcPct val="100000"/>
              </a:lnSpc>
              <a:spcBef>
                <a:spcPts val="320"/>
              </a:spcBef>
              <a:spcAft>
                <a:spcPts val="0"/>
              </a:spcAft>
              <a:buSzPts val="1600"/>
              <a:buFont typeface="Arial"/>
              <a:buChar char="•"/>
            </a:pPr>
            <a:r>
              <a:rPr lang="en-CA" sz="1600">
                <a:solidFill>
                  <a:srgbClr val="000000"/>
                </a:solidFill>
              </a:rPr>
              <a:t>A service provider </a:t>
            </a:r>
            <a:r>
              <a:rPr lang="en-CA" sz="1600">
                <a:solidFill>
                  <a:srgbClr val="FF0000"/>
                </a:solidFill>
              </a:rPr>
              <a:t>drops</a:t>
            </a:r>
            <a:r>
              <a:rPr lang="en-CA" sz="1600">
                <a:solidFill>
                  <a:srgbClr val="000000"/>
                </a:solidFill>
              </a:rPr>
              <a:t> a connection</a:t>
            </a:r>
            <a:endParaRPr/>
          </a:p>
          <a:p>
            <a:pPr indent="-342900" lvl="0" marL="342900" rtl="0" algn="l">
              <a:lnSpc>
                <a:spcPct val="100000"/>
              </a:lnSpc>
              <a:spcBef>
                <a:spcPts val="320"/>
              </a:spcBef>
              <a:spcAft>
                <a:spcPts val="0"/>
              </a:spcAft>
              <a:buSzPts val="1600"/>
              <a:buFont typeface="Arial"/>
              <a:buChar char="•"/>
            </a:pPr>
            <a:r>
              <a:rPr lang="en-CA" sz="1600">
                <a:solidFill>
                  <a:srgbClr val="000000"/>
                </a:solidFill>
              </a:rPr>
              <a:t>Links can become </a:t>
            </a:r>
            <a:r>
              <a:rPr lang="en-CA" sz="1600">
                <a:solidFill>
                  <a:srgbClr val="FF0000"/>
                </a:solidFill>
              </a:rPr>
              <a:t>oversaturated</a:t>
            </a:r>
            <a:endParaRPr/>
          </a:p>
          <a:p>
            <a:pPr indent="-342900" lvl="0" marL="342900" rtl="0" algn="l">
              <a:lnSpc>
                <a:spcPct val="100000"/>
              </a:lnSpc>
              <a:spcBef>
                <a:spcPts val="320"/>
              </a:spcBef>
              <a:spcAft>
                <a:spcPts val="0"/>
              </a:spcAft>
              <a:buSzPts val="1600"/>
              <a:buFont typeface="Arial"/>
              <a:buChar char="•"/>
            </a:pPr>
            <a:r>
              <a:rPr lang="en-CA" sz="1600">
                <a:solidFill>
                  <a:srgbClr val="000000"/>
                </a:solidFill>
              </a:rPr>
              <a:t>An administrator may enter a </a:t>
            </a:r>
            <a:r>
              <a:rPr lang="en-CA" sz="1600">
                <a:solidFill>
                  <a:srgbClr val="FF0000"/>
                </a:solidFill>
              </a:rPr>
              <a:t>wrong</a:t>
            </a:r>
            <a:r>
              <a:rPr lang="en-CA" sz="1600">
                <a:solidFill>
                  <a:srgbClr val="000000"/>
                </a:solidFill>
              </a:rPr>
              <a:t> configuration.</a:t>
            </a:r>
            <a:endParaRPr/>
          </a:p>
          <a:p>
            <a:pPr indent="-241300" lvl="0" marL="34290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320"/>
              </a:spcBef>
              <a:spcAft>
                <a:spcPts val="0"/>
              </a:spcAft>
              <a:buSzPts val="1600"/>
              <a:buNone/>
            </a:pPr>
            <a:r>
              <a:rPr lang="en-CA" sz="1600">
                <a:solidFill>
                  <a:srgbClr val="000000"/>
                </a:solidFill>
              </a:rPr>
              <a:t>Network administrators are responsible for pinpointing and solving the problem.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CA" sz="1600">
                <a:solidFill>
                  <a:srgbClr val="000000"/>
                </a:solidFill>
              </a:rPr>
              <a:t>To efficiently find and solve these issues, it is advantageous to be intimately familiar with tools to help isolate routing problems quickly.</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Troubleshoot IPv4 Static and Default Route Configuration</a:t>
            </a:r>
            <a:br>
              <a:rPr lang="en-CA"/>
            </a:br>
            <a:r>
              <a:rPr lang="en-CA" sz="2400"/>
              <a:t>Common Troubleshooting Commands</a:t>
            </a:r>
            <a:endParaRPr/>
          </a:p>
        </p:txBody>
      </p:sp>
      <p:graphicFrame>
        <p:nvGraphicFramePr>
          <p:cNvPr id="300" name="Google Shape;300;p9"/>
          <p:cNvGraphicFramePr/>
          <p:nvPr/>
        </p:nvGraphicFramePr>
        <p:xfrm>
          <a:off x="798511" y="855419"/>
          <a:ext cx="3000000" cy="3000000"/>
        </p:xfrm>
        <a:graphic>
          <a:graphicData uri="http://schemas.openxmlformats.org/drawingml/2006/table">
            <a:tbl>
              <a:tblPr bandRow="1" firstRow="1">
                <a:noFill/>
                <a:tableStyleId>{CE801907-AC78-44CA-ADAF-86CCCA993BC6}</a:tableStyleId>
              </a:tblPr>
              <a:tblGrid>
                <a:gridCol w="2733600"/>
                <a:gridCol w="5179925"/>
              </a:tblGrid>
              <a:tr h="258275">
                <a:tc>
                  <a:txBody>
                    <a:bodyPr/>
                    <a:lstStyle/>
                    <a:p>
                      <a:pPr indent="0" lvl="0" marL="0" marR="0" rtl="0" algn="l">
                        <a:spcBef>
                          <a:spcPts val="0"/>
                        </a:spcBef>
                        <a:spcAft>
                          <a:spcPts val="0"/>
                        </a:spcAft>
                        <a:buNone/>
                      </a:pPr>
                      <a:r>
                        <a:rPr lang="en-CA" sz="1400" u="none" cap="none" strike="noStrike"/>
                        <a:t>Command</a:t>
                      </a:r>
                      <a:endParaRPr sz="1400"/>
                    </a:p>
                  </a:txBody>
                  <a:tcPr marT="45725" marB="45725" marR="91450" marL="91450"/>
                </a:tc>
                <a:tc>
                  <a:txBody>
                    <a:bodyPr/>
                    <a:lstStyle/>
                    <a:p>
                      <a:pPr indent="0" lvl="0" marL="0" marR="0" rtl="0" algn="l">
                        <a:spcBef>
                          <a:spcPts val="0"/>
                        </a:spcBef>
                        <a:spcAft>
                          <a:spcPts val="0"/>
                        </a:spcAft>
                        <a:buNone/>
                      </a:pPr>
                      <a:r>
                        <a:rPr lang="en-CA" sz="1400"/>
                        <a:t>Description</a:t>
                      </a:r>
                      <a:endParaRPr sz="1400"/>
                    </a:p>
                  </a:txBody>
                  <a:tcPr marT="45725" marB="45725" marR="91450" marL="91450"/>
                </a:tc>
              </a:tr>
              <a:tr h="715725">
                <a:tc>
                  <a:txBody>
                    <a:bodyPr/>
                    <a:lstStyle/>
                    <a:p>
                      <a:pPr indent="0" lvl="0" marL="0" marR="0" rtl="0" algn="l">
                        <a:spcBef>
                          <a:spcPts val="0"/>
                        </a:spcBef>
                        <a:spcAft>
                          <a:spcPts val="0"/>
                        </a:spcAft>
                        <a:buNone/>
                      </a:pPr>
                      <a:r>
                        <a:rPr b="1" lang="en-CA" sz="1400">
                          <a:solidFill>
                            <a:srgbClr val="000000"/>
                          </a:solidFill>
                          <a:latin typeface="Courier New"/>
                          <a:ea typeface="Courier New"/>
                          <a:cs typeface="Courier New"/>
                          <a:sym typeface="Courier New"/>
                        </a:rPr>
                        <a:t>ping</a:t>
                      </a:r>
                      <a:endParaRPr b="1" sz="1400">
                        <a:solidFill>
                          <a:srgbClr val="000000"/>
                        </a:solidFill>
                        <a:latin typeface="Courier New"/>
                        <a:ea typeface="Courier New"/>
                        <a:cs typeface="Courier New"/>
                        <a:sym typeface="Courier New"/>
                      </a:endParaRPr>
                    </a:p>
                  </a:txBody>
                  <a:tcPr marT="45725" marB="45725" marR="91450" marL="91450"/>
                </a:tc>
                <a:tc>
                  <a:txBody>
                    <a:bodyPr/>
                    <a:lstStyle/>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Verify Layer 3 connectivity to destination.</a:t>
                      </a:r>
                      <a:endParaRPr/>
                    </a:p>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Extended pings provide additional options.</a:t>
                      </a:r>
                      <a:endParaRPr sz="1400">
                        <a:solidFill>
                          <a:srgbClr val="000000"/>
                        </a:solidFill>
                        <a:latin typeface="Arial"/>
                        <a:ea typeface="Arial"/>
                        <a:cs typeface="Arial"/>
                        <a:sym typeface="Arial"/>
                      </a:endParaRPr>
                    </a:p>
                  </a:txBody>
                  <a:tcPr marT="45725" marB="45725" marR="91450" marL="91450"/>
                </a:tc>
              </a:tr>
              <a:tr h="563125">
                <a:tc>
                  <a:txBody>
                    <a:bodyPr/>
                    <a:lstStyle/>
                    <a:p>
                      <a:pPr indent="0" lvl="0" marL="0" marR="0" rtl="0" algn="l">
                        <a:spcBef>
                          <a:spcPts val="0"/>
                        </a:spcBef>
                        <a:spcAft>
                          <a:spcPts val="0"/>
                        </a:spcAft>
                        <a:buNone/>
                      </a:pPr>
                      <a:r>
                        <a:rPr b="1" lang="en-CA" sz="1400">
                          <a:solidFill>
                            <a:srgbClr val="000000"/>
                          </a:solidFill>
                          <a:latin typeface="Courier New"/>
                          <a:ea typeface="Courier New"/>
                          <a:cs typeface="Courier New"/>
                          <a:sym typeface="Courier New"/>
                        </a:rPr>
                        <a:t>traceroute</a:t>
                      </a:r>
                      <a:endParaRPr b="1" sz="1400">
                        <a:solidFill>
                          <a:srgbClr val="000000"/>
                        </a:solidFill>
                        <a:latin typeface="Courier New"/>
                        <a:ea typeface="Courier New"/>
                        <a:cs typeface="Courier New"/>
                        <a:sym typeface="Courier New"/>
                      </a:endParaRPr>
                    </a:p>
                  </a:txBody>
                  <a:tcPr marT="45725" marB="45725" marR="91450" marL="91450"/>
                </a:tc>
                <a:tc>
                  <a:txBody>
                    <a:bodyPr/>
                    <a:lstStyle/>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Verify path to destination network.</a:t>
                      </a:r>
                      <a:endParaRPr/>
                    </a:p>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It uses ICMP echo reply messages to determine the hops to the destination.</a:t>
                      </a:r>
                      <a:endParaRPr sz="1400">
                        <a:solidFill>
                          <a:srgbClr val="000000"/>
                        </a:solidFill>
                        <a:latin typeface="Arial"/>
                        <a:ea typeface="Arial"/>
                        <a:cs typeface="Arial"/>
                        <a:sym typeface="Arial"/>
                      </a:endParaRPr>
                    </a:p>
                  </a:txBody>
                  <a:tcPr marT="45725" marB="45725" marR="91450" marL="91450"/>
                </a:tc>
              </a:tr>
              <a:tr h="563125">
                <a:tc>
                  <a:txBody>
                    <a:bodyPr/>
                    <a:lstStyle/>
                    <a:p>
                      <a:pPr indent="0" lvl="0" marL="0" marR="0" rtl="0" algn="l">
                        <a:spcBef>
                          <a:spcPts val="0"/>
                        </a:spcBef>
                        <a:spcAft>
                          <a:spcPts val="0"/>
                        </a:spcAft>
                        <a:buNone/>
                      </a:pPr>
                      <a:r>
                        <a:rPr b="1" lang="en-CA" sz="1400">
                          <a:solidFill>
                            <a:srgbClr val="000000"/>
                          </a:solidFill>
                          <a:latin typeface="Courier New"/>
                          <a:ea typeface="Courier New"/>
                          <a:cs typeface="Courier New"/>
                          <a:sym typeface="Courier New"/>
                        </a:rPr>
                        <a:t>show ip route</a:t>
                      </a:r>
                      <a:endParaRPr b="1" sz="1400">
                        <a:solidFill>
                          <a:srgbClr val="000000"/>
                        </a:solidFill>
                        <a:latin typeface="Courier New"/>
                        <a:ea typeface="Courier New"/>
                        <a:cs typeface="Courier New"/>
                        <a:sym typeface="Courier New"/>
                      </a:endParaRPr>
                    </a:p>
                  </a:txBody>
                  <a:tcPr marT="45725" marB="45725" marR="91450" marL="91450"/>
                </a:tc>
                <a:tc>
                  <a:txBody>
                    <a:bodyPr/>
                    <a:lstStyle/>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Displays the routing table.</a:t>
                      </a:r>
                      <a:endParaRPr/>
                    </a:p>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Used to verify route entries for destination IP addresses.</a:t>
                      </a:r>
                      <a:endParaRPr sz="1400">
                        <a:solidFill>
                          <a:srgbClr val="000000"/>
                        </a:solidFill>
                        <a:latin typeface="Arial"/>
                        <a:ea typeface="Arial"/>
                        <a:cs typeface="Arial"/>
                        <a:sym typeface="Arial"/>
                      </a:endParaRPr>
                    </a:p>
                  </a:txBody>
                  <a:tcPr marT="45725" marB="45725" marR="91450" marL="91450"/>
                </a:tc>
              </a:tr>
              <a:tr h="563125">
                <a:tc>
                  <a:txBody>
                    <a:bodyPr/>
                    <a:lstStyle/>
                    <a:p>
                      <a:pPr indent="0" lvl="0" marL="0" marR="0" rtl="0" algn="l">
                        <a:spcBef>
                          <a:spcPts val="0"/>
                        </a:spcBef>
                        <a:spcAft>
                          <a:spcPts val="0"/>
                        </a:spcAft>
                        <a:buNone/>
                      </a:pPr>
                      <a:r>
                        <a:rPr b="1" lang="en-CA" sz="1400">
                          <a:solidFill>
                            <a:srgbClr val="000000"/>
                          </a:solidFill>
                          <a:latin typeface="Courier New"/>
                          <a:ea typeface="Courier New"/>
                          <a:cs typeface="Courier New"/>
                          <a:sym typeface="Courier New"/>
                        </a:rPr>
                        <a:t>show ip interface brief</a:t>
                      </a:r>
                      <a:endParaRPr b="1" sz="1400">
                        <a:solidFill>
                          <a:srgbClr val="000000"/>
                        </a:solidFill>
                        <a:latin typeface="Courier New"/>
                        <a:ea typeface="Courier New"/>
                        <a:cs typeface="Courier New"/>
                        <a:sym typeface="Courier New"/>
                      </a:endParaRPr>
                    </a:p>
                  </a:txBody>
                  <a:tcPr marT="45725" marB="45725" marR="91450" marL="91450"/>
                </a:tc>
                <a:tc>
                  <a:txBody>
                    <a:bodyPr/>
                    <a:lstStyle/>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Displays the status of device interfaces.</a:t>
                      </a:r>
                      <a:endParaRPr/>
                    </a:p>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Used to verify the operational status and IP address of an interface.</a:t>
                      </a:r>
                      <a:endParaRPr sz="1400">
                        <a:solidFill>
                          <a:srgbClr val="000000"/>
                        </a:solidFill>
                        <a:latin typeface="Arial"/>
                        <a:ea typeface="Arial"/>
                        <a:cs typeface="Arial"/>
                        <a:sym typeface="Arial"/>
                      </a:endParaRPr>
                    </a:p>
                  </a:txBody>
                  <a:tcPr marT="45725" marB="45725" marR="91450" marL="91450"/>
                </a:tc>
              </a:tr>
              <a:tr h="563125">
                <a:tc>
                  <a:txBody>
                    <a:bodyPr/>
                    <a:lstStyle/>
                    <a:p>
                      <a:pPr indent="0" lvl="0" marL="0" marR="0" rtl="0" algn="l">
                        <a:spcBef>
                          <a:spcPts val="0"/>
                        </a:spcBef>
                        <a:spcAft>
                          <a:spcPts val="0"/>
                        </a:spcAft>
                        <a:buNone/>
                      </a:pPr>
                      <a:r>
                        <a:rPr b="1" lang="en-CA" sz="1400">
                          <a:solidFill>
                            <a:srgbClr val="000000"/>
                          </a:solidFill>
                          <a:latin typeface="Courier New"/>
                          <a:ea typeface="Courier New"/>
                          <a:cs typeface="Courier New"/>
                          <a:sym typeface="Courier New"/>
                        </a:rPr>
                        <a:t>show cdp neighbors</a:t>
                      </a:r>
                      <a:endParaRPr b="1" sz="1400">
                        <a:solidFill>
                          <a:srgbClr val="000000"/>
                        </a:solidFill>
                        <a:latin typeface="Courier New"/>
                        <a:ea typeface="Courier New"/>
                        <a:cs typeface="Courier New"/>
                        <a:sym typeface="Courier New"/>
                      </a:endParaRPr>
                    </a:p>
                  </a:txBody>
                  <a:tcPr marT="45725" marB="45725" marR="91450" marL="91450"/>
                </a:tc>
                <a:tc>
                  <a:txBody>
                    <a:bodyPr/>
                    <a:lstStyle/>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Displays a list of directly connected Cisco devices.</a:t>
                      </a:r>
                      <a:endParaRPr/>
                    </a:p>
                    <a:p>
                      <a:pPr indent="-171450" lvl="0" marL="171450" marR="0" rtl="0" algn="l">
                        <a:spcBef>
                          <a:spcPts val="0"/>
                        </a:spcBef>
                        <a:spcAft>
                          <a:spcPts val="0"/>
                        </a:spcAft>
                        <a:buClr>
                          <a:srgbClr val="000000"/>
                        </a:buClr>
                        <a:buSzPts val="1400"/>
                        <a:buFont typeface="Arial"/>
                        <a:buChar char="•"/>
                      </a:pPr>
                      <a:r>
                        <a:rPr lang="en-CA" sz="1400">
                          <a:solidFill>
                            <a:srgbClr val="000000"/>
                          </a:solidFill>
                          <a:latin typeface="Arial"/>
                          <a:ea typeface="Arial"/>
                          <a:cs typeface="Arial"/>
                          <a:sym typeface="Arial"/>
                        </a:rPr>
                        <a:t>Also used to validate Layer 1 and 2 connectivity.</a:t>
                      </a:r>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Troubleshoot IPv4 Static and Default Route Configuration</a:t>
            </a:r>
            <a:br>
              <a:rPr lang="en-CA"/>
            </a:br>
            <a:r>
              <a:rPr lang="en-CA" sz="2400"/>
              <a:t>Solve a Connectivity Problem</a:t>
            </a:r>
            <a:endParaRPr/>
          </a:p>
        </p:txBody>
      </p:sp>
      <p:sp>
        <p:nvSpPr>
          <p:cNvPr id="307" name="Google Shape;307;p10"/>
          <p:cNvSpPr txBox="1"/>
          <p:nvPr>
            <p:ph idx="1" type="body"/>
          </p:nvPr>
        </p:nvSpPr>
        <p:spPr>
          <a:xfrm>
            <a:off x="431971" y="855419"/>
            <a:ext cx="5022898"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CA" sz="1600">
                <a:solidFill>
                  <a:srgbClr val="000000"/>
                </a:solidFill>
              </a:rPr>
              <a:t>Connectivity from PC1 to PC3 fails.</a:t>
            </a:r>
            <a:endParaRPr/>
          </a:p>
          <a:p>
            <a:pPr indent="-342900" lvl="0" marL="342900" rtl="0" algn="l">
              <a:lnSpc>
                <a:spcPct val="100000"/>
              </a:lnSpc>
              <a:spcBef>
                <a:spcPts val="280"/>
              </a:spcBef>
              <a:spcAft>
                <a:spcPts val="0"/>
              </a:spcAft>
              <a:buSzPts val="1400"/>
              <a:buFont typeface="Arial"/>
              <a:buChar char="•"/>
            </a:pPr>
            <a:r>
              <a:rPr lang="en-CA" sz="1400">
                <a:solidFill>
                  <a:srgbClr val="000000"/>
                </a:solidFill>
              </a:rPr>
              <a:t>Extended pings from the R1 G0/0/0 interface to PC3 fail.</a:t>
            </a:r>
            <a:endParaRPr/>
          </a:p>
          <a:p>
            <a:pPr indent="-342900" lvl="0" marL="342900" rtl="0" algn="l">
              <a:lnSpc>
                <a:spcPct val="100000"/>
              </a:lnSpc>
              <a:spcBef>
                <a:spcPts val="280"/>
              </a:spcBef>
              <a:spcAft>
                <a:spcPts val="0"/>
              </a:spcAft>
              <a:buSzPts val="1400"/>
              <a:buFont typeface="Arial"/>
              <a:buChar char="•"/>
            </a:pPr>
            <a:r>
              <a:rPr lang="en-CA" sz="1400">
                <a:solidFill>
                  <a:srgbClr val="000000"/>
                </a:solidFill>
              </a:rPr>
              <a:t>Pings from R1 (i.e., S0/1/0 interface) to R2 are successful.</a:t>
            </a:r>
            <a:endParaRPr/>
          </a:p>
          <a:p>
            <a:pPr indent="-342900" lvl="0" marL="342900" rtl="0" algn="l">
              <a:lnSpc>
                <a:spcPct val="100000"/>
              </a:lnSpc>
              <a:spcBef>
                <a:spcPts val="280"/>
              </a:spcBef>
              <a:spcAft>
                <a:spcPts val="0"/>
              </a:spcAft>
              <a:buSzPts val="1400"/>
              <a:buFont typeface="Arial"/>
              <a:buChar char="•"/>
            </a:pPr>
            <a:r>
              <a:rPr lang="en-CA" sz="1400">
                <a:solidFill>
                  <a:srgbClr val="000000"/>
                </a:solidFill>
              </a:rPr>
              <a:t>Pings from R1 (i.e., S0/1/0 interface) to R3 are successful.</a:t>
            </a:r>
            <a:endParaRPr/>
          </a:p>
        </p:txBody>
      </p:sp>
      <p:sp>
        <p:nvSpPr>
          <p:cNvPr id="308" name="Google Shape;308;p10"/>
          <p:cNvSpPr txBox="1"/>
          <p:nvPr/>
        </p:nvSpPr>
        <p:spPr>
          <a:xfrm>
            <a:off x="369217" y="2695332"/>
            <a:ext cx="4024415" cy="1716331"/>
          </a:xfrm>
          <a:prstGeom prst="rect">
            <a:avLst/>
          </a:prstGeom>
          <a:noFill/>
          <a:ln>
            <a:noFill/>
          </a:ln>
        </p:spPr>
        <p:txBody>
          <a:bodyPr anchorCtr="0" anchor="t" bIns="45700" lIns="91400" spcFirstLastPara="1" rIns="91400" wrap="square" tIns="45700">
            <a:noAutofit/>
          </a:bodyPr>
          <a:lstStyle/>
          <a:p>
            <a:pPr indent="-342900" lvl="0" marL="342900" marR="0" rtl="0" algn="l">
              <a:lnSpc>
                <a:spcPct val="100000"/>
              </a:lnSpc>
              <a:spcBef>
                <a:spcPts val="0"/>
              </a:spcBef>
              <a:spcAft>
                <a:spcPts val="0"/>
              </a:spcAft>
              <a:buClr>
                <a:srgbClr val="000000"/>
              </a:buClr>
              <a:buSzPts val="1600"/>
              <a:buFont typeface="Arial"/>
              <a:buChar char="•"/>
            </a:pPr>
            <a:r>
              <a:rPr b="0" i="0" lang="en-CA" sz="1600">
                <a:solidFill>
                  <a:srgbClr val="000000"/>
                </a:solidFill>
                <a:latin typeface="Arial"/>
                <a:ea typeface="Arial"/>
                <a:cs typeface="Arial"/>
                <a:sym typeface="Arial"/>
              </a:rPr>
              <a:t>R2 routing table reveals the problem and the </a:t>
            </a:r>
            <a:r>
              <a:rPr b="0" i="0" lang="en-CA" sz="1600">
                <a:solidFill>
                  <a:srgbClr val="FF0000"/>
                </a:solidFill>
                <a:latin typeface="Arial"/>
                <a:ea typeface="Arial"/>
                <a:cs typeface="Arial"/>
                <a:sym typeface="Arial"/>
              </a:rPr>
              <a:t>incorrect static route </a:t>
            </a:r>
            <a:r>
              <a:rPr b="0" i="0" lang="en-CA" sz="1600">
                <a:solidFill>
                  <a:srgbClr val="000000"/>
                </a:solidFill>
                <a:latin typeface="Arial"/>
                <a:ea typeface="Arial"/>
                <a:cs typeface="Arial"/>
                <a:sym typeface="Arial"/>
              </a:rPr>
              <a:t>is removed.</a:t>
            </a:r>
            <a:endParaRPr/>
          </a:p>
          <a:p>
            <a:pPr indent="-342900" lvl="0" marL="342900" marR="0" rtl="0" algn="l">
              <a:lnSpc>
                <a:spcPct val="100000"/>
              </a:lnSpc>
              <a:spcBef>
                <a:spcPts val="320"/>
              </a:spcBef>
              <a:spcAft>
                <a:spcPts val="0"/>
              </a:spcAft>
              <a:buClr>
                <a:srgbClr val="000000"/>
              </a:buClr>
              <a:buSzPts val="1600"/>
              <a:buFont typeface="Arial"/>
              <a:buChar char="•"/>
            </a:pPr>
            <a:r>
              <a:rPr b="0" i="0" lang="en-CA" sz="1600">
                <a:solidFill>
                  <a:srgbClr val="000000"/>
                </a:solidFill>
                <a:latin typeface="Arial"/>
                <a:ea typeface="Arial"/>
                <a:cs typeface="Arial"/>
                <a:sym typeface="Arial"/>
              </a:rPr>
              <a:t>A new static route solves the problem.</a:t>
            </a:r>
            <a:endParaRPr/>
          </a:p>
          <a:p>
            <a:pPr indent="-342899" lvl="1" marL="415984" marR="0" rtl="0" algn="l">
              <a:lnSpc>
                <a:spcPct val="95000"/>
              </a:lnSpc>
              <a:spcBef>
                <a:spcPts val="600"/>
              </a:spcBef>
              <a:spcAft>
                <a:spcPts val="0"/>
              </a:spcAft>
              <a:buClr>
                <a:schemeClr val="dk2"/>
              </a:buClr>
              <a:buSzPts val="1000"/>
              <a:buFont typeface="Arial"/>
              <a:buChar char="•"/>
            </a:pPr>
            <a:r>
              <a:rPr b="1" i="0" lang="en-CA" sz="1000" u="none" cap="none" strike="noStrike">
                <a:solidFill>
                  <a:srgbClr val="000000"/>
                </a:solidFill>
                <a:latin typeface="Courier New"/>
                <a:ea typeface="Courier New"/>
                <a:cs typeface="Courier New"/>
                <a:sym typeface="Courier New"/>
              </a:rPr>
              <a:t>ip route 172.16.3.0 255.255.255.0 </a:t>
            </a:r>
            <a:r>
              <a:rPr b="1" i="0" lang="en-CA" sz="1000" u="none" cap="none" strike="noStrike">
                <a:solidFill>
                  <a:srgbClr val="FF0000"/>
                </a:solidFill>
                <a:latin typeface="Courier New"/>
                <a:ea typeface="Courier New"/>
                <a:cs typeface="Courier New"/>
                <a:sym typeface="Courier New"/>
              </a:rPr>
              <a:t>172.16.2.1</a:t>
            </a:r>
            <a:endParaRPr/>
          </a:p>
          <a:p>
            <a:pPr indent="-241300" lvl="0" marL="342900" marR="0" rtl="0" algn="l">
              <a:lnSpc>
                <a:spcPct val="100000"/>
              </a:lnSpc>
              <a:spcBef>
                <a:spcPts val="320"/>
              </a:spcBef>
              <a:spcAft>
                <a:spcPts val="0"/>
              </a:spcAft>
              <a:buClr>
                <a:schemeClr val="lt1"/>
              </a:buClr>
              <a:buSzPts val="1600"/>
              <a:buFont typeface="Arial"/>
              <a:buNone/>
            </a:pPr>
            <a:r>
              <a:t/>
            </a:r>
            <a:endParaRPr b="0" i="0" sz="1600">
              <a:solidFill>
                <a:srgbClr val="000000"/>
              </a:solidFill>
              <a:latin typeface="Arial"/>
              <a:ea typeface="Arial"/>
              <a:cs typeface="Arial"/>
              <a:sym typeface="Arial"/>
            </a:endParaRPr>
          </a:p>
          <a:p>
            <a:pPr indent="-241300" lvl="0" marL="342900" marR="0" rtl="0" algn="l">
              <a:lnSpc>
                <a:spcPct val="100000"/>
              </a:lnSpc>
              <a:spcBef>
                <a:spcPts val="320"/>
              </a:spcBef>
              <a:spcAft>
                <a:spcPts val="0"/>
              </a:spcAft>
              <a:buClr>
                <a:schemeClr val="lt1"/>
              </a:buClr>
              <a:buSzPts val="1600"/>
              <a:buFont typeface="Arial"/>
              <a:buNone/>
            </a:pPr>
            <a:r>
              <a:t/>
            </a:r>
            <a:endParaRPr b="0" i="0" sz="1600">
              <a:solidFill>
                <a:srgbClr val="000000"/>
              </a:solidFill>
              <a:latin typeface="Arial"/>
              <a:ea typeface="Arial"/>
              <a:cs typeface="Arial"/>
              <a:sym typeface="Arial"/>
            </a:endParaRPr>
          </a:p>
        </p:txBody>
      </p:sp>
      <p:pic>
        <p:nvPicPr>
          <p:cNvPr id="309" name="Google Shape;309;p10"/>
          <p:cNvPicPr preferRelativeResize="0"/>
          <p:nvPr/>
        </p:nvPicPr>
        <p:blipFill rotWithShape="1">
          <a:blip r:embed="rId3">
            <a:alphaModFix/>
          </a:blip>
          <a:srcRect b="0" l="0" r="0" t="0"/>
          <a:stretch/>
        </p:blipFill>
        <p:spPr>
          <a:xfrm>
            <a:off x="5454869" y="802869"/>
            <a:ext cx="3327108" cy="1768881"/>
          </a:xfrm>
          <a:prstGeom prst="rect">
            <a:avLst/>
          </a:prstGeom>
          <a:noFill/>
          <a:ln>
            <a:noFill/>
          </a:ln>
        </p:spPr>
      </p:pic>
      <p:sp>
        <p:nvSpPr>
          <p:cNvPr id="310" name="Google Shape;310;p10"/>
          <p:cNvSpPr txBox="1"/>
          <p:nvPr/>
        </p:nvSpPr>
        <p:spPr>
          <a:xfrm>
            <a:off x="4330262" y="2686456"/>
            <a:ext cx="4707960" cy="1883588"/>
          </a:xfrm>
          <a:prstGeom prst="rect">
            <a:avLst/>
          </a:prstGeom>
          <a:noFill/>
          <a:ln cap="flat" cmpd="sng" w="9525">
            <a:solidFill>
              <a:srgbClr val="000000"/>
            </a:solidFill>
            <a:prstDash val="solid"/>
            <a:round/>
            <a:headEnd len="sm" w="sm" type="none"/>
            <a:tailEnd len="sm" w="sm" type="none"/>
          </a:ln>
        </p:spPr>
        <p:txBody>
          <a:bodyPr anchorCtr="0" anchor="t" bIns="45700" lIns="91400" spcFirstLastPara="1" rIns="91400" wrap="square" tIns="45700">
            <a:noAutofit/>
          </a:bodyPr>
          <a:lstStyle/>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R2# </a:t>
            </a:r>
            <a:r>
              <a:rPr b="1" i="0" lang="en-CA" sz="900">
                <a:solidFill>
                  <a:srgbClr val="000000"/>
                </a:solidFill>
                <a:latin typeface="Courier New"/>
                <a:ea typeface="Courier New"/>
                <a:cs typeface="Courier New"/>
                <a:sym typeface="Courier New"/>
              </a:rPr>
              <a:t>show ip route | begin Gateway</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Gateway of last resort is not set</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      172.16.0.0/16 is variably subnetted, 5 subnets, 2 masks </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C	     172.16.1.0/24 is directly connected, GigabitEthernet0/0/0</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L        172.16.1.1/32 is directly connected, GigabitEthernet0/0/0</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C        172.16.2.0/24 is directly connected, Serial0/l/0</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L        172.16.2.2/32 is directly connected, Serial0/l/0</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highlight>
                  <a:srgbClr val="FFFF00"/>
                </a:highlight>
                <a:latin typeface="Courier New"/>
                <a:ea typeface="Courier New"/>
                <a:cs typeface="Courier New"/>
                <a:sym typeface="Courier New"/>
              </a:rPr>
              <a:t>S        172.16.3.0/24 [1/0] via 192.168.1.1</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      192.168.1.0/24 is variably subnetted, 2 subnets, 2 masks </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C        192.168.1.0/24 is directly connected, Serial0/1/1</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L        192.168.1.2/32 is directly connected, Serial0/1/1</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S     192.168.2.0/24 [1/0] via 192.168.1.1 </a:t>
            </a:r>
            <a:endParaRPr/>
          </a:p>
          <a:p>
            <a:pPr indent="-285690" lvl="0" marL="285690" marR="0" rtl="0" algn="l">
              <a:lnSpc>
                <a:spcPct val="100000"/>
              </a:lnSpc>
              <a:spcBef>
                <a:spcPts val="0"/>
              </a:spcBef>
              <a:spcAft>
                <a:spcPts val="0"/>
              </a:spcAft>
              <a:buClr>
                <a:srgbClr val="000000"/>
              </a:buClr>
              <a:buSzPts val="900"/>
              <a:buFont typeface="Arial"/>
              <a:buNone/>
            </a:pPr>
            <a:r>
              <a:rPr b="0" i="0" lang="en-CA" sz="900">
                <a:solidFill>
                  <a:srgbClr val="000000"/>
                </a:solidFill>
                <a:latin typeface="Courier New"/>
                <a:ea typeface="Courier New"/>
                <a:cs typeface="Courier New"/>
                <a:sym typeface="Courier New"/>
              </a:rPr>
              <a:t>R2#</a:t>
            </a:r>
            <a:endParaRPr b="0" i="0" sz="900">
              <a:solidFill>
                <a:srgbClr val="000000"/>
              </a:solidFill>
              <a:latin typeface="Courier New"/>
              <a:ea typeface="Courier New"/>
              <a:cs typeface="Courier New"/>
              <a:sym typeface="Courier New"/>
            </a:endParaRPr>
          </a:p>
          <a:p>
            <a:pPr indent="-285750" lvl="0" marL="342900" marR="0" rtl="0" algn="l">
              <a:lnSpc>
                <a:spcPct val="100000"/>
              </a:lnSpc>
              <a:spcBef>
                <a:spcPts val="0"/>
              </a:spcBef>
              <a:spcAft>
                <a:spcPts val="0"/>
              </a:spcAft>
              <a:buClr>
                <a:schemeClr val="lt1"/>
              </a:buClr>
              <a:buSzPts val="900"/>
              <a:buFont typeface="Arial"/>
              <a:buNone/>
            </a:pPr>
            <a:r>
              <a:t/>
            </a:r>
            <a:endParaRPr b="0" i="0" sz="900">
              <a:solidFill>
                <a:srgbClr val="000000"/>
              </a:solidFill>
              <a:latin typeface="Courier New"/>
              <a:ea typeface="Courier New"/>
              <a:cs typeface="Courier New"/>
              <a:sym typeface="Courier New"/>
            </a:endParaRPr>
          </a:p>
          <a:p>
            <a:pPr indent="-285750" lvl="0" marL="342900" marR="0" rtl="0" algn="l">
              <a:lnSpc>
                <a:spcPct val="100000"/>
              </a:lnSpc>
              <a:spcBef>
                <a:spcPts val="0"/>
              </a:spcBef>
              <a:spcAft>
                <a:spcPts val="0"/>
              </a:spcAft>
              <a:buClr>
                <a:schemeClr val="lt1"/>
              </a:buClr>
              <a:buSzPts val="900"/>
              <a:buFont typeface="Arial"/>
              <a:buNone/>
            </a:pPr>
            <a:r>
              <a:t/>
            </a:r>
            <a:endParaRPr b="0" i="0" sz="900">
              <a:solidFill>
                <a:srgbClr val="000000"/>
              </a:solidFill>
              <a:latin typeface="Courier New"/>
              <a:ea typeface="Courier New"/>
              <a:cs typeface="Courier New"/>
              <a:sym typeface="Courier New"/>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1"/>
          <p:cNvSpPr txBox="1"/>
          <p:nvPr>
            <p:ph type="ctrTitle"/>
          </p:nvPr>
        </p:nvSpPr>
        <p:spPr>
          <a:xfrm>
            <a:off x="416425" y="1747520"/>
            <a:ext cx="8280314" cy="97028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CA">
                <a:solidFill>
                  <a:srgbClr val="AEE8FA"/>
                </a:solidFill>
              </a:rPr>
              <a:t>16.3 Module Practice and Quiz</a:t>
            </a:r>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2"/>
          <p:cNvSpPr txBox="1"/>
          <p:nvPr>
            <p:ph type="title"/>
          </p:nvPr>
        </p:nvSpPr>
        <p:spPr>
          <a:xfrm>
            <a:off x="0" y="0"/>
            <a:ext cx="9144000"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Structured Design</a:t>
            </a:r>
            <a:br>
              <a:rPr lang="en-CA"/>
            </a:br>
            <a:r>
              <a:rPr lang="en-CA" sz="2300"/>
              <a:t>Packet Tracer – Troubleshoot Static and Default Routes</a:t>
            </a:r>
            <a:endParaRPr sz="2300"/>
          </a:p>
        </p:txBody>
      </p:sp>
      <p:sp>
        <p:nvSpPr>
          <p:cNvPr id="323" name="Google Shape;323;p12"/>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CA" sz="1600">
                <a:solidFill>
                  <a:srgbClr val="000000"/>
                </a:solidFill>
              </a:rPr>
              <a:t>In this activity you will troubleshoot and static and default routes and repair any errors that you find.</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Troubleshoot IPv4 static routes.</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Troubleshoot IPv6 static routes.</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Configure IPv4 static routes.</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Configure IPv4 default routes.</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Configure IPv6 static routes.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CA" sz="1600"/>
              <a:t>Structured Design</a:t>
            </a:r>
            <a:br>
              <a:rPr lang="en-CA"/>
            </a:br>
            <a:r>
              <a:rPr lang="en-CA" sz="2400"/>
              <a:t>Lab - Troubleshoot Static and Default Routes</a:t>
            </a:r>
            <a:endParaRPr sz="2400"/>
          </a:p>
        </p:txBody>
      </p:sp>
      <p:sp>
        <p:nvSpPr>
          <p:cNvPr id="330" name="Google Shape;330;p13"/>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CA" sz="1600">
                <a:solidFill>
                  <a:srgbClr val="000000"/>
                </a:solidFill>
              </a:rPr>
              <a:t>In this lab, you will complete the following objectives:</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Evaluate Network Operation.</a:t>
            </a:r>
            <a:endParaRPr/>
          </a:p>
          <a:p>
            <a:pPr indent="-342899" lvl="1" marL="415984" rtl="0" algn="l">
              <a:lnSpc>
                <a:spcPct val="95000"/>
              </a:lnSpc>
              <a:spcBef>
                <a:spcPts val="600"/>
              </a:spcBef>
              <a:spcAft>
                <a:spcPts val="0"/>
              </a:spcAft>
              <a:buSzPts val="1600"/>
              <a:buFont typeface="Arial"/>
              <a:buChar char="•"/>
            </a:pPr>
            <a:r>
              <a:rPr lang="en-CA" sz="1600">
                <a:solidFill>
                  <a:srgbClr val="000000"/>
                </a:solidFill>
              </a:rPr>
              <a:t>Gather information, create an action plan, and implement corrections.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4"/>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CA" sz="1400">
                <a:latin typeface="Arial"/>
                <a:ea typeface="Arial"/>
                <a:cs typeface="Arial"/>
                <a:sym typeface="Arial"/>
              </a:rPr>
              <a:t>Module Practice and Quiz</a:t>
            </a:r>
            <a:br>
              <a:rPr lang="en-CA">
                <a:latin typeface="Arial"/>
                <a:ea typeface="Arial"/>
                <a:cs typeface="Arial"/>
                <a:sym typeface="Arial"/>
              </a:rPr>
            </a:br>
            <a:r>
              <a:rPr lang="en-CA">
                <a:latin typeface="Arial"/>
                <a:ea typeface="Arial"/>
                <a:cs typeface="Arial"/>
                <a:sym typeface="Arial"/>
              </a:rPr>
              <a:t>What did I learn in this module?</a:t>
            </a:r>
            <a:endParaRPr/>
          </a:p>
        </p:txBody>
      </p:sp>
      <p:sp>
        <p:nvSpPr>
          <p:cNvPr id="337" name="Google Shape;337;p14"/>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6688" lvl="0" marL="182563" rtl="0" algn="l">
              <a:lnSpc>
                <a:spcPct val="100000"/>
              </a:lnSpc>
              <a:spcBef>
                <a:spcPts val="0"/>
              </a:spcBef>
              <a:spcAft>
                <a:spcPts val="0"/>
              </a:spcAft>
              <a:buSzPts val="1440"/>
              <a:buFont typeface="Arial"/>
              <a:buChar char="•"/>
            </a:pPr>
            <a:r>
              <a:rPr lang="en-CA" sz="1600"/>
              <a:t>A host sends a packet to another host and sends it to the default gateway address.</a:t>
            </a:r>
            <a:endParaRPr/>
          </a:p>
          <a:p>
            <a:pPr indent="-166688" lvl="0" marL="182563" rtl="0" algn="l">
              <a:lnSpc>
                <a:spcPct val="100000"/>
              </a:lnSpc>
              <a:spcBef>
                <a:spcPts val="600"/>
              </a:spcBef>
              <a:spcAft>
                <a:spcPts val="0"/>
              </a:spcAft>
              <a:buSzPts val="1440"/>
              <a:buFont typeface="Arial"/>
              <a:buChar char="•"/>
            </a:pPr>
            <a:r>
              <a:rPr lang="en-CA" sz="1600"/>
              <a:t>When the packet arrives on a router interface, it decapsulates the packet and searches the routing table for a matching destination network entry.</a:t>
            </a:r>
            <a:endParaRPr/>
          </a:p>
          <a:p>
            <a:pPr indent="-166688" lvl="0" marL="182563" rtl="0" algn="l">
              <a:lnSpc>
                <a:spcPct val="100000"/>
              </a:lnSpc>
              <a:spcBef>
                <a:spcPts val="600"/>
              </a:spcBef>
              <a:spcAft>
                <a:spcPts val="0"/>
              </a:spcAft>
              <a:buSzPts val="1440"/>
              <a:buFont typeface="Arial"/>
              <a:buChar char="•"/>
            </a:pPr>
            <a:r>
              <a:rPr lang="en-CA" sz="1600"/>
              <a:t>If the destination IP address:</a:t>
            </a:r>
            <a:endParaRPr/>
          </a:p>
          <a:p>
            <a:pPr indent="-166688" lvl="1" marL="371475" rtl="0" algn="l">
              <a:lnSpc>
                <a:spcPct val="100000"/>
              </a:lnSpc>
              <a:spcBef>
                <a:spcPts val="600"/>
              </a:spcBef>
              <a:spcAft>
                <a:spcPts val="0"/>
              </a:spcAft>
              <a:buSzPts val="1400"/>
              <a:buFont typeface="Arial"/>
              <a:buChar char="•"/>
            </a:pPr>
            <a:r>
              <a:rPr lang="en-CA"/>
              <a:t>Matches a static route entry, the router will use the static route to identify the next hop IP address or exit interface.</a:t>
            </a:r>
            <a:endParaRPr/>
          </a:p>
          <a:p>
            <a:pPr indent="-166688" lvl="1" marL="371475" rtl="0" algn="l">
              <a:lnSpc>
                <a:spcPct val="100000"/>
              </a:lnSpc>
              <a:spcBef>
                <a:spcPts val="600"/>
              </a:spcBef>
              <a:spcAft>
                <a:spcPts val="0"/>
              </a:spcAft>
              <a:buSzPts val="1400"/>
              <a:buFont typeface="Arial"/>
              <a:buChar char="•"/>
            </a:pPr>
            <a:r>
              <a:rPr lang="en-CA"/>
              <a:t>Does not match a specific route to the destination network, then the router will use the default static route (if configured).</a:t>
            </a:r>
            <a:endParaRPr/>
          </a:p>
          <a:p>
            <a:pPr indent="-166688" lvl="1" marL="371475" rtl="0" algn="l">
              <a:lnSpc>
                <a:spcPct val="100000"/>
              </a:lnSpc>
              <a:spcBef>
                <a:spcPts val="600"/>
              </a:spcBef>
              <a:spcAft>
                <a:spcPts val="0"/>
              </a:spcAft>
              <a:buSzPts val="1400"/>
              <a:buFont typeface="Arial"/>
              <a:buChar char="•"/>
            </a:pPr>
            <a:r>
              <a:rPr lang="en-CA"/>
              <a:t>Does not match a route table entry, then the router will drop the packet and send an ICMP message back to the source.</a:t>
            </a:r>
            <a:endParaRPr/>
          </a:p>
          <a:p>
            <a:pPr indent="-166688" lvl="0" marL="182563" rtl="0" algn="l">
              <a:lnSpc>
                <a:spcPct val="100000"/>
              </a:lnSpc>
              <a:spcBef>
                <a:spcPts val="600"/>
              </a:spcBef>
              <a:spcAft>
                <a:spcPts val="0"/>
              </a:spcAft>
              <a:buSzPts val="1440"/>
              <a:buFont typeface="Arial"/>
              <a:buChar char="•"/>
            </a:pPr>
            <a:r>
              <a:rPr lang="en-CA" sz="1600"/>
              <a:t>If the router matched a routing table entry, then the router encapsulates the packet and forwards it out of the appropriate interface. </a:t>
            </a:r>
            <a:endParaRPr/>
          </a:p>
          <a:p>
            <a:pPr indent="-166688" lvl="0" marL="182563" rtl="0" algn="l">
              <a:lnSpc>
                <a:spcPct val="100000"/>
              </a:lnSpc>
              <a:spcBef>
                <a:spcPts val="600"/>
              </a:spcBef>
              <a:spcAft>
                <a:spcPts val="0"/>
              </a:spcAft>
              <a:buSzPts val="1440"/>
              <a:buFont typeface="Arial"/>
              <a:buChar char="•"/>
            </a:pPr>
            <a:r>
              <a:rPr lang="en-CA" sz="1600"/>
              <a:t>The packet is forwarded from router to router until it reaches its destination network.</a:t>
            </a:r>
            <a:endParaRPr/>
          </a:p>
        </p:txBody>
      </p:sp>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1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CA" sz="1400">
                <a:latin typeface="Arial"/>
                <a:ea typeface="Arial"/>
                <a:cs typeface="Arial"/>
                <a:sym typeface="Arial"/>
              </a:rPr>
              <a:t>Module Practice and Quiz</a:t>
            </a:r>
            <a:br>
              <a:rPr lang="en-CA">
                <a:latin typeface="Arial"/>
                <a:ea typeface="Arial"/>
                <a:cs typeface="Arial"/>
                <a:sym typeface="Arial"/>
              </a:rPr>
            </a:br>
            <a:r>
              <a:rPr lang="en-CA">
                <a:latin typeface="Arial"/>
                <a:ea typeface="Arial"/>
                <a:cs typeface="Arial"/>
                <a:sym typeface="Arial"/>
              </a:rPr>
              <a:t>What did I learn in this module? (Cont.)</a:t>
            </a:r>
            <a:endParaRPr/>
          </a:p>
        </p:txBody>
      </p:sp>
      <p:sp>
        <p:nvSpPr>
          <p:cNvPr id="344" name="Google Shape;344;p1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6688" lvl="0" marL="182563" rtl="0" algn="l">
              <a:lnSpc>
                <a:spcPct val="100000"/>
              </a:lnSpc>
              <a:spcBef>
                <a:spcPts val="0"/>
              </a:spcBef>
              <a:spcAft>
                <a:spcPts val="0"/>
              </a:spcAft>
              <a:buSzPts val="1440"/>
              <a:buFont typeface="Arial"/>
              <a:buChar char="•"/>
            </a:pPr>
            <a:r>
              <a:rPr lang="en-CA" sz="1600"/>
              <a:t>When the packet reaches the destination network, that router will search the routing table for a match.</a:t>
            </a:r>
            <a:endParaRPr/>
          </a:p>
          <a:p>
            <a:pPr indent="-166688" lvl="0" marL="182563" rtl="0" algn="l">
              <a:lnSpc>
                <a:spcPct val="100000"/>
              </a:lnSpc>
              <a:spcBef>
                <a:spcPts val="600"/>
              </a:spcBef>
              <a:spcAft>
                <a:spcPts val="0"/>
              </a:spcAft>
              <a:buSzPts val="1440"/>
              <a:buFont typeface="Arial"/>
              <a:buChar char="•"/>
            </a:pPr>
            <a:r>
              <a:rPr lang="en-CA" sz="1600"/>
              <a:t>When the destination IP address matches a directly connected Ethernet interface, the router searches the ARP table for the Layer 2 MAC address of the destination IP address. </a:t>
            </a:r>
            <a:endParaRPr sz="1600"/>
          </a:p>
          <a:p>
            <a:pPr indent="-166688" lvl="0" marL="182563" rtl="0" algn="l">
              <a:lnSpc>
                <a:spcPct val="100000"/>
              </a:lnSpc>
              <a:spcBef>
                <a:spcPts val="600"/>
              </a:spcBef>
              <a:spcAft>
                <a:spcPts val="0"/>
              </a:spcAft>
              <a:buSzPts val="1440"/>
              <a:buFont typeface="Arial"/>
              <a:buChar char="•"/>
            </a:pPr>
            <a:r>
              <a:rPr lang="en-CA" sz="1600"/>
              <a:t>If no ARP entry exists, the router sends an ARP request out of the Ethernet interface</a:t>
            </a:r>
            <a:endParaRPr/>
          </a:p>
          <a:p>
            <a:pPr indent="-166688" lvl="0" marL="182563" rtl="0" algn="l">
              <a:lnSpc>
                <a:spcPct val="100000"/>
              </a:lnSpc>
              <a:spcBef>
                <a:spcPts val="600"/>
              </a:spcBef>
              <a:spcAft>
                <a:spcPts val="0"/>
              </a:spcAft>
              <a:buSzPts val="1440"/>
              <a:buFont typeface="Arial"/>
              <a:buChar char="•"/>
            </a:pPr>
            <a:r>
              <a:rPr lang="en-CA" sz="1600"/>
              <a:t>The destination host responds with an ARP reply containing its MAC address.</a:t>
            </a:r>
            <a:endParaRPr/>
          </a:p>
          <a:p>
            <a:pPr indent="-166688" lvl="0" marL="182563" rtl="0" algn="l">
              <a:lnSpc>
                <a:spcPct val="100000"/>
              </a:lnSpc>
              <a:spcBef>
                <a:spcPts val="600"/>
              </a:spcBef>
              <a:spcAft>
                <a:spcPts val="0"/>
              </a:spcAft>
              <a:buSzPts val="1440"/>
              <a:buFont typeface="Arial"/>
              <a:buChar char="•"/>
            </a:pPr>
            <a:r>
              <a:rPr lang="en-CA" sz="1600"/>
              <a:t>The router then encapsulates the packet in a new frame. It uses the MAC address of the destination host as the frame destination MAC address, and the MAC address of the router Ethernet interface as the source MAC address in the frame.</a:t>
            </a:r>
            <a:endParaRPr/>
          </a:p>
          <a:p>
            <a:pPr indent="-166688" lvl="0" marL="182563" rtl="0" algn="l">
              <a:lnSpc>
                <a:spcPct val="100000"/>
              </a:lnSpc>
              <a:spcBef>
                <a:spcPts val="600"/>
              </a:spcBef>
              <a:spcAft>
                <a:spcPts val="0"/>
              </a:spcAft>
              <a:buSzPts val="1440"/>
              <a:buFont typeface="Arial"/>
              <a:buChar char="•"/>
            </a:pPr>
            <a:r>
              <a:rPr lang="en-CA" sz="1600"/>
              <a:t>The frame is forwarded out of the appropriate interface.</a:t>
            </a:r>
            <a:endParaRPr/>
          </a:p>
          <a:p>
            <a:pPr indent="-166688" lvl="0" marL="182563" rtl="0" algn="l">
              <a:lnSpc>
                <a:spcPct val="100000"/>
              </a:lnSpc>
              <a:spcBef>
                <a:spcPts val="600"/>
              </a:spcBef>
              <a:spcAft>
                <a:spcPts val="0"/>
              </a:spcAft>
              <a:buSzPts val="1440"/>
              <a:buFont typeface="Arial"/>
              <a:buChar char="•"/>
            </a:pPr>
            <a:r>
              <a:rPr lang="en-CA" sz="1600"/>
              <a:t>The packet arrives on the network interface card (NIC) interface of destination host and is processed accordingly.</a:t>
            </a:r>
            <a:endParaRPr sz="1600"/>
          </a:p>
        </p:txBody>
      </p:sp>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CA" sz="1400">
                <a:latin typeface="Arial"/>
                <a:ea typeface="Arial"/>
                <a:cs typeface="Arial"/>
                <a:sym typeface="Arial"/>
              </a:rPr>
              <a:t>Module Practice and Quiz</a:t>
            </a:r>
            <a:br>
              <a:rPr lang="en-CA">
                <a:latin typeface="Arial"/>
                <a:ea typeface="Arial"/>
                <a:cs typeface="Arial"/>
                <a:sym typeface="Arial"/>
              </a:rPr>
            </a:br>
            <a:r>
              <a:rPr lang="en-CA">
                <a:latin typeface="Arial"/>
                <a:ea typeface="Arial"/>
                <a:cs typeface="Arial"/>
                <a:sym typeface="Arial"/>
              </a:rPr>
              <a:t>What did I learn in this module? (Cont.)</a:t>
            </a:r>
            <a:endParaRPr/>
          </a:p>
        </p:txBody>
      </p:sp>
      <p:sp>
        <p:nvSpPr>
          <p:cNvPr id="351" name="Google Shape;351;p16"/>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0" lvl="0" marL="15875" rtl="0" algn="l">
              <a:lnSpc>
                <a:spcPct val="100000"/>
              </a:lnSpc>
              <a:spcBef>
                <a:spcPts val="0"/>
              </a:spcBef>
              <a:spcAft>
                <a:spcPts val="0"/>
              </a:spcAft>
              <a:buSzPts val="1440"/>
              <a:buNone/>
            </a:pPr>
            <a:r>
              <a:rPr lang="en-CA" sz="1600"/>
              <a:t>Common IOS troubleshooting commands to troubleshoot IPv4 Static and default routes include:</a:t>
            </a:r>
            <a:endParaRPr/>
          </a:p>
          <a:p>
            <a:pPr indent="-166688" lvl="0" marL="182563" rtl="0" algn="l">
              <a:lnSpc>
                <a:spcPct val="100000"/>
              </a:lnSpc>
              <a:spcBef>
                <a:spcPts val="600"/>
              </a:spcBef>
              <a:spcAft>
                <a:spcPts val="0"/>
              </a:spcAft>
              <a:buSzPts val="1260"/>
              <a:buFont typeface="Arial"/>
              <a:buChar char="•"/>
            </a:pPr>
            <a:r>
              <a:rPr b="1" lang="en-CA" sz="1400"/>
              <a:t>ping</a:t>
            </a:r>
            <a:endParaRPr/>
          </a:p>
          <a:p>
            <a:pPr indent="-166688" lvl="0" marL="182563" rtl="0" algn="l">
              <a:lnSpc>
                <a:spcPct val="100000"/>
              </a:lnSpc>
              <a:spcBef>
                <a:spcPts val="600"/>
              </a:spcBef>
              <a:spcAft>
                <a:spcPts val="0"/>
              </a:spcAft>
              <a:buSzPts val="1260"/>
              <a:buFont typeface="Arial"/>
              <a:buChar char="•"/>
            </a:pPr>
            <a:r>
              <a:rPr b="1" lang="en-CA" sz="1400"/>
              <a:t>traceroute</a:t>
            </a:r>
            <a:endParaRPr/>
          </a:p>
          <a:p>
            <a:pPr indent="-166688" lvl="0" marL="182563" rtl="0" algn="l">
              <a:lnSpc>
                <a:spcPct val="100000"/>
              </a:lnSpc>
              <a:spcBef>
                <a:spcPts val="600"/>
              </a:spcBef>
              <a:spcAft>
                <a:spcPts val="0"/>
              </a:spcAft>
              <a:buSzPts val="1260"/>
              <a:buFont typeface="Arial"/>
              <a:buChar char="•"/>
            </a:pPr>
            <a:r>
              <a:rPr b="1" lang="en-CA" sz="1400"/>
              <a:t>show ip route</a:t>
            </a:r>
            <a:endParaRPr/>
          </a:p>
          <a:p>
            <a:pPr indent="-166688" lvl="0" marL="182563" rtl="0" algn="l">
              <a:lnSpc>
                <a:spcPct val="100000"/>
              </a:lnSpc>
              <a:spcBef>
                <a:spcPts val="600"/>
              </a:spcBef>
              <a:spcAft>
                <a:spcPts val="0"/>
              </a:spcAft>
              <a:buSzPts val="1260"/>
              <a:buFont typeface="Arial"/>
              <a:buChar char="•"/>
            </a:pPr>
            <a:r>
              <a:rPr b="1" lang="en-CA" sz="1400"/>
              <a:t>show ip interface brief</a:t>
            </a:r>
            <a:endParaRPr/>
          </a:p>
          <a:p>
            <a:pPr indent="-166688" lvl="0" marL="182563" rtl="0" algn="l">
              <a:lnSpc>
                <a:spcPct val="100000"/>
              </a:lnSpc>
              <a:spcBef>
                <a:spcPts val="600"/>
              </a:spcBef>
              <a:spcAft>
                <a:spcPts val="0"/>
              </a:spcAft>
              <a:buSzPts val="1260"/>
              <a:buFont typeface="Arial"/>
              <a:buChar char="•"/>
            </a:pPr>
            <a:r>
              <a:rPr b="1" lang="en-CA" sz="1400"/>
              <a:t>show cdp neighbors detail</a:t>
            </a:r>
            <a:endParaRPr b="1" sz="1400"/>
          </a:p>
        </p:txBody>
      </p:sp>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