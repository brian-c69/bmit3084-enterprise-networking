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3" r:id="rId2"/>
    <p:sldMasterId id="2147483677" r:id="rId3"/>
  </p:sldMasterIdLst>
  <p:notesMasterIdLst>
    <p:notesMasterId r:id="rId78"/>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29"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2" roundtripDataSignature="AMtx7mjC2gozt6OMBkBUcyxVt5tX7Ksm7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DCACE81-CCCA-460A-ACD2-FE0297909B90}">
  <a:tblStyle styleId="{0DCACE81-CCCA-460A-ACD2-FE0297909B90}"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8EA"/>
          </a:solidFill>
        </a:fill>
      </a:tcStyle>
    </a:wholeTbl>
    <a:band1H>
      <a:tcTxStyle/>
      <a:tcStyle>
        <a:tcBdr/>
        <a:fill>
          <a:solidFill>
            <a:srgbClr val="CACED3"/>
          </a:solidFill>
        </a:fill>
      </a:tcStyle>
    </a:band1H>
    <a:band2H>
      <a:tcTxStyle/>
      <a:tcStyle>
        <a:tcBdr/>
      </a:tcStyle>
    </a:band2H>
    <a:band1V>
      <a:tcTxStyle/>
      <a:tcStyle>
        <a:tcBdr/>
        <a:fill>
          <a:solidFill>
            <a:srgbClr val="CACED3"/>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15620"/>
    <p:restoredTop sz="94660"/>
  </p:normalViewPr>
  <p:slideViewPr>
    <p:cSldViewPr snapToGrid="0">
      <p:cViewPr varScale="1">
        <p:scale>
          <a:sx n="68" d="100"/>
          <a:sy n="68" d="100"/>
        </p:scale>
        <p:origin x="936" y="42"/>
      </p:cViewPr>
      <p:guideLst>
        <p:guide orient="horz" pos="1620"/>
        <p:guide pos="33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viewProps" Target="viewProps.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5" Type="http://schemas.openxmlformats.org/officeDocument/2006/relationships/slide" Target="slides/slide2.xml"/><Relationship Id="rId61" Type="http://schemas.openxmlformats.org/officeDocument/2006/relationships/slide" Target="slides/slide58.xml"/><Relationship Id="rId82" Type="http://customschemas.google.com/relationships/presentationmetadata" Target="metadata"/><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5"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notesMaster" Target="notesMasters/notesMaster1.xml"/><Relationship Id="rId86"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5" name="Google Shape;67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r>
              <a:rPr lang="en-US" b="0"/>
              <a:t>Cisco Networking Academy Program</a:t>
            </a:r>
            <a:endParaRPr/>
          </a:p>
          <a:p>
            <a:pPr marL="0" lvl="0" indent="0" algn="l" rtl="0">
              <a:spcBef>
                <a:spcPts val="0"/>
              </a:spcBef>
              <a:spcAft>
                <a:spcPts val="0"/>
              </a:spcAft>
              <a:buNone/>
            </a:pPr>
            <a:r>
              <a:rPr lang="en-US">
                <a:solidFill>
                  <a:srgbClr val="B6DDE7"/>
                </a:solidFill>
              </a:rPr>
              <a:t>Enterprise Networking, Security, and Automationv7.0 (ENSA)</a:t>
            </a:r>
            <a:endParaRPr/>
          </a:p>
          <a:p>
            <a:pPr marL="0" lvl="0" indent="0" algn="l" rtl="0">
              <a:spcBef>
                <a:spcPts val="0"/>
              </a:spcBef>
              <a:spcAft>
                <a:spcPts val="0"/>
              </a:spcAft>
              <a:buNone/>
            </a:pPr>
            <a:r>
              <a:rPr lang="en-US">
                <a:solidFill>
                  <a:srgbClr val="B6DDE7"/>
                </a:solidFill>
              </a:rPr>
              <a:t>Module 3: Network Security Concepts</a:t>
            </a:r>
            <a:endParaRPr/>
          </a:p>
          <a:p>
            <a:pPr marL="0" lvl="0" indent="0" algn="l" rtl="0">
              <a:spcBef>
                <a:spcPts val="0"/>
              </a:spcBef>
              <a:spcAft>
                <a:spcPts val="0"/>
              </a:spcAft>
              <a:buNone/>
            </a:pPr>
            <a:endParaRPr/>
          </a:p>
        </p:txBody>
      </p:sp>
      <p:sp>
        <p:nvSpPr>
          <p:cNvPr id="676" name="Google Shape;676;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p2:notes"/>
          <p:cNvSpPr txBox="1"/>
          <p:nvPr/>
        </p:nvSpPr>
        <p:spPr>
          <a:xfrm>
            <a:off x="5929313" y="8680450"/>
            <a:ext cx="812800" cy="287338"/>
          </a:xfrm>
          <a:prstGeom prst="rect">
            <a:avLst/>
          </a:prstGeom>
          <a:noFill/>
          <a:ln>
            <a:noFill/>
          </a:ln>
        </p:spPr>
        <p:txBody>
          <a:bodyPr spcFirstLastPara="1" wrap="square" lIns="18800" tIns="0" rIns="18800" bIns="0" anchor="b" anchorCtr="0">
            <a:noAutofit/>
          </a:bodyPr>
          <a:lstStyle/>
          <a:p>
            <a:pPr marL="0" marR="0" lvl="0" indent="0" algn="r" rtl="0">
              <a:spcBef>
                <a:spcPts val="0"/>
              </a:spcBef>
              <a:spcAft>
                <a:spcPts val="0"/>
              </a:spcAft>
              <a:buNone/>
            </a:pPr>
            <a:fld id="{00000000-1234-1234-1234-123412341234}" type="slidenum">
              <a:rPr lang="en-US" sz="800" b="0">
                <a:solidFill>
                  <a:srgbClr val="000000"/>
                </a:solidFill>
                <a:latin typeface="Arial"/>
                <a:ea typeface="Arial"/>
                <a:cs typeface="Arial"/>
                <a:sym typeface="Arial"/>
              </a:rPr>
              <a:t>2</a:t>
            </a:fld>
            <a:endParaRPr sz="800" b="0">
              <a:solidFill>
                <a:srgbClr val="000000"/>
              </a:solidFill>
              <a:latin typeface="Arial"/>
              <a:ea typeface="Arial"/>
              <a:cs typeface="Arial"/>
              <a:sym typeface="Arial"/>
            </a:endParaRPr>
          </a:p>
        </p:txBody>
      </p:sp>
      <p:sp>
        <p:nvSpPr>
          <p:cNvPr id="682" name="Google Shape;6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83" name="Google Shape;683;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0" name="Google Shape;690;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3.1 - Current State of Cybersecurity</a:t>
            </a:r>
            <a:endParaRPr/>
          </a:p>
        </p:txBody>
      </p:sp>
      <p:sp>
        <p:nvSpPr>
          <p:cNvPr id="691" name="Google Shape;691;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6" name="Google Shape;696;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3.1 - Current State of Cybersecurity</a:t>
            </a:r>
            <a:endParaRPr/>
          </a:p>
          <a:p>
            <a:pPr marL="0" lvl="0" indent="0" algn="l" rtl="0">
              <a:spcBef>
                <a:spcPts val="0"/>
              </a:spcBef>
              <a:spcAft>
                <a:spcPts val="0"/>
              </a:spcAft>
              <a:buNone/>
            </a:pPr>
            <a:r>
              <a:rPr lang="en-US">
                <a:solidFill>
                  <a:srgbClr val="B6DDE7"/>
                </a:solidFill>
              </a:rPr>
              <a:t>3.1.1 – Current State of Affairs</a:t>
            </a:r>
            <a:endParaRPr/>
          </a:p>
        </p:txBody>
      </p:sp>
      <p:sp>
        <p:nvSpPr>
          <p:cNvPr id="697" name="Google Shape;697;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4" name="Google Shape;704;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3.1 - Current State of Cybersecurity</a:t>
            </a:r>
            <a:endParaRPr/>
          </a:p>
          <a:p>
            <a:pPr marL="0" lvl="0" indent="0" algn="l" rtl="0">
              <a:spcBef>
                <a:spcPts val="0"/>
              </a:spcBef>
              <a:spcAft>
                <a:spcPts val="0"/>
              </a:spcAft>
              <a:buNone/>
            </a:pPr>
            <a:r>
              <a:rPr lang="en-US">
                <a:solidFill>
                  <a:srgbClr val="B6DDE7"/>
                </a:solidFill>
              </a:rPr>
              <a:t>3.1.2 – Vectors of Network Attacks</a:t>
            </a:r>
            <a:endParaRPr/>
          </a:p>
        </p:txBody>
      </p:sp>
      <p:sp>
        <p:nvSpPr>
          <p:cNvPr id="705" name="Google Shape;705;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2" name="Google Shape;712;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3.1 - Current State of Cybersecurity</a:t>
            </a:r>
            <a:endParaRPr/>
          </a:p>
          <a:p>
            <a:pPr marL="0" lvl="0" indent="0" algn="l" rtl="0">
              <a:spcBef>
                <a:spcPts val="0"/>
              </a:spcBef>
              <a:spcAft>
                <a:spcPts val="0"/>
              </a:spcAft>
              <a:buNone/>
            </a:pPr>
            <a:r>
              <a:rPr lang="en-US">
                <a:solidFill>
                  <a:srgbClr val="B6DDE7"/>
                </a:solidFill>
              </a:rPr>
              <a:t>3.1.3 – Data Loss</a:t>
            </a:r>
            <a:endParaRPr/>
          </a:p>
        </p:txBody>
      </p:sp>
      <p:sp>
        <p:nvSpPr>
          <p:cNvPr id="713" name="Google Shape;713;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9" name="Google Shape;719;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3.1 - Current State of Cybersecurity</a:t>
            </a:r>
            <a:endParaRPr/>
          </a:p>
          <a:p>
            <a:pPr marL="0" lvl="0" indent="0" algn="l" rtl="0">
              <a:spcBef>
                <a:spcPts val="0"/>
              </a:spcBef>
              <a:spcAft>
                <a:spcPts val="0"/>
              </a:spcAft>
              <a:buNone/>
            </a:pPr>
            <a:r>
              <a:rPr lang="en-US">
                <a:solidFill>
                  <a:srgbClr val="B6DDE7"/>
                </a:solidFill>
              </a:rPr>
              <a:t>3.1.3 – Data Loss (Cont.)</a:t>
            </a:r>
            <a:endParaRPr/>
          </a:p>
          <a:p>
            <a:pPr marL="0" lvl="0" indent="0" algn="l" rtl="0">
              <a:spcBef>
                <a:spcPts val="0"/>
              </a:spcBef>
              <a:spcAft>
                <a:spcPts val="0"/>
              </a:spcAft>
              <a:buNone/>
            </a:pPr>
            <a:r>
              <a:rPr lang="en-US">
                <a:solidFill>
                  <a:srgbClr val="B6DDE7"/>
                </a:solidFill>
              </a:rPr>
              <a:t>3.1.4 – Check Your Understanding – Current State of Cybersecurity</a:t>
            </a:r>
            <a:endParaRPr/>
          </a:p>
        </p:txBody>
      </p:sp>
      <p:sp>
        <p:nvSpPr>
          <p:cNvPr id="720" name="Google Shape;720;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6" name="Google Shape;726;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3.2 - Threat Actors</a:t>
            </a:r>
            <a:endParaRPr/>
          </a:p>
        </p:txBody>
      </p:sp>
      <p:sp>
        <p:nvSpPr>
          <p:cNvPr id="727" name="Google Shape;727;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2" name="Google Shape;732;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3.2 - Threat Actors</a:t>
            </a:r>
            <a:endParaRPr/>
          </a:p>
          <a:p>
            <a:pPr marL="0" lvl="0" indent="0" algn="l" rtl="0">
              <a:spcBef>
                <a:spcPts val="0"/>
              </a:spcBef>
              <a:spcAft>
                <a:spcPts val="0"/>
              </a:spcAft>
              <a:buNone/>
            </a:pPr>
            <a:r>
              <a:rPr lang="en-US">
                <a:solidFill>
                  <a:srgbClr val="B6DDE7"/>
                </a:solidFill>
              </a:rPr>
              <a:t>3.2.1 – The Hacker</a:t>
            </a:r>
            <a:endParaRPr/>
          </a:p>
        </p:txBody>
      </p:sp>
      <p:sp>
        <p:nvSpPr>
          <p:cNvPr id="733" name="Google Shape;733;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0" name="Google Shape;740;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3.2 - Threat Actors</a:t>
            </a:r>
            <a:endParaRPr/>
          </a:p>
          <a:p>
            <a:pPr marL="0" lvl="0" indent="0" algn="l" rtl="0">
              <a:spcBef>
                <a:spcPts val="0"/>
              </a:spcBef>
              <a:spcAft>
                <a:spcPts val="0"/>
              </a:spcAft>
              <a:buNone/>
            </a:pPr>
            <a:r>
              <a:rPr lang="en-US">
                <a:solidFill>
                  <a:srgbClr val="B6DDE7"/>
                </a:solidFill>
              </a:rPr>
              <a:t>3.2.2 – </a:t>
            </a:r>
            <a:r>
              <a:rPr lang="en-US" sz="1200"/>
              <a:t>The Evolution of Hackers</a:t>
            </a:r>
            <a:endParaRPr>
              <a:solidFill>
                <a:srgbClr val="B6DDE7"/>
              </a:solidFill>
            </a:endParaRPr>
          </a:p>
        </p:txBody>
      </p:sp>
      <p:sp>
        <p:nvSpPr>
          <p:cNvPr id="741" name="Google Shape;741;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8" name="Google Shape;748;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3.3 - Threat Actor Tools</a:t>
            </a:r>
            <a:endParaRPr/>
          </a:p>
        </p:txBody>
      </p:sp>
      <p:sp>
        <p:nvSpPr>
          <p:cNvPr id="749" name="Google Shape;749;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4" name="Google Shape;754;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3.3 - Threat Actor Tools</a:t>
            </a:r>
            <a:endParaRPr/>
          </a:p>
          <a:p>
            <a:pPr marL="0" lvl="0" indent="0" algn="l" rtl="0">
              <a:spcBef>
                <a:spcPts val="0"/>
              </a:spcBef>
              <a:spcAft>
                <a:spcPts val="0"/>
              </a:spcAft>
              <a:buNone/>
            </a:pPr>
            <a:r>
              <a:rPr lang="en-US">
                <a:solidFill>
                  <a:srgbClr val="B6DDE7"/>
                </a:solidFill>
              </a:rPr>
              <a:t>3.3.1 – Video – Threat Actor Tools</a:t>
            </a:r>
            <a:endParaRPr/>
          </a:p>
        </p:txBody>
      </p:sp>
      <p:sp>
        <p:nvSpPr>
          <p:cNvPr id="755" name="Google Shape;755;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1" name="Google Shape;761;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3.3 - Threat Actor Tools</a:t>
            </a:r>
            <a:endParaRPr/>
          </a:p>
          <a:p>
            <a:pPr marL="0" lvl="0" indent="0" algn="l" rtl="0">
              <a:spcBef>
                <a:spcPts val="0"/>
              </a:spcBef>
              <a:spcAft>
                <a:spcPts val="0"/>
              </a:spcAft>
              <a:buNone/>
            </a:pPr>
            <a:r>
              <a:rPr lang="en-US">
                <a:solidFill>
                  <a:srgbClr val="B6DDE7"/>
                </a:solidFill>
              </a:rPr>
              <a:t>3.3.2 – Introduction to Attack Tools</a:t>
            </a:r>
            <a:endParaRPr/>
          </a:p>
        </p:txBody>
      </p:sp>
      <p:sp>
        <p:nvSpPr>
          <p:cNvPr id="762" name="Google Shape;762;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8" name="Google Shape;768;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3.3 - Threat Actor Tools</a:t>
            </a:r>
            <a:endParaRPr/>
          </a:p>
          <a:p>
            <a:pPr marL="0" lvl="0" indent="0" algn="l" rtl="0">
              <a:spcBef>
                <a:spcPts val="0"/>
              </a:spcBef>
              <a:spcAft>
                <a:spcPts val="0"/>
              </a:spcAft>
              <a:buNone/>
            </a:pPr>
            <a:r>
              <a:rPr lang="en-US">
                <a:solidFill>
                  <a:srgbClr val="B6DDE7"/>
                </a:solidFill>
              </a:rPr>
              <a:t>3.3.3 – </a:t>
            </a:r>
            <a:r>
              <a:rPr lang="en-US" sz="1200"/>
              <a:t>Evolution of Security Tools</a:t>
            </a:r>
            <a:endParaRPr/>
          </a:p>
        </p:txBody>
      </p:sp>
      <p:sp>
        <p:nvSpPr>
          <p:cNvPr id="769" name="Google Shape;769;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6" name="Google Shape;776;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3.3 - Threat Actor Tools</a:t>
            </a:r>
            <a:endParaRPr/>
          </a:p>
          <a:p>
            <a:pPr marL="0" lvl="0" indent="0" algn="l" rtl="0">
              <a:spcBef>
                <a:spcPts val="0"/>
              </a:spcBef>
              <a:spcAft>
                <a:spcPts val="0"/>
              </a:spcAft>
              <a:buNone/>
            </a:pPr>
            <a:r>
              <a:rPr lang="en-US">
                <a:solidFill>
                  <a:srgbClr val="B6DDE7"/>
                </a:solidFill>
              </a:rPr>
              <a:t>3.3.3 – </a:t>
            </a:r>
            <a:r>
              <a:rPr lang="en-US" sz="1200"/>
              <a:t>Evolution of Security Tools (Cont.)</a:t>
            </a:r>
            <a:endParaRPr/>
          </a:p>
        </p:txBody>
      </p:sp>
      <p:sp>
        <p:nvSpPr>
          <p:cNvPr id="777" name="Google Shape;777;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3" name="Google Shape;783;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3.3 - Threat Actor Tools</a:t>
            </a:r>
            <a:endParaRPr/>
          </a:p>
          <a:p>
            <a:pPr marL="0" lvl="0" indent="0" algn="l" rtl="0">
              <a:spcBef>
                <a:spcPts val="0"/>
              </a:spcBef>
              <a:spcAft>
                <a:spcPts val="0"/>
              </a:spcAft>
              <a:buNone/>
            </a:pPr>
            <a:r>
              <a:rPr lang="en-US">
                <a:solidFill>
                  <a:srgbClr val="B6DDE7"/>
                </a:solidFill>
              </a:rPr>
              <a:t>3.3.4 – </a:t>
            </a:r>
            <a:r>
              <a:rPr lang="en-US" sz="1200"/>
              <a:t>Attack Types</a:t>
            </a:r>
            <a:endParaRPr/>
          </a:p>
          <a:p>
            <a:pPr marL="0" lvl="0" indent="0" algn="l" rtl="0">
              <a:spcBef>
                <a:spcPts val="0"/>
              </a:spcBef>
              <a:spcAft>
                <a:spcPts val="0"/>
              </a:spcAft>
              <a:buNone/>
            </a:pPr>
            <a:r>
              <a:rPr lang="en-US" sz="1200"/>
              <a:t>3.3.5 – Check Your Understanding – Threat Actor Tools</a:t>
            </a:r>
            <a:endParaRPr/>
          </a:p>
        </p:txBody>
      </p:sp>
      <p:sp>
        <p:nvSpPr>
          <p:cNvPr id="784" name="Google Shape;784;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0" name="Google Shape;790;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3.4  - Malware</a:t>
            </a:r>
            <a:endParaRPr/>
          </a:p>
        </p:txBody>
      </p:sp>
      <p:sp>
        <p:nvSpPr>
          <p:cNvPr id="791" name="Google Shape;791;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6" name="Google Shape;796;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3.4  - Malware</a:t>
            </a:r>
            <a:endParaRPr/>
          </a:p>
          <a:p>
            <a:pPr marL="0" lvl="0" indent="0" algn="l" rtl="0">
              <a:spcBef>
                <a:spcPts val="0"/>
              </a:spcBef>
              <a:spcAft>
                <a:spcPts val="0"/>
              </a:spcAft>
              <a:buNone/>
            </a:pPr>
            <a:r>
              <a:rPr lang="en-US">
                <a:solidFill>
                  <a:srgbClr val="B6DDE7"/>
                </a:solidFill>
              </a:rPr>
              <a:t>3.4.1 – Overview of Malware</a:t>
            </a:r>
            <a:endParaRPr/>
          </a:p>
        </p:txBody>
      </p:sp>
      <p:sp>
        <p:nvSpPr>
          <p:cNvPr id="797" name="Google Shape;797;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4" name="Google Shape;804;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3.4  - Malware</a:t>
            </a:r>
            <a:endParaRPr/>
          </a:p>
          <a:p>
            <a:pPr marL="0" lvl="0" indent="0" algn="l" rtl="0">
              <a:spcBef>
                <a:spcPts val="0"/>
              </a:spcBef>
              <a:spcAft>
                <a:spcPts val="0"/>
              </a:spcAft>
              <a:buNone/>
            </a:pPr>
            <a:r>
              <a:rPr lang="en-US">
                <a:solidFill>
                  <a:srgbClr val="B6DDE7"/>
                </a:solidFill>
              </a:rPr>
              <a:t>3.4.2 – </a:t>
            </a:r>
            <a:r>
              <a:rPr lang="en-US" sz="1200"/>
              <a:t>Viruses and Trojan Horses</a:t>
            </a:r>
            <a:endParaRPr/>
          </a:p>
        </p:txBody>
      </p:sp>
      <p:sp>
        <p:nvSpPr>
          <p:cNvPr id="805" name="Google Shape;805;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1" name="Google Shape;811;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3.4  - Malware</a:t>
            </a:r>
            <a:endParaRPr/>
          </a:p>
          <a:p>
            <a:pPr marL="0" lvl="0" indent="0" algn="l" rtl="0">
              <a:spcBef>
                <a:spcPts val="0"/>
              </a:spcBef>
              <a:spcAft>
                <a:spcPts val="0"/>
              </a:spcAft>
              <a:buNone/>
            </a:pPr>
            <a:r>
              <a:rPr lang="en-US">
                <a:solidFill>
                  <a:srgbClr val="B6DDE7"/>
                </a:solidFill>
              </a:rPr>
              <a:t>3.4.2 – </a:t>
            </a:r>
            <a:r>
              <a:rPr lang="en-US" sz="1200"/>
              <a:t>Viruses and Trojan Horses (Cont.)</a:t>
            </a:r>
            <a:endParaRPr/>
          </a:p>
        </p:txBody>
      </p:sp>
      <p:sp>
        <p:nvSpPr>
          <p:cNvPr id="812" name="Google Shape;812;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9" name="Google Shape;819;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3.4  - Malware</a:t>
            </a:r>
            <a:endParaRPr/>
          </a:p>
          <a:p>
            <a:pPr marL="0" lvl="0" indent="0" algn="l" rtl="0">
              <a:spcBef>
                <a:spcPts val="0"/>
              </a:spcBef>
              <a:spcAft>
                <a:spcPts val="0"/>
              </a:spcAft>
              <a:buNone/>
            </a:pPr>
            <a:r>
              <a:rPr lang="en-US">
                <a:solidFill>
                  <a:srgbClr val="B6DDE7"/>
                </a:solidFill>
              </a:rPr>
              <a:t>3.4.2 – </a:t>
            </a:r>
            <a:r>
              <a:rPr lang="en-US" sz="1200"/>
              <a:t>Viruses and Trojan Horses (Cont.)</a:t>
            </a:r>
            <a:endParaRPr/>
          </a:p>
        </p:txBody>
      </p:sp>
      <p:sp>
        <p:nvSpPr>
          <p:cNvPr id="820" name="Google Shape;820;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7" name="Google Shape;827;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3.4  - Malware</a:t>
            </a:r>
            <a:endParaRPr/>
          </a:p>
          <a:p>
            <a:pPr marL="0" lvl="0" indent="0" algn="l" rtl="0">
              <a:spcBef>
                <a:spcPts val="0"/>
              </a:spcBef>
              <a:spcAft>
                <a:spcPts val="0"/>
              </a:spcAft>
              <a:buNone/>
            </a:pPr>
            <a:r>
              <a:rPr lang="en-US">
                <a:solidFill>
                  <a:srgbClr val="B6DDE7"/>
                </a:solidFill>
              </a:rPr>
              <a:t>3.4.3 – </a:t>
            </a:r>
            <a:r>
              <a:rPr lang="en-US" sz="1200"/>
              <a:t>Other Types of Malware</a:t>
            </a:r>
            <a:endParaRPr/>
          </a:p>
          <a:p>
            <a:pPr marL="0" lvl="0" indent="0" algn="l" rtl="0">
              <a:spcBef>
                <a:spcPts val="0"/>
              </a:spcBef>
              <a:spcAft>
                <a:spcPts val="0"/>
              </a:spcAft>
              <a:buNone/>
            </a:pPr>
            <a:r>
              <a:rPr lang="en-US" sz="1200"/>
              <a:t>3.4.4 – Check Your Understanding - Malware</a:t>
            </a:r>
            <a:endParaRPr/>
          </a:p>
        </p:txBody>
      </p:sp>
      <p:sp>
        <p:nvSpPr>
          <p:cNvPr id="828" name="Google Shape;828;p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4" name="Google Shape;834;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3.5 - Common Network Attacks</a:t>
            </a:r>
            <a:endParaRPr/>
          </a:p>
          <a:p>
            <a:pPr marL="0" lvl="0" indent="0" algn="l" rtl="0">
              <a:spcBef>
                <a:spcPts val="0"/>
              </a:spcBef>
              <a:spcAft>
                <a:spcPts val="0"/>
              </a:spcAft>
              <a:buNone/>
            </a:pPr>
            <a:endParaRPr/>
          </a:p>
        </p:txBody>
      </p:sp>
      <p:sp>
        <p:nvSpPr>
          <p:cNvPr id="835" name="Google Shape;835;p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p:cNvGrpSpPr/>
        <p:nvPr/>
      </p:nvGrpSpPr>
      <p:grpSpPr>
        <a:xfrm>
          <a:off x="0" y="0"/>
          <a:ext cx="0" cy="0"/>
          <a:chOff x="0" y="0"/>
          <a:chExt cx="0" cy="0"/>
        </a:xfrm>
      </p:grpSpPr>
      <p:sp>
        <p:nvSpPr>
          <p:cNvPr id="839" name="Google Shape;839;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0" name="Google Shape;840;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3.5 - Common Network Attacks</a:t>
            </a:r>
            <a:endParaRPr/>
          </a:p>
          <a:p>
            <a:pPr marL="0" lvl="0" indent="0" algn="l" rtl="0">
              <a:spcBef>
                <a:spcPts val="0"/>
              </a:spcBef>
              <a:spcAft>
                <a:spcPts val="0"/>
              </a:spcAft>
              <a:buNone/>
            </a:pPr>
            <a:r>
              <a:rPr lang="en-US">
                <a:solidFill>
                  <a:srgbClr val="B6DDE7"/>
                </a:solidFill>
              </a:rPr>
              <a:t>3.5.1 - Overview of Common Network Attacks</a:t>
            </a:r>
            <a:endParaRPr/>
          </a:p>
        </p:txBody>
      </p:sp>
      <p:sp>
        <p:nvSpPr>
          <p:cNvPr id="841" name="Google Shape;841;p2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7" name="Google Shape;847;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3.5 - Common Network Attacks</a:t>
            </a:r>
            <a:endParaRPr/>
          </a:p>
          <a:p>
            <a:pPr marL="0" lvl="0" indent="0" algn="l" rtl="0">
              <a:spcBef>
                <a:spcPts val="0"/>
              </a:spcBef>
              <a:spcAft>
                <a:spcPts val="0"/>
              </a:spcAft>
              <a:buNone/>
            </a:pPr>
            <a:r>
              <a:rPr lang="en-US">
                <a:solidFill>
                  <a:srgbClr val="B6DDE7"/>
                </a:solidFill>
              </a:rPr>
              <a:t>3.5.2 -  </a:t>
            </a:r>
            <a:r>
              <a:rPr lang="en-US" sz="1200"/>
              <a:t>Video - Common Network Attacks</a:t>
            </a:r>
            <a:endParaRPr/>
          </a:p>
        </p:txBody>
      </p:sp>
      <p:sp>
        <p:nvSpPr>
          <p:cNvPr id="848" name="Google Shape;848;p2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4" name="Google Shape;854;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3.5 - Common Network Attacks</a:t>
            </a:r>
            <a:endParaRPr/>
          </a:p>
          <a:p>
            <a:pPr marL="0" lvl="0" indent="0" algn="l" rtl="0">
              <a:spcBef>
                <a:spcPts val="0"/>
              </a:spcBef>
              <a:spcAft>
                <a:spcPts val="0"/>
              </a:spcAft>
              <a:buNone/>
            </a:pPr>
            <a:r>
              <a:rPr lang="en-US">
                <a:solidFill>
                  <a:srgbClr val="B6DDE7"/>
                </a:solidFill>
              </a:rPr>
              <a:t>3.5.3 -  </a:t>
            </a:r>
            <a:r>
              <a:rPr lang="en-US" sz="1200"/>
              <a:t>Reconnaissance Attacks</a:t>
            </a:r>
            <a:endParaRPr/>
          </a:p>
        </p:txBody>
      </p:sp>
      <p:sp>
        <p:nvSpPr>
          <p:cNvPr id="855" name="Google Shape;855;p2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1" name="Google Shape;861;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3.5 - Common Network Attacks</a:t>
            </a:r>
            <a:endParaRPr/>
          </a:p>
          <a:p>
            <a:pPr marL="0" lvl="0" indent="0" algn="l" rtl="0">
              <a:spcBef>
                <a:spcPts val="0"/>
              </a:spcBef>
              <a:spcAft>
                <a:spcPts val="0"/>
              </a:spcAft>
              <a:buNone/>
            </a:pPr>
            <a:r>
              <a:rPr lang="en-US">
                <a:solidFill>
                  <a:srgbClr val="B6DDE7"/>
                </a:solidFill>
              </a:rPr>
              <a:t>3.5.3 -  </a:t>
            </a:r>
            <a:r>
              <a:rPr lang="en-US" sz="1200"/>
              <a:t>Reconnaissance Attacks (Cont.)</a:t>
            </a:r>
            <a:endParaRPr/>
          </a:p>
        </p:txBody>
      </p:sp>
      <p:sp>
        <p:nvSpPr>
          <p:cNvPr id="862" name="Google Shape;862;p2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9" name="Google Shape;869;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3.5 - Common Network Attacks</a:t>
            </a:r>
            <a:endParaRPr/>
          </a:p>
          <a:p>
            <a:pPr marL="0" lvl="0" indent="0" algn="l" rtl="0">
              <a:spcBef>
                <a:spcPts val="0"/>
              </a:spcBef>
              <a:spcAft>
                <a:spcPts val="0"/>
              </a:spcAft>
              <a:buNone/>
            </a:pPr>
            <a:r>
              <a:rPr lang="en-US">
                <a:solidFill>
                  <a:srgbClr val="B6DDE7"/>
                </a:solidFill>
              </a:rPr>
              <a:t>3.5.4 -  </a:t>
            </a:r>
            <a:r>
              <a:rPr lang="en-US" sz="1200"/>
              <a:t>Video – Access and Social Engineering Attacks</a:t>
            </a:r>
            <a:endParaRPr/>
          </a:p>
        </p:txBody>
      </p:sp>
      <p:sp>
        <p:nvSpPr>
          <p:cNvPr id="870" name="Google Shape;870;p2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6" name="Google Shape;876;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3.5 - Common Network Attacks</a:t>
            </a:r>
            <a:endParaRPr/>
          </a:p>
          <a:p>
            <a:pPr marL="0" lvl="0" indent="0" algn="l" rtl="0">
              <a:spcBef>
                <a:spcPts val="0"/>
              </a:spcBef>
              <a:spcAft>
                <a:spcPts val="0"/>
              </a:spcAft>
              <a:buNone/>
            </a:pPr>
            <a:r>
              <a:rPr lang="en-US">
                <a:solidFill>
                  <a:srgbClr val="B6DDE7"/>
                </a:solidFill>
              </a:rPr>
              <a:t>3.5.5 - </a:t>
            </a:r>
            <a:r>
              <a:rPr lang="en-US" sz="1200"/>
              <a:t>Access Attacks</a:t>
            </a:r>
            <a:endParaRPr/>
          </a:p>
        </p:txBody>
      </p:sp>
      <p:sp>
        <p:nvSpPr>
          <p:cNvPr id="877" name="Google Shape;877;p2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3.5 - Common Network Attacks</a:t>
            </a:r>
            <a:endParaRPr/>
          </a:p>
          <a:p>
            <a:pPr marL="0" lvl="0" indent="0" algn="l" rtl="0">
              <a:spcBef>
                <a:spcPts val="0"/>
              </a:spcBef>
              <a:spcAft>
                <a:spcPts val="0"/>
              </a:spcAft>
              <a:buNone/>
            </a:pPr>
            <a:r>
              <a:rPr lang="en-US">
                <a:solidFill>
                  <a:srgbClr val="B6DDE7"/>
                </a:solidFill>
              </a:rPr>
              <a:t>3.5.6 - </a:t>
            </a:r>
            <a:r>
              <a:rPr lang="en-US" sz="1200"/>
              <a:t>Social Engineering Attacks</a:t>
            </a:r>
            <a:endParaRPr/>
          </a:p>
        </p:txBody>
      </p:sp>
      <p:sp>
        <p:nvSpPr>
          <p:cNvPr id="884" name="Google Shape;884;p3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0" name="Google Shape;890;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3.5 - Common Network Attacks</a:t>
            </a:r>
            <a:endParaRPr/>
          </a:p>
          <a:p>
            <a:pPr marL="0" lvl="0" indent="0" algn="l" rtl="0">
              <a:spcBef>
                <a:spcPts val="0"/>
              </a:spcBef>
              <a:spcAft>
                <a:spcPts val="0"/>
              </a:spcAft>
              <a:buNone/>
            </a:pPr>
            <a:r>
              <a:rPr lang="en-US">
                <a:solidFill>
                  <a:srgbClr val="B6DDE7"/>
                </a:solidFill>
              </a:rPr>
              <a:t>3.5.6 - </a:t>
            </a:r>
            <a:r>
              <a:rPr lang="en-US" sz="1200"/>
              <a:t>Social Engineering Attacks (Cont.)</a:t>
            </a:r>
            <a:endParaRPr/>
          </a:p>
        </p:txBody>
      </p:sp>
      <p:sp>
        <p:nvSpPr>
          <p:cNvPr id="891" name="Google Shape;891;p3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7" name="Google Shape;897;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3.5 - Common Network Attacks</a:t>
            </a:r>
            <a:endParaRPr/>
          </a:p>
          <a:p>
            <a:pPr marL="0" lvl="0" indent="0" algn="l" rtl="0">
              <a:spcBef>
                <a:spcPts val="0"/>
              </a:spcBef>
              <a:spcAft>
                <a:spcPts val="0"/>
              </a:spcAft>
              <a:buNone/>
            </a:pPr>
            <a:r>
              <a:rPr lang="en-US">
                <a:solidFill>
                  <a:srgbClr val="B6DDE7"/>
                </a:solidFill>
              </a:rPr>
              <a:t>3.5.6 - </a:t>
            </a:r>
            <a:r>
              <a:rPr lang="en-US" sz="1200"/>
              <a:t>Social Engineering Attacks (Cont.)</a:t>
            </a:r>
            <a:endParaRPr/>
          </a:p>
        </p:txBody>
      </p:sp>
      <p:sp>
        <p:nvSpPr>
          <p:cNvPr id="898" name="Google Shape;898;p3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5" name="Google Shape;905;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3.5 - Common Network Attacks</a:t>
            </a:r>
            <a:endParaRPr/>
          </a:p>
          <a:p>
            <a:pPr marL="0" lvl="0" indent="0" algn="l" rtl="0">
              <a:spcBef>
                <a:spcPts val="0"/>
              </a:spcBef>
              <a:spcAft>
                <a:spcPts val="0"/>
              </a:spcAft>
              <a:buNone/>
            </a:pPr>
            <a:r>
              <a:rPr lang="en-US">
                <a:solidFill>
                  <a:srgbClr val="B6DDE7"/>
                </a:solidFill>
              </a:rPr>
              <a:t>3.5.7 - </a:t>
            </a:r>
            <a:r>
              <a:rPr lang="en-US" sz="1200"/>
              <a:t>Lab - Social Engineering</a:t>
            </a:r>
            <a:endParaRPr/>
          </a:p>
        </p:txBody>
      </p:sp>
      <p:sp>
        <p:nvSpPr>
          <p:cNvPr id="906" name="Google Shape;906;p3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2" name="Google Shape;912;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3.5 - Common Network Attacks</a:t>
            </a:r>
            <a:endParaRPr/>
          </a:p>
          <a:p>
            <a:pPr marL="0" lvl="0" indent="0" algn="l" rtl="0">
              <a:spcBef>
                <a:spcPts val="0"/>
              </a:spcBef>
              <a:spcAft>
                <a:spcPts val="0"/>
              </a:spcAft>
              <a:buNone/>
            </a:pPr>
            <a:r>
              <a:rPr lang="en-US">
                <a:solidFill>
                  <a:srgbClr val="B6DDE7"/>
                </a:solidFill>
              </a:rPr>
              <a:t>3.5.8 – </a:t>
            </a:r>
            <a:r>
              <a:rPr lang="en-US" sz="1200"/>
              <a:t>Video – Denial of Service Attacks</a:t>
            </a:r>
            <a:endParaRPr/>
          </a:p>
        </p:txBody>
      </p:sp>
      <p:sp>
        <p:nvSpPr>
          <p:cNvPr id="913" name="Google Shape;913;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9" name="Google Shape;919;p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solidFill>
                  <a:srgbClr val="B6DDE7"/>
                </a:solidFill>
              </a:rPr>
              <a:t>3.5 - Common Network Attacks</a:t>
            </a:r>
            <a:endParaRPr/>
          </a:p>
          <a:p>
            <a:pPr marL="0" lvl="0" indent="0" algn="l" rtl="0">
              <a:spcBef>
                <a:spcPts val="0"/>
              </a:spcBef>
              <a:spcAft>
                <a:spcPts val="0"/>
              </a:spcAft>
              <a:buNone/>
            </a:pPr>
            <a:r>
              <a:rPr lang="en-US">
                <a:solidFill>
                  <a:srgbClr val="B6DDE7"/>
                </a:solidFill>
              </a:rPr>
              <a:t>3.5.9 - </a:t>
            </a:r>
            <a:r>
              <a:rPr lang="en-US" sz="1200"/>
              <a:t>DoS and DDoS Attacks</a:t>
            </a:r>
            <a:endParaRPr/>
          </a:p>
          <a:p>
            <a:pPr marL="0" lvl="0" indent="0" algn="l" rtl="0">
              <a:spcBef>
                <a:spcPts val="0"/>
              </a:spcBef>
              <a:spcAft>
                <a:spcPts val="0"/>
              </a:spcAft>
              <a:buNone/>
            </a:pPr>
            <a:r>
              <a:rPr lang="en-US" sz="1200"/>
              <a:t>3.5.10 – Check Your Understanding – Common Network Attacks</a:t>
            </a:r>
            <a:endParaRPr/>
          </a:p>
        </p:txBody>
      </p:sp>
      <p:sp>
        <p:nvSpPr>
          <p:cNvPr id="920" name="Google Shape;920;p3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6" name="Google Shape;926;p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3.6 - </a:t>
            </a:r>
            <a:r>
              <a:rPr lang="en-US">
                <a:solidFill>
                  <a:srgbClr val="B6DDE7"/>
                </a:solidFill>
              </a:rPr>
              <a:t>IP Vulnerabilities and Threats</a:t>
            </a:r>
            <a:endParaRPr/>
          </a:p>
        </p:txBody>
      </p:sp>
      <p:sp>
        <p:nvSpPr>
          <p:cNvPr id="927" name="Google Shape;927;p3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0"/>
        <p:cNvGrpSpPr/>
        <p:nvPr/>
      </p:nvGrpSpPr>
      <p:grpSpPr>
        <a:xfrm>
          <a:off x="0" y="0"/>
          <a:ext cx="0" cy="0"/>
          <a:chOff x="0" y="0"/>
          <a:chExt cx="0" cy="0"/>
        </a:xfrm>
      </p:grpSpPr>
      <p:sp>
        <p:nvSpPr>
          <p:cNvPr id="931" name="Google Shape;93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2" name="Google Shape;932;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3.6 - </a:t>
            </a:r>
            <a:r>
              <a:rPr lang="en-US">
                <a:solidFill>
                  <a:srgbClr val="B6DDE7"/>
                </a:solidFill>
              </a:rPr>
              <a:t>IP Vulnerabilities and Threats</a:t>
            </a:r>
            <a:endParaRPr/>
          </a:p>
          <a:p>
            <a:pPr marL="0" lvl="0" indent="0" algn="l" rtl="0">
              <a:spcBef>
                <a:spcPts val="0"/>
              </a:spcBef>
              <a:spcAft>
                <a:spcPts val="0"/>
              </a:spcAft>
              <a:buNone/>
            </a:pPr>
            <a:r>
              <a:rPr lang="en-US">
                <a:solidFill>
                  <a:srgbClr val="B6DDE7"/>
                </a:solidFill>
              </a:rPr>
              <a:t>3.6.1 - </a:t>
            </a:r>
            <a:r>
              <a:rPr lang="en-US" sz="1200"/>
              <a:t>Video – Common IP and ICMP Attacks</a:t>
            </a:r>
            <a:endParaRPr/>
          </a:p>
        </p:txBody>
      </p:sp>
      <p:sp>
        <p:nvSpPr>
          <p:cNvPr id="933" name="Google Shape;933;p3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9" name="Google Shape;939;p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3.6 - </a:t>
            </a:r>
            <a:r>
              <a:rPr lang="en-US">
                <a:solidFill>
                  <a:srgbClr val="B6DDE7"/>
                </a:solidFill>
              </a:rPr>
              <a:t>IP Vulnerabilities and Threats</a:t>
            </a:r>
            <a:endParaRPr/>
          </a:p>
          <a:p>
            <a:pPr marL="0" lvl="0" indent="0" algn="l" rtl="0">
              <a:spcBef>
                <a:spcPts val="0"/>
              </a:spcBef>
              <a:spcAft>
                <a:spcPts val="0"/>
              </a:spcAft>
              <a:buNone/>
            </a:pPr>
            <a:r>
              <a:rPr lang="en-US">
                <a:solidFill>
                  <a:srgbClr val="B6DDE7"/>
                </a:solidFill>
              </a:rPr>
              <a:t>3.6.2 - </a:t>
            </a:r>
            <a:r>
              <a:rPr lang="en-US" sz="1200"/>
              <a:t>IPv4 and IPv6</a:t>
            </a:r>
            <a:endParaRPr/>
          </a:p>
        </p:txBody>
      </p:sp>
      <p:sp>
        <p:nvSpPr>
          <p:cNvPr id="940" name="Google Shape;940;p3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7" name="Google Shape;947;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3.6 - </a:t>
            </a:r>
            <a:r>
              <a:rPr lang="en-US">
                <a:solidFill>
                  <a:srgbClr val="B6DDE7"/>
                </a:solidFill>
              </a:rPr>
              <a:t>IP Vulnerabilities and Threats</a:t>
            </a:r>
            <a:endParaRPr/>
          </a:p>
          <a:p>
            <a:pPr marL="0" lvl="0" indent="0" algn="l" rtl="0">
              <a:spcBef>
                <a:spcPts val="0"/>
              </a:spcBef>
              <a:spcAft>
                <a:spcPts val="0"/>
              </a:spcAft>
              <a:buNone/>
            </a:pPr>
            <a:r>
              <a:rPr lang="en-US">
                <a:solidFill>
                  <a:srgbClr val="B6DDE7"/>
                </a:solidFill>
              </a:rPr>
              <a:t>3.6.3 - </a:t>
            </a:r>
            <a:r>
              <a:rPr lang="en-US" sz="1200"/>
              <a:t>ICMP Attacks</a:t>
            </a:r>
            <a:endParaRPr/>
          </a:p>
        </p:txBody>
      </p:sp>
      <p:sp>
        <p:nvSpPr>
          <p:cNvPr id="948" name="Google Shape;948;p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4" name="Google Shape;9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3.6 - </a:t>
            </a:r>
            <a:r>
              <a:rPr lang="en-US">
                <a:solidFill>
                  <a:srgbClr val="B6DDE7"/>
                </a:solidFill>
              </a:rPr>
              <a:t>IP Vulnerabilities and Threats</a:t>
            </a:r>
            <a:endParaRPr/>
          </a:p>
          <a:p>
            <a:pPr marL="0" lvl="0" indent="0" algn="l" rtl="0">
              <a:spcBef>
                <a:spcPts val="0"/>
              </a:spcBef>
              <a:spcAft>
                <a:spcPts val="0"/>
              </a:spcAft>
              <a:buNone/>
            </a:pPr>
            <a:r>
              <a:rPr lang="en-US">
                <a:solidFill>
                  <a:srgbClr val="B6DDE7"/>
                </a:solidFill>
              </a:rPr>
              <a:t>3.6.3 -</a:t>
            </a:r>
            <a:r>
              <a:rPr lang="en-US" sz="1200"/>
              <a:t>ICMP Attacks (Cont.)</a:t>
            </a:r>
            <a:endParaRPr/>
          </a:p>
        </p:txBody>
      </p:sp>
      <p:sp>
        <p:nvSpPr>
          <p:cNvPr id="955" name="Google Shape;955;p4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2" name="Google Shape;962;p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3.6 - </a:t>
            </a:r>
            <a:r>
              <a:rPr lang="en-US">
                <a:solidFill>
                  <a:srgbClr val="B6DDE7"/>
                </a:solidFill>
              </a:rPr>
              <a:t>IP Vulnerabilities and Threats</a:t>
            </a:r>
            <a:endParaRPr/>
          </a:p>
          <a:p>
            <a:pPr marL="0" lvl="0" indent="0" algn="l" rtl="0">
              <a:spcBef>
                <a:spcPts val="0"/>
              </a:spcBef>
              <a:spcAft>
                <a:spcPts val="0"/>
              </a:spcAft>
              <a:buNone/>
            </a:pPr>
            <a:r>
              <a:rPr lang="en-US">
                <a:solidFill>
                  <a:srgbClr val="B6DDE7"/>
                </a:solidFill>
              </a:rPr>
              <a:t>3.6.4 -</a:t>
            </a:r>
            <a:r>
              <a:rPr lang="en-US" sz="1200"/>
              <a:t>Video – Amplification, Reflection, and Spoofing Attacks</a:t>
            </a:r>
            <a:endParaRPr/>
          </a:p>
        </p:txBody>
      </p:sp>
      <p:sp>
        <p:nvSpPr>
          <p:cNvPr id="963" name="Google Shape;963;p4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7"/>
        <p:cNvGrpSpPr/>
        <p:nvPr/>
      </p:nvGrpSpPr>
      <p:grpSpPr>
        <a:xfrm>
          <a:off x="0" y="0"/>
          <a:ext cx="0" cy="0"/>
          <a:chOff x="0" y="0"/>
          <a:chExt cx="0" cy="0"/>
        </a:xfrm>
      </p:grpSpPr>
      <p:sp>
        <p:nvSpPr>
          <p:cNvPr id="968" name="Google Shape;968;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9" name="Google Shape;9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3.6 - </a:t>
            </a:r>
            <a:r>
              <a:rPr lang="en-US">
                <a:solidFill>
                  <a:srgbClr val="B6DDE7"/>
                </a:solidFill>
              </a:rPr>
              <a:t>IP Vulnerabilities and Threats</a:t>
            </a:r>
            <a:endParaRPr/>
          </a:p>
          <a:p>
            <a:pPr marL="0" lvl="0" indent="0" algn="l" rtl="0">
              <a:spcBef>
                <a:spcPts val="0"/>
              </a:spcBef>
              <a:spcAft>
                <a:spcPts val="0"/>
              </a:spcAft>
              <a:buNone/>
            </a:pPr>
            <a:r>
              <a:rPr lang="en-US">
                <a:solidFill>
                  <a:srgbClr val="B6DDE7"/>
                </a:solidFill>
              </a:rPr>
              <a:t>3.6.5 - </a:t>
            </a:r>
            <a:r>
              <a:rPr lang="en-US" sz="1200"/>
              <a:t>Amplification and Reflection Attacks</a:t>
            </a:r>
            <a:endParaRPr/>
          </a:p>
        </p:txBody>
      </p:sp>
      <p:sp>
        <p:nvSpPr>
          <p:cNvPr id="970" name="Google Shape;970;p4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7" name="Google Shape;977;p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3.6 - </a:t>
            </a:r>
            <a:r>
              <a:rPr lang="en-US">
                <a:solidFill>
                  <a:srgbClr val="B6DDE7"/>
                </a:solidFill>
              </a:rPr>
              <a:t>IP Vulnerabilities and Threats</a:t>
            </a:r>
            <a:endParaRPr/>
          </a:p>
          <a:p>
            <a:pPr marL="0" lvl="0" indent="0" algn="l" rtl="0">
              <a:spcBef>
                <a:spcPts val="0"/>
              </a:spcBef>
              <a:spcAft>
                <a:spcPts val="0"/>
              </a:spcAft>
              <a:buNone/>
            </a:pPr>
            <a:r>
              <a:rPr lang="en-US">
                <a:solidFill>
                  <a:srgbClr val="B6DDE7"/>
                </a:solidFill>
              </a:rPr>
              <a:t>3.6.6 - </a:t>
            </a:r>
            <a:r>
              <a:rPr lang="en-US" sz="1200"/>
              <a:t>Address Spoofing Attacks</a:t>
            </a:r>
            <a:endParaRPr/>
          </a:p>
          <a:p>
            <a:pPr marL="0" lvl="0" indent="0" algn="l" rtl="0">
              <a:spcBef>
                <a:spcPts val="0"/>
              </a:spcBef>
              <a:spcAft>
                <a:spcPts val="0"/>
              </a:spcAft>
              <a:buNone/>
            </a:pPr>
            <a:r>
              <a:rPr lang="en-US" sz="1200"/>
              <a:t>3.6.7 – Check Your Understanding – IP Vulnerabilities and Threats</a:t>
            </a:r>
            <a:endParaRPr/>
          </a:p>
        </p:txBody>
      </p:sp>
      <p:sp>
        <p:nvSpPr>
          <p:cNvPr id="978" name="Google Shape;978;p4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4" name="Google Shape;984;p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3.7 – TCP and UDP Vulnerabilities</a:t>
            </a:r>
            <a:endParaRPr/>
          </a:p>
          <a:p>
            <a:pPr marL="0" lvl="0" indent="0" algn="l" rtl="0">
              <a:spcBef>
                <a:spcPts val="0"/>
              </a:spcBef>
              <a:spcAft>
                <a:spcPts val="0"/>
              </a:spcAft>
              <a:buNone/>
            </a:pPr>
            <a:endParaRPr/>
          </a:p>
        </p:txBody>
      </p:sp>
      <p:sp>
        <p:nvSpPr>
          <p:cNvPr id="985" name="Google Shape;985;p4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0" name="Google Shape;990;p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3.7 – TCP and UDP Vulnerabilities</a:t>
            </a:r>
            <a:endParaRPr/>
          </a:p>
          <a:p>
            <a:pPr marL="0" lvl="0" indent="0" algn="l" rtl="0">
              <a:spcBef>
                <a:spcPts val="0"/>
              </a:spcBef>
              <a:spcAft>
                <a:spcPts val="0"/>
              </a:spcAft>
              <a:buNone/>
            </a:pPr>
            <a:r>
              <a:rPr lang="en-US"/>
              <a:t>3.7.1 – TCP Segment Header</a:t>
            </a:r>
            <a:endParaRPr/>
          </a:p>
        </p:txBody>
      </p:sp>
      <p:sp>
        <p:nvSpPr>
          <p:cNvPr id="991" name="Google Shape;991;p4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6"/>
        <p:cNvGrpSpPr/>
        <p:nvPr/>
      </p:nvGrpSpPr>
      <p:grpSpPr>
        <a:xfrm>
          <a:off x="0" y="0"/>
          <a:ext cx="0" cy="0"/>
          <a:chOff x="0" y="0"/>
          <a:chExt cx="0" cy="0"/>
        </a:xfrm>
      </p:grpSpPr>
      <p:sp>
        <p:nvSpPr>
          <p:cNvPr id="997" name="Google Shape;997;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8" name="Google Shape;998;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3.7 – TCP and UDP Vulnerabilities</a:t>
            </a:r>
            <a:endParaRPr/>
          </a:p>
          <a:p>
            <a:pPr marL="0" lvl="0" indent="0" algn="l" rtl="0">
              <a:spcBef>
                <a:spcPts val="0"/>
              </a:spcBef>
              <a:spcAft>
                <a:spcPts val="0"/>
              </a:spcAft>
              <a:buNone/>
            </a:pPr>
            <a:r>
              <a:rPr lang="en-US"/>
              <a:t>3.7.2 - </a:t>
            </a:r>
            <a:r>
              <a:rPr lang="en-US" sz="1200"/>
              <a:t>TCP Services</a:t>
            </a:r>
            <a:endParaRPr/>
          </a:p>
        </p:txBody>
      </p:sp>
      <p:sp>
        <p:nvSpPr>
          <p:cNvPr id="999" name="Google Shape;999;p4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5" name="Google Shape;1005;p4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3.7 – TCP and UDP Vulnerabilities</a:t>
            </a:r>
            <a:endParaRPr/>
          </a:p>
          <a:p>
            <a:pPr marL="0" lvl="0" indent="0" algn="l" rtl="0">
              <a:spcBef>
                <a:spcPts val="0"/>
              </a:spcBef>
              <a:spcAft>
                <a:spcPts val="0"/>
              </a:spcAft>
              <a:buNone/>
            </a:pPr>
            <a:r>
              <a:rPr lang="en-US"/>
              <a:t>3.7.2 - </a:t>
            </a:r>
            <a:r>
              <a:rPr lang="en-US" sz="1200"/>
              <a:t>TCP Services (Cont.)</a:t>
            </a:r>
            <a:endParaRPr/>
          </a:p>
        </p:txBody>
      </p:sp>
      <p:sp>
        <p:nvSpPr>
          <p:cNvPr id="1006" name="Google Shape;1006;p4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3" name="Google Shape;1013;p4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3.7 – TCP and UDP Vulnerabilities</a:t>
            </a:r>
            <a:endParaRPr/>
          </a:p>
          <a:p>
            <a:pPr marL="0" lvl="0" indent="0" algn="l" rtl="0">
              <a:spcBef>
                <a:spcPts val="0"/>
              </a:spcBef>
              <a:spcAft>
                <a:spcPts val="0"/>
              </a:spcAft>
              <a:buNone/>
            </a:pPr>
            <a:r>
              <a:rPr lang="en-US"/>
              <a:t>3.7.3 - </a:t>
            </a:r>
            <a:r>
              <a:rPr lang="en-US" sz="1200"/>
              <a:t>TCP Attacks</a:t>
            </a:r>
            <a:endParaRPr/>
          </a:p>
        </p:txBody>
      </p:sp>
      <p:sp>
        <p:nvSpPr>
          <p:cNvPr id="1014" name="Google Shape;1014;p4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1" name="Google Shape;1021;p4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3.7 – TCP and UDP Vulnerabilities</a:t>
            </a:r>
            <a:endParaRPr/>
          </a:p>
          <a:p>
            <a:pPr marL="0" lvl="0" indent="0" algn="l" rtl="0">
              <a:spcBef>
                <a:spcPts val="0"/>
              </a:spcBef>
              <a:spcAft>
                <a:spcPts val="0"/>
              </a:spcAft>
              <a:buNone/>
            </a:pPr>
            <a:r>
              <a:rPr lang="en-US"/>
              <a:t>3.7.3 - </a:t>
            </a:r>
            <a:r>
              <a:rPr lang="en-US" sz="1200"/>
              <a:t>TCP Attacks (Cont.)</a:t>
            </a:r>
            <a:endParaRPr/>
          </a:p>
        </p:txBody>
      </p:sp>
      <p:sp>
        <p:nvSpPr>
          <p:cNvPr id="1022" name="Google Shape;1022;p4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9" name="Google Shape;1029;p5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3.7 – TCP and UDP Vulnerabilities</a:t>
            </a:r>
            <a:endParaRPr/>
          </a:p>
          <a:p>
            <a:pPr marL="0" lvl="0" indent="0" algn="l" rtl="0">
              <a:spcBef>
                <a:spcPts val="0"/>
              </a:spcBef>
              <a:spcAft>
                <a:spcPts val="0"/>
              </a:spcAft>
              <a:buNone/>
            </a:pPr>
            <a:r>
              <a:rPr lang="en-US"/>
              <a:t>3.7.3 - </a:t>
            </a:r>
            <a:r>
              <a:rPr lang="en-US" sz="1200"/>
              <a:t>TCP Attacks (Cont.)</a:t>
            </a:r>
            <a:endParaRPr/>
          </a:p>
        </p:txBody>
      </p:sp>
      <p:sp>
        <p:nvSpPr>
          <p:cNvPr id="1030" name="Google Shape;1030;p5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6" name="Google Shape;1036;p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3.7 – TCP and UDP Vulnerabilities</a:t>
            </a:r>
            <a:endParaRPr/>
          </a:p>
          <a:p>
            <a:pPr marL="0" lvl="0" indent="0" algn="l" rtl="0">
              <a:spcBef>
                <a:spcPts val="0"/>
              </a:spcBef>
              <a:spcAft>
                <a:spcPts val="0"/>
              </a:spcAft>
              <a:buNone/>
            </a:pPr>
            <a:r>
              <a:rPr lang="en-US"/>
              <a:t>3.7.4 - </a:t>
            </a:r>
            <a:r>
              <a:rPr lang="en-US" sz="1200"/>
              <a:t>UDP Segment Header and Operation</a:t>
            </a:r>
            <a:endParaRPr/>
          </a:p>
        </p:txBody>
      </p:sp>
      <p:sp>
        <p:nvSpPr>
          <p:cNvPr id="1037" name="Google Shape;1037;p5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51</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4" name="Google Shape;1044;p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3.7 – TCP and UDP Vulnerabilities</a:t>
            </a:r>
            <a:endParaRPr/>
          </a:p>
          <a:p>
            <a:pPr marL="0" lvl="0" indent="0" algn="l" rtl="0">
              <a:spcBef>
                <a:spcPts val="0"/>
              </a:spcBef>
              <a:spcAft>
                <a:spcPts val="0"/>
              </a:spcAft>
              <a:buNone/>
            </a:pPr>
            <a:r>
              <a:rPr lang="en-US"/>
              <a:t>3.7.5 - </a:t>
            </a:r>
            <a:r>
              <a:rPr lang="en-US" sz="1200"/>
              <a:t>UDP Attacks</a:t>
            </a:r>
            <a:endParaRPr/>
          </a:p>
          <a:p>
            <a:pPr marL="0" lvl="0" indent="0" algn="l" rtl="0">
              <a:spcBef>
                <a:spcPts val="0"/>
              </a:spcBef>
              <a:spcAft>
                <a:spcPts val="0"/>
              </a:spcAft>
              <a:buNone/>
            </a:pPr>
            <a:r>
              <a:rPr lang="en-US" sz="1200"/>
              <a:t>3.7.6 – Check Your Understanding – TCP and UDP Vulnerabilities</a:t>
            </a:r>
            <a:endParaRPr/>
          </a:p>
        </p:txBody>
      </p:sp>
      <p:sp>
        <p:nvSpPr>
          <p:cNvPr id="1045" name="Google Shape;1045;p5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52</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1" name="Google Shape;1051;p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3.8 – IP Services</a:t>
            </a:r>
            <a:endParaRPr/>
          </a:p>
          <a:p>
            <a:pPr marL="0" lvl="0" indent="0" algn="l" rtl="0">
              <a:spcBef>
                <a:spcPts val="0"/>
              </a:spcBef>
              <a:spcAft>
                <a:spcPts val="0"/>
              </a:spcAft>
              <a:buNone/>
            </a:pPr>
            <a:endParaRPr/>
          </a:p>
        </p:txBody>
      </p:sp>
      <p:sp>
        <p:nvSpPr>
          <p:cNvPr id="1052" name="Google Shape;1052;p5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53</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7" name="Google Shape;1057;p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3.8 – IP Services</a:t>
            </a:r>
            <a:endParaRPr/>
          </a:p>
          <a:p>
            <a:pPr marL="0" lvl="0" indent="0" algn="l" rtl="0">
              <a:spcBef>
                <a:spcPts val="0"/>
              </a:spcBef>
              <a:spcAft>
                <a:spcPts val="0"/>
              </a:spcAft>
              <a:buNone/>
            </a:pPr>
            <a:r>
              <a:rPr lang="en-US"/>
              <a:t>3.8.1 – ARP Vulnerabilities</a:t>
            </a:r>
            <a:endParaRPr/>
          </a:p>
        </p:txBody>
      </p:sp>
      <p:sp>
        <p:nvSpPr>
          <p:cNvPr id="1058" name="Google Shape;1058;p5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54</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2"/>
        <p:cNvGrpSpPr/>
        <p:nvPr/>
      </p:nvGrpSpPr>
      <p:grpSpPr>
        <a:xfrm>
          <a:off x="0" y="0"/>
          <a:ext cx="0" cy="0"/>
          <a:chOff x="0" y="0"/>
          <a:chExt cx="0" cy="0"/>
        </a:xfrm>
      </p:grpSpPr>
      <p:sp>
        <p:nvSpPr>
          <p:cNvPr id="1063" name="Google Shape;1063;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4" name="Google Shape;1064;p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3.8 – IP Services</a:t>
            </a:r>
            <a:endParaRPr/>
          </a:p>
          <a:p>
            <a:pPr marL="0" lvl="0" indent="0" algn="l" rtl="0">
              <a:spcBef>
                <a:spcPts val="0"/>
              </a:spcBef>
              <a:spcAft>
                <a:spcPts val="0"/>
              </a:spcAft>
              <a:buNone/>
            </a:pPr>
            <a:r>
              <a:rPr lang="en-US"/>
              <a:t>3.8.2 – </a:t>
            </a:r>
            <a:r>
              <a:rPr lang="en-US" sz="1200"/>
              <a:t>ARP Cache Poisoning</a:t>
            </a:r>
            <a:endParaRPr/>
          </a:p>
        </p:txBody>
      </p:sp>
      <p:sp>
        <p:nvSpPr>
          <p:cNvPr id="1065" name="Google Shape;1065;p5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55</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0"/>
        <p:cNvGrpSpPr/>
        <p:nvPr/>
      </p:nvGrpSpPr>
      <p:grpSpPr>
        <a:xfrm>
          <a:off x="0" y="0"/>
          <a:ext cx="0" cy="0"/>
          <a:chOff x="0" y="0"/>
          <a:chExt cx="0" cy="0"/>
        </a:xfrm>
      </p:grpSpPr>
      <p:sp>
        <p:nvSpPr>
          <p:cNvPr id="1071" name="Google Shape;1071;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2" name="Google Shape;1072;p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3.8 – IP Services</a:t>
            </a:r>
            <a:endParaRPr/>
          </a:p>
          <a:p>
            <a:pPr marL="0" lvl="0" indent="0" algn="l" rtl="0">
              <a:spcBef>
                <a:spcPts val="0"/>
              </a:spcBef>
              <a:spcAft>
                <a:spcPts val="0"/>
              </a:spcAft>
              <a:buNone/>
            </a:pPr>
            <a:r>
              <a:rPr lang="en-US"/>
              <a:t>3.8.3 – </a:t>
            </a:r>
            <a:r>
              <a:rPr lang="en-US" sz="1200"/>
              <a:t>Video – ARP Spoofing</a:t>
            </a:r>
            <a:endParaRPr/>
          </a:p>
        </p:txBody>
      </p:sp>
      <p:sp>
        <p:nvSpPr>
          <p:cNvPr id="1073" name="Google Shape;1073;p5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57</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p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9" name="Google Shape;1079;p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3.8 – IP Services</a:t>
            </a:r>
            <a:endParaRPr/>
          </a:p>
          <a:p>
            <a:pPr marL="0" lvl="0" indent="0" algn="l" rtl="0">
              <a:spcBef>
                <a:spcPts val="0"/>
              </a:spcBef>
              <a:spcAft>
                <a:spcPts val="0"/>
              </a:spcAft>
              <a:buNone/>
            </a:pPr>
            <a:r>
              <a:rPr lang="en-US"/>
              <a:t>3.8.4 – DNS Attacks</a:t>
            </a:r>
            <a:endParaRPr/>
          </a:p>
        </p:txBody>
      </p:sp>
      <p:sp>
        <p:nvSpPr>
          <p:cNvPr id="1080" name="Google Shape;1080;p5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58</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4"/>
        <p:cNvGrpSpPr/>
        <p:nvPr/>
      </p:nvGrpSpPr>
      <p:grpSpPr>
        <a:xfrm>
          <a:off x="0" y="0"/>
          <a:ext cx="0" cy="0"/>
          <a:chOff x="0" y="0"/>
          <a:chExt cx="0" cy="0"/>
        </a:xfrm>
      </p:grpSpPr>
      <p:sp>
        <p:nvSpPr>
          <p:cNvPr id="1085" name="Google Shape;1085;p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6" name="Google Shape;1086;p5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3.8 – IP Services</a:t>
            </a:r>
            <a:endParaRPr/>
          </a:p>
          <a:p>
            <a:pPr marL="0" lvl="0" indent="0" algn="l" rtl="0">
              <a:spcBef>
                <a:spcPts val="0"/>
              </a:spcBef>
              <a:spcAft>
                <a:spcPts val="0"/>
              </a:spcAft>
              <a:buNone/>
            </a:pPr>
            <a:r>
              <a:rPr lang="en-US"/>
              <a:t>3.8.4 – </a:t>
            </a:r>
            <a:r>
              <a:rPr lang="en-US" sz="1200"/>
              <a:t>DNS Attacks (Cont.)</a:t>
            </a:r>
            <a:endParaRPr/>
          </a:p>
        </p:txBody>
      </p:sp>
      <p:sp>
        <p:nvSpPr>
          <p:cNvPr id="1087" name="Google Shape;1087;p5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59</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2"/>
        <p:cNvGrpSpPr/>
        <p:nvPr/>
      </p:nvGrpSpPr>
      <p:grpSpPr>
        <a:xfrm>
          <a:off x="0" y="0"/>
          <a:ext cx="0" cy="0"/>
          <a:chOff x="0" y="0"/>
          <a:chExt cx="0" cy="0"/>
        </a:xfrm>
      </p:grpSpPr>
      <p:sp>
        <p:nvSpPr>
          <p:cNvPr id="1093" name="Google Shape;1093;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4" name="Google Shape;1094;p5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3.8 – IP Services</a:t>
            </a:r>
            <a:endParaRPr/>
          </a:p>
          <a:p>
            <a:pPr marL="0" lvl="0" indent="0" algn="l" rtl="0">
              <a:spcBef>
                <a:spcPts val="0"/>
              </a:spcBef>
              <a:spcAft>
                <a:spcPts val="0"/>
              </a:spcAft>
              <a:buNone/>
            </a:pPr>
            <a:r>
              <a:rPr lang="en-US"/>
              <a:t>3.8.4 – </a:t>
            </a:r>
            <a:r>
              <a:rPr lang="en-US" sz="1200"/>
              <a:t>DNS Attacks (Cont.)</a:t>
            </a:r>
            <a:endParaRPr/>
          </a:p>
        </p:txBody>
      </p:sp>
      <p:sp>
        <p:nvSpPr>
          <p:cNvPr id="1095" name="Google Shape;1095;p5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60</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0"/>
        <p:cNvGrpSpPr/>
        <p:nvPr/>
      </p:nvGrpSpPr>
      <p:grpSpPr>
        <a:xfrm>
          <a:off x="0" y="0"/>
          <a:ext cx="0" cy="0"/>
          <a:chOff x="0" y="0"/>
          <a:chExt cx="0" cy="0"/>
        </a:xfrm>
      </p:grpSpPr>
      <p:sp>
        <p:nvSpPr>
          <p:cNvPr id="1101" name="Google Shape;1101;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2" name="Google Shape;1102;p6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3.8 – IP Services</a:t>
            </a:r>
            <a:endParaRPr/>
          </a:p>
          <a:p>
            <a:pPr marL="0" lvl="0" indent="0" algn="l" rtl="0">
              <a:spcBef>
                <a:spcPts val="0"/>
              </a:spcBef>
              <a:spcAft>
                <a:spcPts val="0"/>
              </a:spcAft>
              <a:buNone/>
            </a:pPr>
            <a:r>
              <a:rPr lang="en-US"/>
              <a:t>3.8.4 – </a:t>
            </a:r>
            <a:r>
              <a:rPr lang="en-US" sz="1200"/>
              <a:t>DNS Attacks (Cont.)</a:t>
            </a:r>
            <a:endParaRPr/>
          </a:p>
        </p:txBody>
      </p:sp>
      <p:sp>
        <p:nvSpPr>
          <p:cNvPr id="1103" name="Google Shape;1103;p6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61</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7"/>
        <p:cNvGrpSpPr/>
        <p:nvPr/>
      </p:nvGrpSpPr>
      <p:grpSpPr>
        <a:xfrm>
          <a:off x="0" y="0"/>
          <a:ext cx="0" cy="0"/>
          <a:chOff x="0" y="0"/>
          <a:chExt cx="0" cy="0"/>
        </a:xfrm>
      </p:grpSpPr>
      <p:sp>
        <p:nvSpPr>
          <p:cNvPr id="1108" name="Google Shape;1108;p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9" name="Google Shape;1109;p6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3.8 – IP Services</a:t>
            </a:r>
            <a:endParaRPr/>
          </a:p>
          <a:p>
            <a:pPr marL="0" lvl="0" indent="0" algn="l" rtl="0">
              <a:spcBef>
                <a:spcPts val="0"/>
              </a:spcBef>
              <a:spcAft>
                <a:spcPts val="0"/>
              </a:spcAft>
              <a:buNone/>
            </a:pPr>
            <a:r>
              <a:rPr lang="en-US"/>
              <a:t>3.8.5 – </a:t>
            </a:r>
            <a:r>
              <a:rPr lang="en-US" sz="1200"/>
              <a:t>DNS Tunneling</a:t>
            </a:r>
            <a:endParaRPr/>
          </a:p>
        </p:txBody>
      </p:sp>
      <p:sp>
        <p:nvSpPr>
          <p:cNvPr id="1110" name="Google Shape;1110;p6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62</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4"/>
        <p:cNvGrpSpPr/>
        <p:nvPr/>
      </p:nvGrpSpPr>
      <p:grpSpPr>
        <a:xfrm>
          <a:off x="0" y="0"/>
          <a:ext cx="0" cy="0"/>
          <a:chOff x="0" y="0"/>
          <a:chExt cx="0" cy="0"/>
        </a:xfrm>
      </p:grpSpPr>
      <p:sp>
        <p:nvSpPr>
          <p:cNvPr id="1115" name="Google Shape;1115;p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6" name="Google Shape;1116;p6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3.8 – IP Services</a:t>
            </a:r>
            <a:endParaRPr/>
          </a:p>
          <a:p>
            <a:pPr marL="0" lvl="0" indent="0" algn="l" rtl="0">
              <a:spcBef>
                <a:spcPts val="0"/>
              </a:spcBef>
              <a:spcAft>
                <a:spcPts val="0"/>
              </a:spcAft>
              <a:buNone/>
            </a:pPr>
            <a:r>
              <a:rPr lang="en-US"/>
              <a:t>3.8.6 – </a:t>
            </a:r>
            <a:r>
              <a:rPr lang="en-US" sz="1200"/>
              <a:t>DHCP</a:t>
            </a:r>
            <a:endParaRPr/>
          </a:p>
        </p:txBody>
      </p:sp>
      <p:sp>
        <p:nvSpPr>
          <p:cNvPr id="1117" name="Google Shape;1117;p6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63</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2"/>
        <p:cNvGrpSpPr/>
        <p:nvPr/>
      </p:nvGrpSpPr>
      <p:grpSpPr>
        <a:xfrm>
          <a:off x="0" y="0"/>
          <a:ext cx="0" cy="0"/>
          <a:chOff x="0" y="0"/>
          <a:chExt cx="0" cy="0"/>
        </a:xfrm>
      </p:grpSpPr>
      <p:sp>
        <p:nvSpPr>
          <p:cNvPr id="1123" name="Google Shape;1123;p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4" name="Google Shape;1124;p6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3.8 – IP Services</a:t>
            </a:r>
            <a:endParaRPr/>
          </a:p>
          <a:p>
            <a:pPr marL="0" lvl="0" indent="0" algn="l" rtl="0">
              <a:spcBef>
                <a:spcPts val="0"/>
              </a:spcBef>
              <a:spcAft>
                <a:spcPts val="0"/>
              </a:spcAft>
              <a:buNone/>
            </a:pPr>
            <a:r>
              <a:rPr lang="en-US"/>
              <a:t>3.8.7 – </a:t>
            </a:r>
            <a:r>
              <a:rPr lang="en-US" sz="1200"/>
              <a:t>DHCP Attacks</a:t>
            </a:r>
            <a:endParaRPr/>
          </a:p>
        </p:txBody>
      </p:sp>
      <p:sp>
        <p:nvSpPr>
          <p:cNvPr id="1125" name="Google Shape;1125;p6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64</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9"/>
        <p:cNvGrpSpPr/>
        <p:nvPr/>
      </p:nvGrpSpPr>
      <p:grpSpPr>
        <a:xfrm>
          <a:off x="0" y="0"/>
          <a:ext cx="0" cy="0"/>
          <a:chOff x="0" y="0"/>
          <a:chExt cx="0" cy="0"/>
        </a:xfrm>
      </p:grpSpPr>
      <p:sp>
        <p:nvSpPr>
          <p:cNvPr id="1130" name="Google Shape;1130;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1" name="Google Shape;1131;p6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3.8 – IP Services</a:t>
            </a:r>
            <a:endParaRPr/>
          </a:p>
          <a:p>
            <a:pPr marL="0" lvl="0" indent="0" algn="l" rtl="0">
              <a:spcBef>
                <a:spcPts val="0"/>
              </a:spcBef>
              <a:spcAft>
                <a:spcPts val="0"/>
              </a:spcAft>
              <a:buNone/>
            </a:pPr>
            <a:r>
              <a:rPr lang="en-US"/>
              <a:t>3.8.7 – </a:t>
            </a:r>
            <a:r>
              <a:rPr lang="en-US" sz="1200"/>
              <a:t>DHCP Attacks (Cont.)</a:t>
            </a:r>
            <a:endParaRPr/>
          </a:p>
        </p:txBody>
      </p:sp>
      <p:sp>
        <p:nvSpPr>
          <p:cNvPr id="1132" name="Google Shape;1132;p6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65</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6"/>
        <p:cNvGrpSpPr/>
        <p:nvPr/>
      </p:nvGrpSpPr>
      <p:grpSpPr>
        <a:xfrm>
          <a:off x="0" y="0"/>
          <a:ext cx="0" cy="0"/>
          <a:chOff x="0" y="0"/>
          <a:chExt cx="0" cy="0"/>
        </a:xfrm>
      </p:grpSpPr>
      <p:sp>
        <p:nvSpPr>
          <p:cNvPr id="1137" name="Google Shape;1137;p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8" name="Google Shape;1138;p6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3.8 – IP Services</a:t>
            </a:r>
            <a:endParaRPr/>
          </a:p>
          <a:p>
            <a:pPr marL="0" lvl="0" indent="0" algn="l" rtl="0">
              <a:spcBef>
                <a:spcPts val="0"/>
              </a:spcBef>
              <a:spcAft>
                <a:spcPts val="0"/>
              </a:spcAft>
              <a:buNone/>
            </a:pPr>
            <a:r>
              <a:rPr lang="en-US"/>
              <a:t>3.8.8 - </a:t>
            </a:r>
            <a:r>
              <a:rPr lang="en-US" sz="1200"/>
              <a:t>Lab – Explore DNS Traffic</a:t>
            </a:r>
            <a:endParaRPr/>
          </a:p>
        </p:txBody>
      </p:sp>
      <p:sp>
        <p:nvSpPr>
          <p:cNvPr id="1139" name="Google Shape;1139;p6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66</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3"/>
        <p:cNvGrpSpPr/>
        <p:nvPr/>
      </p:nvGrpSpPr>
      <p:grpSpPr>
        <a:xfrm>
          <a:off x="0" y="0"/>
          <a:ext cx="0" cy="0"/>
          <a:chOff x="0" y="0"/>
          <a:chExt cx="0" cy="0"/>
        </a:xfrm>
      </p:grpSpPr>
      <p:sp>
        <p:nvSpPr>
          <p:cNvPr id="1144" name="Google Shape;1144;p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5" name="Google Shape;1145;p6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3.9 – Network Security Best Practices</a:t>
            </a:r>
            <a:endParaRPr/>
          </a:p>
        </p:txBody>
      </p:sp>
      <p:sp>
        <p:nvSpPr>
          <p:cNvPr id="1146" name="Google Shape;1146;p6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67</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9"/>
        <p:cNvGrpSpPr/>
        <p:nvPr/>
      </p:nvGrpSpPr>
      <p:grpSpPr>
        <a:xfrm>
          <a:off x="0" y="0"/>
          <a:ext cx="0" cy="0"/>
          <a:chOff x="0" y="0"/>
          <a:chExt cx="0" cy="0"/>
        </a:xfrm>
      </p:grpSpPr>
      <p:sp>
        <p:nvSpPr>
          <p:cNvPr id="1150" name="Google Shape;1150;p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1" name="Google Shape;1151;p6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3.9 – Network Security Best Practices</a:t>
            </a:r>
            <a:endParaRPr/>
          </a:p>
          <a:p>
            <a:pPr marL="0" lvl="0" indent="0" algn="l" rtl="0">
              <a:spcBef>
                <a:spcPts val="0"/>
              </a:spcBef>
              <a:spcAft>
                <a:spcPts val="0"/>
              </a:spcAft>
              <a:buNone/>
            </a:pPr>
            <a:r>
              <a:rPr lang="en-US"/>
              <a:t>3.9.1 - </a:t>
            </a:r>
            <a:r>
              <a:rPr lang="en-US" sz="1200"/>
              <a:t>Confidentiality, Availability, and Integrity</a:t>
            </a:r>
            <a:endParaRPr/>
          </a:p>
        </p:txBody>
      </p:sp>
      <p:sp>
        <p:nvSpPr>
          <p:cNvPr id="1152" name="Google Shape;1152;p6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68</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6"/>
        <p:cNvGrpSpPr/>
        <p:nvPr/>
      </p:nvGrpSpPr>
      <p:grpSpPr>
        <a:xfrm>
          <a:off x="0" y="0"/>
          <a:ext cx="0" cy="0"/>
          <a:chOff x="0" y="0"/>
          <a:chExt cx="0" cy="0"/>
        </a:xfrm>
      </p:grpSpPr>
      <p:sp>
        <p:nvSpPr>
          <p:cNvPr id="1157" name="Google Shape;1157;p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8" name="Google Shape;1158;p6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3.9 – Network Security Best Practices</a:t>
            </a:r>
            <a:endParaRPr/>
          </a:p>
          <a:p>
            <a:pPr marL="0" lvl="0" indent="0" algn="l" rtl="0">
              <a:spcBef>
                <a:spcPts val="0"/>
              </a:spcBef>
              <a:spcAft>
                <a:spcPts val="0"/>
              </a:spcAft>
              <a:buNone/>
            </a:pPr>
            <a:r>
              <a:rPr lang="en-US"/>
              <a:t>3.9.2 – The Defense-in-Depth Approach</a:t>
            </a:r>
            <a:endParaRPr/>
          </a:p>
        </p:txBody>
      </p:sp>
      <p:sp>
        <p:nvSpPr>
          <p:cNvPr id="1159" name="Google Shape;1159;p6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69</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3"/>
        <p:cNvGrpSpPr/>
        <p:nvPr/>
      </p:nvGrpSpPr>
      <p:grpSpPr>
        <a:xfrm>
          <a:off x="0" y="0"/>
          <a:ext cx="0" cy="0"/>
          <a:chOff x="0" y="0"/>
          <a:chExt cx="0" cy="0"/>
        </a:xfrm>
      </p:grpSpPr>
      <p:sp>
        <p:nvSpPr>
          <p:cNvPr id="1164" name="Google Shape;1164;p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5" name="Google Shape;1165;p6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3.9 – Network Security Best Practices</a:t>
            </a:r>
            <a:endParaRPr/>
          </a:p>
          <a:p>
            <a:pPr marL="0" lvl="0" indent="0" algn="l" rtl="0">
              <a:spcBef>
                <a:spcPts val="0"/>
              </a:spcBef>
              <a:spcAft>
                <a:spcPts val="0"/>
              </a:spcAft>
              <a:buNone/>
            </a:pPr>
            <a:r>
              <a:rPr lang="en-US"/>
              <a:t>3.9.3 - Firewalls</a:t>
            </a:r>
            <a:endParaRPr/>
          </a:p>
        </p:txBody>
      </p:sp>
      <p:sp>
        <p:nvSpPr>
          <p:cNvPr id="1166" name="Google Shape;1166;p6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70</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1"/>
        <p:cNvGrpSpPr/>
        <p:nvPr/>
      </p:nvGrpSpPr>
      <p:grpSpPr>
        <a:xfrm>
          <a:off x="0" y="0"/>
          <a:ext cx="0" cy="0"/>
          <a:chOff x="0" y="0"/>
          <a:chExt cx="0" cy="0"/>
        </a:xfrm>
      </p:grpSpPr>
      <p:sp>
        <p:nvSpPr>
          <p:cNvPr id="1172" name="Google Shape;1172;p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3" name="Google Shape;1173;p7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3.9 – Network Security Best Practices</a:t>
            </a:r>
            <a:endParaRPr/>
          </a:p>
          <a:p>
            <a:pPr marL="0" lvl="0" indent="0" algn="l" rtl="0">
              <a:spcBef>
                <a:spcPts val="0"/>
              </a:spcBef>
              <a:spcAft>
                <a:spcPts val="0"/>
              </a:spcAft>
              <a:buNone/>
            </a:pPr>
            <a:r>
              <a:rPr lang="en-US"/>
              <a:t>3.9.4 - IPS</a:t>
            </a:r>
            <a:endParaRPr/>
          </a:p>
        </p:txBody>
      </p:sp>
      <p:sp>
        <p:nvSpPr>
          <p:cNvPr id="1174" name="Google Shape;1174;p7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71</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8"/>
        <p:cNvGrpSpPr/>
        <p:nvPr/>
      </p:nvGrpSpPr>
      <p:grpSpPr>
        <a:xfrm>
          <a:off x="0" y="0"/>
          <a:ext cx="0" cy="0"/>
          <a:chOff x="0" y="0"/>
          <a:chExt cx="0" cy="0"/>
        </a:xfrm>
      </p:grpSpPr>
      <p:sp>
        <p:nvSpPr>
          <p:cNvPr id="1179" name="Google Shape;1179;p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0" name="Google Shape;1180;p7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3.9 – Network Security Best Practices</a:t>
            </a:r>
            <a:endParaRPr/>
          </a:p>
          <a:p>
            <a:pPr marL="0" lvl="0" indent="0" algn="l" rtl="0">
              <a:spcBef>
                <a:spcPts val="0"/>
              </a:spcBef>
              <a:spcAft>
                <a:spcPts val="0"/>
              </a:spcAft>
              <a:buNone/>
            </a:pPr>
            <a:r>
              <a:rPr lang="en-US"/>
              <a:t>3.9.4 – IPS (Cont.)</a:t>
            </a:r>
            <a:endParaRPr/>
          </a:p>
        </p:txBody>
      </p:sp>
      <p:sp>
        <p:nvSpPr>
          <p:cNvPr id="1181" name="Google Shape;1181;p7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72</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6"/>
        <p:cNvGrpSpPr/>
        <p:nvPr/>
      </p:nvGrpSpPr>
      <p:grpSpPr>
        <a:xfrm>
          <a:off x="0" y="0"/>
          <a:ext cx="0" cy="0"/>
          <a:chOff x="0" y="0"/>
          <a:chExt cx="0" cy="0"/>
        </a:xfrm>
      </p:grpSpPr>
      <p:sp>
        <p:nvSpPr>
          <p:cNvPr id="1187" name="Google Shape;1187;p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8" name="Google Shape;1188;p7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3 – Network Security Concepts</a:t>
            </a:r>
            <a:endParaRPr/>
          </a:p>
          <a:p>
            <a:pPr marL="0" lvl="0" indent="0" algn="l" rtl="0">
              <a:spcBef>
                <a:spcPts val="0"/>
              </a:spcBef>
              <a:spcAft>
                <a:spcPts val="0"/>
              </a:spcAft>
              <a:buNone/>
            </a:pPr>
            <a:r>
              <a:rPr lang="en-US"/>
              <a:t>3.9 – Network Security Best Practices</a:t>
            </a:r>
            <a:endParaRPr/>
          </a:p>
          <a:p>
            <a:pPr marL="0" lvl="0" indent="0" algn="l" rtl="0">
              <a:spcBef>
                <a:spcPts val="0"/>
              </a:spcBef>
              <a:spcAft>
                <a:spcPts val="0"/>
              </a:spcAft>
              <a:buNone/>
            </a:pPr>
            <a:r>
              <a:rPr lang="en-US"/>
              <a:t>3.9.5 – Content Security Devices</a:t>
            </a:r>
            <a:endParaRPr/>
          </a:p>
          <a:p>
            <a:pPr marL="0" lvl="0" indent="0" algn="l" rtl="0">
              <a:spcBef>
                <a:spcPts val="0"/>
              </a:spcBef>
              <a:spcAft>
                <a:spcPts val="0"/>
              </a:spcAft>
              <a:buNone/>
            </a:pPr>
            <a:r>
              <a:rPr lang="en-US"/>
              <a:t>3.9.6 – Check Your Understanding – Network Security Best Practices</a:t>
            </a:r>
            <a:endParaRPr/>
          </a:p>
        </p:txBody>
      </p:sp>
      <p:sp>
        <p:nvSpPr>
          <p:cNvPr id="1189" name="Google Shape;1189;p7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73</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3"/>
        <p:cNvGrpSpPr/>
        <p:nvPr/>
      </p:nvGrpSpPr>
      <p:grpSpPr>
        <a:xfrm>
          <a:off x="0" y="0"/>
          <a:ext cx="0" cy="0"/>
          <a:chOff x="0" y="0"/>
          <a:chExt cx="0" cy="0"/>
        </a:xfrm>
      </p:grpSpPr>
      <p:sp>
        <p:nvSpPr>
          <p:cNvPr id="1194" name="Google Shape;1194;p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5" name="Google Shape;1195;p7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6" name="Google Shape;1196;p7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3_Title Slide-animated gradient">
  <p:cSld name="3_Title Slide-animated gradient">
    <p:bg>
      <p:bgPr>
        <a:solidFill>
          <a:schemeClr val="accent5"/>
        </a:solidFill>
        <a:effectLst/>
      </p:bgPr>
    </p:bg>
    <p:spTree>
      <p:nvGrpSpPr>
        <p:cNvPr id="1" name="Shape 28"/>
        <p:cNvGrpSpPr/>
        <p:nvPr/>
      </p:nvGrpSpPr>
      <p:grpSpPr>
        <a:xfrm>
          <a:off x="0" y="0"/>
          <a:ext cx="0" cy="0"/>
          <a:chOff x="0" y="0"/>
          <a:chExt cx="0" cy="0"/>
        </a:xfrm>
      </p:grpSpPr>
      <p:pic>
        <p:nvPicPr>
          <p:cNvPr id="29" name="Google Shape;29;p75"/>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30" name="Google Shape;30;p75"/>
          <p:cNvSpPr txBox="1">
            <a:spLocks noGrp="1"/>
          </p:cNvSpPr>
          <p:nvPr>
            <p:ph type="subTitle" idx="1"/>
          </p:nvPr>
        </p:nvSpPr>
        <p:spPr>
          <a:xfrm>
            <a:off x="469496" y="3809526"/>
            <a:ext cx="4319105" cy="288131"/>
          </a:xfrm>
          <a:prstGeom prst="rect">
            <a:avLst/>
          </a:prstGeom>
          <a:noFill/>
          <a:ln>
            <a:noFill/>
          </a:ln>
        </p:spPr>
        <p:txBody>
          <a:bodyPr spcFirstLastPara="1" wrap="square" lIns="91400" tIns="45700" rIns="91400" bIns="45700" anchor="b" anchorCtr="0">
            <a:noAutofit/>
          </a:bodyPr>
          <a:lstStyle>
            <a:lvl1pPr marR="0" lvl="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R="0" lvl="1" algn="ctr" rtl="0">
              <a:lnSpc>
                <a:spcPct val="95000"/>
              </a:lnSpc>
              <a:spcBef>
                <a:spcPts val="600"/>
              </a:spcBef>
              <a:spcAft>
                <a:spcPts val="0"/>
              </a:spcAft>
              <a:buClr>
                <a:schemeClr val="dk2"/>
              </a:buClr>
              <a:buSzPts val="1400"/>
              <a:buFont typeface="Arial"/>
              <a:buNone/>
              <a:defRPr sz="1400" b="0" i="0" u="none" strike="noStrike" cap="none">
                <a:solidFill>
                  <a:srgbClr val="98989A"/>
                </a:solidFill>
                <a:latin typeface="Arial"/>
                <a:ea typeface="Arial"/>
                <a:cs typeface="Arial"/>
                <a:sym typeface="Arial"/>
              </a:defRPr>
            </a:lvl2pPr>
            <a:lvl3pPr marR="0" lvl="2" algn="ctr" rtl="0">
              <a:lnSpc>
                <a:spcPct val="95000"/>
              </a:lnSpc>
              <a:spcBef>
                <a:spcPts val="625"/>
              </a:spcBef>
              <a:spcAft>
                <a:spcPts val="0"/>
              </a:spcAft>
              <a:buClr>
                <a:srgbClr val="98989A"/>
              </a:buClr>
              <a:buSzPts val="1200"/>
              <a:buFont typeface="Arial"/>
              <a:buNone/>
              <a:defRPr sz="1200" b="0" i="0" u="none" strike="noStrike" cap="none">
                <a:solidFill>
                  <a:srgbClr val="98989A"/>
                </a:solidFill>
                <a:latin typeface="Arial"/>
                <a:ea typeface="Arial"/>
                <a:cs typeface="Arial"/>
                <a:sym typeface="Arial"/>
              </a:defRPr>
            </a:lvl3pPr>
            <a:lvl4pPr marR="0" lvl="3"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4pPr>
            <a:lvl5pPr marR="0" lvl="4"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5pPr>
            <a:lvl6pPr marR="0" lvl="5" algn="ctr" rtl="0">
              <a:spcBef>
                <a:spcPts val="600"/>
              </a:spcBef>
              <a:spcAft>
                <a:spcPts val="0"/>
              </a:spcAft>
              <a:buClr>
                <a:srgbClr val="98989A"/>
              </a:buClr>
              <a:buSzPts val="900"/>
              <a:buFont typeface="Arial"/>
              <a:buNone/>
              <a:defRPr sz="900" b="0" i="0" u="none" strike="noStrike" cap="none">
                <a:solidFill>
                  <a:srgbClr val="98989A"/>
                </a:solidFill>
                <a:latin typeface="Arial"/>
                <a:ea typeface="Arial"/>
                <a:cs typeface="Arial"/>
                <a:sym typeface="Arial"/>
              </a:defRPr>
            </a:lvl6pPr>
            <a:lvl7pPr marR="0" lvl="6" algn="ctr" rtl="0">
              <a:spcBef>
                <a:spcPts val="600"/>
              </a:spcBef>
              <a:spcAft>
                <a:spcPts val="0"/>
              </a:spcAft>
              <a:buClr>
                <a:srgbClr val="98989A"/>
              </a:buClr>
              <a:buSzPts val="800"/>
              <a:buFont typeface="Arial"/>
              <a:buNone/>
              <a:defRPr sz="800" b="0" i="0" u="none" strike="noStrike" cap="none">
                <a:solidFill>
                  <a:srgbClr val="98989A"/>
                </a:solidFill>
                <a:latin typeface="Arial"/>
                <a:ea typeface="Arial"/>
                <a:cs typeface="Arial"/>
                <a:sym typeface="Arial"/>
              </a:defRPr>
            </a:lvl7pPr>
            <a:lvl8pPr marR="0" lvl="7" algn="ctr" rtl="0">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8pPr>
            <a:lvl9pPr marR="0" lvl="8" algn="ctr" rtl="0">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9pPr>
          </a:lstStyle>
          <a:p>
            <a:endParaRPr/>
          </a:p>
        </p:txBody>
      </p:sp>
      <p:sp>
        <p:nvSpPr>
          <p:cNvPr id="31" name="Google Shape;31;p75"/>
          <p:cNvSpPr txBox="1">
            <a:spLocks noGrp="1"/>
          </p:cNvSpPr>
          <p:nvPr>
            <p:ph type="body" idx="2"/>
          </p:nvPr>
        </p:nvSpPr>
        <p:spPr>
          <a:xfrm>
            <a:off x="469496" y="4049523"/>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2" name="Google Shape;32;p75"/>
          <p:cNvSpPr txBox="1">
            <a:spLocks noGrp="1"/>
          </p:cNvSpPr>
          <p:nvPr>
            <p:ph type="body" idx="3"/>
          </p:nvPr>
        </p:nvSpPr>
        <p:spPr>
          <a:xfrm>
            <a:off x="469496" y="4289520"/>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3" name="Google Shape;33;p75"/>
          <p:cNvSpPr txBox="1">
            <a:spLocks noGrp="1"/>
          </p:cNvSpPr>
          <p:nvPr>
            <p:ph type="body" idx="4"/>
          </p:nvPr>
        </p:nvSpPr>
        <p:spPr>
          <a:xfrm>
            <a:off x="463292" y="2872236"/>
            <a:ext cx="5925246" cy="29900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lt2"/>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5000"/>
              </a:lnSpc>
              <a:spcBef>
                <a:spcPts val="625"/>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4pPr>
            <a:lvl5pPr marL="2286000" marR="0" lvl="4"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4" name="Google Shape;34;p75"/>
          <p:cNvSpPr txBox="1">
            <a:spLocks noGrp="1"/>
          </p:cNvSpPr>
          <p:nvPr>
            <p:ph type="ctrTitle"/>
          </p:nvPr>
        </p:nvSpPr>
        <p:spPr>
          <a:xfrm>
            <a:off x="425765" y="2300750"/>
            <a:ext cx="5955513" cy="644730"/>
          </a:xfrm>
          <a:prstGeom prst="rect">
            <a:avLst/>
          </a:prstGeom>
          <a:noFill/>
          <a:ln>
            <a:noFill/>
          </a:ln>
        </p:spPr>
        <p:txBody>
          <a:bodyPr spcFirstLastPara="1" wrap="square" lIns="91400" tIns="45700" rIns="91400" bIns="45700" anchor="b" anchorCtr="0">
            <a:noAutofit/>
          </a:bodyPr>
          <a:lstStyle>
            <a:lvl1pPr lvl="0" algn="l">
              <a:lnSpc>
                <a:spcPct val="90000"/>
              </a:lnSpc>
              <a:spcBef>
                <a:spcPts val="0"/>
              </a:spcBef>
              <a:spcAft>
                <a:spcPts val="0"/>
              </a:spcAft>
              <a:buClr>
                <a:srgbClr val="38C6F4"/>
              </a:buClr>
              <a:buSzPts val="3600"/>
              <a:buFont typeface="Arial"/>
              <a:buNone/>
              <a:defRPr sz="3600" b="0" i="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grpSp>
        <p:nvGrpSpPr>
          <p:cNvPr id="35" name="Google Shape;35;p75"/>
          <p:cNvGrpSpPr/>
          <p:nvPr/>
        </p:nvGrpSpPr>
        <p:grpSpPr>
          <a:xfrm>
            <a:off x="492125" y="395288"/>
            <a:ext cx="796924" cy="423863"/>
            <a:chOff x="310" y="249"/>
            <a:chExt cx="502" cy="267"/>
          </a:xfrm>
        </p:grpSpPr>
        <p:sp>
          <p:nvSpPr>
            <p:cNvPr id="36" name="Google Shape;36;p75"/>
            <p:cNvSpPr/>
            <p:nvPr/>
          </p:nvSpPr>
          <p:spPr>
            <a:xfrm>
              <a:off x="452" y="426"/>
              <a:ext cx="22" cy="88"/>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 name="Google Shape;37;p75"/>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 name="Google Shape;38;p75"/>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 name="Google Shape;39;p75"/>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 name="Google Shape;40;p75"/>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 name="Google Shape;41;p75"/>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 name="Google Shape;42;p75"/>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3" name="Google Shape;43;p75"/>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 name="Google Shape;44;p75"/>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5" name="Google Shape;45;p75"/>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 name="Google Shape;46;p75"/>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 name="Google Shape;47;p75"/>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 name="Google Shape;48;p75"/>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 name="Google Shape;49;p75"/>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50"/>
        <p:cNvGrpSpPr/>
        <p:nvPr/>
      </p:nvGrpSpPr>
      <p:grpSpPr>
        <a:xfrm>
          <a:off x="0" y="0"/>
          <a:ext cx="0" cy="0"/>
          <a:chOff x="0" y="0"/>
          <a:chExt cx="0" cy="0"/>
        </a:xfrm>
      </p:grpSpPr>
      <p:sp>
        <p:nvSpPr>
          <p:cNvPr id="51" name="Google Shape;51;p76"/>
          <p:cNvSpPr txBox="1">
            <a:spLocks noGrp="1"/>
          </p:cNvSpPr>
          <p:nvPr>
            <p:ph type="sldNum" idx="12"/>
          </p:nvPr>
        </p:nvSpPr>
        <p:spPr>
          <a:xfrm>
            <a:off x="8473441" y="4954263"/>
            <a:ext cx="676910" cy="189238"/>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525">
                <a:solidFill>
                  <a:srgbClr val="595959"/>
                </a:solidFill>
                <a:latin typeface="Arial"/>
                <a:ea typeface="Arial"/>
                <a:cs typeface="Arial"/>
                <a:sym typeface="Arial"/>
              </a:defRPr>
            </a:lvl1pPr>
            <a:lvl2pPr marL="0" marR="0" lvl="1" indent="0" algn="r" rtl="0">
              <a:spcBef>
                <a:spcPts val="0"/>
              </a:spcBef>
              <a:spcAft>
                <a:spcPts val="0"/>
              </a:spcAft>
              <a:buNone/>
              <a:defRPr sz="525">
                <a:solidFill>
                  <a:srgbClr val="595959"/>
                </a:solidFill>
                <a:latin typeface="Arial"/>
                <a:ea typeface="Arial"/>
                <a:cs typeface="Arial"/>
                <a:sym typeface="Arial"/>
              </a:defRPr>
            </a:lvl2pPr>
            <a:lvl3pPr marL="0" marR="0" lvl="2" indent="0" algn="r" rtl="0">
              <a:spcBef>
                <a:spcPts val="0"/>
              </a:spcBef>
              <a:spcAft>
                <a:spcPts val="0"/>
              </a:spcAft>
              <a:buNone/>
              <a:defRPr sz="525">
                <a:solidFill>
                  <a:srgbClr val="595959"/>
                </a:solidFill>
                <a:latin typeface="Arial"/>
                <a:ea typeface="Arial"/>
                <a:cs typeface="Arial"/>
                <a:sym typeface="Arial"/>
              </a:defRPr>
            </a:lvl3pPr>
            <a:lvl4pPr marL="0" marR="0" lvl="3" indent="0" algn="r" rtl="0">
              <a:spcBef>
                <a:spcPts val="0"/>
              </a:spcBef>
              <a:spcAft>
                <a:spcPts val="0"/>
              </a:spcAft>
              <a:buNone/>
              <a:defRPr sz="525">
                <a:solidFill>
                  <a:srgbClr val="595959"/>
                </a:solidFill>
                <a:latin typeface="Arial"/>
                <a:ea typeface="Arial"/>
                <a:cs typeface="Arial"/>
                <a:sym typeface="Arial"/>
              </a:defRPr>
            </a:lvl4pPr>
            <a:lvl5pPr marL="0" marR="0" lvl="4" indent="0" algn="r" rtl="0">
              <a:spcBef>
                <a:spcPts val="0"/>
              </a:spcBef>
              <a:spcAft>
                <a:spcPts val="0"/>
              </a:spcAft>
              <a:buNone/>
              <a:defRPr sz="525">
                <a:solidFill>
                  <a:srgbClr val="595959"/>
                </a:solidFill>
                <a:latin typeface="Arial"/>
                <a:ea typeface="Arial"/>
                <a:cs typeface="Arial"/>
                <a:sym typeface="Arial"/>
              </a:defRPr>
            </a:lvl5pPr>
            <a:lvl6pPr marL="0" marR="0" lvl="5" indent="0" algn="r" rtl="0">
              <a:spcBef>
                <a:spcPts val="0"/>
              </a:spcBef>
              <a:spcAft>
                <a:spcPts val="0"/>
              </a:spcAft>
              <a:buNone/>
              <a:defRPr sz="525">
                <a:solidFill>
                  <a:srgbClr val="595959"/>
                </a:solidFill>
                <a:latin typeface="Arial"/>
                <a:ea typeface="Arial"/>
                <a:cs typeface="Arial"/>
                <a:sym typeface="Arial"/>
              </a:defRPr>
            </a:lvl6pPr>
            <a:lvl7pPr marL="0" marR="0" lvl="6" indent="0" algn="r" rtl="0">
              <a:spcBef>
                <a:spcPts val="0"/>
              </a:spcBef>
              <a:spcAft>
                <a:spcPts val="0"/>
              </a:spcAft>
              <a:buNone/>
              <a:defRPr sz="525">
                <a:solidFill>
                  <a:srgbClr val="595959"/>
                </a:solidFill>
                <a:latin typeface="Arial"/>
                <a:ea typeface="Arial"/>
                <a:cs typeface="Arial"/>
                <a:sym typeface="Arial"/>
              </a:defRPr>
            </a:lvl7pPr>
            <a:lvl8pPr marL="0" marR="0" lvl="7" indent="0" algn="r" rtl="0">
              <a:spcBef>
                <a:spcPts val="0"/>
              </a:spcBef>
              <a:spcAft>
                <a:spcPts val="0"/>
              </a:spcAft>
              <a:buNone/>
              <a:defRPr sz="525">
                <a:solidFill>
                  <a:srgbClr val="595959"/>
                </a:solidFill>
                <a:latin typeface="Arial"/>
                <a:ea typeface="Arial"/>
                <a:cs typeface="Arial"/>
                <a:sym typeface="Arial"/>
              </a:defRPr>
            </a:lvl8pPr>
            <a:lvl9pPr marL="0" marR="0" lvl="8" indent="0" algn="r" rtl="0">
              <a:spcBef>
                <a:spcPts val="0"/>
              </a:spcBef>
              <a:spcAft>
                <a:spcPts val="0"/>
              </a:spcAft>
              <a:buNone/>
              <a:defRPr sz="525">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52" name="Google Shape;52;p76"/>
          <p:cNvSpPr txBox="1">
            <a:spLocks noGrp="1"/>
          </p:cNvSpPr>
          <p:nvPr>
            <p:ph type="body" idx="1"/>
          </p:nvPr>
        </p:nvSpPr>
        <p:spPr>
          <a:xfrm>
            <a:off x="144065" y="798944"/>
            <a:ext cx="8853286" cy="4155319"/>
          </a:xfrm>
          <a:prstGeom prst="rect">
            <a:avLst/>
          </a:prstGeom>
          <a:noFill/>
          <a:ln>
            <a:noFill/>
          </a:ln>
        </p:spPr>
        <p:txBody>
          <a:bodyPr spcFirstLastPara="1" wrap="square" lIns="91425" tIns="45700" rIns="182875" bIns="45700" anchor="t" anchorCtr="0">
            <a:noAutofit/>
          </a:bodyPr>
          <a:lstStyle>
            <a:lvl1pPr marL="457200" marR="0" lvl="0" indent="-314325" algn="l" rtl="0">
              <a:lnSpc>
                <a:spcPct val="100000"/>
              </a:lnSpc>
              <a:spcBef>
                <a:spcPts val="600"/>
              </a:spcBef>
              <a:spcAft>
                <a:spcPts val="0"/>
              </a:spcAft>
              <a:buClr>
                <a:schemeClr val="dk2"/>
              </a:buClr>
              <a:buSzPts val="1350"/>
              <a:buFont typeface="Noto Sans Symbols"/>
              <a:buChar char="▪"/>
              <a:defRPr sz="1500" b="0" i="0" u="none" strike="noStrike" cap="none">
                <a:solidFill>
                  <a:srgbClr val="000000"/>
                </a:solidFill>
                <a:latin typeface="Arial"/>
                <a:ea typeface="Arial"/>
                <a:cs typeface="Arial"/>
                <a:sym typeface="Arial"/>
              </a:defRPr>
            </a:lvl1pPr>
            <a:lvl2pPr marL="914400" marR="0" lvl="1" indent="-317500" algn="l" rtl="0">
              <a:lnSpc>
                <a:spcPct val="100000"/>
              </a:lnSpc>
              <a:spcBef>
                <a:spcPts val="600"/>
              </a:spcBef>
              <a:spcAft>
                <a:spcPts val="0"/>
              </a:spcAft>
              <a:buClr>
                <a:schemeClr val="dk2"/>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04800" algn="l" rtl="0">
              <a:lnSpc>
                <a:spcPct val="100000"/>
              </a:lnSpc>
              <a:spcBef>
                <a:spcPts val="3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3pPr>
            <a:lvl4pPr marL="1828800" marR="0" lvl="3" indent="-298450" algn="l" rtl="0">
              <a:lnSpc>
                <a:spcPct val="100000"/>
              </a:lnSpc>
              <a:spcBef>
                <a:spcPts val="30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53" name="Google Shape;53;p76"/>
          <p:cNvSpPr txBox="1">
            <a:spLocks noGrp="1"/>
          </p:cNvSpPr>
          <p:nvPr>
            <p:ph type="title"/>
          </p:nvPr>
        </p:nvSpPr>
        <p:spPr>
          <a:xfrm>
            <a:off x="1" y="41393"/>
            <a:ext cx="9144000" cy="75755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2400"/>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3_Segue">
  <p:cSld name="3_Segue">
    <p:bg>
      <p:bgPr>
        <a:solidFill>
          <a:schemeClr val="lt1"/>
        </a:solidFill>
        <a:effectLst/>
      </p:bgPr>
    </p:bg>
    <p:spTree>
      <p:nvGrpSpPr>
        <p:cNvPr id="1" name="Shape 54"/>
        <p:cNvGrpSpPr/>
        <p:nvPr/>
      </p:nvGrpSpPr>
      <p:grpSpPr>
        <a:xfrm>
          <a:off x="0" y="0"/>
          <a:ext cx="0" cy="0"/>
          <a:chOff x="0" y="0"/>
          <a:chExt cx="0" cy="0"/>
        </a:xfrm>
      </p:grpSpPr>
      <p:sp>
        <p:nvSpPr>
          <p:cNvPr id="55" name="Google Shape;55;p77"/>
          <p:cNvSpPr/>
          <p:nvPr/>
        </p:nvSpPr>
        <p:spPr>
          <a:xfrm>
            <a:off x="0" y="0"/>
            <a:ext cx="9144000" cy="5143499"/>
          </a:xfrm>
          <a:prstGeom prst="rect">
            <a:avLst/>
          </a:prstGeom>
          <a:solidFill>
            <a:srgbClr val="00394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6" name="Google Shape;56;p77"/>
          <p:cNvSpPr txBox="1">
            <a:spLocks noGrp="1"/>
          </p:cNvSpPr>
          <p:nvPr>
            <p:ph type="ctrTitle"/>
          </p:nvPr>
        </p:nvSpPr>
        <p:spPr>
          <a:xfrm>
            <a:off x="416425" y="915409"/>
            <a:ext cx="7598042" cy="2569946"/>
          </a:xfrm>
          <a:prstGeom prst="rect">
            <a:avLst/>
          </a:prstGeom>
          <a:noFill/>
          <a:ln>
            <a:noFill/>
          </a:ln>
        </p:spPr>
        <p:txBody>
          <a:bodyPr spcFirstLastPara="1" wrap="square" lIns="91400" tIns="45700" rIns="91400" bIns="45700" anchor="b" anchorCtr="0">
            <a:noAutofit/>
          </a:bodyPr>
          <a:lstStyle>
            <a:lvl1pPr lvl="0" algn="l">
              <a:lnSpc>
                <a:spcPct val="90000"/>
              </a:lnSpc>
              <a:spcBef>
                <a:spcPts val="0"/>
              </a:spcBef>
              <a:spcAft>
                <a:spcPts val="0"/>
              </a:spcAft>
              <a:buClr>
                <a:schemeClr val="accent5"/>
              </a:buClr>
              <a:buSzPts val="4600"/>
              <a:buFont typeface="Arial"/>
              <a:buNone/>
              <a:defRPr sz="4600" b="0" i="0">
                <a:solidFill>
                  <a:schemeClr val="accent5"/>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57" name="Google Shape;57;p77"/>
          <p:cNvSpPr/>
          <p:nvPr/>
        </p:nvSpPr>
        <p:spPr>
          <a:xfrm>
            <a:off x="8515707" y="4742907"/>
            <a:ext cx="218414" cy="154518"/>
          </a:xfrm>
          <a:prstGeom prst="rect">
            <a:avLst/>
          </a:prstGeom>
          <a:noFill/>
          <a:ln>
            <a:noFill/>
          </a:ln>
        </p:spPr>
        <p:txBody>
          <a:bodyPr spcFirstLastPara="1" wrap="square" lIns="61575" tIns="30775" rIns="61575" bIns="30775" anchor="b" anchorCtr="0">
            <a:spAutoFit/>
          </a:bodyPr>
          <a:lstStyle/>
          <a:p>
            <a:pPr marL="0" marR="0" lvl="0" indent="0" algn="r" rtl="0">
              <a:spcBef>
                <a:spcPts val="0"/>
              </a:spcBef>
              <a:spcAft>
                <a:spcPts val="0"/>
              </a:spcAft>
              <a:buNone/>
            </a:pPr>
            <a:fld id="{00000000-1234-1234-1234-123412341234}" type="slidenum">
              <a:rPr lang="en-US" sz="600">
                <a:solidFill>
                  <a:srgbClr val="076D8E"/>
                </a:solidFill>
                <a:latin typeface="Arial"/>
                <a:ea typeface="Arial"/>
                <a:cs typeface="Arial"/>
                <a:sym typeface="Arial"/>
              </a:rPr>
              <a:t>‹#›</a:t>
            </a:fld>
            <a:endParaRPr sz="600">
              <a:solidFill>
                <a:srgbClr val="076D8E"/>
              </a:solidFill>
              <a:latin typeface="Arial"/>
              <a:ea typeface="Arial"/>
              <a:cs typeface="Arial"/>
              <a:sym typeface="Arial"/>
            </a:endParaRPr>
          </a:p>
        </p:txBody>
      </p:sp>
      <p:sp>
        <p:nvSpPr>
          <p:cNvPr id="58" name="Google Shape;58;p77"/>
          <p:cNvSpPr/>
          <p:nvPr/>
        </p:nvSpPr>
        <p:spPr>
          <a:xfrm>
            <a:off x="5867508" y="4741653"/>
            <a:ext cx="2658018" cy="154518"/>
          </a:xfrm>
          <a:prstGeom prst="rect">
            <a:avLst/>
          </a:prstGeom>
          <a:noFill/>
          <a:ln>
            <a:noFill/>
          </a:ln>
        </p:spPr>
        <p:txBody>
          <a:bodyPr spcFirstLastPara="1" wrap="square" lIns="61575" tIns="30775" rIns="61575" bIns="30775" anchor="b" anchorCtr="0">
            <a:spAutoFit/>
          </a:bodyPr>
          <a:lstStyle/>
          <a:p>
            <a:pPr marL="0" marR="0" lvl="0" indent="0" algn="l" rtl="0">
              <a:spcBef>
                <a:spcPts val="0"/>
              </a:spcBef>
              <a:spcAft>
                <a:spcPts val="0"/>
              </a:spcAft>
              <a:buNone/>
            </a:pPr>
            <a:r>
              <a:rPr lang="en-US" sz="600">
                <a:solidFill>
                  <a:srgbClr val="076D8E"/>
                </a:solidFill>
                <a:latin typeface="Arial"/>
                <a:ea typeface="Arial"/>
                <a:cs typeface="Arial"/>
                <a:sym typeface="Arial"/>
              </a:rPr>
              <a:t>© 2016  Cisco and/or its affiliates. All rights reserved.   Cisco Confidential</a:t>
            </a:r>
            <a:endParaRPr/>
          </a:p>
        </p:txBody>
      </p:sp>
      <p:grpSp>
        <p:nvGrpSpPr>
          <p:cNvPr id="59" name="Google Shape;59;p77"/>
          <p:cNvGrpSpPr/>
          <p:nvPr/>
        </p:nvGrpSpPr>
        <p:grpSpPr>
          <a:xfrm>
            <a:off x="508039" y="4715197"/>
            <a:ext cx="340257" cy="180974"/>
            <a:chOff x="310" y="249"/>
            <a:chExt cx="502" cy="267"/>
          </a:xfrm>
        </p:grpSpPr>
        <p:sp>
          <p:nvSpPr>
            <p:cNvPr id="60" name="Google Shape;60;p77"/>
            <p:cNvSpPr/>
            <p:nvPr/>
          </p:nvSpPr>
          <p:spPr>
            <a:xfrm>
              <a:off x="452" y="426"/>
              <a:ext cx="22" cy="88"/>
            </a:xfrm>
            <a:prstGeom prst="rect">
              <a:avLst/>
            </a:pr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 name="Google Shape;61;p77"/>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 name="Google Shape;62;p77"/>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 name="Google Shape;63;p77"/>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 name="Google Shape;64;p77"/>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5" name="Google Shape;65;p77"/>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 name="Google Shape;66;p77"/>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7" name="Google Shape;67;p77"/>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 name="Google Shape;68;p77"/>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 name="Google Shape;69;p77"/>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 name="Google Shape;70;p77"/>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 name="Google Shape;71;p77"/>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 name="Google Shape;72;p77"/>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 name="Google Shape;73;p77"/>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ulti_Slide">
  <p:cSld name="Multi_Slide">
    <p:spTree>
      <p:nvGrpSpPr>
        <p:cNvPr id="1" name="Shape 74"/>
        <p:cNvGrpSpPr/>
        <p:nvPr/>
      </p:nvGrpSpPr>
      <p:grpSpPr>
        <a:xfrm>
          <a:off x="0" y="0"/>
          <a:ext cx="0" cy="0"/>
          <a:chOff x="0" y="0"/>
          <a:chExt cx="0" cy="0"/>
        </a:xfrm>
      </p:grpSpPr>
      <p:sp>
        <p:nvSpPr>
          <p:cNvPr id="75" name="Google Shape;75;p78"/>
          <p:cNvSpPr txBox="1">
            <a:spLocks noGrp="1"/>
          </p:cNvSpPr>
          <p:nvPr>
            <p:ph type="body" idx="1"/>
          </p:nvPr>
        </p:nvSpPr>
        <p:spPr>
          <a:xfrm>
            <a:off x="474662" y="1347788"/>
            <a:ext cx="8280057" cy="3073946"/>
          </a:xfrm>
          <a:prstGeom prst="rect">
            <a:avLst/>
          </a:prstGeom>
          <a:noFill/>
          <a:ln>
            <a:noFill/>
          </a:ln>
        </p:spPr>
        <p:txBody>
          <a:bodyPr spcFirstLastPara="1" wrap="square" lIns="91400" tIns="45700" rIns="91400" bIns="45700" anchor="t" anchorCtr="0">
            <a:noAutofit/>
          </a:bodyPr>
          <a:lstStyle>
            <a:lvl1pPr marL="457200" marR="0" lvl="0" indent="-228600" algn="ctr" rtl="0">
              <a:lnSpc>
                <a:spcPct val="100000"/>
              </a:lnSpc>
              <a:spcBef>
                <a:spcPts val="400"/>
              </a:spcBef>
              <a:spcAft>
                <a:spcPts val="0"/>
              </a:spcAft>
              <a:buClr>
                <a:schemeClr val="lt1"/>
              </a:buClr>
              <a:buSzPts val="2000"/>
              <a:buFont typeface="Arial"/>
              <a:buNone/>
              <a:defRPr sz="2000" b="0" i="0" u="none" strike="noStrike" cap="none">
                <a:solidFill>
                  <a:schemeClr val="l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04800" algn="l" rtl="0">
              <a:lnSpc>
                <a:spcPct val="95000"/>
              </a:lnSpc>
              <a:spcBef>
                <a:spcPts val="625"/>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298450"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76" name="Google Shape;76;p78"/>
          <p:cNvSpPr txBox="1">
            <a:spLocks noGrp="1"/>
          </p:cNvSpPr>
          <p:nvPr>
            <p:ph type="title"/>
          </p:nvPr>
        </p:nvSpPr>
        <p:spPr>
          <a:xfrm>
            <a:off x="437766" y="341313"/>
            <a:ext cx="8345488" cy="731837"/>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1_Closing Slide">
  <p:cSld name="1_Closing Slide">
    <p:bg>
      <p:bgPr>
        <a:solidFill>
          <a:schemeClr val="accent5"/>
        </a:solidFill>
        <a:effectLst/>
      </p:bgPr>
    </p:bg>
    <p:spTree>
      <p:nvGrpSpPr>
        <p:cNvPr id="1" name="Shape 77"/>
        <p:cNvGrpSpPr/>
        <p:nvPr/>
      </p:nvGrpSpPr>
      <p:grpSpPr>
        <a:xfrm>
          <a:off x="0" y="0"/>
          <a:ext cx="0" cy="0"/>
          <a:chOff x="0" y="0"/>
          <a:chExt cx="0" cy="0"/>
        </a:xfrm>
      </p:grpSpPr>
      <p:pic>
        <p:nvPicPr>
          <p:cNvPr id="78" name="Google Shape;78;p79"/>
          <p:cNvPicPr preferRelativeResize="0"/>
          <p:nvPr/>
        </p:nvPicPr>
        <p:blipFill rotWithShape="1">
          <a:blip r:embed="rId2">
            <a:alphaModFix/>
          </a:blip>
          <a:srcRect/>
          <a:stretch/>
        </p:blipFill>
        <p:spPr>
          <a:xfrm>
            <a:off x="0" y="1"/>
            <a:ext cx="9143999" cy="5165874"/>
          </a:xfrm>
          <a:prstGeom prst="rect">
            <a:avLst/>
          </a:prstGeom>
          <a:noFill/>
          <a:ln>
            <a:noFill/>
          </a:ln>
        </p:spPr>
      </p:pic>
      <p:grpSp>
        <p:nvGrpSpPr>
          <p:cNvPr id="79" name="Google Shape;79;p79"/>
          <p:cNvGrpSpPr/>
          <p:nvPr/>
        </p:nvGrpSpPr>
        <p:grpSpPr>
          <a:xfrm>
            <a:off x="3746294" y="2129856"/>
            <a:ext cx="1617944" cy="860542"/>
            <a:chOff x="310" y="249"/>
            <a:chExt cx="502" cy="267"/>
          </a:xfrm>
        </p:grpSpPr>
        <p:sp>
          <p:nvSpPr>
            <p:cNvPr id="80" name="Google Shape;80;p79"/>
            <p:cNvSpPr/>
            <p:nvPr/>
          </p:nvSpPr>
          <p:spPr>
            <a:xfrm>
              <a:off x="452" y="426"/>
              <a:ext cx="22" cy="88"/>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1" name="Google Shape;81;p79"/>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2" name="Google Shape;82;p79"/>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3" name="Google Shape;83;p79"/>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4" name="Google Shape;84;p79"/>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5" name="Google Shape;85;p79"/>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6" name="Google Shape;86;p79"/>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7" name="Google Shape;87;p79"/>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8" name="Google Shape;88;p79"/>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9" name="Google Shape;89;p79"/>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0" name="Google Shape;90;p79"/>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1" name="Google Shape;91;p79"/>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2" name="Google Shape;92;p79"/>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3" name="Google Shape;93;p79"/>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5_Title Slide-animated gradient">
  <p:cSld name="5_Title Slide-animated gradient">
    <p:bg>
      <p:bgPr>
        <a:solidFill>
          <a:schemeClr val="accent5"/>
        </a:solidFill>
        <a:effectLst/>
      </p:bgPr>
    </p:bg>
    <p:spTree>
      <p:nvGrpSpPr>
        <p:cNvPr id="1" name="Shape 94"/>
        <p:cNvGrpSpPr/>
        <p:nvPr/>
      </p:nvGrpSpPr>
      <p:grpSpPr>
        <a:xfrm>
          <a:off x="0" y="0"/>
          <a:ext cx="0" cy="0"/>
          <a:chOff x="0" y="0"/>
          <a:chExt cx="0" cy="0"/>
        </a:xfrm>
      </p:grpSpPr>
      <p:sp>
        <p:nvSpPr>
          <p:cNvPr id="95" name="Google Shape;95;p80"/>
          <p:cNvSpPr txBox="1">
            <a:spLocks noGrp="1"/>
          </p:cNvSpPr>
          <p:nvPr>
            <p:ph type="subTitle" idx="1"/>
          </p:nvPr>
        </p:nvSpPr>
        <p:spPr>
          <a:xfrm>
            <a:off x="469496" y="3809526"/>
            <a:ext cx="4319105" cy="288131"/>
          </a:xfrm>
          <a:prstGeom prst="rect">
            <a:avLst/>
          </a:prstGeom>
          <a:noFill/>
          <a:ln>
            <a:noFill/>
          </a:ln>
        </p:spPr>
        <p:txBody>
          <a:bodyPr spcFirstLastPara="1" wrap="square" lIns="91400" tIns="45700" rIns="91400" bIns="45700" anchor="b" anchorCtr="0">
            <a:noAutofit/>
          </a:bodyPr>
          <a:lstStyle>
            <a:lvl1pPr marR="0" lvl="0" algn="l" rtl="0">
              <a:lnSpc>
                <a:spcPct val="95000"/>
              </a:lnSpc>
              <a:spcBef>
                <a:spcPts val="1075"/>
              </a:spcBef>
              <a:spcAft>
                <a:spcPts val="0"/>
              </a:spcAft>
              <a:buClr>
                <a:schemeClr val="dk2"/>
              </a:buClr>
              <a:buSzPts val="1080"/>
              <a:buFont typeface="Arial"/>
              <a:buNone/>
              <a:defRPr sz="1200" b="0" i="0" u="none" strike="noStrike" cap="none">
                <a:solidFill>
                  <a:schemeClr val="accent1"/>
                </a:solidFill>
                <a:latin typeface="Arial"/>
                <a:ea typeface="Arial"/>
                <a:cs typeface="Arial"/>
                <a:sym typeface="Arial"/>
              </a:defRPr>
            </a:lvl1pPr>
            <a:lvl2pPr marR="0" lvl="1" algn="ctr" rtl="0">
              <a:lnSpc>
                <a:spcPct val="95000"/>
              </a:lnSpc>
              <a:spcBef>
                <a:spcPts val="600"/>
              </a:spcBef>
              <a:spcAft>
                <a:spcPts val="0"/>
              </a:spcAft>
              <a:buClr>
                <a:schemeClr val="dk2"/>
              </a:buClr>
              <a:buSzPts val="1400"/>
              <a:buFont typeface="Arial"/>
              <a:buNone/>
              <a:defRPr sz="1400" b="0" i="0" u="none" strike="noStrike" cap="none">
                <a:solidFill>
                  <a:srgbClr val="98989A"/>
                </a:solidFill>
                <a:latin typeface="Arial"/>
                <a:ea typeface="Arial"/>
                <a:cs typeface="Arial"/>
                <a:sym typeface="Arial"/>
              </a:defRPr>
            </a:lvl2pPr>
            <a:lvl3pPr marR="0" lvl="2" algn="ctr" rtl="0">
              <a:lnSpc>
                <a:spcPct val="95000"/>
              </a:lnSpc>
              <a:spcBef>
                <a:spcPts val="625"/>
              </a:spcBef>
              <a:spcAft>
                <a:spcPts val="0"/>
              </a:spcAft>
              <a:buClr>
                <a:srgbClr val="98989A"/>
              </a:buClr>
              <a:buSzPts val="1200"/>
              <a:buFont typeface="Arial"/>
              <a:buNone/>
              <a:defRPr sz="1200" b="0" i="0" u="none" strike="noStrike" cap="none">
                <a:solidFill>
                  <a:srgbClr val="98989A"/>
                </a:solidFill>
                <a:latin typeface="Arial"/>
                <a:ea typeface="Arial"/>
                <a:cs typeface="Arial"/>
                <a:sym typeface="Arial"/>
              </a:defRPr>
            </a:lvl3pPr>
            <a:lvl4pPr marR="0" lvl="3"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4pPr>
            <a:lvl5pPr marR="0" lvl="4"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5pPr>
            <a:lvl6pPr marR="0" lvl="5" algn="ctr" rtl="0">
              <a:spcBef>
                <a:spcPts val="600"/>
              </a:spcBef>
              <a:spcAft>
                <a:spcPts val="0"/>
              </a:spcAft>
              <a:buClr>
                <a:srgbClr val="98989A"/>
              </a:buClr>
              <a:buSzPts val="900"/>
              <a:buFont typeface="Arial"/>
              <a:buNone/>
              <a:defRPr sz="900" b="0" i="0" u="none" strike="noStrike" cap="none">
                <a:solidFill>
                  <a:srgbClr val="98989A"/>
                </a:solidFill>
                <a:latin typeface="Arial"/>
                <a:ea typeface="Arial"/>
                <a:cs typeface="Arial"/>
                <a:sym typeface="Arial"/>
              </a:defRPr>
            </a:lvl6pPr>
            <a:lvl7pPr marR="0" lvl="6" algn="ctr" rtl="0">
              <a:spcBef>
                <a:spcPts val="600"/>
              </a:spcBef>
              <a:spcAft>
                <a:spcPts val="0"/>
              </a:spcAft>
              <a:buClr>
                <a:srgbClr val="98989A"/>
              </a:buClr>
              <a:buSzPts val="800"/>
              <a:buFont typeface="Arial"/>
              <a:buNone/>
              <a:defRPr sz="800" b="0" i="0" u="none" strike="noStrike" cap="none">
                <a:solidFill>
                  <a:srgbClr val="98989A"/>
                </a:solidFill>
                <a:latin typeface="Arial"/>
                <a:ea typeface="Arial"/>
                <a:cs typeface="Arial"/>
                <a:sym typeface="Arial"/>
              </a:defRPr>
            </a:lvl7pPr>
            <a:lvl8pPr marR="0" lvl="7" algn="ctr" rtl="0">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8pPr>
            <a:lvl9pPr marR="0" lvl="8" algn="ctr" rtl="0">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9pPr>
          </a:lstStyle>
          <a:p>
            <a:endParaRPr/>
          </a:p>
        </p:txBody>
      </p:sp>
      <p:sp>
        <p:nvSpPr>
          <p:cNvPr id="96" name="Google Shape;96;p80"/>
          <p:cNvSpPr txBox="1">
            <a:spLocks noGrp="1"/>
          </p:cNvSpPr>
          <p:nvPr>
            <p:ph type="body" idx="2"/>
          </p:nvPr>
        </p:nvSpPr>
        <p:spPr>
          <a:xfrm>
            <a:off x="469496" y="4049523"/>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1"/>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97" name="Google Shape;97;p80"/>
          <p:cNvSpPr txBox="1">
            <a:spLocks noGrp="1"/>
          </p:cNvSpPr>
          <p:nvPr>
            <p:ph type="body" idx="3"/>
          </p:nvPr>
        </p:nvSpPr>
        <p:spPr>
          <a:xfrm>
            <a:off x="469496" y="4289520"/>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1"/>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grpSp>
        <p:nvGrpSpPr>
          <p:cNvPr id="98" name="Google Shape;98;p80"/>
          <p:cNvGrpSpPr/>
          <p:nvPr/>
        </p:nvGrpSpPr>
        <p:grpSpPr>
          <a:xfrm>
            <a:off x="492125" y="395288"/>
            <a:ext cx="796924" cy="423863"/>
            <a:chOff x="310" y="249"/>
            <a:chExt cx="502" cy="267"/>
          </a:xfrm>
        </p:grpSpPr>
        <p:sp>
          <p:nvSpPr>
            <p:cNvPr id="99" name="Google Shape;99;p80"/>
            <p:cNvSpPr/>
            <p:nvPr/>
          </p:nvSpPr>
          <p:spPr>
            <a:xfrm>
              <a:off x="452" y="426"/>
              <a:ext cx="22" cy="88"/>
            </a:xfrm>
            <a:prstGeom prst="rect">
              <a:avLst/>
            </a:pr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0" name="Google Shape;100;p80"/>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 name="Google Shape;101;p80"/>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2" name="Google Shape;102;p80"/>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 name="Google Shape;103;p80"/>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4" name="Google Shape;104;p80"/>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5" name="Google Shape;105;p80"/>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6" name="Google Shape;106;p80"/>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7" name="Google Shape;107;p80"/>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8" name="Google Shape;108;p80"/>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9" name="Google Shape;109;p80"/>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0" name="Google Shape;110;p80"/>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1" name="Google Shape;111;p80"/>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2" name="Google Shape;112;p80"/>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13" name="Google Shape;113;p80"/>
          <p:cNvSpPr txBox="1">
            <a:spLocks noGrp="1"/>
          </p:cNvSpPr>
          <p:nvPr>
            <p:ph type="body" idx="4"/>
          </p:nvPr>
        </p:nvSpPr>
        <p:spPr>
          <a:xfrm>
            <a:off x="463292" y="2872236"/>
            <a:ext cx="5925246" cy="29900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5000"/>
              </a:lnSpc>
              <a:spcBef>
                <a:spcPts val="625"/>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4pPr>
            <a:lvl5pPr marL="2286000" marR="0" lvl="4"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14" name="Google Shape;114;p80"/>
          <p:cNvSpPr txBox="1">
            <a:spLocks noGrp="1"/>
          </p:cNvSpPr>
          <p:nvPr>
            <p:ph type="ctrTitle"/>
          </p:nvPr>
        </p:nvSpPr>
        <p:spPr>
          <a:xfrm>
            <a:off x="425765" y="2300750"/>
            <a:ext cx="5955513" cy="644730"/>
          </a:xfrm>
          <a:prstGeom prst="rect">
            <a:avLst/>
          </a:prstGeom>
          <a:noFill/>
          <a:ln>
            <a:noFill/>
          </a:ln>
        </p:spPr>
        <p:txBody>
          <a:bodyPr spcFirstLastPara="1" wrap="square" lIns="91400" tIns="45700" rIns="91400" bIns="45700" anchor="b" anchorCtr="0">
            <a:noAutofit/>
          </a:bodyPr>
          <a:lstStyle>
            <a:lvl1pPr lvl="0" algn="l">
              <a:lnSpc>
                <a:spcPct val="90000"/>
              </a:lnSpc>
              <a:spcBef>
                <a:spcPts val="0"/>
              </a:spcBef>
              <a:spcAft>
                <a:spcPts val="0"/>
              </a:spcAft>
              <a:buClr>
                <a:schemeClr val="accent1"/>
              </a:buClr>
              <a:buSzPts val="3600"/>
              <a:buFont typeface="Arial"/>
              <a:buNone/>
              <a:defRPr sz="3600" b="0" i="0">
                <a:solidFill>
                  <a:schemeClr val="accen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6_Title Slide-animated gradient">
  <p:cSld name="6_Title Slide-animated gradient">
    <p:bg>
      <p:bgPr>
        <a:solidFill>
          <a:schemeClr val="accent5"/>
        </a:solidFill>
        <a:effectLst/>
      </p:bgPr>
    </p:bg>
    <p:spTree>
      <p:nvGrpSpPr>
        <p:cNvPr id="1" name="Shape 115"/>
        <p:cNvGrpSpPr/>
        <p:nvPr/>
      </p:nvGrpSpPr>
      <p:grpSpPr>
        <a:xfrm>
          <a:off x="0" y="0"/>
          <a:ext cx="0" cy="0"/>
          <a:chOff x="0" y="0"/>
          <a:chExt cx="0" cy="0"/>
        </a:xfrm>
      </p:grpSpPr>
      <p:sp>
        <p:nvSpPr>
          <p:cNvPr id="116" name="Google Shape;116;p81"/>
          <p:cNvSpPr/>
          <p:nvPr/>
        </p:nvSpPr>
        <p:spPr>
          <a:xfrm>
            <a:off x="0" y="0"/>
            <a:ext cx="9144000" cy="5143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7" name="Google Shape;117;p81"/>
          <p:cNvSpPr txBox="1">
            <a:spLocks noGrp="1"/>
          </p:cNvSpPr>
          <p:nvPr>
            <p:ph type="subTitle" idx="1"/>
          </p:nvPr>
        </p:nvSpPr>
        <p:spPr>
          <a:xfrm>
            <a:off x="469496" y="3809526"/>
            <a:ext cx="4319105" cy="288131"/>
          </a:xfrm>
          <a:prstGeom prst="rect">
            <a:avLst/>
          </a:prstGeom>
          <a:noFill/>
          <a:ln>
            <a:noFill/>
          </a:ln>
        </p:spPr>
        <p:txBody>
          <a:bodyPr spcFirstLastPara="1" wrap="square" lIns="91400" tIns="45700" rIns="91400" bIns="45700" anchor="b" anchorCtr="0">
            <a:noAutofit/>
          </a:bodyPr>
          <a:lstStyle>
            <a:lvl1pPr marR="0" lvl="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R="0" lvl="1" algn="ctr" rtl="0">
              <a:lnSpc>
                <a:spcPct val="95000"/>
              </a:lnSpc>
              <a:spcBef>
                <a:spcPts val="600"/>
              </a:spcBef>
              <a:spcAft>
                <a:spcPts val="0"/>
              </a:spcAft>
              <a:buClr>
                <a:schemeClr val="dk2"/>
              </a:buClr>
              <a:buSzPts val="1400"/>
              <a:buFont typeface="Arial"/>
              <a:buNone/>
              <a:defRPr sz="1400" b="0" i="0" u="none" strike="noStrike" cap="none">
                <a:solidFill>
                  <a:srgbClr val="98989A"/>
                </a:solidFill>
                <a:latin typeface="Arial"/>
                <a:ea typeface="Arial"/>
                <a:cs typeface="Arial"/>
                <a:sym typeface="Arial"/>
              </a:defRPr>
            </a:lvl2pPr>
            <a:lvl3pPr marR="0" lvl="2" algn="ctr" rtl="0">
              <a:lnSpc>
                <a:spcPct val="95000"/>
              </a:lnSpc>
              <a:spcBef>
                <a:spcPts val="625"/>
              </a:spcBef>
              <a:spcAft>
                <a:spcPts val="0"/>
              </a:spcAft>
              <a:buClr>
                <a:srgbClr val="98989A"/>
              </a:buClr>
              <a:buSzPts val="1200"/>
              <a:buFont typeface="Arial"/>
              <a:buNone/>
              <a:defRPr sz="1200" b="0" i="0" u="none" strike="noStrike" cap="none">
                <a:solidFill>
                  <a:srgbClr val="98989A"/>
                </a:solidFill>
                <a:latin typeface="Arial"/>
                <a:ea typeface="Arial"/>
                <a:cs typeface="Arial"/>
                <a:sym typeface="Arial"/>
              </a:defRPr>
            </a:lvl3pPr>
            <a:lvl4pPr marR="0" lvl="3"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4pPr>
            <a:lvl5pPr marR="0" lvl="4"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5pPr>
            <a:lvl6pPr marR="0" lvl="5" algn="ctr" rtl="0">
              <a:spcBef>
                <a:spcPts val="600"/>
              </a:spcBef>
              <a:spcAft>
                <a:spcPts val="0"/>
              </a:spcAft>
              <a:buClr>
                <a:srgbClr val="98989A"/>
              </a:buClr>
              <a:buSzPts val="900"/>
              <a:buFont typeface="Arial"/>
              <a:buNone/>
              <a:defRPr sz="900" b="0" i="0" u="none" strike="noStrike" cap="none">
                <a:solidFill>
                  <a:srgbClr val="98989A"/>
                </a:solidFill>
                <a:latin typeface="Arial"/>
                <a:ea typeface="Arial"/>
                <a:cs typeface="Arial"/>
                <a:sym typeface="Arial"/>
              </a:defRPr>
            </a:lvl6pPr>
            <a:lvl7pPr marR="0" lvl="6" algn="ctr" rtl="0">
              <a:spcBef>
                <a:spcPts val="600"/>
              </a:spcBef>
              <a:spcAft>
                <a:spcPts val="0"/>
              </a:spcAft>
              <a:buClr>
                <a:srgbClr val="98989A"/>
              </a:buClr>
              <a:buSzPts val="800"/>
              <a:buFont typeface="Arial"/>
              <a:buNone/>
              <a:defRPr sz="800" b="0" i="0" u="none" strike="noStrike" cap="none">
                <a:solidFill>
                  <a:srgbClr val="98989A"/>
                </a:solidFill>
                <a:latin typeface="Arial"/>
                <a:ea typeface="Arial"/>
                <a:cs typeface="Arial"/>
                <a:sym typeface="Arial"/>
              </a:defRPr>
            </a:lvl7pPr>
            <a:lvl8pPr marR="0" lvl="7" algn="ctr" rtl="0">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8pPr>
            <a:lvl9pPr marR="0" lvl="8" algn="ctr" rtl="0">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9pPr>
          </a:lstStyle>
          <a:p>
            <a:endParaRPr/>
          </a:p>
        </p:txBody>
      </p:sp>
      <p:sp>
        <p:nvSpPr>
          <p:cNvPr id="118" name="Google Shape;118;p81"/>
          <p:cNvSpPr txBox="1">
            <a:spLocks noGrp="1"/>
          </p:cNvSpPr>
          <p:nvPr>
            <p:ph type="body" idx="2"/>
          </p:nvPr>
        </p:nvSpPr>
        <p:spPr>
          <a:xfrm>
            <a:off x="469496" y="4049523"/>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19" name="Google Shape;119;p81"/>
          <p:cNvSpPr txBox="1">
            <a:spLocks noGrp="1"/>
          </p:cNvSpPr>
          <p:nvPr>
            <p:ph type="body" idx="3"/>
          </p:nvPr>
        </p:nvSpPr>
        <p:spPr>
          <a:xfrm>
            <a:off x="469496" y="4289520"/>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grpSp>
        <p:nvGrpSpPr>
          <p:cNvPr id="120" name="Google Shape;120;p81"/>
          <p:cNvGrpSpPr/>
          <p:nvPr/>
        </p:nvGrpSpPr>
        <p:grpSpPr>
          <a:xfrm>
            <a:off x="492125" y="395288"/>
            <a:ext cx="796924" cy="423863"/>
            <a:chOff x="310" y="249"/>
            <a:chExt cx="502" cy="267"/>
          </a:xfrm>
        </p:grpSpPr>
        <p:sp>
          <p:nvSpPr>
            <p:cNvPr id="121" name="Google Shape;121;p81"/>
            <p:cNvSpPr/>
            <p:nvPr/>
          </p:nvSpPr>
          <p:spPr>
            <a:xfrm>
              <a:off x="452" y="426"/>
              <a:ext cx="22" cy="88"/>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2" name="Google Shape;122;p81"/>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3" name="Google Shape;123;p81"/>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4" name="Google Shape;124;p81"/>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5" name="Google Shape;125;p81"/>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6" name="Google Shape;126;p81"/>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7" name="Google Shape;127;p81"/>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8" name="Google Shape;128;p81"/>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9" name="Google Shape;129;p81"/>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0" name="Google Shape;130;p81"/>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1" name="Google Shape;131;p81"/>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2" name="Google Shape;132;p81"/>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3" name="Google Shape;133;p81"/>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4" name="Google Shape;134;p81"/>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35" name="Google Shape;135;p81"/>
          <p:cNvSpPr txBox="1">
            <a:spLocks noGrp="1"/>
          </p:cNvSpPr>
          <p:nvPr>
            <p:ph type="body" idx="4"/>
          </p:nvPr>
        </p:nvSpPr>
        <p:spPr>
          <a:xfrm>
            <a:off x="463292" y="2872236"/>
            <a:ext cx="5925246" cy="29900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lt2"/>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5000"/>
              </a:lnSpc>
              <a:spcBef>
                <a:spcPts val="625"/>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4pPr>
            <a:lvl5pPr marL="2286000" marR="0" lvl="4"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36" name="Google Shape;136;p81"/>
          <p:cNvSpPr txBox="1">
            <a:spLocks noGrp="1"/>
          </p:cNvSpPr>
          <p:nvPr>
            <p:ph type="ctrTitle"/>
          </p:nvPr>
        </p:nvSpPr>
        <p:spPr>
          <a:xfrm>
            <a:off x="425765" y="2300750"/>
            <a:ext cx="5955513" cy="644730"/>
          </a:xfrm>
          <a:prstGeom prst="rect">
            <a:avLst/>
          </a:prstGeom>
          <a:noFill/>
          <a:ln>
            <a:noFill/>
          </a:ln>
        </p:spPr>
        <p:txBody>
          <a:bodyPr spcFirstLastPara="1" wrap="square" lIns="91400" tIns="45700" rIns="91400" bIns="45700" anchor="b" anchorCtr="0">
            <a:noAutofit/>
          </a:bodyPr>
          <a:lstStyle>
            <a:lvl1pPr lvl="0" algn="l">
              <a:lnSpc>
                <a:spcPct val="90000"/>
              </a:lnSpc>
              <a:spcBef>
                <a:spcPts val="0"/>
              </a:spcBef>
              <a:spcAft>
                <a:spcPts val="0"/>
              </a:spcAft>
              <a:buClr>
                <a:srgbClr val="38C6F4"/>
              </a:buClr>
              <a:buSzPts val="3600"/>
              <a:buFont typeface="Arial"/>
              <a:buNone/>
              <a:defRPr sz="3600" b="0" i="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Slide">
  <p:cSld name="Blank Slide">
    <p:spTree>
      <p:nvGrpSpPr>
        <p:cNvPr id="1" name="Shape 137"/>
        <p:cNvGrpSpPr/>
        <p:nvPr/>
      </p:nvGrpSpPr>
      <p:grpSpPr>
        <a:xfrm>
          <a:off x="0" y="0"/>
          <a:ext cx="0" cy="0"/>
          <a:chOff x="0" y="0"/>
          <a:chExt cx="0" cy="0"/>
        </a:xfrm>
      </p:grpSpPr>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_Circled_Bullets">
  <p:cSld name="2_Circled_Bullets">
    <p:spTree>
      <p:nvGrpSpPr>
        <p:cNvPr id="1" name="Shape 138"/>
        <p:cNvGrpSpPr/>
        <p:nvPr/>
      </p:nvGrpSpPr>
      <p:grpSpPr>
        <a:xfrm>
          <a:off x="0" y="0"/>
          <a:ext cx="0" cy="0"/>
          <a:chOff x="0" y="0"/>
          <a:chExt cx="0" cy="0"/>
        </a:xfrm>
      </p:grpSpPr>
      <p:sp>
        <p:nvSpPr>
          <p:cNvPr id="139" name="Google Shape;139;p83"/>
          <p:cNvSpPr txBox="1">
            <a:spLocks noGrp="1"/>
          </p:cNvSpPr>
          <p:nvPr>
            <p:ph type="title"/>
          </p:nvPr>
        </p:nvSpPr>
        <p:spPr>
          <a:xfrm>
            <a:off x="438150" y="341313"/>
            <a:ext cx="8345488" cy="731837"/>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140" name="Google Shape;140;p83"/>
          <p:cNvSpPr/>
          <p:nvPr/>
        </p:nvSpPr>
        <p:spPr>
          <a:xfrm>
            <a:off x="575610" y="2552550"/>
            <a:ext cx="698624" cy="698624"/>
          </a:xfrm>
          <a:prstGeom prst="ellipse">
            <a:avLst/>
          </a:prstGeom>
          <a:solidFill>
            <a:schemeClr val="lt2"/>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rgbClr val="FFFFFF"/>
              </a:solidFill>
              <a:latin typeface="Arial"/>
              <a:ea typeface="Arial"/>
              <a:cs typeface="Arial"/>
              <a:sym typeface="Arial"/>
            </a:endParaRPr>
          </a:p>
        </p:txBody>
      </p:sp>
      <p:sp>
        <p:nvSpPr>
          <p:cNvPr id="141" name="Google Shape;141;p83"/>
          <p:cNvSpPr/>
          <p:nvPr/>
        </p:nvSpPr>
        <p:spPr>
          <a:xfrm>
            <a:off x="575610" y="1426607"/>
            <a:ext cx="698624" cy="698624"/>
          </a:xfrm>
          <a:prstGeom prst="ellipse">
            <a:avLst/>
          </a:prstGeom>
          <a:solidFill>
            <a:srgbClr val="00394F"/>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chemeClr val="lt1"/>
              </a:solidFill>
              <a:latin typeface="Arial"/>
              <a:ea typeface="Arial"/>
              <a:cs typeface="Arial"/>
              <a:sym typeface="Arial"/>
            </a:endParaRPr>
          </a:p>
        </p:txBody>
      </p:sp>
      <p:sp>
        <p:nvSpPr>
          <p:cNvPr id="142" name="Google Shape;142;p83"/>
          <p:cNvSpPr/>
          <p:nvPr/>
        </p:nvSpPr>
        <p:spPr>
          <a:xfrm>
            <a:off x="575610" y="3653093"/>
            <a:ext cx="698624" cy="698624"/>
          </a:xfrm>
          <a:prstGeom prst="ellipse">
            <a:avLst/>
          </a:prstGeom>
          <a:solidFill>
            <a:schemeClr val="accent5"/>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rgbClr val="049FD9"/>
              </a:solidFill>
              <a:latin typeface="Arial"/>
              <a:ea typeface="Arial"/>
              <a:cs typeface="Arial"/>
              <a:sym typeface="Arial"/>
            </a:endParaRPr>
          </a:p>
        </p:txBody>
      </p:sp>
      <p:sp>
        <p:nvSpPr>
          <p:cNvPr id="143" name="Google Shape;143;p83"/>
          <p:cNvSpPr txBox="1">
            <a:spLocks noGrp="1"/>
          </p:cNvSpPr>
          <p:nvPr>
            <p:ph type="body" idx="1"/>
          </p:nvPr>
        </p:nvSpPr>
        <p:spPr>
          <a:xfrm>
            <a:off x="1365250" y="1432522"/>
            <a:ext cx="5473700" cy="693381"/>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44" name="Google Shape;144;p83"/>
          <p:cNvSpPr txBox="1">
            <a:spLocks noGrp="1"/>
          </p:cNvSpPr>
          <p:nvPr>
            <p:ph type="body" idx="2"/>
          </p:nvPr>
        </p:nvSpPr>
        <p:spPr>
          <a:xfrm>
            <a:off x="1365250" y="2557793"/>
            <a:ext cx="5473700" cy="693381"/>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45" name="Google Shape;145;p83"/>
          <p:cNvSpPr txBox="1">
            <a:spLocks noGrp="1"/>
          </p:cNvSpPr>
          <p:nvPr>
            <p:ph type="body" idx="3"/>
          </p:nvPr>
        </p:nvSpPr>
        <p:spPr>
          <a:xfrm>
            <a:off x="1365250" y="3653093"/>
            <a:ext cx="5473700" cy="693381"/>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46" name="Google Shape;146;p83"/>
          <p:cNvSpPr txBox="1">
            <a:spLocks noGrp="1"/>
          </p:cNvSpPr>
          <p:nvPr>
            <p:ph type="body" idx="4"/>
          </p:nvPr>
        </p:nvSpPr>
        <p:spPr>
          <a:xfrm>
            <a:off x="575610" y="2552550"/>
            <a:ext cx="698624" cy="693381"/>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3600"/>
              <a:buFont typeface="Arial"/>
              <a:buNone/>
              <a:defRPr sz="4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47" name="Google Shape;147;p83"/>
          <p:cNvSpPr txBox="1">
            <a:spLocks noGrp="1"/>
          </p:cNvSpPr>
          <p:nvPr>
            <p:ph type="body" idx="5"/>
          </p:nvPr>
        </p:nvSpPr>
        <p:spPr>
          <a:xfrm>
            <a:off x="575611" y="3651140"/>
            <a:ext cx="698624" cy="693381"/>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3600"/>
              <a:buFont typeface="Arial"/>
              <a:buNone/>
              <a:defRPr sz="4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48" name="Google Shape;148;p83"/>
          <p:cNvSpPr txBox="1">
            <a:spLocks noGrp="1"/>
          </p:cNvSpPr>
          <p:nvPr>
            <p:ph type="body" idx="6"/>
          </p:nvPr>
        </p:nvSpPr>
        <p:spPr>
          <a:xfrm>
            <a:off x="575610" y="1427248"/>
            <a:ext cx="698624" cy="693381"/>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3600"/>
              <a:buFont typeface="Arial"/>
              <a:buNone/>
              <a:defRPr sz="4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5_Circled_Bullets">
  <p:cSld name="5_Circled_Bullets">
    <p:spTree>
      <p:nvGrpSpPr>
        <p:cNvPr id="1" name="Shape 149"/>
        <p:cNvGrpSpPr/>
        <p:nvPr/>
      </p:nvGrpSpPr>
      <p:grpSpPr>
        <a:xfrm>
          <a:off x="0" y="0"/>
          <a:ext cx="0" cy="0"/>
          <a:chOff x="0" y="0"/>
          <a:chExt cx="0" cy="0"/>
        </a:xfrm>
      </p:grpSpPr>
      <p:sp>
        <p:nvSpPr>
          <p:cNvPr id="150" name="Google Shape;150;p84"/>
          <p:cNvSpPr txBox="1">
            <a:spLocks noGrp="1"/>
          </p:cNvSpPr>
          <p:nvPr>
            <p:ph type="title"/>
          </p:nvPr>
        </p:nvSpPr>
        <p:spPr>
          <a:xfrm>
            <a:off x="438150" y="341313"/>
            <a:ext cx="8345488" cy="731837"/>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151" name="Google Shape;151;p84"/>
          <p:cNvSpPr/>
          <p:nvPr/>
        </p:nvSpPr>
        <p:spPr>
          <a:xfrm>
            <a:off x="575611" y="1979318"/>
            <a:ext cx="464815" cy="464815"/>
          </a:xfrm>
          <a:prstGeom prst="ellipse">
            <a:avLst/>
          </a:prstGeom>
          <a:solidFill>
            <a:srgbClr val="38C6F4"/>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chemeClr val="accent5"/>
              </a:solidFill>
              <a:latin typeface="Arial"/>
              <a:ea typeface="Arial"/>
              <a:cs typeface="Arial"/>
              <a:sym typeface="Arial"/>
            </a:endParaRPr>
          </a:p>
        </p:txBody>
      </p:sp>
      <p:sp>
        <p:nvSpPr>
          <p:cNvPr id="152" name="Google Shape;152;p84"/>
          <p:cNvSpPr/>
          <p:nvPr/>
        </p:nvSpPr>
        <p:spPr>
          <a:xfrm>
            <a:off x="575610" y="1328927"/>
            <a:ext cx="464815" cy="464815"/>
          </a:xfrm>
          <a:prstGeom prst="ellipse">
            <a:avLst/>
          </a:prstGeom>
          <a:solidFill>
            <a:srgbClr val="00394F"/>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chemeClr val="accent5"/>
              </a:solidFill>
              <a:latin typeface="Arial"/>
              <a:ea typeface="Arial"/>
              <a:cs typeface="Arial"/>
              <a:sym typeface="Arial"/>
            </a:endParaRPr>
          </a:p>
        </p:txBody>
      </p:sp>
      <p:sp>
        <p:nvSpPr>
          <p:cNvPr id="153" name="Google Shape;153;p84"/>
          <p:cNvSpPr/>
          <p:nvPr/>
        </p:nvSpPr>
        <p:spPr>
          <a:xfrm>
            <a:off x="575611" y="2627446"/>
            <a:ext cx="464815" cy="464815"/>
          </a:xfrm>
          <a:prstGeom prst="ellipse">
            <a:avLst/>
          </a:prstGeom>
          <a:solidFill>
            <a:schemeClr val="lt2"/>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chemeClr val="accent5"/>
              </a:solidFill>
              <a:latin typeface="Arial"/>
              <a:ea typeface="Arial"/>
              <a:cs typeface="Arial"/>
              <a:sym typeface="Arial"/>
            </a:endParaRPr>
          </a:p>
        </p:txBody>
      </p:sp>
      <p:sp>
        <p:nvSpPr>
          <p:cNvPr id="154" name="Google Shape;154;p84"/>
          <p:cNvSpPr txBox="1">
            <a:spLocks noGrp="1"/>
          </p:cNvSpPr>
          <p:nvPr>
            <p:ph type="body" idx="1"/>
          </p:nvPr>
        </p:nvSpPr>
        <p:spPr>
          <a:xfrm>
            <a:off x="1172384" y="1334842"/>
            <a:ext cx="5678748"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55" name="Google Shape;155;p84"/>
          <p:cNvSpPr txBox="1">
            <a:spLocks noGrp="1"/>
          </p:cNvSpPr>
          <p:nvPr>
            <p:ph type="body" idx="2"/>
          </p:nvPr>
        </p:nvSpPr>
        <p:spPr>
          <a:xfrm>
            <a:off x="1172385" y="1984561"/>
            <a:ext cx="5678748"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56" name="Google Shape;156;p84"/>
          <p:cNvSpPr txBox="1">
            <a:spLocks noGrp="1"/>
          </p:cNvSpPr>
          <p:nvPr>
            <p:ph type="body" idx="3"/>
          </p:nvPr>
        </p:nvSpPr>
        <p:spPr>
          <a:xfrm>
            <a:off x="1172385" y="2627446"/>
            <a:ext cx="5678748"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57" name="Google Shape;157;p84"/>
          <p:cNvSpPr txBox="1">
            <a:spLocks noGrp="1"/>
          </p:cNvSpPr>
          <p:nvPr>
            <p:ph type="body" idx="4"/>
          </p:nvPr>
        </p:nvSpPr>
        <p:spPr>
          <a:xfrm>
            <a:off x="575611" y="1327521"/>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58" name="Google Shape;158;p84"/>
          <p:cNvSpPr txBox="1">
            <a:spLocks noGrp="1"/>
          </p:cNvSpPr>
          <p:nvPr>
            <p:ph type="body" idx="5"/>
          </p:nvPr>
        </p:nvSpPr>
        <p:spPr>
          <a:xfrm>
            <a:off x="575611" y="1979318"/>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59" name="Google Shape;159;p84"/>
          <p:cNvSpPr txBox="1">
            <a:spLocks noGrp="1"/>
          </p:cNvSpPr>
          <p:nvPr>
            <p:ph type="body" idx="6"/>
          </p:nvPr>
        </p:nvSpPr>
        <p:spPr>
          <a:xfrm>
            <a:off x="575612" y="2625493"/>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60" name="Google Shape;160;p84"/>
          <p:cNvSpPr/>
          <p:nvPr/>
        </p:nvSpPr>
        <p:spPr>
          <a:xfrm>
            <a:off x="575612" y="3274581"/>
            <a:ext cx="464815" cy="464815"/>
          </a:xfrm>
          <a:prstGeom prst="ellipse">
            <a:avLst/>
          </a:prstGeom>
          <a:solidFill>
            <a:schemeClr val="accent6"/>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chemeClr val="accent5"/>
              </a:solidFill>
              <a:latin typeface="Arial"/>
              <a:ea typeface="Arial"/>
              <a:cs typeface="Arial"/>
              <a:sym typeface="Arial"/>
            </a:endParaRPr>
          </a:p>
        </p:txBody>
      </p:sp>
      <p:sp>
        <p:nvSpPr>
          <p:cNvPr id="161" name="Google Shape;161;p84"/>
          <p:cNvSpPr txBox="1">
            <a:spLocks noGrp="1"/>
          </p:cNvSpPr>
          <p:nvPr>
            <p:ph type="body" idx="7"/>
          </p:nvPr>
        </p:nvSpPr>
        <p:spPr>
          <a:xfrm>
            <a:off x="1172386" y="3274581"/>
            <a:ext cx="5678748"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62" name="Google Shape;162;p84"/>
          <p:cNvSpPr txBox="1">
            <a:spLocks noGrp="1"/>
          </p:cNvSpPr>
          <p:nvPr>
            <p:ph type="body" idx="8"/>
          </p:nvPr>
        </p:nvSpPr>
        <p:spPr>
          <a:xfrm>
            <a:off x="575613" y="3272628"/>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63" name="Google Shape;163;p84"/>
          <p:cNvSpPr/>
          <p:nvPr/>
        </p:nvSpPr>
        <p:spPr>
          <a:xfrm>
            <a:off x="575613" y="3921716"/>
            <a:ext cx="464815" cy="464815"/>
          </a:xfrm>
          <a:prstGeom prst="ellipse">
            <a:avLst/>
          </a:prstGeom>
          <a:solidFill>
            <a:srgbClr val="00394F"/>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chemeClr val="accent5"/>
              </a:solidFill>
              <a:latin typeface="Arial"/>
              <a:ea typeface="Arial"/>
              <a:cs typeface="Arial"/>
              <a:sym typeface="Arial"/>
            </a:endParaRPr>
          </a:p>
        </p:txBody>
      </p:sp>
      <p:sp>
        <p:nvSpPr>
          <p:cNvPr id="164" name="Google Shape;164;p84"/>
          <p:cNvSpPr txBox="1">
            <a:spLocks noGrp="1"/>
          </p:cNvSpPr>
          <p:nvPr>
            <p:ph type="body" idx="9"/>
          </p:nvPr>
        </p:nvSpPr>
        <p:spPr>
          <a:xfrm>
            <a:off x="1172387" y="3921716"/>
            <a:ext cx="5678748"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65" name="Google Shape;165;p84"/>
          <p:cNvSpPr txBox="1">
            <a:spLocks noGrp="1"/>
          </p:cNvSpPr>
          <p:nvPr>
            <p:ph type="body" idx="13"/>
          </p:nvPr>
        </p:nvSpPr>
        <p:spPr>
          <a:xfrm>
            <a:off x="575614" y="3919763"/>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6_Circled_Bullets">
  <p:cSld name="6_Circled_Bullets">
    <p:spTree>
      <p:nvGrpSpPr>
        <p:cNvPr id="1" name="Shape 166"/>
        <p:cNvGrpSpPr/>
        <p:nvPr/>
      </p:nvGrpSpPr>
      <p:grpSpPr>
        <a:xfrm>
          <a:off x="0" y="0"/>
          <a:ext cx="0" cy="0"/>
          <a:chOff x="0" y="0"/>
          <a:chExt cx="0" cy="0"/>
        </a:xfrm>
      </p:grpSpPr>
      <p:sp>
        <p:nvSpPr>
          <p:cNvPr id="167" name="Google Shape;167;p85"/>
          <p:cNvSpPr txBox="1">
            <a:spLocks noGrp="1"/>
          </p:cNvSpPr>
          <p:nvPr>
            <p:ph type="title"/>
          </p:nvPr>
        </p:nvSpPr>
        <p:spPr>
          <a:xfrm>
            <a:off x="438150" y="341313"/>
            <a:ext cx="8345488" cy="731837"/>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168" name="Google Shape;168;p85"/>
          <p:cNvSpPr/>
          <p:nvPr/>
        </p:nvSpPr>
        <p:spPr>
          <a:xfrm>
            <a:off x="575611" y="1979318"/>
            <a:ext cx="464815" cy="464815"/>
          </a:xfrm>
          <a:prstGeom prst="ellipse">
            <a:avLst/>
          </a:prstGeom>
          <a:solidFill>
            <a:srgbClr val="38C6F4"/>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69" name="Google Shape;169;p85"/>
          <p:cNvSpPr/>
          <p:nvPr/>
        </p:nvSpPr>
        <p:spPr>
          <a:xfrm>
            <a:off x="575610" y="1328927"/>
            <a:ext cx="464815" cy="464815"/>
          </a:xfrm>
          <a:prstGeom prst="ellipse">
            <a:avLst/>
          </a:prstGeom>
          <a:solidFill>
            <a:srgbClr val="00394F"/>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170" name="Google Shape;170;p85"/>
          <p:cNvSpPr/>
          <p:nvPr/>
        </p:nvSpPr>
        <p:spPr>
          <a:xfrm>
            <a:off x="575611" y="2627446"/>
            <a:ext cx="464815" cy="464815"/>
          </a:xfrm>
          <a:prstGeom prst="ellipse">
            <a:avLst/>
          </a:prstGeom>
          <a:solidFill>
            <a:schemeClr val="lt2"/>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71" name="Google Shape;171;p85"/>
          <p:cNvSpPr txBox="1">
            <a:spLocks noGrp="1"/>
          </p:cNvSpPr>
          <p:nvPr>
            <p:ph type="body" idx="1"/>
          </p:nvPr>
        </p:nvSpPr>
        <p:spPr>
          <a:xfrm>
            <a:off x="1172384" y="1334842"/>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72" name="Google Shape;172;p85"/>
          <p:cNvSpPr txBox="1">
            <a:spLocks noGrp="1"/>
          </p:cNvSpPr>
          <p:nvPr>
            <p:ph type="body" idx="2"/>
          </p:nvPr>
        </p:nvSpPr>
        <p:spPr>
          <a:xfrm>
            <a:off x="1172385" y="1984561"/>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73" name="Google Shape;173;p85"/>
          <p:cNvSpPr txBox="1">
            <a:spLocks noGrp="1"/>
          </p:cNvSpPr>
          <p:nvPr>
            <p:ph type="body" idx="3"/>
          </p:nvPr>
        </p:nvSpPr>
        <p:spPr>
          <a:xfrm>
            <a:off x="1172385" y="2627446"/>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74" name="Google Shape;174;p85"/>
          <p:cNvSpPr txBox="1">
            <a:spLocks noGrp="1"/>
          </p:cNvSpPr>
          <p:nvPr>
            <p:ph type="body" idx="4"/>
          </p:nvPr>
        </p:nvSpPr>
        <p:spPr>
          <a:xfrm>
            <a:off x="575611" y="1327521"/>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75" name="Google Shape;175;p85"/>
          <p:cNvSpPr txBox="1">
            <a:spLocks noGrp="1"/>
          </p:cNvSpPr>
          <p:nvPr>
            <p:ph type="body" idx="5"/>
          </p:nvPr>
        </p:nvSpPr>
        <p:spPr>
          <a:xfrm>
            <a:off x="575611" y="1979318"/>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76" name="Google Shape;176;p85"/>
          <p:cNvSpPr txBox="1">
            <a:spLocks noGrp="1"/>
          </p:cNvSpPr>
          <p:nvPr>
            <p:ph type="body" idx="6"/>
          </p:nvPr>
        </p:nvSpPr>
        <p:spPr>
          <a:xfrm>
            <a:off x="575612" y="2625493"/>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77" name="Google Shape;177;p85"/>
          <p:cNvSpPr/>
          <p:nvPr/>
        </p:nvSpPr>
        <p:spPr>
          <a:xfrm>
            <a:off x="575612" y="3274581"/>
            <a:ext cx="464815" cy="464815"/>
          </a:xfrm>
          <a:prstGeom prst="ellipse">
            <a:avLst/>
          </a:prstGeom>
          <a:solidFill>
            <a:schemeClr val="accent6"/>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78" name="Google Shape;178;p85"/>
          <p:cNvSpPr txBox="1">
            <a:spLocks noGrp="1"/>
          </p:cNvSpPr>
          <p:nvPr>
            <p:ph type="body" idx="7"/>
          </p:nvPr>
        </p:nvSpPr>
        <p:spPr>
          <a:xfrm>
            <a:off x="1172386" y="3274581"/>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79" name="Google Shape;179;p85"/>
          <p:cNvSpPr txBox="1">
            <a:spLocks noGrp="1"/>
          </p:cNvSpPr>
          <p:nvPr>
            <p:ph type="body" idx="8"/>
          </p:nvPr>
        </p:nvSpPr>
        <p:spPr>
          <a:xfrm>
            <a:off x="575613" y="3272628"/>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80" name="Google Shape;180;p85"/>
          <p:cNvSpPr/>
          <p:nvPr/>
        </p:nvSpPr>
        <p:spPr>
          <a:xfrm>
            <a:off x="575613" y="3921716"/>
            <a:ext cx="464815" cy="464815"/>
          </a:xfrm>
          <a:prstGeom prst="ellipse">
            <a:avLst/>
          </a:prstGeom>
          <a:solidFill>
            <a:srgbClr val="00384E"/>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81" name="Google Shape;181;p85"/>
          <p:cNvSpPr txBox="1">
            <a:spLocks noGrp="1"/>
          </p:cNvSpPr>
          <p:nvPr>
            <p:ph type="body" idx="9"/>
          </p:nvPr>
        </p:nvSpPr>
        <p:spPr>
          <a:xfrm>
            <a:off x="1172387" y="3921716"/>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82" name="Google Shape;182;p85"/>
          <p:cNvSpPr txBox="1">
            <a:spLocks noGrp="1"/>
          </p:cNvSpPr>
          <p:nvPr>
            <p:ph type="body" idx="13"/>
          </p:nvPr>
        </p:nvSpPr>
        <p:spPr>
          <a:xfrm>
            <a:off x="575614" y="3919763"/>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83" name="Google Shape;183;p85"/>
          <p:cNvSpPr/>
          <p:nvPr/>
        </p:nvSpPr>
        <p:spPr>
          <a:xfrm>
            <a:off x="4414576" y="1983084"/>
            <a:ext cx="464815" cy="464815"/>
          </a:xfrm>
          <a:prstGeom prst="ellipse">
            <a:avLst/>
          </a:prstGeom>
          <a:solidFill>
            <a:schemeClr val="accent6"/>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84" name="Google Shape;184;p85"/>
          <p:cNvSpPr/>
          <p:nvPr/>
        </p:nvSpPr>
        <p:spPr>
          <a:xfrm>
            <a:off x="4414575" y="1332693"/>
            <a:ext cx="464815" cy="464815"/>
          </a:xfrm>
          <a:prstGeom prst="ellipse">
            <a:avLst/>
          </a:prstGeom>
          <a:solidFill>
            <a:srgbClr val="00394F"/>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85" name="Google Shape;185;p85"/>
          <p:cNvSpPr/>
          <p:nvPr/>
        </p:nvSpPr>
        <p:spPr>
          <a:xfrm>
            <a:off x="4414576" y="2631212"/>
            <a:ext cx="464815" cy="464815"/>
          </a:xfrm>
          <a:prstGeom prst="ellipse">
            <a:avLst/>
          </a:prstGeom>
          <a:solidFill>
            <a:schemeClr val="accent5"/>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86" name="Google Shape;186;p85"/>
          <p:cNvSpPr txBox="1">
            <a:spLocks noGrp="1"/>
          </p:cNvSpPr>
          <p:nvPr>
            <p:ph type="body" idx="14"/>
          </p:nvPr>
        </p:nvSpPr>
        <p:spPr>
          <a:xfrm>
            <a:off x="5011349" y="1338608"/>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87" name="Google Shape;187;p85"/>
          <p:cNvSpPr txBox="1">
            <a:spLocks noGrp="1"/>
          </p:cNvSpPr>
          <p:nvPr>
            <p:ph type="body" idx="15"/>
          </p:nvPr>
        </p:nvSpPr>
        <p:spPr>
          <a:xfrm>
            <a:off x="5011350" y="1988327"/>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88" name="Google Shape;188;p85"/>
          <p:cNvSpPr txBox="1">
            <a:spLocks noGrp="1"/>
          </p:cNvSpPr>
          <p:nvPr>
            <p:ph type="body" idx="16"/>
          </p:nvPr>
        </p:nvSpPr>
        <p:spPr>
          <a:xfrm>
            <a:off x="5011350" y="2631212"/>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89" name="Google Shape;189;p85"/>
          <p:cNvSpPr txBox="1">
            <a:spLocks noGrp="1"/>
          </p:cNvSpPr>
          <p:nvPr>
            <p:ph type="body" idx="17"/>
          </p:nvPr>
        </p:nvSpPr>
        <p:spPr>
          <a:xfrm>
            <a:off x="4414576" y="1331287"/>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90" name="Google Shape;190;p85"/>
          <p:cNvSpPr txBox="1">
            <a:spLocks noGrp="1"/>
          </p:cNvSpPr>
          <p:nvPr>
            <p:ph type="body" idx="18"/>
          </p:nvPr>
        </p:nvSpPr>
        <p:spPr>
          <a:xfrm>
            <a:off x="4414576" y="1983084"/>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91" name="Google Shape;191;p85"/>
          <p:cNvSpPr txBox="1">
            <a:spLocks noGrp="1"/>
          </p:cNvSpPr>
          <p:nvPr>
            <p:ph type="body" idx="19"/>
          </p:nvPr>
        </p:nvSpPr>
        <p:spPr>
          <a:xfrm>
            <a:off x="4414577" y="2629259"/>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92" name="Google Shape;192;p85"/>
          <p:cNvSpPr/>
          <p:nvPr/>
        </p:nvSpPr>
        <p:spPr>
          <a:xfrm>
            <a:off x="4414577" y="3278347"/>
            <a:ext cx="464815" cy="464815"/>
          </a:xfrm>
          <a:prstGeom prst="ellipse">
            <a:avLst/>
          </a:prstGeom>
          <a:solidFill>
            <a:schemeClr val="lt2"/>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93" name="Google Shape;193;p85"/>
          <p:cNvSpPr txBox="1">
            <a:spLocks noGrp="1"/>
          </p:cNvSpPr>
          <p:nvPr>
            <p:ph type="body" idx="20"/>
          </p:nvPr>
        </p:nvSpPr>
        <p:spPr>
          <a:xfrm>
            <a:off x="5011351" y="3278347"/>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94" name="Google Shape;194;p85"/>
          <p:cNvSpPr txBox="1">
            <a:spLocks noGrp="1"/>
          </p:cNvSpPr>
          <p:nvPr>
            <p:ph type="body" idx="21"/>
          </p:nvPr>
        </p:nvSpPr>
        <p:spPr>
          <a:xfrm>
            <a:off x="4414578" y="3276394"/>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95" name="Google Shape;195;p85"/>
          <p:cNvSpPr/>
          <p:nvPr/>
        </p:nvSpPr>
        <p:spPr>
          <a:xfrm>
            <a:off x="4414578" y="3925482"/>
            <a:ext cx="464815" cy="464815"/>
          </a:xfrm>
          <a:prstGeom prst="ellipse">
            <a:avLst/>
          </a:prstGeom>
          <a:solidFill>
            <a:srgbClr val="00384E"/>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96" name="Google Shape;196;p85"/>
          <p:cNvSpPr txBox="1">
            <a:spLocks noGrp="1"/>
          </p:cNvSpPr>
          <p:nvPr>
            <p:ph type="body" idx="22"/>
          </p:nvPr>
        </p:nvSpPr>
        <p:spPr>
          <a:xfrm>
            <a:off x="5011352" y="3925482"/>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97" name="Google Shape;197;p85"/>
          <p:cNvSpPr txBox="1">
            <a:spLocks noGrp="1"/>
          </p:cNvSpPr>
          <p:nvPr>
            <p:ph type="body" idx="23"/>
          </p:nvPr>
        </p:nvSpPr>
        <p:spPr>
          <a:xfrm>
            <a:off x="4414579" y="3923529"/>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Closing Slide">
  <p:cSld name="Closing Slide">
    <p:bg>
      <p:bgPr>
        <a:solidFill>
          <a:schemeClr val="accent5"/>
        </a:solidFill>
        <a:effectLst/>
      </p:bgPr>
    </p:bg>
    <p:spTree>
      <p:nvGrpSpPr>
        <p:cNvPr id="1" name="Shape 198"/>
        <p:cNvGrpSpPr/>
        <p:nvPr/>
      </p:nvGrpSpPr>
      <p:grpSpPr>
        <a:xfrm>
          <a:off x="0" y="0"/>
          <a:ext cx="0" cy="0"/>
          <a:chOff x="0" y="0"/>
          <a:chExt cx="0" cy="0"/>
        </a:xfrm>
      </p:grpSpPr>
      <p:sp>
        <p:nvSpPr>
          <p:cNvPr id="199" name="Google Shape;199;p86"/>
          <p:cNvSpPr/>
          <p:nvPr/>
        </p:nvSpPr>
        <p:spPr>
          <a:xfrm>
            <a:off x="0" y="0"/>
            <a:ext cx="9144000" cy="5143500"/>
          </a:xfrm>
          <a:prstGeom prst="rect">
            <a:avLst/>
          </a:prstGeom>
          <a:solidFill>
            <a:srgbClr val="00394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200" name="Google Shape;200;p86"/>
          <p:cNvGrpSpPr/>
          <p:nvPr/>
        </p:nvGrpSpPr>
        <p:grpSpPr>
          <a:xfrm>
            <a:off x="3746294" y="2129856"/>
            <a:ext cx="1617944" cy="860542"/>
            <a:chOff x="310" y="249"/>
            <a:chExt cx="502" cy="267"/>
          </a:xfrm>
        </p:grpSpPr>
        <p:sp>
          <p:nvSpPr>
            <p:cNvPr id="201" name="Google Shape;201;p86"/>
            <p:cNvSpPr/>
            <p:nvPr/>
          </p:nvSpPr>
          <p:spPr>
            <a:xfrm>
              <a:off x="452" y="426"/>
              <a:ext cx="22" cy="88"/>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2" name="Google Shape;202;p86"/>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3" name="Google Shape;203;p86"/>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4" name="Google Shape;204;p86"/>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5" name="Google Shape;205;p86"/>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6" name="Google Shape;206;p86"/>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7" name="Google Shape;207;p86"/>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8" name="Google Shape;208;p86"/>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9" name="Google Shape;209;p86"/>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0" name="Google Shape;210;p86"/>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1" name="Google Shape;211;p86"/>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2" name="Google Shape;212;p86"/>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3" name="Google Shape;213;p86"/>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4" name="Google Shape;214;p86"/>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3_Closing Slide">
  <p:cSld name="3_Closing Slide">
    <p:bg>
      <p:bgPr>
        <a:solidFill>
          <a:schemeClr val="accent5"/>
        </a:solidFill>
        <a:effectLst/>
      </p:bgPr>
    </p:bg>
    <p:spTree>
      <p:nvGrpSpPr>
        <p:cNvPr id="1" name="Shape 215"/>
        <p:cNvGrpSpPr/>
        <p:nvPr/>
      </p:nvGrpSpPr>
      <p:grpSpPr>
        <a:xfrm>
          <a:off x="0" y="0"/>
          <a:ext cx="0" cy="0"/>
          <a:chOff x="0" y="0"/>
          <a:chExt cx="0" cy="0"/>
        </a:xfrm>
      </p:grpSpPr>
      <p:grpSp>
        <p:nvGrpSpPr>
          <p:cNvPr id="216" name="Google Shape;216;p87"/>
          <p:cNvGrpSpPr/>
          <p:nvPr/>
        </p:nvGrpSpPr>
        <p:grpSpPr>
          <a:xfrm>
            <a:off x="3746294" y="2129856"/>
            <a:ext cx="1617944" cy="860542"/>
            <a:chOff x="310" y="249"/>
            <a:chExt cx="502" cy="267"/>
          </a:xfrm>
        </p:grpSpPr>
        <p:sp>
          <p:nvSpPr>
            <p:cNvPr id="217" name="Google Shape;217;p87"/>
            <p:cNvSpPr/>
            <p:nvPr/>
          </p:nvSpPr>
          <p:spPr>
            <a:xfrm>
              <a:off x="452" y="426"/>
              <a:ext cx="22" cy="88"/>
            </a:xfrm>
            <a:prstGeom prst="rect">
              <a:avLst/>
            </a:pr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8" name="Google Shape;218;p87"/>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9" name="Google Shape;219;p87"/>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0" name="Google Shape;220;p87"/>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1" name="Google Shape;221;p87"/>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2" name="Google Shape;222;p87"/>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3" name="Google Shape;223;p87"/>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4" name="Google Shape;224;p87"/>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5" name="Google Shape;225;p87"/>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6" name="Google Shape;226;p87"/>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7" name="Google Shape;227;p87"/>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8" name="Google Shape;228;p87"/>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9" name="Google Shape;229;p87"/>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0" name="Google Shape;230;p87"/>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31"/>
        <p:cNvGrpSpPr/>
        <p:nvPr/>
      </p:nvGrpSpPr>
      <p:grpSpPr>
        <a:xfrm>
          <a:off x="0" y="0"/>
          <a:ext cx="0" cy="0"/>
          <a:chOff x="0" y="0"/>
          <a:chExt cx="0" cy="0"/>
        </a:xfrm>
      </p:grpSpPr>
      <p:sp>
        <p:nvSpPr>
          <p:cNvPr id="232" name="Google Shape;232;p88"/>
          <p:cNvSpPr txBox="1">
            <a:spLocks noGrp="1"/>
          </p:cNvSpPr>
          <p:nvPr>
            <p:ph type="title"/>
          </p:nvPr>
        </p:nvSpPr>
        <p:spPr>
          <a:xfrm>
            <a:off x="438150" y="341313"/>
            <a:ext cx="8345488" cy="731837"/>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3_Title Slide-animated gradient">
  <p:cSld name="3_Title Slide-animated gradient">
    <p:bg>
      <p:bgPr>
        <a:solidFill>
          <a:schemeClr val="accent5"/>
        </a:solidFill>
        <a:effectLst/>
      </p:bgPr>
    </p:bg>
    <p:spTree>
      <p:nvGrpSpPr>
        <p:cNvPr id="1" name="Shape 252"/>
        <p:cNvGrpSpPr/>
        <p:nvPr/>
      </p:nvGrpSpPr>
      <p:grpSpPr>
        <a:xfrm>
          <a:off x="0" y="0"/>
          <a:ext cx="0" cy="0"/>
          <a:chOff x="0" y="0"/>
          <a:chExt cx="0" cy="0"/>
        </a:xfrm>
      </p:grpSpPr>
      <p:pic>
        <p:nvPicPr>
          <p:cNvPr id="253" name="Google Shape;253;p90"/>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254" name="Google Shape;254;p90"/>
          <p:cNvSpPr txBox="1">
            <a:spLocks noGrp="1"/>
          </p:cNvSpPr>
          <p:nvPr>
            <p:ph type="subTitle" idx="1"/>
          </p:nvPr>
        </p:nvSpPr>
        <p:spPr>
          <a:xfrm>
            <a:off x="469496" y="3809526"/>
            <a:ext cx="4319105" cy="288131"/>
          </a:xfrm>
          <a:prstGeom prst="rect">
            <a:avLst/>
          </a:prstGeom>
          <a:noFill/>
          <a:ln>
            <a:noFill/>
          </a:ln>
        </p:spPr>
        <p:txBody>
          <a:bodyPr spcFirstLastPara="1" wrap="square" lIns="91400" tIns="45700" rIns="91400" bIns="45700" anchor="b" anchorCtr="0">
            <a:noAutofit/>
          </a:bodyPr>
          <a:lstStyle>
            <a:lvl1pPr marR="0" lvl="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R="0" lvl="1" algn="ctr" rtl="0">
              <a:lnSpc>
                <a:spcPct val="95000"/>
              </a:lnSpc>
              <a:spcBef>
                <a:spcPts val="600"/>
              </a:spcBef>
              <a:spcAft>
                <a:spcPts val="0"/>
              </a:spcAft>
              <a:buClr>
                <a:schemeClr val="dk2"/>
              </a:buClr>
              <a:buSzPts val="1400"/>
              <a:buFont typeface="Arial"/>
              <a:buNone/>
              <a:defRPr sz="1400" b="0" i="0" u="none" strike="noStrike" cap="none">
                <a:solidFill>
                  <a:srgbClr val="98989A"/>
                </a:solidFill>
                <a:latin typeface="Arial"/>
                <a:ea typeface="Arial"/>
                <a:cs typeface="Arial"/>
                <a:sym typeface="Arial"/>
              </a:defRPr>
            </a:lvl2pPr>
            <a:lvl3pPr marR="0" lvl="2" algn="ctr" rtl="0">
              <a:lnSpc>
                <a:spcPct val="95000"/>
              </a:lnSpc>
              <a:spcBef>
                <a:spcPts val="625"/>
              </a:spcBef>
              <a:spcAft>
                <a:spcPts val="0"/>
              </a:spcAft>
              <a:buClr>
                <a:srgbClr val="98989A"/>
              </a:buClr>
              <a:buSzPts val="1200"/>
              <a:buFont typeface="Arial"/>
              <a:buNone/>
              <a:defRPr sz="1200" b="0" i="0" u="none" strike="noStrike" cap="none">
                <a:solidFill>
                  <a:srgbClr val="98989A"/>
                </a:solidFill>
                <a:latin typeface="Arial"/>
                <a:ea typeface="Arial"/>
                <a:cs typeface="Arial"/>
                <a:sym typeface="Arial"/>
              </a:defRPr>
            </a:lvl3pPr>
            <a:lvl4pPr marR="0" lvl="3"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4pPr>
            <a:lvl5pPr marR="0" lvl="4"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5pPr>
            <a:lvl6pPr marR="0" lvl="5" algn="ctr" rtl="0">
              <a:spcBef>
                <a:spcPts val="600"/>
              </a:spcBef>
              <a:spcAft>
                <a:spcPts val="0"/>
              </a:spcAft>
              <a:buClr>
                <a:srgbClr val="98989A"/>
              </a:buClr>
              <a:buSzPts val="900"/>
              <a:buFont typeface="Arial"/>
              <a:buNone/>
              <a:defRPr sz="900" b="0" i="0" u="none" strike="noStrike" cap="none">
                <a:solidFill>
                  <a:srgbClr val="98989A"/>
                </a:solidFill>
                <a:latin typeface="Arial"/>
                <a:ea typeface="Arial"/>
                <a:cs typeface="Arial"/>
                <a:sym typeface="Arial"/>
              </a:defRPr>
            </a:lvl6pPr>
            <a:lvl7pPr marR="0" lvl="6" algn="ctr" rtl="0">
              <a:spcBef>
                <a:spcPts val="600"/>
              </a:spcBef>
              <a:spcAft>
                <a:spcPts val="0"/>
              </a:spcAft>
              <a:buClr>
                <a:srgbClr val="98989A"/>
              </a:buClr>
              <a:buSzPts val="800"/>
              <a:buFont typeface="Arial"/>
              <a:buNone/>
              <a:defRPr sz="800" b="0" i="0" u="none" strike="noStrike" cap="none">
                <a:solidFill>
                  <a:srgbClr val="98989A"/>
                </a:solidFill>
                <a:latin typeface="Arial"/>
                <a:ea typeface="Arial"/>
                <a:cs typeface="Arial"/>
                <a:sym typeface="Arial"/>
              </a:defRPr>
            </a:lvl7pPr>
            <a:lvl8pPr marR="0" lvl="7" algn="ctr" rtl="0">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8pPr>
            <a:lvl9pPr marR="0" lvl="8" algn="ctr" rtl="0">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9pPr>
          </a:lstStyle>
          <a:p>
            <a:endParaRPr/>
          </a:p>
        </p:txBody>
      </p:sp>
      <p:sp>
        <p:nvSpPr>
          <p:cNvPr id="255" name="Google Shape;255;p90"/>
          <p:cNvSpPr txBox="1">
            <a:spLocks noGrp="1"/>
          </p:cNvSpPr>
          <p:nvPr>
            <p:ph type="body" idx="2"/>
          </p:nvPr>
        </p:nvSpPr>
        <p:spPr>
          <a:xfrm>
            <a:off x="469496" y="4049523"/>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256" name="Google Shape;256;p90"/>
          <p:cNvSpPr txBox="1">
            <a:spLocks noGrp="1"/>
          </p:cNvSpPr>
          <p:nvPr>
            <p:ph type="body" idx="3"/>
          </p:nvPr>
        </p:nvSpPr>
        <p:spPr>
          <a:xfrm>
            <a:off x="469496" y="4289520"/>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257" name="Google Shape;257;p90"/>
          <p:cNvSpPr txBox="1">
            <a:spLocks noGrp="1"/>
          </p:cNvSpPr>
          <p:nvPr>
            <p:ph type="body" idx="4"/>
          </p:nvPr>
        </p:nvSpPr>
        <p:spPr>
          <a:xfrm>
            <a:off x="463292" y="2872236"/>
            <a:ext cx="5925246" cy="29900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lt2"/>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5000"/>
              </a:lnSpc>
              <a:spcBef>
                <a:spcPts val="625"/>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4pPr>
            <a:lvl5pPr marL="2286000" marR="0" lvl="4"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258" name="Google Shape;258;p90"/>
          <p:cNvSpPr txBox="1">
            <a:spLocks noGrp="1"/>
          </p:cNvSpPr>
          <p:nvPr>
            <p:ph type="ctrTitle"/>
          </p:nvPr>
        </p:nvSpPr>
        <p:spPr>
          <a:xfrm>
            <a:off x="425765" y="2300750"/>
            <a:ext cx="5955513" cy="644730"/>
          </a:xfrm>
          <a:prstGeom prst="rect">
            <a:avLst/>
          </a:prstGeom>
          <a:noFill/>
          <a:ln>
            <a:noFill/>
          </a:ln>
        </p:spPr>
        <p:txBody>
          <a:bodyPr spcFirstLastPara="1" wrap="square" lIns="91400" tIns="45700" rIns="91400" bIns="45700" anchor="b" anchorCtr="0">
            <a:noAutofit/>
          </a:bodyPr>
          <a:lstStyle>
            <a:lvl1pPr lvl="0" algn="l">
              <a:lnSpc>
                <a:spcPct val="90000"/>
              </a:lnSpc>
              <a:spcBef>
                <a:spcPts val="0"/>
              </a:spcBef>
              <a:spcAft>
                <a:spcPts val="0"/>
              </a:spcAft>
              <a:buClr>
                <a:srgbClr val="38C6F4"/>
              </a:buClr>
              <a:buSzPts val="3600"/>
              <a:buFont typeface="Arial"/>
              <a:buNone/>
              <a:defRPr sz="3600" b="0" i="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grpSp>
        <p:nvGrpSpPr>
          <p:cNvPr id="259" name="Google Shape;259;p90"/>
          <p:cNvGrpSpPr/>
          <p:nvPr/>
        </p:nvGrpSpPr>
        <p:grpSpPr>
          <a:xfrm>
            <a:off x="492125" y="395288"/>
            <a:ext cx="796924" cy="423863"/>
            <a:chOff x="310" y="249"/>
            <a:chExt cx="502" cy="267"/>
          </a:xfrm>
        </p:grpSpPr>
        <p:sp>
          <p:nvSpPr>
            <p:cNvPr id="260" name="Google Shape;260;p90"/>
            <p:cNvSpPr/>
            <p:nvPr/>
          </p:nvSpPr>
          <p:spPr>
            <a:xfrm>
              <a:off x="452" y="426"/>
              <a:ext cx="22" cy="88"/>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1" name="Google Shape;261;p90"/>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2" name="Google Shape;262;p90"/>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3" name="Google Shape;263;p90"/>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4" name="Google Shape;264;p90"/>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5" name="Google Shape;265;p90"/>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6" name="Google Shape;266;p90"/>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7" name="Google Shape;267;p90"/>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8" name="Google Shape;268;p90"/>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9" name="Google Shape;269;p90"/>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0" name="Google Shape;270;p90"/>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1" name="Google Shape;271;p90"/>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2" name="Google Shape;272;p90"/>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3" name="Google Shape;273;p90"/>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5_Title Slide-animated gradient">
  <p:cSld name="5_Title Slide-animated gradient">
    <p:bg>
      <p:bgPr>
        <a:solidFill>
          <a:schemeClr val="accent5"/>
        </a:solidFill>
        <a:effectLst/>
      </p:bgPr>
    </p:bg>
    <p:spTree>
      <p:nvGrpSpPr>
        <p:cNvPr id="1" name="Shape 274"/>
        <p:cNvGrpSpPr/>
        <p:nvPr/>
      </p:nvGrpSpPr>
      <p:grpSpPr>
        <a:xfrm>
          <a:off x="0" y="0"/>
          <a:ext cx="0" cy="0"/>
          <a:chOff x="0" y="0"/>
          <a:chExt cx="0" cy="0"/>
        </a:xfrm>
      </p:grpSpPr>
      <p:sp>
        <p:nvSpPr>
          <p:cNvPr id="275" name="Google Shape;275;p91"/>
          <p:cNvSpPr txBox="1">
            <a:spLocks noGrp="1"/>
          </p:cNvSpPr>
          <p:nvPr>
            <p:ph type="subTitle" idx="1"/>
          </p:nvPr>
        </p:nvSpPr>
        <p:spPr>
          <a:xfrm>
            <a:off x="469496" y="3809526"/>
            <a:ext cx="4319105" cy="288131"/>
          </a:xfrm>
          <a:prstGeom prst="rect">
            <a:avLst/>
          </a:prstGeom>
          <a:noFill/>
          <a:ln>
            <a:noFill/>
          </a:ln>
        </p:spPr>
        <p:txBody>
          <a:bodyPr spcFirstLastPara="1" wrap="square" lIns="91400" tIns="45700" rIns="91400" bIns="45700" anchor="b" anchorCtr="0">
            <a:noAutofit/>
          </a:bodyPr>
          <a:lstStyle>
            <a:lvl1pPr marR="0" lvl="0" algn="l" rtl="0">
              <a:lnSpc>
                <a:spcPct val="95000"/>
              </a:lnSpc>
              <a:spcBef>
                <a:spcPts val="1075"/>
              </a:spcBef>
              <a:spcAft>
                <a:spcPts val="0"/>
              </a:spcAft>
              <a:buClr>
                <a:schemeClr val="dk2"/>
              </a:buClr>
              <a:buSzPts val="1080"/>
              <a:buFont typeface="Arial"/>
              <a:buNone/>
              <a:defRPr sz="1200" b="0" i="0" u="none" strike="noStrike" cap="none">
                <a:solidFill>
                  <a:schemeClr val="accent1"/>
                </a:solidFill>
                <a:latin typeface="Arial"/>
                <a:ea typeface="Arial"/>
                <a:cs typeface="Arial"/>
                <a:sym typeface="Arial"/>
              </a:defRPr>
            </a:lvl1pPr>
            <a:lvl2pPr marR="0" lvl="1" algn="ctr" rtl="0">
              <a:lnSpc>
                <a:spcPct val="95000"/>
              </a:lnSpc>
              <a:spcBef>
                <a:spcPts val="600"/>
              </a:spcBef>
              <a:spcAft>
                <a:spcPts val="0"/>
              </a:spcAft>
              <a:buClr>
                <a:schemeClr val="dk2"/>
              </a:buClr>
              <a:buSzPts val="1400"/>
              <a:buFont typeface="Arial"/>
              <a:buNone/>
              <a:defRPr sz="1400" b="0" i="0" u="none" strike="noStrike" cap="none">
                <a:solidFill>
                  <a:srgbClr val="98989A"/>
                </a:solidFill>
                <a:latin typeface="Arial"/>
                <a:ea typeface="Arial"/>
                <a:cs typeface="Arial"/>
                <a:sym typeface="Arial"/>
              </a:defRPr>
            </a:lvl2pPr>
            <a:lvl3pPr marR="0" lvl="2" algn="ctr" rtl="0">
              <a:lnSpc>
                <a:spcPct val="95000"/>
              </a:lnSpc>
              <a:spcBef>
                <a:spcPts val="625"/>
              </a:spcBef>
              <a:spcAft>
                <a:spcPts val="0"/>
              </a:spcAft>
              <a:buClr>
                <a:srgbClr val="98989A"/>
              </a:buClr>
              <a:buSzPts val="1200"/>
              <a:buFont typeface="Arial"/>
              <a:buNone/>
              <a:defRPr sz="1200" b="0" i="0" u="none" strike="noStrike" cap="none">
                <a:solidFill>
                  <a:srgbClr val="98989A"/>
                </a:solidFill>
                <a:latin typeface="Arial"/>
                <a:ea typeface="Arial"/>
                <a:cs typeface="Arial"/>
                <a:sym typeface="Arial"/>
              </a:defRPr>
            </a:lvl3pPr>
            <a:lvl4pPr marR="0" lvl="3"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4pPr>
            <a:lvl5pPr marR="0" lvl="4"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5pPr>
            <a:lvl6pPr marR="0" lvl="5" algn="ctr" rtl="0">
              <a:spcBef>
                <a:spcPts val="600"/>
              </a:spcBef>
              <a:spcAft>
                <a:spcPts val="0"/>
              </a:spcAft>
              <a:buClr>
                <a:srgbClr val="98989A"/>
              </a:buClr>
              <a:buSzPts val="900"/>
              <a:buFont typeface="Arial"/>
              <a:buNone/>
              <a:defRPr sz="900" b="0" i="0" u="none" strike="noStrike" cap="none">
                <a:solidFill>
                  <a:srgbClr val="98989A"/>
                </a:solidFill>
                <a:latin typeface="Arial"/>
                <a:ea typeface="Arial"/>
                <a:cs typeface="Arial"/>
                <a:sym typeface="Arial"/>
              </a:defRPr>
            </a:lvl6pPr>
            <a:lvl7pPr marR="0" lvl="6" algn="ctr" rtl="0">
              <a:spcBef>
                <a:spcPts val="600"/>
              </a:spcBef>
              <a:spcAft>
                <a:spcPts val="0"/>
              </a:spcAft>
              <a:buClr>
                <a:srgbClr val="98989A"/>
              </a:buClr>
              <a:buSzPts val="800"/>
              <a:buFont typeface="Arial"/>
              <a:buNone/>
              <a:defRPr sz="800" b="0" i="0" u="none" strike="noStrike" cap="none">
                <a:solidFill>
                  <a:srgbClr val="98989A"/>
                </a:solidFill>
                <a:latin typeface="Arial"/>
                <a:ea typeface="Arial"/>
                <a:cs typeface="Arial"/>
                <a:sym typeface="Arial"/>
              </a:defRPr>
            </a:lvl7pPr>
            <a:lvl8pPr marR="0" lvl="7" algn="ctr" rtl="0">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8pPr>
            <a:lvl9pPr marR="0" lvl="8" algn="ctr" rtl="0">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9pPr>
          </a:lstStyle>
          <a:p>
            <a:endParaRPr/>
          </a:p>
        </p:txBody>
      </p:sp>
      <p:sp>
        <p:nvSpPr>
          <p:cNvPr id="276" name="Google Shape;276;p91"/>
          <p:cNvSpPr txBox="1">
            <a:spLocks noGrp="1"/>
          </p:cNvSpPr>
          <p:nvPr>
            <p:ph type="body" idx="2"/>
          </p:nvPr>
        </p:nvSpPr>
        <p:spPr>
          <a:xfrm>
            <a:off x="469496" y="4049523"/>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1"/>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277" name="Google Shape;277;p91"/>
          <p:cNvSpPr txBox="1">
            <a:spLocks noGrp="1"/>
          </p:cNvSpPr>
          <p:nvPr>
            <p:ph type="body" idx="3"/>
          </p:nvPr>
        </p:nvSpPr>
        <p:spPr>
          <a:xfrm>
            <a:off x="469496" y="4289520"/>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1"/>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grpSp>
        <p:nvGrpSpPr>
          <p:cNvPr id="278" name="Google Shape;278;p91"/>
          <p:cNvGrpSpPr/>
          <p:nvPr/>
        </p:nvGrpSpPr>
        <p:grpSpPr>
          <a:xfrm>
            <a:off x="492125" y="395288"/>
            <a:ext cx="796924" cy="423863"/>
            <a:chOff x="310" y="249"/>
            <a:chExt cx="502" cy="267"/>
          </a:xfrm>
        </p:grpSpPr>
        <p:sp>
          <p:nvSpPr>
            <p:cNvPr id="279" name="Google Shape;279;p91"/>
            <p:cNvSpPr/>
            <p:nvPr/>
          </p:nvSpPr>
          <p:spPr>
            <a:xfrm>
              <a:off x="452" y="426"/>
              <a:ext cx="22" cy="88"/>
            </a:xfrm>
            <a:prstGeom prst="rect">
              <a:avLst/>
            </a:pr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0" name="Google Shape;280;p91"/>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1" name="Google Shape;281;p91"/>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2" name="Google Shape;282;p91"/>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3" name="Google Shape;283;p91"/>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4" name="Google Shape;284;p91"/>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5" name="Google Shape;285;p91"/>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6" name="Google Shape;286;p91"/>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7" name="Google Shape;287;p91"/>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8" name="Google Shape;288;p91"/>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9" name="Google Shape;289;p91"/>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90" name="Google Shape;290;p91"/>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91" name="Google Shape;291;p91"/>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92" name="Google Shape;292;p91"/>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293" name="Google Shape;293;p91"/>
          <p:cNvSpPr txBox="1">
            <a:spLocks noGrp="1"/>
          </p:cNvSpPr>
          <p:nvPr>
            <p:ph type="body" idx="4"/>
          </p:nvPr>
        </p:nvSpPr>
        <p:spPr>
          <a:xfrm>
            <a:off x="463292" y="2872236"/>
            <a:ext cx="5925246" cy="29900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5000"/>
              </a:lnSpc>
              <a:spcBef>
                <a:spcPts val="625"/>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4pPr>
            <a:lvl5pPr marL="2286000" marR="0" lvl="4"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294" name="Google Shape;294;p91"/>
          <p:cNvSpPr txBox="1">
            <a:spLocks noGrp="1"/>
          </p:cNvSpPr>
          <p:nvPr>
            <p:ph type="ctrTitle"/>
          </p:nvPr>
        </p:nvSpPr>
        <p:spPr>
          <a:xfrm>
            <a:off x="425765" y="2300750"/>
            <a:ext cx="5955513" cy="644730"/>
          </a:xfrm>
          <a:prstGeom prst="rect">
            <a:avLst/>
          </a:prstGeom>
          <a:noFill/>
          <a:ln>
            <a:noFill/>
          </a:ln>
        </p:spPr>
        <p:txBody>
          <a:bodyPr spcFirstLastPara="1" wrap="square" lIns="91400" tIns="45700" rIns="91400" bIns="45700" anchor="b" anchorCtr="0">
            <a:noAutofit/>
          </a:bodyPr>
          <a:lstStyle>
            <a:lvl1pPr lvl="0" algn="l">
              <a:lnSpc>
                <a:spcPct val="90000"/>
              </a:lnSpc>
              <a:spcBef>
                <a:spcPts val="0"/>
              </a:spcBef>
              <a:spcAft>
                <a:spcPts val="0"/>
              </a:spcAft>
              <a:buClr>
                <a:schemeClr val="accent1"/>
              </a:buClr>
              <a:buSzPts val="3600"/>
              <a:buFont typeface="Arial"/>
              <a:buNone/>
              <a:defRPr sz="3600" b="0" i="0">
                <a:solidFill>
                  <a:schemeClr val="accen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6_Title Slide-animated gradient">
  <p:cSld name="6_Title Slide-animated gradient">
    <p:bg>
      <p:bgPr>
        <a:solidFill>
          <a:schemeClr val="accent5"/>
        </a:solidFill>
        <a:effectLst/>
      </p:bgPr>
    </p:bg>
    <p:spTree>
      <p:nvGrpSpPr>
        <p:cNvPr id="1" name="Shape 295"/>
        <p:cNvGrpSpPr/>
        <p:nvPr/>
      </p:nvGrpSpPr>
      <p:grpSpPr>
        <a:xfrm>
          <a:off x="0" y="0"/>
          <a:ext cx="0" cy="0"/>
          <a:chOff x="0" y="0"/>
          <a:chExt cx="0" cy="0"/>
        </a:xfrm>
      </p:grpSpPr>
      <p:sp>
        <p:nvSpPr>
          <p:cNvPr id="296" name="Google Shape;296;p92"/>
          <p:cNvSpPr/>
          <p:nvPr/>
        </p:nvSpPr>
        <p:spPr>
          <a:xfrm>
            <a:off x="0" y="0"/>
            <a:ext cx="9144000" cy="5143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97" name="Google Shape;297;p92"/>
          <p:cNvSpPr txBox="1">
            <a:spLocks noGrp="1"/>
          </p:cNvSpPr>
          <p:nvPr>
            <p:ph type="subTitle" idx="1"/>
          </p:nvPr>
        </p:nvSpPr>
        <p:spPr>
          <a:xfrm>
            <a:off x="469496" y="3809526"/>
            <a:ext cx="4319105" cy="288131"/>
          </a:xfrm>
          <a:prstGeom prst="rect">
            <a:avLst/>
          </a:prstGeom>
          <a:noFill/>
          <a:ln>
            <a:noFill/>
          </a:ln>
        </p:spPr>
        <p:txBody>
          <a:bodyPr spcFirstLastPara="1" wrap="square" lIns="91400" tIns="45700" rIns="91400" bIns="45700" anchor="b" anchorCtr="0">
            <a:noAutofit/>
          </a:bodyPr>
          <a:lstStyle>
            <a:lvl1pPr marR="0" lvl="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R="0" lvl="1" algn="ctr" rtl="0">
              <a:lnSpc>
                <a:spcPct val="95000"/>
              </a:lnSpc>
              <a:spcBef>
                <a:spcPts val="600"/>
              </a:spcBef>
              <a:spcAft>
                <a:spcPts val="0"/>
              </a:spcAft>
              <a:buClr>
                <a:schemeClr val="dk2"/>
              </a:buClr>
              <a:buSzPts val="1400"/>
              <a:buFont typeface="Arial"/>
              <a:buNone/>
              <a:defRPr sz="1400" b="0" i="0" u="none" strike="noStrike" cap="none">
                <a:solidFill>
                  <a:srgbClr val="98989A"/>
                </a:solidFill>
                <a:latin typeface="Arial"/>
                <a:ea typeface="Arial"/>
                <a:cs typeface="Arial"/>
                <a:sym typeface="Arial"/>
              </a:defRPr>
            </a:lvl2pPr>
            <a:lvl3pPr marR="0" lvl="2" algn="ctr" rtl="0">
              <a:lnSpc>
                <a:spcPct val="95000"/>
              </a:lnSpc>
              <a:spcBef>
                <a:spcPts val="625"/>
              </a:spcBef>
              <a:spcAft>
                <a:spcPts val="0"/>
              </a:spcAft>
              <a:buClr>
                <a:srgbClr val="98989A"/>
              </a:buClr>
              <a:buSzPts val="1200"/>
              <a:buFont typeface="Arial"/>
              <a:buNone/>
              <a:defRPr sz="1200" b="0" i="0" u="none" strike="noStrike" cap="none">
                <a:solidFill>
                  <a:srgbClr val="98989A"/>
                </a:solidFill>
                <a:latin typeface="Arial"/>
                <a:ea typeface="Arial"/>
                <a:cs typeface="Arial"/>
                <a:sym typeface="Arial"/>
              </a:defRPr>
            </a:lvl3pPr>
            <a:lvl4pPr marR="0" lvl="3"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4pPr>
            <a:lvl5pPr marR="0" lvl="4"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5pPr>
            <a:lvl6pPr marR="0" lvl="5" algn="ctr" rtl="0">
              <a:spcBef>
                <a:spcPts val="600"/>
              </a:spcBef>
              <a:spcAft>
                <a:spcPts val="0"/>
              </a:spcAft>
              <a:buClr>
                <a:srgbClr val="98989A"/>
              </a:buClr>
              <a:buSzPts val="900"/>
              <a:buFont typeface="Arial"/>
              <a:buNone/>
              <a:defRPr sz="900" b="0" i="0" u="none" strike="noStrike" cap="none">
                <a:solidFill>
                  <a:srgbClr val="98989A"/>
                </a:solidFill>
                <a:latin typeface="Arial"/>
                <a:ea typeface="Arial"/>
                <a:cs typeface="Arial"/>
                <a:sym typeface="Arial"/>
              </a:defRPr>
            </a:lvl6pPr>
            <a:lvl7pPr marR="0" lvl="6" algn="ctr" rtl="0">
              <a:spcBef>
                <a:spcPts val="600"/>
              </a:spcBef>
              <a:spcAft>
                <a:spcPts val="0"/>
              </a:spcAft>
              <a:buClr>
                <a:srgbClr val="98989A"/>
              </a:buClr>
              <a:buSzPts val="800"/>
              <a:buFont typeface="Arial"/>
              <a:buNone/>
              <a:defRPr sz="800" b="0" i="0" u="none" strike="noStrike" cap="none">
                <a:solidFill>
                  <a:srgbClr val="98989A"/>
                </a:solidFill>
                <a:latin typeface="Arial"/>
                <a:ea typeface="Arial"/>
                <a:cs typeface="Arial"/>
                <a:sym typeface="Arial"/>
              </a:defRPr>
            </a:lvl7pPr>
            <a:lvl8pPr marR="0" lvl="7" algn="ctr" rtl="0">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8pPr>
            <a:lvl9pPr marR="0" lvl="8" algn="ctr" rtl="0">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9pPr>
          </a:lstStyle>
          <a:p>
            <a:endParaRPr/>
          </a:p>
        </p:txBody>
      </p:sp>
      <p:sp>
        <p:nvSpPr>
          <p:cNvPr id="298" name="Google Shape;298;p92"/>
          <p:cNvSpPr txBox="1">
            <a:spLocks noGrp="1"/>
          </p:cNvSpPr>
          <p:nvPr>
            <p:ph type="body" idx="2"/>
          </p:nvPr>
        </p:nvSpPr>
        <p:spPr>
          <a:xfrm>
            <a:off x="469496" y="4049523"/>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299" name="Google Shape;299;p92"/>
          <p:cNvSpPr txBox="1">
            <a:spLocks noGrp="1"/>
          </p:cNvSpPr>
          <p:nvPr>
            <p:ph type="body" idx="3"/>
          </p:nvPr>
        </p:nvSpPr>
        <p:spPr>
          <a:xfrm>
            <a:off x="469496" y="4289520"/>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grpSp>
        <p:nvGrpSpPr>
          <p:cNvPr id="300" name="Google Shape;300;p92"/>
          <p:cNvGrpSpPr/>
          <p:nvPr/>
        </p:nvGrpSpPr>
        <p:grpSpPr>
          <a:xfrm>
            <a:off x="492125" y="395288"/>
            <a:ext cx="796924" cy="423863"/>
            <a:chOff x="310" y="249"/>
            <a:chExt cx="502" cy="267"/>
          </a:xfrm>
        </p:grpSpPr>
        <p:sp>
          <p:nvSpPr>
            <p:cNvPr id="301" name="Google Shape;301;p92"/>
            <p:cNvSpPr/>
            <p:nvPr/>
          </p:nvSpPr>
          <p:spPr>
            <a:xfrm>
              <a:off x="452" y="426"/>
              <a:ext cx="22" cy="88"/>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2" name="Google Shape;302;p92"/>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3" name="Google Shape;303;p92"/>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4" name="Google Shape;304;p92"/>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5" name="Google Shape;305;p92"/>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6" name="Google Shape;306;p92"/>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7" name="Google Shape;307;p92"/>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8" name="Google Shape;308;p92"/>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9" name="Google Shape;309;p92"/>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0" name="Google Shape;310;p92"/>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1" name="Google Shape;311;p92"/>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2" name="Google Shape;312;p92"/>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3" name="Google Shape;313;p92"/>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4" name="Google Shape;314;p92"/>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15" name="Google Shape;315;p92"/>
          <p:cNvSpPr txBox="1">
            <a:spLocks noGrp="1"/>
          </p:cNvSpPr>
          <p:nvPr>
            <p:ph type="body" idx="4"/>
          </p:nvPr>
        </p:nvSpPr>
        <p:spPr>
          <a:xfrm>
            <a:off x="463292" y="2872236"/>
            <a:ext cx="5925246" cy="29900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lt2"/>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5000"/>
              </a:lnSpc>
              <a:spcBef>
                <a:spcPts val="625"/>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4pPr>
            <a:lvl5pPr marL="2286000" marR="0" lvl="4"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16" name="Google Shape;316;p92"/>
          <p:cNvSpPr txBox="1">
            <a:spLocks noGrp="1"/>
          </p:cNvSpPr>
          <p:nvPr>
            <p:ph type="ctrTitle"/>
          </p:nvPr>
        </p:nvSpPr>
        <p:spPr>
          <a:xfrm>
            <a:off x="425765" y="2300750"/>
            <a:ext cx="5955513" cy="644730"/>
          </a:xfrm>
          <a:prstGeom prst="rect">
            <a:avLst/>
          </a:prstGeom>
          <a:noFill/>
          <a:ln>
            <a:noFill/>
          </a:ln>
        </p:spPr>
        <p:txBody>
          <a:bodyPr spcFirstLastPara="1" wrap="square" lIns="91400" tIns="45700" rIns="91400" bIns="45700" anchor="b" anchorCtr="0">
            <a:noAutofit/>
          </a:bodyPr>
          <a:lstStyle>
            <a:lvl1pPr lvl="0" algn="l">
              <a:lnSpc>
                <a:spcPct val="90000"/>
              </a:lnSpc>
              <a:spcBef>
                <a:spcPts val="0"/>
              </a:spcBef>
              <a:spcAft>
                <a:spcPts val="0"/>
              </a:spcAft>
              <a:buClr>
                <a:srgbClr val="38C6F4"/>
              </a:buClr>
              <a:buSzPts val="3600"/>
              <a:buFont typeface="Arial"/>
              <a:buNone/>
              <a:defRPr sz="3600" b="0" i="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3_Segue">
  <p:cSld name="3_Segue">
    <p:bg>
      <p:bgPr>
        <a:solidFill>
          <a:schemeClr val="lt1"/>
        </a:solidFill>
        <a:effectLst/>
      </p:bgPr>
    </p:bg>
    <p:spTree>
      <p:nvGrpSpPr>
        <p:cNvPr id="1" name="Shape 317"/>
        <p:cNvGrpSpPr/>
        <p:nvPr/>
      </p:nvGrpSpPr>
      <p:grpSpPr>
        <a:xfrm>
          <a:off x="0" y="0"/>
          <a:ext cx="0" cy="0"/>
          <a:chOff x="0" y="0"/>
          <a:chExt cx="0" cy="0"/>
        </a:xfrm>
      </p:grpSpPr>
      <p:sp>
        <p:nvSpPr>
          <p:cNvPr id="318" name="Google Shape;318;p93"/>
          <p:cNvSpPr/>
          <p:nvPr/>
        </p:nvSpPr>
        <p:spPr>
          <a:xfrm>
            <a:off x="0" y="0"/>
            <a:ext cx="9144000" cy="5143499"/>
          </a:xfrm>
          <a:prstGeom prst="rect">
            <a:avLst/>
          </a:prstGeom>
          <a:solidFill>
            <a:srgbClr val="00394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19" name="Google Shape;319;p93"/>
          <p:cNvSpPr txBox="1">
            <a:spLocks noGrp="1"/>
          </p:cNvSpPr>
          <p:nvPr>
            <p:ph type="ctrTitle"/>
          </p:nvPr>
        </p:nvSpPr>
        <p:spPr>
          <a:xfrm>
            <a:off x="416425" y="915409"/>
            <a:ext cx="7598042" cy="2569946"/>
          </a:xfrm>
          <a:prstGeom prst="rect">
            <a:avLst/>
          </a:prstGeom>
          <a:noFill/>
          <a:ln>
            <a:noFill/>
          </a:ln>
        </p:spPr>
        <p:txBody>
          <a:bodyPr spcFirstLastPara="1" wrap="square" lIns="91400" tIns="45700" rIns="91400" bIns="45700" anchor="b" anchorCtr="0">
            <a:noAutofit/>
          </a:bodyPr>
          <a:lstStyle>
            <a:lvl1pPr lvl="0" algn="l">
              <a:lnSpc>
                <a:spcPct val="90000"/>
              </a:lnSpc>
              <a:spcBef>
                <a:spcPts val="0"/>
              </a:spcBef>
              <a:spcAft>
                <a:spcPts val="0"/>
              </a:spcAft>
              <a:buClr>
                <a:schemeClr val="accent5"/>
              </a:buClr>
              <a:buSzPts val="4600"/>
              <a:buFont typeface="Arial"/>
              <a:buNone/>
              <a:defRPr sz="4600" b="0" i="0">
                <a:solidFill>
                  <a:schemeClr val="accent5"/>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320" name="Google Shape;320;p93"/>
          <p:cNvSpPr/>
          <p:nvPr/>
        </p:nvSpPr>
        <p:spPr>
          <a:xfrm>
            <a:off x="8515707" y="4742907"/>
            <a:ext cx="218414" cy="154518"/>
          </a:xfrm>
          <a:prstGeom prst="rect">
            <a:avLst/>
          </a:prstGeom>
          <a:noFill/>
          <a:ln>
            <a:noFill/>
          </a:ln>
        </p:spPr>
        <p:txBody>
          <a:bodyPr spcFirstLastPara="1" wrap="square" lIns="61575" tIns="30775" rIns="61575" bIns="30775" anchor="b" anchorCtr="0">
            <a:spAutoFit/>
          </a:bodyPr>
          <a:lstStyle/>
          <a:p>
            <a:pPr marL="0" marR="0" lvl="0" indent="0" algn="r" rtl="0">
              <a:spcBef>
                <a:spcPts val="0"/>
              </a:spcBef>
              <a:spcAft>
                <a:spcPts val="0"/>
              </a:spcAft>
              <a:buNone/>
            </a:pPr>
            <a:fld id="{00000000-1234-1234-1234-123412341234}" type="slidenum">
              <a:rPr lang="en-US" sz="600">
                <a:solidFill>
                  <a:srgbClr val="076D8E"/>
                </a:solidFill>
                <a:latin typeface="Arial"/>
                <a:ea typeface="Arial"/>
                <a:cs typeface="Arial"/>
                <a:sym typeface="Arial"/>
              </a:rPr>
              <a:t>‹#›</a:t>
            </a:fld>
            <a:endParaRPr sz="600">
              <a:solidFill>
                <a:srgbClr val="076D8E"/>
              </a:solidFill>
              <a:latin typeface="Arial"/>
              <a:ea typeface="Arial"/>
              <a:cs typeface="Arial"/>
              <a:sym typeface="Arial"/>
            </a:endParaRPr>
          </a:p>
        </p:txBody>
      </p:sp>
      <p:sp>
        <p:nvSpPr>
          <p:cNvPr id="321" name="Google Shape;321;p93"/>
          <p:cNvSpPr/>
          <p:nvPr/>
        </p:nvSpPr>
        <p:spPr>
          <a:xfrm>
            <a:off x="5867508" y="4741653"/>
            <a:ext cx="2658018" cy="154518"/>
          </a:xfrm>
          <a:prstGeom prst="rect">
            <a:avLst/>
          </a:prstGeom>
          <a:noFill/>
          <a:ln>
            <a:noFill/>
          </a:ln>
        </p:spPr>
        <p:txBody>
          <a:bodyPr spcFirstLastPara="1" wrap="square" lIns="61575" tIns="30775" rIns="61575" bIns="30775" anchor="b" anchorCtr="0">
            <a:spAutoFit/>
          </a:bodyPr>
          <a:lstStyle/>
          <a:p>
            <a:pPr marL="0" marR="0" lvl="0" indent="0" algn="l" rtl="0">
              <a:spcBef>
                <a:spcPts val="0"/>
              </a:spcBef>
              <a:spcAft>
                <a:spcPts val="0"/>
              </a:spcAft>
              <a:buNone/>
            </a:pPr>
            <a:r>
              <a:rPr lang="en-US" sz="600">
                <a:solidFill>
                  <a:srgbClr val="076D8E"/>
                </a:solidFill>
                <a:latin typeface="Arial"/>
                <a:ea typeface="Arial"/>
                <a:cs typeface="Arial"/>
                <a:sym typeface="Arial"/>
              </a:rPr>
              <a:t>© 2016  Cisco and/or its affiliates. All rights reserved.   Cisco Confidential</a:t>
            </a:r>
            <a:endParaRPr/>
          </a:p>
        </p:txBody>
      </p:sp>
      <p:grpSp>
        <p:nvGrpSpPr>
          <p:cNvPr id="322" name="Google Shape;322;p93"/>
          <p:cNvGrpSpPr/>
          <p:nvPr/>
        </p:nvGrpSpPr>
        <p:grpSpPr>
          <a:xfrm>
            <a:off x="508039" y="4715197"/>
            <a:ext cx="340257" cy="180974"/>
            <a:chOff x="310" y="249"/>
            <a:chExt cx="502" cy="267"/>
          </a:xfrm>
        </p:grpSpPr>
        <p:sp>
          <p:nvSpPr>
            <p:cNvPr id="323" name="Google Shape;323;p93"/>
            <p:cNvSpPr/>
            <p:nvPr/>
          </p:nvSpPr>
          <p:spPr>
            <a:xfrm>
              <a:off x="452" y="426"/>
              <a:ext cx="22" cy="88"/>
            </a:xfrm>
            <a:prstGeom prst="rect">
              <a:avLst/>
            </a:pr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4" name="Google Shape;324;p93"/>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5" name="Google Shape;325;p93"/>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6" name="Google Shape;326;p93"/>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7" name="Google Shape;327;p93"/>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8" name="Google Shape;328;p93"/>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9" name="Google Shape;329;p93"/>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0" name="Google Shape;330;p93"/>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1" name="Google Shape;331;p93"/>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2" name="Google Shape;332;p93"/>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3" name="Google Shape;333;p93"/>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4" name="Google Shape;334;p93"/>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5" name="Google Shape;335;p93"/>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6" name="Google Shape;336;p93"/>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ulti_Slide">
  <p:cSld name="Multi_Slide">
    <p:spTree>
      <p:nvGrpSpPr>
        <p:cNvPr id="1" name="Shape 337"/>
        <p:cNvGrpSpPr/>
        <p:nvPr/>
      </p:nvGrpSpPr>
      <p:grpSpPr>
        <a:xfrm>
          <a:off x="0" y="0"/>
          <a:ext cx="0" cy="0"/>
          <a:chOff x="0" y="0"/>
          <a:chExt cx="0" cy="0"/>
        </a:xfrm>
      </p:grpSpPr>
      <p:sp>
        <p:nvSpPr>
          <p:cNvPr id="338" name="Google Shape;338;p94"/>
          <p:cNvSpPr txBox="1">
            <a:spLocks noGrp="1"/>
          </p:cNvSpPr>
          <p:nvPr>
            <p:ph type="body" idx="1"/>
          </p:nvPr>
        </p:nvSpPr>
        <p:spPr>
          <a:xfrm>
            <a:off x="474662" y="1347788"/>
            <a:ext cx="8280057" cy="3073946"/>
          </a:xfrm>
          <a:prstGeom prst="rect">
            <a:avLst/>
          </a:prstGeom>
          <a:noFill/>
          <a:ln>
            <a:noFill/>
          </a:ln>
        </p:spPr>
        <p:txBody>
          <a:bodyPr spcFirstLastPara="1" wrap="square" lIns="91400" tIns="45700" rIns="91400" bIns="45700" anchor="t" anchorCtr="0">
            <a:noAutofit/>
          </a:bodyPr>
          <a:lstStyle>
            <a:lvl1pPr marL="457200" marR="0" lvl="0" indent="-228600" algn="ctr" rtl="0">
              <a:lnSpc>
                <a:spcPct val="100000"/>
              </a:lnSpc>
              <a:spcBef>
                <a:spcPts val="400"/>
              </a:spcBef>
              <a:spcAft>
                <a:spcPts val="0"/>
              </a:spcAft>
              <a:buClr>
                <a:schemeClr val="lt1"/>
              </a:buClr>
              <a:buSzPts val="2000"/>
              <a:buFont typeface="Arial"/>
              <a:buNone/>
              <a:defRPr sz="2000" b="0" i="0" u="none" strike="noStrike" cap="none">
                <a:solidFill>
                  <a:schemeClr val="l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04800" algn="l" rtl="0">
              <a:lnSpc>
                <a:spcPct val="95000"/>
              </a:lnSpc>
              <a:spcBef>
                <a:spcPts val="625"/>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298450"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39" name="Google Shape;339;p94"/>
          <p:cNvSpPr txBox="1">
            <a:spLocks noGrp="1"/>
          </p:cNvSpPr>
          <p:nvPr>
            <p:ph type="title"/>
          </p:nvPr>
        </p:nvSpPr>
        <p:spPr>
          <a:xfrm>
            <a:off x="437766" y="341313"/>
            <a:ext cx="8345488" cy="731837"/>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Slide">
  <p:cSld name="Blank Slide">
    <p:spTree>
      <p:nvGrpSpPr>
        <p:cNvPr id="1" name="Shape 340"/>
        <p:cNvGrpSpPr/>
        <p:nvPr/>
      </p:nvGrpSpPr>
      <p:grpSpPr>
        <a:xfrm>
          <a:off x="0" y="0"/>
          <a:ext cx="0" cy="0"/>
          <a:chOff x="0" y="0"/>
          <a:chExt cx="0" cy="0"/>
        </a:xfrm>
      </p:grpSpPr>
    </p:spTree>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2_Circled_Bullets">
  <p:cSld name="2_Circled_Bullets">
    <p:spTree>
      <p:nvGrpSpPr>
        <p:cNvPr id="1" name="Shape 341"/>
        <p:cNvGrpSpPr/>
        <p:nvPr/>
      </p:nvGrpSpPr>
      <p:grpSpPr>
        <a:xfrm>
          <a:off x="0" y="0"/>
          <a:ext cx="0" cy="0"/>
          <a:chOff x="0" y="0"/>
          <a:chExt cx="0" cy="0"/>
        </a:xfrm>
      </p:grpSpPr>
      <p:sp>
        <p:nvSpPr>
          <p:cNvPr id="342" name="Google Shape;342;p96"/>
          <p:cNvSpPr txBox="1">
            <a:spLocks noGrp="1"/>
          </p:cNvSpPr>
          <p:nvPr>
            <p:ph type="title"/>
          </p:nvPr>
        </p:nvSpPr>
        <p:spPr>
          <a:xfrm>
            <a:off x="438150" y="341313"/>
            <a:ext cx="8345488" cy="731837"/>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343" name="Google Shape;343;p96"/>
          <p:cNvSpPr/>
          <p:nvPr/>
        </p:nvSpPr>
        <p:spPr>
          <a:xfrm>
            <a:off x="575610" y="2552550"/>
            <a:ext cx="698624" cy="698624"/>
          </a:xfrm>
          <a:prstGeom prst="ellipse">
            <a:avLst/>
          </a:prstGeom>
          <a:solidFill>
            <a:schemeClr val="lt2"/>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rgbClr val="FFFFFF"/>
              </a:solidFill>
              <a:latin typeface="Arial"/>
              <a:ea typeface="Arial"/>
              <a:cs typeface="Arial"/>
              <a:sym typeface="Arial"/>
            </a:endParaRPr>
          </a:p>
        </p:txBody>
      </p:sp>
      <p:sp>
        <p:nvSpPr>
          <p:cNvPr id="344" name="Google Shape;344;p96"/>
          <p:cNvSpPr/>
          <p:nvPr/>
        </p:nvSpPr>
        <p:spPr>
          <a:xfrm>
            <a:off x="575610" y="1426607"/>
            <a:ext cx="698624" cy="698624"/>
          </a:xfrm>
          <a:prstGeom prst="ellipse">
            <a:avLst/>
          </a:prstGeom>
          <a:solidFill>
            <a:srgbClr val="00394F"/>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chemeClr val="lt1"/>
              </a:solidFill>
              <a:latin typeface="Arial"/>
              <a:ea typeface="Arial"/>
              <a:cs typeface="Arial"/>
              <a:sym typeface="Arial"/>
            </a:endParaRPr>
          </a:p>
        </p:txBody>
      </p:sp>
      <p:sp>
        <p:nvSpPr>
          <p:cNvPr id="345" name="Google Shape;345;p96"/>
          <p:cNvSpPr/>
          <p:nvPr/>
        </p:nvSpPr>
        <p:spPr>
          <a:xfrm>
            <a:off x="575610" y="3653093"/>
            <a:ext cx="698624" cy="698624"/>
          </a:xfrm>
          <a:prstGeom prst="ellipse">
            <a:avLst/>
          </a:prstGeom>
          <a:solidFill>
            <a:schemeClr val="accent5"/>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rgbClr val="049FD9"/>
              </a:solidFill>
              <a:latin typeface="Arial"/>
              <a:ea typeface="Arial"/>
              <a:cs typeface="Arial"/>
              <a:sym typeface="Arial"/>
            </a:endParaRPr>
          </a:p>
        </p:txBody>
      </p:sp>
      <p:sp>
        <p:nvSpPr>
          <p:cNvPr id="346" name="Google Shape;346;p96"/>
          <p:cNvSpPr txBox="1">
            <a:spLocks noGrp="1"/>
          </p:cNvSpPr>
          <p:nvPr>
            <p:ph type="body" idx="1"/>
          </p:nvPr>
        </p:nvSpPr>
        <p:spPr>
          <a:xfrm>
            <a:off x="1365250" y="1432522"/>
            <a:ext cx="5473700" cy="693381"/>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47" name="Google Shape;347;p96"/>
          <p:cNvSpPr txBox="1">
            <a:spLocks noGrp="1"/>
          </p:cNvSpPr>
          <p:nvPr>
            <p:ph type="body" idx="2"/>
          </p:nvPr>
        </p:nvSpPr>
        <p:spPr>
          <a:xfrm>
            <a:off x="1365250" y="2557793"/>
            <a:ext cx="5473700" cy="693381"/>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48" name="Google Shape;348;p96"/>
          <p:cNvSpPr txBox="1">
            <a:spLocks noGrp="1"/>
          </p:cNvSpPr>
          <p:nvPr>
            <p:ph type="body" idx="3"/>
          </p:nvPr>
        </p:nvSpPr>
        <p:spPr>
          <a:xfrm>
            <a:off x="1365250" y="3653093"/>
            <a:ext cx="5473700" cy="693381"/>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49" name="Google Shape;349;p96"/>
          <p:cNvSpPr txBox="1">
            <a:spLocks noGrp="1"/>
          </p:cNvSpPr>
          <p:nvPr>
            <p:ph type="body" idx="4"/>
          </p:nvPr>
        </p:nvSpPr>
        <p:spPr>
          <a:xfrm>
            <a:off x="575610" y="2552550"/>
            <a:ext cx="698624" cy="693381"/>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3600"/>
              <a:buFont typeface="Arial"/>
              <a:buNone/>
              <a:defRPr sz="4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50" name="Google Shape;350;p96"/>
          <p:cNvSpPr txBox="1">
            <a:spLocks noGrp="1"/>
          </p:cNvSpPr>
          <p:nvPr>
            <p:ph type="body" idx="5"/>
          </p:nvPr>
        </p:nvSpPr>
        <p:spPr>
          <a:xfrm>
            <a:off x="575611" y="3651140"/>
            <a:ext cx="698624" cy="693381"/>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3600"/>
              <a:buFont typeface="Arial"/>
              <a:buNone/>
              <a:defRPr sz="4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51" name="Google Shape;351;p96"/>
          <p:cNvSpPr txBox="1">
            <a:spLocks noGrp="1"/>
          </p:cNvSpPr>
          <p:nvPr>
            <p:ph type="body" idx="6"/>
          </p:nvPr>
        </p:nvSpPr>
        <p:spPr>
          <a:xfrm>
            <a:off x="575610" y="1427248"/>
            <a:ext cx="698624" cy="693381"/>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3600"/>
              <a:buFont typeface="Arial"/>
              <a:buNone/>
              <a:defRPr sz="4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transition spd="slow">
    <p:wip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5_Circled_Bullets">
  <p:cSld name="5_Circled_Bullets">
    <p:spTree>
      <p:nvGrpSpPr>
        <p:cNvPr id="1" name="Shape 352"/>
        <p:cNvGrpSpPr/>
        <p:nvPr/>
      </p:nvGrpSpPr>
      <p:grpSpPr>
        <a:xfrm>
          <a:off x="0" y="0"/>
          <a:ext cx="0" cy="0"/>
          <a:chOff x="0" y="0"/>
          <a:chExt cx="0" cy="0"/>
        </a:xfrm>
      </p:grpSpPr>
      <p:sp>
        <p:nvSpPr>
          <p:cNvPr id="353" name="Google Shape;353;p97"/>
          <p:cNvSpPr txBox="1">
            <a:spLocks noGrp="1"/>
          </p:cNvSpPr>
          <p:nvPr>
            <p:ph type="title"/>
          </p:nvPr>
        </p:nvSpPr>
        <p:spPr>
          <a:xfrm>
            <a:off x="438150" y="341313"/>
            <a:ext cx="8345488" cy="731837"/>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354" name="Google Shape;354;p97"/>
          <p:cNvSpPr/>
          <p:nvPr/>
        </p:nvSpPr>
        <p:spPr>
          <a:xfrm>
            <a:off x="575611" y="1979318"/>
            <a:ext cx="464815" cy="464815"/>
          </a:xfrm>
          <a:prstGeom prst="ellipse">
            <a:avLst/>
          </a:prstGeom>
          <a:solidFill>
            <a:srgbClr val="38C6F4"/>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chemeClr val="accent5"/>
              </a:solidFill>
              <a:latin typeface="Arial"/>
              <a:ea typeface="Arial"/>
              <a:cs typeface="Arial"/>
              <a:sym typeface="Arial"/>
            </a:endParaRPr>
          </a:p>
        </p:txBody>
      </p:sp>
      <p:sp>
        <p:nvSpPr>
          <p:cNvPr id="355" name="Google Shape;355;p97"/>
          <p:cNvSpPr/>
          <p:nvPr/>
        </p:nvSpPr>
        <p:spPr>
          <a:xfrm>
            <a:off x="575610" y="1328927"/>
            <a:ext cx="464815" cy="464815"/>
          </a:xfrm>
          <a:prstGeom prst="ellipse">
            <a:avLst/>
          </a:prstGeom>
          <a:solidFill>
            <a:srgbClr val="00394F"/>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chemeClr val="accent5"/>
              </a:solidFill>
              <a:latin typeface="Arial"/>
              <a:ea typeface="Arial"/>
              <a:cs typeface="Arial"/>
              <a:sym typeface="Arial"/>
            </a:endParaRPr>
          </a:p>
        </p:txBody>
      </p:sp>
      <p:sp>
        <p:nvSpPr>
          <p:cNvPr id="356" name="Google Shape;356;p97"/>
          <p:cNvSpPr/>
          <p:nvPr/>
        </p:nvSpPr>
        <p:spPr>
          <a:xfrm>
            <a:off x="575611" y="2627446"/>
            <a:ext cx="464815" cy="464815"/>
          </a:xfrm>
          <a:prstGeom prst="ellipse">
            <a:avLst/>
          </a:prstGeom>
          <a:solidFill>
            <a:schemeClr val="lt2"/>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chemeClr val="accent5"/>
              </a:solidFill>
              <a:latin typeface="Arial"/>
              <a:ea typeface="Arial"/>
              <a:cs typeface="Arial"/>
              <a:sym typeface="Arial"/>
            </a:endParaRPr>
          </a:p>
        </p:txBody>
      </p:sp>
      <p:sp>
        <p:nvSpPr>
          <p:cNvPr id="357" name="Google Shape;357;p97"/>
          <p:cNvSpPr txBox="1">
            <a:spLocks noGrp="1"/>
          </p:cNvSpPr>
          <p:nvPr>
            <p:ph type="body" idx="1"/>
          </p:nvPr>
        </p:nvSpPr>
        <p:spPr>
          <a:xfrm>
            <a:off x="1172384" y="1334842"/>
            <a:ext cx="5678748"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58" name="Google Shape;358;p97"/>
          <p:cNvSpPr txBox="1">
            <a:spLocks noGrp="1"/>
          </p:cNvSpPr>
          <p:nvPr>
            <p:ph type="body" idx="2"/>
          </p:nvPr>
        </p:nvSpPr>
        <p:spPr>
          <a:xfrm>
            <a:off x="1172385" y="1984561"/>
            <a:ext cx="5678748"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59" name="Google Shape;359;p97"/>
          <p:cNvSpPr txBox="1">
            <a:spLocks noGrp="1"/>
          </p:cNvSpPr>
          <p:nvPr>
            <p:ph type="body" idx="3"/>
          </p:nvPr>
        </p:nvSpPr>
        <p:spPr>
          <a:xfrm>
            <a:off x="1172385" y="2627446"/>
            <a:ext cx="5678748"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60" name="Google Shape;360;p97"/>
          <p:cNvSpPr txBox="1">
            <a:spLocks noGrp="1"/>
          </p:cNvSpPr>
          <p:nvPr>
            <p:ph type="body" idx="4"/>
          </p:nvPr>
        </p:nvSpPr>
        <p:spPr>
          <a:xfrm>
            <a:off x="575611" y="1327521"/>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61" name="Google Shape;361;p97"/>
          <p:cNvSpPr txBox="1">
            <a:spLocks noGrp="1"/>
          </p:cNvSpPr>
          <p:nvPr>
            <p:ph type="body" idx="5"/>
          </p:nvPr>
        </p:nvSpPr>
        <p:spPr>
          <a:xfrm>
            <a:off x="575611" y="1979318"/>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62" name="Google Shape;362;p97"/>
          <p:cNvSpPr txBox="1">
            <a:spLocks noGrp="1"/>
          </p:cNvSpPr>
          <p:nvPr>
            <p:ph type="body" idx="6"/>
          </p:nvPr>
        </p:nvSpPr>
        <p:spPr>
          <a:xfrm>
            <a:off x="575612" y="2625493"/>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63" name="Google Shape;363;p97"/>
          <p:cNvSpPr/>
          <p:nvPr/>
        </p:nvSpPr>
        <p:spPr>
          <a:xfrm>
            <a:off x="575612" y="3274581"/>
            <a:ext cx="464815" cy="464815"/>
          </a:xfrm>
          <a:prstGeom prst="ellipse">
            <a:avLst/>
          </a:prstGeom>
          <a:solidFill>
            <a:schemeClr val="accent6"/>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chemeClr val="accent5"/>
              </a:solidFill>
              <a:latin typeface="Arial"/>
              <a:ea typeface="Arial"/>
              <a:cs typeface="Arial"/>
              <a:sym typeface="Arial"/>
            </a:endParaRPr>
          </a:p>
        </p:txBody>
      </p:sp>
      <p:sp>
        <p:nvSpPr>
          <p:cNvPr id="364" name="Google Shape;364;p97"/>
          <p:cNvSpPr txBox="1">
            <a:spLocks noGrp="1"/>
          </p:cNvSpPr>
          <p:nvPr>
            <p:ph type="body" idx="7"/>
          </p:nvPr>
        </p:nvSpPr>
        <p:spPr>
          <a:xfrm>
            <a:off x="1172386" y="3274581"/>
            <a:ext cx="5678748"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65" name="Google Shape;365;p97"/>
          <p:cNvSpPr txBox="1">
            <a:spLocks noGrp="1"/>
          </p:cNvSpPr>
          <p:nvPr>
            <p:ph type="body" idx="8"/>
          </p:nvPr>
        </p:nvSpPr>
        <p:spPr>
          <a:xfrm>
            <a:off x="575613" y="3272628"/>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66" name="Google Shape;366;p97"/>
          <p:cNvSpPr/>
          <p:nvPr/>
        </p:nvSpPr>
        <p:spPr>
          <a:xfrm>
            <a:off x="575613" y="3921716"/>
            <a:ext cx="464815" cy="464815"/>
          </a:xfrm>
          <a:prstGeom prst="ellipse">
            <a:avLst/>
          </a:prstGeom>
          <a:solidFill>
            <a:srgbClr val="00394F"/>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chemeClr val="accent5"/>
              </a:solidFill>
              <a:latin typeface="Arial"/>
              <a:ea typeface="Arial"/>
              <a:cs typeface="Arial"/>
              <a:sym typeface="Arial"/>
            </a:endParaRPr>
          </a:p>
        </p:txBody>
      </p:sp>
      <p:sp>
        <p:nvSpPr>
          <p:cNvPr id="367" name="Google Shape;367;p97"/>
          <p:cNvSpPr txBox="1">
            <a:spLocks noGrp="1"/>
          </p:cNvSpPr>
          <p:nvPr>
            <p:ph type="body" idx="9"/>
          </p:nvPr>
        </p:nvSpPr>
        <p:spPr>
          <a:xfrm>
            <a:off x="1172387" y="3921716"/>
            <a:ext cx="5678748"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68" name="Google Shape;368;p97"/>
          <p:cNvSpPr txBox="1">
            <a:spLocks noGrp="1"/>
          </p:cNvSpPr>
          <p:nvPr>
            <p:ph type="body" idx="13"/>
          </p:nvPr>
        </p:nvSpPr>
        <p:spPr>
          <a:xfrm>
            <a:off x="575614" y="3919763"/>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transition spd="slow">
    <p:wip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6_Circled_Bullets">
  <p:cSld name="6_Circled_Bullets">
    <p:spTree>
      <p:nvGrpSpPr>
        <p:cNvPr id="1" name="Shape 369"/>
        <p:cNvGrpSpPr/>
        <p:nvPr/>
      </p:nvGrpSpPr>
      <p:grpSpPr>
        <a:xfrm>
          <a:off x="0" y="0"/>
          <a:ext cx="0" cy="0"/>
          <a:chOff x="0" y="0"/>
          <a:chExt cx="0" cy="0"/>
        </a:xfrm>
      </p:grpSpPr>
      <p:sp>
        <p:nvSpPr>
          <p:cNvPr id="370" name="Google Shape;370;p98"/>
          <p:cNvSpPr txBox="1">
            <a:spLocks noGrp="1"/>
          </p:cNvSpPr>
          <p:nvPr>
            <p:ph type="title"/>
          </p:nvPr>
        </p:nvSpPr>
        <p:spPr>
          <a:xfrm>
            <a:off x="438150" y="341313"/>
            <a:ext cx="8345488" cy="731837"/>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371" name="Google Shape;371;p98"/>
          <p:cNvSpPr/>
          <p:nvPr/>
        </p:nvSpPr>
        <p:spPr>
          <a:xfrm>
            <a:off x="575611" y="1979318"/>
            <a:ext cx="464815" cy="464815"/>
          </a:xfrm>
          <a:prstGeom prst="ellipse">
            <a:avLst/>
          </a:prstGeom>
          <a:solidFill>
            <a:srgbClr val="38C6F4"/>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372" name="Google Shape;372;p98"/>
          <p:cNvSpPr/>
          <p:nvPr/>
        </p:nvSpPr>
        <p:spPr>
          <a:xfrm>
            <a:off x="575610" y="1328927"/>
            <a:ext cx="464815" cy="464815"/>
          </a:xfrm>
          <a:prstGeom prst="ellipse">
            <a:avLst/>
          </a:prstGeom>
          <a:solidFill>
            <a:srgbClr val="00394F"/>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373" name="Google Shape;373;p98"/>
          <p:cNvSpPr/>
          <p:nvPr/>
        </p:nvSpPr>
        <p:spPr>
          <a:xfrm>
            <a:off x="575611" y="2627446"/>
            <a:ext cx="464815" cy="464815"/>
          </a:xfrm>
          <a:prstGeom prst="ellipse">
            <a:avLst/>
          </a:prstGeom>
          <a:solidFill>
            <a:schemeClr val="lt2"/>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374" name="Google Shape;374;p98"/>
          <p:cNvSpPr txBox="1">
            <a:spLocks noGrp="1"/>
          </p:cNvSpPr>
          <p:nvPr>
            <p:ph type="body" idx="1"/>
          </p:nvPr>
        </p:nvSpPr>
        <p:spPr>
          <a:xfrm>
            <a:off x="1172384" y="1334842"/>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75" name="Google Shape;375;p98"/>
          <p:cNvSpPr txBox="1">
            <a:spLocks noGrp="1"/>
          </p:cNvSpPr>
          <p:nvPr>
            <p:ph type="body" idx="2"/>
          </p:nvPr>
        </p:nvSpPr>
        <p:spPr>
          <a:xfrm>
            <a:off x="1172385" y="1984561"/>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76" name="Google Shape;376;p98"/>
          <p:cNvSpPr txBox="1">
            <a:spLocks noGrp="1"/>
          </p:cNvSpPr>
          <p:nvPr>
            <p:ph type="body" idx="3"/>
          </p:nvPr>
        </p:nvSpPr>
        <p:spPr>
          <a:xfrm>
            <a:off x="1172385" y="2627446"/>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77" name="Google Shape;377;p98"/>
          <p:cNvSpPr txBox="1">
            <a:spLocks noGrp="1"/>
          </p:cNvSpPr>
          <p:nvPr>
            <p:ph type="body" idx="4"/>
          </p:nvPr>
        </p:nvSpPr>
        <p:spPr>
          <a:xfrm>
            <a:off x="575611" y="1327521"/>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78" name="Google Shape;378;p98"/>
          <p:cNvSpPr txBox="1">
            <a:spLocks noGrp="1"/>
          </p:cNvSpPr>
          <p:nvPr>
            <p:ph type="body" idx="5"/>
          </p:nvPr>
        </p:nvSpPr>
        <p:spPr>
          <a:xfrm>
            <a:off x="575611" y="1979318"/>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79" name="Google Shape;379;p98"/>
          <p:cNvSpPr txBox="1">
            <a:spLocks noGrp="1"/>
          </p:cNvSpPr>
          <p:nvPr>
            <p:ph type="body" idx="6"/>
          </p:nvPr>
        </p:nvSpPr>
        <p:spPr>
          <a:xfrm>
            <a:off x="575612" y="2625493"/>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80" name="Google Shape;380;p98"/>
          <p:cNvSpPr/>
          <p:nvPr/>
        </p:nvSpPr>
        <p:spPr>
          <a:xfrm>
            <a:off x="575612" y="3274581"/>
            <a:ext cx="464815" cy="464815"/>
          </a:xfrm>
          <a:prstGeom prst="ellipse">
            <a:avLst/>
          </a:prstGeom>
          <a:solidFill>
            <a:schemeClr val="accent6"/>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381" name="Google Shape;381;p98"/>
          <p:cNvSpPr txBox="1">
            <a:spLocks noGrp="1"/>
          </p:cNvSpPr>
          <p:nvPr>
            <p:ph type="body" idx="7"/>
          </p:nvPr>
        </p:nvSpPr>
        <p:spPr>
          <a:xfrm>
            <a:off x="1172386" y="3274581"/>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82" name="Google Shape;382;p98"/>
          <p:cNvSpPr txBox="1">
            <a:spLocks noGrp="1"/>
          </p:cNvSpPr>
          <p:nvPr>
            <p:ph type="body" idx="8"/>
          </p:nvPr>
        </p:nvSpPr>
        <p:spPr>
          <a:xfrm>
            <a:off x="575613" y="3272628"/>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83" name="Google Shape;383;p98"/>
          <p:cNvSpPr/>
          <p:nvPr/>
        </p:nvSpPr>
        <p:spPr>
          <a:xfrm>
            <a:off x="575613" y="3921716"/>
            <a:ext cx="464815" cy="464815"/>
          </a:xfrm>
          <a:prstGeom prst="ellipse">
            <a:avLst/>
          </a:prstGeom>
          <a:solidFill>
            <a:srgbClr val="00384E"/>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384" name="Google Shape;384;p98"/>
          <p:cNvSpPr txBox="1">
            <a:spLocks noGrp="1"/>
          </p:cNvSpPr>
          <p:nvPr>
            <p:ph type="body" idx="9"/>
          </p:nvPr>
        </p:nvSpPr>
        <p:spPr>
          <a:xfrm>
            <a:off x="1172387" y="3921716"/>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85" name="Google Shape;385;p98"/>
          <p:cNvSpPr txBox="1">
            <a:spLocks noGrp="1"/>
          </p:cNvSpPr>
          <p:nvPr>
            <p:ph type="body" idx="13"/>
          </p:nvPr>
        </p:nvSpPr>
        <p:spPr>
          <a:xfrm>
            <a:off x="575614" y="3919763"/>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86" name="Google Shape;386;p98"/>
          <p:cNvSpPr/>
          <p:nvPr/>
        </p:nvSpPr>
        <p:spPr>
          <a:xfrm>
            <a:off x="4414576" y="1983084"/>
            <a:ext cx="464815" cy="464815"/>
          </a:xfrm>
          <a:prstGeom prst="ellipse">
            <a:avLst/>
          </a:prstGeom>
          <a:solidFill>
            <a:schemeClr val="accent6"/>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387" name="Google Shape;387;p98"/>
          <p:cNvSpPr/>
          <p:nvPr/>
        </p:nvSpPr>
        <p:spPr>
          <a:xfrm>
            <a:off x="4414575" y="1332693"/>
            <a:ext cx="464815" cy="464815"/>
          </a:xfrm>
          <a:prstGeom prst="ellipse">
            <a:avLst/>
          </a:prstGeom>
          <a:solidFill>
            <a:srgbClr val="00394F"/>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388" name="Google Shape;388;p98"/>
          <p:cNvSpPr/>
          <p:nvPr/>
        </p:nvSpPr>
        <p:spPr>
          <a:xfrm>
            <a:off x="4414576" y="2631212"/>
            <a:ext cx="464815" cy="464815"/>
          </a:xfrm>
          <a:prstGeom prst="ellipse">
            <a:avLst/>
          </a:prstGeom>
          <a:solidFill>
            <a:schemeClr val="accent5"/>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389" name="Google Shape;389;p98"/>
          <p:cNvSpPr txBox="1">
            <a:spLocks noGrp="1"/>
          </p:cNvSpPr>
          <p:nvPr>
            <p:ph type="body" idx="14"/>
          </p:nvPr>
        </p:nvSpPr>
        <p:spPr>
          <a:xfrm>
            <a:off x="5011349" y="1338608"/>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90" name="Google Shape;390;p98"/>
          <p:cNvSpPr txBox="1">
            <a:spLocks noGrp="1"/>
          </p:cNvSpPr>
          <p:nvPr>
            <p:ph type="body" idx="15"/>
          </p:nvPr>
        </p:nvSpPr>
        <p:spPr>
          <a:xfrm>
            <a:off x="5011350" y="1988327"/>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91" name="Google Shape;391;p98"/>
          <p:cNvSpPr txBox="1">
            <a:spLocks noGrp="1"/>
          </p:cNvSpPr>
          <p:nvPr>
            <p:ph type="body" idx="16"/>
          </p:nvPr>
        </p:nvSpPr>
        <p:spPr>
          <a:xfrm>
            <a:off x="5011350" y="2631212"/>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92" name="Google Shape;392;p98"/>
          <p:cNvSpPr txBox="1">
            <a:spLocks noGrp="1"/>
          </p:cNvSpPr>
          <p:nvPr>
            <p:ph type="body" idx="17"/>
          </p:nvPr>
        </p:nvSpPr>
        <p:spPr>
          <a:xfrm>
            <a:off x="4414576" y="1331287"/>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93" name="Google Shape;393;p98"/>
          <p:cNvSpPr txBox="1">
            <a:spLocks noGrp="1"/>
          </p:cNvSpPr>
          <p:nvPr>
            <p:ph type="body" idx="18"/>
          </p:nvPr>
        </p:nvSpPr>
        <p:spPr>
          <a:xfrm>
            <a:off x="4414576" y="1983084"/>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94" name="Google Shape;394;p98"/>
          <p:cNvSpPr txBox="1">
            <a:spLocks noGrp="1"/>
          </p:cNvSpPr>
          <p:nvPr>
            <p:ph type="body" idx="19"/>
          </p:nvPr>
        </p:nvSpPr>
        <p:spPr>
          <a:xfrm>
            <a:off x="4414577" y="2629259"/>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95" name="Google Shape;395;p98"/>
          <p:cNvSpPr/>
          <p:nvPr/>
        </p:nvSpPr>
        <p:spPr>
          <a:xfrm>
            <a:off x="4414577" y="3278347"/>
            <a:ext cx="464815" cy="464815"/>
          </a:xfrm>
          <a:prstGeom prst="ellipse">
            <a:avLst/>
          </a:prstGeom>
          <a:solidFill>
            <a:schemeClr val="lt2"/>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396" name="Google Shape;396;p98"/>
          <p:cNvSpPr txBox="1">
            <a:spLocks noGrp="1"/>
          </p:cNvSpPr>
          <p:nvPr>
            <p:ph type="body" idx="20"/>
          </p:nvPr>
        </p:nvSpPr>
        <p:spPr>
          <a:xfrm>
            <a:off x="5011351" y="3278347"/>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97" name="Google Shape;397;p98"/>
          <p:cNvSpPr txBox="1">
            <a:spLocks noGrp="1"/>
          </p:cNvSpPr>
          <p:nvPr>
            <p:ph type="body" idx="21"/>
          </p:nvPr>
        </p:nvSpPr>
        <p:spPr>
          <a:xfrm>
            <a:off x="4414578" y="3276394"/>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98" name="Google Shape;398;p98"/>
          <p:cNvSpPr/>
          <p:nvPr/>
        </p:nvSpPr>
        <p:spPr>
          <a:xfrm>
            <a:off x="4414578" y="3925482"/>
            <a:ext cx="464815" cy="464815"/>
          </a:xfrm>
          <a:prstGeom prst="ellipse">
            <a:avLst/>
          </a:prstGeom>
          <a:solidFill>
            <a:srgbClr val="00384E"/>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399" name="Google Shape;399;p98"/>
          <p:cNvSpPr txBox="1">
            <a:spLocks noGrp="1"/>
          </p:cNvSpPr>
          <p:nvPr>
            <p:ph type="body" idx="22"/>
          </p:nvPr>
        </p:nvSpPr>
        <p:spPr>
          <a:xfrm>
            <a:off x="5011352" y="3925482"/>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400" name="Google Shape;400;p98"/>
          <p:cNvSpPr txBox="1">
            <a:spLocks noGrp="1"/>
          </p:cNvSpPr>
          <p:nvPr>
            <p:ph type="body" idx="23"/>
          </p:nvPr>
        </p:nvSpPr>
        <p:spPr>
          <a:xfrm>
            <a:off x="4414579" y="3923529"/>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transition spd="slow">
    <p:wip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1_Closing Slide">
  <p:cSld name="1_Closing Slide">
    <p:bg>
      <p:bgPr>
        <a:solidFill>
          <a:schemeClr val="accent5"/>
        </a:solidFill>
        <a:effectLst/>
      </p:bgPr>
    </p:bg>
    <p:spTree>
      <p:nvGrpSpPr>
        <p:cNvPr id="1" name="Shape 401"/>
        <p:cNvGrpSpPr/>
        <p:nvPr/>
      </p:nvGrpSpPr>
      <p:grpSpPr>
        <a:xfrm>
          <a:off x="0" y="0"/>
          <a:ext cx="0" cy="0"/>
          <a:chOff x="0" y="0"/>
          <a:chExt cx="0" cy="0"/>
        </a:xfrm>
      </p:grpSpPr>
      <p:pic>
        <p:nvPicPr>
          <p:cNvPr id="402" name="Google Shape;402;p99"/>
          <p:cNvPicPr preferRelativeResize="0"/>
          <p:nvPr/>
        </p:nvPicPr>
        <p:blipFill rotWithShape="1">
          <a:blip r:embed="rId2">
            <a:alphaModFix/>
          </a:blip>
          <a:srcRect/>
          <a:stretch/>
        </p:blipFill>
        <p:spPr>
          <a:xfrm>
            <a:off x="0" y="1"/>
            <a:ext cx="9143999" cy="5165874"/>
          </a:xfrm>
          <a:prstGeom prst="rect">
            <a:avLst/>
          </a:prstGeom>
          <a:noFill/>
          <a:ln>
            <a:noFill/>
          </a:ln>
        </p:spPr>
      </p:pic>
      <p:grpSp>
        <p:nvGrpSpPr>
          <p:cNvPr id="403" name="Google Shape;403;p99"/>
          <p:cNvGrpSpPr/>
          <p:nvPr/>
        </p:nvGrpSpPr>
        <p:grpSpPr>
          <a:xfrm>
            <a:off x="3746294" y="2129856"/>
            <a:ext cx="1617944" cy="860542"/>
            <a:chOff x="310" y="249"/>
            <a:chExt cx="502" cy="267"/>
          </a:xfrm>
        </p:grpSpPr>
        <p:sp>
          <p:nvSpPr>
            <p:cNvPr id="404" name="Google Shape;404;p99"/>
            <p:cNvSpPr/>
            <p:nvPr/>
          </p:nvSpPr>
          <p:spPr>
            <a:xfrm>
              <a:off x="452" y="426"/>
              <a:ext cx="22" cy="88"/>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5" name="Google Shape;405;p99"/>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6" name="Google Shape;406;p99"/>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7" name="Google Shape;407;p99"/>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8" name="Google Shape;408;p99"/>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9" name="Google Shape;409;p99"/>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0" name="Google Shape;410;p99"/>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1" name="Google Shape;411;p99"/>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2" name="Google Shape;412;p99"/>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3" name="Google Shape;413;p99"/>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4" name="Google Shape;414;p99"/>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5" name="Google Shape;415;p99"/>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6" name="Google Shape;416;p99"/>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7" name="Google Shape;417;p99"/>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transition spd="slow">
    <p:wip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Closing Slide">
  <p:cSld name="Closing Slide">
    <p:bg>
      <p:bgPr>
        <a:solidFill>
          <a:schemeClr val="accent5"/>
        </a:solidFill>
        <a:effectLst/>
      </p:bgPr>
    </p:bg>
    <p:spTree>
      <p:nvGrpSpPr>
        <p:cNvPr id="1" name="Shape 418"/>
        <p:cNvGrpSpPr/>
        <p:nvPr/>
      </p:nvGrpSpPr>
      <p:grpSpPr>
        <a:xfrm>
          <a:off x="0" y="0"/>
          <a:ext cx="0" cy="0"/>
          <a:chOff x="0" y="0"/>
          <a:chExt cx="0" cy="0"/>
        </a:xfrm>
      </p:grpSpPr>
      <p:sp>
        <p:nvSpPr>
          <p:cNvPr id="419" name="Google Shape;419;p100"/>
          <p:cNvSpPr/>
          <p:nvPr/>
        </p:nvSpPr>
        <p:spPr>
          <a:xfrm>
            <a:off x="0" y="0"/>
            <a:ext cx="9144000" cy="5143500"/>
          </a:xfrm>
          <a:prstGeom prst="rect">
            <a:avLst/>
          </a:prstGeom>
          <a:solidFill>
            <a:srgbClr val="00394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420" name="Google Shape;420;p100"/>
          <p:cNvGrpSpPr/>
          <p:nvPr/>
        </p:nvGrpSpPr>
        <p:grpSpPr>
          <a:xfrm>
            <a:off x="3746294" y="2129856"/>
            <a:ext cx="1617944" cy="860542"/>
            <a:chOff x="310" y="249"/>
            <a:chExt cx="502" cy="267"/>
          </a:xfrm>
        </p:grpSpPr>
        <p:sp>
          <p:nvSpPr>
            <p:cNvPr id="421" name="Google Shape;421;p100"/>
            <p:cNvSpPr/>
            <p:nvPr/>
          </p:nvSpPr>
          <p:spPr>
            <a:xfrm>
              <a:off x="452" y="426"/>
              <a:ext cx="22" cy="88"/>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2" name="Google Shape;422;p100"/>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3" name="Google Shape;423;p100"/>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4" name="Google Shape;424;p100"/>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5" name="Google Shape;425;p100"/>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6" name="Google Shape;426;p100"/>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7" name="Google Shape;427;p100"/>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8" name="Google Shape;428;p100"/>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9" name="Google Shape;429;p100"/>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30" name="Google Shape;430;p100"/>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31" name="Google Shape;431;p100"/>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32" name="Google Shape;432;p100"/>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33" name="Google Shape;433;p100"/>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34" name="Google Shape;434;p100"/>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transition spd="slow">
    <p:wip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3_Closing Slide">
  <p:cSld name="3_Closing Slide">
    <p:bg>
      <p:bgPr>
        <a:solidFill>
          <a:schemeClr val="accent5"/>
        </a:solidFill>
        <a:effectLst/>
      </p:bgPr>
    </p:bg>
    <p:spTree>
      <p:nvGrpSpPr>
        <p:cNvPr id="1" name="Shape 435"/>
        <p:cNvGrpSpPr/>
        <p:nvPr/>
      </p:nvGrpSpPr>
      <p:grpSpPr>
        <a:xfrm>
          <a:off x="0" y="0"/>
          <a:ext cx="0" cy="0"/>
          <a:chOff x="0" y="0"/>
          <a:chExt cx="0" cy="0"/>
        </a:xfrm>
      </p:grpSpPr>
      <p:grpSp>
        <p:nvGrpSpPr>
          <p:cNvPr id="436" name="Google Shape;436;p101"/>
          <p:cNvGrpSpPr/>
          <p:nvPr/>
        </p:nvGrpSpPr>
        <p:grpSpPr>
          <a:xfrm>
            <a:off x="3746294" y="2129856"/>
            <a:ext cx="1617944" cy="860542"/>
            <a:chOff x="310" y="249"/>
            <a:chExt cx="502" cy="267"/>
          </a:xfrm>
        </p:grpSpPr>
        <p:sp>
          <p:nvSpPr>
            <p:cNvPr id="437" name="Google Shape;437;p101"/>
            <p:cNvSpPr/>
            <p:nvPr/>
          </p:nvSpPr>
          <p:spPr>
            <a:xfrm>
              <a:off x="452" y="426"/>
              <a:ext cx="22" cy="88"/>
            </a:xfrm>
            <a:prstGeom prst="rect">
              <a:avLst/>
            </a:pr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38" name="Google Shape;438;p101"/>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39" name="Google Shape;439;p101"/>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0" name="Google Shape;440;p101"/>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1" name="Google Shape;441;p101"/>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2" name="Google Shape;442;p101"/>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3" name="Google Shape;443;p101"/>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4" name="Google Shape;444;p101"/>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5" name="Google Shape;445;p101"/>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6" name="Google Shape;446;p101"/>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7" name="Google Shape;447;p101"/>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8" name="Google Shape;448;p101"/>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9" name="Google Shape;449;p101"/>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50" name="Google Shape;450;p101"/>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transition spd="slow">
    <p:wip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1"/>
        <p:cNvGrpSpPr/>
        <p:nvPr/>
      </p:nvGrpSpPr>
      <p:grpSpPr>
        <a:xfrm>
          <a:off x="0" y="0"/>
          <a:ext cx="0" cy="0"/>
          <a:chOff x="0" y="0"/>
          <a:chExt cx="0" cy="0"/>
        </a:xfrm>
      </p:grpSpPr>
      <p:sp>
        <p:nvSpPr>
          <p:cNvPr id="452" name="Google Shape;452;p102"/>
          <p:cNvSpPr txBox="1">
            <a:spLocks noGrp="1"/>
          </p:cNvSpPr>
          <p:nvPr>
            <p:ph type="title"/>
          </p:nvPr>
        </p:nvSpPr>
        <p:spPr>
          <a:xfrm>
            <a:off x="438150" y="341313"/>
            <a:ext cx="8345488" cy="731837"/>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3_Title Slide-animated gradient">
  <p:cSld name="3_Title Slide-animated gradient">
    <p:bg>
      <p:bgPr>
        <a:solidFill>
          <a:schemeClr val="accent5"/>
        </a:solidFill>
        <a:effectLst/>
      </p:bgPr>
    </p:bg>
    <p:spTree>
      <p:nvGrpSpPr>
        <p:cNvPr id="1" name="Shape 472"/>
        <p:cNvGrpSpPr/>
        <p:nvPr/>
      </p:nvGrpSpPr>
      <p:grpSpPr>
        <a:xfrm>
          <a:off x="0" y="0"/>
          <a:ext cx="0" cy="0"/>
          <a:chOff x="0" y="0"/>
          <a:chExt cx="0" cy="0"/>
        </a:xfrm>
      </p:grpSpPr>
      <p:pic>
        <p:nvPicPr>
          <p:cNvPr id="473" name="Google Shape;473;p104"/>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474" name="Google Shape;474;p104"/>
          <p:cNvSpPr txBox="1">
            <a:spLocks noGrp="1"/>
          </p:cNvSpPr>
          <p:nvPr>
            <p:ph type="subTitle" idx="1"/>
          </p:nvPr>
        </p:nvSpPr>
        <p:spPr>
          <a:xfrm>
            <a:off x="469496" y="3809526"/>
            <a:ext cx="4319105" cy="288131"/>
          </a:xfrm>
          <a:prstGeom prst="rect">
            <a:avLst/>
          </a:prstGeom>
          <a:noFill/>
          <a:ln>
            <a:noFill/>
          </a:ln>
        </p:spPr>
        <p:txBody>
          <a:bodyPr spcFirstLastPara="1" wrap="square" lIns="91400" tIns="45700" rIns="91400" bIns="45700" anchor="b" anchorCtr="0">
            <a:noAutofit/>
          </a:bodyPr>
          <a:lstStyle>
            <a:lvl1pPr marR="0" lvl="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R="0" lvl="1" algn="ctr" rtl="0">
              <a:lnSpc>
                <a:spcPct val="95000"/>
              </a:lnSpc>
              <a:spcBef>
                <a:spcPts val="600"/>
              </a:spcBef>
              <a:spcAft>
                <a:spcPts val="0"/>
              </a:spcAft>
              <a:buClr>
                <a:schemeClr val="dk2"/>
              </a:buClr>
              <a:buSzPts val="1400"/>
              <a:buFont typeface="Arial"/>
              <a:buNone/>
              <a:defRPr sz="1400" b="0" i="0" u="none" strike="noStrike" cap="none">
                <a:solidFill>
                  <a:srgbClr val="98989A"/>
                </a:solidFill>
                <a:latin typeface="Arial"/>
                <a:ea typeface="Arial"/>
                <a:cs typeface="Arial"/>
                <a:sym typeface="Arial"/>
              </a:defRPr>
            </a:lvl2pPr>
            <a:lvl3pPr marR="0" lvl="2" algn="ctr" rtl="0">
              <a:lnSpc>
                <a:spcPct val="95000"/>
              </a:lnSpc>
              <a:spcBef>
                <a:spcPts val="625"/>
              </a:spcBef>
              <a:spcAft>
                <a:spcPts val="0"/>
              </a:spcAft>
              <a:buClr>
                <a:srgbClr val="98989A"/>
              </a:buClr>
              <a:buSzPts val="1200"/>
              <a:buFont typeface="Arial"/>
              <a:buNone/>
              <a:defRPr sz="1200" b="0" i="0" u="none" strike="noStrike" cap="none">
                <a:solidFill>
                  <a:srgbClr val="98989A"/>
                </a:solidFill>
                <a:latin typeface="Arial"/>
                <a:ea typeface="Arial"/>
                <a:cs typeface="Arial"/>
                <a:sym typeface="Arial"/>
              </a:defRPr>
            </a:lvl3pPr>
            <a:lvl4pPr marR="0" lvl="3"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4pPr>
            <a:lvl5pPr marR="0" lvl="4"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5pPr>
            <a:lvl6pPr marR="0" lvl="5" algn="ctr" rtl="0">
              <a:spcBef>
                <a:spcPts val="600"/>
              </a:spcBef>
              <a:spcAft>
                <a:spcPts val="0"/>
              </a:spcAft>
              <a:buClr>
                <a:srgbClr val="98989A"/>
              </a:buClr>
              <a:buSzPts val="900"/>
              <a:buFont typeface="Arial"/>
              <a:buNone/>
              <a:defRPr sz="900" b="0" i="0" u="none" strike="noStrike" cap="none">
                <a:solidFill>
                  <a:srgbClr val="98989A"/>
                </a:solidFill>
                <a:latin typeface="Arial"/>
                <a:ea typeface="Arial"/>
                <a:cs typeface="Arial"/>
                <a:sym typeface="Arial"/>
              </a:defRPr>
            </a:lvl6pPr>
            <a:lvl7pPr marR="0" lvl="6" algn="ctr" rtl="0">
              <a:spcBef>
                <a:spcPts val="600"/>
              </a:spcBef>
              <a:spcAft>
                <a:spcPts val="0"/>
              </a:spcAft>
              <a:buClr>
                <a:srgbClr val="98989A"/>
              </a:buClr>
              <a:buSzPts val="800"/>
              <a:buFont typeface="Arial"/>
              <a:buNone/>
              <a:defRPr sz="800" b="0" i="0" u="none" strike="noStrike" cap="none">
                <a:solidFill>
                  <a:srgbClr val="98989A"/>
                </a:solidFill>
                <a:latin typeface="Arial"/>
                <a:ea typeface="Arial"/>
                <a:cs typeface="Arial"/>
                <a:sym typeface="Arial"/>
              </a:defRPr>
            </a:lvl7pPr>
            <a:lvl8pPr marR="0" lvl="7" algn="ctr" rtl="0">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8pPr>
            <a:lvl9pPr marR="0" lvl="8" algn="ctr" rtl="0">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9pPr>
          </a:lstStyle>
          <a:p>
            <a:endParaRPr/>
          </a:p>
        </p:txBody>
      </p:sp>
      <p:sp>
        <p:nvSpPr>
          <p:cNvPr id="475" name="Google Shape;475;p104"/>
          <p:cNvSpPr txBox="1">
            <a:spLocks noGrp="1"/>
          </p:cNvSpPr>
          <p:nvPr>
            <p:ph type="body" idx="2"/>
          </p:nvPr>
        </p:nvSpPr>
        <p:spPr>
          <a:xfrm>
            <a:off x="469496" y="4049523"/>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476" name="Google Shape;476;p104"/>
          <p:cNvSpPr txBox="1">
            <a:spLocks noGrp="1"/>
          </p:cNvSpPr>
          <p:nvPr>
            <p:ph type="body" idx="3"/>
          </p:nvPr>
        </p:nvSpPr>
        <p:spPr>
          <a:xfrm>
            <a:off x="469496" y="4289520"/>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477" name="Google Shape;477;p104"/>
          <p:cNvSpPr txBox="1">
            <a:spLocks noGrp="1"/>
          </p:cNvSpPr>
          <p:nvPr>
            <p:ph type="body" idx="4"/>
          </p:nvPr>
        </p:nvSpPr>
        <p:spPr>
          <a:xfrm>
            <a:off x="463292" y="2872236"/>
            <a:ext cx="5925246" cy="29900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lt2"/>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5000"/>
              </a:lnSpc>
              <a:spcBef>
                <a:spcPts val="625"/>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4pPr>
            <a:lvl5pPr marL="2286000" marR="0" lvl="4"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478" name="Google Shape;478;p104"/>
          <p:cNvSpPr txBox="1">
            <a:spLocks noGrp="1"/>
          </p:cNvSpPr>
          <p:nvPr>
            <p:ph type="ctrTitle"/>
          </p:nvPr>
        </p:nvSpPr>
        <p:spPr>
          <a:xfrm>
            <a:off x="425765" y="2300750"/>
            <a:ext cx="5955513" cy="644730"/>
          </a:xfrm>
          <a:prstGeom prst="rect">
            <a:avLst/>
          </a:prstGeom>
          <a:noFill/>
          <a:ln>
            <a:noFill/>
          </a:ln>
        </p:spPr>
        <p:txBody>
          <a:bodyPr spcFirstLastPara="1" wrap="square" lIns="91400" tIns="45700" rIns="91400" bIns="45700" anchor="b" anchorCtr="0">
            <a:noAutofit/>
          </a:bodyPr>
          <a:lstStyle>
            <a:lvl1pPr lvl="0" algn="l">
              <a:lnSpc>
                <a:spcPct val="90000"/>
              </a:lnSpc>
              <a:spcBef>
                <a:spcPts val="0"/>
              </a:spcBef>
              <a:spcAft>
                <a:spcPts val="0"/>
              </a:spcAft>
              <a:buClr>
                <a:srgbClr val="38C6F4"/>
              </a:buClr>
              <a:buSzPts val="3600"/>
              <a:buFont typeface="Arial"/>
              <a:buNone/>
              <a:defRPr sz="3600" b="0" i="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grpSp>
        <p:nvGrpSpPr>
          <p:cNvPr id="479" name="Google Shape;479;p104"/>
          <p:cNvGrpSpPr/>
          <p:nvPr/>
        </p:nvGrpSpPr>
        <p:grpSpPr>
          <a:xfrm>
            <a:off x="492125" y="395288"/>
            <a:ext cx="796924" cy="423863"/>
            <a:chOff x="310" y="249"/>
            <a:chExt cx="502" cy="267"/>
          </a:xfrm>
        </p:grpSpPr>
        <p:sp>
          <p:nvSpPr>
            <p:cNvPr id="480" name="Google Shape;480;p104"/>
            <p:cNvSpPr/>
            <p:nvPr/>
          </p:nvSpPr>
          <p:spPr>
            <a:xfrm>
              <a:off x="452" y="426"/>
              <a:ext cx="22" cy="88"/>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1" name="Google Shape;481;p104"/>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2" name="Google Shape;482;p104"/>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3" name="Google Shape;483;p104"/>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4" name="Google Shape;484;p104"/>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5" name="Google Shape;485;p104"/>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6" name="Google Shape;486;p104"/>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7" name="Google Shape;487;p104"/>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8" name="Google Shape;488;p104"/>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9" name="Google Shape;489;p104"/>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0" name="Google Shape;490;p104"/>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1" name="Google Shape;491;p104"/>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2" name="Google Shape;492;p104"/>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3" name="Google Shape;493;p104"/>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5_Title Slide-animated gradient">
  <p:cSld name="5_Title Slide-animated gradient">
    <p:bg>
      <p:bgPr>
        <a:solidFill>
          <a:schemeClr val="accent5"/>
        </a:solidFill>
        <a:effectLst/>
      </p:bgPr>
    </p:bg>
    <p:spTree>
      <p:nvGrpSpPr>
        <p:cNvPr id="1" name="Shape 494"/>
        <p:cNvGrpSpPr/>
        <p:nvPr/>
      </p:nvGrpSpPr>
      <p:grpSpPr>
        <a:xfrm>
          <a:off x="0" y="0"/>
          <a:ext cx="0" cy="0"/>
          <a:chOff x="0" y="0"/>
          <a:chExt cx="0" cy="0"/>
        </a:xfrm>
      </p:grpSpPr>
      <p:sp>
        <p:nvSpPr>
          <p:cNvPr id="495" name="Google Shape;495;p105"/>
          <p:cNvSpPr txBox="1">
            <a:spLocks noGrp="1"/>
          </p:cNvSpPr>
          <p:nvPr>
            <p:ph type="subTitle" idx="1"/>
          </p:nvPr>
        </p:nvSpPr>
        <p:spPr>
          <a:xfrm>
            <a:off x="469496" y="3809526"/>
            <a:ext cx="4319105" cy="288131"/>
          </a:xfrm>
          <a:prstGeom prst="rect">
            <a:avLst/>
          </a:prstGeom>
          <a:noFill/>
          <a:ln>
            <a:noFill/>
          </a:ln>
        </p:spPr>
        <p:txBody>
          <a:bodyPr spcFirstLastPara="1" wrap="square" lIns="91400" tIns="45700" rIns="91400" bIns="45700" anchor="b" anchorCtr="0">
            <a:noAutofit/>
          </a:bodyPr>
          <a:lstStyle>
            <a:lvl1pPr marR="0" lvl="0" algn="l" rtl="0">
              <a:lnSpc>
                <a:spcPct val="95000"/>
              </a:lnSpc>
              <a:spcBef>
                <a:spcPts val="1075"/>
              </a:spcBef>
              <a:spcAft>
                <a:spcPts val="0"/>
              </a:spcAft>
              <a:buClr>
                <a:schemeClr val="dk2"/>
              </a:buClr>
              <a:buSzPts val="1080"/>
              <a:buFont typeface="Arial"/>
              <a:buNone/>
              <a:defRPr sz="1200" b="0" i="0" u="none" strike="noStrike" cap="none">
                <a:solidFill>
                  <a:schemeClr val="accent1"/>
                </a:solidFill>
                <a:latin typeface="Arial"/>
                <a:ea typeface="Arial"/>
                <a:cs typeface="Arial"/>
                <a:sym typeface="Arial"/>
              </a:defRPr>
            </a:lvl1pPr>
            <a:lvl2pPr marR="0" lvl="1" algn="ctr" rtl="0">
              <a:lnSpc>
                <a:spcPct val="95000"/>
              </a:lnSpc>
              <a:spcBef>
                <a:spcPts val="600"/>
              </a:spcBef>
              <a:spcAft>
                <a:spcPts val="0"/>
              </a:spcAft>
              <a:buClr>
                <a:schemeClr val="dk2"/>
              </a:buClr>
              <a:buSzPts val="1400"/>
              <a:buFont typeface="Arial"/>
              <a:buNone/>
              <a:defRPr sz="1400" b="0" i="0" u="none" strike="noStrike" cap="none">
                <a:solidFill>
                  <a:srgbClr val="98989A"/>
                </a:solidFill>
                <a:latin typeface="Arial"/>
                <a:ea typeface="Arial"/>
                <a:cs typeface="Arial"/>
                <a:sym typeface="Arial"/>
              </a:defRPr>
            </a:lvl2pPr>
            <a:lvl3pPr marR="0" lvl="2" algn="ctr" rtl="0">
              <a:lnSpc>
                <a:spcPct val="95000"/>
              </a:lnSpc>
              <a:spcBef>
                <a:spcPts val="625"/>
              </a:spcBef>
              <a:spcAft>
                <a:spcPts val="0"/>
              </a:spcAft>
              <a:buClr>
                <a:srgbClr val="98989A"/>
              </a:buClr>
              <a:buSzPts val="1200"/>
              <a:buFont typeface="Arial"/>
              <a:buNone/>
              <a:defRPr sz="1200" b="0" i="0" u="none" strike="noStrike" cap="none">
                <a:solidFill>
                  <a:srgbClr val="98989A"/>
                </a:solidFill>
                <a:latin typeface="Arial"/>
                <a:ea typeface="Arial"/>
                <a:cs typeface="Arial"/>
                <a:sym typeface="Arial"/>
              </a:defRPr>
            </a:lvl3pPr>
            <a:lvl4pPr marR="0" lvl="3"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4pPr>
            <a:lvl5pPr marR="0" lvl="4"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5pPr>
            <a:lvl6pPr marR="0" lvl="5" algn="ctr" rtl="0">
              <a:spcBef>
                <a:spcPts val="600"/>
              </a:spcBef>
              <a:spcAft>
                <a:spcPts val="0"/>
              </a:spcAft>
              <a:buClr>
                <a:srgbClr val="98989A"/>
              </a:buClr>
              <a:buSzPts val="900"/>
              <a:buFont typeface="Arial"/>
              <a:buNone/>
              <a:defRPr sz="900" b="0" i="0" u="none" strike="noStrike" cap="none">
                <a:solidFill>
                  <a:srgbClr val="98989A"/>
                </a:solidFill>
                <a:latin typeface="Arial"/>
                <a:ea typeface="Arial"/>
                <a:cs typeface="Arial"/>
                <a:sym typeface="Arial"/>
              </a:defRPr>
            </a:lvl6pPr>
            <a:lvl7pPr marR="0" lvl="6" algn="ctr" rtl="0">
              <a:spcBef>
                <a:spcPts val="600"/>
              </a:spcBef>
              <a:spcAft>
                <a:spcPts val="0"/>
              </a:spcAft>
              <a:buClr>
                <a:srgbClr val="98989A"/>
              </a:buClr>
              <a:buSzPts val="800"/>
              <a:buFont typeface="Arial"/>
              <a:buNone/>
              <a:defRPr sz="800" b="0" i="0" u="none" strike="noStrike" cap="none">
                <a:solidFill>
                  <a:srgbClr val="98989A"/>
                </a:solidFill>
                <a:latin typeface="Arial"/>
                <a:ea typeface="Arial"/>
                <a:cs typeface="Arial"/>
                <a:sym typeface="Arial"/>
              </a:defRPr>
            </a:lvl7pPr>
            <a:lvl8pPr marR="0" lvl="7" algn="ctr" rtl="0">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8pPr>
            <a:lvl9pPr marR="0" lvl="8" algn="ctr" rtl="0">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9pPr>
          </a:lstStyle>
          <a:p>
            <a:endParaRPr/>
          </a:p>
        </p:txBody>
      </p:sp>
      <p:sp>
        <p:nvSpPr>
          <p:cNvPr id="496" name="Google Shape;496;p105"/>
          <p:cNvSpPr txBox="1">
            <a:spLocks noGrp="1"/>
          </p:cNvSpPr>
          <p:nvPr>
            <p:ph type="body" idx="2"/>
          </p:nvPr>
        </p:nvSpPr>
        <p:spPr>
          <a:xfrm>
            <a:off x="469496" y="4049523"/>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1"/>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497" name="Google Shape;497;p105"/>
          <p:cNvSpPr txBox="1">
            <a:spLocks noGrp="1"/>
          </p:cNvSpPr>
          <p:nvPr>
            <p:ph type="body" idx="3"/>
          </p:nvPr>
        </p:nvSpPr>
        <p:spPr>
          <a:xfrm>
            <a:off x="469496" y="4289520"/>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1"/>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grpSp>
        <p:nvGrpSpPr>
          <p:cNvPr id="498" name="Google Shape;498;p105"/>
          <p:cNvGrpSpPr/>
          <p:nvPr/>
        </p:nvGrpSpPr>
        <p:grpSpPr>
          <a:xfrm>
            <a:off x="492125" y="395288"/>
            <a:ext cx="796924" cy="423863"/>
            <a:chOff x="310" y="249"/>
            <a:chExt cx="502" cy="267"/>
          </a:xfrm>
        </p:grpSpPr>
        <p:sp>
          <p:nvSpPr>
            <p:cNvPr id="499" name="Google Shape;499;p105"/>
            <p:cNvSpPr/>
            <p:nvPr/>
          </p:nvSpPr>
          <p:spPr>
            <a:xfrm>
              <a:off x="452" y="426"/>
              <a:ext cx="22" cy="88"/>
            </a:xfrm>
            <a:prstGeom prst="rect">
              <a:avLst/>
            </a:pr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0" name="Google Shape;500;p105"/>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1" name="Google Shape;501;p105"/>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2" name="Google Shape;502;p105"/>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3" name="Google Shape;503;p105"/>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4" name="Google Shape;504;p105"/>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5" name="Google Shape;505;p105"/>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6" name="Google Shape;506;p105"/>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7" name="Google Shape;507;p105"/>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8" name="Google Shape;508;p105"/>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9" name="Google Shape;509;p105"/>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0" name="Google Shape;510;p105"/>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1" name="Google Shape;511;p105"/>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2" name="Google Shape;512;p105"/>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4C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13" name="Google Shape;513;p105"/>
          <p:cNvSpPr txBox="1">
            <a:spLocks noGrp="1"/>
          </p:cNvSpPr>
          <p:nvPr>
            <p:ph type="body" idx="4"/>
          </p:nvPr>
        </p:nvSpPr>
        <p:spPr>
          <a:xfrm>
            <a:off x="463292" y="2872236"/>
            <a:ext cx="5925246" cy="29900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5000"/>
              </a:lnSpc>
              <a:spcBef>
                <a:spcPts val="625"/>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4pPr>
            <a:lvl5pPr marL="2286000" marR="0" lvl="4"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514" name="Google Shape;514;p105"/>
          <p:cNvSpPr txBox="1">
            <a:spLocks noGrp="1"/>
          </p:cNvSpPr>
          <p:nvPr>
            <p:ph type="ctrTitle"/>
          </p:nvPr>
        </p:nvSpPr>
        <p:spPr>
          <a:xfrm>
            <a:off x="425765" y="2300750"/>
            <a:ext cx="5955513" cy="644730"/>
          </a:xfrm>
          <a:prstGeom prst="rect">
            <a:avLst/>
          </a:prstGeom>
          <a:noFill/>
          <a:ln>
            <a:noFill/>
          </a:ln>
        </p:spPr>
        <p:txBody>
          <a:bodyPr spcFirstLastPara="1" wrap="square" lIns="91400" tIns="45700" rIns="91400" bIns="45700" anchor="b" anchorCtr="0">
            <a:noAutofit/>
          </a:bodyPr>
          <a:lstStyle>
            <a:lvl1pPr lvl="0" algn="l">
              <a:lnSpc>
                <a:spcPct val="90000"/>
              </a:lnSpc>
              <a:spcBef>
                <a:spcPts val="0"/>
              </a:spcBef>
              <a:spcAft>
                <a:spcPts val="0"/>
              </a:spcAft>
              <a:buClr>
                <a:schemeClr val="accent1"/>
              </a:buClr>
              <a:buSzPts val="3600"/>
              <a:buFont typeface="Arial"/>
              <a:buNone/>
              <a:defRPr sz="3600" b="0" i="0">
                <a:solidFill>
                  <a:schemeClr val="accen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matchingName="6_Title Slide-animated gradient">
  <p:cSld name="6_Title Slide-animated gradient">
    <p:bg>
      <p:bgPr>
        <a:solidFill>
          <a:schemeClr val="accent5"/>
        </a:solidFill>
        <a:effectLst/>
      </p:bgPr>
    </p:bg>
    <p:spTree>
      <p:nvGrpSpPr>
        <p:cNvPr id="1" name="Shape 515"/>
        <p:cNvGrpSpPr/>
        <p:nvPr/>
      </p:nvGrpSpPr>
      <p:grpSpPr>
        <a:xfrm>
          <a:off x="0" y="0"/>
          <a:ext cx="0" cy="0"/>
          <a:chOff x="0" y="0"/>
          <a:chExt cx="0" cy="0"/>
        </a:xfrm>
      </p:grpSpPr>
      <p:sp>
        <p:nvSpPr>
          <p:cNvPr id="516" name="Google Shape;516;p106"/>
          <p:cNvSpPr/>
          <p:nvPr/>
        </p:nvSpPr>
        <p:spPr>
          <a:xfrm>
            <a:off x="0" y="0"/>
            <a:ext cx="9144000" cy="5143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17" name="Google Shape;517;p106"/>
          <p:cNvSpPr txBox="1">
            <a:spLocks noGrp="1"/>
          </p:cNvSpPr>
          <p:nvPr>
            <p:ph type="subTitle" idx="1"/>
          </p:nvPr>
        </p:nvSpPr>
        <p:spPr>
          <a:xfrm>
            <a:off x="469496" y="3809526"/>
            <a:ext cx="4319105" cy="288131"/>
          </a:xfrm>
          <a:prstGeom prst="rect">
            <a:avLst/>
          </a:prstGeom>
          <a:noFill/>
          <a:ln>
            <a:noFill/>
          </a:ln>
        </p:spPr>
        <p:txBody>
          <a:bodyPr spcFirstLastPara="1" wrap="square" lIns="91400" tIns="45700" rIns="91400" bIns="45700" anchor="b" anchorCtr="0">
            <a:noAutofit/>
          </a:bodyPr>
          <a:lstStyle>
            <a:lvl1pPr marR="0" lvl="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R="0" lvl="1" algn="ctr" rtl="0">
              <a:lnSpc>
                <a:spcPct val="95000"/>
              </a:lnSpc>
              <a:spcBef>
                <a:spcPts val="600"/>
              </a:spcBef>
              <a:spcAft>
                <a:spcPts val="0"/>
              </a:spcAft>
              <a:buClr>
                <a:schemeClr val="dk2"/>
              </a:buClr>
              <a:buSzPts val="1400"/>
              <a:buFont typeface="Arial"/>
              <a:buNone/>
              <a:defRPr sz="1400" b="0" i="0" u="none" strike="noStrike" cap="none">
                <a:solidFill>
                  <a:srgbClr val="98989A"/>
                </a:solidFill>
                <a:latin typeface="Arial"/>
                <a:ea typeface="Arial"/>
                <a:cs typeface="Arial"/>
                <a:sym typeface="Arial"/>
              </a:defRPr>
            </a:lvl2pPr>
            <a:lvl3pPr marR="0" lvl="2" algn="ctr" rtl="0">
              <a:lnSpc>
                <a:spcPct val="95000"/>
              </a:lnSpc>
              <a:spcBef>
                <a:spcPts val="625"/>
              </a:spcBef>
              <a:spcAft>
                <a:spcPts val="0"/>
              </a:spcAft>
              <a:buClr>
                <a:srgbClr val="98989A"/>
              </a:buClr>
              <a:buSzPts val="1200"/>
              <a:buFont typeface="Arial"/>
              <a:buNone/>
              <a:defRPr sz="1200" b="0" i="0" u="none" strike="noStrike" cap="none">
                <a:solidFill>
                  <a:srgbClr val="98989A"/>
                </a:solidFill>
                <a:latin typeface="Arial"/>
                <a:ea typeface="Arial"/>
                <a:cs typeface="Arial"/>
                <a:sym typeface="Arial"/>
              </a:defRPr>
            </a:lvl3pPr>
            <a:lvl4pPr marR="0" lvl="3"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4pPr>
            <a:lvl5pPr marR="0" lvl="4" algn="ctr" rtl="0">
              <a:lnSpc>
                <a:spcPct val="95000"/>
              </a:lnSpc>
              <a:spcBef>
                <a:spcPts val="625"/>
              </a:spcBef>
              <a:spcAft>
                <a:spcPts val="0"/>
              </a:spcAft>
              <a:buClr>
                <a:srgbClr val="98989A"/>
              </a:buClr>
              <a:buSzPts val="1100"/>
              <a:buFont typeface="Arial"/>
              <a:buNone/>
              <a:defRPr sz="1100" b="0" i="0" u="none" strike="noStrike" cap="none">
                <a:solidFill>
                  <a:srgbClr val="98989A"/>
                </a:solidFill>
                <a:latin typeface="Arial"/>
                <a:ea typeface="Arial"/>
                <a:cs typeface="Arial"/>
                <a:sym typeface="Arial"/>
              </a:defRPr>
            </a:lvl5pPr>
            <a:lvl6pPr marR="0" lvl="5" algn="ctr" rtl="0">
              <a:spcBef>
                <a:spcPts val="600"/>
              </a:spcBef>
              <a:spcAft>
                <a:spcPts val="0"/>
              </a:spcAft>
              <a:buClr>
                <a:srgbClr val="98989A"/>
              </a:buClr>
              <a:buSzPts val="900"/>
              <a:buFont typeface="Arial"/>
              <a:buNone/>
              <a:defRPr sz="900" b="0" i="0" u="none" strike="noStrike" cap="none">
                <a:solidFill>
                  <a:srgbClr val="98989A"/>
                </a:solidFill>
                <a:latin typeface="Arial"/>
                <a:ea typeface="Arial"/>
                <a:cs typeface="Arial"/>
                <a:sym typeface="Arial"/>
              </a:defRPr>
            </a:lvl6pPr>
            <a:lvl7pPr marR="0" lvl="6" algn="ctr" rtl="0">
              <a:spcBef>
                <a:spcPts val="600"/>
              </a:spcBef>
              <a:spcAft>
                <a:spcPts val="0"/>
              </a:spcAft>
              <a:buClr>
                <a:srgbClr val="98989A"/>
              </a:buClr>
              <a:buSzPts val="800"/>
              <a:buFont typeface="Arial"/>
              <a:buNone/>
              <a:defRPr sz="800" b="0" i="0" u="none" strike="noStrike" cap="none">
                <a:solidFill>
                  <a:srgbClr val="98989A"/>
                </a:solidFill>
                <a:latin typeface="Arial"/>
                <a:ea typeface="Arial"/>
                <a:cs typeface="Arial"/>
                <a:sym typeface="Arial"/>
              </a:defRPr>
            </a:lvl7pPr>
            <a:lvl8pPr marR="0" lvl="7" algn="ctr" rtl="0">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8pPr>
            <a:lvl9pPr marR="0" lvl="8" algn="ctr" rtl="0">
              <a:spcBef>
                <a:spcPts val="300"/>
              </a:spcBef>
              <a:spcAft>
                <a:spcPts val="0"/>
              </a:spcAft>
              <a:buClr>
                <a:srgbClr val="98989A"/>
              </a:buClr>
              <a:buSzPts val="1500"/>
              <a:buFont typeface="Arial"/>
              <a:buNone/>
              <a:defRPr sz="1500" b="0" i="0" u="none" strike="noStrike" cap="none">
                <a:solidFill>
                  <a:srgbClr val="98989A"/>
                </a:solidFill>
                <a:latin typeface="Arial"/>
                <a:ea typeface="Arial"/>
                <a:cs typeface="Arial"/>
                <a:sym typeface="Arial"/>
              </a:defRPr>
            </a:lvl9pPr>
          </a:lstStyle>
          <a:p>
            <a:endParaRPr/>
          </a:p>
        </p:txBody>
      </p:sp>
      <p:sp>
        <p:nvSpPr>
          <p:cNvPr id="518" name="Google Shape;518;p106"/>
          <p:cNvSpPr txBox="1">
            <a:spLocks noGrp="1"/>
          </p:cNvSpPr>
          <p:nvPr>
            <p:ph type="body" idx="2"/>
          </p:nvPr>
        </p:nvSpPr>
        <p:spPr>
          <a:xfrm>
            <a:off x="469496" y="4049523"/>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519" name="Google Shape;519;p106"/>
          <p:cNvSpPr txBox="1">
            <a:spLocks noGrp="1"/>
          </p:cNvSpPr>
          <p:nvPr>
            <p:ph type="body" idx="3"/>
          </p:nvPr>
        </p:nvSpPr>
        <p:spPr>
          <a:xfrm>
            <a:off x="469496" y="4289520"/>
            <a:ext cx="4319105" cy="28813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080"/>
              <a:buFont typeface="Arial"/>
              <a:buNone/>
              <a:defRPr sz="1200" b="0" i="0" u="none" strike="noStrike" cap="none">
                <a:solidFill>
                  <a:schemeClr val="accent5"/>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grpSp>
        <p:nvGrpSpPr>
          <p:cNvPr id="520" name="Google Shape;520;p106"/>
          <p:cNvGrpSpPr/>
          <p:nvPr/>
        </p:nvGrpSpPr>
        <p:grpSpPr>
          <a:xfrm>
            <a:off x="492125" y="395288"/>
            <a:ext cx="796924" cy="423863"/>
            <a:chOff x="310" y="249"/>
            <a:chExt cx="502" cy="267"/>
          </a:xfrm>
        </p:grpSpPr>
        <p:sp>
          <p:nvSpPr>
            <p:cNvPr id="521" name="Google Shape;521;p106"/>
            <p:cNvSpPr/>
            <p:nvPr/>
          </p:nvSpPr>
          <p:spPr>
            <a:xfrm>
              <a:off x="452" y="426"/>
              <a:ext cx="22" cy="88"/>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2" name="Google Shape;522;p106"/>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3" name="Google Shape;523;p106"/>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4" name="Google Shape;524;p106"/>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5" name="Google Shape;525;p106"/>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6" name="Google Shape;526;p106"/>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7" name="Google Shape;527;p106"/>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8" name="Google Shape;528;p106"/>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9" name="Google Shape;529;p106"/>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0" name="Google Shape;530;p106"/>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1" name="Google Shape;531;p106"/>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2" name="Google Shape;532;p106"/>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3" name="Google Shape;533;p106"/>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4" name="Google Shape;534;p106"/>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35" name="Google Shape;535;p106"/>
          <p:cNvSpPr txBox="1">
            <a:spLocks noGrp="1"/>
          </p:cNvSpPr>
          <p:nvPr>
            <p:ph type="body" idx="4"/>
          </p:nvPr>
        </p:nvSpPr>
        <p:spPr>
          <a:xfrm>
            <a:off x="463292" y="2872236"/>
            <a:ext cx="5925246" cy="299001"/>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lt2"/>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5000"/>
              </a:lnSpc>
              <a:spcBef>
                <a:spcPts val="625"/>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4pPr>
            <a:lvl5pPr marL="2286000" marR="0" lvl="4"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536" name="Google Shape;536;p106"/>
          <p:cNvSpPr txBox="1">
            <a:spLocks noGrp="1"/>
          </p:cNvSpPr>
          <p:nvPr>
            <p:ph type="ctrTitle"/>
          </p:nvPr>
        </p:nvSpPr>
        <p:spPr>
          <a:xfrm>
            <a:off x="425765" y="2300750"/>
            <a:ext cx="5955513" cy="644730"/>
          </a:xfrm>
          <a:prstGeom prst="rect">
            <a:avLst/>
          </a:prstGeom>
          <a:noFill/>
          <a:ln>
            <a:noFill/>
          </a:ln>
        </p:spPr>
        <p:txBody>
          <a:bodyPr spcFirstLastPara="1" wrap="square" lIns="91400" tIns="45700" rIns="91400" bIns="45700" anchor="b" anchorCtr="0">
            <a:noAutofit/>
          </a:bodyPr>
          <a:lstStyle>
            <a:lvl1pPr lvl="0" algn="l">
              <a:lnSpc>
                <a:spcPct val="90000"/>
              </a:lnSpc>
              <a:spcBef>
                <a:spcPts val="0"/>
              </a:spcBef>
              <a:spcAft>
                <a:spcPts val="0"/>
              </a:spcAft>
              <a:buClr>
                <a:srgbClr val="38C6F4"/>
              </a:buClr>
              <a:buSzPts val="3600"/>
              <a:buFont typeface="Arial"/>
              <a:buNone/>
              <a:defRPr sz="3600" b="0" i="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matchingName="3_Segue">
  <p:cSld name="3_Segue">
    <p:bg>
      <p:bgPr>
        <a:solidFill>
          <a:schemeClr val="lt1"/>
        </a:solidFill>
        <a:effectLst/>
      </p:bgPr>
    </p:bg>
    <p:spTree>
      <p:nvGrpSpPr>
        <p:cNvPr id="1" name="Shape 537"/>
        <p:cNvGrpSpPr/>
        <p:nvPr/>
      </p:nvGrpSpPr>
      <p:grpSpPr>
        <a:xfrm>
          <a:off x="0" y="0"/>
          <a:ext cx="0" cy="0"/>
          <a:chOff x="0" y="0"/>
          <a:chExt cx="0" cy="0"/>
        </a:xfrm>
      </p:grpSpPr>
      <p:sp>
        <p:nvSpPr>
          <p:cNvPr id="538" name="Google Shape;538;p107"/>
          <p:cNvSpPr/>
          <p:nvPr/>
        </p:nvSpPr>
        <p:spPr>
          <a:xfrm>
            <a:off x="0" y="0"/>
            <a:ext cx="9144000" cy="5143499"/>
          </a:xfrm>
          <a:prstGeom prst="rect">
            <a:avLst/>
          </a:prstGeom>
          <a:solidFill>
            <a:srgbClr val="00394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39" name="Google Shape;539;p107"/>
          <p:cNvSpPr txBox="1">
            <a:spLocks noGrp="1"/>
          </p:cNvSpPr>
          <p:nvPr>
            <p:ph type="ctrTitle"/>
          </p:nvPr>
        </p:nvSpPr>
        <p:spPr>
          <a:xfrm>
            <a:off x="416425" y="915409"/>
            <a:ext cx="7598042" cy="2569946"/>
          </a:xfrm>
          <a:prstGeom prst="rect">
            <a:avLst/>
          </a:prstGeom>
          <a:noFill/>
          <a:ln>
            <a:noFill/>
          </a:ln>
        </p:spPr>
        <p:txBody>
          <a:bodyPr spcFirstLastPara="1" wrap="square" lIns="91400" tIns="45700" rIns="91400" bIns="45700" anchor="b" anchorCtr="0">
            <a:noAutofit/>
          </a:bodyPr>
          <a:lstStyle>
            <a:lvl1pPr lvl="0" algn="l">
              <a:lnSpc>
                <a:spcPct val="90000"/>
              </a:lnSpc>
              <a:spcBef>
                <a:spcPts val="0"/>
              </a:spcBef>
              <a:spcAft>
                <a:spcPts val="0"/>
              </a:spcAft>
              <a:buClr>
                <a:schemeClr val="accent5"/>
              </a:buClr>
              <a:buSzPts val="4600"/>
              <a:buFont typeface="Arial"/>
              <a:buNone/>
              <a:defRPr sz="4600" b="0" i="0">
                <a:solidFill>
                  <a:schemeClr val="accent5"/>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540" name="Google Shape;540;p107"/>
          <p:cNvSpPr/>
          <p:nvPr/>
        </p:nvSpPr>
        <p:spPr>
          <a:xfrm>
            <a:off x="8515707" y="4742907"/>
            <a:ext cx="218414" cy="154518"/>
          </a:xfrm>
          <a:prstGeom prst="rect">
            <a:avLst/>
          </a:prstGeom>
          <a:noFill/>
          <a:ln>
            <a:noFill/>
          </a:ln>
        </p:spPr>
        <p:txBody>
          <a:bodyPr spcFirstLastPara="1" wrap="square" lIns="61575" tIns="30775" rIns="61575" bIns="30775" anchor="b" anchorCtr="0">
            <a:spAutoFit/>
          </a:bodyPr>
          <a:lstStyle/>
          <a:p>
            <a:pPr marL="0" marR="0" lvl="0" indent="0" algn="r" rtl="0">
              <a:spcBef>
                <a:spcPts val="0"/>
              </a:spcBef>
              <a:spcAft>
                <a:spcPts val="0"/>
              </a:spcAft>
              <a:buNone/>
            </a:pPr>
            <a:fld id="{00000000-1234-1234-1234-123412341234}" type="slidenum">
              <a:rPr lang="en-US" sz="600">
                <a:solidFill>
                  <a:srgbClr val="076D8E"/>
                </a:solidFill>
                <a:latin typeface="Arial"/>
                <a:ea typeface="Arial"/>
                <a:cs typeface="Arial"/>
                <a:sym typeface="Arial"/>
              </a:rPr>
              <a:t>‹#›</a:t>
            </a:fld>
            <a:endParaRPr sz="600">
              <a:solidFill>
                <a:srgbClr val="076D8E"/>
              </a:solidFill>
              <a:latin typeface="Arial"/>
              <a:ea typeface="Arial"/>
              <a:cs typeface="Arial"/>
              <a:sym typeface="Arial"/>
            </a:endParaRPr>
          </a:p>
        </p:txBody>
      </p:sp>
      <p:sp>
        <p:nvSpPr>
          <p:cNvPr id="541" name="Google Shape;541;p107"/>
          <p:cNvSpPr/>
          <p:nvPr/>
        </p:nvSpPr>
        <p:spPr>
          <a:xfrm>
            <a:off x="5867508" y="4741653"/>
            <a:ext cx="2658018" cy="154518"/>
          </a:xfrm>
          <a:prstGeom prst="rect">
            <a:avLst/>
          </a:prstGeom>
          <a:noFill/>
          <a:ln>
            <a:noFill/>
          </a:ln>
        </p:spPr>
        <p:txBody>
          <a:bodyPr spcFirstLastPara="1" wrap="square" lIns="61575" tIns="30775" rIns="61575" bIns="30775" anchor="b" anchorCtr="0">
            <a:spAutoFit/>
          </a:bodyPr>
          <a:lstStyle/>
          <a:p>
            <a:pPr marL="0" marR="0" lvl="0" indent="0" algn="l" rtl="0">
              <a:spcBef>
                <a:spcPts val="0"/>
              </a:spcBef>
              <a:spcAft>
                <a:spcPts val="0"/>
              </a:spcAft>
              <a:buNone/>
            </a:pPr>
            <a:r>
              <a:rPr lang="en-US" sz="600">
                <a:solidFill>
                  <a:srgbClr val="076D8E"/>
                </a:solidFill>
                <a:latin typeface="Arial"/>
                <a:ea typeface="Arial"/>
                <a:cs typeface="Arial"/>
                <a:sym typeface="Arial"/>
              </a:rPr>
              <a:t>© 2016  Cisco and/or its affiliates. All rights reserved.   Cisco Confidential</a:t>
            </a:r>
            <a:endParaRPr/>
          </a:p>
        </p:txBody>
      </p:sp>
      <p:grpSp>
        <p:nvGrpSpPr>
          <p:cNvPr id="542" name="Google Shape;542;p107"/>
          <p:cNvGrpSpPr/>
          <p:nvPr/>
        </p:nvGrpSpPr>
        <p:grpSpPr>
          <a:xfrm>
            <a:off x="508039" y="4715197"/>
            <a:ext cx="340257" cy="180974"/>
            <a:chOff x="310" y="249"/>
            <a:chExt cx="502" cy="267"/>
          </a:xfrm>
        </p:grpSpPr>
        <p:sp>
          <p:nvSpPr>
            <p:cNvPr id="543" name="Google Shape;543;p107"/>
            <p:cNvSpPr/>
            <p:nvPr/>
          </p:nvSpPr>
          <p:spPr>
            <a:xfrm>
              <a:off x="452" y="426"/>
              <a:ext cx="22" cy="88"/>
            </a:xfrm>
            <a:prstGeom prst="rect">
              <a:avLst/>
            </a:pr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4" name="Google Shape;544;p107"/>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5" name="Google Shape;545;p107"/>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6" name="Google Shape;546;p107"/>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7" name="Google Shape;547;p107"/>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8" name="Google Shape;548;p107"/>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9" name="Google Shape;549;p107"/>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0" name="Google Shape;550;p107"/>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1" name="Google Shape;551;p107"/>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2" name="Google Shape;552;p107"/>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3" name="Google Shape;553;p107"/>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4" name="Google Shape;554;p107"/>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5" name="Google Shape;555;p107"/>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6" name="Google Shape;556;p107"/>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86D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transition spd="slow">
    <p:wip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Multi_Slide">
  <p:cSld name="Multi_Slide">
    <p:spTree>
      <p:nvGrpSpPr>
        <p:cNvPr id="1" name="Shape 557"/>
        <p:cNvGrpSpPr/>
        <p:nvPr/>
      </p:nvGrpSpPr>
      <p:grpSpPr>
        <a:xfrm>
          <a:off x="0" y="0"/>
          <a:ext cx="0" cy="0"/>
          <a:chOff x="0" y="0"/>
          <a:chExt cx="0" cy="0"/>
        </a:xfrm>
      </p:grpSpPr>
      <p:sp>
        <p:nvSpPr>
          <p:cNvPr id="558" name="Google Shape;558;p108"/>
          <p:cNvSpPr txBox="1">
            <a:spLocks noGrp="1"/>
          </p:cNvSpPr>
          <p:nvPr>
            <p:ph type="body" idx="1"/>
          </p:nvPr>
        </p:nvSpPr>
        <p:spPr>
          <a:xfrm>
            <a:off x="474662" y="1347788"/>
            <a:ext cx="8280057" cy="3073946"/>
          </a:xfrm>
          <a:prstGeom prst="rect">
            <a:avLst/>
          </a:prstGeom>
          <a:noFill/>
          <a:ln>
            <a:noFill/>
          </a:ln>
        </p:spPr>
        <p:txBody>
          <a:bodyPr spcFirstLastPara="1" wrap="square" lIns="91400" tIns="45700" rIns="91400" bIns="45700" anchor="t" anchorCtr="0">
            <a:noAutofit/>
          </a:bodyPr>
          <a:lstStyle>
            <a:lvl1pPr marL="457200" marR="0" lvl="0" indent="-228600" algn="ctr" rtl="0">
              <a:lnSpc>
                <a:spcPct val="100000"/>
              </a:lnSpc>
              <a:spcBef>
                <a:spcPts val="400"/>
              </a:spcBef>
              <a:spcAft>
                <a:spcPts val="0"/>
              </a:spcAft>
              <a:buClr>
                <a:schemeClr val="lt1"/>
              </a:buClr>
              <a:buSzPts val="2000"/>
              <a:buFont typeface="Arial"/>
              <a:buNone/>
              <a:defRPr sz="2000" b="0" i="0" u="none" strike="noStrike" cap="none">
                <a:solidFill>
                  <a:schemeClr val="l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04800" algn="l" rtl="0">
              <a:lnSpc>
                <a:spcPct val="95000"/>
              </a:lnSpc>
              <a:spcBef>
                <a:spcPts val="625"/>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298450"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559" name="Google Shape;559;p108"/>
          <p:cNvSpPr txBox="1">
            <a:spLocks noGrp="1"/>
          </p:cNvSpPr>
          <p:nvPr>
            <p:ph type="title"/>
          </p:nvPr>
        </p:nvSpPr>
        <p:spPr>
          <a:xfrm>
            <a:off x="437766" y="341313"/>
            <a:ext cx="8345488" cy="731837"/>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Slide">
  <p:cSld name="Blank Slide">
    <p:spTree>
      <p:nvGrpSpPr>
        <p:cNvPr id="1" name="Shape 560"/>
        <p:cNvGrpSpPr/>
        <p:nvPr/>
      </p:nvGrpSpPr>
      <p:grpSpPr>
        <a:xfrm>
          <a:off x="0" y="0"/>
          <a:ext cx="0" cy="0"/>
          <a:chOff x="0" y="0"/>
          <a:chExt cx="0" cy="0"/>
        </a:xfrm>
      </p:grpSpPr>
    </p:spTree>
  </p:cSld>
  <p:clrMapOvr>
    <a:masterClrMapping/>
  </p:clrMapOvr>
  <p:transition spd="med">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2_Circled_Bullets">
  <p:cSld name="2_Circled_Bullets">
    <p:spTree>
      <p:nvGrpSpPr>
        <p:cNvPr id="1" name="Shape 561"/>
        <p:cNvGrpSpPr/>
        <p:nvPr/>
      </p:nvGrpSpPr>
      <p:grpSpPr>
        <a:xfrm>
          <a:off x="0" y="0"/>
          <a:ext cx="0" cy="0"/>
          <a:chOff x="0" y="0"/>
          <a:chExt cx="0" cy="0"/>
        </a:xfrm>
      </p:grpSpPr>
      <p:sp>
        <p:nvSpPr>
          <p:cNvPr id="562" name="Google Shape;562;p110"/>
          <p:cNvSpPr txBox="1">
            <a:spLocks noGrp="1"/>
          </p:cNvSpPr>
          <p:nvPr>
            <p:ph type="title"/>
          </p:nvPr>
        </p:nvSpPr>
        <p:spPr>
          <a:xfrm>
            <a:off x="438150" y="341313"/>
            <a:ext cx="8345488" cy="731837"/>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563" name="Google Shape;563;p110"/>
          <p:cNvSpPr/>
          <p:nvPr/>
        </p:nvSpPr>
        <p:spPr>
          <a:xfrm>
            <a:off x="575610" y="2552550"/>
            <a:ext cx="698624" cy="698624"/>
          </a:xfrm>
          <a:prstGeom prst="ellipse">
            <a:avLst/>
          </a:prstGeom>
          <a:solidFill>
            <a:schemeClr val="lt2"/>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rgbClr val="FFFFFF"/>
              </a:solidFill>
              <a:latin typeface="Arial"/>
              <a:ea typeface="Arial"/>
              <a:cs typeface="Arial"/>
              <a:sym typeface="Arial"/>
            </a:endParaRPr>
          </a:p>
        </p:txBody>
      </p:sp>
      <p:sp>
        <p:nvSpPr>
          <p:cNvPr id="564" name="Google Shape;564;p110"/>
          <p:cNvSpPr/>
          <p:nvPr/>
        </p:nvSpPr>
        <p:spPr>
          <a:xfrm>
            <a:off x="575610" y="1426607"/>
            <a:ext cx="698624" cy="698624"/>
          </a:xfrm>
          <a:prstGeom prst="ellipse">
            <a:avLst/>
          </a:prstGeom>
          <a:solidFill>
            <a:srgbClr val="00394F"/>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chemeClr val="lt1"/>
              </a:solidFill>
              <a:latin typeface="Arial"/>
              <a:ea typeface="Arial"/>
              <a:cs typeface="Arial"/>
              <a:sym typeface="Arial"/>
            </a:endParaRPr>
          </a:p>
        </p:txBody>
      </p:sp>
      <p:sp>
        <p:nvSpPr>
          <p:cNvPr id="565" name="Google Shape;565;p110"/>
          <p:cNvSpPr/>
          <p:nvPr/>
        </p:nvSpPr>
        <p:spPr>
          <a:xfrm>
            <a:off x="575610" y="3653093"/>
            <a:ext cx="698624" cy="698624"/>
          </a:xfrm>
          <a:prstGeom prst="ellipse">
            <a:avLst/>
          </a:prstGeom>
          <a:solidFill>
            <a:schemeClr val="accent5"/>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rgbClr val="049FD9"/>
              </a:solidFill>
              <a:latin typeface="Arial"/>
              <a:ea typeface="Arial"/>
              <a:cs typeface="Arial"/>
              <a:sym typeface="Arial"/>
            </a:endParaRPr>
          </a:p>
        </p:txBody>
      </p:sp>
      <p:sp>
        <p:nvSpPr>
          <p:cNvPr id="566" name="Google Shape;566;p110"/>
          <p:cNvSpPr txBox="1">
            <a:spLocks noGrp="1"/>
          </p:cNvSpPr>
          <p:nvPr>
            <p:ph type="body" idx="1"/>
          </p:nvPr>
        </p:nvSpPr>
        <p:spPr>
          <a:xfrm>
            <a:off x="1365250" y="1432522"/>
            <a:ext cx="5473700" cy="693381"/>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567" name="Google Shape;567;p110"/>
          <p:cNvSpPr txBox="1">
            <a:spLocks noGrp="1"/>
          </p:cNvSpPr>
          <p:nvPr>
            <p:ph type="body" idx="2"/>
          </p:nvPr>
        </p:nvSpPr>
        <p:spPr>
          <a:xfrm>
            <a:off x="1365250" y="2557793"/>
            <a:ext cx="5473700" cy="693381"/>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568" name="Google Shape;568;p110"/>
          <p:cNvSpPr txBox="1">
            <a:spLocks noGrp="1"/>
          </p:cNvSpPr>
          <p:nvPr>
            <p:ph type="body" idx="3"/>
          </p:nvPr>
        </p:nvSpPr>
        <p:spPr>
          <a:xfrm>
            <a:off x="1365250" y="3653093"/>
            <a:ext cx="5473700" cy="693381"/>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569" name="Google Shape;569;p110"/>
          <p:cNvSpPr txBox="1">
            <a:spLocks noGrp="1"/>
          </p:cNvSpPr>
          <p:nvPr>
            <p:ph type="body" idx="4"/>
          </p:nvPr>
        </p:nvSpPr>
        <p:spPr>
          <a:xfrm>
            <a:off x="575610" y="2552550"/>
            <a:ext cx="698624" cy="693381"/>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3600"/>
              <a:buFont typeface="Arial"/>
              <a:buNone/>
              <a:defRPr sz="4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570" name="Google Shape;570;p110"/>
          <p:cNvSpPr txBox="1">
            <a:spLocks noGrp="1"/>
          </p:cNvSpPr>
          <p:nvPr>
            <p:ph type="body" idx="5"/>
          </p:nvPr>
        </p:nvSpPr>
        <p:spPr>
          <a:xfrm>
            <a:off x="575611" y="3651140"/>
            <a:ext cx="698624" cy="693381"/>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3600"/>
              <a:buFont typeface="Arial"/>
              <a:buNone/>
              <a:defRPr sz="4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571" name="Google Shape;571;p110"/>
          <p:cNvSpPr txBox="1">
            <a:spLocks noGrp="1"/>
          </p:cNvSpPr>
          <p:nvPr>
            <p:ph type="body" idx="6"/>
          </p:nvPr>
        </p:nvSpPr>
        <p:spPr>
          <a:xfrm>
            <a:off x="575610" y="1427248"/>
            <a:ext cx="698624" cy="693381"/>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3600"/>
              <a:buFont typeface="Arial"/>
              <a:buNone/>
              <a:defRPr sz="4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transition spd="slow">
    <p:wip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5_Circled_Bullets">
  <p:cSld name="5_Circled_Bullets">
    <p:spTree>
      <p:nvGrpSpPr>
        <p:cNvPr id="1" name="Shape 572"/>
        <p:cNvGrpSpPr/>
        <p:nvPr/>
      </p:nvGrpSpPr>
      <p:grpSpPr>
        <a:xfrm>
          <a:off x="0" y="0"/>
          <a:ext cx="0" cy="0"/>
          <a:chOff x="0" y="0"/>
          <a:chExt cx="0" cy="0"/>
        </a:xfrm>
      </p:grpSpPr>
      <p:sp>
        <p:nvSpPr>
          <p:cNvPr id="573" name="Google Shape;573;p111"/>
          <p:cNvSpPr txBox="1">
            <a:spLocks noGrp="1"/>
          </p:cNvSpPr>
          <p:nvPr>
            <p:ph type="title"/>
          </p:nvPr>
        </p:nvSpPr>
        <p:spPr>
          <a:xfrm>
            <a:off x="438150" y="341313"/>
            <a:ext cx="8345488" cy="731837"/>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574" name="Google Shape;574;p111"/>
          <p:cNvSpPr/>
          <p:nvPr/>
        </p:nvSpPr>
        <p:spPr>
          <a:xfrm>
            <a:off x="575611" y="1979318"/>
            <a:ext cx="464815" cy="464815"/>
          </a:xfrm>
          <a:prstGeom prst="ellipse">
            <a:avLst/>
          </a:prstGeom>
          <a:solidFill>
            <a:srgbClr val="38C6F4"/>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chemeClr val="accent5"/>
              </a:solidFill>
              <a:latin typeface="Arial"/>
              <a:ea typeface="Arial"/>
              <a:cs typeface="Arial"/>
              <a:sym typeface="Arial"/>
            </a:endParaRPr>
          </a:p>
        </p:txBody>
      </p:sp>
      <p:sp>
        <p:nvSpPr>
          <p:cNvPr id="575" name="Google Shape;575;p111"/>
          <p:cNvSpPr/>
          <p:nvPr/>
        </p:nvSpPr>
        <p:spPr>
          <a:xfrm>
            <a:off x="575610" y="1328927"/>
            <a:ext cx="464815" cy="464815"/>
          </a:xfrm>
          <a:prstGeom prst="ellipse">
            <a:avLst/>
          </a:prstGeom>
          <a:solidFill>
            <a:srgbClr val="00394F"/>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chemeClr val="accent5"/>
              </a:solidFill>
              <a:latin typeface="Arial"/>
              <a:ea typeface="Arial"/>
              <a:cs typeface="Arial"/>
              <a:sym typeface="Arial"/>
            </a:endParaRPr>
          </a:p>
        </p:txBody>
      </p:sp>
      <p:sp>
        <p:nvSpPr>
          <p:cNvPr id="576" name="Google Shape;576;p111"/>
          <p:cNvSpPr/>
          <p:nvPr/>
        </p:nvSpPr>
        <p:spPr>
          <a:xfrm>
            <a:off x="575611" y="2627446"/>
            <a:ext cx="464815" cy="464815"/>
          </a:xfrm>
          <a:prstGeom prst="ellipse">
            <a:avLst/>
          </a:prstGeom>
          <a:solidFill>
            <a:schemeClr val="lt2"/>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chemeClr val="accent5"/>
              </a:solidFill>
              <a:latin typeface="Arial"/>
              <a:ea typeface="Arial"/>
              <a:cs typeface="Arial"/>
              <a:sym typeface="Arial"/>
            </a:endParaRPr>
          </a:p>
        </p:txBody>
      </p:sp>
      <p:sp>
        <p:nvSpPr>
          <p:cNvPr id="577" name="Google Shape;577;p111"/>
          <p:cNvSpPr txBox="1">
            <a:spLocks noGrp="1"/>
          </p:cNvSpPr>
          <p:nvPr>
            <p:ph type="body" idx="1"/>
          </p:nvPr>
        </p:nvSpPr>
        <p:spPr>
          <a:xfrm>
            <a:off x="1172384" y="1334842"/>
            <a:ext cx="5678748"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578" name="Google Shape;578;p111"/>
          <p:cNvSpPr txBox="1">
            <a:spLocks noGrp="1"/>
          </p:cNvSpPr>
          <p:nvPr>
            <p:ph type="body" idx="2"/>
          </p:nvPr>
        </p:nvSpPr>
        <p:spPr>
          <a:xfrm>
            <a:off x="1172385" y="1984561"/>
            <a:ext cx="5678748"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579" name="Google Shape;579;p111"/>
          <p:cNvSpPr txBox="1">
            <a:spLocks noGrp="1"/>
          </p:cNvSpPr>
          <p:nvPr>
            <p:ph type="body" idx="3"/>
          </p:nvPr>
        </p:nvSpPr>
        <p:spPr>
          <a:xfrm>
            <a:off x="1172385" y="2627446"/>
            <a:ext cx="5678748"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580" name="Google Shape;580;p111"/>
          <p:cNvSpPr txBox="1">
            <a:spLocks noGrp="1"/>
          </p:cNvSpPr>
          <p:nvPr>
            <p:ph type="body" idx="4"/>
          </p:nvPr>
        </p:nvSpPr>
        <p:spPr>
          <a:xfrm>
            <a:off x="575611" y="1327521"/>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581" name="Google Shape;581;p111"/>
          <p:cNvSpPr txBox="1">
            <a:spLocks noGrp="1"/>
          </p:cNvSpPr>
          <p:nvPr>
            <p:ph type="body" idx="5"/>
          </p:nvPr>
        </p:nvSpPr>
        <p:spPr>
          <a:xfrm>
            <a:off x="575611" y="1979318"/>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582" name="Google Shape;582;p111"/>
          <p:cNvSpPr txBox="1">
            <a:spLocks noGrp="1"/>
          </p:cNvSpPr>
          <p:nvPr>
            <p:ph type="body" idx="6"/>
          </p:nvPr>
        </p:nvSpPr>
        <p:spPr>
          <a:xfrm>
            <a:off x="575612" y="2625493"/>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583" name="Google Shape;583;p111"/>
          <p:cNvSpPr/>
          <p:nvPr/>
        </p:nvSpPr>
        <p:spPr>
          <a:xfrm>
            <a:off x="575612" y="3274581"/>
            <a:ext cx="464815" cy="464815"/>
          </a:xfrm>
          <a:prstGeom prst="ellipse">
            <a:avLst/>
          </a:prstGeom>
          <a:solidFill>
            <a:schemeClr val="accent6"/>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chemeClr val="accent5"/>
              </a:solidFill>
              <a:latin typeface="Arial"/>
              <a:ea typeface="Arial"/>
              <a:cs typeface="Arial"/>
              <a:sym typeface="Arial"/>
            </a:endParaRPr>
          </a:p>
        </p:txBody>
      </p:sp>
      <p:sp>
        <p:nvSpPr>
          <p:cNvPr id="584" name="Google Shape;584;p111"/>
          <p:cNvSpPr txBox="1">
            <a:spLocks noGrp="1"/>
          </p:cNvSpPr>
          <p:nvPr>
            <p:ph type="body" idx="7"/>
          </p:nvPr>
        </p:nvSpPr>
        <p:spPr>
          <a:xfrm>
            <a:off x="1172386" y="3274581"/>
            <a:ext cx="5678748"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585" name="Google Shape;585;p111"/>
          <p:cNvSpPr txBox="1">
            <a:spLocks noGrp="1"/>
          </p:cNvSpPr>
          <p:nvPr>
            <p:ph type="body" idx="8"/>
          </p:nvPr>
        </p:nvSpPr>
        <p:spPr>
          <a:xfrm>
            <a:off x="575613" y="3272628"/>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586" name="Google Shape;586;p111"/>
          <p:cNvSpPr/>
          <p:nvPr/>
        </p:nvSpPr>
        <p:spPr>
          <a:xfrm>
            <a:off x="575613" y="3921716"/>
            <a:ext cx="464815" cy="464815"/>
          </a:xfrm>
          <a:prstGeom prst="ellipse">
            <a:avLst/>
          </a:prstGeom>
          <a:solidFill>
            <a:srgbClr val="00394F"/>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4000">
              <a:solidFill>
                <a:schemeClr val="accent5"/>
              </a:solidFill>
              <a:latin typeface="Arial"/>
              <a:ea typeface="Arial"/>
              <a:cs typeface="Arial"/>
              <a:sym typeface="Arial"/>
            </a:endParaRPr>
          </a:p>
        </p:txBody>
      </p:sp>
      <p:sp>
        <p:nvSpPr>
          <p:cNvPr id="587" name="Google Shape;587;p111"/>
          <p:cNvSpPr txBox="1">
            <a:spLocks noGrp="1"/>
          </p:cNvSpPr>
          <p:nvPr>
            <p:ph type="body" idx="9"/>
          </p:nvPr>
        </p:nvSpPr>
        <p:spPr>
          <a:xfrm>
            <a:off x="1172387" y="3921716"/>
            <a:ext cx="5678748"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800"/>
              <a:buFont typeface="Arial"/>
              <a:buNone/>
              <a:defRPr sz="2000" b="0" i="0" u="none" strike="noStrike" cap="none">
                <a:solidFill>
                  <a:schemeClr val="accen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588" name="Google Shape;588;p111"/>
          <p:cNvSpPr txBox="1">
            <a:spLocks noGrp="1"/>
          </p:cNvSpPr>
          <p:nvPr>
            <p:ph type="body" idx="13"/>
          </p:nvPr>
        </p:nvSpPr>
        <p:spPr>
          <a:xfrm>
            <a:off x="575614" y="3919763"/>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transition spd="slow">
    <p:wip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6_Circled_Bullets">
  <p:cSld name="6_Circled_Bullets">
    <p:spTree>
      <p:nvGrpSpPr>
        <p:cNvPr id="1" name="Shape 589"/>
        <p:cNvGrpSpPr/>
        <p:nvPr/>
      </p:nvGrpSpPr>
      <p:grpSpPr>
        <a:xfrm>
          <a:off x="0" y="0"/>
          <a:ext cx="0" cy="0"/>
          <a:chOff x="0" y="0"/>
          <a:chExt cx="0" cy="0"/>
        </a:xfrm>
      </p:grpSpPr>
      <p:sp>
        <p:nvSpPr>
          <p:cNvPr id="590" name="Google Shape;590;p112"/>
          <p:cNvSpPr txBox="1">
            <a:spLocks noGrp="1"/>
          </p:cNvSpPr>
          <p:nvPr>
            <p:ph type="title"/>
          </p:nvPr>
        </p:nvSpPr>
        <p:spPr>
          <a:xfrm>
            <a:off x="438150" y="341313"/>
            <a:ext cx="8345488" cy="731837"/>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591" name="Google Shape;591;p112"/>
          <p:cNvSpPr/>
          <p:nvPr/>
        </p:nvSpPr>
        <p:spPr>
          <a:xfrm>
            <a:off x="575611" y="1979318"/>
            <a:ext cx="464815" cy="464815"/>
          </a:xfrm>
          <a:prstGeom prst="ellipse">
            <a:avLst/>
          </a:prstGeom>
          <a:solidFill>
            <a:srgbClr val="38C6F4"/>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592" name="Google Shape;592;p112"/>
          <p:cNvSpPr/>
          <p:nvPr/>
        </p:nvSpPr>
        <p:spPr>
          <a:xfrm>
            <a:off x="575610" y="1328927"/>
            <a:ext cx="464815" cy="464815"/>
          </a:xfrm>
          <a:prstGeom prst="ellipse">
            <a:avLst/>
          </a:prstGeom>
          <a:solidFill>
            <a:srgbClr val="00394F"/>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593" name="Google Shape;593;p112"/>
          <p:cNvSpPr/>
          <p:nvPr/>
        </p:nvSpPr>
        <p:spPr>
          <a:xfrm>
            <a:off x="575611" y="2627446"/>
            <a:ext cx="464815" cy="464815"/>
          </a:xfrm>
          <a:prstGeom prst="ellipse">
            <a:avLst/>
          </a:prstGeom>
          <a:solidFill>
            <a:schemeClr val="lt2"/>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594" name="Google Shape;594;p112"/>
          <p:cNvSpPr txBox="1">
            <a:spLocks noGrp="1"/>
          </p:cNvSpPr>
          <p:nvPr>
            <p:ph type="body" idx="1"/>
          </p:nvPr>
        </p:nvSpPr>
        <p:spPr>
          <a:xfrm>
            <a:off x="1172384" y="1334842"/>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595" name="Google Shape;595;p112"/>
          <p:cNvSpPr txBox="1">
            <a:spLocks noGrp="1"/>
          </p:cNvSpPr>
          <p:nvPr>
            <p:ph type="body" idx="2"/>
          </p:nvPr>
        </p:nvSpPr>
        <p:spPr>
          <a:xfrm>
            <a:off x="1172385" y="1984561"/>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596" name="Google Shape;596;p112"/>
          <p:cNvSpPr txBox="1">
            <a:spLocks noGrp="1"/>
          </p:cNvSpPr>
          <p:nvPr>
            <p:ph type="body" idx="3"/>
          </p:nvPr>
        </p:nvSpPr>
        <p:spPr>
          <a:xfrm>
            <a:off x="1172385" y="2627446"/>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597" name="Google Shape;597;p112"/>
          <p:cNvSpPr txBox="1">
            <a:spLocks noGrp="1"/>
          </p:cNvSpPr>
          <p:nvPr>
            <p:ph type="body" idx="4"/>
          </p:nvPr>
        </p:nvSpPr>
        <p:spPr>
          <a:xfrm>
            <a:off x="575611" y="1327521"/>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598" name="Google Shape;598;p112"/>
          <p:cNvSpPr txBox="1">
            <a:spLocks noGrp="1"/>
          </p:cNvSpPr>
          <p:nvPr>
            <p:ph type="body" idx="5"/>
          </p:nvPr>
        </p:nvSpPr>
        <p:spPr>
          <a:xfrm>
            <a:off x="575611" y="1979318"/>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599" name="Google Shape;599;p112"/>
          <p:cNvSpPr txBox="1">
            <a:spLocks noGrp="1"/>
          </p:cNvSpPr>
          <p:nvPr>
            <p:ph type="body" idx="6"/>
          </p:nvPr>
        </p:nvSpPr>
        <p:spPr>
          <a:xfrm>
            <a:off x="575612" y="2625493"/>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600" name="Google Shape;600;p112"/>
          <p:cNvSpPr/>
          <p:nvPr/>
        </p:nvSpPr>
        <p:spPr>
          <a:xfrm>
            <a:off x="575612" y="3274581"/>
            <a:ext cx="464815" cy="464815"/>
          </a:xfrm>
          <a:prstGeom prst="ellipse">
            <a:avLst/>
          </a:prstGeom>
          <a:solidFill>
            <a:schemeClr val="accent6"/>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601" name="Google Shape;601;p112"/>
          <p:cNvSpPr txBox="1">
            <a:spLocks noGrp="1"/>
          </p:cNvSpPr>
          <p:nvPr>
            <p:ph type="body" idx="7"/>
          </p:nvPr>
        </p:nvSpPr>
        <p:spPr>
          <a:xfrm>
            <a:off x="1172386" y="3274581"/>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602" name="Google Shape;602;p112"/>
          <p:cNvSpPr txBox="1">
            <a:spLocks noGrp="1"/>
          </p:cNvSpPr>
          <p:nvPr>
            <p:ph type="body" idx="8"/>
          </p:nvPr>
        </p:nvSpPr>
        <p:spPr>
          <a:xfrm>
            <a:off x="575613" y="3272628"/>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603" name="Google Shape;603;p112"/>
          <p:cNvSpPr/>
          <p:nvPr/>
        </p:nvSpPr>
        <p:spPr>
          <a:xfrm>
            <a:off x="575613" y="3921716"/>
            <a:ext cx="464815" cy="464815"/>
          </a:xfrm>
          <a:prstGeom prst="ellipse">
            <a:avLst/>
          </a:prstGeom>
          <a:solidFill>
            <a:srgbClr val="00384E"/>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604" name="Google Shape;604;p112"/>
          <p:cNvSpPr txBox="1">
            <a:spLocks noGrp="1"/>
          </p:cNvSpPr>
          <p:nvPr>
            <p:ph type="body" idx="9"/>
          </p:nvPr>
        </p:nvSpPr>
        <p:spPr>
          <a:xfrm>
            <a:off x="1172387" y="3921716"/>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605" name="Google Shape;605;p112"/>
          <p:cNvSpPr txBox="1">
            <a:spLocks noGrp="1"/>
          </p:cNvSpPr>
          <p:nvPr>
            <p:ph type="body" idx="13"/>
          </p:nvPr>
        </p:nvSpPr>
        <p:spPr>
          <a:xfrm>
            <a:off x="575614" y="3919763"/>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606" name="Google Shape;606;p112"/>
          <p:cNvSpPr/>
          <p:nvPr/>
        </p:nvSpPr>
        <p:spPr>
          <a:xfrm>
            <a:off x="4414576" y="1983084"/>
            <a:ext cx="464815" cy="464815"/>
          </a:xfrm>
          <a:prstGeom prst="ellipse">
            <a:avLst/>
          </a:prstGeom>
          <a:solidFill>
            <a:schemeClr val="accent6"/>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607" name="Google Shape;607;p112"/>
          <p:cNvSpPr/>
          <p:nvPr/>
        </p:nvSpPr>
        <p:spPr>
          <a:xfrm>
            <a:off x="4414575" y="1332693"/>
            <a:ext cx="464815" cy="464815"/>
          </a:xfrm>
          <a:prstGeom prst="ellipse">
            <a:avLst/>
          </a:prstGeom>
          <a:solidFill>
            <a:srgbClr val="00394F"/>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608" name="Google Shape;608;p112"/>
          <p:cNvSpPr/>
          <p:nvPr/>
        </p:nvSpPr>
        <p:spPr>
          <a:xfrm>
            <a:off x="4414576" y="2631212"/>
            <a:ext cx="464815" cy="464815"/>
          </a:xfrm>
          <a:prstGeom prst="ellipse">
            <a:avLst/>
          </a:prstGeom>
          <a:solidFill>
            <a:schemeClr val="accent5"/>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609" name="Google Shape;609;p112"/>
          <p:cNvSpPr txBox="1">
            <a:spLocks noGrp="1"/>
          </p:cNvSpPr>
          <p:nvPr>
            <p:ph type="body" idx="14"/>
          </p:nvPr>
        </p:nvSpPr>
        <p:spPr>
          <a:xfrm>
            <a:off x="5011349" y="1338608"/>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610" name="Google Shape;610;p112"/>
          <p:cNvSpPr txBox="1">
            <a:spLocks noGrp="1"/>
          </p:cNvSpPr>
          <p:nvPr>
            <p:ph type="body" idx="15"/>
          </p:nvPr>
        </p:nvSpPr>
        <p:spPr>
          <a:xfrm>
            <a:off x="5011350" y="1988327"/>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611" name="Google Shape;611;p112"/>
          <p:cNvSpPr txBox="1">
            <a:spLocks noGrp="1"/>
          </p:cNvSpPr>
          <p:nvPr>
            <p:ph type="body" idx="16"/>
          </p:nvPr>
        </p:nvSpPr>
        <p:spPr>
          <a:xfrm>
            <a:off x="5011350" y="2631212"/>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612" name="Google Shape;612;p112"/>
          <p:cNvSpPr txBox="1">
            <a:spLocks noGrp="1"/>
          </p:cNvSpPr>
          <p:nvPr>
            <p:ph type="body" idx="17"/>
          </p:nvPr>
        </p:nvSpPr>
        <p:spPr>
          <a:xfrm>
            <a:off x="4414576" y="1331287"/>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613" name="Google Shape;613;p112"/>
          <p:cNvSpPr txBox="1">
            <a:spLocks noGrp="1"/>
          </p:cNvSpPr>
          <p:nvPr>
            <p:ph type="body" idx="18"/>
          </p:nvPr>
        </p:nvSpPr>
        <p:spPr>
          <a:xfrm>
            <a:off x="4414576" y="1983084"/>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614" name="Google Shape;614;p112"/>
          <p:cNvSpPr txBox="1">
            <a:spLocks noGrp="1"/>
          </p:cNvSpPr>
          <p:nvPr>
            <p:ph type="body" idx="19"/>
          </p:nvPr>
        </p:nvSpPr>
        <p:spPr>
          <a:xfrm>
            <a:off x="4414577" y="2629259"/>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615" name="Google Shape;615;p112"/>
          <p:cNvSpPr/>
          <p:nvPr/>
        </p:nvSpPr>
        <p:spPr>
          <a:xfrm>
            <a:off x="4414577" y="3278347"/>
            <a:ext cx="464815" cy="464815"/>
          </a:xfrm>
          <a:prstGeom prst="ellipse">
            <a:avLst/>
          </a:prstGeom>
          <a:solidFill>
            <a:schemeClr val="lt2"/>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616" name="Google Shape;616;p112"/>
          <p:cNvSpPr txBox="1">
            <a:spLocks noGrp="1"/>
          </p:cNvSpPr>
          <p:nvPr>
            <p:ph type="body" idx="20"/>
          </p:nvPr>
        </p:nvSpPr>
        <p:spPr>
          <a:xfrm>
            <a:off x="5011351" y="3278347"/>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617" name="Google Shape;617;p112"/>
          <p:cNvSpPr txBox="1">
            <a:spLocks noGrp="1"/>
          </p:cNvSpPr>
          <p:nvPr>
            <p:ph type="body" idx="21"/>
          </p:nvPr>
        </p:nvSpPr>
        <p:spPr>
          <a:xfrm>
            <a:off x="4414578" y="3276394"/>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618" name="Google Shape;618;p112"/>
          <p:cNvSpPr/>
          <p:nvPr/>
        </p:nvSpPr>
        <p:spPr>
          <a:xfrm>
            <a:off x="4414578" y="3925482"/>
            <a:ext cx="464815" cy="464815"/>
          </a:xfrm>
          <a:prstGeom prst="ellipse">
            <a:avLst/>
          </a:prstGeom>
          <a:solidFill>
            <a:srgbClr val="00384E"/>
          </a:solidFill>
          <a:ln>
            <a:noFill/>
          </a:ln>
        </p:spPr>
        <p:txBody>
          <a:bodyPr spcFirstLastPara="1" wrap="square" lIns="91425" tIns="45700" rIns="91425" bIns="91425"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619" name="Google Shape;619;p112"/>
          <p:cNvSpPr txBox="1">
            <a:spLocks noGrp="1"/>
          </p:cNvSpPr>
          <p:nvPr>
            <p:ph type="body" idx="22"/>
          </p:nvPr>
        </p:nvSpPr>
        <p:spPr>
          <a:xfrm>
            <a:off x="5011352" y="3925482"/>
            <a:ext cx="2175886" cy="461327"/>
          </a:xfrm>
          <a:prstGeom prst="rect">
            <a:avLst/>
          </a:prstGeom>
          <a:noFill/>
          <a:ln>
            <a:noFill/>
          </a:ln>
        </p:spPr>
        <p:txBody>
          <a:bodyPr spcFirstLastPara="1" wrap="square" lIns="91400" tIns="45700" rIns="91400" bIns="45700" anchor="ctr"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rgbClr val="004C69"/>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620" name="Google Shape;620;p112"/>
          <p:cNvSpPr txBox="1">
            <a:spLocks noGrp="1"/>
          </p:cNvSpPr>
          <p:nvPr>
            <p:ph type="body" idx="23"/>
          </p:nvPr>
        </p:nvSpPr>
        <p:spPr>
          <a:xfrm>
            <a:off x="4414579" y="3923529"/>
            <a:ext cx="464815" cy="461327"/>
          </a:xfrm>
          <a:prstGeom prst="rect">
            <a:avLst/>
          </a:prstGeom>
          <a:noFill/>
          <a:ln>
            <a:noFill/>
          </a:ln>
        </p:spPr>
        <p:txBody>
          <a:bodyPr spcFirstLastPara="1" wrap="square" lIns="91400" tIns="45700" rIns="91400" bIns="45700" anchor="ctr" anchorCtr="0">
            <a:noAutofit/>
          </a:bodyPr>
          <a:lstStyle>
            <a:lvl1pPr marL="457200" marR="0" lvl="0" indent="-228600" algn="ctr" rtl="0">
              <a:lnSpc>
                <a:spcPct val="95000"/>
              </a:lnSpc>
              <a:spcBef>
                <a:spcPts val="1075"/>
              </a:spcBef>
              <a:spcAft>
                <a:spcPts val="0"/>
              </a:spcAft>
              <a:buClr>
                <a:schemeClr val="dk2"/>
              </a:buClr>
              <a:buSzPts val="162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04800" algn="l" rtl="0">
              <a:lnSpc>
                <a:spcPct val="95000"/>
              </a:lnSpc>
              <a:spcBef>
                <a:spcPts val="625"/>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4pPr>
            <a:lvl5pPr marL="2286000" marR="0" lvl="4" indent="-298450" algn="l" rtl="0">
              <a:lnSpc>
                <a:spcPct val="95000"/>
              </a:lnSpc>
              <a:spcBef>
                <a:spcPts val="625"/>
              </a:spcBef>
              <a:spcAft>
                <a:spcPts val="0"/>
              </a:spcAft>
              <a:buClr>
                <a:srgbClr val="FFFFFF"/>
              </a:buClr>
              <a:buSzPts val="1100"/>
              <a:buFont typeface="Arial"/>
              <a:buChar char="•"/>
              <a:defRPr sz="1100" b="0" i="0" u="none" strike="noStrike" cap="none">
                <a:solidFill>
                  <a:srgbClr val="FFFFFF"/>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transition spd="slow">
    <p:wip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matchingName="1_Closing Slide">
  <p:cSld name="1_Closing Slide">
    <p:bg>
      <p:bgPr>
        <a:solidFill>
          <a:schemeClr val="accent5"/>
        </a:solidFill>
        <a:effectLst/>
      </p:bgPr>
    </p:bg>
    <p:spTree>
      <p:nvGrpSpPr>
        <p:cNvPr id="1" name="Shape 621"/>
        <p:cNvGrpSpPr/>
        <p:nvPr/>
      </p:nvGrpSpPr>
      <p:grpSpPr>
        <a:xfrm>
          <a:off x="0" y="0"/>
          <a:ext cx="0" cy="0"/>
          <a:chOff x="0" y="0"/>
          <a:chExt cx="0" cy="0"/>
        </a:xfrm>
      </p:grpSpPr>
      <p:pic>
        <p:nvPicPr>
          <p:cNvPr id="622" name="Google Shape;622;p113"/>
          <p:cNvPicPr preferRelativeResize="0"/>
          <p:nvPr/>
        </p:nvPicPr>
        <p:blipFill rotWithShape="1">
          <a:blip r:embed="rId2">
            <a:alphaModFix/>
          </a:blip>
          <a:srcRect/>
          <a:stretch/>
        </p:blipFill>
        <p:spPr>
          <a:xfrm>
            <a:off x="0" y="1"/>
            <a:ext cx="9143999" cy="5165874"/>
          </a:xfrm>
          <a:prstGeom prst="rect">
            <a:avLst/>
          </a:prstGeom>
          <a:noFill/>
          <a:ln>
            <a:noFill/>
          </a:ln>
        </p:spPr>
      </p:pic>
      <p:grpSp>
        <p:nvGrpSpPr>
          <p:cNvPr id="623" name="Google Shape;623;p113"/>
          <p:cNvGrpSpPr/>
          <p:nvPr/>
        </p:nvGrpSpPr>
        <p:grpSpPr>
          <a:xfrm>
            <a:off x="3746294" y="2129856"/>
            <a:ext cx="1617944" cy="860542"/>
            <a:chOff x="310" y="249"/>
            <a:chExt cx="502" cy="267"/>
          </a:xfrm>
        </p:grpSpPr>
        <p:sp>
          <p:nvSpPr>
            <p:cNvPr id="624" name="Google Shape;624;p113"/>
            <p:cNvSpPr/>
            <p:nvPr/>
          </p:nvSpPr>
          <p:spPr>
            <a:xfrm>
              <a:off x="452" y="426"/>
              <a:ext cx="22" cy="88"/>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5" name="Google Shape;625;p113"/>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6" name="Google Shape;626;p113"/>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7" name="Google Shape;627;p113"/>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8" name="Google Shape;628;p113"/>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9" name="Google Shape;629;p113"/>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0" name="Google Shape;630;p113"/>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1" name="Google Shape;631;p113"/>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2" name="Google Shape;632;p113"/>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3" name="Google Shape;633;p113"/>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4" name="Google Shape;634;p113"/>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5" name="Google Shape;635;p113"/>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6" name="Google Shape;636;p113"/>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7" name="Google Shape;637;p113"/>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transition spd="slow">
    <p:wip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matchingName="Closing Slide">
  <p:cSld name="Closing Slide">
    <p:bg>
      <p:bgPr>
        <a:solidFill>
          <a:schemeClr val="accent5"/>
        </a:solidFill>
        <a:effectLst/>
      </p:bgPr>
    </p:bg>
    <p:spTree>
      <p:nvGrpSpPr>
        <p:cNvPr id="1" name="Shape 638"/>
        <p:cNvGrpSpPr/>
        <p:nvPr/>
      </p:nvGrpSpPr>
      <p:grpSpPr>
        <a:xfrm>
          <a:off x="0" y="0"/>
          <a:ext cx="0" cy="0"/>
          <a:chOff x="0" y="0"/>
          <a:chExt cx="0" cy="0"/>
        </a:xfrm>
      </p:grpSpPr>
      <p:sp>
        <p:nvSpPr>
          <p:cNvPr id="639" name="Google Shape;639;p114"/>
          <p:cNvSpPr/>
          <p:nvPr/>
        </p:nvSpPr>
        <p:spPr>
          <a:xfrm>
            <a:off x="0" y="0"/>
            <a:ext cx="9144000" cy="5143500"/>
          </a:xfrm>
          <a:prstGeom prst="rect">
            <a:avLst/>
          </a:prstGeom>
          <a:solidFill>
            <a:srgbClr val="00394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640" name="Google Shape;640;p114"/>
          <p:cNvGrpSpPr/>
          <p:nvPr/>
        </p:nvGrpSpPr>
        <p:grpSpPr>
          <a:xfrm>
            <a:off x="3746294" y="2129856"/>
            <a:ext cx="1617944" cy="860542"/>
            <a:chOff x="310" y="249"/>
            <a:chExt cx="502" cy="267"/>
          </a:xfrm>
        </p:grpSpPr>
        <p:sp>
          <p:nvSpPr>
            <p:cNvPr id="641" name="Google Shape;641;p114"/>
            <p:cNvSpPr/>
            <p:nvPr/>
          </p:nvSpPr>
          <p:spPr>
            <a:xfrm>
              <a:off x="452" y="426"/>
              <a:ext cx="22" cy="88"/>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2" name="Google Shape;642;p114"/>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3" name="Google Shape;643;p114"/>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4" name="Google Shape;644;p114"/>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5" name="Google Shape;645;p114"/>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6" name="Google Shape;646;p114"/>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7" name="Google Shape;647;p114"/>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8" name="Google Shape;648;p114"/>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9" name="Google Shape;649;p114"/>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50" name="Google Shape;650;p114"/>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51" name="Google Shape;651;p114"/>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52" name="Google Shape;652;p114"/>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53" name="Google Shape;653;p114"/>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54" name="Google Shape;654;p114"/>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transition spd="slow">
    <p:wip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matchingName="3_Closing Slide">
  <p:cSld name="3_Closing Slide">
    <p:bg>
      <p:bgPr>
        <a:solidFill>
          <a:schemeClr val="accent5"/>
        </a:solidFill>
        <a:effectLst/>
      </p:bgPr>
    </p:bg>
    <p:spTree>
      <p:nvGrpSpPr>
        <p:cNvPr id="1" name="Shape 655"/>
        <p:cNvGrpSpPr/>
        <p:nvPr/>
      </p:nvGrpSpPr>
      <p:grpSpPr>
        <a:xfrm>
          <a:off x="0" y="0"/>
          <a:ext cx="0" cy="0"/>
          <a:chOff x="0" y="0"/>
          <a:chExt cx="0" cy="0"/>
        </a:xfrm>
      </p:grpSpPr>
      <p:grpSp>
        <p:nvGrpSpPr>
          <p:cNvPr id="656" name="Google Shape;656;p115"/>
          <p:cNvGrpSpPr/>
          <p:nvPr/>
        </p:nvGrpSpPr>
        <p:grpSpPr>
          <a:xfrm>
            <a:off x="3746294" y="2129856"/>
            <a:ext cx="1617944" cy="860542"/>
            <a:chOff x="310" y="249"/>
            <a:chExt cx="502" cy="267"/>
          </a:xfrm>
        </p:grpSpPr>
        <p:sp>
          <p:nvSpPr>
            <p:cNvPr id="657" name="Google Shape;657;p115"/>
            <p:cNvSpPr/>
            <p:nvPr/>
          </p:nvSpPr>
          <p:spPr>
            <a:xfrm>
              <a:off x="452" y="426"/>
              <a:ext cx="22" cy="88"/>
            </a:xfrm>
            <a:prstGeom prst="rect">
              <a:avLst/>
            </a:pr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58" name="Google Shape;658;p115"/>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59" name="Google Shape;659;p115"/>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0" name="Google Shape;660;p115"/>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1" name="Google Shape;661;p115"/>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2" name="Google Shape;662;p115"/>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3" name="Google Shape;663;p115"/>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4" name="Google Shape;664;p115"/>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5" name="Google Shape;665;p115"/>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6" name="Google Shape;666;p115"/>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7" name="Google Shape;667;p115"/>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8" name="Google Shape;668;p115"/>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9" name="Google Shape;669;p115"/>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70" name="Google Shape;670;p115"/>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38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transition spd="slow">
    <p:wip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1"/>
        <p:cNvGrpSpPr/>
        <p:nvPr/>
      </p:nvGrpSpPr>
      <p:grpSpPr>
        <a:xfrm>
          <a:off x="0" y="0"/>
          <a:ext cx="0" cy="0"/>
          <a:chOff x="0" y="0"/>
          <a:chExt cx="0" cy="0"/>
        </a:xfrm>
      </p:grpSpPr>
      <p:sp>
        <p:nvSpPr>
          <p:cNvPr id="672" name="Google Shape;672;p116"/>
          <p:cNvSpPr txBox="1">
            <a:spLocks noGrp="1"/>
          </p:cNvSpPr>
          <p:nvPr>
            <p:ph type="title"/>
          </p:nvPr>
        </p:nvSpPr>
        <p:spPr>
          <a:xfrm>
            <a:off x="438150" y="341313"/>
            <a:ext cx="8345488" cy="731837"/>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4"/>
          <p:cNvSpPr txBox="1">
            <a:spLocks noGrp="1"/>
          </p:cNvSpPr>
          <p:nvPr>
            <p:ph type="title"/>
          </p:nvPr>
        </p:nvSpPr>
        <p:spPr>
          <a:xfrm>
            <a:off x="438150" y="341313"/>
            <a:ext cx="8345488" cy="731837"/>
          </a:xfrm>
          <a:prstGeom prst="rect">
            <a:avLst/>
          </a:prstGeom>
          <a:noFill/>
          <a:ln>
            <a:noFill/>
          </a:ln>
        </p:spPr>
        <p:txBody>
          <a:bodyPr spcFirstLastPara="1" wrap="square" lIns="91400" tIns="45700" rIns="91400" bIns="45700" anchor="ctr" anchorCtr="0">
            <a:noAutofit/>
          </a:bodyPr>
          <a:lstStyle>
            <a:lvl1pPr marR="0" lvl="0" algn="l" rtl="0">
              <a:lnSpc>
                <a:spcPct val="80000"/>
              </a:lnSpc>
              <a:spcBef>
                <a:spcPts val="0"/>
              </a:spcBef>
              <a:spcAft>
                <a:spcPts val="0"/>
              </a:spcAft>
              <a:buSzPts val="1400"/>
              <a:buNone/>
              <a:defRPr sz="3200" b="0" i="0" u="none" strike="noStrike" cap="none">
                <a:solidFill>
                  <a:schemeClr val="accent4"/>
                </a:solidFill>
                <a:latin typeface="Arial"/>
                <a:ea typeface="Arial"/>
                <a:cs typeface="Arial"/>
                <a:sym typeface="Arial"/>
              </a:defRPr>
            </a:lvl1pPr>
            <a:lvl2pPr marR="0" lvl="1"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2pPr>
            <a:lvl3pPr marR="0" lvl="2"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3pPr>
            <a:lvl4pPr marR="0" lvl="3"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4pPr>
            <a:lvl5pPr marR="0" lvl="4"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5pPr>
            <a:lvl6pPr marR="0" lvl="5"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6pPr>
            <a:lvl7pPr marR="0" lvl="6"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7pPr>
            <a:lvl8pPr marR="0" lvl="7"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8pPr>
            <a:lvl9pPr marR="0" lvl="8"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9pPr>
          </a:lstStyle>
          <a:p>
            <a:endParaRPr/>
          </a:p>
        </p:txBody>
      </p:sp>
      <p:sp>
        <p:nvSpPr>
          <p:cNvPr id="11" name="Google Shape;11;p74"/>
          <p:cNvSpPr/>
          <p:nvPr/>
        </p:nvSpPr>
        <p:spPr>
          <a:xfrm>
            <a:off x="8515707" y="4742907"/>
            <a:ext cx="218414" cy="154518"/>
          </a:xfrm>
          <a:prstGeom prst="rect">
            <a:avLst/>
          </a:prstGeom>
          <a:noFill/>
          <a:ln>
            <a:noFill/>
          </a:ln>
        </p:spPr>
        <p:txBody>
          <a:bodyPr spcFirstLastPara="1" wrap="square" lIns="61575" tIns="30775" rIns="61575" bIns="30775" anchor="b" anchorCtr="0">
            <a:spAutoFit/>
          </a:bodyPr>
          <a:lstStyle/>
          <a:p>
            <a:pPr marL="0" marR="0" lvl="0" indent="0" algn="r" rtl="0">
              <a:spcBef>
                <a:spcPts val="0"/>
              </a:spcBef>
              <a:spcAft>
                <a:spcPts val="0"/>
              </a:spcAft>
              <a:buNone/>
            </a:pPr>
            <a:fld id="{00000000-1234-1234-1234-123412341234}" type="slidenum">
              <a:rPr lang="en-US" sz="600" b="0" i="0" u="none" strike="noStrike" cap="none">
                <a:solidFill>
                  <a:srgbClr val="D8D8D8"/>
                </a:solidFill>
                <a:latin typeface="Arial"/>
                <a:ea typeface="Arial"/>
                <a:cs typeface="Arial"/>
                <a:sym typeface="Arial"/>
              </a:rPr>
              <a:t>‹#›</a:t>
            </a:fld>
            <a:endParaRPr sz="600" b="0" i="0" u="none" strike="noStrike" cap="none">
              <a:solidFill>
                <a:srgbClr val="D8D8D8"/>
              </a:solidFill>
              <a:latin typeface="Arial"/>
              <a:ea typeface="Arial"/>
              <a:cs typeface="Arial"/>
              <a:sym typeface="Arial"/>
            </a:endParaRPr>
          </a:p>
        </p:txBody>
      </p:sp>
      <p:sp>
        <p:nvSpPr>
          <p:cNvPr id="12" name="Google Shape;12;p74"/>
          <p:cNvSpPr/>
          <p:nvPr/>
        </p:nvSpPr>
        <p:spPr>
          <a:xfrm>
            <a:off x="5541342" y="4741653"/>
            <a:ext cx="2984184" cy="154518"/>
          </a:xfrm>
          <a:prstGeom prst="rect">
            <a:avLst/>
          </a:prstGeom>
          <a:noFill/>
          <a:ln>
            <a:noFill/>
          </a:ln>
        </p:spPr>
        <p:txBody>
          <a:bodyPr spcFirstLastPara="1" wrap="square" lIns="61575" tIns="30775" rIns="61575" bIns="30775" anchor="b" anchorCtr="0">
            <a:spAutoFit/>
          </a:bodyPr>
          <a:lstStyle/>
          <a:p>
            <a:pPr marL="0" marR="0" lvl="0" indent="0" algn="l" rtl="0">
              <a:spcBef>
                <a:spcPts val="0"/>
              </a:spcBef>
              <a:spcAft>
                <a:spcPts val="0"/>
              </a:spcAft>
              <a:buNone/>
            </a:pPr>
            <a:r>
              <a:rPr lang="en-US" sz="600" b="0" i="0" u="none" strike="noStrike" cap="none">
                <a:solidFill>
                  <a:srgbClr val="D8D8D8"/>
                </a:solidFill>
                <a:latin typeface="Arial"/>
                <a:ea typeface="Arial"/>
                <a:cs typeface="Arial"/>
                <a:sym typeface="Arial"/>
              </a:rPr>
              <a:t>© 2019, 2021  Cisco and/or its affiliates. All rights reserved.   Cisco Confidential</a:t>
            </a:r>
            <a:endParaRPr/>
          </a:p>
        </p:txBody>
      </p:sp>
      <p:grpSp>
        <p:nvGrpSpPr>
          <p:cNvPr id="13" name="Google Shape;13;p74"/>
          <p:cNvGrpSpPr/>
          <p:nvPr/>
        </p:nvGrpSpPr>
        <p:grpSpPr>
          <a:xfrm>
            <a:off x="508039" y="4715197"/>
            <a:ext cx="340257" cy="180974"/>
            <a:chOff x="310" y="249"/>
            <a:chExt cx="502" cy="267"/>
          </a:xfrm>
        </p:grpSpPr>
        <p:sp>
          <p:nvSpPr>
            <p:cNvPr id="14" name="Google Shape;14;p74"/>
            <p:cNvSpPr/>
            <p:nvPr/>
          </p:nvSpPr>
          <p:spPr>
            <a:xfrm>
              <a:off x="452" y="426"/>
              <a:ext cx="22" cy="88"/>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 name="Google Shape;15;p74"/>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 name="Google Shape;16;p74"/>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 name="Google Shape;17;p74"/>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 name="Google Shape;18;p74"/>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 name="Google Shape;19;p74"/>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 name="Google Shape;20;p74"/>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 name="Google Shape;21;p74"/>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 name="Google Shape;22;p74"/>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 name="Google Shape;23;p74"/>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 name="Google Shape;24;p74"/>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 name="Google Shape;25;p74"/>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 name="Google Shape;26;p74"/>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 name="Google Shape;27;p74"/>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slow">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3"/>
        <p:cNvGrpSpPr/>
        <p:nvPr/>
      </p:nvGrpSpPr>
      <p:grpSpPr>
        <a:xfrm>
          <a:off x="0" y="0"/>
          <a:ext cx="0" cy="0"/>
          <a:chOff x="0" y="0"/>
          <a:chExt cx="0" cy="0"/>
        </a:xfrm>
      </p:grpSpPr>
      <p:sp>
        <p:nvSpPr>
          <p:cNvPr id="234" name="Google Shape;234;p89"/>
          <p:cNvSpPr txBox="1">
            <a:spLocks noGrp="1"/>
          </p:cNvSpPr>
          <p:nvPr>
            <p:ph type="title"/>
          </p:nvPr>
        </p:nvSpPr>
        <p:spPr>
          <a:xfrm>
            <a:off x="438150" y="341313"/>
            <a:ext cx="8345488" cy="731837"/>
          </a:xfrm>
          <a:prstGeom prst="rect">
            <a:avLst/>
          </a:prstGeom>
          <a:noFill/>
          <a:ln>
            <a:noFill/>
          </a:ln>
        </p:spPr>
        <p:txBody>
          <a:bodyPr spcFirstLastPara="1" wrap="square" lIns="91400" tIns="45700" rIns="91400" bIns="45700" anchor="ctr" anchorCtr="0">
            <a:noAutofit/>
          </a:bodyPr>
          <a:lstStyle>
            <a:lvl1pPr marR="0" lvl="0" algn="l" rtl="0">
              <a:lnSpc>
                <a:spcPct val="80000"/>
              </a:lnSpc>
              <a:spcBef>
                <a:spcPts val="0"/>
              </a:spcBef>
              <a:spcAft>
                <a:spcPts val="0"/>
              </a:spcAft>
              <a:buSzPts val="1400"/>
              <a:buNone/>
              <a:defRPr sz="3200" b="0" i="0" u="none" strike="noStrike" cap="none">
                <a:solidFill>
                  <a:schemeClr val="accent4"/>
                </a:solidFill>
                <a:latin typeface="Arial"/>
                <a:ea typeface="Arial"/>
                <a:cs typeface="Arial"/>
                <a:sym typeface="Arial"/>
              </a:defRPr>
            </a:lvl1pPr>
            <a:lvl2pPr marR="0" lvl="1"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2pPr>
            <a:lvl3pPr marR="0" lvl="2"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3pPr>
            <a:lvl4pPr marR="0" lvl="3"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4pPr>
            <a:lvl5pPr marR="0" lvl="4"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5pPr>
            <a:lvl6pPr marR="0" lvl="5"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6pPr>
            <a:lvl7pPr marR="0" lvl="6"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7pPr>
            <a:lvl8pPr marR="0" lvl="7"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8pPr>
            <a:lvl9pPr marR="0" lvl="8"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9pPr>
          </a:lstStyle>
          <a:p>
            <a:endParaRPr/>
          </a:p>
        </p:txBody>
      </p:sp>
      <p:sp>
        <p:nvSpPr>
          <p:cNvPr id="235" name="Google Shape;235;p89"/>
          <p:cNvSpPr/>
          <p:nvPr/>
        </p:nvSpPr>
        <p:spPr>
          <a:xfrm>
            <a:off x="8515707" y="4742907"/>
            <a:ext cx="218414" cy="154518"/>
          </a:xfrm>
          <a:prstGeom prst="rect">
            <a:avLst/>
          </a:prstGeom>
          <a:noFill/>
          <a:ln>
            <a:noFill/>
          </a:ln>
        </p:spPr>
        <p:txBody>
          <a:bodyPr spcFirstLastPara="1" wrap="square" lIns="61575" tIns="30775" rIns="61575" bIns="30775" anchor="b" anchorCtr="0">
            <a:spAutoFit/>
          </a:bodyPr>
          <a:lstStyle/>
          <a:p>
            <a:pPr marL="0" marR="0" lvl="0" indent="0" algn="r" rtl="0">
              <a:spcBef>
                <a:spcPts val="0"/>
              </a:spcBef>
              <a:spcAft>
                <a:spcPts val="0"/>
              </a:spcAft>
              <a:buNone/>
            </a:pPr>
            <a:fld id="{00000000-1234-1234-1234-123412341234}" type="slidenum">
              <a:rPr lang="en-US" sz="600">
                <a:solidFill>
                  <a:srgbClr val="D8D8D8"/>
                </a:solidFill>
                <a:latin typeface="Arial"/>
                <a:ea typeface="Arial"/>
                <a:cs typeface="Arial"/>
                <a:sym typeface="Arial"/>
              </a:rPr>
              <a:t>‹#›</a:t>
            </a:fld>
            <a:endParaRPr sz="600">
              <a:solidFill>
                <a:srgbClr val="D8D8D8"/>
              </a:solidFill>
              <a:latin typeface="Arial"/>
              <a:ea typeface="Arial"/>
              <a:cs typeface="Arial"/>
              <a:sym typeface="Arial"/>
            </a:endParaRPr>
          </a:p>
        </p:txBody>
      </p:sp>
      <p:sp>
        <p:nvSpPr>
          <p:cNvPr id="236" name="Google Shape;236;p89"/>
          <p:cNvSpPr/>
          <p:nvPr/>
        </p:nvSpPr>
        <p:spPr>
          <a:xfrm>
            <a:off x="5867508" y="4649320"/>
            <a:ext cx="2658018" cy="246851"/>
          </a:xfrm>
          <a:prstGeom prst="rect">
            <a:avLst/>
          </a:prstGeom>
          <a:noFill/>
          <a:ln>
            <a:noFill/>
          </a:ln>
        </p:spPr>
        <p:txBody>
          <a:bodyPr spcFirstLastPara="1" wrap="square" lIns="61575" tIns="30775" rIns="61575" bIns="30775" anchor="b" anchorCtr="0">
            <a:spAutoFit/>
          </a:bodyPr>
          <a:lstStyle/>
          <a:p>
            <a:pPr marL="0" marR="0" lvl="0" indent="0" algn="l" rtl="0">
              <a:spcBef>
                <a:spcPts val="0"/>
              </a:spcBef>
              <a:spcAft>
                <a:spcPts val="0"/>
              </a:spcAft>
              <a:buNone/>
            </a:pPr>
            <a:r>
              <a:rPr lang="en-US" sz="600">
                <a:solidFill>
                  <a:srgbClr val="D8D8D8"/>
                </a:solidFill>
                <a:latin typeface="Arial"/>
                <a:ea typeface="Arial"/>
                <a:cs typeface="Arial"/>
                <a:sym typeface="Arial"/>
              </a:rPr>
              <a:t>© 2019, 2021  Cisco and/or its affiliates. All rights reserved.   Cisco Confidential</a:t>
            </a:r>
            <a:endParaRPr/>
          </a:p>
        </p:txBody>
      </p:sp>
      <p:grpSp>
        <p:nvGrpSpPr>
          <p:cNvPr id="237" name="Google Shape;237;p89"/>
          <p:cNvGrpSpPr/>
          <p:nvPr/>
        </p:nvGrpSpPr>
        <p:grpSpPr>
          <a:xfrm>
            <a:off x="508039" y="4715197"/>
            <a:ext cx="340257" cy="180974"/>
            <a:chOff x="310" y="249"/>
            <a:chExt cx="502" cy="267"/>
          </a:xfrm>
        </p:grpSpPr>
        <p:sp>
          <p:nvSpPr>
            <p:cNvPr id="238" name="Google Shape;238;p89"/>
            <p:cNvSpPr/>
            <p:nvPr/>
          </p:nvSpPr>
          <p:spPr>
            <a:xfrm>
              <a:off x="452" y="426"/>
              <a:ext cx="22" cy="88"/>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9" name="Google Shape;239;p89"/>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0" name="Google Shape;240;p89"/>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1" name="Google Shape;241;p89"/>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2" name="Google Shape;242;p89"/>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3" name="Google Shape;243;p89"/>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4" name="Google Shape;244;p89"/>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5" name="Google Shape;245;p89"/>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6" name="Google Shape;246;p89"/>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7" name="Google Shape;247;p89"/>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8" name="Google Shape;248;p89"/>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9" name="Google Shape;249;p89"/>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0" name="Google Shape;250;p89"/>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1" name="Google Shape;251;p89"/>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transition spd="slow">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3"/>
        <p:cNvGrpSpPr/>
        <p:nvPr/>
      </p:nvGrpSpPr>
      <p:grpSpPr>
        <a:xfrm>
          <a:off x="0" y="0"/>
          <a:ext cx="0" cy="0"/>
          <a:chOff x="0" y="0"/>
          <a:chExt cx="0" cy="0"/>
        </a:xfrm>
      </p:grpSpPr>
      <p:sp>
        <p:nvSpPr>
          <p:cNvPr id="454" name="Google Shape;454;p103"/>
          <p:cNvSpPr txBox="1">
            <a:spLocks noGrp="1"/>
          </p:cNvSpPr>
          <p:nvPr>
            <p:ph type="title"/>
          </p:nvPr>
        </p:nvSpPr>
        <p:spPr>
          <a:xfrm>
            <a:off x="438150" y="341313"/>
            <a:ext cx="8345488" cy="731837"/>
          </a:xfrm>
          <a:prstGeom prst="rect">
            <a:avLst/>
          </a:prstGeom>
          <a:noFill/>
          <a:ln>
            <a:noFill/>
          </a:ln>
        </p:spPr>
        <p:txBody>
          <a:bodyPr spcFirstLastPara="1" wrap="square" lIns="91400" tIns="45700" rIns="91400" bIns="45700" anchor="ctr" anchorCtr="0">
            <a:noAutofit/>
          </a:bodyPr>
          <a:lstStyle>
            <a:lvl1pPr marR="0" lvl="0" algn="l" rtl="0">
              <a:lnSpc>
                <a:spcPct val="80000"/>
              </a:lnSpc>
              <a:spcBef>
                <a:spcPts val="0"/>
              </a:spcBef>
              <a:spcAft>
                <a:spcPts val="0"/>
              </a:spcAft>
              <a:buSzPts val="1400"/>
              <a:buNone/>
              <a:defRPr sz="3200" b="0" i="0" u="none" strike="noStrike" cap="none">
                <a:solidFill>
                  <a:schemeClr val="accent4"/>
                </a:solidFill>
                <a:latin typeface="Arial"/>
                <a:ea typeface="Arial"/>
                <a:cs typeface="Arial"/>
                <a:sym typeface="Arial"/>
              </a:defRPr>
            </a:lvl1pPr>
            <a:lvl2pPr marR="0" lvl="1"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2pPr>
            <a:lvl3pPr marR="0" lvl="2"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3pPr>
            <a:lvl4pPr marR="0" lvl="3"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4pPr>
            <a:lvl5pPr marR="0" lvl="4"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5pPr>
            <a:lvl6pPr marR="0" lvl="5"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6pPr>
            <a:lvl7pPr marR="0" lvl="6"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7pPr>
            <a:lvl8pPr marR="0" lvl="7"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8pPr>
            <a:lvl9pPr marR="0" lvl="8"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9pPr>
          </a:lstStyle>
          <a:p>
            <a:endParaRPr/>
          </a:p>
        </p:txBody>
      </p:sp>
      <p:sp>
        <p:nvSpPr>
          <p:cNvPr id="455" name="Google Shape;455;p103"/>
          <p:cNvSpPr/>
          <p:nvPr/>
        </p:nvSpPr>
        <p:spPr>
          <a:xfrm>
            <a:off x="8515707" y="4742907"/>
            <a:ext cx="218414" cy="154518"/>
          </a:xfrm>
          <a:prstGeom prst="rect">
            <a:avLst/>
          </a:prstGeom>
          <a:noFill/>
          <a:ln>
            <a:noFill/>
          </a:ln>
        </p:spPr>
        <p:txBody>
          <a:bodyPr spcFirstLastPara="1" wrap="square" lIns="61575" tIns="30775" rIns="61575" bIns="30775" anchor="b" anchorCtr="0">
            <a:spAutoFit/>
          </a:bodyPr>
          <a:lstStyle/>
          <a:p>
            <a:pPr marL="0" marR="0" lvl="0" indent="0" algn="r" rtl="0">
              <a:spcBef>
                <a:spcPts val="0"/>
              </a:spcBef>
              <a:spcAft>
                <a:spcPts val="0"/>
              </a:spcAft>
              <a:buNone/>
            </a:pPr>
            <a:fld id="{00000000-1234-1234-1234-123412341234}" type="slidenum">
              <a:rPr lang="en-US" sz="600">
                <a:solidFill>
                  <a:srgbClr val="D8D8D8"/>
                </a:solidFill>
                <a:latin typeface="Arial"/>
                <a:ea typeface="Arial"/>
                <a:cs typeface="Arial"/>
                <a:sym typeface="Arial"/>
              </a:rPr>
              <a:t>‹#›</a:t>
            </a:fld>
            <a:endParaRPr sz="600">
              <a:solidFill>
                <a:srgbClr val="D8D8D8"/>
              </a:solidFill>
              <a:latin typeface="Arial"/>
              <a:ea typeface="Arial"/>
              <a:cs typeface="Arial"/>
              <a:sym typeface="Arial"/>
            </a:endParaRPr>
          </a:p>
        </p:txBody>
      </p:sp>
      <p:sp>
        <p:nvSpPr>
          <p:cNvPr id="456" name="Google Shape;456;p103"/>
          <p:cNvSpPr/>
          <p:nvPr/>
        </p:nvSpPr>
        <p:spPr>
          <a:xfrm>
            <a:off x="5642658" y="4741653"/>
            <a:ext cx="2882868" cy="154518"/>
          </a:xfrm>
          <a:prstGeom prst="rect">
            <a:avLst/>
          </a:prstGeom>
          <a:noFill/>
          <a:ln>
            <a:noFill/>
          </a:ln>
        </p:spPr>
        <p:txBody>
          <a:bodyPr spcFirstLastPara="1" wrap="square" lIns="61575" tIns="30775" rIns="61575" bIns="30775" anchor="b" anchorCtr="0">
            <a:spAutoFit/>
          </a:bodyPr>
          <a:lstStyle/>
          <a:p>
            <a:pPr marL="0" marR="0" lvl="0" indent="0" algn="l" rtl="0">
              <a:spcBef>
                <a:spcPts val="0"/>
              </a:spcBef>
              <a:spcAft>
                <a:spcPts val="0"/>
              </a:spcAft>
              <a:buNone/>
            </a:pPr>
            <a:r>
              <a:rPr lang="en-US" sz="600">
                <a:solidFill>
                  <a:srgbClr val="D8D8D8"/>
                </a:solidFill>
                <a:latin typeface="Arial"/>
                <a:ea typeface="Arial"/>
                <a:cs typeface="Arial"/>
                <a:sym typeface="Arial"/>
              </a:rPr>
              <a:t>© 2019, 2021  Cisco and/or its affiliates. All rights reserved.   Cisco Confidential</a:t>
            </a:r>
            <a:endParaRPr/>
          </a:p>
        </p:txBody>
      </p:sp>
      <p:grpSp>
        <p:nvGrpSpPr>
          <p:cNvPr id="457" name="Google Shape;457;p103"/>
          <p:cNvGrpSpPr/>
          <p:nvPr/>
        </p:nvGrpSpPr>
        <p:grpSpPr>
          <a:xfrm>
            <a:off x="508039" y="4715197"/>
            <a:ext cx="340257" cy="180974"/>
            <a:chOff x="310" y="249"/>
            <a:chExt cx="502" cy="267"/>
          </a:xfrm>
        </p:grpSpPr>
        <p:sp>
          <p:nvSpPr>
            <p:cNvPr id="458" name="Google Shape;458;p103"/>
            <p:cNvSpPr/>
            <p:nvPr/>
          </p:nvSpPr>
          <p:spPr>
            <a:xfrm>
              <a:off x="452" y="426"/>
              <a:ext cx="22" cy="88"/>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59" name="Google Shape;459;p103"/>
            <p:cNvSpPr/>
            <p:nvPr/>
          </p:nvSpPr>
          <p:spPr>
            <a:xfrm>
              <a:off x="585" y="425"/>
              <a:ext cx="66" cy="91"/>
            </a:xfrm>
            <a:custGeom>
              <a:avLst/>
              <a:gdLst/>
              <a:ahLst/>
              <a:cxnLst/>
              <a:rect l="l" t="t" r="r" b="b"/>
              <a:pathLst>
                <a:path w="51" h="69" extrusionOk="0">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0" name="Google Shape;460;p103"/>
            <p:cNvSpPr/>
            <p:nvPr/>
          </p:nvSpPr>
          <p:spPr>
            <a:xfrm>
              <a:off x="355" y="425"/>
              <a:ext cx="67" cy="91"/>
            </a:xfrm>
            <a:custGeom>
              <a:avLst/>
              <a:gdLst/>
              <a:ahLst/>
              <a:cxnLst/>
              <a:rect l="l" t="t" r="r" b="b"/>
              <a:pathLst>
                <a:path w="51" h="69" extrusionOk="0">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1" name="Google Shape;461;p103"/>
            <p:cNvSpPr/>
            <p:nvPr/>
          </p:nvSpPr>
          <p:spPr>
            <a:xfrm>
              <a:off x="675" y="425"/>
              <a:ext cx="91" cy="91"/>
            </a:xfrm>
            <a:custGeom>
              <a:avLst/>
              <a:gdLst/>
              <a:ahLst/>
              <a:cxnLst/>
              <a:rect l="l" t="t" r="r" b="b"/>
              <a:pathLst>
                <a:path w="70" h="69" extrusionOk="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2" name="Google Shape;462;p103"/>
            <p:cNvSpPr/>
            <p:nvPr/>
          </p:nvSpPr>
          <p:spPr>
            <a:xfrm>
              <a:off x="503" y="425"/>
              <a:ext cx="60" cy="91"/>
            </a:xfrm>
            <a:custGeom>
              <a:avLst/>
              <a:gdLst/>
              <a:ahLst/>
              <a:cxnLst/>
              <a:rect l="l" t="t" r="r" b="b"/>
              <a:pathLst>
                <a:path w="46" h="69" extrusionOk="0">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3" name="Google Shape;463;p103"/>
            <p:cNvSpPr/>
            <p:nvPr/>
          </p:nvSpPr>
          <p:spPr>
            <a:xfrm>
              <a:off x="31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4" name="Google Shape;464;p103"/>
            <p:cNvSpPr/>
            <p:nvPr/>
          </p:nvSpPr>
          <p:spPr>
            <a:xfrm>
              <a:off x="37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5" name="Google Shape;465;p103"/>
            <p:cNvSpPr/>
            <p:nvPr/>
          </p:nvSpPr>
          <p:spPr>
            <a:xfrm>
              <a:off x="430" y="249"/>
              <a:ext cx="22" cy="139"/>
            </a:xfrm>
            <a:custGeom>
              <a:avLst/>
              <a:gdLst/>
              <a:ahLst/>
              <a:cxnLst/>
              <a:rect l="l" t="t" r="r" b="b"/>
              <a:pathLst>
                <a:path w="17" h="106" extrusionOk="0">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6" name="Google Shape;466;p103"/>
            <p:cNvSpPr/>
            <p:nvPr/>
          </p:nvSpPr>
          <p:spPr>
            <a:xfrm>
              <a:off x="490" y="291"/>
              <a:ext cx="22" cy="75"/>
            </a:xfrm>
            <a:custGeom>
              <a:avLst/>
              <a:gdLst/>
              <a:ahLst/>
              <a:cxnLst/>
              <a:rect l="l" t="t" r="r" b="b"/>
              <a:pathLst>
                <a:path w="17" h="57" extrusionOk="0">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7" name="Google Shape;467;p103"/>
            <p:cNvSpPr/>
            <p:nvPr/>
          </p:nvSpPr>
          <p:spPr>
            <a:xfrm>
              <a:off x="550" y="321"/>
              <a:ext cx="22" cy="45"/>
            </a:xfrm>
            <a:custGeom>
              <a:avLst/>
              <a:gdLst/>
              <a:ahLst/>
              <a:cxnLst/>
              <a:rect l="l" t="t" r="r" b="b"/>
              <a:pathLst>
                <a:path w="17" h="34" extrusionOk="0">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8" name="Google Shape;468;p103"/>
            <p:cNvSpPr/>
            <p:nvPr/>
          </p:nvSpPr>
          <p:spPr>
            <a:xfrm>
              <a:off x="61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9" name="Google Shape;469;p103"/>
            <p:cNvSpPr/>
            <p:nvPr/>
          </p:nvSpPr>
          <p:spPr>
            <a:xfrm>
              <a:off x="670" y="249"/>
              <a:ext cx="22" cy="139"/>
            </a:xfrm>
            <a:custGeom>
              <a:avLst/>
              <a:gdLst/>
              <a:ahLst/>
              <a:cxnLst/>
              <a:rect l="l" t="t" r="r" b="b"/>
              <a:pathLst>
                <a:path w="17" h="106" extrusionOk="0">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0" name="Google Shape;470;p103"/>
            <p:cNvSpPr/>
            <p:nvPr/>
          </p:nvSpPr>
          <p:spPr>
            <a:xfrm>
              <a:off x="730" y="291"/>
              <a:ext cx="22" cy="75"/>
            </a:xfrm>
            <a:custGeom>
              <a:avLst/>
              <a:gdLst/>
              <a:ahLst/>
              <a:cxnLst/>
              <a:rect l="l" t="t" r="r" b="b"/>
              <a:pathLst>
                <a:path w="17" h="57" extrusionOk="0">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1" name="Google Shape;471;p103"/>
            <p:cNvSpPr/>
            <p:nvPr/>
          </p:nvSpPr>
          <p:spPr>
            <a:xfrm>
              <a:off x="790" y="321"/>
              <a:ext cx="22" cy="45"/>
            </a:xfrm>
            <a:custGeom>
              <a:avLst/>
              <a:gdLst/>
              <a:ahLst/>
              <a:cxnLst/>
              <a:rect l="l" t="t" r="r" b="b"/>
              <a:pathLst>
                <a:path w="17" h="34" extrusionOk="0">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Lst>
  <p:transition spd="slow">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1"/>
          <p:cNvSpPr txBox="1">
            <a:spLocks noGrp="1"/>
          </p:cNvSpPr>
          <p:nvPr>
            <p:ph type="ctrTitle"/>
          </p:nvPr>
        </p:nvSpPr>
        <p:spPr>
          <a:xfrm>
            <a:off x="469497" y="2316480"/>
            <a:ext cx="6672708" cy="1080143"/>
          </a:xfrm>
          <a:prstGeom prst="rect">
            <a:avLst/>
          </a:prstGeom>
          <a:noFill/>
          <a:ln>
            <a:noFill/>
          </a:ln>
        </p:spPr>
        <p:txBody>
          <a:bodyPr spcFirstLastPara="1" wrap="square" lIns="91400" tIns="45700" rIns="91400" bIns="45700" anchor="b" anchorCtr="0">
            <a:noAutofit/>
          </a:bodyPr>
          <a:lstStyle/>
          <a:p>
            <a:pPr marL="0" lvl="0" indent="0" algn="l" rtl="0">
              <a:lnSpc>
                <a:spcPct val="90000"/>
              </a:lnSpc>
              <a:spcBef>
                <a:spcPts val="0"/>
              </a:spcBef>
              <a:spcAft>
                <a:spcPts val="0"/>
              </a:spcAft>
              <a:buClr>
                <a:srgbClr val="AEE8FA"/>
              </a:buClr>
              <a:buSzPts val="3600"/>
              <a:buFont typeface="Arial"/>
              <a:buNone/>
            </a:pPr>
            <a:r>
              <a:rPr lang="en-US">
                <a:solidFill>
                  <a:srgbClr val="AEE8FA"/>
                </a:solidFill>
              </a:rPr>
              <a:t>Module 3: Network Security Concepts</a:t>
            </a:r>
            <a:endParaRPr/>
          </a:p>
        </p:txBody>
      </p:sp>
      <p:sp>
        <p:nvSpPr>
          <p:cNvPr id="679" name="Google Shape;679;p1"/>
          <p:cNvSpPr txBox="1">
            <a:spLocks noGrp="1"/>
          </p:cNvSpPr>
          <p:nvPr>
            <p:ph type="subTitle" idx="1"/>
          </p:nvPr>
        </p:nvSpPr>
        <p:spPr>
          <a:xfrm>
            <a:off x="469496" y="3809526"/>
            <a:ext cx="3804791" cy="902174"/>
          </a:xfrm>
          <a:prstGeom prst="rect">
            <a:avLst/>
          </a:prstGeom>
          <a:noFill/>
          <a:ln>
            <a:noFill/>
          </a:ln>
        </p:spPr>
        <p:txBody>
          <a:bodyPr spcFirstLastPara="1" wrap="square" lIns="91400" tIns="45700" rIns="91400" bIns="45700" anchor="b" anchorCtr="0">
            <a:noAutofit/>
          </a:bodyPr>
          <a:lstStyle/>
          <a:p>
            <a:pPr marL="0" lvl="0" indent="0" algn="l" rtl="0">
              <a:lnSpc>
                <a:spcPct val="95000"/>
              </a:lnSpc>
              <a:spcBef>
                <a:spcPts val="0"/>
              </a:spcBef>
              <a:spcAft>
                <a:spcPts val="0"/>
              </a:spcAft>
              <a:buSzPts val="1080"/>
              <a:buNone/>
            </a:pPr>
            <a:r>
              <a:rPr lang="en-US">
                <a:solidFill>
                  <a:srgbClr val="AEE8FA"/>
                </a:solidFill>
              </a:rPr>
              <a:t>Enterprise Networking, Security, and Automation v7.0</a:t>
            </a:r>
            <a:endParaRPr/>
          </a:p>
          <a:p>
            <a:pPr marL="0" lvl="0" indent="0" algn="l" rtl="0">
              <a:lnSpc>
                <a:spcPct val="95000"/>
              </a:lnSpc>
              <a:spcBef>
                <a:spcPts val="0"/>
              </a:spcBef>
              <a:spcAft>
                <a:spcPts val="0"/>
              </a:spcAft>
              <a:buSzPts val="1080"/>
              <a:buNone/>
            </a:pPr>
            <a:r>
              <a:rPr lang="en-US">
                <a:solidFill>
                  <a:srgbClr val="AEE8FA"/>
                </a:solidFill>
              </a:rPr>
              <a:t>(ENSA)</a:t>
            </a:r>
            <a:endParaRPr/>
          </a:p>
          <a:p>
            <a:pPr marL="0" lvl="0" indent="0" algn="l" rtl="0">
              <a:lnSpc>
                <a:spcPct val="95000"/>
              </a:lnSpc>
              <a:spcBef>
                <a:spcPts val="1075"/>
              </a:spcBef>
              <a:spcAft>
                <a:spcPts val="0"/>
              </a:spcAft>
              <a:buSzPts val="1080"/>
              <a:buNone/>
            </a:pPr>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2"/>
          <p:cNvSpPr txBox="1">
            <a:spLocks noGrp="1"/>
          </p:cNvSpPr>
          <p:nvPr>
            <p:ph type="title"/>
          </p:nvPr>
        </p:nvSpPr>
        <p:spPr>
          <a:xfrm>
            <a:off x="1" y="41393"/>
            <a:ext cx="9144000" cy="75755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n-US"/>
              <a:t>Module Objectives</a:t>
            </a:r>
            <a:endParaRPr/>
          </a:p>
        </p:txBody>
      </p:sp>
      <p:sp>
        <p:nvSpPr>
          <p:cNvPr id="686" name="Google Shape;686;p2"/>
          <p:cNvSpPr txBox="1">
            <a:spLocks noGrp="1"/>
          </p:cNvSpPr>
          <p:nvPr>
            <p:ph type="body" idx="1"/>
          </p:nvPr>
        </p:nvSpPr>
        <p:spPr>
          <a:xfrm>
            <a:off x="144065" y="798944"/>
            <a:ext cx="8853286" cy="757551"/>
          </a:xfrm>
          <a:prstGeom prst="rect">
            <a:avLst/>
          </a:prstGeom>
          <a:noFill/>
          <a:ln>
            <a:noFill/>
          </a:ln>
        </p:spPr>
        <p:txBody>
          <a:bodyPr spcFirstLastPara="1" wrap="square" lIns="91425" tIns="45700" rIns="182875" bIns="45700" anchor="t" anchorCtr="0">
            <a:noAutofit/>
          </a:bodyPr>
          <a:lstStyle/>
          <a:p>
            <a:pPr marL="0" lvl="0" indent="0" algn="l" rtl="0">
              <a:lnSpc>
                <a:spcPct val="100000"/>
              </a:lnSpc>
              <a:spcBef>
                <a:spcPts val="0"/>
              </a:spcBef>
              <a:spcAft>
                <a:spcPts val="0"/>
              </a:spcAft>
              <a:buClr>
                <a:schemeClr val="dk1"/>
              </a:buClr>
              <a:buSzPts val="1400"/>
              <a:buNone/>
            </a:pPr>
            <a:r>
              <a:rPr lang="en-US" sz="1400" b="1">
                <a:solidFill>
                  <a:schemeClr val="dk1"/>
                </a:solidFill>
              </a:rPr>
              <a:t>Module Title: </a:t>
            </a:r>
            <a:r>
              <a:rPr lang="en-US" sz="1400">
                <a:solidFill>
                  <a:schemeClr val="dk1"/>
                </a:solidFill>
              </a:rPr>
              <a:t>Network Security Concepts</a:t>
            </a:r>
            <a:endParaRPr/>
          </a:p>
          <a:p>
            <a:pPr marL="0" lvl="0" indent="0" algn="l" rtl="0">
              <a:lnSpc>
                <a:spcPct val="100000"/>
              </a:lnSpc>
              <a:spcBef>
                <a:spcPts val="0"/>
              </a:spcBef>
              <a:spcAft>
                <a:spcPts val="0"/>
              </a:spcAft>
              <a:buClr>
                <a:srgbClr val="000000"/>
              </a:buClr>
              <a:buSzPts val="1400"/>
              <a:buNone/>
            </a:pPr>
            <a:endParaRPr sz="1400">
              <a:solidFill>
                <a:schemeClr val="dk1"/>
              </a:solidFill>
            </a:endParaRPr>
          </a:p>
          <a:p>
            <a:pPr marL="0" lvl="0" indent="0" algn="l" rtl="0">
              <a:lnSpc>
                <a:spcPct val="100000"/>
              </a:lnSpc>
              <a:spcBef>
                <a:spcPts val="0"/>
              </a:spcBef>
              <a:spcAft>
                <a:spcPts val="0"/>
              </a:spcAft>
              <a:buClr>
                <a:schemeClr val="dk1"/>
              </a:buClr>
              <a:buSzPts val="1400"/>
              <a:buNone/>
            </a:pPr>
            <a:r>
              <a:rPr lang="en-US" sz="1400" b="1">
                <a:solidFill>
                  <a:schemeClr val="dk1"/>
                </a:solidFill>
              </a:rPr>
              <a:t>Module Objective</a:t>
            </a:r>
            <a:r>
              <a:rPr lang="en-US" sz="1400">
                <a:solidFill>
                  <a:schemeClr val="dk1"/>
                </a:solidFill>
              </a:rPr>
              <a:t>: </a:t>
            </a:r>
            <a:r>
              <a:rPr lang="en-US"/>
              <a:t>Explain how vulnerabilities, threats, and exploits can be mitigated to enhance network security.</a:t>
            </a:r>
            <a:endParaRPr/>
          </a:p>
        </p:txBody>
      </p:sp>
      <p:graphicFrame>
        <p:nvGraphicFramePr>
          <p:cNvPr id="687" name="Google Shape;687;p2"/>
          <p:cNvGraphicFramePr/>
          <p:nvPr/>
        </p:nvGraphicFramePr>
        <p:xfrm>
          <a:off x="450866" y="1832941"/>
          <a:ext cx="7896850" cy="2728500"/>
        </p:xfrm>
        <a:graphic>
          <a:graphicData uri="http://schemas.openxmlformats.org/drawingml/2006/table">
            <a:tbl>
              <a:tblPr firstRow="1" bandRow="1">
                <a:noFill/>
                <a:tableStyleId>{0DCACE81-CCCA-460A-ACD2-FE0297909B90}</a:tableStyleId>
              </a:tblPr>
              <a:tblGrid>
                <a:gridCol w="2595425">
                  <a:extLst>
                    <a:ext uri="{9D8B030D-6E8A-4147-A177-3AD203B41FA5}">
                      <a16:colId xmlns:a16="http://schemas.microsoft.com/office/drawing/2014/main" val="20000"/>
                    </a:ext>
                  </a:extLst>
                </a:gridCol>
                <a:gridCol w="5301425">
                  <a:extLst>
                    <a:ext uri="{9D8B030D-6E8A-4147-A177-3AD203B41FA5}">
                      <a16:colId xmlns:a16="http://schemas.microsoft.com/office/drawing/2014/main" val="20001"/>
                    </a:ext>
                  </a:extLst>
                </a:gridCol>
              </a:tblGrid>
              <a:tr h="272850">
                <a:tc>
                  <a:txBody>
                    <a:bodyPr/>
                    <a:lstStyle/>
                    <a:p>
                      <a:pPr marL="0" marR="0" lvl="0" indent="0" algn="l" rtl="0">
                        <a:spcBef>
                          <a:spcPts val="0"/>
                        </a:spcBef>
                        <a:spcAft>
                          <a:spcPts val="0"/>
                        </a:spcAft>
                        <a:buNone/>
                      </a:pPr>
                      <a:r>
                        <a:rPr lang="en-US" sz="1000" u="none" strike="noStrike" cap="none"/>
                        <a:t>Topic Title</a:t>
                      </a:r>
                      <a:endParaRPr/>
                    </a:p>
                  </a:txBody>
                  <a:tcPr marL="47625" marR="47625" marT="47625" marB="47625" anchor="ctr"/>
                </a:tc>
                <a:tc>
                  <a:txBody>
                    <a:bodyPr/>
                    <a:lstStyle/>
                    <a:p>
                      <a:pPr marL="0" marR="0" lvl="0" indent="0" algn="l" rtl="0">
                        <a:spcBef>
                          <a:spcPts val="0"/>
                        </a:spcBef>
                        <a:spcAft>
                          <a:spcPts val="0"/>
                        </a:spcAft>
                        <a:buNone/>
                      </a:pPr>
                      <a:r>
                        <a:rPr lang="en-US" sz="1000" u="none" strike="noStrike" cap="none"/>
                        <a:t>Topic Objective</a:t>
                      </a:r>
                      <a:endParaRPr/>
                    </a:p>
                  </a:txBody>
                  <a:tcPr marL="47625" marR="47625" marT="47625" marB="47625" anchor="ctr"/>
                </a:tc>
                <a:extLst>
                  <a:ext uri="{0D108BD9-81ED-4DB2-BD59-A6C34878D82A}">
                    <a16:rowId xmlns:a16="http://schemas.microsoft.com/office/drawing/2014/main" val="10000"/>
                  </a:ext>
                </a:extLst>
              </a:tr>
              <a:tr h="272850">
                <a:tc>
                  <a:txBody>
                    <a:bodyPr/>
                    <a:lstStyle/>
                    <a:p>
                      <a:pPr marL="0" marR="0" lvl="0" indent="0" algn="l" rtl="0">
                        <a:spcBef>
                          <a:spcPts val="0"/>
                        </a:spcBef>
                        <a:spcAft>
                          <a:spcPts val="0"/>
                        </a:spcAft>
                        <a:buNone/>
                      </a:pPr>
                      <a:r>
                        <a:rPr lang="en-US" sz="1000" b="1" i="0" u="none" strike="noStrike" cap="none">
                          <a:solidFill>
                            <a:schemeClr val="lt1"/>
                          </a:solidFill>
                          <a:latin typeface="Arial"/>
                          <a:ea typeface="Arial"/>
                          <a:cs typeface="Arial"/>
                          <a:sym typeface="Arial"/>
                        </a:rPr>
                        <a:t>Current State of Cybersecurity:</a:t>
                      </a:r>
                      <a:endParaRPr sz="1000" b="0" u="none" strike="noStrike" cap="none">
                        <a:solidFill>
                          <a:schemeClr val="lt1"/>
                        </a:solidFill>
                      </a:endParaRPr>
                    </a:p>
                  </a:txBody>
                  <a:tcPr marL="47625" marR="47625" marT="47625" marB="47625" anchor="ctr">
                    <a:solidFill>
                      <a:schemeClr val="accent1"/>
                    </a:solidFill>
                  </a:tcPr>
                </a:tc>
                <a:tc>
                  <a:txBody>
                    <a:bodyPr/>
                    <a:lstStyle/>
                    <a:p>
                      <a:pPr marL="0" marR="0" lvl="0" indent="0" algn="l" rtl="0">
                        <a:spcBef>
                          <a:spcPts val="0"/>
                        </a:spcBef>
                        <a:spcAft>
                          <a:spcPts val="0"/>
                        </a:spcAft>
                        <a:buNone/>
                      </a:pPr>
                      <a:r>
                        <a:rPr lang="en-US" sz="1000" b="0" i="0" u="none" strike="noStrike" cap="none">
                          <a:solidFill>
                            <a:schemeClr val="dk1"/>
                          </a:solidFill>
                          <a:latin typeface="Arial"/>
                          <a:ea typeface="Arial"/>
                          <a:cs typeface="Arial"/>
                          <a:sym typeface="Arial"/>
                        </a:rPr>
                        <a:t>Describe the current state of cybersecurity and vectors of data loss.</a:t>
                      </a:r>
                      <a:endParaRPr sz="1000" b="0" u="none" strike="noStrike" cap="none"/>
                    </a:p>
                  </a:txBody>
                  <a:tcPr marL="47625" marR="47625" marT="47625" marB="47625" anchor="ctr"/>
                </a:tc>
                <a:extLst>
                  <a:ext uri="{0D108BD9-81ED-4DB2-BD59-A6C34878D82A}">
                    <a16:rowId xmlns:a16="http://schemas.microsoft.com/office/drawing/2014/main" val="10001"/>
                  </a:ext>
                </a:extLst>
              </a:tr>
              <a:tr h="272850">
                <a:tc>
                  <a:txBody>
                    <a:bodyPr/>
                    <a:lstStyle/>
                    <a:p>
                      <a:pPr marL="0" marR="0" lvl="0" indent="0" algn="l" rtl="0">
                        <a:spcBef>
                          <a:spcPts val="0"/>
                        </a:spcBef>
                        <a:spcAft>
                          <a:spcPts val="0"/>
                        </a:spcAft>
                        <a:buNone/>
                      </a:pPr>
                      <a:r>
                        <a:rPr lang="en-US" sz="1000" b="1" i="0" u="none" strike="noStrike" cap="none">
                          <a:solidFill>
                            <a:schemeClr val="lt1"/>
                          </a:solidFill>
                          <a:latin typeface="Arial"/>
                          <a:ea typeface="Arial"/>
                          <a:cs typeface="Arial"/>
                          <a:sym typeface="Arial"/>
                        </a:rPr>
                        <a:t>Threat Actors</a:t>
                      </a:r>
                      <a:endParaRPr sz="1000" b="0" u="none" strike="noStrike" cap="none">
                        <a:solidFill>
                          <a:schemeClr val="lt1"/>
                        </a:solidFill>
                      </a:endParaRPr>
                    </a:p>
                  </a:txBody>
                  <a:tcPr marL="47625" marR="47625" marT="47625" marB="47625" anchor="ctr">
                    <a:solidFill>
                      <a:schemeClr val="accent1"/>
                    </a:solidFill>
                  </a:tcPr>
                </a:tc>
                <a:tc>
                  <a:txBody>
                    <a:bodyPr/>
                    <a:lstStyle/>
                    <a:p>
                      <a:pPr marL="0" marR="0" lvl="0" indent="0" algn="l" rtl="0">
                        <a:spcBef>
                          <a:spcPts val="0"/>
                        </a:spcBef>
                        <a:spcAft>
                          <a:spcPts val="0"/>
                        </a:spcAft>
                        <a:buNone/>
                      </a:pPr>
                      <a:r>
                        <a:rPr lang="en-US" sz="1000" b="0" i="0" u="none" strike="noStrike" cap="none">
                          <a:solidFill>
                            <a:schemeClr val="dk1"/>
                          </a:solidFill>
                          <a:latin typeface="Arial"/>
                          <a:ea typeface="Arial"/>
                          <a:cs typeface="Arial"/>
                          <a:sym typeface="Arial"/>
                        </a:rPr>
                        <a:t>Describe tools used by threat actors to exploit networks.</a:t>
                      </a:r>
                      <a:endParaRPr sz="1000" b="0" u="none" strike="noStrike" cap="none"/>
                    </a:p>
                  </a:txBody>
                  <a:tcPr marL="47625" marR="47625" marT="47625" marB="47625" anchor="ctr"/>
                </a:tc>
                <a:extLst>
                  <a:ext uri="{0D108BD9-81ED-4DB2-BD59-A6C34878D82A}">
                    <a16:rowId xmlns:a16="http://schemas.microsoft.com/office/drawing/2014/main" val="10002"/>
                  </a:ext>
                </a:extLst>
              </a:tr>
              <a:tr h="272850">
                <a:tc>
                  <a:txBody>
                    <a:bodyPr/>
                    <a:lstStyle/>
                    <a:p>
                      <a:pPr marL="0" marR="0" lvl="0" indent="0" algn="l" rtl="0">
                        <a:spcBef>
                          <a:spcPts val="0"/>
                        </a:spcBef>
                        <a:spcAft>
                          <a:spcPts val="0"/>
                        </a:spcAft>
                        <a:buNone/>
                      </a:pPr>
                      <a:r>
                        <a:rPr lang="en-US" sz="1000" b="1" i="0" u="none" strike="noStrike" cap="none">
                          <a:solidFill>
                            <a:schemeClr val="lt1"/>
                          </a:solidFill>
                          <a:latin typeface="Arial"/>
                          <a:ea typeface="Arial"/>
                          <a:cs typeface="Arial"/>
                          <a:sym typeface="Arial"/>
                        </a:rPr>
                        <a:t>Malware</a:t>
                      </a:r>
                      <a:endParaRPr sz="1000" b="0" u="none" strike="noStrike" cap="none">
                        <a:solidFill>
                          <a:schemeClr val="lt1"/>
                        </a:solidFill>
                      </a:endParaRPr>
                    </a:p>
                  </a:txBody>
                  <a:tcPr marL="47625" marR="47625" marT="47625" marB="47625" anchor="ctr">
                    <a:solidFill>
                      <a:schemeClr val="accent1"/>
                    </a:solidFill>
                  </a:tcPr>
                </a:tc>
                <a:tc>
                  <a:txBody>
                    <a:bodyPr/>
                    <a:lstStyle/>
                    <a:p>
                      <a:pPr marL="0" marR="0" lvl="0" indent="0" algn="l" rtl="0">
                        <a:spcBef>
                          <a:spcPts val="0"/>
                        </a:spcBef>
                        <a:spcAft>
                          <a:spcPts val="0"/>
                        </a:spcAft>
                        <a:buNone/>
                      </a:pPr>
                      <a:r>
                        <a:rPr lang="en-US" sz="1000" b="0" i="0" u="none" strike="noStrike" cap="none">
                          <a:solidFill>
                            <a:schemeClr val="dk1"/>
                          </a:solidFill>
                          <a:latin typeface="Arial"/>
                          <a:ea typeface="Arial"/>
                          <a:cs typeface="Arial"/>
                          <a:sym typeface="Arial"/>
                        </a:rPr>
                        <a:t>Describe malware types.</a:t>
                      </a:r>
                      <a:endParaRPr sz="1000" b="0" u="none" strike="noStrike" cap="none"/>
                    </a:p>
                  </a:txBody>
                  <a:tcPr marL="47625" marR="47625" marT="47625" marB="47625" anchor="ctr"/>
                </a:tc>
                <a:extLst>
                  <a:ext uri="{0D108BD9-81ED-4DB2-BD59-A6C34878D82A}">
                    <a16:rowId xmlns:a16="http://schemas.microsoft.com/office/drawing/2014/main" val="10003"/>
                  </a:ext>
                </a:extLst>
              </a:tr>
              <a:tr h="272850">
                <a:tc>
                  <a:txBody>
                    <a:bodyPr/>
                    <a:lstStyle/>
                    <a:p>
                      <a:pPr marL="0" marR="0" lvl="0" indent="0" algn="l" rtl="0">
                        <a:spcBef>
                          <a:spcPts val="0"/>
                        </a:spcBef>
                        <a:spcAft>
                          <a:spcPts val="0"/>
                        </a:spcAft>
                        <a:buNone/>
                      </a:pPr>
                      <a:r>
                        <a:rPr lang="en-US" sz="1000" b="1" i="0" u="none" strike="noStrike" cap="none">
                          <a:solidFill>
                            <a:schemeClr val="lt1"/>
                          </a:solidFill>
                          <a:latin typeface="Arial"/>
                          <a:ea typeface="Arial"/>
                          <a:cs typeface="Arial"/>
                          <a:sym typeface="Arial"/>
                        </a:rPr>
                        <a:t>Common Network Attacks</a:t>
                      </a:r>
                      <a:endParaRPr sz="1000" b="0" u="none" strike="noStrike" cap="none">
                        <a:solidFill>
                          <a:schemeClr val="lt1"/>
                        </a:solidFill>
                      </a:endParaRPr>
                    </a:p>
                  </a:txBody>
                  <a:tcPr marL="47625" marR="47625" marT="47625" marB="47625" anchor="ctr">
                    <a:solidFill>
                      <a:schemeClr val="accent1"/>
                    </a:solidFill>
                  </a:tcPr>
                </a:tc>
                <a:tc>
                  <a:txBody>
                    <a:bodyPr/>
                    <a:lstStyle/>
                    <a:p>
                      <a:pPr marL="0" marR="0" lvl="0" indent="0" algn="l" rtl="0">
                        <a:spcBef>
                          <a:spcPts val="0"/>
                        </a:spcBef>
                        <a:spcAft>
                          <a:spcPts val="0"/>
                        </a:spcAft>
                        <a:buNone/>
                      </a:pPr>
                      <a:r>
                        <a:rPr lang="en-US" sz="1000" b="0" i="0" u="none" strike="noStrike" cap="none">
                          <a:solidFill>
                            <a:schemeClr val="dk1"/>
                          </a:solidFill>
                          <a:latin typeface="Arial"/>
                          <a:ea typeface="Arial"/>
                          <a:cs typeface="Arial"/>
                          <a:sym typeface="Arial"/>
                        </a:rPr>
                        <a:t>Describe common network attacks.</a:t>
                      </a:r>
                      <a:endParaRPr sz="1000" b="0" u="none" strike="noStrike" cap="none"/>
                    </a:p>
                  </a:txBody>
                  <a:tcPr marL="47625" marR="47625" marT="47625" marB="47625" anchor="ctr"/>
                </a:tc>
                <a:extLst>
                  <a:ext uri="{0D108BD9-81ED-4DB2-BD59-A6C34878D82A}">
                    <a16:rowId xmlns:a16="http://schemas.microsoft.com/office/drawing/2014/main" val="10004"/>
                  </a:ext>
                </a:extLst>
              </a:tr>
              <a:tr h="272850">
                <a:tc>
                  <a:txBody>
                    <a:bodyPr/>
                    <a:lstStyle/>
                    <a:p>
                      <a:pPr marL="0" marR="0" lvl="0" indent="0" algn="l" rtl="0">
                        <a:spcBef>
                          <a:spcPts val="0"/>
                        </a:spcBef>
                        <a:spcAft>
                          <a:spcPts val="0"/>
                        </a:spcAft>
                        <a:buNone/>
                      </a:pPr>
                      <a:r>
                        <a:rPr lang="en-US" sz="1000" b="1" i="0" u="none" strike="noStrike" cap="none">
                          <a:solidFill>
                            <a:schemeClr val="lt1"/>
                          </a:solidFill>
                          <a:latin typeface="Arial"/>
                          <a:ea typeface="Arial"/>
                          <a:cs typeface="Arial"/>
                          <a:sym typeface="Arial"/>
                        </a:rPr>
                        <a:t>IP Vulnerabilities and Threats</a:t>
                      </a:r>
                      <a:endParaRPr sz="1000" b="0" u="none" strike="noStrike" cap="none">
                        <a:solidFill>
                          <a:schemeClr val="lt1"/>
                        </a:solidFill>
                      </a:endParaRPr>
                    </a:p>
                  </a:txBody>
                  <a:tcPr marL="47625" marR="47625" marT="47625" marB="47625" anchor="ctr">
                    <a:solidFill>
                      <a:schemeClr val="accent1"/>
                    </a:solidFill>
                  </a:tcPr>
                </a:tc>
                <a:tc>
                  <a:txBody>
                    <a:bodyPr/>
                    <a:lstStyle/>
                    <a:p>
                      <a:pPr marL="0" marR="0" lvl="0" indent="0" algn="l" rtl="0">
                        <a:spcBef>
                          <a:spcPts val="0"/>
                        </a:spcBef>
                        <a:spcAft>
                          <a:spcPts val="0"/>
                        </a:spcAft>
                        <a:buNone/>
                      </a:pPr>
                      <a:r>
                        <a:rPr lang="en-US" sz="1000" b="0" i="0" u="none" strike="noStrike" cap="none">
                          <a:solidFill>
                            <a:schemeClr val="dk1"/>
                          </a:solidFill>
                          <a:latin typeface="Arial"/>
                          <a:ea typeface="Arial"/>
                          <a:cs typeface="Arial"/>
                          <a:sym typeface="Arial"/>
                        </a:rPr>
                        <a:t>Explain how IP vulnerabilities are exploited by threat actors.</a:t>
                      </a:r>
                      <a:endParaRPr sz="1000" b="0" u="none" strike="noStrike" cap="none"/>
                    </a:p>
                  </a:txBody>
                  <a:tcPr marL="47625" marR="47625" marT="47625" marB="47625" anchor="ctr"/>
                </a:tc>
                <a:extLst>
                  <a:ext uri="{0D108BD9-81ED-4DB2-BD59-A6C34878D82A}">
                    <a16:rowId xmlns:a16="http://schemas.microsoft.com/office/drawing/2014/main" val="10005"/>
                  </a:ext>
                </a:extLst>
              </a:tr>
              <a:tr h="272850">
                <a:tc>
                  <a:txBody>
                    <a:bodyPr/>
                    <a:lstStyle/>
                    <a:p>
                      <a:pPr marL="0" marR="0" lvl="0" indent="0" algn="l" rtl="0">
                        <a:spcBef>
                          <a:spcPts val="0"/>
                        </a:spcBef>
                        <a:spcAft>
                          <a:spcPts val="0"/>
                        </a:spcAft>
                        <a:buNone/>
                      </a:pPr>
                      <a:r>
                        <a:rPr lang="en-US" sz="1000" b="1" i="0" u="none" strike="noStrike" cap="none">
                          <a:solidFill>
                            <a:schemeClr val="lt1"/>
                          </a:solidFill>
                          <a:latin typeface="Arial"/>
                          <a:ea typeface="Arial"/>
                          <a:cs typeface="Arial"/>
                          <a:sym typeface="Arial"/>
                        </a:rPr>
                        <a:t>TCP and UDP Vulnerabilities</a:t>
                      </a:r>
                      <a:endParaRPr sz="1000" b="0" u="none" strike="noStrike" cap="none">
                        <a:solidFill>
                          <a:schemeClr val="lt1"/>
                        </a:solidFill>
                      </a:endParaRPr>
                    </a:p>
                  </a:txBody>
                  <a:tcPr marL="47625" marR="47625" marT="47625" marB="47625" anchor="ctr">
                    <a:solidFill>
                      <a:schemeClr val="accent1"/>
                    </a:solidFill>
                  </a:tcPr>
                </a:tc>
                <a:tc>
                  <a:txBody>
                    <a:bodyPr/>
                    <a:lstStyle/>
                    <a:p>
                      <a:pPr marL="0" marR="0" lvl="0" indent="0" algn="l" rtl="0">
                        <a:spcBef>
                          <a:spcPts val="0"/>
                        </a:spcBef>
                        <a:spcAft>
                          <a:spcPts val="0"/>
                        </a:spcAft>
                        <a:buNone/>
                      </a:pPr>
                      <a:r>
                        <a:rPr lang="en-US" sz="1000" b="0" i="0" u="none" strike="noStrike" cap="none">
                          <a:solidFill>
                            <a:schemeClr val="dk1"/>
                          </a:solidFill>
                          <a:latin typeface="Arial"/>
                          <a:ea typeface="Arial"/>
                          <a:cs typeface="Arial"/>
                          <a:sym typeface="Arial"/>
                        </a:rPr>
                        <a:t>Explain how TCP and UDP vulnerabilities are exploited by threat actors.</a:t>
                      </a:r>
                      <a:endParaRPr sz="1000" b="0" u="none" strike="noStrike" cap="none"/>
                    </a:p>
                  </a:txBody>
                  <a:tcPr marL="47625" marR="47625" marT="47625" marB="47625" anchor="ctr"/>
                </a:tc>
                <a:extLst>
                  <a:ext uri="{0D108BD9-81ED-4DB2-BD59-A6C34878D82A}">
                    <a16:rowId xmlns:a16="http://schemas.microsoft.com/office/drawing/2014/main" val="10006"/>
                  </a:ext>
                </a:extLst>
              </a:tr>
              <a:tr h="272850">
                <a:tc>
                  <a:txBody>
                    <a:bodyPr/>
                    <a:lstStyle/>
                    <a:p>
                      <a:pPr marL="0" marR="0" lvl="0" indent="0" algn="l" rtl="0">
                        <a:spcBef>
                          <a:spcPts val="0"/>
                        </a:spcBef>
                        <a:spcAft>
                          <a:spcPts val="0"/>
                        </a:spcAft>
                        <a:buNone/>
                      </a:pPr>
                      <a:r>
                        <a:rPr lang="en-US" sz="1000" b="1" i="0" u="none" strike="noStrike" cap="none">
                          <a:solidFill>
                            <a:schemeClr val="lt1"/>
                          </a:solidFill>
                          <a:latin typeface="Arial"/>
                          <a:ea typeface="Arial"/>
                          <a:cs typeface="Arial"/>
                          <a:sym typeface="Arial"/>
                        </a:rPr>
                        <a:t>IP Services</a:t>
                      </a:r>
                      <a:endParaRPr sz="1000" b="0" u="none" strike="noStrike" cap="none">
                        <a:solidFill>
                          <a:schemeClr val="lt1"/>
                        </a:solidFill>
                      </a:endParaRPr>
                    </a:p>
                  </a:txBody>
                  <a:tcPr marL="47625" marR="47625" marT="47625" marB="47625" anchor="ctr">
                    <a:solidFill>
                      <a:schemeClr val="accent1"/>
                    </a:solidFill>
                  </a:tcPr>
                </a:tc>
                <a:tc>
                  <a:txBody>
                    <a:bodyPr/>
                    <a:lstStyle/>
                    <a:p>
                      <a:pPr marL="0" marR="0" lvl="0" indent="0" algn="l" rtl="0">
                        <a:spcBef>
                          <a:spcPts val="0"/>
                        </a:spcBef>
                        <a:spcAft>
                          <a:spcPts val="0"/>
                        </a:spcAft>
                        <a:buNone/>
                      </a:pPr>
                      <a:r>
                        <a:rPr lang="en-US" sz="1000" b="0" i="0" u="none" strike="noStrike" cap="none">
                          <a:solidFill>
                            <a:schemeClr val="dk1"/>
                          </a:solidFill>
                          <a:latin typeface="Arial"/>
                          <a:ea typeface="Arial"/>
                          <a:cs typeface="Arial"/>
                          <a:sym typeface="Arial"/>
                        </a:rPr>
                        <a:t>Explain how IP services are exploited by threat actors.</a:t>
                      </a:r>
                      <a:endParaRPr sz="1000" b="0" u="none" strike="noStrike" cap="none"/>
                    </a:p>
                  </a:txBody>
                  <a:tcPr marL="47625" marR="47625" marT="47625" marB="47625" anchor="ctr"/>
                </a:tc>
                <a:extLst>
                  <a:ext uri="{0D108BD9-81ED-4DB2-BD59-A6C34878D82A}">
                    <a16:rowId xmlns:a16="http://schemas.microsoft.com/office/drawing/2014/main" val="10007"/>
                  </a:ext>
                </a:extLst>
              </a:tr>
              <a:tr h="272850">
                <a:tc>
                  <a:txBody>
                    <a:bodyPr/>
                    <a:lstStyle/>
                    <a:p>
                      <a:pPr marL="0" marR="0" lvl="0" indent="0" algn="l" rtl="0">
                        <a:spcBef>
                          <a:spcPts val="0"/>
                        </a:spcBef>
                        <a:spcAft>
                          <a:spcPts val="0"/>
                        </a:spcAft>
                        <a:buNone/>
                      </a:pPr>
                      <a:r>
                        <a:rPr lang="en-US" sz="1000" b="1" i="0" u="none" strike="noStrike" cap="none">
                          <a:solidFill>
                            <a:schemeClr val="lt1"/>
                          </a:solidFill>
                          <a:latin typeface="Arial"/>
                          <a:ea typeface="Arial"/>
                          <a:cs typeface="Arial"/>
                          <a:sym typeface="Arial"/>
                        </a:rPr>
                        <a:t>Network Security Best Practices</a:t>
                      </a:r>
                      <a:endParaRPr sz="1000" b="0" u="none" strike="noStrike" cap="none">
                        <a:solidFill>
                          <a:schemeClr val="lt1"/>
                        </a:solidFill>
                      </a:endParaRPr>
                    </a:p>
                  </a:txBody>
                  <a:tcPr marL="47625" marR="47625" marT="47625" marB="47625" anchor="ctr">
                    <a:solidFill>
                      <a:schemeClr val="accent1"/>
                    </a:solidFill>
                  </a:tcPr>
                </a:tc>
                <a:tc>
                  <a:txBody>
                    <a:bodyPr/>
                    <a:lstStyle/>
                    <a:p>
                      <a:pPr marL="0" marR="0" lvl="0" indent="0" algn="l" rtl="0">
                        <a:spcBef>
                          <a:spcPts val="0"/>
                        </a:spcBef>
                        <a:spcAft>
                          <a:spcPts val="0"/>
                        </a:spcAft>
                        <a:buNone/>
                      </a:pPr>
                      <a:r>
                        <a:rPr lang="en-US" sz="1000" b="0" i="0" u="none" strike="noStrike" cap="none">
                          <a:solidFill>
                            <a:schemeClr val="dk1"/>
                          </a:solidFill>
                          <a:latin typeface="Arial"/>
                          <a:ea typeface="Arial"/>
                          <a:cs typeface="Arial"/>
                          <a:sym typeface="Arial"/>
                        </a:rPr>
                        <a:t>Describe best practices for protecting a network.</a:t>
                      </a:r>
                      <a:endParaRPr sz="1000" b="0" u="none" strike="noStrike" cap="none"/>
                    </a:p>
                  </a:txBody>
                  <a:tcPr marL="47625" marR="47625" marT="47625" marB="47625" anchor="ctr"/>
                </a:tc>
                <a:extLst>
                  <a:ext uri="{0D108BD9-81ED-4DB2-BD59-A6C34878D82A}">
                    <a16:rowId xmlns:a16="http://schemas.microsoft.com/office/drawing/2014/main" val="10008"/>
                  </a:ext>
                </a:extLst>
              </a:tr>
              <a:tr h="272850">
                <a:tc>
                  <a:txBody>
                    <a:bodyPr/>
                    <a:lstStyle/>
                    <a:p>
                      <a:pPr marL="0" marR="0" lvl="0" indent="0" algn="l" rtl="0">
                        <a:spcBef>
                          <a:spcPts val="0"/>
                        </a:spcBef>
                        <a:spcAft>
                          <a:spcPts val="0"/>
                        </a:spcAft>
                        <a:buNone/>
                      </a:pPr>
                      <a:r>
                        <a:rPr lang="en-US" sz="1000" b="1" i="0" u="none" strike="noStrike" cap="none">
                          <a:solidFill>
                            <a:schemeClr val="lt1"/>
                          </a:solidFill>
                          <a:latin typeface="Arial"/>
                          <a:ea typeface="Arial"/>
                          <a:cs typeface="Arial"/>
                          <a:sym typeface="Arial"/>
                        </a:rPr>
                        <a:t>Cryptography</a:t>
                      </a:r>
                      <a:endParaRPr sz="1000" b="0" u="none" strike="noStrike" cap="none">
                        <a:solidFill>
                          <a:schemeClr val="lt1"/>
                        </a:solidFill>
                      </a:endParaRPr>
                    </a:p>
                  </a:txBody>
                  <a:tcPr marL="47625" marR="47625" marT="47625" marB="47625" anchor="ctr">
                    <a:solidFill>
                      <a:schemeClr val="accent1"/>
                    </a:solidFill>
                  </a:tcPr>
                </a:tc>
                <a:tc>
                  <a:txBody>
                    <a:bodyPr/>
                    <a:lstStyle/>
                    <a:p>
                      <a:pPr marL="0" marR="0" lvl="0" indent="0" algn="l" rtl="0">
                        <a:spcBef>
                          <a:spcPts val="0"/>
                        </a:spcBef>
                        <a:spcAft>
                          <a:spcPts val="0"/>
                        </a:spcAft>
                        <a:buNone/>
                      </a:pPr>
                      <a:r>
                        <a:rPr lang="en-US" sz="1000" b="0" i="0" u="none" strike="noStrike" cap="none">
                          <a:solidFill>
                            <a:schemeClr val="dk1"/>
                          </a:solidFill>
                          <a:latin typeface="Arial"/>
                          <a:ea typeface="Arial"/>
                          <a:cs typeface="Arial"/>
                          <a:sym typeface="Arial"/>
                        </a:rPr>
                        <a:t>Describe common cryptographic processes used to protect data in transit.</a:t>
                      </a:r>
                      <a:endParaRPr sz="1000" b="0" u="none" strike="noStrike" cap="none"/>
                    </a:p>
                  </a:txBody>
                  <a:tcPr marL="47625" marR="47625" marT="47625" marB="47625" anchor="ctr"/>
                </a:tc>
                <a:extLst>
                  <a:ext uri="{0D108BD9-81ED-4DB2-BD59-A6C34878D82A}">
                    <a16:rowId xmlns:a16="http://schemas.microsoft.com/office/drawing/2014/main" val="10009"/>
                  </a:ext>
                </a:extLst>
              </a:tr>
            </a:tbl>
          </a:graphicData>
        </a:graphic>
      </p:graphicFrame>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p3"/>
          <p:cNvSpPr txBox="1">
            <a:spLocks noGrp="1"/>
          </p:cNvSpPr>
          <p:nvPr>
            <p:ph type="ctrTitle"/>
          </p:nvPr>
        </p:nvSpPr>
        <p:spPr>
          <a:xfrm>
            <a:off x="416425" y="1788160"/>
            <a:ext cx="7598042" cy="929640"/>
          </a:xfrm>
          <a:prstGeom prst="rect">
            <a:avLst/>
          </a:prstGeom>
          <a:noFill/>
          <a:ln>
            <a:noFill/>
          </a:ln>
        </p:spPr>
        <p:txBody>
          <a:bodyPr spcFirstLastPara="1" wrap="square" lIns="91400" tIns="45700" rIns="91400" bIns="45700" anchor="b" anchorCtr="0">
            <a:noAutofit/>
          </a:bodyPr>
          <a:lstStyle/>
          <a:p>
            <a:pPr marL="0" lvl="0" indent="0" algn="l" rtl="0">
              <a:lnSpc>
                <a:spcPct val="90000"/>
              </a:lnSpc>
              <a:spcBef>
                <a:spcPts val="0"/>
              </a:spcBef>
              <a:spcAft>
                <a:spcPts val="0"/>
              </a:spcAft>
              <a:buClr>
                <a:srgbClr val="AEE8FA"/>
              </a:buClr>
              <a:buSzPts val="4600"/>
              <a:buFont typeface="Arial"/>
              <a:buNone/>
            </a:pPr>
            <a:r>
              <a:rPr lang="en-US">
                <a:solidFill>
                  <a:srgbClr val="AEE8FA"/>
                </a:solidFill>
              </a:rPr>
              <a:t>3.1 Current State of Cybersecurity</a:t>
            </a:r>
            <a:endParaRP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p4"/>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Current State of Cybersecurity</a:t>
            </a:r>
            <a:br>
              <a:rPr lang="en-US"/>
            </a:br>
            <a:r>
              <a:rPr lang="en-US" sz="2400"/>
              <a:t>Current State of Affairs</a:t>
            </a:r>
            <a:endParaRPr/>
          </a:p>
        </p:txBody>
      </p:sp>
      <p:sp>
        <p:nvSpPr>
          <p:cNvPr id="700" name="Google Shape;700;p4"/>
          <p:cNvSpPr txBox="1">
            <a:spLocks noGrp="1"/>
          </p:cNvSpPr>
          <p:nvPr>
            <p:ph type="body" idx="1"/>
          </p:nvPr>
        </p:nvSpPr>
        <p:spPr>
          <a:xfrm>
            <a:off x="474662" y="731836"/>
            <a:ext cx="8280057" cy="1043801"/>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400"/>
              <a:buFont typeface="Arial"/>
              <a:buChar char="•"/>
            </a:pPr>
            <a:r>
              <a:rPr lang="en-US" sz="1400">
                <a:solidFill>
                  <a:srgbClr val="000000"/>
                </a:solidFill>
              </a:rPr>
              <a:t>Cyber criminals now have the expertise and tools necessary to take down critical infrastructure and systems. Their tools and techniques continue to evolve.</a:t>
            </a:r>
            <a:endParaRPr/>
          </a:p>
          <a:p>
            <a:pPr marL="342900" lvl="0" indent="-342900" algn="l" rtl="0">
              <a:lnSpc>
                <a:spcPct val="100000"/>
              </a:lnSpc>
              <a:spcBef>
                <a:spcPts val="280"/>
              </a:spcBef>
              <a:spcAft>
                <a:spcPts val="0"/>
              </a:spcAft>
              <a:buSzPts val="1400"/>
              <a:buFont typeface="Arial"/>
              <a:buChar char="•"/>
            </a:pPr>
            <a:r>
              <a:rPr lang="en-US" sz="1400">
                <a:solidFill>
                  <a:srgbClr val="000000"/>
                </a:solidFill>
              </a:rPr>
              <a:t>Maintaining a secure network ensures the safety of network users and protects commercial interests. All users should be aware of security terms in the table.</a:t>
            </a:r>
            <a:endParaRPr/>
          </a:p>
        </p:txBody>
      </p:sp>
      <p:graphicFrame>
        <p:nvGraphicFramePr>
          <p:cNvPr id="701" name="Google Shape;701;p4"/>
          <p:cNvGraphicFramePr/>
          <p:nvPr/>
        </p:nvGraphicFramePr>
        <p:xfrm>
          <a:off x="636104" y="1876565"/>
          <a:ext cx="7709400" cy="2678430"/>
        </p:xfrm>
        <a:graphic>
          <a:graphicData uri="http://schemas.openxmlformats.org/drawingml/2006/table">
            <a:tbl>
              <a:tblPr firstRow="1" bandRow="1">
                <a:noFill/>
                <a:tableStyleId>{0DCACE81-CCCA-460A-ACD2-FE0297909B90}</a:tableStyleId>
              </a:tblPr>
              <a:tblGrid>
                <a:gridCol w="1478950">
                  <a:extLst>
                    <a:ext uri="{9D8B030D-6E8A-4147-A177-3AD203B41FA5}">
                      <a16:colId xmlns:a16="http://schemas.microsoft.com/office/drawing/2014/main" val="20000"/>
                    </a:ext>
                  </a:extLst>
                </a:gridCol>
                <a:gridCol w="6230450">
                  <a:extLst>
                    <a:ext uri="{9D8B030D-6E8A-4147-A177-3AD203B41FA5}">
                      <a16:colId xmlns:a16="http://schemas.microsoft.com/office/drawing/2014/main" val="20001"/>
                    </a:ext>
                  </a:extLst>
                </a:gridCol>
              </a:tblGrid>
              <a:tr h="248875">
                <a:tc>
                  <a:txBody>
                    <a:bodyPr/>
                    <a:lstStyle/>
                    <a:p>
                      <a:pPr marL="0" marR="0" lvl="0" indent="0" algn="l" rtl="0">
                        <a:spcBef>
                          <a:spcPts val="0"/>
                        </a:spcBef>
                        <a:spcAft>
                          <a:spcPts val="0"/>
                        </a:spcAft>
                        <a:buNone/>
                      </a:pPr>
                      <a:r>
                        <a:rPr lang="en-US" sz="1200" b="1" u="none" strike="noStrike" cap="none"/>
                        <a:t>Security Terms</a:t>
                      </a:r>
                      <a:endParaRPr sz="1200" u="none" strike="noStrike" cap="none"/>
                    </a:p>
                  </a:txBody>
                  <a:tcPr marL="47625" marR="47625" marT="47625" marB="47625" anchor="ctr"/>
                </a:tc>
                <a:tc>
                  <a:txBody>
                    <a:bodyPr/>
                    <a:lstStyle/>
                    <a:p>
                      <a:pPr marL="0" marR="0" lvl="0" indent="0" algn="l" rtl="0">
                        <a:spcBef>
                          <a:spcPts val="0"/>
                        </a:spcBef>
                        <a:spcAft>
                          <a:spcPts val="0"/>
                        </a:spcAft>
                        <a:buNone/>
                      </a:pPr>
                      <a:r>
                        <a:rPr lang="en-US" sz="1200" b="1" u="none" strike="noStrike" cap="none"/>
                        <a:t>Description</a:t>
                      </a:r>
                      <a:endParaRPr sz="1200" u="none" strike="noStrike" cap="none"/>
                    </a:p>
                  </a:txBody>
                  <a:tcPr marL="47625" marR="47625" marT="47625" marB="47625" anchor="ctr"/>
                </a:tc>
                <a:extLst>
                  <a:ext uri="{0D108BD9-81ED-4DB2-BD59-A6C34878D82A}">
                    <a16:rowId xmlns:a16="http://schemas.microsoft.com/office/drawing/2014/main" val="10000"/>
                  </a:ext>
                </a:extLst>
              </a:tr>
              <a:tr h="412500">
                <a:tc>
                  <a:txBody>
                    <a:bodyPr/>
                    <a:lstStyle/>
                    <a:p>
                      <a:pPr marL="0" marR="0" lvl="0" indent="0" algn="l" rtl="0">
                        <a:spcBef>
                          <a:spcPts val="0"/>
                        </a:spcBef>
                        <a:spcAft>
                          <a:spcPts val="0"/>
                        </a:spcAft>
                        <a:buNone/>
                      </a:pPr>
                      <a:r>
                        <a:rPr lang="en-US" sz="1200" b="1" u="none" strike="noStrike" cap="none"/>
                        <a:t>Assets</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An asset is anything of value to the organization. It includes people, equipment, resources, and data.</a:t>
                      </a:r>
                      <a:endParaRPr/>
                    </a:p>
                  </a:txBody>
                  <a:tcPr marL="47625" marR="47625" marT="47625" marB="47625" anchor="ctr"/>
                </a:tc>
                <a:extLst>
                  <a:ext uri="{0D108BD9-81ED-4DB2-BD59-A6C34878D82A}">
                    <a16:rowId xmlns:a16="http://schemas.microsoft.com/office/drawing/2014/main" val="10001"/>
                  </a:ext>
                </a:extLst>
              </a:tr>
              <a:tr h="248875">
                <a:tc>
                  <a:txBody>
                    <a:bodyPr/>
                    <a:lstStyle/>
                    <a:p>
                      <a:pPr marL="0" marR="0" lvl="0" indent="0" algn="l" rtl="0">
                        <a:spcBef>
                          <a:spcPts val="0"/>
                        </a:spcBef>
                        <a:spcAft>
                          <a:spcPts val="0"/>
                        </a:spcAft>
                        <a:buNone/>
                      </a:pPr>
                      <a:r>
                        <a:rPr lang="en-US" sz="1200" b="1" u="none" strike="noStrike" cap="none"/>
                        <a:t>Vulnerability</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A vulnerability is a weakness in a system, or its design, that could be exploited by a threat.</a:t>
                      </a:r>
                      <a:endParaRPr/>
                    </a:p>
                  </a:txBody>
                  <a:tcPr marL="47625" marR="47625" marT="47625" marB="47625" anchor="ctr"/>
                </a:tc>
                <a:extLst>
                  <a:ext uri="{0D108BD9-81ED-4DB2-BD59-A6C34878D82A}">
                    <a16:rowId xmlns:a16="http://schemas.microsoft.com/office/drawing/2014/main" val="10002"/>
                  </a:ext>
                </a:extLst>
              </a:tr>
              <a:tr h="248875">
                <a:tc>
                  <a:txBody>
                    <a:bodyPr/>
                    <a:lstStyle/>
                    <a:p>
                      <a:pPr marL="0" marR="0" lvl="0" indent="0" algn="l" rtl="0">
                        <a:spcBef>
                          <a:spcPts val="0"/>
                        </a:spcBef>
                        <a:spcAft>
                          <a:spcPts val="0"/>
                        </a:spcAft>
                        <a:buNone/>
                      </a:pPr>
                      <a:r>
                        <a:rPr lang="en-US" sz="1200" b="1" u="none" strike="noStrike" cap="none"/>
                        <a:t>Threat</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A threat is a potential danger to a company’s assets, data, or network functionality.</a:t>
                      </a:r>
                      <a:endParaRPr/>
                    </a:p>
                  </a:txBody>
                  <a:tcPr marL="47625" marR="47625" marT="47625" marB="47625" anchor="ctr"/>
                </a:tc>
                <a:extLst>
                  <a:ext uri="{0D108BD9-81ED-4DB2-BD59-A6C34878D82A}">
                    <a16:rowId xmlns:a16="http://schemas.microsoft.com/office/drawing/2014/main" val="10003"/>
                  </a:ext>
                </a:extLst>
              </a:tr>
              <a:tr h="248875">
                <a:tc>
                  <a:txBody>
                    <a:bodyPr/>
                    <a:lstStyle/>
                    <a:p>
                      <a:pPr marL="0" marR="0" lvl="0" indent="0" algn="l" rtl="0">
                        <a:spcBef>
                          <a:spcPts val="0"/>
                        </a:spcBef>
                        <a:spcAft>
                          <a:spcPts val="0"/>
                        </a:spcAft>
                        <a:buNone/>
                      </a:pPr>
                      <a:r>
                        <a:rPr lang="en-US" sz="1200" b="1" u="none" strike="noStrike" cap="none"/>
                        <a:t>Exploit</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An exploit is a mechanism that takes advantage of a vulnerability.</a:t>
                      </a:r>
                      <a:endParaRPr/>
                    </a:p>
                  </a:txBody>
                  <a:tcPr marL="47625" marR="47625" marT="47625" marB="47625" anchor="ctr"/>
                </a:tc>
                <a:extLst>
                  <a:ext uri="{0D108BD9-81ED-4DB2-BD59-A6C34878D82A}">
                    <a16:rowId xmlns:a16="http://schemas.microsoft.com/office/drawing/2014/main" val="10004"/>
                  </a:ext>
                </a:extLst>
              </a:tr>
              <a:tr h="412500">
                <a:tc>
                  <a:txBody>
                    <a:bodyPr/>
                    <a:lstStyle/>
                    <a:p>
                      <a:pPr marL="0" marR="0" lvl="0" indent="0" algn="l" rtl="0">
                        <a:spcBef>
                          <a:spcPts val="0"/>
                        </a:spcBef>
                        <a:spcAft>
                          <a:spcPts val="0"/>
                        </a:spcAft>
                        <a:buNone/>
                      </a:pPr>
                      <a:r>
                        <a:rPr lang="en-US" sz="1200" b="1" u="none" strike="noStrike" cap="none"/>
                        <a:t>Mitigation</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Mitigation is the counter-measure that reduces the likelihood or severity of a potential threat or risk. Network security involves multiple mitigation techniques.</a:t>
                      </a:r>
                      <a:endParaRPr/>
                    </a:p>
                  </a:txBody>
                  <a:tcPr marL="47625" marR="47625" marT="47625" marB="47625" anchor="ctr"/>
                </a:tc>
                <a:extLst>
                  <a:ext uri="{0D108BD9-81ED-4DB2-BD59-A6C34878D82A}">
                    <a16:rowId xmlns:a16="http://schemas.microsoft.com/office/drawing/2014/main" val="10005"/>
                  </a:ext>
                </a:extLst>
              </a:tr>
              <a:tr h="576150">
                <a:tc>
                  <a:txBody>
                    <a:bodyPr/>
                    <a:lstStyle/>
                    <a:p>
                      <a:pPr marL="0" marR="0" lvl="0" indent="0" algn="l" rtl="0">
                        <a:spcBef>
                          <a:spcPts val="0"/>
                        </a:spcBef>
                        <a:spcAft>
                          <a:spcPts val="0"/>
                        </a:spcAft>
                        <a:buNone/>
                      </a:pPr>
                      <a:r>
                        <a:rPr lang="en-US" sz="1200" b="1" u="none" strike="noStrike" cap="none"/>
                        <a:t>Risk</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Risk is the likelihood of a threat to exploit the vulnerability of an asset, with the aim of negatively affecting an organization. Risk is measured using the probability of the occurrence of an event and its consequences.</a:t>
                      </a:r>
                      <a:endParaRPr/>
                    </a:p>
                  </a:txBody>
                  <a:tcPr marL="47625" marR="47625" marT="47625" marB="47625" anchor="ct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5"/>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Current State of Cybersecurity</a:t>
            </a:r>
            <a:br>
              <a:rPr lang="en-US"/>
            </a:br>
            <a:r>
              <a:rPr lang="en-US" sz="2400"/>
              <a:t>Vectors of Network Attacks</a:t>
            </a:r>
            <a:endParaRPr/>
          </a:p>
        </p:txBody>
      </p:sp>
      <p:sp>
        <p:nvSpPr>
          <p:cNvPr id="708" name="Google Shape;708;p5"/>
          <p:cNvSpPr txBox="1">
            <a:spLocks noGrp="1"/>
          </p:cNvSpPr>
          <p:nvPr>
            <p:ph type="body" idx="1"/>
          </p:nvPr>
        </p:nvSpPr>
        <p:spPr>
          <a:xfrm>
            <a:off x="474662" y="731838"/>
            <a:ext cx="8280057" cy="1033168"/>
          </a:xfrm>
          <a:prstGeom prst="rect">
            <a:avLst/>
          </a:prstGeom>
          <a:noFill/>
          <a:ln>
            <a:noFill/>
          </a:ln>
        </p:spPr>
        <p:txBody>
          <a:bodyPr spcFirstLastPara="1" wrap="square" lIns="91400" tIns="45700" rIns="91400" bIns="45700" anchor="t" anchorCtr="0">
            <a:noAutofit/>
          </a:bodyPr>
          <a:lstStyle/>
          <a:p>
            <a:pPr marL="285750" lvl="0" indent="-285750" algn="l" rtl="0">
              <a:lnSpc>
                <a:spcPct val="100000"/>
              </a:lnSpc>
              <a:spcBef>
                <a:spcPts val="0"/>
              </a:spcBef>
              <a:spcAft>
                <a:spcPts val="0"/>
              </a:spcAft>
              <a:buSzPts val="1400"/>
              <a:buFont typeface="Arial"/>
              <a:buChar char="•"/>
            </a:pPr>
            <a:r>
              <a:rPr lang="en-US" sz="1400">
                <a:solidFill>
                  <a:srgbClr val="000000"/>
                </a:solidFill>
              </a:rPr>
              <a:t>An attack vector is a path by which a threat actor can gain access to a server, host, or network. Attack vectors originate from inside or outside the corporate network, as shown in the figure. </a:t>
            </a:r>
            <a:endParaRPr/>
          </a:p>
          <a:p>
            <a:pPr marL="285750" lvl="0" indent="-285750" algn="l" rtl="0">
              <a:lnSpc>
                <a:spcPct val="100000"/>
              </a:lnSpc>
              <a:spcBef>
                <a:spcPts val="280"/>
              </a:spcBef>
              <a:spcAft>
                <a:spcPts val="0"/>
              </a:spcAft>
              <a:buSzPts val="1400"/>
              <a:buFont typeface="Arial"/>
              <a:buChar char="•"/>
            </a:pPr>
            <a:r>
              <a:rPr lang="en-US" sz="1400">
                <a:solidFill>
                  <a:srgbClr val="000000"/>
                </a:solidFill>
              </a:rPr>
              <a:t>Internal threats have the potential to cause greater damage than external threats because internal users have direct access to the building and its infrastructure devices. </a:t>
            </a:r>
            <a:endParaRPr/>
          </a:p>
        </p:txBody>
      </p:sp>
      <p:pic>
        <p:nvPicPr>
          <p:cNvPr id="709" name="Google Shape;709;p5"/>
          <p:cNvPicPr preferRelativeResize="0"/>
          <p:nvPr/>
        </p:nvPicPr>
        <p:blipFill rotWithShape="1">
          <a:blip r:embed="rId3">
            <a:alphaModFix/>
          </a:blip>
          <a:srcRect/>
          <a:stretch/>
        </p:blipFill>
        <p:spPr>
          <a:xfrm>
            <a:off x="2224342" y="1859852"/>
            <a:ext cx="4695315" cy="279244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6"/>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Current State of Cybersecurity</a:t>
            </a:r>
            <a:br>
              <a:rPr lang="en-US"/>
            </a:br>
            <a:r>
              <a:rPr lang="en-US" sz="2400"/>
              <a:t>Data Loss</a:t>
            </a:r>
            <a:endParaRPr/>
          </a:p>
        </p:txBody>
      </p:sp>
      <p:sp>
        <p:nvSpPr>
          <p:cNvPr id="716" name="Google Shape;716;p6"/>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Data loss or data exfiltration is when data is intentionally or unintentionally lost, stolen, or leaked to the outside world. The data loss can result in:</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Brand damage and loss of reputation</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Loss of competitive advantage</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Loss of customers</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Loss of revenue</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Litigation/legal action resulting in fines and civil penalties</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Significant cost and effort to notify affected parties and recover from the breach</a:t>
            </a:r>
            <a:endParaRPr/>
          </a:p>
          <a:p>
            <a:pPr marL="0" lvl="0" indent="0" algn="l" rtl="0">
              <a:lnSpc>
                <a:spcPct val="100000"/>
              </a:lnSpc>
              <a:spcBef>
                <a:spcPts val="320"/>
              </a:spcBef>
              <a:spcAft>
                <a:spcPts val="0"/>
              </a:spcAft>
              <a:buSzPts val="1600"/>
              <a:buNone/>
            </a:pPr>
            <a:r>
              <a:rPr lang="en-US" sz="1600">
                <a:solidFill>
                  <a:srgbClr val="000000"/>
                </a:solidFill>
              </a:rPr>
              <a:t>Network security professionals must protect the organization’s data. Various Data Loss Prevention (DLP) controls must be implemented which combine strategic, operational and tactical measures.</a:t>
            </a:r>
            <a:endParaRPr/>
          </a:p>
          <a:p>
            <a:pPr marL="342900" lvl="0" indent="-241300" algn="l" rtl="0">
              <a:lnSpc>
                <a:spcPct val="100000"/>
              </a:lnSpc>
              <a:spcBef>
                <a:spcPts val="320"/>
              </a:spcBef>
              <a:spcAft>
                <a:spcPts val="0"/>
              </a:spcAft>
              <a:buSzPts val="1600"/>
              <a:buFont typeface="Arial"/>
              <a:buNone/>
            </a:pPr>
            <a:endParaRPr sz="16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7"/>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Current State of Cybersecurity</a:t>
            </a:r>
            <a:br>
              <a:rPr lang="en-US"/>
            </a:br>
            <a:r>
              <a:rPr lang="en-US" sz="2400"/>
              <a:t>Data Loss (Cont.)</a:t>
            </a:r>
            <a:endParaRPr/>
          </a:p>
        </p:txBody>
      </p:sp>
      <p:graphicFrame>
        <p:nvGraphicFramePr>
          <p:cNvPr id="723" name="Google Shape;723;p7"/>
          <p:cNvGraphicFramePr/>
          <p:nvPr/>
        </p:nvGraphicFramePr>
        <p:xfrm>
          <a:off x="413135" y="1141095"/>
          <a:ext cx="8082150" cy="2861310"/>
        </p:xfrm>
        <a:graphic>
          <a:graphicData uri="http://schemas.openxmlformats.org/drawingml/2006/table">
            <a:tbl>
              <a:tblPr firstRow="1" bandRow="1">
                <a:noFill/>
                <a:tableStyleId>{0DCACE81-CCCA-460A-ACD2-FE0297909B90}</a:tableStyleId>
              </a:tblPr>
              <a:tblGrid>
                <a:gridCol w="1686325">
                  <a:extLst>
                    <a:ext uri="{9D8B030D-6E8A-4147-A177-3AD203B41FA5}">
                      <a16:colId xmlns:a16="http://schemas.microsoft.com/office/drawing/2014/main" val="20000"/>
                    </a:ext>
                  </a:extLst>
                </a:gridCol>
                <a:gridCol w="6395825">
                  <a:extLst>
                    <a:ext uri="{9D8B030D-6E8A-4147-A177-3AD203B41FA5}">
                      <a16:colId xmlns:a16="http://schemas.microsoft.com/office/drawing/2014/main" val="20001"/>
                    </a:ext>
                  </a:extLst>
                </a:gridCol>
              </a:tblGrid>
              <a:tr h="184450">
                <a:tc>
                  <a:txBody>
                    <a:bodyPr/>
                    <a:lstStyle/>
                    <a:p>
                      <a:pPr marL="0" marR="0" lvl="0" indent="0" algn="l" rtl="0">
                        <a:spcBef>
                          <a:spcPts val="0"/>
                        </a:spcBef>
                        <a:spcAft>
                          <a:spcPts val="0"/>
                        </a:spcAft>
                        <a:buNone/>
                      </a:pPr>
                      <a:r>
                        <a:rPr lang="en-US" sz="1200" b="1" u="none" strike="noStrike" cap="none"/>
                        <a:t>Data Loss Vectors</a:t>
                      </a:r>
                      <a:endParaRPr sz="1200" u="none" strike="noStrike" cap="none"/>
                    </a:p>
                  </a:txBody>
                  <a:tcPr marL="47625" marR="47625" marT="47625" marB="47625" anchor="ctr"/>
                </a:tc>
                <a:tc>
                  <a:txBody>
                    <a:bodyPr/>
                    <a:lstStyle/>
                    <a:p>
                      <a:pPr marL="0" marR="0" lvl="0" indent="0" algn="l" rtl="0">
                        <a:spcBef>
                          <a:spcPts val="0"/>
                        </a:spcBef>
                        <a:spcAft>
                          <a:spcPts val="0"/>
                        </a:spcAft>
                        <a:buNone/>
                      </a:pPr>
                      <a:r>
                        <a:rPr lang="en-US" sz="1200" b="1" u="none" strike="noStrike" cap="none"/>
                        <a:t>Description</a:t>
                      </a:r>
                      <a:endParaRPr sz="1200" u="none" strike="noStrike" cap="none"/>
                    </a:p>
                  </a:txBody>
                  <a:tcPr marL="47625" marR="47625" marT="47625" marB="47625" anchor="ctr"/>
                </a:tc>
                <a:extLst>
                  <a:ext uri="{0D108BD9-81ED-4DB2-BD59-A6C34878D82A}">
                    <a16:rowId xmlns:a16="http://schemas.microsoft.com/office/drawing/2014/main" val="10000"/>
                  </a:ext>
                </a:extLst>
              </a:tr>
              <a:tr h="305725">
                <a:tc>
                  <a:txBody>
                    <a:bodyPr/>
                    <a:lstStyle/>
                    <a:p>
                      <a:pPr marL="0" marR="0" lvl="0" indent="0" algn="l" rtl="0">
                        <a:spcBef>
                          <a:spcPts val="0"/>
                        </a:spcBef>
                        <a:spcAft>
                          <a:spcPts val="0"/>
                        </a:spcAft>
                        <a:buNone/>
                      </a:pPr>
                      <a:r>
                        <a:rPr lang="en-US" sz="1200" b="1" u="none" strike="noStrike" cap="none"/>
                        <a:t>Email/Social Networking</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Intercepted email or IM messages could be captured and reveal confidential information.</a:t>
                      </a:r>
                      <a:endParaRPr/>
                    </a:p>
                  </a:txBody>
                  <a:tcPr marL="47625" marR="47625" marT="47625" marB="47625" anchor="ctr"/>
                </a:tc>
                <a:extLst>
                  <a:ext uri="{0D108BD9-81ED-4DB2-BD59-A6C34878D82A}">
                    <a16:rowId xmlns:a16="http://schemas.microsoft.com/office/drawing/2014/main" val="10001"/>
                  </a:ext>
                </a:extLst>
              </a:tr>
              <a:tr h="305725">
                <a:tc>
                  <a:txBody>
                    <a:bodyPr/>
                    <a:lstStyle/>
                    <a:p>
                      <a:pPr marL="0" marR="0" lvl="0" indent="0" algn="l" rtl="0">
                        <a:spcBef>
                          <a:spcPts val="0"/>
                        </a:spcBef>
                        <a:spcAft>
                          <a:spcPts val="0"/>
                        </a:spcAft>
                        <a:buNone/>
                      </a:pPr>
                      <a:r>
                        <a:rPr lang="en-US" sz="1200" b="1" u="none" strike="noStrike" cap="none"/>
                        <a:t>Unencrypted Devices</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If the data is not stored using an encryption algorithm, then the thief can retrieve valuable confidential data.</a:t>
                      </a:r>
                      <a:endParaRPr/>
                    </a:p>
                  </a:txBody>
                  <a:tcPr marL="47625" marR="47625" marT="47625" marB="47625" anchor="ctr"/>
                </a:tc>
                <a:extLst>
                  <a:ext uri="{0D108BD9-81ED-4DB2-BD59-A6C34878D82A}">
                    <a16:rowId xmlns:a16="http://schemas.microsoft.com/office/drawing/2014/main" val="10002"/>
                  </a:ext>
                </a:extLst>
              </a:tr>
              <a:tr h="305725">
                <a:tc>
                  <a:txBody>
                    <a:bodyPr/>
                    <a:lstStyle/>
                    <a:p>
                      <a:pPr marL="0" marR="0" lvl="0" indent="0" algn="l" rtl="0">
                        <a:spcBef>
                          <a:spcPts val="0"/>
                        </a:spcBef>
                        <a:spcAft>
                          <a:spcPts val="0"/>
                        </a:spcAft>
                        <a:buNone/>
                      </a:pPr>
                      <a:r>
                        <a:rPr lang="en-US" sz="1200" b="1" u="none" strike="noStrike" cap="none"/>
                        <a:t>Cloud Storage Devices</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Sensitive data can be lost if access to the cloud is compromised due to weak security settings.</a:t>
                      </a:r>
                      <a:endParaRPr/>
                    </a:p>
                  </a:txBody>
                  <a:tcPr marL="47625" marR="47625" marT="47625" marB="47625" anchor="ctr"/>
                </a:tc>
                <a:extLst>
                  <a:ext uri="{0D108BD9-81ED-4DB2-BD59-A6C34878D82A}">
                    <a16:rowId xmlns:a16="http://schemas.microsoft.com/office/drawing/2014/main" val="10003"/>
                  </a:ext>
                </a:extLst>
              </a:tr>
              <a:tr h="305725">
                <a:tc>
                  <a:txBody>
                    <a:bodyPr/>
                    <a:lstStyle/>
                    <a:p>
                      <a:pPr marL="0" marR="0" lvl="0" indent="0" algn="l" rtl="0">
                        <a:spcBef>
                          <a:spcPts val="0"/>
                        </a:spcBef>
                        <a:spcAft>
                          <a:spcPts val="0"/>
                        </a:spcAft>
                        <a:buNone/>
                      </a:pPr>
                      <a:r>
                        <a:rPr lang="en-US" sz="1200" b="1" u="none" strike="noStrike" cap="none"/>
                        <a:t>Removable Media</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One risk is that an employee could perform an unauthorized transfer of data to a USB drive. Another risk is that a USB drive containing valuable corporate data could be lost.</a:t>
                      </a:r>
                      <a:endParaRPr/>
                    </a:p>
                  </a:txBody>
                  <a:tcPr marL="47625" marR="47625" marT="47625" marB="47625" anchor="ctr"/>
                </a:tc>
                <a:extLst>
                  <a:ext uri="{0D108BD9-81ED-4DB2-BD59-A6C34878D82A}">
                    <a16:rowId xmlns:a16="http://schemas.microsoft.com/office/drawing/2014/main" val="10004"/>
                  </a:ext>
                </a:extLst>
              </a:tr>
              <a:tr h="184450">
                <a:tc>
                  <a:txBody>
                    <a:bodyPr/>
                    <a:lstStyle/>
                    <a:p>
                      <a:pPr marL="0" marR="0" lvl="0" indent="0" algn="l" rtl="0">
                        <a:spcBef>
                          <a:spcPts val="0"/>
                        </a:spcBef>
                        <a:spcAft>
                          <a:spcPts val="0"/>
                        </a:spcAft>
                        <a:buNone/>
                      </a:pPr>
                      <a:r>
                        <a:rPr lang="en-US" sz="1200" b="1" u="none" strike="noStrike" cap="none"/>
                        <a:t>Hard Copy</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Confidential data should be shredded when no longer required.</a:t>
                      </a:r>
                      <a:endParaRPr/>
                    </a:p>
                  </a:txBody>
                  <a:tcPr marL="47625" marR="47625" marT="47625" marB="47625" anchor="ctr"/>
                </a:tc>
                <a:extLst>
                  <a:ext uri="{0D108BD9-81ED-4DB2-BD59-A6C34878D82A}">
                    <a16:rowId xmlns:a16="http://schemas.microsoft.com/office/drawing/2014/main" val="10005"/>
                  </a:ext>
                </a:extLst>
              </a:tr>
              <a:tr h="305725">
                <a:tc>
                  <a:txBody>
                    <a:bodyPr/>
                    <a:lstStyle/>
                    <a:p>
                      <a:pPr marL="0" marR="0" lvl="0" indent="0" algn="l" rtl="0">
                        <a:spcBef>
                          <a:spcPts val="0"/>
                        </a:spcBef>
                        <a:spcAft>
                          <a:spcPts val="0"/>
                        </a:spcAft>
                        <a:buNone/>
                      </a:pPr>
                      <a:r>
                        <a:rPr lang="en-US" sz="1200" b="1" u="none" strike="noStrike" cap="none"/>
                        <a:t>Improper Access Control</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Passwords or weak passwords which have been compromised can provide a threat actor with easy access to corporate data.</a:t>
                      </a:r>
                      <a:endParaRPr/>
                    </a:p>
                  </a:txBody>
                  <a:tcPr marL="47625" marR="47625" marT="47625" marB="47625" anchor="ct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p8"/>
          <p:cNvSpPr txBox="1">
            <a:spLocks noGrp="1"/>
          </p:cNvSpPr>
          <p:nvPr>
            <p:ph type="ctrTitle"/>
          </p:nvPr>
        </p:nvSpPr>
        <p:spPr>
          <a:xfrm>
            <a:off x="416425" y="1788160"/>
            <a:ext cx="7848344" cy="929640"/>
          </a:xfrm>
          <a:prstGeom prst="rect">
            <a:avLst/>
          </a:prstGeom>
          <a:noFill/>
          <a:ln>
            <a:noFill/>
          </a:ln>
        </p:spPr>
        <p:txBody>
          <a:bodyPr spcFirstLastPara="1" wrap="square" lIns="91400" tIns="45700" rIns="91400" bIns="45700" anchor="b" anchorCtr="0">
            <a:noAutofit/>
          </a:bodyPr>
          <a:lstStyle/>
          <a:p>
            <a:pPr marL="0" lvl="0" indent="0" algn="l" rtl="0">
              <a:lnSpc>
                <a:spcPct val="90000"/>
              </a:lnSpc>
              <a:spcBef>
                <a:spcPts val="0"/>
              </a:spcBef>
              <a:spcAft>
                <a:spcPts val="0"/>
              </a:spcAft>
              <a:buClr>
                <a:srgbClr val="AEE8FA"/>
              </a:buClr>
              <a:buSzPts val="4600"/>
              <a:buFont typeface="Arial"/>
              <a:buNone/>
            </a:pPr>
            <a:r>
              <a:rPr lang="en-US">
                <a:solidFill>
                  <a:srgbClr val="AEE8FA"/>
                </a:solidFill>
              </a:rPr>
              <a:t>3.2 Threat Actors</a:t>
            </a:r>
            <a:endParaRPr/>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34"/>
        <p:cNvGrpSpPr/>
        <p:nvPr/>
      </p:nvGrpSpPr>
      <p:grpSpPr>
        <a:xfrm>
          <a:off x="0" y="0"/>
          <a:ext cx="0" cy="0"/>
          <a:chOff x="0" y="0"/>
          <a:chExt cx="0" cy="0"/>
        </a:xfrm>
      </p:grpSpPr>
      <p:sp>
        <p:nvSpPr>
          <p:cNvPr id="735" name="Google Shape;735;p9"/>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Threat Actors</a:t>
            </a:r>
            <a:br>
              <a:rPr lang="en-US"/>
            </a:br>
            <a:r>
              <a:rPr lang="en-US" sz="2400"/>
              <a:t>The Hacker</a:t>
            </a:r>
            <a:endParaRPr/>
          </a:p>
        </p:txBody>
      </p:sp>
      <p:sp>
        <p:nvSpPr>
          <p:cNvPr id="736" name="Google Shape;736;p9"/>
          <p:cNvSpPr txBox="1">
            <a:spLocks noGrp="1"/>
          </p:cNvSpPr>
          <p:nvPr>
            <p:ph type="body" idx="1"/>
          </p:nvPr>
        </p:nvSpPr>
        <p:spPr>
          <a:xfrm>
            <a:off x="474662" y="731836"/>
            <a:ext cx="8280057" cy="36331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Hacker is a common term used to describe a threat actor</a:t>
            </a:r>
            <a:endParaRPr/>
          </a:p>
        </p:txBody>
      </p:sp>
      <p:graphicFrame>
        <p:nvGraphicFramePr>
          <p:cNvPr id="737" name="Google Shape;737;p9"/>
          <p:cNvGraphicFramePr/>
          <p:nvPr/>
        </p:nvGraphicFramePr>
        <p:xfrm>
          <a:off x="587551" y="1198530"/>
          <a:ext cx="7659750" cy="2119640"/>
        </p:xfrm>
        <a:graphic>
          <a:graphicData uri="http://schemas.openxmlformats.org/drawingml/2006/table">
            <a:tbl>
              <a:tblPr firstRow="1" bandRow="1">
                <a:noFill/>
                <a:tableStyleId>{0DCACE81-CCCA-460A-ACD2-FE0297909B90}</a:tableStyleId>
              </a:tblPr>
              <a:tblGrid>
                <a:gridCol w="1879150">
                  <a:extLst>
                    <a:ext uri="{9D8B030D-6E8A-4147-A177-3AD203B41FA5}">
                      <a16:colId xmlns:a16="http://schemas.microsoft.com/office/drawing/2014/main" val="20000"/>
                    </a:ext>
                  </a:extLst>
                </a:gridCol>
                <a:gridCol w="5780600">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US" sz="1200" b="1" u="none" strike="noStrike" cap="none"/>
                        <a:t>Hacker Type</a:t>
                      </a:r>
                      <a:endParaRPr sz="1200" u="none" strike="noStrike" cap="none"/>
                    </a:p>
                  </a:txBody>
                  <a:tcPr marL="47625" marR="47625" marT="47625" marB="47625" anchor="ctr"/>
                </a:tc>
                <a:tc>
                  <a:txBody>
                    <a:bodyPr/>
                    <a:lstStyle/>
                    <a:p>
                      <a:pPr marL="0" marR="0" lvl="0" indent="0" algn="l" rtl="0">
                        <a:spcBef>
                          <a:spcPts val="0"/>
                        </a:spcBef>
                        <a:spcAft>
                          <a:spcPts val="0"/>
                        </a:spcAft>
                        <a:buNone/>
                      </a:pPr>
                      <a:r>
                        <a:rPr lang="en-US" sz="1200" b="1" u="none" strike="noStrike" cap="none"/>
                        <a:t>Description</a:t>
                      </a:r>
                      <a:endParaRPr sz="1200" u="none" strike="noStrike" cap="none"/>
                    </a:p>
                  </a:txBody>
                  <a:tcPr marL="47625" marR="47625" marT="47625" marB="47625" anchor="ctr"/>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200" b="1" u="none" strike="noStrike" cap="none"/>
                        <a:t>White Hat Hackers</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These are ethical hackers who use their programming skills for good, ethical, and legal purposes. Security vulnerabilities are reported to developers for them to fix before the vulnerabilities can be exploited.</a:t>
                      </a:r>
                      <a:endParaRPr/>
                    </a:p>
                  </a:txBody>
                  <a:tcPr marL="47625" marR="47625" marT="47625" marB="47625" anchor="ctr"/>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200" b="1" u="none" strike="noStrike" cap="none"/>
                        <a:t>Gray Hat Hackers</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These are individuals who commit crimes and do arguably unethical things, but not for personal gain or to cause damage. Gray hat hackers may disclose a vulnerability to the affected organization after having compromised their network.</a:t>
                      </a:r>
                      <a:endParaRPr/>
                    </a:p>
                  </a:txBody>
                  <a:tcPr marL="47625" marR="47625" marT="47625" marB="47625" anchor="ctr"/>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200" b="1" u="none" strike="noStrike" cap="none"/>
                        <a:t>Black Hat Hackers</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These are unethical criminals who compromise computer and network security for personal gain, or for malicious reasons, such as attacking networks.</a:t>
                      </a:r>
                      <a:endParaRPr/>
                    </a:p>
                  </a:txBody>
                  <a:tcPr marL="47625" marR="47625" marT="47625" marB="47625" anchor="ct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p10"/>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Threat Actors</a:t>
            </a:r>
            <a:br>
              <a:rPr lang="en-US"/>
            </a:br>
            <a:r>
              <a:rPr lang="en-US" sz="2400"/>
              <a:t>The Evolution of Hackers</a:t>
            </a:r>
            <a:endParaRPr/>
          </a:p>
        </p:txBody>
      </p:sp>
      <p:sp>
        <p:nvSpPr>
          <p:cNvPr id="744" name="Google Shape;744;p10"/>
          <p:cNvSpPr txBox="1">
            <a:spLocks noGrp="1"/>
          </p:cNvSpPr>
          <p:nvPr>
            <p:ph type="body" idx="1"/>
          </p:nvPr>
        </p:nvSpPr>
        <p:spPr>
          <a:xfrm>
            <a:off x="474662" y="731837"/>
            <a:ext cx="8280057" cy="416479"/>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The table displays modern hacking terms and a brief description of each.</a:t>
            </a:r>
            <a:endParaRPr/>
          </a:p>
        </p:txBody>
      </p:sp>
      <p:graphicFrame>
        <p:nvGraphicFramePr>
          <p:cNvPr id="745" name="Google Shape;745;p10"/>
          <p:cNvGraphicFramePr/>
          <p:nvPr/>
        </p:nvGraphicFramePr>
        <p:xfrm>
          <a:off x="474662" y="1287172"/>
          <a:ext cx="7870825" cy="3041660"/>
        </p:xfrm>
        <a:graphic>
          <a:graphicData uri="http://schemas.openxmlformats.org/drawingml/2006/table">
            <a:tbl>
              <a:tblPr firstRow="1" bandRow="1">
                <a:noFill/>
                <a:tableStyleId>{0DCACE81-CCCA-460A-ACD2-FE0297909B90}</a:tableStyleId>
              </a:tblPr>
              <a:tblGrid>
                <a:gridCol w="1409800">
                  <a:extLst>
                    <a:ext uri="{9D8B030D-6E8A-4147-A177-3AD203B41FA5}">
                      <a16:colId xmlns:a16="http://schemas.microsoft.com/office/drawing/2014/main" val="20000"/>
                    </a:ext>
                  </a:extLst>
                </a:gridCol>
                <a:gridCol w="64610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US" sz="1200" b="1" u="none" strike="noStrike" cap="none"/>
                        <a:t>Hacking Term</a:t>
                      </a:r>
                      <a:endParaRPr sz="1200" u="none" strike="noStrike" cap="none"/>
                    </a:p>
                  </a:txBody>
                  <a:tcPr marL="47625" marR="47625" marT="47625" marB="47625" anchor="ctr"/>
                </a:tc>
                <a:tc>
                  <a:txBody>
                    <a:bodyPr/>
                    <a:lstStyle/>
                    <a:p>
                      <a:pPr marL="0" marR="0" lvl="0" indent="0" algn="l" rtl="0">
                        <a:spcBef>
                          <a:spcPts val="0"/>
                        </a:spcBef>
                        <a:spcAft>
                          <a:spcPts val="0"/>
                        </a:spcAft>
                        <a:buNone/>
                      </a:pPr>
                      <a:r>
                        <a:rPr lang="en-US" sz="1200" b="1" u="none" strike="noStrike" cap="none"/>
                        <a:t>Description</a:t>
                      </a:r>
                      <a:endParaRPr sz="1200" u="none" strike="noStrike" cap="none"/>
                    </a:p>
                  </a:txBody>
                  <a:tcPr marL="47625" marR="47625" marT="47625" marB="47625" anchor="ctr"/>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200" b="1" u="none" strike="noStrike" cap="none"/>
                        <a:t>Script Kiddies</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These are teenagers or inexperienced hackers running existing scripts, tools, and exploits, to cause harm, but typically not for profit.</a:t>
                      </a:r>
                      <a:endParaRPr/>
                    </a:p>
                  </a:txBody>
                  <a:tcPr marL="47625" marR="47625" marT="47625" marB="47625" anchor="ctr"/>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200" b="1" u="none" strike="noStrike" cap="none"/>
                        <a:t>Vulnerability Broker</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These are usually gray hat hackers who attempt to discover exploits and report them to vendors, sometimes for prizes or rewards.</a:t>
                      </a:r>
                      <a:endParaRPr/>
                    </a:p>
                  </a:txBody>
                  <a:tcPr marL="47625" marR="47625" marT="47625" marB="47625" anchor="ctr"/>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200" b="1" u="none" strike="noStrike" cap="none"/>
                        <a:t>Hacktivists</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These are gray hat hackers who publicly protest organizations or governments by posting articles, videos, leaking sensitive information, and performing network attacks.</a:t>
                      </a:r>
                      <a:endParaRPr/>
                    </a:p>
                  </a:txBody>
                  <a:tcPr marL="47625" marR="47625" marT="47625" marB="47625" anchor="ctr"/>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200" b="1" u="none" strike="noStrike" cap="none"/>
                        <a:t>Cyber criminals</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These are black hat hackers who are either self-employed or working for large cybercrime organizations.</a:t>
                      </a:r>
                      <a:endParaRPr/>
                    </a:p>
                  </a:txBody>
                  <a:tcPr marL="47625" marR="47625" marT="47625" marB="47625" anchor="ctr"/>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1200" b="1" u="none" strike="noStrike" cap="none"/>
                        <a:t>State-Sponsored</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These are either white hat or black hat hackers who steal government secrets, gather intelligence, and sabotage networks. Their targets are foreign governments, terrorist groups, and corporations. Most countries in the world participate to some degree in state-sponsored hacking</a:t>
                      </a:r>
                      <a:endParaRPr/>
                    </a:p>
                  </a:txBody>
                  <a:tcPr marL="47625" marR="47625" marT="47625" marB="47625" anchor="ct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p11"/>
          <p:cNvSpPr txBox="1">
            <a:spLocks noGrp="1"/>
          </p:cNvSpPr>
          <p:nvPr>
            <p:ph type="ctrTitle"/>
          </p:nvPr>
        </p:nvSpPr>
        <p:spPr>
          <a:xfrm>
            <a:off x="416425" y="1788160"/>
            <a:ext cx="7848344" cy="929640"/>
          </a:xfrm>
          <a:prstGeom prst="rect">
            <a:avLst/>
          </a:prstGeom>
          <a:noFill/>
          <a:ln>
            <a:noFill/>
          </a:ln>
        </p:spPr>
        <p:txBody>
          <a:bodyPr spcFirstLastPara="1" wrap="square" lIns="91400" tIns="45700" rIns="91400" bIns="45700" anchor="b" anchorCtr="0">
            <a:noAutofit/>
          </a:bodyPr>
          <a:lstStyle/>
          <a:p>
            <a:pPr marL="0" lvl="0" indent="0" algn="l" rtl="0">
              <a:lnSpc>
                <a:spcPct val="90000"/>
              </a:lnSpc>
              <a:spcBef>
                <a:spcPts val="0"/>
              </a:spcBef>
              <a:spcAft>
                <a:spcPts val="0"/>
              </a:spcAft>
              <a:buClr>
                <a:srgbClr val="AEE8FA"/>
              </a:buClr>
              <a:buSzPts val="4600"/>
              <a:buFont typeface="Arial"/>
              <a:buNone/>
            </a:pPr>
            <a:r>
              <a:rPr lang="en-US">
                <a:solidFill>
                  <a:srgbClr val="AEE8FA"/>
                </a:solidFill>
              </a:rPr>
              <a:t>3.3 Threat Actor Tools</a:t>
            </a:r>
            <a:endParaRPr/>
          </a:p>
        </p:txBody>
      </p:sp>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p12"/>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Threat Actor Tools</a:t>
            </a:r>
            <a:br>
              <a:rPr lang="en-US"/>
            </a:br>
            <a:r>
              <a:rPr lang="en-US" sz="2400"/>
              <a:t>Video – Threat Actor Tools</a:t>
            </a:r>
            <a:endParaRPr/>
          </a:p>
        </p:txBody>
      </p:sp>
      <p:sp>
        <p:nvSpPr>
          <p:cNvPr id="758" name="Google Shape;758;p12"/>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2000"/>
              <a:buNone/>
            </a:pPr>
            <a:r>
              <a:rPr lang="en-US">
                <a:solidFill>
                  <a:srgbClr val="000000"/>
                </a:solidFill>
              </a:rPr>
              <a:t>This video will cover the following:</a:t>
            </a:r>
            <a:endParaRPr/>
          </a:p>
          <a:p>
            <a:pPr marL="342900" lvl="0" indent="-342900" algn="l" rtl="0">
              <a:lnSpc>
                <a:spcPct val="100000"/>
              </a:lnSpc>
              <a:spcBef>
                <a:spcPts val="400"/>
              </a:spcBef>
              <a:spcAft>
                <a:spcPts val="0"/>
              </a:spcAft>
              <a:buSzPts val="2000"/>
              <a:buFont typeface="Arial"/>
              <a:buChar char="•"/>
            </a:pPr>
            <a:r>
              <a:rPr lang="en-US">
                <a:solidFill>
                  <a:srgbClr val="000000"/>
                </a:solidFill>
              </a:rPr>
              <a:t>Explain the penetration testing tools</a:t>
            </a:r>
            <a:endParaRPr/>
          </a:p>
          <a:p>
            <a:pPr marL="342900" lvl="0" indent="-342900" algn="l" rtl="0">
              <a:lnSpc>
                <a:spcPct val="100000"/>
              </a:lnSpc>
              <a:spcBef>
                <a:spcPts val="400"/>
              </a:spcBef>
              <a:spcAft>
                <a:spcPts val="0"/>
              </a:spcAft>
              <a:buSzPts val="2000"/>
              <a:buFont typeface="Arial"/>
              <a:buChar char="•"/>
            </a:pPr>
            <a:r>
              <a:rPr lang="en-US">
                <a:solidFill>
                  <a:srgbClr val="000000"/>
                </a:solidFill>
              </a:rPr>
              <a:t>Explain attack types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sp>
        <p:nvSpPr>
          <p:cNvPr id="764" name="Google Shape;764;p13"/>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Threat Actor Tools</a:t>
            </a:r>
            <a:br>
              <a:rPr lang="en-US"/>
            </a:br>
            <a:r>
              <a:rPr lang="en-US" sz="2400"/>
              <a:t>Introduction to Attack Tools</a:t>
            </a:r>
            <a:endParaRPr/>
          </a:p>
        </p:txBody>
      </p:sp>
      <p:sp>
        <p:nvSpPr>
          <p:cNvPr id="765" name="Google Shape;765;p13"/>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2000"/>
              <a:buNone/>
            </a:pPr>
            <a:r>
              <a:rPr lang="en-US">
                <a:solidFill>
                  <a:srgbClr val="000000"/>
                </a:solidFill>
              </a:rPr>
              <a:t>To exploit a vulnerability, a threat actor must have a technique or tool. Over the years, attack tools have become more sophisticated, and highly automated. These new tools require less technical knowledge to implement.</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p14"/>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Threat Actor Tools</a:t>
            </a:r>
            <a:br>
              <a:rPr lang="en-US"/>
            </a:br>
            <a:r>
              <a:rPr lang="en-US" sz="2400"/>
              <a:t>Evolution of Security Tools</a:t>
            </a:r>
            <a:endParaRPr/>
          </a:p>
        </p:txBody>
      </p:sp>
      <p:sp>
        <p:nvSpPr>
          <p:cNvPr id="772" name="Google Shape;772;p14"/>
          <p:cNvSpPr txBox="1">
            <a:spLocks noGrp="1"/>
          </p:cNvSpPr>
          <p:nvPr>
            <p:ph type="body" idx="1"/>
          </p:nvPr>
        </p:nvSpPr>
        <p:spPr>
          <a:xfrm>
            <a:off x="474662" y="731837"/>
            <a:ext cx="8280057" cy="607865"/>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400"/>
              <a:buNone/>
            </a:pPr>
            <a:r>
              <a:rPr lang="en-US" sz="1400" dirty="0">
                <a:solidFill>
                  <a:srgbClr val="000000"/>
                </a:solidFill>
              </a:rPr>
              <a:t>The table highlights categories of common penetration testing tools. Notice how some tools are used by white hats and black hats. Keep in mind that the list is not exhaustive as new tools are always being developed.</a:t>
            </a:r>
            <a:endParaRPr dirty="0"/>
          </a:p>
        </p:txBody>
      </p:sp>
      <p:graphicFrame>
        <p:nvGraphicFramePr>
          <p:cNvPr id="773" name="Google Shape;773;p14"/>
          <p:cNvGraphicFramePr/>
          <p:nvPr/>
        </p:nvGraphicFramePr>
        <p:xfrm>
          <a:off x="636587" y="1463675"/>
          <a:ext cx="7870825" cy="3344240"/>
        </p:xfrm>
        <a:graphic>
          <a:graphicData uri="http://schemas.openxmlformats.org/drawingml/2006/table">
            <a:tbl>
              <a:tblPr firstRow="1" bandRow="1">
                <a:noFill/>
                <a:tableStyleId>{0DCACE81-CCCA-460A-ACD2-FE0297909B90}</a:tableStyleId>
              </a:tblPr>
              <a:tblGrid>
                <a:gridCol w="1330275">
                  <a:extLst>
                    <a:ext uri="{9D8B030D-6E8A-4147-A177-3AD203B41FA5}">
                      <a16:colId xmlns:a16="http://schemas.microsoft.com/office/drawing/2014/main" val="20000"/>
                    </a:ext>
                  </a:extLst>
                </a:gridCol>
                <a:gridCol w="6540550">
                  <a:extLst>
                    <a:ext uri="{9D8B030D-6E8A-4147-A177-3AD203B41FA5}">
                      <a16:colId xmlns:a16="http://schemas.microsoft.com/office/drawing/2014/main" val="20001"/>
                    </a:ext>
                  </a:extLst>
                </a:gridCol>
              </a:tblGrid>
              <a:tr h="400650">
                <a:tc>
                  <a:txBody>
                    <a:bodyPr/>
                    <a:lstStyle/>
                    <a:p>
                      <a:pPr marL="0" marR="0" lvl="0" indent="0" algn="l" rtl="0">
                        <a:spcBef>
                          <a:spcPts val="0"/>
                        </a:spcBef>
                        <a:spcAft>
                          <a:spcPts val="0"/>
                        </a:spcAft>
                        <a:buNone/>
                      </a:pPr>
                      <a:r>
                        <a:rPr lang="en-US" sz="1100" u="none" strike="noStrike" cap="none" dirty="0"/>
                        <a:t>Penetration Testing Tool</a:t>
                      </a:r>
                      <a:endParaRPr dirty="0"/>
                    </a:p>
                  </a:txBody>
                  <a:tcPr marL="47625" marR="47625" marT="47625" marB="47625" anchor="ctr"/>
                </a:tc>
                <a:tc>
                  <a:txBody>
                    <a:bodyPr/>
                    <a:lstStyle/>
                    <a:p>
                      <a:pPr marL="0" marR="0" lvl="0" indent="0" algn="l" rtl="0">
                        <a:spcBef>
                          <a:spcPts val="0"/>
                        </a:spcBef>
                        <a:spcAft>
                          <a:spcPts val="0"/>
                        </a:spcAft>
                        <a:buNone/>
                      </a:pPr>
                      <a:r>
                        <a:rPr lang="en-US" sz="1100" u="none" strike="noStrike" cap="none"/>
                        <a:t>Description</a:t>
                      </a:r>
                      <a:endParaRPr/>
                    </a:p>
                  </a:txBody>
                  <a:tcPr marL="47625" marR="47625" marT="47625" marB="47625" anchor="ctr"/>
                </a:tc>
                <a:extLst>
                  <a:ext uri="{0D108BD9-81ED-4DB2-BD59-A6C34878D82A}">
                    <a16:rowId xmlns:a16="http://schemas.microsoft.com/office/drawing/2014/main" val="10000"/>
                  </a:ext>
                </a:extLst>
              </a:tr>
              <a:tr h="718525">
                <a:tc>
                  <a:txBody>
                    <a:bodyPr/>
                    <a:lstStyle/>
                    <a:p>
                      <a:pPr marL="0" marR="0" lvl="0" indent="0" algn="l" rtl="0">
                        <a:spcBef>
                          <a:spcPts val="0"/>
                        </a:spcBef>
                        <a:spcAft>
                          <a:spcPts val="0"/>
                        </a:spcAft>
                        <a:buNone/>
                      </a:pPr>
                      <a:r>
                        <a:rPr lang="en-US" sz="1100" b="0" u="none" strike="noStrike" cap="none"/>
                        <a:t>Password Crackers</a:t>
                      </a:r>
                      <a:endParaRPr/>
                    </a:p>
                  </a:txBody>
                  <a:tcPr marL="47625" marR="47625" marT="47625" marB="47625" anchor="ctr"/>
                </a:tc>
                <a:tc>
                  <a:txBody>
                    <a:bodyPr/>
                    <a:lstStyle/>
                    <a:p>
                      <a:pPr marL="0" marR="0" lvl="0" indent="0" algn="l" rtl="0">
                        <a:spcBef>
                          <a:spcPts val="0"/>
                        </a:spcBef>
                        <a:spcAft>
                          <a:spcPts val="0"/>
                        </a:spcAft>
                        <a:buNone/>
                      </a:pPr>
                      <a:r>
                        <a:rPr lang="en-US" sz="1100" b="0" u="none" strike="noStrike" cap="none"/>
                        <a:t>Password cracking tools are often referred to as password recovery tools and can be used to crack or recover a password. Password crackers repeatedly make guesses in order to crack the password. Examples of password cracking tools include John the Ripper, Ophcrack, L0phtCrack, THC Hydra, Rainbow Crack, and Medusa.</a:t>
                      </a:r>
                      <a:endParaRPr/>
                    </a:p>
                  </a:txBody>
                  <a:tcPr marL="47625" marR="47625" marT="47625" marB="47625" anchor="ctr"/>
                </a:tc>
                <a:extLst>
                  <a:ext uri="{0D108BD9-81ED-4DB2-BD59-A6C34878D82A}">
                    <a16:rowId xmlns:a16="http://schemas.microsoft.com/office/drawing/2014/main" val="10001"/>
                  </a:ext>
                </a:extLst>
              </a:tr>
              <a:tr h="559600">
                <a:tc>
                  <a:txBody>
                    <a:bodyPr/>
                    <a:lstStyle/>
                    <a:p>
                      <a:pPr marL="0" marR="0" lvl="0" indent="0" algn="l" rtl="0">
                        <a:spcBef>
                          <a:spcPts val="0"/>
                        </a:spcBef>
                        <a:spcAft>
                          <a:spcPts val="0"/>
                        </a:spcAft>
                        <a:buNone/>
                      </a:pPr>
                      <a:r>
                        <a:rPr lang="en-US" sz="1100" b="0" u="none" strike="noStrike" cap="none"/>
                        <a:t>Wireless Hacking Tools</a:t>
                      </a:r>
                      <a:endParaRPr/>
                    </a:p>
                  </a:txBody>
                  <a:tcPr marL="47625" marR="47625" marT="47625" marB="47625" anchor="ctr"/>
                </a:tc>
                <a:tc>
                  <a:txBody>
                    <a:bodyPr/>
                    <a:lstStyle/>
                    <a:p>
                      <a:pPr marL="0" marR="0" lvl="0" indent="0" algn="l" rtl="0">
                        <a:spcBef>
                          <a:spcPts val="0"/>
                        </a:spcBef>
                        <a:spcAft>
                          <a:spcPts val="0"/>
                        </a:spcAft>
                        <a:buNone/>
                      </a:pPr>
                      <a:r>
                        <a:rPr lang="en-US" sz="1100" b="0" u="none" strike="noStrike" cap="none"/>
                        <a:t>Wireless hacking tools are used to intentionally hack into a wireless network to detect security vulnerabilities. Examples of wireless hacking tools include Aircrack-ng, Kismet, InSSIDer, KisMAC, Firesheep, and ViStumbler.</a:t>
                      </a:r>
                      <a:endParaRPr/>
                    </a:p>
                  </a:txBody>
                  <a:tcPr marL="47625" marR="47625" marT="47625" marB="47625" anchor="ctr"/>
                </a:tc>
                <a:extLst>
                  <a:ext uri="{0D108BD9-81ED-4DB2-BD59-A6C34878D82A}">
                    <a16:rowId xmlns:a16="http://schemas.microsoft.com/office/drawing/2014/main" val="10002"/>
                  </a:ext>
                </a:extLst>
              </a:tr>
              <a:tr h="559600">
                <a:tc>
                  <a:txBody>
                    <a:bodyPr/>
                    <a:lstStyle/>
                    <a:p>
                      <a:pPr marL="0" marR="0" lvl="0" indent="0" algn="l" rtl="0">
                        <a:spcBef>
                          <a:spcPts val="0"/>
                        </a:spcBef>
                        <a:spcAft>
                          <a:spcPts val="0"/>
                        </a:spcAft>
                        <a:buNone/>
                      </a:pPr>
                      <a:r>
                        <a:rPr lang="en-US" sz="1100" b="0" u="none" strike="noStrike" cap="none"/>
                        <a:t>Network Scanning and Hacking Tools</a:t>
                      </a:r>
                      <a:endParaRPr/>
                    </a:p>
                  </a:txBody>
                  <a:tcPr marL="47625" marR="47625" marT="47625" marB="47625" anchor="ctr"/>
                </a:tc>
                <a:tc>
                  <a:txBody>
                    <a:bodyPr/>
                    <a:lstStyle/>
                    <a:p>
                      <a:pPr marL="0" marR="0" lvl="0" indent="0" algn="l" rtl="0">
                        <a:spcBef>
                          <a:spcPts val="0"/>
                        </a:spcBef>
                        <a:spcAft>
                          <a:spcPts val="0"/>
                        </a:spcAft>
                        <a:buNone/>
                      </a:pPr>
                      <a:r>
                        <a:rPr lang="en-US" sz="1100" b="0" u="none" strike="noStrike" cap="none"/>
                        <a:t>Network scanning tools are used to probe network devices, servers, and hosts for open TCP or UDP ports. Examples of scanning tools include Nmap, SuperScan, Angry IP Scanner, and NetScanTools.</a:t>
                      </a:r>
                      <a:endParaRPr/>
                    </a:p>
                  </a:txBody>
                  <a:tcPr marL="47625" marR="47625" marT="47625" marB="47625" anchor="ctr"/>
                </a:tc>
                <a:extLst>
                  <a:ext uri="{0D108BD9-81ED-4DB2-BD59-A6C34878D82A}">
                    <a16:rowId xmlns:a16="http://schemas.microsoft.com/office/drawing/2014/main" val="10003"/>
                  </a:ext>
                </a:extLst>
              </a:tr>
              <a:tr h="400650">
                <a:tc>
                  <a:txBody>
                    <a:bodyPr/>
                    <a:lstStyle/>
                    <a:p>
                      <a:pPr marL="0" marR="0" lvl="0" indent="0" algn="l" rtl="0">
                        <a:spcBef>
                          <a:spcPts val="0"/>
                        </a:spcBef>
                        <a:spcAft>
                          <a:spcPts val="0"/>
                        </a:spcAft>
                        <a:buNone/>
                      </a:pPr>
                      <a:r>
                        <a:rPr lang="en-US" sz="1100" b="0" u="none" strike="noStrike" cap="none" dirty="0"/>
                        <a:t>Packet Crafting Tools</a:t>
                      </a:r>
                      <a:endParaRPr dirty="0"/>
                    </a:p>
                  </a:txBody>
                  <a:tcPr marL="47625" marR="47625" marT="47625" marB="47625" anchor="ctr"/>
                </a:tc>
                <a:tc>
                  <a:txBody>
                    <a:bodyPr/>
                    <a:lstStyle/>
                    <a:p>
                      <a:pPr marL="0" marR="0" lvl="0" indent="0" algn="l" rtl="0">
                        <a:spcBef>
                          <a:spcPts val="0"/>
                        </a:spcBef>
                        <a:spcAft>
                          <a:spcPts val="0"/>
                        </a:spcAft>
                        <a:buNone/>
                      </a:pPr>
                      <a:r>
                        <a:rPr lang="en-US" sz="1100" b="0" u="none" strike="noStrike" cap="none" dirty="0"/>
                        <a:t>These tools are used to probe and test a firewall’s robustness using specially crafted forged packets. Examples include </a:t>
                      </a:r>
                      <a:r>
                        <a:rPr lang="en-US" sz="1100" b="0" u="none" strike="noStrike" cap="none" dirty="0" err="1"/>
                        <a:t>Hping</a:t>
                      </a:r>
                      <a:r>
                        <a:rPr lang="en-US" sz="1100" b="0" u="none" strike="noStrike" cap="none" dirty="0"/>
                        <a:t>, </a:t>
                      </a:r>
                      <a:r>
                        <a:rPr lang="en-US" sz="1100" b="0" u="none" strike="noStrike" cap="none" dirty="0" err="1"/>
                        <a:t>Scapy</a:t>
                      </a:r>
                      <a:r>
                        <a:rPr lang="en-US" sz="1100" b="0" u="none" strike="noStrike" cap="none" dirty="0"/>
                        <a:t>, </a:t>
                      </a:r>
                      <a:r>
                        <a:rPr lang="en-US" sz="1100" b="0" u="none" strike="noStrike" cap="none" dirty="0" err="1"/>
                        <a:t>Socat</a:t>
                      </a:r>
                      <a:r>
                        <a:rPr lang="en-US" sz="1100" b="0" u="none" strike="noStrike" cap="none" dirty="0"/>
                        <a:t>, Yersinia, </a:t>
                      </a:r>
                      <a:r>
                        <a:rPr lang="en-US" sz="1100" b="0" u="none" strike="noStrike" cap="none" dirty="0" err="1"/>
                        <a:t>Netcat</a:t>
                      </a:r>
                      <a:r>
                        <a:rPr lang="en-US" sz="1100" b="0" u="none" strike="noStrike" cap="none" dirty="0"/>
                        <a:t>, </a:t>
                      </a:r>
                      <a:r>
                        <a:rPr lang="en-US" sz="1100" b="0" u="none" strike="noStrike" cap="none" dirty="0" err="1"/>
                        <a:t>Nping</a:t>
                      </a:r>
                      <a:r>
                        <a:rPr lang="en-US" sz="1100" b="0" u="none" strike="noStrike" cap="none" dirty="0"/>
                        <a:t>, and Nemesis.</a:t>
                      </a:r>
                      <a:endParaRPr dirty="0"/>
                    </a:p>
                  </a:txBody>
                  <a:tcPr marL="47625" marR="47625" marT="47625" marB="47625" anchor="ctr"/>
                </a:tc>
                <a:extLst>
                  <a:ext uri="{0D108BD9-81ED-4DB2-BD59-A6C34878D82A}">
                    <a16:rowId xmlns:a16="http://schemas.microsoft.com/office/drawing/2014/main" val="10004"/>
                  </a:ext>
                </a:extLst>
              </a:tr>
              <a:tr h="559600">
                <a:tc>
                  <a:txBody>
                    <a:bodyPr/>
                    <a:lstStyle/>
                    <a:p>
                      <a:pPr marL="0" marR="0" lvl="0" indent="0" algn="l" rtl="0">
                        <a:spcBef>
                          <a:spcPts val="0"/>
                        </a:spcBef>
                        <a:spcAft>
                          <a:spcPts val="0"/>
                        </a:spcAft>
                        <a:buNone/>
                      </a:pPr>
                      <a:r>
                        <a:rPr lang="en-US" sz="1100" b="0" u="none" strike="noStrike" cap="none" dirty="0"/>
                        <a:t>Packet Sniffers</a:t>
                      </a:r>
                      <a:endParaRPr dirty="0"/>
                    </a:p>
                  </a:txBody>
                  <a:tcPr marL="47625" marR="47625" marT="47625" marB="47625" anchor="ctr"/>
                </a:tc>
                <a:tc>
                  <a:txBody>
                    <a:bodyPr/>
                    <a:lstStyle/>
                    <a:p>
                      <a:pPr marL="0" marR="0" lvl="0" indent="0" algn="l" rtl="0">
                        <a:spcBef>
                          <a:spcPts val="0"/>
                        </a:spcBef>
                        <a:spcAft>
                          <a:spcPts val="0"/>
                        </a:spcAft>
                        <a:buNone/>
                      </a:pPr>
                      <a:r>
                        <a:rPr lang="en-US" sz="1100" b="0" u="none" strike="noStrike" cap="none" dirty="0"/>
                        <a:t>These tools are used to capture and analyze packets within traditional Ethernet LANs or WLANs. Tools include Wireshark, </a:t>
                      </a:r>
                      <a:r>
                        <a:rPr lang="en-US" sz="1100" b="0" u="none" strike="noStrike" cap="none" dirty="0" err="1"/>
                        <a:t>Tcpdump</a:t>
                      </a:r>
                      <a:r>
                        <a:rPr lang="en-US" sz="1100" b="0" u="none" strike="noStrike" cap="none" dirty="0"/>
                        <a:t>, Ettercap, </a:t>
                      </a:r>
                      <a:r>
                        <a:rPr lang="en-US" sz="1100" b="0" u="none" strike="noStrike" cap="none" dirty="0" err="1"/>
                        <a:t>Dsniff</a:t>
                      </a:r>
                      <a:r>
                        <a:rPr lang="en-US" sz="1100" b="0" u="none" strike="noStrike" cap="none" dirty="0"/>
                        <a:t>, </a:t>
                      </a:r>
                      <a:r>
                        <a:rPr lang="en-US" sz="1100" b="0" u="none" strike="noStrike" cap="none" dirty="0" err="1"/>
                        <a:t>EtherApe</a:t>
                      </a:r>
                      <a:r>
                        <a:rPr lang="en-US" sz="1100" b="0" u="none" strike="noStrike" cap="none" dirty="0"/>
                        <a:t>, Paros, Fiddler, </a:t>
                      </a:r>
                      <a:r>
                        <a:rPr lang="en-US" sz="1100" b="0" u="none" strike="noStrike" cap="none" dirty="0" err="1"/>
                        <a:t>Ratproxy</a:t>
                      </a:r>
                      <a:r>
                        <a:rPr lang="en-US" sz="1100" b="0" u="none" strike="noStrike" cap="none" dirty="0"/>
                        <a:t>, and </a:t>
                      </a:r>
                      <a:r>
                        <a:rPr lang="en-US" sz="1100" b="0" u="none" strike="noStrike" cap="none" dirty="0" err="1"/>
                        <a:t>SSLstrip</a:t>
                      </a:r>
                      <a:r>
                        <a:rPr lang="en-US" sz="1100" b="0" u="none" strike="noStrike" cap="none" dirty="0"/>
                        <a:t>.</a:t>
                      </a:r>
                      <a:endParaRPr dirty="0"/>
                    </a:p>
                  </a:txBody>
                  <a:tcPr marL="47625" marR="47625" marT="47625" marB="47625" anchor="ct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sp>
        <p:nvSpPr>
          <p:cNvPr id="779" name="Google Shape;779;p15"/>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Threat Actor Tools</a:t>
            </a:r>
            <a:br>
              <a:rPr lang="en-US"/>
            </a:br>
            <a:r>
              <a:rPr lang="en-US" sz="2400"/>
              <a:t>Evolution of Security Tools (Cont.)</a:t>
            </a:r>
            <a:endParaRPr/>
          </a:p>
        </p:txBody>
      </p:sp>
      <p:graphicFrame>
        <p:nvGraphicFramePr>
          <p:cNvPr id="780" name="Google Shape;780;p15"/>
          <p:cNvGraphicFramePr/>
          <p:nvPr/>
        </p:nvGraphicFramePr>
        <p:xfrm>
          <a:off x="474662" y="628470"/>
          <a:ext cx="7870825" cy="3801650"/>
        </p:xfrm>
        <a:graphic>
          <a:graphicData uri="http://schemas.openxmlformats.org/drawingml/2006/table">
            <a:tbl>
              <a:tblPr firstRow="1" bandRow="1">
                <a:noFill/>
                <a:tableStyleId>{0DCACE81-CCCA-460A-ACD2-FE0297909B90}</a:tableStyleId>
              </a:tblPr>
              <a:tblGrid>
                <a:gridCol w="1330275">
                  <a:extLst>
                    <a:ext uri="{9D8B030D-6E8A-4147-A177-3AD203B41FA5}">
                      <a16:colId xmlns:a16="http://schemas.microsoft.com/office/drawing/2014/main" val="20000"/>
                    </a:ext>
                  </a:extLst>
                </a:gridCol>
                <a:gridCol w="6540550">
                  <a:extLst>
                    <a:ext uri="{9D8B030D-6E8A-4147-A177-3AD203B41FA5}">
                      <a16:colId xmlns:a16="http://schemas.microsoft.com/office/drawing/2014/main" val="20001"/>
                    </a:ext>
                  </a:extLst>
                </a:gridCol>
              </a:tblGrid>
              <a:tr h="279275">
                <a:tc>
                  <a:txBody>
                    <a:bodyPr/>
                    <a:lstStyle/>
                    <a:p>
                      <a:pPr marL="0" marR="0" lvl="0" indent="0" algn="l" rtl="0">
                        <a:spcBef>
                          <a:spcPts val="0"/>
                        </a:spcBef>
                        <a:spcAft>
                          <a:spcPts val="0"/>
                        </a:spcAft>
                        <a:buNone/>
                      </a:pPr>
                      <a:r>
                        <a:rPr lang="en-US" sz="1000" u="none" strike="noStrike" cap="none"/>
                        <a:t>Penetration Testing Tool</a:t>
                      </a:r>
                      <a:endParaRPr/>
                    </a:p>
                  </a:txBody>
                  <a:tcPr marL="47625" marR="47625" marT="47625" marB="47625" anchor="ctr"/>
                </a:tc>
                <a:tc>
                  <a:txBody>
                    <a:bodyPr/>
                    <a:lstStyle/>
                    <a:p>
                      <a:pPr marL="0" marR="0" lvl="0" indent="0" algn="l" rtl="0">
                        <a:spcBef>
                          <a:spcPts val="0"/>
                        </a:spcBef>
                        <a:spcAft>
                          <a:spcPts val="0"/>
                        </a:spcAft>
                        <a:buNone/>
                      </a:pPr>
                      <a:r>
                        <a:rPr lang="en-US" sz="1000" u="none" strike="noStrike" cap="none"/>
                        <a:t>Description</a:t>
                      </a:r>
                      <a:endParaRPr/>
                    </a:p>
                  </a:txBody>
                  <a:tcPr marL="47625" marR="47625" marT="47625" marB="47625" anchor="ctr"/>
                </a:tc>
                <a:extLst>
                  <a:ext uri="{0D108BD9-81ED-4DB2-BD59-A6C34878D82A}">
                    <a16:rowId xmlns:a16="http://schemas.microsoft.com/office/drawing/2014/main" val="10000"/>
                  </a:ext>
                </a:extLst>
              </a:tr>
              <a:tr h="301525">
                <a:tc>
                  <a:txBody>
                    <a:bodyPr/>
                    <a:lstStyle/>
                    <a:p>
                      <a:pPr marL="0" marR="0" lvl="0" indent="0" algn="l" rtl="0">
                        <a:spcBef>
                          <a:spcPts val="0"/>
                        </a:spcBef>
                        <a:spcAft>
                          <a:spcPts val="0"/>
                        </a:spcAft>
                        <a:buNone/>
                      </a:pPr>
                      <a:r>
                        <a:rPr lang="en-US" sz="1000" b="0" u="none" strike="noStrike" cap="none"/>
                        <a:t>Rootkit Detectors</a:t>
                      </a:r>
                      <a:endParaRPr/>
                    </a:p>
                  </a:txBody>
                  <a:tcPr marL="47625" marR="47625" marT="47625" marB="47625" anchor="ctr"/>
                </a:tc>
                <a:tc>
                  <a:txBody>
                    <a:bodyPr/>
                    <a:lstStyle/>
                    <a:p>
                      <a:pPr marL="0" marR="0" lvl="0" indent="0" algn="l" rtl="0">
                        <a:spcBef>
                          <a:spcPts val="0"/>
                        </a:spcBef>
                        <a:spcAft>
                          <a:spcPts val="0"/>
                        </a:spcAft>
                        <a:buNone/>
                      </a:pPr>
                      <a:r>
                        <a:rPr lang="en-US" sz="1000" b="0" u="none" strike="noStrike" cap="none"/>
                        <a:t>This is a directory and file integrity checker used by white hats to detect installed root kits. Example tools include AIDE, Netfilter, and PF: OpenBSD Packet Filter.</a:t>
                      </a:r>
                      <a:endParaRPr/>
                    </a:p>
                  </a:txBody>
                  <a:tcPr marL="47625" marR="47625" marT="47625" marB="47625" anchor="ctr"/>
                </a:tc>
                <a:extLst>
                  <a:ext uri="{0D108BD9-81ED-4DB2-BD59-A6C34878D82A}">
                    <a16:rowId xmlns:a16="http://schemas.microsoft.com/office/drawing/2014/main" val="10001"/>
                  </a:ext>
                </a:extLst>
              </a:tr>
              <a:tr h="301525">
                <a:tc>
                  <a:txBody>
                    <a:bodyPr/>
                    <a:lstStyle/>
                    <a:p>
                      <a:pPr marL="0" marR="0" lvl="0" indent="0" algn="l" rtl="0">
                        <a:spcBef>
                          <a:spcPts val="0"/>
                        </a:spcBef>
                        <a:spcAft>
                          <a:spcPts val="0"/>
                        </a:spcAft>
                        <a:buNone/>
                      </a:pPr>
                      <a:r>
                        <a:rPr lang="en-US" sz="1000" b="0" u="none" strike="noStrike" cap="none"/>
                        <a:t>Fuzzers to Search Vulnerabilities</a:t>
                      </a:r>
                      <a:endParaRPr/>
                    </a:p>
                  </a:txBody>
                  <a:tcPr marL="47625" marR="47625" marT="47625" marB="47625" anchor="ctr"/>
                </a:tc>
                <a:tc>
                  <a:txBody>
                    <a:bodyPr/>
                    <a:lstStyle/>
                    <a:p>
                      <a:pPr marL="0" marR="0" lvl="0" indent="0" algn="l" rtl="0">
                        <a:spcBef>
                          <a:spcPts val="0"/>
                        </a:spcBef>
                        <a:spcAft>
                          <a:spcPts val="0"/>
                        </a:spcAft>
                        <a:buNone/>
                      </a:pPr>
                      <a:r>
                        <a:rPr lang="en-US" sz="1000" b="0" u="none" strike="noStrike" cap="none"/>
                        <a:t>Fuzzers are tools used by threat actors to discover a computer’s security vulnerabilities. Examples of fuzzers include Skipfish, Wapiti, and W3af.</a:t>
                      </a:r>
                      <a:endParaRPr/>
                    </a:p>
                  </a:txBody>
                  <a:tcPr marL="47625" marR="47625" marT="47625" marB="47625" anchor="ctr"/>
                </a:tc>
                <a:extLst>
                  <a:ext uri="{0D108BD9-81ED-4DB2-BD59-A6C34878D82A}">
                    <a16:rowId xmlns:a16="http://schemas.microsoft.com/office/drawing/2014/main" val="10002"/>
                  </a:ext>
                </a:extLst>
              </a:tr>
              <a:tr h="301525">
                <a:tc>
                  <a:txBody>
                    <a:bodyPr/>
                    <a:lstStyle/>
                    <a:p>
                      <a:pPr marL="0" marR="0" lvl="0" indent="0" algn="l" rtl="0">
                        <a:spcBef>
                          <a:spcPts val="0"/>
                        </a:spcBef>
                        <a:spcAft>
                          <a:spcPts val="0"/>
                        </a:spcAft>
                        <a:buNone/>
                      </a:pPr>
                      <a:r>
                        <a:rPr lang="en-US" sz="1000" b="0" u="none" strike="noStrike" cap="none"/>
                        <a:t>Forensic Tools</a:t>
                      </a:r>
                      <a:endParaRPr/>
                    </a:p>
                  </a:txBody>
                  <a:tcPr marL="47625" marR="47625" marT="47625" marB="47625" anchor="ctr"/>
                </a:tc>
                <a:tc>
                  <a:txBody>
                    <a:bodyPr/>
                    <a:lstStyle/>
                    <a:p>
                      <a:pPr marL="0" marR="0" lvl="0" indent="0" algn="l" rtl="0">
                        <a:spcBef>
                          <a:spcPts val="0"/>
                        </a:spcBef>
                        <a:spcAft>
                          <a:spcPts val="0"/>
                        </a:spcAft>
                        <a:buNone/>
                      </a:pPr>
                      <a:r>
                        <a:rPr lang="en-US" sz="1000" b="0" u="none" strike="noStrike" cap="none"/>
                        <a:t>These tools are used by white hat hackers to sniff out any trace of evidence existing in a computer. Example of tools include Sleuth Kit, Helix, Maltego, and Encase.</a:t>
                      </a:r>
                      <a:endParaRPr/>
                    </a:p>
                  </a:txBody>
                  <a:tcPr marL="47625" marR="47625" marT="47625" marB="47625" anchor="ctr"/>
                </a:tc>
                <a:extLst>
                  <a:ext uri="{0D108BD9-81ED-4DB2-BD59-A6C34878D82A}">
                    <a16:rowId xmlns:a16="http://schemas.microsoft.com/office/drawing/2014/main" val="10003"/>
                  </a:ext>
                </a:extLst>
              </a:tr>
              <a:tr h="412250">
                <a:tc>
                  <a:txBody>
                    <a:bodyPr/>
                    <a:lstStyle/>
                    <a:p>
                      <a:pPr marL="0" marR="0" lvl="0" indent="0" algn="l" rtl="0">
                        <a:spcBef>
                          <a:spcPts val="0"/>
                        </a:spcBef>
                        <a:spcAft>
                          <a:spcPts val="0"/>
                        </a:spcAft>
                        <a:buNone/>
                      </a:pPr>
                      <a:r>
                        <a:rPr lang="en-US" sz="1000" b="0" u="none" strike="noStrike" cap="none"/>
                        <a:t>Debuggers</a:t>
                      </a:r>
                      <a:endParaRPr/>
                    </a:p>
                  </a:txBody>
                  <a:tcPr marL="47625" marR="47625" marT="47625" marB="47625" anchor="ctr"/>
                </a:tc>
                <a:tc>
                  <a:txBody>
                    <a:bodyPr/>
                    <a:lstStyle/>
                    <a:p>
                      <a:pPr marL="0" marR="0" lvl="0" indent="0" algn="l" rtl="0">
                        <a:spcBef>
                          <a:spcPts val="0"/>
                        </a:spcBef>
                        <a:spcAft>
                          <a:spcPts val="0"/>
                        </a:spcAft>
                        <a:buNone/>
                      </a:pPr>
                      <a:r>
                        <a:rPr lang="en-US" sz="1000" b="0" u="none" strike="noStrike" cap="none"/>
                        <a:t>These tools are used by black hats to reverse engineer binary files when writing exploits. They are also used by white hats when analyzing malware. Debugging tools include GDB, WinDbg, IDA Pro, and Immunity Debugger.</a:t>
                      </a:r>
                      <a:endParaRPr/>
                    </a:p>
                  </a:txBody>
                  <a:tcPr marL="47625" marR="47625" marT="47625" marB="47625" anchor="ctr"/>
                </a:tc>
                <a:extLst>
                  <a:ext uri="{0D108BD9-81ED-4DB2-BD59-A6C34878D82A}">
                    <a16:rowId xmlns:a16="http://schemas.microsoft.com/office/drawing/2014/main" val="10004"/>
                  </a:ext>
                </a:extLst>
              </a:tr>
              <a:tr h="412250">
                <a:tc>
                  <a:txBody>
                    <a:bodyPr/>
                    <a:lstStyle/>
                    <a:p>
                      <a:pPr marL="0" marR="0" lvl="0" indent="0" algn="l" rtl="0">
                        <a:spcBef>
                          <a:spcPts val="0"/>
                        </a:spcBef>
                        <a:spcAft>
                          <a:spcPts val="0"/>
                        </a:spcAft>
                        <a:buNone/>
                      </a:pPr>
                      <a:r>
                        <a:rPr lang="en-US" sz="1000" b="0" u="none" strike="noStrike" cap="none"/>
                        <a:t>Hacking Operating Systems</a:t>
                      </a:r>
                      <a:endParaRPr/>
                    </a:p>
                  </a:txBody>
                  <a:tcPr marL="47625" marR="47625" marT="47625" marB="47625" anchor="ctr"/>
                </a:tc>
                <a:tc>
                  <a:txBody>
                    <a:bodyPr/>
                    <a:lstStyle/>
                    <a:p>
                      <a:pPr marL="0" marR="0" lvl="0" indent="0" algn="l" rtl="0">
                        <a:spcBef>
                          <a:spcPts val="0"/>
                        </a:spcBef>
                        <a:spcAft>
                          <a:spcPts val="0"/>
                        </a:spcAft>
                        <a:buNone/>
                      </a:pPr>
                      <a:r>
                        <a:rPr lang="en-US" sz="1000" b="0" u="none" strike="noStrike" cap="none"/>
                        <a:t>These are specially designed operating systems preloaded with tools optimized for hacking. Examples of specially designed hacking operating systems include Kali Linux, BackBox Linux.</a:t>
                      </a:r>
                      <a:endParaRPr/>
                    </a:p>
                  </a:txBody>
                  <a:tcPr marL="47625" marR="47625" marT="47625" marB="47625" anchor="ctr"/>
                </a:tc>
                <a:extLst>
                  <a:ext uri="{0D108BD9-81ED-4DB2-BD59-A6C34878D82A}">
                    <a16:rowId xmlns:a16="http://schemas.microsoft.com/office/drawing/2014/main" val="10005"/>
                  </a:ext>
                </a:extLst>
              </a:tr>
              <a:tr h="412250">
                <a:tc>
                  <a:txBody>
                    <a:bodyPr/>
                    <a:lstStyle/>
                    <a:p>
                      <a:pPr marL="0" marR="0" lvl="0" indent="0" algn="l" rtl="0">
                        <a:spcBef>
                          <a:spcPts val="0"/>
                        </a:spcBef>
                        <a:spcAft>
                          <a:spcPts val="0"/>
                        </a:spcAft>
                        <a:buNone/>
                      </a:pPr>
                      <a:r>
                        <a:rPr lang="en-US" sz="1000" b="0" u="none" strike="noStrike" cap="none"/>
                        <a:t>Encryption Tools</a:t>
                      </a:r>
                      <a:endParaRPr/>
                    </a:p>
                  </a:txBody>
                  <a:tcPr marL="47625" marR="47625" marT="47625" marB="47625" anchor="ctr"/>
                </a:tc>
                <a:tc>
                  <a:txBody>
                    <a:bodyPr/>
                    <a:lstStyle/>
                    <a:p>
                      <a:pPr marL="0" marR="0" lvl="0" indent="0" algn="l" rtl="0">
                        <a:spcBef>
                          <a:spcPts val="0"/>
                        </a:spcBef>
                        <a:spcAft>
                          <a:spcPts val="0"/>
                        </a:spcAft>
                        <a:buNone/>
                      </a:pPr>
                      <a:r>
                        <a:rPr lang="en-US" sz="1000" b="0" u="none" strike="noStrike" cap="none"/>
                        <a:t>Encryption tools use algorithm schemes to encode the data to prevent unauthorized access to the encrypted data. Examples of these tools include VeraCrypt, CipherShed, OpenSSH, OpenSSL, Tor, OpenVPN, and Stunnel.</a:t>
                      </a:r>
                      <a:endParaRPr/>
                    </a:p>
                  </a:txBody>
                  <a:tcPr marL="47625" marR="47625" marT="47625" marB="47625" anchor="ctr"/>
                </a:tc>
                <a:extLst>
                  <a:ext uri="{0D108BD9-81ED-4DB2-BD59-A6C34878D82A}">
                    <a16:rowId xmlns:a16="http://schemas.microsoft.com/office/drawing/2014/main" val="10006"/>
                  </a:ext>
                </a:extLst>
              </a:tr>
              <a:tr h="412250">
                <a:tc>
                  <a:txBody>
                    <a:bodyPr/>
                    <a:lstStyle/>
                    <a:p>
                      <a:pPr marL="0" marR="0" lvl="0" indent="0" algn="l" rtl="0">
                        <a:spcBef>
                          <a:spcPts val="0"/>
                        </a:spcBef>
                        <a:spcAft>
                          <a:spcPts val="0"/>
                        </a:spcAft>
                        <a:buNone/>
                      </a:pPr>
                      <a:r>
                        <a:rPr lang="en-US" sz="1000" b="0" u="none" strike="noStrike" cap="none"/>
                        <a:t>Vulnerability Exploitation Tools</a:t>
                      </a:r>
                      <a:endParaRPr/>
                    </a:p>
                  </a:txBody>
                  <a:tcPr marL="47625" marR="47625" marT="47625" marB="47625" anchor="ctr"/>
                </a:tc>
                <a:tc>
                  <a:txBody>
                    <a:bodyPr/>
                    <a:lstStyle/>
                    <a:p>
                      <a:pPr marL="0" marR="0" lvl="0" indent="0" algn="l" rtl="0">
                        <a:spcBef>
                          <a:spcPts val="0"/>
                        </a:spcBef>
                        <a:spcAft>
                          <a:spcPts val="0"/>
                        </a:spcAft>
                        <a:buNone/>
                      </a:pPr>
                      <a:r>
                        <a:rPr lang="en-US" sz="1000" b="0" u="none" strike="noStrike" cap="none"/>
                        <a:t>These tools identify whether a remote host is vulnerable to a security attack. Examples of vulnerability exploitation tools include Metasploit, Core Impact, Sqlmap, Social Engineer Toolkit, and Netsparker.</a:t>
                      </a:r>
                      <a:endParaRPr/>
                    </a:p>
                  </a:txBody>
                  <a:tcPr marL="47625" marR="47625" marT="47625" marB="47625" anchor="ctr"/>
                </a:tc>
                <a:extLst>
                  <a:ext uri="{0D108BD9-81ED-4DB2-BD59-A6C34878D82A}">
                    <a16:rowId xmlns:a16="http://schemas.microsoft.com/office/drawing/2014/main" val="10007"/>
                  </a:ext>
                </a:extLst>
              </a:tr>
              <a:tr h="467600">
                <a:tc>
                  <a:txBody>
                    <a:bodyPr/>
                    <a:lstStyle/>
                    <a:p>
                      <a:pPr marL="0" marR="0" lvl="0" indent="0" algn="l" rtl="0">
                        <a:spcBef>
                          <a:spcPts val="0"/>
                        </a:spcBef>
                        <a:spcAft>
                          <a:spcPts val="0"/>
                        </a:spcAft>
                        <a:buNone/>
                      </a:pPr>
                      <a:r>
                        <a:rPr lang="en-US" sz="1000" b="0" u="none" strike="noStrike" cap="none"/>
                        <a:t>Vulnerability Scanners</a:t>
                      </a:r>
                      <a:endParaRPr/>
                    </a:p>
                  </a:txBody>
                  <a:tcPr marL="47625" marR="47625" marT="47625" marB="47625" anchor="ctr"/>
                </a:tc>
                <a:tc>
                  <a:txBody>
                    <a:bodyPr/>
                    <a:lstStyle/>
                    <a:p>
                      <a:pPr marL="0" marR="0" lvl="0" indent="0" algn="l" rtl="0">
                        <a:spcBef>
                          <a:spcPts val="0"/>
                        </a:spcBef>
                        <a:spcAft>
                          <a:spcPts val="0"/>
                        </a:spcAft>
                        <a:buNone/>
                      </a:pPr>
                      <a:r>
                        <a:rPr lang="en-US" sz="1000" b="0" u="none" strike="noStrike" cap="none"/>
                        <a:t>These tools scan a network or system to identify open ports. They can also be used to scan for known vulnerabilities and scan VMs, BYOD devices, and client databases. Examples of tools include Nipper, Core Impact, Nessus, SAINT, and OpenVAS</a:t>
                      </a:r>
                      <a:endParaRPr/>
                    </a:p>
                  </a:txBody>
                  <a:tcPr marL="47625" marR="47625" marT="47625" marB="47625" anchor="ct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p16"/>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Threat Actor Tools</a:t>
            </a:r>
            <a:br>
              <a:rPr lang="en-US"/>
            </a:br>
            <a:r>
              <a:rPr lang="en-US" sz="2400"/>
              <a:t>Attack Types</a:t>
            </a:r>
            <a:endParaRPr/>
          </a:p>
        </p:txBody>
      </p:sp>
      <p:graphicFrame>
        <p:nvGraphicFramePr>
          <p:cNvPr id="787" name="Google Shape;787;p16"/>
          <p:cNvGraphicFramePr/>
          <p:nvPr/>
        </p:nvGraphicFramePr>
        <p:xfrm>
          <a:off x="389614" y="794191"/>
          <a:ext cx="8070575" cy="3796650"/>
        </p:xfrm>
        <a:graphic>
          <a:graphicData uri="http://schemas.openxmlformats.org/drawingml/2006/table">
            <a:tbl>
              <a:tblPr firstRow="1" bandRow="1">
                <a:noFill/>
                <a:tableStyleId>{0DCACE81-CCCA-460A-ACD2-FE0297909B90}</a:tableStyleId>
              </a:tblPr>
              <a:tblGrid>
                <a:gridCol w="1733375">
                  <a:extLst>
                    <a:ext uri="{9D8B030D-6E8A-4147-A177-3AD203B41FA5}">
                      <a16:colId xmlns:a16="http://schemas.microsoft.com/office/drawing/2014/main" val="20000"/>
                    </a:ext>
                  </a:extLst>
                </a:gridCol>
                <a:gridCol w="6337200">
                  <a:extLst>
                    <a:ext uri="{9D8B030D-6E8A-4147-A177-3AD203B41FA5}">
                      <a16:colId xmlns:a16="http://schemas.microsoft.com/office/drawing/2014/main" val="20001"/>
                    </a:ext>
                  </a:extLst>
                </a:gridCol>
              </a:tblGrid>
              <a:tr h="291450">
                <a:tc>
                  <a:txBody>
                    <a:bodyPr/>
                    <a:lstStyle/>
                    <a:p>
                      <a:pPr marL="0" marR="0" lvl="0" indent="0" algn="l" rtl="0">
                        <a:spcBef>
                          <a:spcPts val="0"/>
                        </a:spcBef>
                        <a:spcAft>
                          <a:spcPts val="0"/>
                        </a:spcAft>
                        <a:buNone/>
                      </a:pPr>
                      <a:r>
                        <a:rPr lang="en-US" sz="1000" u="none" strike="noStrike" cap="none"/>
                        <a:t>Attack Type</a:t>
                      </a:r>
                      <a:endParaRPr/>
                    </a:p>
                  </a:txBody>
                  <a:tcPr marL="47625" marR="47625" marT="47625" marB="47625" anchor="ctr"/>
                </a:tc>
                <a:tc>
                  <a:txBody>
                    <a:bodyPr/>
                    <a:lstStyle/>
                    <a:p>
                      <a:pPr marL="0" marR="0" lvl="0" indent="0" algn="l" rtl="0">
                        <a:spcBef>
                          <a:spcPts val="0"/>
                        </a:spcBef>
                        <a:spcAft>
                          <a:spcPts val="0"/>
                        </a:spcAft>
                        <a:buNone/>
                      </a:pPr>
                      <a:r>
                        <a:rPr lang="en-US" sz="1000" u="none" strike="noStrike" cap="none"/>
                        <a:t>Description</a:t>
                      </a:r>
                      <a:endParaRPr/>
                    </a:p>
                  </a:txBody>
                  <a:tcPr marL="47625" marR="47625" marT="47625" marB="47625" anchor="ctr"/>
                </a:tc>
                <a:extLst>
                  <a:ext uri="{0D108BD9-81ED-4DB2-BD59-A6C34878D82A}">
                    <a16:rowId xmlns:a16="http://schemas.microsoft.com/office/drawing/2014/main" val="10000"/>
                  </a:ext>
                </a:extLst>
              </a:tr>
              <a:tr h="314400">
                <a:tc>
                  <a:txBody>
                    <a:bodyPr/>
                    <a:lstStyle/>
                    <a:p>
                      <a:pPr marL="0" marR="0" lvl="0" indent="0" algn="l" rtl="0">
                        <a:spcBef>
                          <a:spcPts val="0"/>
                        </a:spcBef>
                        <a:spcAft>
                          <a:spcPts val="0"/>
                        </a:spcAft>
                        <a:buNone/>
                      </a:pPr>
                      <a:r>
                        <a:rPr lang="en-US" sz="1000" b="0" u="none" strike="noStrike" cap="none"/>
                        <a:t>Eavesdropping Attack</a:t>
                      </a:r>
                      <a:endParaRPr/>
                    </a:p>
                  </a:txBody>
                  <a:tcPr marL="47625" marR="47625" marT="47625" marB="47625" anchor="ctr"/>
                </a:tc>
                <a:tc>
                  <a:txBody>
                    <a:bodyPr/>
                    <a:lstStyle/>
                    <a:p>
                      <a:pPr marL="0" marR="0" lvl="0" indent="0" algn="l" rtl="0">
                        <a:spcBef>
                          <a:spcPts val="0"/>
                        </a:spcBef>
                        <a:spcAft>
                          <a:spcPts val="0"/>
                        </a:spcAft>
                        <a:buNone/>
                      </a:pPr>
                      <a:r>
                        <a:rPr lang="en-US" sz="1000" b="0" u="none" strike="noStrike" cap="none"/>
                        <a:t>This is when a threat actor captures and “listens” to network traffic. This attack is also referred to as sniffing or snooping.</a:t>
                      </a:r>
                      <a:endParaRPr/>
                    </a:p>
                  </a:txBody>
                  <a:tcPr marL="47625" marR="47625" marT="47625" marB="47625" anchor="ctr"/>
                </a:tc>
                <a:extLst>
                  <a:ext uri="{0D108BD9-81ED-4DB2-BD59-A6C34878D82A}">
                    <a16:rowId xmlns:a16="http://schemas.microsoft.com/office/drawing/2014/main" val="10001"/>
                  </a:ext>
                </a:extLst>
              </a:tr>
              <a:tr h="314400">
                <a:tc>
                  <a:txBody>
                    <a:bodyPr/>
                    <a:lstStyle/>
                    <a:p>
                      <a:pPr marL="0" marR="0" lvl="0" indent="0" algn="l" rtl="0">
                        <a:spcBef>
                          <a:spcPts val="0"/>
                        </a:spcBef>
                        <a:spcAft>
                          <a:spcPts val="0"/>
                        </a:spcAft>
                        <a:buNone/>
                      </a:pPr>
                      <a:r>
                        <a:rPr lang="en-US" sz="1000" b="0" u="none" strike="noStrike" cap="none"/>
                        <a:t>Data Modification Attack</a:t>
                      </a:r>
                      <a:endParaRPr/>
                    </a:p>
                  </a:txBody>
                  <a:tcPr marL="47625" marR="47625" marT="47625" marB="47625" anchor="ctr"/>
                </a:tc>
                <a:tc>
                  <a:txBody>
                    <a:bodyPr/>
                    <a:lstStyle/>
                    <a:p>
                      <a:pPr marL="0" marR="0" lvl="0" indent="0" algn="l" rtl="0">
                        <a:spcBef>
                          <a:spcPts val="0"/>
                        </a:spcBef>
                        <a:spcAft>
                          <a:spcPts val="0"/>
                        </a:spcAft>
                        <a:buNone/>
                      </a:pPr>
                      <a:r>
                        <a:rPr lang="en-US" sz="1000" b="0" u="none" strike="noStrike" cap="none"/>
                        <a:t>If threat actors have captured enterprise traffic, they can alter the data in the packet without the knowledge of the sender or receiver.</a:t>
                      </a:r>
                      <a:endParaRPr/>
                    </a:p>
                  </a:txBody>
                  <a:tcPr marL="47625" marR="47625" marT="47625" marB="47625" anchor="ctr"/>
                </a:tc>
                <a:extLst>
                  <a:ext uri="{0D108BD9-81ED-4DB2-BD59-A6C34878D82A}">
                    <a16:rowId xmlns:a16="http://schemas.microsoft.com/office/drawing/2014/main" val="10002"/>
                  </a:ext>
                </a:extLst>
              </a:tr>
              <a:tr h="314400">
                <a:tc>
                  <a:txBody>
                    <a:bodyPr/>
                    <a:lstStyle/>
                    <a:p>
                      <a:pPr marL="0" marR="0" lvl="0" indent="0" algn="l" rtl="0">
                        <a:spcBef>
                          <a:spcPts val="0"/>
                        </a:spcBef>
                        <a:spcAft>
                          <a:spcPts val="0"/>
                        </a:spcAft>
                        <a:buNone/>
                      </a:pPr>
                      <a:r>
                        <a:rPr lang="en-US" sz="1000" b="0" u="none" strike="noStrike" cap="none"/>
                        <a:t>IP Address Spoofing Attack</a:t>
                      </a:r>
                      <a:endParaRPr/>
                    </a:p>
                  </a:txBody>
                  <a:tcPr marL="47625" marR="47625" marT="47625" marB="47625" anchor="ctr"/>
                </a:tc>
                <a:tc>
                  <a:txBody>
                    <a:bodyPr/>
                    <a:lstStyle/>
                    <a:p>
                      <a:pPr marL="0" marR="0" lvl="0" indent="0" algn="l" rtl="0">
                        <a:spcBef>
                          <a:spcPts val="0"/>
                        </a:spcBef>
                        <a:spcAft>
                          <a:spcPts val="0"/>
                        </a:spcAft>
                        <a:buNone/>
                      </a:pPr>
                      <a:r>
                        <a:rPr lang="en-US" sz="1000" b="0" u="none" strike="noStrike" cap="none"/>
                        <a:t>A threat actor constructs an IP packet that appears to originate from a valid address inside the corporate intranet.</a:t>
                      </a:r>
                      <a:endParaRPr/>
                    </a:p>
                  </a:txBody>
                  <a:tcPr marL="47625" marR="47625" marT="47625" marB="47625" anchor="ctr"/>
                </a:tc>
                <a:extLst>
                  <a:ext uri="{0D108BD9-81ED-4DB2-BD59-A6C34878D82A}">
                    <a16:rowId xmlns:a16="http://schemas.microsoft.com/office/drawing/2014/main" val="10003"/>
                  </a:ext>
                </a:extLst>
              </a:tr>
              <a:tr h="434175">
                <a:tc>
                  <a:txBody>
                    <a:bodyPr/>
                    <a:lstStyle/>
                    <a:p>
                      <a:pPr marL="0" marR="0" lvl="0" indent="0" algn="l" rtl="0">
                        <a:spcBef>
                          <a:spcPts val="0"/>
                        </a:spcBef>
                        <a:spcAft>
                          <a:spcPts val="0"/>
                        </a:spcAft>
                        <a:buNone/>
                      </a:pPr>
                      <a:r>
                        <a:rPr lang="en-US" sz="1000" b="0" u="none" strike="noStrike" cap="none"/>
                        <a:t>Password-Based Attacks</a:t>
                      </a:r>
                      <a:endParaRPr/>
                    </a:p>
                  </a:txBody>
                  <a:tcPr marL="47625" marR="47625" marT="47625" marB="47625" anchor="ctr"/>
                </a:tc>
                <a:tc>
                  <a:txBody>
                    <a:bodyPr/>
                    <a:lstStyle/>
                    <a:p>
                      <a:pPr marL="0" marR="0" lvl="0" indent="0" algn="l" rtl="0">
                        <a:spcBef>
                          <a:spcPts val="0"/>
                        </a:spcBef>
                        <a:spcAft>
                          <a:spcPts val="0"/>
                        </a:spcAft>
                        <a:buNone/>
                      </a:pPr>
                      <a:r>
                        <a:rPr lang="en-US" sz="1000" b="0" u="none" strike="noStrike" cap="none"/>
                        <a:t>If threat actors discover a valid user account, the threat actors have the same rights as the real user. Threat actors could use that valid account to obtain lists of other users, network information, change server and network configurations, and modify, reroute, or delete data.</a:t>
                      </a:r>
                      <a:endParaRPr/>
                    </a:p>
                  </a:txBody>
                  <a:tcPr marL="47625" marR="47625" marT="47625" marB="47625" anchor="ctr"/>
                </a:tc>
                <a:extLst>
                  <a:ext uri="{0D108BD9-81ED-4DB2-BD59-A6C34878D82A}">
                    <a16:rowId xmlns:a16="http://schemas.microsoft.com/office/drawing/2014/main" val="10004"/>
                  </a:ext>
                </a:extLst>
              </a:tr>
              <a:tr h="434175">
                <a:tc>
                  <a:txBody>
                    <a:bodyPr/>
                    <a:lstStyle/>
                    <a:p>
                      <a:pPr marL="0" marR="0" lvl="0" indent="0" algn="l" rtl="0">
                        <a:spcBef>
                          <a:spcPts val="0"/>
                        </a:spcBef>
                        <a:spcAft>
                          <a:spcPts val="0"/>
                        </a:spcAft>
                        <a:buNone/>
                      </a:pPr>
                      <a:r>
                        <a:rPr lang="en-US" sz="1000" b="0" u="none" strike="noStrike" cap="none"/>
                        <a:t>Denial of Service Attack</a:t>
                      </a:r>
                      <a:endParaRPr/>
                    </a:p>
                  </a:txBody>
                  <a:tcPr marL="47625" marR="47625" marT="47625" marB="47625" anchor="ctr"/>
                </a:tc>
                <a:tc>
                  <a:txBody>
                    <a:bodyPr/>
                    <a:lstStyle/>
                    <a:p>
                      <a:pPr marL="0" marR="0" lvl="0" indent="0" algn="l" rtl="0">
                        <a:spcBef>
                          <a:spcPts val="0"/>
                        </a:spcBef>
                        <a:spcAft>
                          <a:spcPts val="0"/>
                        </a:spcAft>
                        <a:buNone/>
                      </a:pPr>
                      <a:r>
                        <a:rPr lang="en-US" sz="1000" b="0" u="none" strike="noStrike" cap="none"/>
                        <a:t>A DoS attack prevents normal use of a computer or network by valid users. A DoS attack can flood a computer or the entire network with traffic until a shutdown occurs because of the overload. A DoS attack can also block traffic, which results in a loss of access to network resources by authorized users.</a:t>
                      </a:r>
                      <a:endParaRPr/>
                    </a:p>
                  </a:txBody>
                  <a:tcPr marL="47625" marR="47625" marT="47625" marB="47625" anchor="ctr"/>
                </a:tc>
                <a:extLst>
                  <a:ext uri="{0D108BD9-81ED-4DB2-BD59-A6C34878D82A}">
                    <a16:rowId xmlns:a16="http://schemas.microsoft.com/office/drawing/2014/main" val="10005"/>
                  </a:ext>
                </a:extLst>
              </a:tr>
              <a:tr h="314400">
                <a:tc>
                  <a:txBody>
                    <a:bodyPr/>
                    <a:lstStyle/>
                    <a:p>
                      <a:pPr marL="0" marR="0" lvl="0" indent="0" algn="l" rtl="0">
                        <a:spcBef>
                          <a:spcPts val="0"/>
                        </a:spcBef>
                        <a:spcAft>
                          <a:spcPts val="0"/>
                        </a:spcAft>
                        <a:buNone/>
                      </a:pPr>
                      <a:r>
                        <a:rPr lang="en-US" sz="1000" b="0" u="none" strike="noStrike" cap="none"/>
                        <a:t>Man-in-the-Middle Attack</a:t>
                      </a:r>
                      <a:endParaRPr/>
                    </a:p>
                  </a:txBody>
                  <a:tcPr marL="47625" marR="47625" marT="47625" marB="47625" anchor="ctr"/>
                </a:tc>
                <a:tc>
                  <a:txBody>
                    <a:bodyPr/>
                    <a:lstStyle/>
                    <a:p>
                      <a:pPr marL="0" marR="0" lvl="0" indent="0" algn="l" rtl="0">
                        <a:spcBef>
                          <a:spcPts val="0"/>
                        </a:spcBef>
                        <a:spcAft>
                          <a:spcPts val="0"/>
                        </a:spcAft>
                        <a:buNone/>
                      </a:pPr>
                      <a:r>
                        <a:rPr lang="en-US" sz="1000" b="0" u="none" strike="noStrike" cap="none"/>
                        <a:t>This attack occurs when threat actors have positioned themselves between a source and destination. They can now actively monitor, capture, and control the communication transparently.</a:t>
                      </a:r>
                      <a:endParaRPr/>
                    </a:p>
                  </a:txBody>
                  <a:tcPr marL="47625" marR="47625" marT="47625" marB="47625" anchor="ctr"/>
                </a:tc>
                <a:extLst>
                  <a:ext uri="{0D108BD9-81ED-4DB2-BD59-A6C34878D82A}">
                    <a16:rowId xmlns:a16="http://schemas.microsoft.com/office/drawing/2014/main" val="10006"/>
                  </a:ext>
                </a:extLst>
              </a:tr>
              <a:tr h="314400">
                <a:tc>
                  <a:txBody>
                    <a:bodyPr/>
                    <a:lstStyle/>
                    <a:p>
                      <a:pPr marL="0" marR="0" lvl="0" indent="0" algn="l" rtl="0">
                        <a:spcBef>
                          <a:spcPts val="0"/>
                        </a:spcBef>
                        <a:spcAft>
                          <a:spcPts val="0"/>
                        </a:spcAft>
                        <a:buNone/>
                      </a:pPr>
                      <a:r>
                        <a:rPr lang="en-US" sz="1000" b="0" u="none" strike="noStrike" cap="none"/>
                        <a:t>Compromised-Key Attack</a:t>
                      </a:r>
                      <a:endParaRPr/>
                    </a:p>
                  </a:txBody>
                  <a:tcPr marL="47625" marR="47625" marT="47625" marB="47625" anchor="ctr"/>
                </a:tc>
                <a:tc>
                  <a:txBody>
                    <a:bodyPr/>
                    <a:lstStyle/>
                    <a:p>
                      <a:pPr marL="0" marR="0" lvl="0" indent="0" algn="l" rtl="0">
                        <a:spcBef>
                          <a:spcPts val="0"/>
                        </a:spcBef>
                        <a:spcAft>
                          <a:spcPts val="0"/>
                        </a:spcAft>
                        <a:buNone/>
                      </a:pPr>
                      <a:r>
                        <a:rPr lang="en-US" sz="1000" b="0" u="none" strike="noStrike" cap="none"/>
                        <a:t>If a threat actor obtains a secret key, that key is referred to as a compromised key. A compromised key can be used to gain access to a secured communication without the sender or receiver being aware of the attack.</a:t>
                      </a:r>
                      <a:endParaRPr/>
                    </a:p>
                  </a:txBody>
                  <a:tcPr marL="47625" marR="47625" marT="47625" marB="47625" anchor="ctr"/>
                </a:tc>
                <a:extLst>
                  <a:ext uri="{0D108BD9-81ED-4DB2-BD59-A6C34878D82A}">
                    <a16:rowId xmlns:a16="http://schemas.microsoft.com/office/drawing/2014/main" val="10007"/>
                  </a:ext>
                </a:extLst>
              </a:tr>
              <a:tr h="314400">
                <a:tc>
                  <a:txBody>
                    <a:bodyPr/>
                    <a:lstStyle/>
                    <a:p>
                      <a:pPr marL="0" marR="0" lvl="0" indent="0" algn="l" rtl="0">
                        <a:spcBef>
                          <a:spcPts val="0"/>
                        </a:spcBef>
                        <a:spcAft>
                          <a:spcPts val="0"/>
                        </a:spcAft>
                        <a:buNone/>
                      </a:pPr>
                      <a:r>
                        <a:rPr lang="en-US" sz="1000" b="0" u="none" strike="noStrike" cap="none"/>
                        <a:t>Sniffer Attack</a:t>
                      </a:r>
                      <a:endParaRPr/>
                    </a:p>
                  </a:txBody>
                  <a:tcPr marL="47625" marR="47625" marT="47625" marB="47625" anchor="ctr"/>
                </a:tc>
                <a:tc>
                  <a:txBody>
                    <a:bodyPr/>
                    <a:lstStyle/>
                    <a:p>
                      <a:pPr marL="0" marR="0" lvl="0" indent="0" algn="l" rtl="0">
                        <a:spcBef>
                          <a:spcPts val="0"/>
                        </a:spcBef>
                        <a:spcAft>
                          <a:spcPts val="0"/>
                        </a:spcAft>
                        <a:buNone/>
                      </a:pPr>
                      <a:r>
                        <a:rPr lang="en-US" sz="1000" b="0" u="none" strike="noStrike" cap="none"/>
                        <a:t>A sniffer is an application or device that can read, monitor, and capture network data exchanges and read network packets. If the packets are not encrypted, a sniffer provides a full view of the data inside the packet</a:t>
                      </a:r>
                      <a:endParaRPr/>
                    </a:p>
                  </a:txBody>
                  <a:tcPr marL="47625" marR="47625" marT="47625" marB="47625" anchor="ct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p17"/>
          <p:cNvSpPr txBox="1">
            <a:spLocks noGrp="1"/>
          </p:cNvSpPr>
          <p:nvPr>
            <p:ph type="ctrTitle"/>
          </p:nvPr>
        </p:nvSpPr>
        <p:spPr>
          <a:xfrm>
            <a:off x="416425" y="1788160"/>
            <a:ext cx="7848344" cy="929640"/>
          </a:xfrm>
          <a:prstGeom prst="rect">
            <a:avLst/>
          </a:prstGeom>
          <a:noFill/>
          <a:ln>
            <a:noFill/>
          </a:ln>
        </p:spPr>
        <p:txBody>
          <a:bodyPr spcFirstLastPara="1" wrap="square" lIns="91400" tIns="45700" rIns="91400" bIns="45700" anchor="b" anchorCtr="0">
            <a:noAutofit/>
          </a:bodyPr>
          <a:lstStyle/>
          <a:p>
            <a:pPr marL="0" lvl="0" indent="0" algn="l" rtl="0">
              <a:lnSpc>
                <a:spcPct val="90000"/>
              </a:lnSpc>
              <a:spcBef>
                <a:spcPts val="0"/>
              </a:spcBef>
              <a:spcAft>
                <a:spcPts val="0"/>
              </a:spcAft>
              <a:buClr>
                <a:srgbClr val="AEE8FA"/>
              </a:buClr>
              <a:buSzPts val="4600"/>
              <a:buFont typeface="Arial"/>
              <a:buNone/>
            </a:pPr>
            <a:r>
              <a:rPr lang="en-US">
                <a:solidFill>
                  <a:srgbClr val="AEE8FA"/>
                </a:solidFill>
              </a:rPr>
              <a:t>3.4 Malware</a:t>
            </a:r>
            <a:endParaRPr/>
          </a:p>
        </p:txBody>
      </p:sp>
    </p:spTree>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p18"/>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Malware</a:t>
            </a:r>
            <a:br>
              <a:rPr lang="en-US"/>
            </a:br>
            <a:r>
              <a:rPr lang="en-US" sz="2400"/>
              <a:t>Overview of Malware</a:t>
            </a:r>
            <a:endParaRPr/>
          </a:p>
        </p:txBody>
      </p:sp>
      <p:sp>
        <p:nvSpPr>
          <p:cNvPr id="800" name="Google Shape;800;p18"/>
          <p:cNvSpPr txBox="1">
            <a:spLocks noGrp="1"/>
          </p:cNvSpPr>
          <p:nvPr>
            <p:ph type="body" idx="1"/>
          </p:nvPr>
        </p:nvSpPr>
        <p:spPr>
          <a:xfrm>
            <a:off x="474662" y="731838"/>
            <a:ext cx="8280057" cy="1374776"/>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600"/>
              <a:buFont typeface="Arial"/>
              <a:buChar char="•"/>
            </a:pPr>
            <a:r>
              <a:rPr lang="en-US" sz="1600">
                <a:solidFill>
                  <a:srgbClr val="000000"/>
                </a:solidFill>
              </a:rPr>
              <a:t>Now that you know about the tools that hacker use, this topic introduces you to different types of malware that hackers use to gain access to end devices.</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End devices are particularly prone to malware attacks. It is important to know about malware because threat actors rely on users to install malware to help exploit the security gaps.</a:t>
            </a:r>
            <a:endParaRPr/>
          </a:p>
          <a:p>
            <a:pPr marL="342900" lvl="0" indent="-241300" algn="l" rtl="0">
              <a:lnSpc>
                <a:spcPct val="100000"/>
              </a:lnSpc>
              <a:spcBef>
                <a:spcPts val="320"/>
              </a:spcBef>
              <a:spcAft>
                <a:spcPts val="0"/>
              </a:spcAft>
              <a:buSzPts val="1600"/>
              <a:buFont typeface="Arial"/>
              <a:buNone/>
            </a:pPr>
            <a:endParaRPr sz="1600">
              <a:solidFill>
                <a:srgbClr val="000000"/>
              </a:solidFill>
            </a:endParaRPr>
          </a:p>
        </p:txBody>
      </p:sp>
      <p:pic>
        <p:nvPicPr>
          <p:cNvPr id="801" name="Google Shape;801;p18"/>
          <p:cNvPicPr preferRelativeResize="0"/>
          <p:nvPr/>
        </p:nvPicPr>
        <p:blipFill rotWithShape="1">
          <a:blip r:embed="rId3">
            <a:alphaModFix/>
          </a:blip>
          <a:srcRect/>
          <a:stretch/>
        </p:blipFill>
        <p:spPr>
          <a:xfrm>
            <a:off x="664803" y="2106613"/>
            <a:ext cx="7400925" cy="23050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p19"/>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Malware</a:t>
            </a:r>
            <a:br>
              <a:rPr lang="en-US"/>
            </a:br>
            <a:r>
              <a:rPr lang="en-US" sz="2400"/>
              <a:t>Viruses and Trojan Horses</a:t>
            </a:r>
            <a:endParaRPr/>
          </a:p>
        </p:txBody>
      </p:sp>
      <p:sp>
        <p:nvSpPr>
          <p:cNvPr id="808" name="Google Shape;808;p19"/>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600"/>
              <a:buFont typeface="Arial"/>
              <a:buChar char="•"/>
            </a:pPr>
            <a:r>
              <a:rPr lang="en-US" sz="1600">
                <a:solidFill>
                  <a:srgbClr val="000000"/>
                </a:solidFill>
              </a:rPr>
              <a:t>The first and most common type of computer malware is a virus. Viruses require human action to propagate and infect other computers. </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The virus hides by attaching itself to computer code, software, or documents on the computer. When opened, the virus executes and infects the computer.</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Viruses can:</a:t>
            </a:r>
            <a:endParaRPr/>
          </a:p>
          <a:p>
            <a:pPr marL="415984" lvl="1" indent="-342899" algn="l" rtl="0">
              <a:lnSpc>
                <a:spcPct val="95000"/>
              </a:lnSpc>
              <a:spcBef>
                <a:spcPts val="600"/>
              </a:spcBef>
              <a:spcAft>
                <a:spcPts val="0"/>
              </a:spcAft>
              <a:buSzPts val="1400"/>
              <a:buFont typeface="Arial"/>
              <a:buChar char="•"/>
            </a:pPr>
            <a:r>
              <a:rPr lang="en-US">
                <a:solidFill>
                  <a:srgbClr val="000000"/>
                </a:solidFill>
              </a:rPr>
              <a:t>  Alter, corrupt, delete files, or erase entire drives.</a:t>
            </a:r>
            <a:endParaRPr/>
          </a:p>
          <a:p>
            <a:pPr marL="415984" lvl="1" indent="-342899" algn="l" rtl="0">
              <a:lnSpc>
                <a:spcPct val="95000"/>
              </a:lnSpc>
              <a:spcBef>
                <a:spcPts val="600"/>
              </a:spcBef>
              <a:spcAft>
                <a:spcPts val="0"/>
              </a:spcAft>
              <a:buSzPts val="1400"/>
              <a:buFont typeface="Arial"/>
              <a:buChar char="•"/>
            </a:pPr>
            <a:r>
              <a:rPr lang="en-US">
                <a:solidFill>
                  <a:srgbClr val="000000"/>
                </a:solidFill>
              </a:rPr>
              <a:t> Cause computer booting issues, and corrupt applications.</a:t>
            </a:r>
            <a:endParaRPr/>
          </a:p>
          <a:p>
            <a:pPr marL="415984" lvl="1" indent="-342899" algn="l" rtl="0">
              <a:lnSpc>
                <a:spcPct val="95000"/>
              </a:lnSpc>
              <a:spcBef>
                <a:spcPts val="600"/>
              </a:spcBef>
              <a:spcAft>
                <a:spcPts val="0"/>
              </a:spcAft>
              <a:buSzPts val="1400"/>
              <a:buFont typeface="Arial"/>
              <a:buChar char="•"/>
            </a:pPr>
            <a:r>
              <a:rPr lang="en-US">
                <a:solidFill>
                  <a:srgbClr val="000000"/>
                </a:solidFill>
              </a:rPr>
              <a:t> Capture and send sensitive information to threat actors.</a:t>
            </a:r>
            <a:endParaRPr/>
          </a:p>
          <a:p>
            <a:pPr marL="415984" lvl="1" indent="-342899" algn="l" rtl="0">
              <a:lnSpc>
                <a:spcPct val="95000"/>
              </a:lnSpc>
              <a:spcBef>
                <a:spcPts val="600"/>
              </a:spcBef>
              <a:spcAft>
                <a:spcPts val="0"/>
              </a:spcAft>
              <a:buSzPts val="1400"/>
              <a:buFont typeface="Arial"/>
              <a:buChar char="•"/>
            </a:pPr>
            <a:r>
              <a:rPr lang="en-US">
                <a:solidFill>
                  <a:srgbClr val="000000"/>
                </a:solidFill>
              </a:rPr>
              <a:t> Access and use email accounts to spread.</a:t>
            </a:r>
            <a:endParaRPr/>
          </a:p>
          <a:p>
            <a:pPr marL="415984" lvl="1" indent="-342899" algn="l" rtl="0">
              <a:lnSpc>
                <a:spcPct val="95000"/>
              </a:lnSpc>
              <a:spcBef>
                <a:spcPts val="600"/>
              </a:spcBef>
              <a:spcAft>
                <a:spcPts val="0"/>
              </a:spcAft>
              <a:buSzPts val="1400"/>
              <a:buFont typeface="Arial"/>
              <a:buChar char="•"/>
            </a:pPr>
            <a:r>
              <a:rPr lang="en-US">
                <a:solidFill>
                  <a:srgbClr val="000000"/>
                </a:solidFill>
              </a:rPr>
              <a:t> Lay dormant until summoned by the threat actor.</a:t>
            </a:r>
            <a:endParaRPr/>
          </a:p>
          <a:p>
            <a:pPr marL="0" lvl="0" indent="0" algn="l" rtl="0">
              <a:lnSpc>
                <a:spcPct val="100000"/>
              </a:lnSpc>
              <a:spcBef>
                <a:spcPts val="320"/>
              </a:spcBef>
              <a:spcAft>
                <a:spcPts val="0"/>
              </a:spcAft>
              <a:buSzPts val="1600"/>
              <a:buNone/>
            </a:pPr>
            <a:endParaRPr sz="16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sp>
        <p:nvSpPr>
          <p:cNvPr id="814" name="Google Shape;814;p20"/>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Malware</a:t>
            </a:r>
            <a:br>
              <a:rPr lang="en-US"/>
            </a:br>
            <a:r>
              <a:rPr lang="en-US" sz="2400"/>
              <a:t>Viruses and Trojan Horses (Cont.)</a:t>
            </a:r>
            <a:endParaRPr/>
          </a:p>
        </p:txBody>
      </p:sp>
      <p:sp>
        <p:nvSpPr>
          <p:cNvPr id="815" name="Google Shape;815;p20"/>
          <p:cNvSpPr txBox="1">
            <a:spLocks noGrp="1"/>
          </p:cNvSpPr>
          <p:nvPr>
            <p:ph type="body" idx="1"/>
          </p:nvPr>
        </p:nvSpPr>
        <p:spPr>
          <a:xfrm>
            <a:off x="474662" y="731838"/>
            <a:ext cx="8280057" cy="340650"/>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Modern viruses are developed for specific intent such as those listed in the table.</a:t>
            </a:r>
            <a:endParaRPr/>
          </a:p>
        </p:txBody>
      </p:sp>
      <p:graphicFrame>
        <p:nvGraphicFramePr>
          <p:cNvPr id="816" name="Google Shape;816;p20"/>
          <p:cNvGraphicFramePr/>
          <p:nvPr/>
        </p:nvGraphicFramePr>
        <p:xfrm>
          <a:off x="545988" y="1263873"/>
          <a:ext cx="7799500" cy="2225100"/>
        </p:xfrm>
        <a:graphic>
          <a:graphicData uri="http://schemas.openxmlformats.org/drawingml/2006/table">
            <a:tbl>
              <a:tblPr firstRow="1" bandRow="1">
                <a:noFill/>
                <a:tableStyleId>{0DCACE81-CCCA-460A-ACD2-FE0297909B90}</a:tableStyleId>
              </a:tblPr>
              <a:tblGrid>
                <a:gridCol w="1553150">
                  <a:extLst>
                    <a:ext uri="{9D8B030D-6E8A-4147-A177-3AD203B41FA5}">
                      <a16:colId xmlns:a16="http://schemas.microsoft.com/office/drawing/2014/main" val="20000"/>
                    </a:ext>
                  </a:extLst>
                </a:gridCol>
                <a:gridCol w="6246350">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US" sz="1400" u="none" strike="noStrike" cap="none"/>
                        <a:t>Types of Viruses</a:t>
                      </a:r>
                      <a:endParaRPr/>
                    </a:p>
                  </a:txBody>
                  <a:tcPr marL="47625" marR="47625" marT="47625" marB="47625" anchor="ctr"/>
                </a:tc>
                <a:tc>
                  <a:txBody>
                    <a:bodyPr/>
                    <a:lstStyle/>
                    <a:p>
                      <a:pPr marL="0" marR="0" lvl="0" indent="0" algn="l" rtl="0">
                        <a:spcBef>
                          <a:spcPts val="0"/>
                        </a:spcBef>
                        <a:spcAft>
                          <a:spcPts val="0"/>
                        </a:spcAft>
                        <a:buNone/>
                      </a:pPr>
                      <a:r>
                        <a:rPr lang="en-US" sz="1400" u="none" strike="noStrike" cap="none"/>
                        <a:t>Description</a:t>
                      </a:r>
                      <a:endParaRPr/>
                    </a:p>
                  </a:txBody>
                  <a:tcPr marL="47625" marR="47625" marT="47625" marB="47625" anchor="ctr"/>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400" b="0" u="none" strike="noStrike" cap="none"/>
                        <a:t>Boot sector virus</a:t>
                      </a:r>
                      <a:endParaRPr/>
                    </a:p>
                  </a:txBody>
                  <a:tcPr marL="47625" marR="47625" marT="47625" marB="47625" anchor="ctr"/>
                </a:tc>
                <a:tc>
                  <a:txBody>
                    <a:bodyPr/>
                    <a:lstStyle/>
                    <a:p>
                      <a:pPr marL="0" marR="0" lvl="0" indent="0" algn="l" rtl="0">
                        <a:spcBef>
                          <a:spcPts val="0"/>
                        </a:spcBef>
                        <a:spcAft>
                          <a:spcPts val="0"/>
                        </a:spcAft>
                        <a:buNone/>
                      </a:pPr>
                      <a:r>
                        <a:rPr lang="en-US" sz="1400" b="0" u="none" strike="noStrike" cap="none"/>
                        <a:t>Virus attacks the boot sector, file partition table, or file system.</a:t>
                      </a:r>
                      <a:endParaRPr/>
                    </a:p>
                  </a:txBody>
                  <a:tcPr marL="47625" marR="47625" marT="47625" marB="47625" anchor="ctr"/>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400" b="0" u="none" strike="noStrike" cap="none"/>
                        <a:t>Firmware viruses</a:t>
                      </a:r>
                      <a:endParaRPr/>
                    </a:p>
                  </a:txBody>
                  <a:tcPr marL="47625" marR="47625" marT="47625" marB="47625" anchor="ctr"/>
                </a:tc>
                <a:tc>
                  <a:txBody>
                    <a:bodyPr/>
                    <a:lstStyle/>
                    <a:p>
                      <a:pPr marL="0" marR="0" lvl="0" indent="0" algn="l" rtl="0">
                        <a:spcBef>
                          <a:spcPts val="0"/>
                        </a:spcBef>
                        <a:spcAft>
                          <a:spcPts val="0"/>
                        </a:spcAft>
                        <a:buNone/>
                      </a:pPr>
                      <a:r>
                        <a:rPr lang="en-US" sz="1400" b="0" u="none" strike="noStrike" cap="none"/>
                        <a:t>Virus attacks the device firmware.</a:t>
                      </a:r>
                      <a:endParaRPr/>
                    </a:p>
                  </a:txBody>
                  <a:tcPr marL="47625" marR="47625" marT="47625" marB="47625" anchor="ctr"/>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400" b="0" u="none" strike="noStrike" cap="none"/>
                        <a:t>Macro virus</a:t>
                      </a:r>
                      <a:endParaRPr/>
                    </a:p>
                  </a:txBody>
                  <a:tcPr marL="47625" marR="47625" marT="47625" marB="47625" anchor="ctr"/>
                </a:tc>
                <a:tc>
                  <a:txBody>
                    <a:bodyPr/>
                    <a:lstStyle/>
                    <a:p>
                      <a:pPr marL="0" marR="0" lvl="0" indent="0" algn="l" rtl="0">
                        <a:spcBef>
                          <a:spcPts val="0"/>
                        </a:spcBef>
                        <a:spcAft>
                          <a:spcPts val="0"/>
                        </a:spcAft>
                        <a:buNone/>
                      </a:pPr>
                      <a:r>
                        <a:rPr lang="en-US" sz="1400" b="0" u="none" strike="noStrike" cap="none"/>
                        <a:t>Virus uses the MS Office macro feature maliciously.</a:t>
                      </a:r>
                      <a:endParaRPr/>
                    </a:p>
                  </a:txBody>
                  <a:tcPr marL="47625" marR="47625" marT="47625" marB="47625" anchor="ctr"/>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400" b="0" u="none" strike="noStrike" cap="none"/>
                        <a:t>Program viruses</a:t>
                      </a:r>
                      <a:endParaRPr/>
                    </a:p>
                  </a:txBody>
                  <a:tcPr marL="47625" marR="47625" marT="47625" marB="47625" anchor="ctr"/>
                </a:tc>
                <a:tc>
                  <a:txBody>
                    <a:bodyPr/>
                    <a:lstStyle/>
                    <a:p>
                      <a:pPr marL="0" marR="0" lvl="0" indent="0" algn="l" rtl="0">
                        <a:spcBef>
                          <a:spcPts val="0"/>
                        </a:spcBef>
                        <a:spcAft>
                          <a:spcPts val="0"/>
                        </a:spcAft>
                        <a:buNone/>
                      </a:pPr>
                      <a:r>
                        <a:rPr lang="en-US" sz="1400" b="0" u="none" strike="noStrike" cap="none"/>
                        <a:t>Virus inserts itself in another executable program.</a:t>
                      </a:r>
                      <a:endParaRPr/>
                    </a:p>
                  </a:txBody>
                  <a:tcPr marL="47625" marR="47625" marT="47625" marB="47625" anchor="ctr"/>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1400" b="0" u="none" strike="noStrike" cap="none"/>
                        <a:t>Script viruses</a:t>
                      </a:r>
                      <a:endParaRPr/>
                    </a:p>
                  </a:txBody>
                  <a:tcPr marL="47625" marR="47625" marT="47625" marB="47625" anchor="ctr"/>
                </a:tc>
                <a:tc>
                  <a:txBody>
                    <a:bodyPr/>
                    <a:lstStyle/>
                    <a:p>
                      <a:pPr marL="0" marR="0" lvl="0" indent="0" algn="l" rtl="0">
                        <a:spcBef>
                          <a:spcPts val="0"/>
                        </a:spcBef>
                        <a:spcAft>
                          <a:spcPts val="0"/>
                        </a:spcAft>
                        <a:buNone/>
                      </a:pPr>
                      <a:r>
                        <a:rPr lang="en-US" sz="1400" b="0" u="none" strike="noStrike" cap="none"/>
                        <a:t>Virus attacks the OS interpreter which is used to execute scripts.</a:t>
                      </a:r>
                      <a:endParaRPr/>
                    </a:p>
                  </a:txBody>
                  <a:tcPr marL="47625" marR="47625" marT="47625" marB="47625" anchor="ct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sp>
        <p:nvSpPr>
          <p:cNvPr id="822" name="Google Shape;822;p21"/>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Malware</a:t>
            </a:r>
            <a:br>
              <a:rPr lang="en-US"/>
            </a:br>
            <a:r>
              <a:rPr lang="en-US" sz="2400"/>
              <a:t>Viruses and Trojan Horses (Cont.)</a:t>
            </a:r>
            <a:endParaRPr/>
          </a:p>
        </p:txBody>
      </p:sp>
      <p:sp>
        <p:nvSpPr>
          <p:cNvPr id="823" name="Google Shape;823;p21"/>
          <p:cNvSpPr txBox="1">
            <a:spLocks noGrp="1"/>
          </p:cNvSpPr>
          <p:nvPr>
            <p:ph type="body" idx="1"/>
          </p:nvPr>
        </p:nvSpPr>
        <p:spPr>
          <a:xfrm>
            <a:off x="474662" y="731838"/>
            <a:ext cx="8280057" cy="777986"/>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400"/>
              <a:buNone/>
            </a:pPr>
            <a:r>
              <a:rPr lang="en-US" sz="1400">
                <a:solidFill>
                  <a:srgbClr val="000000"/>
                </a:solidFill>
              </a:rPr>
              <a:t>Threat actors use Trojan horses to compromise hosts. A Trojan horse is a program that looks useful but also carries malicious code. Trojan horses are often provided with free online programs such as computer games. There are several types of Trojan horses as described in the table.</a:t>
            </a:r>
            <a:endParaRPr/>
          </a:p>
        </p:txBody>
      </p:sp>
      <p:graphicFrame>
        <p:nvGraphicFramePr>
          <p:cNvPr id="824" name="Google Shape;824;p21"/>
          <p:cNvGraphicFramePr/>
          <p:nvPr/>
        </p:nvGraphicFramePr>
        <p:xfrm>
          <a:off x="474662" y="1676786"/>
          <a:ext cx="8080950" cy="2933585"/>
        </p:xfrm>
        <a:graphic>
          <a:graphicData uri="http://schemas.openxmlformats.org/drawingml/2006/table">
            <a:tbl>
              <a:tblPr firstRow="1" bandRow="1">
                <a:noFill/>
                <a:tableStyleId>{0DCACE81-CCCA-460A-ACD2-FE0297909B90}</a:tableStyleId>
              </a:tblPr>
              <a:tblGrid>
                <a:gridCol w="1751700">
                  <a:extLst>
                    <a:ext uri="{9D8B030D-6E8A-4147-A177-3AD203B41FA5}">
                      <a16:colId xmlns:a16="http://schemas.microsoft.com/office/drawing/2014/main" val="20000"/>
                    </a:ext>
                  </a:extLst>
                </a:gridCol>
                <a:gridCol w="6329250">
                  <a:extLst>
                    <a:ext uri="{9D8B030D-6E8A-4147-A177-3AD203B41FA5}">
                      <a16:colId xmlns:a16="http://schemas.microsoft.com/office/drawing/2014/main" val="20001"/>
                    </a:ext>
                  </a:extLst>
                </a:gridCol>
              </a:tblGrid>
              <a:tr h="296075">
                <a:tc>
                  <a:txBody>
                    <a:bodyPr/>
                    <a:lstStyle/>
                    <a:p>
                      <a:pPr marL="0" marR="0" lvl="0" indent="0" algn="l" rtl="0">
                        <a:spcBef>
                          <a:spcPts val="0"/>
                        </a:spcBef>
                        <a:spcAft>
                          <a:spcPts val="0"/>
                        </a:spcAft>
                        <a:buNone/>
                      </a:pPr>
                      <a:r>
                        <a:rPr lang="en-US" sz="1100" u="none" strike="noStrike" cap="none"/>
                        <a:t>Type of Trojan Horse</a:t>
                      </a:r>
                      <a:endParaRPr/>
                    </a:p>
                  </a:txBody>
                  <a:tcPr marL="47625" marR="47625" marT="47625" marB="47625" anchor="ctr"/>
                </a:tc>
                <a:tc>
                  <a:txBody>
                    <a:bodyPr/>
                    <a:lstStyle/>
                    <a:p>
                      <a:pPr marL="0" marR="0" lvl="0" indent="0" algn="l" rtl="0">
                        <a:spcBef>
                          <a:spcPts val="0"/>
                        </a:spcBef>
                        <a:spcAft>
                          <a:spcPts val="0"/>
                        </a:spcAft>
                        <a:buNone/>
                      </a:pPr>
                      <a:r>
                        <a:rPr lang="en-US" sz="1100" u="none" strike="noStrike" cap="none"/>
                        <a:t>Description</a:t>
                      </a:r>
                      <a:endParaRPr/>
                    </a:p>
                  </a:txBody>
                  <a:tcPr marL="47625" marR="47625" marT="47625" marB="47625" anchor="ctr"/>
                </a:tc>
                <a:extLst>
                  <a:ext uri="{0D108BD9-81ED-4DB2-BD59-A6C34878D82A}">
                    <a16:rowId xmlns:a16="http://schemas.microsoft.com/office/drawing/2014/main" val="10000"/>
                  </a:ext>
                </a:extLst>
              </a:tr>
              <a:tr h="296075">
                <a:tc>
                  <a:txBody>
                    <a:bodyPr/>
                    <a:lstStyle/>
                    <a:p>
                      <a:pPr marL="0" marR="0" lvl="0" indent="0" algn="l" rtl="0">
                        <a:spcBef>
                          <a:spcPts val="0"/>
                        </a:spcBef>
                        <a:spcAft>
                          <a:spcPts val="0"/>
                        </a:spcAft>
                        <a:buNone/>
                      </a:pPr>
                      <a:r>
                        <a:rPr lang="en-US" sz="1100" b="0" u="none" strike="noStrike" cap="none"/>
                        <a:t>Remote-access</a:t>
                      </a:r>
                      <a:endParaRPr/>
                    </a:p>
                  </a:txBody>
                  <a:tcPr marL="47625" marR="47625" marT="47625" marB="47625" anchor="ctr"/>
                </a:tc>
                <a:tc>
                  <a:txBody>
                    <a:bodyPr/>
                    <a:lstStyle/>
                    <a:p>
                      <a:pPr marL="0" marR="0" lvl="0" indent="0" algn="l" rtl="0">
                        <a:spcBef>
                          <a:spcPts val="0"/>
                        </a:spcBef>
                        <a:spcAft>
                          <a:spcPts val="0"/>
                        </a:spcAft>
                        <a:buNone/>
                      </a:pPr>
                      <a:r>
                        <a:rPr lang="en-US" sz="1100" b="0" u="none" strike="noStrike" cap="none"/>
                        <a:t>Trojan horse enables unauthorized remote access.</a:t>
                      </a:r>
                      <a:endParaRPr/>
                    </a:p>
                  </a:txBody>
                  <a:tcPr marL="47625" marR="47625" marT="47625" marB="47625" anchor="ctr"/>
                </a:tc>
                <a:extLst>
                  <a:ext uri="{0D108BD9-81ED-4DB2-BD59-A6C34878D82A}">
                    <a16:rowId xmlns:a16="http://schemas.microsoft.com/office/drawing/2014/main" val="10001"/>
                  </a:ext>
                </a:extLst>
              </a:tr>
              <a:tr h="296075">
                <a:tc>
                  <a:txBody>
                    <a:bodyPr/>
                    <a:lstStyle/>
                    <a:p>
                      <a:pPr marL="0" marR="0" lvl="0" indent="0" algn="l" rtl="0">
                        <a:spcBef>
                          <a:spcPts val="0"/>
                        </a:spcBef>
                        <a:spcAft>
                          <a:spcPts val="0"/>
                        </a:spcAft>
                        <a:buNone/>
                      </a:pPr>
                      <a:r>
                        <a:rPr lang="en-US" sz="1100" b="0" u="none" strike="noStrike" cap="none"/>
                        <a:t>Data-sending</a:t>
                      </a:r>
                      <a:endParaRPr/>
                    </a:p>
                  </a:txBody>
                  <a:tcPr marL="47625" marR="47625" marT="47625" marB="47625" anchor="ctr"/>
                </a:tc>
                <a:tc>
                  <a:txBody>
                    <a:bodyPr/>
                    <a:lstStyle/>
                    <a:p>
                      <a:pPr marL="0" marR="0" lvl="0" indent="0" algn="l" rtl="0">
                        <a:spcBef>
                          <a:spcPts val="0"/>
                        </a:spcBef>
                        <a:spcAft>
                          <a:spcPts val="0"/>
                        </a:spcAft>
                        <a:buNone/>
                      </a:pPr>
                      <a:r>
                        <a:rPr lang="en-US" sz="1100" b="0" u="none" strike="noStrike" cap="none"/>
                        <a:t>Trojan horse provides the threat actor with sensitive data, such as passwords.</a:t>
                      </a:r>
                      <a:endParaRPr/>
                    </a:p>
                  </a:txBody>
                  <a:tcPr marL="47625" marR="47625" marT="47625" marB="47625" anchor="ctr"/>
                </a:tc>
                <a:extLst>
                  <a:ext uri="{0D108BD9-81ED-4DB2-BD59-A6C34878D82A}">
                    <a16:rowId xmlns:a16="http://schemas.microsoft.com/office/drawing/2014/main" val="10002"/>
                  </a:ext>
                </a:extLst>
              </a:tr>
              <a:tr h="296075">
                <a:tc>
                  <a:txBody>
                    <a:bodyPr/>
                    <a:lstStyle/>
                    <a:p>
                      <a:pPr marL="0" marR="0" lvl="0" indent="0" algn="l" rtl="0">
                        <a:spcBef>
                          <a:spcPts val="0"/>
                        </a:spcBef>
                        <a:spcAft>
                          <a:spcPts val="0"/>
                        </a:spcAft>
                        <a:buNone/>
                      </a:pPr>
                      <a:r>
                        <a:rPr lang="en-US" sz="1100" b="0" u="none" strike="noStrike" cap="none"/>
                        <a:t>Destructive</a:t>
                      </a:r>
                      <a:endParaRPr/>
                    </a:p>
                  </a:txBody>
                  <a:tcPr marL="47625" marR="47625" marT="47625" marB="47625" anchor="ctr"/>
                </a:tc>
                <a:tc>
                  <a:txBody>
                    <a:bodyPr/>
                    <a:lstStyle/>
                    <a:p>
                      <a:pPr marL="0" marR="0" lvl="0" indent="0" algn="l" rtl="0">
                        <a:spcBef>
                          <a:spcPts val="0"/>
                        </a:spcBef>
                        <a:spcAft>
                          <a:spcPts val="0"/>
                        </a:spcAft>
                        <a:buNone/>
                      </a:pPr>
                      <a:r>
                        <a:rPr lang="en-US" sz="1100" b="0" u="none" strike="noStrike" cap="none"/>
                        <a:t>Trojan horse corrupts or deletes files.</a:t>
                      </a:r>
                      <a:endParaRPr/>
                    </a:p>
                  </a:txBody>
                  <a:tcPr marL="47625" marR="47625" marT="47625" marB="47625" anchor="ctr"/>
                </a:tc>
                <a:extLst>
                  <a:ext uri="{0D108BD9-81ED-4DB2-BD59-A6C34878D82A}">
                    <a16:rowId xmlns:a16="http://schemas.microsoft.com/office/drawing/2014/main" val="10003"/>
                  </a:ext>
                </a:extLst>
              </a:tr>
              <a:tr h="343750">
                <a:tc>
                  <a:txBody>
                    <a:bodyPr/>
                    <a:lstStyle/>
                    <a:p>
                      <a:pPr marL="0" marR="0" lvl="0" indent="0" algn="l" rtl="0">
                        <a:spcBef>
                          <a:spcPts val="0"/>
                        </a:spcBef>
                        <a:spcAft>
                          <a:spcPts val="0"/>
                        </a:spcAft>
                        <a:buNone/>
                      </a:pPr>
                      <a:r>
                        <a:rPr lang="en-US" sz="1100" b="0" u="none" strike="noStrike" cap="none"/>
                        <a:t>Proxy</a:t>
                      </a:r>
                      <a:endParaRPr/>
                    </a:p>
                  </a:txBody>
                  <a:tcPr marL="47625" marR="47625" marT="47625" marB="47625" anchor="ctr"/>
                </a:tc>
                <a:tc>
                  <a:txBody>
                    <a:bodyPr/>
                    <a:lstStyle/>
                    <a:p>
                      <a:pPr marL="0" marR="0" lvl="0" indent="0" algn="l" rtl="0">
                        <a:spcBef>
                          <a:spcPts val="0"/>
                        </a:spcBef>
                        <a:spcAft>
                          <a:spcPts val="0"/>
                        </a:spcAft>
                        <a:buNone/>
                      </a:pPr>
                      <a:r>
                        <a:rPr lang="en-US" sz="1100" b="0" u="none" strike="noStrike" cap="none"/>
                        <a:t>Trojan horse will use the victim's computer as the source device to launch attacks and perform other illegal activities.</a:t>
                      </a:r>
                      <a:endParaRPr/>
                    </a:p>
                  </a:txBody>
                  <a:tcPr marL="47625" marR="47625" marT="47625" marB="47625" anchor="ctr"/>
                </a:tc>
                <a:extLst>
                  <a:ext uri="{0D108BD9-81ED-4DB2-BD59-A6C34878D82A}">
                    <a16:rowId xmlns:a16="http://schemas.microsoft.com/office/drawing/2014/main" val="10004"/>
                  </a:ext>
                </a:extLst>
              </a:tr>
              <a:tr h="296075">
                <a:tc>
                  <a:txBody>
                    <a:bodyPr/>
                    <a:lstStyle/>
                    <a:p>
                      <a:pPr marL="0" marR="0" lvl="0" indent="0" algn="l" rtl="0">
                        <a:spcBef>
                          <a:spcPts val="0"/>
                        </a:spcBef>
                        <a:spcAft>
                          <a:spcPts val="0"/>
                        </a:spcAft>
                        <a:buNone/>
                      </a:pPr>
                      <a:r>
                        <a:rPr lang="en-US" sz="1100" b="0" u="none" strike="noStrike" cap="none"/>
                        <a:t>FTP</a:t>
                      </a:r>
                      <a:endParaRPr/>
                    </a:p>
                  </a:txBody>
                  <a:tcPr marL="47625" marR="47625" marT="47625" marB="47625" anchor="ctr"/>
                </a:tc>
                <a:tc>
                  <a:txBody>
                    <a:bodyPr/>
                    <a:lstStyle/>
                    <a:p>
                      <a:pPr marL="0" marR="0" lvl="0" indent="0" algn="l" rtl="0">
                        <a:spcBef>
                          <a:spcPts val="0"/>
                        </a:spcBef>
                        <a:spcAft>
                          <a:spcPts val="0"/>
                        </a:spcAft>
                        <a:buNone/>
                      </a:pPr>
                      <a:r>
                        <a:rPr lang="en-US" sz="1100" b="0" u="none" strike="noStrike" cap="none"/>
                        <a:t>Trojan horse enables unauthorized file transfer services on end devices.</a:t>
                      </a:r>
                      <a:endParaRPr/>
                    </a:p>
                  </a:txBody>
                  <a:tcPr marL="47625" marR="47625" marT="47625" marB="47625" anchor="ctr"/>
                </a:tc>
                <a:extLst>
                  <a:ext uri="{0D108BD9-81ED-4DB2-BD59-A6C34878D82A}">
                    <a16:rowId xmlns:a16="http://schemas.microsoft.com/office/drawing/2014/main" val="10005"/>
                  </a:ext>
                </a:extLst>
              </a:tr>
              <a:tr h="296075">
                <a:tc>
                  <a:txBody>
                    <a:bodyPr/>
                    <a:lstStyle/>
                    <a:p>
                      <a:pPr marL="0" marR="0" lvl="0" indent="0" algn="l" rtl="0">
                        <a:spcBef>
                          <a:spcPts val="0"/>
                        </a:spcBef>
                        <a:spcAft>
                          <a:spcPts val="0"/>
                        </a:spcAft>
                        <a:buNone/>
                      </a:pPr>
                      <a:r>
                        <a:rPr lang="en-US" sz="1100" b="0" u="none" strike="noStrike" cap="none"/>
                        <a:t>Security software disabler</a:t>
                      </a:r>
                      <a:endParaRPr/>
                    </a:p>
                  </a:txBody>
                  <a:tcPr marL="47625" marR="47625" marT="47625" marB="47625" anchor="ctr"/>
                </a:tc>
                <a:tc>
                  <a:txBody>
                    <a:bodyPr/>
                    <a:lstStyle/>
                    <a:p>
                      <a:pPr marL="0" marR="0" lvl="0" indent="0" algn="l" rtl="0">
                        <a:spcBef>
                          <a:spcPts val="0"/>
                        </a:spcBef>
                        <a:spcAft>
                          <a:spcPts val="0"/>
                        </a:spcAft>
                        <a:buNone/>
                      </a:pPr>
                      <a:r>
                        <a:rPr lang="en-US" sz="1100" b="0" u="none" strike="noStrike" cap="none"/>
                        <a:t>Trojan horse stops antivirus programs or firewalls from functioning.</a:t>
                      </a:r>
                      <a:endParaRPr/>
                    </a:p>
                  </a:txBody>
                  <a:tcPr marL="47625" marR="47625" marT="47625" marB="47625" anchor="ctr"/>
                </a:tc>
                <a:extLst>
                  <a:ext uri="{0D108BD9-81ED-4DB2-BD59-A6C34878D82A}">
                    <a16:rowId xmlns:a16="http://schemas.microsoft.com/office/drawing/2014/main" val="10006"/>
                  </a:ext>
                </a:extLst>
              </a:tr>
              <a:tr h="296075">
                <a:tc>
                  <a:txBody>
                    <a:bodyPr/>
                    <a:lstStyle/>
                    <a:p>
                      <a:pPr marL="0" marR="0" lvl="0" indent="0" algn="l" rtl="0">
                        <a:spcBef>
                          <a:spcPts val="0"/>
                        </a:spcBef>
                        <a:spcAft>
                          <a:spcPts val="0"/>
                        </a:spcAft>
                        <a:buNone/>
                      </a:pPr>
                      <a:r>
                        <a:rPr lang="en-US" sz="1100" b="0" u="none" strike="noStrike" cap="none"/>
                        <a:t>Denial of Service (DoS)</a:t>
                      </a:r>
                      <a:endParaRPr/>
                    </a:p>
                  </a:txBody>
                  <a:tcPr marL="47625" marR="47625" marT="47625" marB="47625" anchor="ctr"/>
                </a:tc>
                <a:tc>
                  <a:txBody>
                    <a:bodyPr/>
                    <a:lstStyle/>
                    <a:p>
                      <a:pPr marL="0" marR="0" lvl="0" indent="0" algn="l" rtl="0">
                        <a:spcBef>
                          <a:spcPts val="0"/>
                        </a:spcBef>
                        <a:spcAft>
                          <a:spcPts val="0"/>
                        </a:spcAft>
                        <a:buNone/>
                      </a:pPr>
                      <a:r>
                        <a:rPr lang="en-US" sz="1100" b="0" u="none" strike="noStrike" cap="none"/>
                        <a:t>Trojan horse slows or halts network activity.</a:t>
                      </a:r>
                      <a:endParaRPr/>
                    </a:p>
                  </a:txBody>
                  <a:tcPr marL="47625" marR="47625" marT="47625" marB="47625" anchor="ctr"/>
                </a:tc>
                <a:extLst>
                  <a:ext uri="{0D108BD9-81ED-4DB2-BD59-A6C34878D82A}">
                    <a16:rowId xmlns:a16="http://schemas.microsoft.com/office/drawing/2014/main" val="10007"/>
                  </a:ext>
                </a:extLst>
              </a:tr>
              <a:tr h="343750">
                <a:tc>
                  <a:txBody>
                    <a:bodyPr/>
                    <a:lstStyle/>
                    <a:p>
                      <a:pPr marL="0" marR="0" lvl="0" indent="0" algn="l" rtl="0">
                        <a:spcBef>
                          <a:spcPts val="0"/>
                        </a:spcBef>
                        <a:spcAft>
                          <a:spcPts val="0"/>
                        </a:spcAft>
                        <a:buNone/>
                      </a:pPr>
                      <a:r>
                        <a:rPr lang="en-US" sz="1100" b="0" u="none" strike="noStrike" cap="none"/>
                        <a:t>Keylogger</a:t>
                      </a:r>
                      <a:endParaRPr/>
                    </a:p>
                  </a:txBody>
                  <a:tcPr marL="47625" marR="47625" marT="47625" marB="47625" anchor="ctr"/>
                </a:tc>
                <a:tc>
                  <a:txBody>
                    <a:bodyPr/>
                    <a:lstStyle/>
                    <a:p>
                      <a:pPr marL="0" marR="0" lvl="0" indent="0" algn="l" rtl="0">
                        <a:spcBef>
                          <a:spcPts val="0"/>
                        </a:spcBef>
                        <a:spcAft>
                          <a:spcPts val="0"/>
                        </a:spcAft>
                        <a:buNone/>
                      </a:pPr>
                      <a:r>
                        <a:rPr lang="en-US" sz="1100" b="0" u="none" strike="noStrike" cap="none"/>
                        <a:t>Trojan horse actively attempts to steal confidential information, such as credit card numbers, by recording key strokes entered into a web form.</a:t>
                      </a:r>
                      <a:endParaRPr/>
                    </a:p>
                  </a:txBody>
                  <a:tcPr marL="47625" marR="47625" marT="47625" marB="47625" anchor="ct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p22"/>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Malware</a:t>
            </a:r>
            <a:br>
              <a:rPr lang="en-US"/>
            </a:br>
            <a:r>
              <a:rPr lang="en-US" sz="2400"/>
              <a:t>Other Types of Malware</a:t>
            </a:r>
            <a:endParaRPr/>
          </a:p>
        </p:txBody>
      </p:sp>
      <p:graphicFrame>
        <p:nvGraphicFramePr>
          <p:cNvPr id="831" name="Google Shape;831;p22"/>
          <p:cNvGraphicFramePr/>
          <p:nvPr/>
        </p:nvGraphicFramePr>
        <p:xfrm>
          <a:off x="431800" y="731837"/>
          <a:ext cx="8280400" cy="4009875"/>
        </p:xfrm>
        <a:graphic>
          <a:graphicData uri="http://schemas.openxmlformats.org/drawingml/2006/table">
            <a:tbl>
              <a:tblPr firstRow="1" bandRow="1">
                <a:noFill/>
                <a:tableStyleId>{0DCACE81-CCCA-460A-ACD2-FE0297909B90}</a:tableStyleId>
              </a:tblPr>
              <a:tblGrid>
                <a:gridCol w="927875">
                  <a:extLst>
                    <a:ext uri="{9D8B030D-6E8A-4147-A177-3AD203B41FA5}">
                      <a16:colId xmlns:a16="http://schemas.microsoft.com/office/drawing/2014/main" val="20000"/>
                    </a:ext>
                  </a:extLst>
                </a:gridCol>
                <a:gridCol w="7352525">
                  <a:extLst>
                    <a:ext uri="{9D8B030D-6E8A-4147-A177-3AD203B41FA5}">
                      <a16:colId xmlns:a16="http://schemas.microsoft.com/office/drawing/2014/main" val="20001"/>
                    </a:ext>
                  </a:extLst>
                </a:gridCol>
              </a:tblGrid>
              <a:tr h="267225">
                <a:tc>
                  <a:txBody>
                    <a:bodyPr/>
                    <a:lstStyle/>
                    <a:p>
                      <a:pPr marL="0" marR="0" lvl="0" indent="0" algn="l" rtl="0">
                        <a:spcBef>
                          <a:spcPts val="0"/>
                        </a:spcBef>
                        <a:spcAft>
                          <a:spcPts val="0"/>
                        </a:spcAft>
                        <a:buNone/>
                      </a:pPr>
                      <a:r>
                        <a:rPr lang="en-US" sz="1000" u="none" strike="noStrike" cap="none"/>
                        <a:t>Malware</a:t>
                      </a:r>
                      <a:endParaRPr/>
                    </a:p>
                  </a:txBody>
                  <a:tcPr marL="47625" marR="47625" marT="47625" marB="47625" anchor="ctr"/>
                </a:tc>
                <a:tc>
                  <a:txBody>
                    <a:bodyPr/>
                    <a:lstStyle/>
                    <a:p>
                      <a:pPr marL="0" marR="0" lvl="0" indent="0" algn="l" rtl="0">
                        <a:spcBef>
                          <a:spcPts val="0"/>
                        </a:spcBef>
                        <a:spcAft>
                          <a:spcPts val="0"/>
                        </a:spcAft>
                        <a:buNone/>
                      </a:pPr>
                      <a:r>
                        <a:rPr lang="en-US" sz="1000" u="none" strike="noStrike" cap="none"/>
                        <a:t>Description</a:t>
                      </a:r>
                      <a:endParaRPr/>
                    </a:p>
                  </a:txBody>
                  <a:tcPr marL="47625" marR="47625" marT="47625" marB="47625" anchor="ctr"/>
                </a:tc>
                <a:extLst>
                  <a:ext uri="{0D108BD9-81ED-4DB2-BD59-A6C34878D82A}">
                    <a16:rowId xmlns:a16="http://schemas.microsoft.com/office/drawing/2014/main" val="10000"/>
                  </a:ext>
                </a:extLst>
              </a:tr>
              <a:tr h="727550">
                <a:tc>
                  <a:txBody>
                    <a:bodyPr/>
                    <a:lstStyle/>
                    <a:p>
                      <a:pPr marL="0" marR="0" lvl="0" indent="0" algn="l" rtl="0">
                        <a:spcBef>
                          <a:spcPts val="0"/>
                        </a:spcBef>
                        <a:spcAft>
                          <a:spcPts val="0"/>
                        </a:spcAft>
                        <a:buNone/>
                      </a:pPr>
                      <a:r>
                        <a:rPr lang="en-US" sz="1000" b="0" u="none" strike="noStrike" cap="none"/>
                        <a:t>Adware</a:t>
                      </a:r>
                      <a:endParaRPr/>
                    </a:p>
                  </a:txBody>
                  <a:tcPr marL="47625" marR="47625" marT="47625" marB="47625" anchor="ctr"/>
                </a:tc>
                <a:tc>
                  <a:txBody>
                    <a:bodyPr/>
                    <a:lstStyle/>
                    <a:p>
                      <a:pPr marL="0" marR="0" lvl="0" indent="-63500" algn="l" rtl="0">
                        <a:spcBef>
                          <a:spcPts val="0"/>
                        </a:spcBef>
                        <a:spcAft>
                          <a:spcPts val="0"/>
                        </a:spcAft>
                        <a:buClr>
                          <a:schemeClr val="dk1"/>
                        </a:buClr>
                        <a:buSzPts val="1000"/>
                        <a:buFont typeface="Arial"/>
                        <a:buChar char="•"/>
                      </a:pPr>
                      <a:r>
                        <a:rPr lang="en-US" sz="1000" b="0" u="none" strike="noStrike" cap="none"/>
                        <a:t>Adware is usually distributed by downloading online software.</a:t>
                      </a:r>
                      <a:endParaRPr/>
                    </a:p>
                    <a:p>
                      <a:pPr marL="0" marR="0" lvl="0" indent="-63500" algn="l" rtl="0">
                        <a:spcBef>
                          <a:spcPts val="0"/>
                        </a:spcBef>
                        <a:spcAft>
                          <a:spcPts val="0"/>
                        </a:spcAft>
                        <a:buClr>
                          <a:schemeClr val="dk1"/>
                        </a:buClr>
                        <a:buSzPts val="1000"/>
                        <a:buFont typeface="Arial"/>
                        <a:buChar char="•"/>
                      </a:pPr>
                      <a:r>
                        <a:rPr lang="en-US" sz="1000" b="0" u="none" strike="noStrike" cap="none"/>
                        <a:t>Adware can display unsolicited advertising using pop-up web browser windows, new toolbars, or unexpectedly redirect a webpage to a different website.</a:t>
                      </a:r>
                      <a:endParaRPr/>
                    </a:p>
                    <a:p>
                      <a:pPr marL="0" marR="0" lvl="0" indent="-63500" algn="l" rtl="0">
                        <a:spcBef>
                          <a:spcPts val="0"/>
                        </a:spcBef>
                        <a:spcAft>
                          <a:spcPts val="0"/>
                        </a:spcAft>
                        <a:buClr>
                          <a:schemeClr val="dk1"/>
                        </a:buClr>
                        <a:buSzPts val="1000"/>
                        <a:buFont typeface="Arial"/>
                        <a:buChar char="•"/>
                      </a:pPr>
                      <a:r>
                        <a:rPr lang="en-US" sz="1000" b="0" u="none" strike="noStrike" cap="none"/>
                        <a:t>Pop-up windows may be difficult to control as new windows can pop-up faster than the user can close them.</a:t>
                      </a:r>
                      <a:endParaRPr/>
                    </a:p>
                  </a:txBody>
                  <a:tcPr marL="47625" marR="47625" marT="47625" marB="47625" anchor="ctr"/>
                </a:tc>
                <a:extLst>
                  <a:ext uri="{0D108BD9-81ED-4DB2-BD59-A6C34878D82A}">
                    <a16:rowId xmlns:a16="http://schemas.microsoft.com/office/drawing/2014/main" val="10001"/>
                  </a:ext>
                </a:extLst>
              </a:tr>
              <a:tr h="595750">
                <a:tc>
                  <a:txBody>
                    <a:bodyPr/>
                    <a:lstStyle/>
                    <a:p>
                      <a:pPr marL="0" marR="0" lvl="0" indent="0" algn="l" rtl="0">
                        <a:spcBef>
                          <a:spcPts val="0"/>
                        </a:spcBef>
                        <a:spcAft>
                          <a:spcPts val="0"/>
                        </a:spcAft>
                        <a:buNone/>
                      </a:pPr>
                      <a:r>
                        <a:rPr lang="en-US" sz="1000" b="0" u="none" strike="noStrike" cap="none"/>
                        <a:t>Ransomware</a:t>
                      </a:r>
                      <a:endParaRPr/>
                    </a:p>
                  </a:txBody>
                  <a:tcPr marL="47625" marR="47625" marT="47625" marB="47625" anchor="ctr"/>
                </a:tc>
                <a:tc>
                  <a:txBody>
                    <a:bodyPr/>
                    <a:lstStyle/>
                    <a:p>
                      <a:pPr marL="0" marR="0" lvl="0" indent="-63500" algn="l" rtl="0">
                        <a:spcBef>
                          <a:spcPts val="0"/>
                        </a:spcBef>
                        <a:spcAft>
                          <a:spcPts val="0"/>
                        </a:spcAft>
                        <a:buClr>
                          <a:schemeClr val="dk1"/>
                        </a:buClr>
                        <a:buSzPts val="1000"/>
                        <a:buFont typeface="Arial"/>
                        <a:buChar char="•"/>
                      </a:pPr>
                      <a:r>
                        <a:rPr lang="en-US" sz="1000" b="0" u="none" strike="noStrike" cap="none"/>
                        <a:t>Ransomware typically denies a user access to their files by encrypting the files and then displaying a message demanding a ransom for the decryption key.</a:t>
                      </a:r>
                      <a:endParaRPr/>
                    </a:p>
                    <a:p>
                      <a:pPr marL="0" marR="0" lvl="0" indent="-63500" algn="l" rtl="0">
                        <a:spcBef>
                          <a:spcPts val="0"/>
                        </a:spcBef>
                        <a:spcAft>
                          <a:spcPts val="0"/>
                        </a:spcAft>
                        <a:buClr>
                          <a:schemeClr val="dk1"/>
                        </a:buClr>
                        <a:buSzPts val="1000"/>
                        <a:buFont typeface="Arial"/>
                        <a:buChar char="•"/>
                      </a:pPr>
                      <a:r>
                        <a:rPr lang="en-US" sz="1000" b="0" u="none" strike="noStrike" cap="none"/>
                        <a:t>Users without up-to-date backups must pay the ransom to decrypt their files.</a:t>
                      </a:r>
                      <a:endParaRPr/>
                    </a:p>
                    <a:p>
                      <a:pPr marL="0" marR="0" lvl="0" indent="-63500" algn="l" rtl="0">
                        <a:spcBef>
                          <a:spcPts val="0"/>
                        </a:spcBef>
                        <a:spcAft>
                          <a:spcPts val="0"/>
                        </a:spcAft>
                        <a:buClr>
                          <a:schemeClr val="dk1"/>
                        </a:buClr>
                        <a:buSzPts val="1000"/>
                        <a:buFont typeface="Arial"/>
                        <a:buChar char="•"/>
                      </a:pPr>
                      <a:r>
                        <a:rPr lang="en-US" sz="1000" b="0" u="none" strike="noStrike" cap="none"/>
                        <a:t>Payment is usually made using wire transfer or crypto currencies such as Bitcoin.</a:t>
                      </a:r>
                      <a:endParaRPr/>
                    </a:p>
                  </a:txBody>
                  <a:tcPr marL="47625" marR="47625" marT="47625" marB="47625" anchor="ctr"/>
                </a:tc>
                <a:extLst>
                  <a:ext uri="{0D108BD9-81ED-4DB2-BD59-A6C34878D82A}">
                    <a16:rowId xmlns:a16="http://schemas.microsoft.com/office/drawing/2014/main" val="10002"/>
                  </a:ext>
                </a:extLst>
              </a:tr>
              <a:tr h="859325">
                <a:tc>
                  <a:txBody>
                    <a:bodyPr/>
                    <a:lstStyle/>
                    <a:p>
                      <a:pPr marL="0" marR="0" lvl="0" indent="0" algn="l" rtl="0">
                        <a:spcBef>
                          <a:spcPts val="0"/>
                        </a:spcBef>
                        <a:spcAft>
                          <a:spcPts val="0"/>
                        </a:spcAft>
                        <a:buNone/>
                      </a:pPr>
                      <a:r>
                        <a:rPr lang="en-US" sz="1000" b="0" u="none" strike="noStrike" cap="none"/>
                        <a:t>Rootkit</a:t>
                      </a:r>
                      <a:endParaRPr/>
                    </a:p>
                  </a:txBody>
                  <a:tcPr marL="47625" marR="47625" marT="47625" marB="47625" anchor="ctr"/>
                </a:tc>
                <a:tc>
                  <a:txBody>
                    <a:bodyPr/>
                    <a:lstStyle/>
                    <a:p>
                      <a:pPr marL="0" marR="0" lvl="0" indent="-63500" algn="l" rtl="0">
                        <a:spcBef>
                          <a:spcPts val="0"/>
                        </a:spcBef>
                        <a:spcAft>
                          <a:spcPts val="0"/>
                        </a:spcAft>
                        <a:buClr>
                          <a:schemeClr val="dk1"/>
                        </a:buClr>
                        <a:buSzPts val="1000"/>
                        <a:buFont typeface="Arial"/>
                        <a:buChar char="•"/>
                      </a:pPr>
                      <a:r>
                        <a:rPr lang="en-US" sz="1000" b="0" u="none" strike="noStrike" cap="none"/>
                        <a:t>Rootkits are used by threat actors to gain administrator account-level access to a computer.</a:t>
                      </a:r>
                      <a:endParaRPr/>
                    </a:p>
                    <a:p>
                      <a:pPr marL="0" marR="0" lvl="0" indent="-63500" algn="l" rtl="0">
                        <a:spcBef>
                          <a:spcPts val="0"/>
                        </a:spcBef>
                        <a:spcAft>
                          <a:spcPts val="0"/>
                        </a:spcAft>
                        <a:buClr>
                          <a:schemeClr val="dk1"/>
                        </a:buClr>
                        <a:buSzPts val="1000"/>
                        <a:buFont typeface="Arial"/>
                        <a:buChar char="•"/>
                      </a:pPr>
                      <a:r>
                        <a:rPr lang="en-US" sz="1000" b="0" u="none" strike="noStrike" cap="none"/>
                        <a:t>They are very difficult to detect because they can alter firewall, antivirus protection, system files, and even OS commands to conceal their presence.</a:t>
                      </a:r>
                      <a:endParaRPr/>
                    </a:p>
                    <a:p>
                      <a:pPr marL="0" marR="0" lvl="0" indent="-63500" algn="l" rtl="0">
                        <a:spcBef>
                          <a:spcPts val="0"/>
                        </a:spcBef>
                        <a:spcAft>
                          <a:spcPts val="0"/>
                        </a:spcAft>
                        <a:buClr>
                          <a:schemeClr val="dk1"/>
                        </a:buClr>
                        <a:buSzPts val="1000"/>
                        <a:buFont typeface="Arial"/>
                        <a:buChar char="•"/>
                      </a:pPr>
                      <a:r>
                        <a:rPr lang="en-US" sz="1000" b="0" u="none" strike="noStrike" cap="none"/>
                        <a:t>They can provide a backdoor to threat actors giving them access to the PC, and allowing them to upload files, and install new software to be used in a DDoS attack.</a:t>
                      </a:r>
                      <a:endParaRPr/>
                    </a:p>
                    <a:p>
                      <a:pPr marL="0" marR="0" lvl="0" indent="-63500" algn="l" rtl="0">
                        <a:spcBef>
                          <a:spcPts val="0"/>
                        </a:spcBef>
                        <a:spcAft>
                          <a:spcPts val="0"/>
                        </a:spcAft>
                        <a:buClr>
                          <a:schemeClr val="dk1"/>
                        </a:buClr>
                        <a:buSzPts val="1000"/>
                        <a:buFont typeface="Arial"/>
                        <a:buChar char="•"/>
                      </a:pPr>
                      <a:r>
                        <a:rPr lang="en-US" sz="1000" b="0" u="none" strike="noStrike" cap="none"/>
                        <a:t>Special rootkit removal tools must be used to remove them, or a complete OS re-install may be required.</a:t>
                      </a:r>
                      <a:endParaRPr/>
                    </a:p>
                  </a:txBody>
                  <a:tcPr marL="47625" marR="47625" marT="47625" marB="47625" anchor="ctr"/>
                </a:tc>
                <a:extLst>
                  <a:ext uri="{0D108BD9-81ED-4DB2-BD59-A6C34878D82A}">
                    <a16:rowId xmlns:a16="http://schemas.microsoft.com/office/drawing/2014/main" val="10003"/>
                  </a:ext>
                </a:extLst>
              </a:tr>
              <a:tr h="595750">
                <a:tc>
                  <a:txBody>
                    <a:bodyPr/>
                    <a:lstStyle/>
                    <a:p>
                      <a:pPr marL="0" marR="0" lvl="0" indent="0" algn="l" rtl="0">
                        <a:spcBef>
                          <a:spcPts val="0"/>
                        </a:spcBef>
                        <a:spcAft>
                          <a:spcPts val="0"/>
                        </a:spcAft>
                        <a:buNone/>
                      </a:pPr>
                      <a:r>
                        <a:rPr lang="en-US" sz="1000" b="0" u="none" strike="noStrike" cap="none"/>
                        <a:t>Spyware</a:t>
                      </a:r>
                      <a:endParaRPr/>
                    </a:p>
                  </a:txBody>
                  <a:tcPr marL="47625" marR="47625" marT="47625" marB="47625" anchor="ctr"/>
                </a:tc>
                <a:tc>
                  <a:txBody>
                    <a:bodyPr/>
                    <a:lstStyle/>
                    <a:p>
                      <a:pPr marL="0" marR="0" lvl="0" indent="-63500" algn="l" rtl="0">
                        <a:spcBef>
                          <a:spcPts val="0"/>
                        </a:spcBef>
                        <a:spcAft>
                          <a:spcPts val="0"/>
                        </a:spcAft>
                        <a:buClr>
                          <a:schemeClr val="dk1"/>
                        </a:buClr>
                        <a:buSzPts val="1000"/>
                        <a:buFont typeface="Arial"/>
                        <a:buChar char="•"/>
                      </a:pPr>
                      <a:r>
                        <a:rPr lang="en-US" sz="1000" b="0" u="none" strike="noStrike" cap="none"/>
                        <a:t>Like adware but, used to gather information about the user and send to threat actors without the user’s consent.</a:t>
                      </a:r>
                      <a:endParaRPr/>
                    </a:p>
                    <a:p>
                      <a:pPr marL="0" marR="0" lvl="0" indent="-63500" algn="l" rtl="0">
                        <a:spcBef>
                          <a:spcPts val="0"/>
                        </a:spcBef>
                        <a:spcAft>
                          <a:spcPts val="0"/>
                        </a:spcAft>
                        <a:buClr>
                          <a:schemeClr val="dk1"/>
                        </a:buClr>
                        <a:buSzPts val="1000"/>
                        <a:buFont typeface="Arial"/>
                        <a:buChar char="•"/>
                      </a:pPr>
                      <a:r>
                        <a:rPr lang="en-US" sz="1000" b="0" u="none" strike="noStrike" cap="none"/>
                        <a:t>Spyware can be a low threat, gathering browsing data, or it can be a high threat capturing personal and financial information.</a:t>
                      </a:r>
                      <a:endParaRPr/>
                    </a:p>
                  </a:txBody>
                  <a:tcPr marL="47625" marR="47625" marT="47625" marB="47625" anchor="ctr"/>
                </a:tc>
                <a:extLst>
                  <a:ext uri="{0D108BD9-81ED-4DB2-BD59-A6C34878D82A}">
                    <a16:rowId xmlns:a16="http://schemas.microsoft.com/office/drawing/2014/main" val="10004"/>
                  </a:ext>
                </a:extLst>
              </a:tr>
              <a:tr h="595750">
                <a:tc>
                  <a:txBody>
                    <a:bodyPr/>
                    <a:lstStyle/>
                    <a:p>
                      <a:pPr marL="0" marR="0" lvl="0" indent="0" algn="l" rtl="0">
                        <a:spcBef>
                          <a:spcPts val="0"/>
                        </a:spcBef>
                        <a:spcAft>
                          <a:spcPts val="0"/>
                        </a:spcAft>
                        <a:buNone/>
                      </a:pPr>
                      <a:r>
                        <a:rPr lang="en-US" sz="1000" b="0" u="none" strike="noStrike" cap="none"/>
                        <a:t>Worm</a:t>
                      </a:r>
                      <a:endParaRPr/>
                    </a:p>
                  </a:txBody>
                  <a:tcPr marL="47625" marR="47625" marT="47625" marB="47625" anchor="ctr"/>
                </a:tc>
                <a:tc>
                  <a:txBody>
                    <a:bodyPr/>
                    <a:lstStyle/>
                    <a:p>
                      <a:pPr marL="0" marR="0" lvl="0" indent="-63500" algn="l" rtl="0">
                        <a:spcBef>
                          <a:spcPts val="0"/>
                        </a:spcBef>
                        <a:spcAft>
                          <a:spcPts val="0"/>
                        </a:spcAft>
                        <a:buClr>
                          <a:schemeClr val="dk1"/>
                        </a:buClr>
                        <a:buSzPts val="1000"/>
                        <a:buFont typeface="Arial"/>
                        <a:buChar char="•"/>
                      </a:pPr>
                      <a:r>
                        <a:rPr lang="en-US" sz="1000" b="0" u="none" strike="noStrike" cap="none"/>
                        <a:t>A worm is a self-replicating program that propagates automatically without user actions by exploiting vulnerabilities in legitimate software.</a:t>
                      </a:r>
                      <a:endParaRPr/>
                    </a:p>
                    <a:p>
                      <a:pPr marL="0" marR="0" lvl="0" indent="-63500" algn="l" rtl="0">
                        <a:spcBef>
                          <a:spcPts val="0"/>
                        </a:spcBef>
                        <a:spcAft>
                          <a:spcPts val="0"/>
                        </a:spcAft>
                        <a:buClr>
                          <a:schemeClr val="dk1"/>
                        </a:buClr>
                        <a:buSzPts val="1000"/>
                        <a:buFont typeface="Arial"/>
                        <a:buChar char="•"/>
                      </a:pPr>
                      <a:r>
                        <a:rPr lang="en-US" sz="1000" b="0" u="none" strike="noStrike" cap="none"/>
                        <a:t>It uses the network to search for other victims with the same vulnerability.</a:t>
                      </a:r>
                      <a:endParaRPr/>
                    </a:p>
                    <a:p>
                      <a:pPr marL="0" marR="0" lvl="0" indent="-63500" algn="l" rtl="0">
                        <a:spcBef>
                          <a:spcPts val="0"/>
                        </a:spcBef>
                        <a:spcAft>
                          <a:spcPts val="0"/>
                        </a:spcAft>
                        <a:buClr>
                          <a:schemeClr val="dk1"/>
                        </a:buClr>
                        <a:buSzPts val="1000"/>
                        <a:buFont typeface="Arial"/>
                        <a:buChar char="•"/>
                      </a:pPr>
                      <a:r>
                        <a:rPr lang="en-US" sz="1000" b="0" u="none" strike="noStrike" cap="none"/>
                        <a:t>The intent of a worm is usually to slow or disrupt network operations</a:t>
                      </a:r>
                      <a:endParaRPr/>
                    </a:p>
                  </a:txBody>
                  <a:tcPr marL="47625" marR="47625" marT="47625" marB="47625" anchor="ct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p23"/>
          <p:cNvSpPr txBox="1">
            <a:spLocks noGrp="1"/>
          </p:cNvSpPr>
          <p:nvPr>
            <p:ph type="ctrTitle"/>
          </p:nvPr>
        </p:nvSpPr>
        <p:spPr>
          <a:xfrm>
            <a:off x="416425" y="1788160"/>
            <a:ext cx="7848344" cy="929640"/>
          </a:xfrm>
          <a:prstGeom prst="rect">
            <a:avLst/>
          </a:prstGeom>
          <a:noFill/>
          <a:ln>
            <a:noFill/>
          </a:ln>
        </p:spPr>
        <p:txBody>
          <a:bodyPr spcFirstLastPara="1" wrap="square" lIns="91400" tIns="45700" rIns="91400" bIns="45700" anchor="b" anchorCtr="0">
            <a:noAutofit/>
          </a:bodyPr>
          <a:lstStyle/>
          <a:p>
            <a:pPr marL="0" lvl="0" indent="0" algn="l" rtl="0">
              <a:lnSpc>
                <a:spcPct val="90000"/>
              </a:lnSpc>
              <a:spcBef>
                <a:spcPts val="0"/>
              </a:spcBef>
              <a:spcAft>
                <a:spcPts val="0"/>
              </a:spcAft>
              <a:buClr>
                <a:srgbClr val="AEE8FA"/>
              </a:buClr>
              <a:buSzPts val="4600"/>
              <a:buFont typeface="Arial"/>
              <a:buNone/>
            </a:pPr>
            <a:r>
              <a:rPr lang="en-US">
                <a:solidFill>
                  <a:srgbClr val="AEE8FA"/>
                </a:solidFill>
              </a:rPr>
              <a:t>3.5 Common Network Attacks</a:t>
            </a:r>
            <a:endParaRPr/>
          </a:p>
        </p:txBody>
      </p:sp>
    </p:spTree>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3" name="Google Shape;843;p24"/>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Common Network Attacks</a:t>
            </a:r>
            <a:br>
              <a:rPr lang="en-US"/>
            </a:br>
            <a:r>
              <a:rPr lang="en-US" sz="2400"/>
              <a:t>Overview of Common Network Attacks</a:t>
            </a:r>
            <a:endParaRPr/>
          </a:p>
        </p:txBody>
      </p:sp>
      <p:sp>
        <p:nvSpPr>
          <p:cNvPr id="844" name="Google Shape;844;p24"/>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600"/>
              <a:buFont typeface="Arial"/>
              <a:buChar char="•"/>
            </a:pPr>
            <a:r>
              <a:rPr lang="en-US" sz="1600">
                <a:solidFill>
                  <a:srgbClr val="000000"/>
                </a:solidFill>
              </a:rPr>
              <a:t>When malware is delivered and installed, the payload can be used to cause a variety of network related attacks.</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To mitigate attacks, it is useful to understand the types of attacks. By categorizing network attacks, it is possible to address types of attacks rather than individual attacks.</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Networks are susceptible to the following types of attacks:</a:t>
            </a:r>
            <a:endParaRPr/>
          </a:p>
          <a:p>
            <a:pPr marL="415984" lvl="1" indent="-342899" algn="l" rtl="0">
              <a:lnSpc>
                <a:spcPct val="95000"/>
              </a:lnSpc>
              <a:spcBef>
                <a:spcPts val="600"/>
              </a:spcBef>
              <a:spcAft>
                <a:spcPts val="0"/>
              </a:spcAft>
              <a:buSzPts val="1600"/>
              <a:buFont typeface="Arial"/>
              <a:buChar char="•"/>
            </a:pPr>
            <a:r>
              <a:rPr lang="en-US" sz="1600">
                <a:solidFill>
                  <a:srgbClr val="000000"/>
                </a:solidFill>
              </a:rPr>
              <a:t> Reconnaissance Attacks</a:t>
            </a:r>
            <a:endParaRPr/>
          </a:p>
          <a:p>
            <a:pPr marL="415984" lvl="1" indent="-342899" algn="l" rtl="0">
              <a:lnSpc>
                <a:spcPct val="95000"/>
              </a:lnSpc>
              <a:spcBef>
                <a:spcPts val="600"/>
              </a:spcBef>
              <a:spcAft>
                <a:spcPts val="0"/>
              </a:spcAft>
              <a:buSzPts val="1600"/>
              <a:buFont typeface="Arial"/>
              <a:buChar char="•"/>
            </a:pPr>
            <a:r>
              <a:rPr lang="en-US" sz="1600">
                <a:solidFill>
                  <a:srgbClr val="000000"/>
                </a:solidFill>
              </a:rPr>
              <a:t> Access Attacks</a:t>
            </a:r>
            <a:endParaRPr/>
          </a:p>
          <a:p>
            <a:pPr marL="415984" lvl="1" indent="-342899" algn="l" rtl="0">
              <a:lnSpc>
                <a:spcPct val="95000"/>
              </a:lnSpc>
              <a:spcBef>
                <a:spcPts val="600"/>
              </a:spcBef>
              <a:spcAft>
                <a:spcPts val="0"/>
              </a:spcAft>
              <a:buSzPts val="1600"/>
              <a:buFont typeface="Arial"/>
              <a:buChar char="•"/>
            </a:pPr>
            <a:r>
              <a:rPr lang="en-US" sz="1600">
                <a:solidFill>
                  <a:srgbClr val="000000"/>
                </a:solidFill>
              </a:rPr>
              <a:t> DoS Attacks</a:t>
            </a:r>
            <a:endParaRPr/>
          </a:p>
          <a:p>
            <a:pPr marL="342900" lvl="0" indent="-241300" algn="l" rtl="0">
              <a:lnSpc>
                <a:spcPct val="100000"/>
              </a:lnSpc>
              <a:spcBef>
                <a:spcPts val="320"/>
              </a:spcBef>
              <a:spcAft>
                <a:spcPts val="0"/>
              </a:spcAft>
              <a:buSzPts val="1600"/>
              <a:buFont typeface="Arial"/>
              <a:buNone/>
            </a:pPr>
            <a:endParaRPr sz="16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p25"/>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Common Network Attacks</a:t>
            </a:r>
            <a:br>
              <a:rPr lang="en-US"/>
            </a:br>
            <a:r>
              <a:rPr lang="en-US" sz="2400"/>
              <a:t>Video - Common Network Attacks</a:t>
            </a:r>
            <a:endParaRPr/>
          </a:p>
        </p:txBody>
      </p:sp>
      <p:sp>
        <p:nvSpPr>
          <p:cNvPr id="851" name="Google Shape;851;p25"/>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This video will explain the following techniques used in a reconnaissance attack:</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Perform an information query on a target</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Initiate a ping sweep of the target network</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Initiate a port scan of active ip addresses</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Run vulnerability scanners</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Run exploitation tools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p26"/>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Common Network Attacks</a:t>
            </a:r>
            <a:br>
              <a:rPr lang="en-US"/>
            </a:br>
            <a:r>
              <a:rPr lang="en-US" sz="2400"/>
              <a:t>Reconnaissance Attacks</a:t>
            </a:r>
            <a:endParaRPr/>
          </a:p>
        </p:txBody>
      </p:sp>
      <p:sp>
        <p:nvSpPr>
          <p:cNvPr id="858" name="Google Shape;858;p26"/>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600"/>
              <a:buFont typeface="Arial"/>
              <a:buChar char="•"/>
            </a:pPr>
            <a:r>
              <a:rPr lang="en-US" sz="1600">
                <a:solidFill>
                  <a:srgbClr val="000000"/>
                </a:solidFill>
              </a:rPr>
              <a:t>Reconnaissance is information gathering. </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Threat actors use reconnaissance (or recon) attacks to do unauthorized discovery and mapping of systems, services, or vulnerabilities. Recon attacks precede access attacks or DoS attacks.</a:t>
            </a:r>
            <a:endParaRPr/>
          </a:p>
          <a:p>
            <a:pPr marL="342900" lvl="0" indent="-241300" algn="l" rtl="0">
              <a:lnSpc>
                <a:spcPct val="100000"/>
              </a:lnSpc>
              <a:spcBef>
                <a:spcPts val="320"/>
              </a:spcBef>
              <a:spcAft>
                <a:spcPts val="0"/>
              </a:spcAft>
              <a:buSzPts val="1600"/>
              <a:buFont typeface="Arial"/>
              <a:buNone/>
            </a:pPr>
            <a:endParaRPr sz="16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63"/>
        <p:cNvGrpSpPr/>
        <p:nvPr/>
      </p:nvGrpSpPr>
      <p:grpSpPr>
        <a:xfrm>
          <a:off x="0" y="0"/>
          <a:ext cx="0" cy="0"/>
          <a:chOff x="0" y="0"/>
          <a:chExt cx="0" cy="0"/>
        </a:xfrm>
      </p:grpSpPr>
      <p:sp>
        <p:nvSpPr>
          <p:cNvPr id="864" name="Google Shape;864;p27"/>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Common Network Attacks</a:t>
            </a:r>
            <a:br>
              <a:rPr lang="en-US"/>
            </a:br>
            <a:r>
              <a:rPr lang="en-US" sz="2400"/>
              <a:t>Reconnaissance Attacks (Cont.)</a:t>
            </a:r>
            <a:endParaRPr/>
          </a:p>
        </p:txBody>
      </p:sp>
      <p:sp>
        <p:nvSpPr>
          <p:cNvPr id="865" name="Google Shape;865;p27"/>
          <p:cNvSpPr txBox="1">
            <a:spLocks noGrp="1"/>
          </p:cNvSpPr>
          <p:nvPr>
            <p:ph type="body" idx="1"/>
          </p:nvPr>
        </p:nvSpPr>
        <p:spPr>
          <a:xfrm>
            <a:off x="474662" y="731838"/>
            <a:ext cx="8280057" cy="512172"/>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400"/>
              <a:buNone/>
            </a:pPr>
            <a:r>
              <a:rPr lang="en-US" sz="1400">
                <a:solidFill>
                  <a:srgbClr val="000000"/>
                </a:solidFill>
              </a:rPr>
              <a:t>Some of the techniques used by malicious threat actors to conduct reconnaissance attacks are described in the table.</a:t>
            </a:r>
            <a:endParaRPr/>
          </a:p>
        </p:txBody>
      </p:sp>
      <p:graphicFrame>
        <p:nvGraphicFramePr>
          <p:cNvPr id="866" name="Google Shape;866;p27"/>
          <p:cNvGraphicFramePr/>
          <p:nvPr/>
        </p:nvGraphicFramePr>
        <p:xfrm>
          <a:off x="474662" y="1358735"/>
          <a:ext cx="7778800" cy="3224540"/>
        </p:xfrm>
        <a:graphic>
          <a:graphicData uri="http://schemas.openxmlformats.org/drawingml/2006/table">
            <a:tbl>
              <a:tblPr firstRow="1" bandRow="1">
                <a:noFill/>
                <a:tableStyleId>{0DCACE81-CCCA-460A-ACD2-FE0297909B90}</a:tableStyleId>
              </a:tblPr>
              <a:tblGrid>
                <a:gridCol w="1735800">
                  <a:extLst>
                    <a:ext uri="{9D8B030D-6E8A-4147-A177-3AD203B41FA5}">
                      <a16:colId xmlns:a16="http://schemas.microsoft.com/office/drawing/2014/main" val="20000"/>
                    </a:ext>
                  </a:extLst>
                </a:gridCol>
                <a:gridCol w="6043000">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US" sz="1200" b="1" u="none" strike="noStrike" cap="none"/>
                        <a:t>Technique</a:t>
                      </a:r>
                      <a:endParaRPr sz="1200" u="none" strike="noStrike" cap="none"/>
                    </a:p>
                  </a:txBody>
                  <a:tcPr marL="47625" marR="47625" marT="47625" marB="47625" anchor="ctr"/>
                </a:tc>
                <a:tc>
                  <a:txBody>
                    <a:bodyPr/>
                    <a:lstStyle/>
                    <a:p>
                      <a:pPr marL="0" marR="0" lvl="0" indent="0" algn="l" rtl="0">
                        <a:spcBef>
                          <a:spcPts val="0"/>
                        </a:spcBef>
                        <a:spcAft>
                          <a:spcPts val="0"/>
                        </a:spcAft>
                        <a:buNone/>
                      </a:pPr>
                      <a:r>
                        <a:rPr lang="en-US" sz="1200" u="none" strike="noStrike" cap="none"/>
                        <a:t>Description</a:t>
                      </a:r>
                      <a:endParaRPr/>
                    </a:p>
                  </a:txBody>
                  <a:tcPr marL="47625" marR="47625" marT="47625" marB="47625" anchor="ctr"/>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200" b="1" u="none" strike="noStrike" cap="none"/>
                        <a:t>Perform an information query of a target</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The threat actor is looking for initial information about a target. Various tools can be used, including the Google search, organizations website, whois, and more.</a:t>
                      </a:r>
                      <a:endParaRPr/>
                    </a:p>
                  </a:txBody>
                  <a:tcPr marL="47625" marR="47625" marT="47625" marB="47625" anchor="ctr"/>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200" b="1" u="none" strike="noStrike" cap="none"/>
                        <a:t>Initiate a ping sweep of the target network</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The information query usually reveals the target’s network address. The threat actor can now initiate a ping sweep to determine which IP addresses are active.</a:t>
                      </a:r>
                      <a:endParaRPr/>
                    </a:p>
                  </a:txBody>
                  <a:tcPr marL="47625" marR="47625" marT="47625" marB="47625" anchor="ctr"/>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200" b="1" u="none" strike="noStrike" cap="none"/>
                        <a:t>Initiate a port scan of active IP addresses</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This is used to determine which ports or services are available. Examples of port scanners include Nmap, SuperScan, Angry IP Scanner, and NetScanTools.</a:t>
                      </a:r>
                      <a:endParaRPr/>
                    </a:p>
                  </a:txBody>
                  <a:tcPr marL="47625" marR="47625" marT="47625" marB="47625" anchor="ctr"/>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200" b="1" u="none" strike="noStrike" cap="none"/>
                        <a:t>Run vulnerability scanners</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This is to query the identified ports to determine the type and version of the application and operating system that is running on the host. Examples of tools include Nipper, Core Impact, Nessus, SAINT, and Open VAS.</a:t>
                      </a:r>
                      <a:endParaRPr/>
                    </a:p>
                  </a:txBody>
                  <a:tcPr marL="47625" marR="47625" marT="47625" marB="47625" anchor="ctr"/>
                </a:tc>
                <a:extLst>
                  <a:ext uri="{0D108BD9-81ED-4DB2-BD59-A6C34878D82A}">
                    <a16:rowId xmlns:a16="http://schemas.microsoft.com/office/drawing/2014/main" val="10004"/>
                  </a:ext>
                </a:extLst>
              </a:tr>
              <a:tr h="152400">
                <a:tc>
                  <a:txBody>
                    <a:bodyPr/>
                    <a:lstStyle/>
                    <a:p>
                      <a:pPr marL="0" marR="0" lvl="0" indent="0" algn="l" rtl="0">
                        <a:spcBef>
                          <a:spcPts val="0"/>
                        </a:spcBef>
                        <a:spcAft>
                          <a:spcPts val="0"/>
                        </a:spcAft>
                        <a:buNone/>
                      </a:pPr>
                      <a:r>
                        <a:rPr lang="en-US" sz="1200" b="1" u="none" strike="noStrike" cap="none"/>
                        <a:t>Run exploitation tools</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The threat actor now attempts to discover vulnerable services that can be exploited. A variety of vulnerability exploitation tools exist including Metasploit, Core Impact, Sqlmap, Social Engineer Toolkit, and Netsparker.</a:t>
                      </a:r>
                      <a:endParaRPr/>
                    </a:p>
                  </a:txBody>
                  <a:tcPr marL="47625" marR="47625" marT="47625" marB="47625" anchor="ct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p28"/>
          <p:cNvSpPr txBox="1">
            <a:spLocks noGrp="1"/>
          </p:cNvSpPr>
          <p:nvPr>
            <p:ph type="title"/>
          </p:nvPr>
        </p:nvSpPr>
        <p:spPr>
          <a:xfrm>
            <a:off x="0" y="76200"/>
            <a:ext cx="8345400" cy="731700"/>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Common Network Attacks</a:t>
            </a:r>
            <a:br>
              <a:rPr lang="en-US"/>
            </a:br>
            <a:r>
              <a:rPr lang="en-US" sz="2400"/>
              <a:t>Video – Access and Social Engineering Attacks</a:t>
            </a:r>
            <a:endParaRPr/>
          </a:p>
        </p:txBody>
      </p:sp>
      <p:sp>
        <p:nvSpPr>
          <p:cNvPr id="873" name="Google Shape;873;p28"/>
          <p:cNvSpPr txBox="1">
            <a:spLocks noGrp="1"/>
          </p:cNvSpPr>
          <p:nvPr>
            <p:ph type="body" idx="1"/>
          </p:nvPr>
        </p:nvSpPr>
        <p:spPr>
          <a:xfrm>
            <a:off x="474662" y="808037"/>
            <a:ext cx="8280000" cy="3690000"/>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This video will cover the following:</a:t>
            </a:r>
            <a:endParaRPr/>
          </a:p>
          <a:p>
            <a:pPr marL="285750" lvl="0" indent="-285750" algn="l" rtl="0">
              <a:lnSpc>
                <a:spcPct val="100000"/>
              </a:lnSpc>
              <a:spcBef>
                <a:spcPts val="320"/>
              </a:spcBef>
              <a:spcAft>
                <a:spcPts val="0"/>
              </a:spcAft>
              <a:buSzPts val="1600"/>
              <a:buFont typeface="Arial"/>
              <a:buChar char="•"/>
            </a:pPr>
            <a:r>
              <a:rPr lang="en-US" sz="1600">
                <a:solidFill>
                  <a:srgbClr val="000000"/>
                </a:solidFill>
              </a:rPr>
              <a:t>Techniques used in </a:t>
            </a:r>
            <a:r>
              <a:rPr lang="en-US" sz="1600">
                <a:solidFill>
                  <a:srgbClr val="FF0000"/>
                </a:solidFill>
              </a:rPr>
              <a:t>access attacks </a:t>
            </a:r>
            <a:r>
              <a:rPr lang="en-US" sz="1600">
                <a:solidFill>
                  <a:srgbClr val="000000"/>
                </a:solidFill>
              </a:rPr>
              <a:t>(password attacks, spoofing attacks, trust exploitations, port redirections, man-in-the-middle attacks, buffer overflow attacks)</a:t>
            </a:r>
            <a:endParaRPr/>
          </a:p>
          <a:p>
            <a:pPr marL="285750" lvl="0" indent="-285750" algn="l" rtl="0">
              <a:lnSpc>
                <a:spcPct val="100000"/>
              </a:lnSpc>
              <a:spcBef>
                <a:spcPts val="320"/>
              </a:spcBef>
              <a:spcAft>
                <a:spcPts val="0"/>
              </a:spcAft>
              <a:buSzPts val="1600"/>
              <a:buFont typeface="Arial"/>
              <a:buChar char="•"/>
            </a:pPr>
            <a:r>
              <a:rPr lang="en-US" sz="1600">
                <a:solidFill>
                  <a:srgbClr val="000000"/>
                </a:solidFill>
              </a:rPr>
              <a:t>Techniques used in </a:t>
            </a:r>
            <a:r>
              <a:rPr lang="en-US" sz="1600">
                <a:solidFill>
                  <a:srgbClr val="FF0000"/>
                </a:solidFill>
              </a:rPr>
              <a:t>social engineering attacks </a:t>
            </a:r>
            <a:r>
              <a:rPr lang="en-US" sz="1600">
                <a:solidFill>
                  <a:srgbClr val="000000"/>
                </a:solidFill>
              </a:rPr>
              <a:t>(pretesting, phishing, spear phishing, spam, something for something, baiting, impersonation, tailgating, shoulder surfing, dumpster diving)</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78"/>
        <p:cNvGrpSpPr/>
        <p:nvPr/>
      </p:nvGrpSpPr>
      <p:grpSpPr>
        <a:xfrm>
          <a:off x="0" y="0"/>
          <a:ext cx="0" cy="0"/>
          <a:chOff x="0" y="0"/>
          <a:chExt cx="0" cy="0"/>
        </a:xfrm>
      </p:grpSpPr>
      <p:sp>
        <p:nvSpPr>
          <p:cNvPr id="879" name="Google Shape;879;p29"/>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Common Network Attacks</a:t>
            </a:r>
            <a:br>
              <a:rPr lang="en-US"/>
            </a:br>
            <a:r>
              <a:rPr lang="en-US" sz="2400"/>
              <a:t>Access Attacks</a:t>
            </a:r>
            <a:endParaRPr/>
          </a:p>
        </p:txBody>
      </p:sp>
      <p:sp>
        <p:nvSpPr>
          <p:cNvPr id="880" name="Google Shape;880;p29"/>
          <p:cNvSpPr txBox="1">
            <a:spLocks noGrp="1"/>
          </p:cNvSpPr>
          <p:nvPr>
            <p:ph type="body" idx="1"/>
          </p:nvPr>
        </p:nvSpPr>
        <p:spPr>
          <a:xfrm>
            <a:off x="474662" y="731837"/>
            <a:ext cx="8280057" cy="4047427"/>
          </a:xfrm>
          <a:prstGeom prst="rect">
            <a:avLst/>
          </a:prstGeom>
          <a:noFill/>
          <a:ln>
            <a:noFill/>
          </a:ln>
        </p:spPr>
        <p:txBody>
          <a:bodyPr spcFirstLastPara="1" wrap="square" lIns="91400" tIns="45700" rIns="91400" bIns="45700" anchor="t" anchorCtr="0">
            <a:noAutofit/>
          </a:bodyPr>
          <a:lstStyle/>
          <a:p>
            <a:pPr marL="285750" lvl="0" indent="-285750" algn="l" rtl="0">
              <a:lnSpc>
                <a:spcPct val="100000"/>
              </a:lnSpc>
              <a:spcBef>
                <a:spcPts val="0"/>
              </a:spcBef>
              <a:spcAft>
                <a:spcPts val="0"/>
              </a:spcAft>
              <a:buSzPts val="1400"/>
              <a:buFont typeface="Arial"/>
              <a:buChar char="•"/>
            </a:pPr>
            <a:r>
              <a:rPr lang="en-US" sz="1400">
                <a:solidFill>
                  <a:srgbClr val="000000"/>
                </a:solidFill>
              </a:rPr>
              <a:t>Access attacks exploit known vulnerabilities in authentication services, FTP services, and web services. The purpose of these types of attacks is to gain entry to web accounts, confidential databases, and other sensitive information.</a:t>
            </a:r>
            <a:endParaRPr/>
          </a:p>
          <a:p>
            <a:pPr marL="285750" lvl="0" indent="-285750" algn="l" rtl="0">
              <a:lnSpc>
                <a:spcPct val="100000"/>
              </a:lnSpc>
              <a:spcBef>
                <a:spcPts val="280"/>
              </a:spcBef>
              <a:spcAft>
                <a:spcPts val="0"/>
              </a:spcAft>
              <a:buSzPts val="1400"/>
              <a:buFont typeface="Arial"/>
              <a:buChar char="•"/>
            </a:pPr>
            <a:r>
              <a:rPr lang="en-US" sz="1400">
                <a:solidFill>
                  <a:srgbClr val="000000"/>
                </a:solidFill>
              </a:rPr>
              <a:t>Threat actors use access attacks on network devices and computers to retrieve data, gain access, or to escalate access privileges to administrator status.</a:t>
            </a:r>
            <a:endParaRPr/>
          </a:p>
          <a:p>
            <a:pPr marL="285750" lvl="0" indent="-285750" algn="l" rtl="0">
              <a:lnSpc>
                <a:spcPct val="100000"/>
              </a:lnSpc>
              <a:spcBef>
                <a:spcPts val="280"/>
              </a:spcBef>
              <a:spcAft>
                <a:spcPts val="0"/>
              </a:spcAft>
              <a:buSzPts val="1400"/>
              <a:buFont typeface="Arial"/>
              <a:buChar char="•"/>
            </a:pPr>
            <a:r>
              <a:rPr lang="en-US" sz="1400" b="1">
                <a:solidFill>
                  <a:srgbClr val="000000"/>
                </a:solidFill>
              </a:rPr>
              <a:t>Password Attacks: </a:t>
            </a:r>
            <a:r>
              <a:rPr lang="en-US" sz="1400">
                <a:solidFill>
                  <a:srgbClr val="000000"/>
                </a:solidFill>
              </a:rPr>
              <a:t>In a password attack, the threat actor attempts to discover critical system passwords using various methods. Password attacks are very common and can be launched using a variety of password cracking tools.</a:t>
            </a:r>
            <a:endParaRPr/>
          </a:p>
          <a:p>
            <a:pPr marL="285750" lvl="0" indent="-285750" algn="l" rtl="0">
              <a:lnSpc>
                <a:spcPct val="100000"/>
              </a:lnSpc>
              <a:spcBef>
                <a:spcPts val="280"/>
              </a:spcBef>
              <a:spcAft>
                <a:spcPts val="0"/>
              </a:spcAft>
              <a:buSzPts val="1400"/>
              <a:buFont typeface="Arial"/>
              <a:buChar char="•"/>
            </a:pPr>
            <a:r>
              <a:rPr lang="en-US" sz="1400" b="1">
                <a:solidFill>
                  <a:srgbClr val="000000"/>
                </a:solidFill>
              </a:rPr>
              <a:t>Spoofing Attacks: </a:t>
            </a:r>
            <a:r>
              <a:rPr lang="en-US" sz="1400">
                <a:solidFill>
                  <a:srgbClr val="000000"/>
                </a:solidFill>
              </a:rPr>
              <a:t>In spoofing attacks, the threat actor device attempts to pose as another device by falsifying data. Common spoofing attacks include IP spoofing, MAC spoofing, and DHCP spoofing. These spoofing attacks will be discussed in more detail later in this module</a:t>
            </a:r>
            <a:endParaRPr/>
          </a:p>
          <a:p>
            <a:pPr marL="285750" lvl="0" indent="-285750" algn="l" rtl="0">
              <a:lnSpc>
                <a:spcPct val="100000"/>
              </a:lnSpc>
              <a:spcBef>
                <a:spcPts val="280"/>
              </a:spcBef>
              <a:spcAft>
                <a:spcPts val="0"/>
              </a:spcAft>
              <a:buSzPts val="1400"/>
              <a:buFont typeface="Arial"/>
              <a:buChar char="•"/>
            </a:pPr>
            <a:r>
              <a:rPr lang="en-US" sz="1400">
                <a:solidFill>
                  <a:srgbClr val="000000"/>
                </a:solidFill>
              </a:rPr>
              <a:t>Other Access attacks include:</a:t>
            </a:r>
            <a:endParaRPr/>
          </a:p>
          <a:p>
            <a:pPr marL="358835" lvl="1" indent="-285750" algn="l" rtl="0">
              <a:lnSpc>
                <a:spcPct val="95000"/>
              </a:lnSpc>
              <a:spcBef>
                <a:spcPts val="600"/>
              </a:spcBef>
              <a:spcAft>
                <a:spcPts val="0"/>
              </a:spcAft>
              <a:buSzPts val="1200"/>
              <a:buFont typeface="Arial"/>
              <a:buChar char="•"/>
            </a:pPr>
            <a:r>
              <a:rPr lang="en-US" sz="1200">
                <a:solidFill>
                  <a:srgbClr val="000000"/>
                </a:solidFill>
              </a:rPr>
              <a:t>Trust exploitations</a:t>
            </a:r>
            <a:endParaRPr/>
          </a:p>
          <a:p>
            <a:pPr marL="358835" lvl="1" indent="-285750" algn="l" rtl="0">
              <a:lnSpc>
                <a:spcPct val="95000"/>
              </a:lnSpc>
              <a:spcBef>
                <a:spcPts val="600"/>
              </a:spcBef>
              <a:spcAft>
                <a:spcPts val="0"/>
              </a:spcAft>
              <a:buSzPts val="1200"/>
              <a:buFont typeface="Arial"/>
              <a:buChar char="•"/>
            </a:pPr>
            <a:r>
              <a:rPr lang="en-US" sz="1200">
                <a:solidFill>
                  <a:srgbClr val="000000"/>
                </a:solidFill>
              </a:rPr>
              <a:t>Port redirections</a:t>
            </a:r>
            <a:endParaRPr/>
          </a:p>
          <a:p>
            <a:pPr marL="358835" lvl="1" indent="-285750" algn="l" rtl="0">
              <a:lnSpc>
                <a:spcPct val="95000"/>
              </a:lnSpc>
              <a:spcBef>
                <a:spcPts val="600"/>
              </a:spcBef>
              <a:spcAft>
                <a:spcPts val="0"/>
              </a:spcAft>
              <a:buSzPts val="1200"/>
              <a:buFont typeface="Arial"/>
              <a:buChar char="•"/>
            </a:pPr>
            <a:r>
              <a:rPr lang="en-US" sz="1200">
                <a:solidFill>
                  <a:srgbClr val="000000"/>
                </a:solidFill>
              </a:rPr>
              <a:t>Man-in-the-middle attacks</a:t>
            </a:r>
            <a:endParaRPr/>
          </a:p>
          <a:p>
            <a:pPr marL="358835" lvl="1" indent="-285750" algn="l" rtl="0">
              <a:lnSpc>
                <a:spcPct val="95000"/>
              </a:lnSpc>
              <a:spcBef>
                <a:spcPts val="600"/>
              </a:spcBef>
              <a:spcAft>
                <a:spcPts val="0"/>
              </a:spcAft>
              <a:buSzPts val="1200"/>
              <a:buFont typeface="Arial"/>
              <a:buChar char="•"/>
            </a:pPr>
            <a:r>
              <a:rPr lang="en-US" sz="1200">
                <a:solidFill>
                  <a:srgbClr val="000000"/>
                </a:solidFill>
              </a:rPr>
              <a:t>Buffer overflow attacks</a:t>
            </a:r>
            <a:endParaRPr/>
          </a:p>
          <a:p>
            <a:pPr marL="285750" lvl="0" indent="-196850" algn="l" rtl="0">
              <a:lnSpc>
                <a:spcPct val="100000"/>
              </a:lnSpc>
              <a:spcBef>
                <a:spcPts val="280"/>
              </a:spcBef>
              <a:spcAft>
                <a:spcPts val="0"/>
              </a:spcAft>
              <a:buSzPts val="1400"/>
              <a:buFont typeface="Arial"/>
              <a:buNone/>
            </a:pPr>
            <a:endParaRPr sz="14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p30"/>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Common Network Attacks</a:t>
            </a:r>
            <a:br>
              <a:rPr lang="en-US"/>
            </a:br>
            <a:r>
              <a:rPr lang="en-US" sz="2400"/>
              <a:t>Social Engineering Attacks</a:t>
            </a:r>
            <a:endParaRPr/>
          </a:p>
        </p:txBody>
      </p:sp>
      <p:sp>
        <p:nvSpPr>
          <p:cNvPr id="887" name="Google Shape;887;p30"/>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600"/>
              <a:buFont typeface="Arial"/>
              <a:buChar char="•"/>
            </a:pPr>
            <a:r>
              <a:rPr lang="en-US" sz="1600">
                <a:solidFill>
                  <a:srgbClr val="000000"/>
                </a:solidFill>
              </a:rPr>
              <a:t>Social engineering is an access attack that attempts to manipulate individuals into performing actions or divulging confidential information. Some social engineering techniques are performed in-person while others may use the telephone or internet.</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Social engineers often rely on people’s willingness to be helpful. They also prey on people’s weaknesses. </a:t>
            </a:r>
            <a:endParaRPr/>
          </a:p>
          <a:p>
            <a:pPr marL="342900" lvl="0" indent="-241300" algn="l" rtl="0">
              <a:lnSpc>
                <a:spcPct val="100000"/>
              </a:lnSpc>
              <a:spcBef>
                <a:spcPts val="320"/>
              </a:spcBef>
              <a:spcAft>
                <a:spcPts val="0"/>
              </a:spcAft>
              <a:buSzPts val="1600"/>
              <a:buFont typeface="Arial"/>
              <a:buNone/>
            </a:pPr>
            <a:endParaRPr sz="16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p31"/>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Common Network Attacks</a:t>
            </a:r>
            <a:br>
              <a:rPr lang="en-US"/>
            </a:br>
            <a:r>
              <a:rPr lang="en-US" sz="2400"/>
              <a:t>Social Engineering Attacks (Cont.)</a:t>
            </a:r>
            <a:endParaRPr/>
          </a:p>
        </p:txBody>
      </p:sp>
      <p:graphicFrame>
        <p:nvGraphicFramePr>
          <p:cNvPr id="894" name="Google Shape;894;p31"/>
          <p:cNvGraphicFramePr/>
          <p:nvPr/>
        </p:nvGraphicFramePr>
        <p:xfrm>
          <a:off x="431800" y="731837"/>
          <a:ext cx="8280400" cy="3945675"/>
        </p:xfrm>
        <a:graphic>
          <a:graphicData uri="http://schemas.openxmlformats.org/drawingml/2006/table">
            <a:tbl>
              <a:tblPr firstRow="1" bandRow="1">
                <a:noFill/>
                <a:tableStyleId>{0DCACE81-CCCA-460A-ACD2-FE0297909B90}</a:tableStyleId>
              </a:tblPr>
              <a:tblGrid>
                <a:gridCol w="1839175">
                  <a:extLst>
                    <a:ext uri="{9D8B030D-6E8A-4147-A177-3AD203B41FA5}">
                      <a16:colId xmlns:a16="http://schemas.microsoft.com/office/drawing/2014/main" val="20000"/>
                    </a:ext>
                  </a:extLst>
                </a:gridCol>
                <a:gridCol w="6441225">
                  <a:extLst>
                    <a:ext uri="{9D8B030D-6E8A-4147-A177-3AD203B41FA5}">
                      <a16:colId xmlns:a16="http://schemas.microsoft.com/office/drawing/2014/main" val="20001"/>
                    </a:ext>
                  </a:extLst>
                </a:gridCol>
              </a:tblGrid>
              <a:tr h="309075">
                <a:tc>
                  <a:txBody>
                    <a:bodyPr/>
                    <a:lstStyle/>
                    <a:p>
                      <a:pPr marL="0" marR="0" lvl="0" indent="0" algn="l" rtl="0">
                        <a:spcBef>
                          <a:spcPts val="0"/>
                        </a:spcBef>
                        <a:spcAft>
                          <a:spcPts val="0"/>
                        </a:spcAft>
                        <a:buNone/>
                      </a:pPr>
                      <a:r>
                        <a:rPr lang="en-US" sz="1000" u="none" strike="noStrike" cap="none"/>
                        <a:t>Social Engineering Attack</a:t>
                      </a:r>
                      <a:endParaRPr/>
                    </a:p>
                  </a:txBody>
                  <a:tcPr marL="47625" marR="47625" marT="47625" marB="47625" anchor="ctr"/>
                </a:tc>
                <a:tc>
                  <a:txBody>
                    <a:bodyPr/>
                    <a:lstStyle/>
                    <a:p>
                      <a:pPr marL="0" marR="0" lvl="0" indent="0" algn="l" rtl="0">
                        <a:spcBef>
                          <a:spcPts val="0"/>
                        </a:spcBef>
                        <a:spcAft>
                          <a:spcPts val="0"/>
                        </a:spcAft>
                        <a:buNone/>
                      </a:pPr>
                      <a:r>
                        <a:rPr lang="en-US" sz="1000" u="none" strike="noStrike" cap="none"/>
                        <a:t>Description</a:t>
                      </a:r>
                      <a:endParaRPr/>
                    </a:p>
                  </a:txBody>
                  <a:tcPr marL="47625" marR="47625" marT="47625" marB="47625" anchor="ctr"/>
                </a:tc>
                <a:extLst>
                  <a:ext uri="{0D108BD9-81ED-4DB2-BD59-A6C34878D82A}">
                    <a16:rowId xmlns:a16="http://schemas.microsoft.com/office/drawing/2014/main" val="10000"/>
                  </a:ext>
                </a:extLst>
              </a:tr>
              <a:tr h="309075">
                <a:tc>
                  <a:txBody>
                    <a:bodyPr/>
                    <a:lstStyle/>
                    <a:p>
                      <a:pPr marL="0" marR="0" lvl="0" indent="0" algn="l" rtl="0">
                        <a:spcBef>
                          <a:spcPts val="0"/>
                        </a:spcBef>
                        <a:spcAft>
                          <a:spcPts val="0"/>
                        </a:spcAft>
                        <a:buNone/>
                      </a:pPr>
                      <a:r>
                        <a:rPr lang="en-US" sz="1000" b="0" u="none" strike="noStrike" cap="none"/>
                        <a:t>Pretexting</a:t>
                      </a:r>
                      <a:endParaRPr/>
                    </a:p>
                  </a:txBody>
                  <a:tcPr marL="47625" marR="47625" marT="47625" marB="47625" anchor="ctr"/>
                </a:tc>
                <a:tc>
                  <a:txBody>
                    <a:bodyPr/>
                    <a:lstStyle/>
                    <a:p>
                      <a:pPr marL="0" marR="0" lvl="0" indent="0" algn="l" rtl="0">
                        <a:spcBef>
                          <a:spcPts val="0"/>
                        </a:spcBef>
                        <a:spcAft>
                          <a:spcPts val="0"/>
                        </a:spcAft>
                        <a:buNone/>
                      </a:pPr>
                      <a:r>
                        <a:rPr lang="en-US" sz="1000" b="0" u="none" strike="noStrike" cap="none"/>
                        <a:t>A threat actor pretends to need personal or financial data to confirm the identity of the recipient.</a:t>
                      </a:r>
                      <a:endParaRPr/>
                    </a:p>
                  </a:txBody>
                  <a:tcPr marL="47625" marR="47625" marT="47625" marB="47625" anchor="ctr"/>
                </a:tc>
                <a:extLst>
                  <a:ext uri="{0D108BD9-81ED-4DB2-BD59-A6C34878D82A}">
                    <a16:rowId xmlns:a16="http://schemas.microsoft.com/office/drawing/2014/main" val="10001"/>
                  </a:ext>
                </a:extLst>
              </a:tr>
              <a:tr h="333425">
                <a:tc>
                  <a:txBody>
                    <a:bodyPr/>
                    <a:lstStyle/>
                    <a:p>
                      <a:pPr marL="0" marR="0" lvl="0" indent="0" algn="l" rtl="0">
                        <a:spcBef>
                          <a:spcPts val="0"/>
                        </a:spcBef>
                        <a:spcAft>
                          <a:spcPts val="0"/>
                        </a:spcAft>
                        <a:buNone/>
                      </a:pPr>
                      <a:r>
                        <a:rPr lang="en-US" sz="1000" b="0" u="none" strike="noStrike" cap="none"/>
                        <a:t>Phishing</a:t>
                      </a:r>
                      <a:endParaRPr/>
                    </a:p>
                  </a:txBody>
                  <a:tcPr marL="47625" marR="47625" marT="47625" marB="47625" anchor="ctr"/>
                </a:tc>
                <a:tc>
                  <a:txBody>
                    <a:bodyPr/>
                    <a:lstStyle/>
                    <a:p>
                      <a:pPr marL="0" marR="0" lvl="0" indent="0" algn="l" rtl="0">
                        <a:spcBef>
                          <a:spcPts val="0"/>
                        </a:spcBef>
                        <a:spcAft>
                          <a:spcPts val="0"/>
                        </a:spcAft>
                        <a:buNone/>
                      </a:pPr>
                      <a:r>
                        <a:rPr lang="en-US" sz="1000" b="0" u="none" strike="noStrike" cap="none"/>
                        <a:t>A threat actor sends fraudulent email which is disguised as being from a legitimate, trusted source to trick the recipient into installing malware on their device, or to share personal or financial information.</a:t>
                      </a:r>
                      <a:endParaRPr/>
                    </a:p>
                  </a:txBody>
                  <a:tcPr marL="47625" marR="47625" marT="47625" marB="47625" anchor="ctr"/>
                </a:tc>
                <a:extLst>
                  <a:ext uri="{0D108BD9-81ED-4DB2-BD59-A6C34878D82A}">
                    <a16:rowId xmlns:a16="http://schemas.microsoft.com/office/drawing/2014/main" val="10002"/>
                  </a:ext>
                </a:extLst>
              </a:tr>
              <a:tr h="309075">
                <a:tc>
                  <a:txBody>
                    <a:bodyPr/>
                    <a:lstStyle/>
                    <a:p>
                      <a:pPr marL="0" marR="0" lvl="0" indent="0" algn="l" rtl="0">
                        <a:spcBef>
                          <a:spcPts val="0"/>
                        </a:spcBef>
                        <a:spcAft>
                          <a:spcPts val="0"/>
                        </a:spcAft>
                        <a:buNone/>
                      </a:pPr>
                      <a:r>
                        <a:rPr lang="en-US" sz="1000" b="0" u="none" strike="noStrike" cap="none"/>
                        <a:t>Spear phishing</a:t>
                      </a:r>
                      <a:endParaRPr/>
                    </a:p>
                  </a:txBody>
                  <a:tcPr marL="47625" marR="47625" marT="47625" marB="47625" anchor="ctr"/>
                </a:tc>
                <a:tc>
                  <a:txBody>
                    <a:bodyPr/>
                    <a:lstStyle/>
                    <a:p>
                      <a:pPr marL="0" marR="0" lvl="0" indent="0" algn="l" rtl="0">
                        <a:spcBef>
                          <a:spcPts val="0"/>
                        </a:spcBef>
                        <a:spcAft>
                          <a:spcPts val="0"/>
                        </a:spcAft>
                        <a:buNone/>
                      </a:pPr>
                      <a:r>
                        <a:rPr lang="en-US" sz="1000" b="0" u="none" strike="noStrike" cap="none"/>
                        <a:t>A threat actor creates a targeted phishing attack tailored for a specific individual or organization.</a:t>
                      </a:r>
                      <a:endParaRPr/>
                    </a:p>
                  </a:txBody>
                  <a:tcPr marL="47625" marR="47625" marT="47625" marB="47625" anchor="ctr"/>
                </a:tc>
                <a:extLst>
                  <a:ext uri="{0D108BD9-81ED-4DB2-BD59-A6C34878D82A}">
                    <a16:rowId xmlns:a16="http://schemas.microsoft.com/office/drawing/2014/main" val="10003"/>
                  </a:ext>
                </a:extLst>
              </a:tr>
              <a:tr h="333425">
                <a:tc>
                  <a:txBody>
                    <a:bodyPr/>
                    <a:lstStyle/>
                    <a:p>
                      <a:pPr marL="0" marR="0" lvl="0" indent="0" algn="l" rtl="0">
                        <a:spcBef>
                          <a:spcPts val="0"/>
                        </a:spcBef>
                        <a:spcAft>
                          <a:spcPts val="0"/>
                        </a:spcAft>
                        <a:buNone/>
                      </a:pPr>
                      <a:r>
                        <a:rPr lang="en-US" sz="1000" b="0" u="none" strike="noStrike" cap="none"/>
                        <a:t>Spam</a:t>
                      </a:r>
                      <a:endParaRPr/>
                    </a:p>
                  </a:txBody>
                  <a:tcPr marL="47625" marR="47625" marT="47625" marB="47625" anchor="ctr"/>
                </a:tc>
                <a:tc>
                  <a:txBody>
                    <a:bodyPr/>
                    <a:lstStyle/>
                    <a:p>
                      <a:pPr marL="0" marR="0" lvl="0" indent="0" algn="l" rtl="0">
                        <a:spcBef>
                          <a:spcPts val="0"/>
                        </a:spcBef>
                        <a:spcAft>
                          <a:spcPts val="0"/>
                        </a:spcAft>
                        <a:buNone/>
                      </a:pPr>
                      <a:r>
                        <a:rPr lang="en-US" sz="1000" b="0" u="none" strike="noStrike" cap="none"/>
                        <a:t>Also known as junk mail, this is unsolicited email which often contains harmful links, malware, or deceptive content.</a:t>
                      </a:r>
                      <a:endParaRPr/>
                    </a:p>
                  </a:txBody>
                  <a:tcPr marL="47625" marR="47625" marT="47625" marB="47625" anchor="ctr"/>
                </a:tc>
                <a:extLst>
                  <a:ext uri="{0D108BD9-81ED-4DB2-BD59-A6C34878D82A}">
                    <a16:rowId xmlns:a16="http://schemas.microsoft.com/office/drawing/2014/main" val="10004"/>
                  </a:ext>
                </a:extLst>
              </a:tr>
              <a:tr h="333425">
                <a:tc>
                  <a:txBody>
                    <a:bodyPr/>
                    <a:lstStyle/>
                    <a:p>
                      <a:pPr marL="0" marR="0" lvl="0" indent="0" algn="l" rtl="0">
                        <a:spcBef>
                          <a:spcPts val="0"/>
                        </a:spcBef>
                        <a:spcAft>
                          <a:spcPts val="0"/>
                        </a:spcAft>
                        <a:buNone/>
                      </a:pPr>
                      <a:r>
                        <a:rPr lang="en-US" sz="1000" b="0" u="none" strike="noStrike" cap="none"/>
                        <a:t>Something for Something</a:t>
                      </a:r>
                      <a:endParaRPr/>
                    </a:p>
                  </a:txBody>
                  <a:tcPr marL="47625" marR="47625" marT="47625" marB="47625" anchor="ctr"/>
                </a:tc>
                <a:tc>
                  <a:txBody>
                    <a:bodyPr/>
                    <a:lstStyle/>
                    <a:p>
                      <a:pPr marL="0" marR="0" lvl="0" indent="0" algn="l" rtl="0">
                        <a:spcBef>
                          <a:spcPts val="0"/>
                        </a:spcBef>
                        <a:spcAft>
                          <a:spcPts val="0"/>
                        </a:spcAft>
                        <a:buNone/>
                      </a:pPr>
                      <a:r>
                        <a:rPr lang="en-US" sz="1000" b="0" u="none" strike="noStrike" cap="none"/>
                        <a:t>Sometimes called “Quid pro quo”, this is when a threat actor requests personal information from a party in exchange for something such as a gift.</a:t>
                      </a:r>
                      <a:endParaRPr/>
                    </a:p>
                  </a:txBody>
                  <a:tcPr marL="47625" marR="47625" marT="47625" marB="47625" anchor="ctr"/>
                </a:tc>
                <a:extLst>
                  <a:ext uri="{0D108BD9-81ED-4DB2-BD59-A6C34878D82A}">
                    <a16:rowId xmlns:a16="http://schemas.microsoft.com/office/drawing/2014/main" val="10005"/>
                  </a:ext>
                </a:extLst>
              </a:tr>
              <a:tr h="333425">
                <a:tc>
                  <a:txBody>
                    <a:bodyPr/>
                    <a:lstStyle/>
                    <a:p>
                      <a:pPr marL="0" marR="0" lvl="0" indent="0" algn="l" rtl="0">
                        <a:spcBef>
                          <a:spcPts val="0"/>
                        </a:spcBef>
                        <a:spcAft>
                          <a:spcPts val="0"/>
                        </a:spcAft>
                        <a:buNone/>
                      </a:pPr>
                      <a:r>
                        <a:rPr lang="en-US" sz="1000" b="0" u="none" strike="noStrike" cap="none"/>
                        <a:t>Baiting</a:t>
                      </a:r>
                      <a:endParaRPr/>
                    </a:p>
                  </a:txBody>
                  <a:tcPr marL="47625" marR="47625" marT="47625" marB="47625" anchor="ctr"/>
                </a:tc>
                <a:tc>
                  <a:txBody>
                    <a:bodyPr/>
                    <a:lstStyle/>
                    <a:p>
                      <a:pPr marL="0" marR="0" lvl="0" indent="0" algn="l" rtl="0">
                        <a:spcBef>
                          <a:spcPts val="0"/>
                        </a:spcBef>
                        <a:spcAft>
                          <a:spcPts val="0"/>
                        </a:spcAft>
                        <a:buNone/>
                      </a:pPr>
                      <a:r>
                        <a:rPr lang="en-US" sz="1000" b="0" u="none" strike="noStrike" cap="none"/>
                        <a:t>A threat actor leaves a malware infected flash drive in a public location. A victim finds the drive and unsuspectingly inserts it into their laptop, unintentionally installing malware.</a:t>
                      </a:r>
                      <a:endParaRPr/>
                    </a:p>
                  </a:txBody>
                  <a:tcPr marL="47625" marR="47625" marT="47625" marB="47625" anchor="ctr"/>
                </a:tc>
                <a:extLst>
                  <a:ext uri="{0D108BD9-81ED-4DB2-BD59-A6C34878D82A}">
                    <a16:rowId xmlns:a16="http://schemas.microsoft.com/office/drawing/2014/main" val="10006"/>
                  </a:ext>
                </a:extLst>
              </a:tr>
              <a:tr h="309075">
                <a:tc>
                  <a:txBody>
                    <a:bodyPr/>
                    <a:lstStyle/>
                    <a:p>
                      <a:pPr marL="0" marR="0" lvl="0" indent="0" algn="l" rtl="0">
                        <a:spcBef>
                          <a:spcPts val="0"/>
                        </a:spcBef>
                        <a:spcAft>
                          <a:spcPts val="0"/>
                        </a:spcAft>
                        <a:buNone/>
                      </a:pPr>
                      <a:r>
                        <a:rPr lang="en-US" sz="1000" b="0" u="none" strike="noStrike" cap="none"/>
                        <a:t>Impersonation</a:t>
                      </a:r>
                      <a:endParaRPr/>
                    </a:p>
                  </a:txBody>
                  <a:tcPr marL="47625" marR="47625" marT="47625" marB="47625" anchor="ctr"/>
                </a:tc>
                <a:tc>
                  <a:txBody>
                    <a:bodyPr/>
                    <a:lstStyle/>
                    <a:p>
                      <a:pPr marL="0" marR="0" lvl="0" indent="0" algn="l" rtl="0">
                        <a:spcBef>
                          <a:spcPts val="0"/>
                        </a:spcBef>
                        <a:spcAft>
                          <a:spcPts val="0"/>
                        </a:spcAft>
                        <a:buNone/>
                      </a:pPr>
                      <a:r>
                        <a:rPr lang="en-US" sz="1000" b="0" u="none" strike="noStrike" cap="none"/>
                        <a:t>This type of attack is where a threat actor pretends to be someone they are not to gain the trust of a victim.</a:t>
                      </a:r>
                      <a:endParaRPr/>
                    </a:p>
                  </a:txBody>
                  <a:tcPr marL="47625" marR="47625" marT="47625" marB="47625" anchor="ctr"/>
                </a:tc>
                <a:extLst>
                  <a:ext uri="{0D108BD9-81ED-4DB2-BD59-A6C34878D82A}">
                    <a16:rowId xmlns:a16="http://schemas.microsoft.com/office/drawing/2014/main" val="10007"/>
                  </a:ext>
                </a:extLst>
              </a:tr>
              <a:tr h="333425">
                <a:tc>
                  <a:txBody>
                    <a:bodyPr/>
                    <a:lstStyle/>
                    <a:p>
                      <a:pPr marL="0" marR="0" lvl="0" indent="0" algn="l" rtl="0">
                        <a:spcBef>
                          <a:spcPts val="0"/>
                        </a:spcBef>
                        <a:spcAft>
                          <a:spcPts val="0"/>
                        </a:spcAft>
                        <a:buNone/>
                      </a:pPr>
                      <a:r>
                        <a:rPr lang="en-US" sz="1000" b="0" u="none" strike="noStrike" cap="none"/>
                        <a:t>Tailgating</a:t>
                      </a:r>
                      <a:endParaRPr/>
                    </a:p>
                  </a:txBody>
                  <a:tcPr marL="47625" marR="47625" marT="47625" marB="47625" anchor="ctr"/>
                </a:tc>
                <a:tc>
                  <a:txBody>
                    <a:bodyPr/>
                    <a:lstStyle/>
                    <a:p>
                      <a:pPr marL="0" marR="0" lvl="0" indent="0" algn="l" rtl="0">
                        <a:spcBef>
                          <a:spcPts val="0"/>
                        </a:spcBef>
                        <a:spcAft>
                          <a:spcPts val="0"/>
                        </a:spcAft>
                        <a:buNone/>
                      </a:pPr>
                      <a:r>
                        <a:rPr lang="en-US" sz="1000" b="0" u="none" strike="noStrike" cap="none"/>
                        <a:t>This is where a threat actor quickly follows an authorized person into a secure location to gain access to a secure area.</a:t>
                      </a:r>
                      <a:endParaRPr/>
                    </a:p>
                  </a:txBody>
                  <a:tcPr marL="47625" marR="47625" marT="47625" marB="47625" anchor="ctr"/>
                </a:tc>
                <a:extLst>
                  <a:ext uri="{0D108BD9-81ED-4DB2-BD59-A6C34878D82A}">
                    <a16:rowId xmlns:a16="http://schemas.microsoft.com/office/drawing/2014/main" val="10008"/>
                  </a:ext>
                </a:extLst>
              </a:tr>
              <a:tr h="333425">
                <a:tc>
                  <a:txBody>
                    <a:bodyPr/>
                    <a:lstStyle/>
                    <a:p>
                      <a:pPr marL="0" marR="0" lvl="0" indent="0" algn="l" rtl="0">
                        <a:spcBef>
                          <a:spcPts val="0"/>
                        </a:spcBef>
                        <a:spcAft>
                          <a:spcPts val="0"/>
                        </a:spcAft>
                        <a:buNone/>
                      </a:pPr>
                      <a:r>
                        <a:rPr lang="en-US" sz="1000" b="0" u="none" strike="noStrike" cap="none"/>
                        <a:t>Shoulder surfing</a:t>
                      </a:r>
                      <a:endParaRPr/>
                    </a:p>
                  </a:txBody>
                  <a:tcPr marL="47625" marR="47625" marT="47625" marB="47625" anchor="ctr"/>
                </a:tc>
                <a:tc>
                  <a:txBody>
                    <a:bodyPr/>
                    <a:lstStyle/>
                    <a:p>
                      <a:pPr marL="0" marR="0" lvl="0" indent="0" algn="l" rtl="0">
                        <a:spcBef>
                          <a:spcPts val="0"/>
                        </a:spcBef>
                        <a:spcAft>
                          <a:spcPts val="0"/>
                        </a:spcAft>
                        <a:buNone/>
                      </a:pPr>
                      <a:r>
                        <a:rPr lang="en-US" sz="1000" b="0" u="none" strike="noStrike" cap="none"/>
                        <a:t>This is where a threat actor inconspicuously looks over someone’s shoulder to steal their passwords or other information.</a:t>
                      </a:r>
                      <a:endParaRPr/>
                    </a:p>
                  </a:txBody>
                  <a:tcPr marL="47625" marR="47625" marT="47625" marB="47625" anchor="ctr"/>
                </a:tc>
                <a:extLst>
                  <a:ext uri="{0D108BD9-81ED-4DB2-BD59-A6C34878D82A}">
                    <a16:rowId xmlns:a16="http://schemas.microsoft.com/office/drawing/2014/main" val="10009"/>
                  </a:ext>
                </a:extLst>
              </a:tr>
              <a:tr h="309075">
                <a:tc>
                  <a:txBody>
                    <a:bodyPr/>
                    <a:lstStyle/>
                    <a:p>
                      <a:pPr marL="0" marR="0" lvl="0" indent="0" algn="l" rtl="0">
                        <a:spcBef>
                          <a:spcPts val="0"/>
                        </a:spcBef>
                        <a:spcAft>
                          <a:spcPts val="0"/>
                        </a:spcAft>
                        <a:buNone/>
                      </a:pPr>
                      <a:r>
                        <a:rPr lang="en-US" sz="1000" b="0" u="none" strike="noStrike" cap="none"/>
                        <a:t>Dumpster diving</a:t>
                      </a:r>
                      <a:endParaRPr/>
                    </a:p>
                  </a:txBody>
                  <a:tcPr marL="47625" marR="47625" marT="47625" marB="47625" anchor="ctr"/>
                </a:tc>
                <a:tc>
                  <a:txBody>
                    <a:bodyPr/>
                    <a:lstStyle/>
                    <a:p>
                      <a:pPr marL="0" marR="0" lvl="0" indent="0" algn="l" rtl="0">
                        <a:spcBef>
                          <a:spcPts val="0"/>
                        </a:spcBef>
                        <a:spcAft>
                          <a:spcPts val="0"/>
                        </a:spcAft>
                        <a:buNone/>
                      </a:pPr>
                      <a:r>
                        <a:rPr lang="en-US" sz="1000" b="0" u="none" strike="noStrike" cap="none"/>
                        <a:t>This is where a threat actor rummages through trash bins to discover confidential documents</a:t>
                      </a:r>
                      <a:endParaRPr/>
                    </a:p>
                  </a:txBody>
                  <a:tcPr marL="47625" marR="47625" marT="47625" marB="47625" anchor="ctr"/>
                </a:tc>
                <a:extLst>
                  <a:ext uri="{0D108BD9-81ED-4DB2-BD59-A6C34878D82A}">
                    <a16:rowId xmlns:a16="http://schemas.microsoft.com/office/drawing/2014/main" val="10010"/>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p32"/>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Common Network Attacks</a:t>
            </a:r>
            <a:br>
              <a:rPr lang="en-US"/>
            </a:br>
            <a:r>
              <a:rPr lang="en-US" sz="2400"/>
              <a:t>Social Engineering Attacks (Cont.)</a:t>
            </a:r>
            <a:endParaRPr/>
          </a:p>
        </p:txBody>
      </p:sp>
      <p:sp>
        <p:nvSpPr>
          <p:cNvPr id="901" name="Google Shape;901;p32"/>
          <p:cNvSpPr txBox="1">
            <a:spLocks noGrp="1"/>
          </p:cNvSpPr>
          <p:nvPr>
            <p:ph type="body" idx="1"/>
          </p:nvPr>
        </p:nvSpPr>
        <p:spPr>
          <a:xfrm>
            <a:off x="474662" y="954157"/>
            <a:ext cx="4033728" cy="3467577"/>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400"/>
              <a:buFont typeface="Arial"/>
              <a:buChar char="•"/>
            </a:pPr>
            <a:r>
              <a:rPr lang="en-US" sz="1400">
                <a:solidFill>
                  <a:srgbClr val="000000"/>
                </a:solidFill>
              </a:rPr>
              <a:t>The Social Engineering Toolkit (SET) was designed to help white hat hackers and other network security professionals create social engineering attacks to test their own networks.</a:t>
            </a:r>
            <a:endParaRPr/>
          </a:p>
          <a:p>
            <a:pPr marL="342900" lvl="0" indent="-342900" algn="l" rtl="0">
              <a:lnSpc>
                <a:spcPct val="100000"/>
              </a:lnSpc>
              <a:spcBef>
                <a:spcPts val="280"/>
              </a:spcBef>
              <a:spcAft>
                <a:spcPts val="0"/>
              </a:spcAft>
              <a:buSzPts val="1400"/>
              <a:buFont typeface="Arial"/>
              <a:buChar char="•"/>
            </a:pPr>
            <a:r>
              <a:rPr lang="en-US" sz="1400">
                <a:solidFill>
                  <a:srgbClr val="000000"/>
                </a:solidFill>
              </a:rPr>
              <a:t>Enterprises must educate their users about the risks of social engineering, and develop strategies to validate identities over the phone, via email, or in person.</a:t>
            </a:r>
            <a:endParaRPr/>
          </a:p>
          <a:p>
            <a:pPr marL="342900" lvl="0" indent="-342900" algn="l" rtl="0">
              <a:lnSpc>
                <a:spcPct val="100000"/>
              </a:lnSpc>
              <a:spcBef>
                <a:spcPts val="280"/>
              </a:spcBef>
              <a:spcAft>
                <a:spcPts val="0"/>
              </a:spcAft>
              <a:buSzPts val="1400"/>
              <a:buFont typeface="Arial"/>
              <a:buChar char="•"/>
            </a:pPr>
            <a:r>
              <a:rPr lang="en-US" sz="1400">
                <a:solidFill>
                  <a:srgbClr val="000000"/>
                </a:solidFill>
              </a:rPr>
              <a:t>The figure shows recommended practices that should be followed by all users.</a:t>
            </a:r>
            <a:endParaRPr/>
          </a:p>
          <a:p>
            <a:pPr marL="342900" lvl="0" indent="-254000" algn="l" rtl="0">
              <a:lnSpc>
                <a:spcPct val="100000"/>
              </a:lnSpc>
              <a:spcBef>
                <a:spcPts val="280"/>
              </a:spcBef>
              <a:spcAft>
                <a:spcPts val="0"/>
              </a:spcAft>
              <a:buSzPts val="1400"/>
              <a:buFont typeface="Arial"/>
              <a:buNone/>
            </a:pPr>
            <a:endParaRPr sz="1400">
              <a:solidFill>
                <a:srgbClr val="000000"/>
              </a:solidFill>
            </a:endParaRPr>
          </a:p>
        </p:txBody>
      </p:sp>
      <p:pic>
        <p:nvPicPr>
          <p:cNvPr id="902" name="Google Shape;902;p32"/>
          <p:cNvPicPr preferRelativeResize="0"/>
          <p:nvPr/>
        </p:nvPicPr>
        <p:blipFill rotWithShape="1">
          <a:blip r:embed="rId3">
            <a:alphaModFix/>
          </a:blip>
          <a:srcRect/>
          <a:stretch/>
        </p:blipFill>
        <p:spPr>
          <a:xfrm>
            <a:off x="4572000" y="848854"/>
            <a:ext cx="3937368" cy="379470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sp>
        <p:nvSpPr>
          <p:cNvPr id="908" name="Google Shape;908;p33"/>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Common Network Attacks</a:t>
            </a:r>
            <a:br>
              <a:rPr lang="en-US"/>
            </a:br>
            <a:r>
              <a:rPr lang="en-US" sz="2400"/>
              <a:t>Lab - Social Engineering</a:t>
            </a:r>
            <a:endParaRPr/>
          </a:p>
        </p:txBody>
      </p:sp>
      <p:sp>
        <p:nvSpPr>
          <p:cNvPr id="909" name="Google Shape;909;p33"/>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2000"/>
              <a:buNone/>
            </a:pPr>
            <a:r>
              <a:rPr lang="en-US">
                <a:solidFill>
                  <a:srgbClr val="000000"/>
                </a:solidFill>
              </a:rPr>
              <a:t>In this lab, you will research examples of social engineering and identify ways to recognize and prevent it.</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p34"/>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Common Network Attacks</a:t>
            </a:r>
            <a:br>
              <a:rPr lang="en-US"/>
            </a:br>
            <a:r>
              <a:rPr lang="en-US" sz="2400"/>
              <a:t>Video – Denial of Service Attacks</a:t>
            </a:r>
            <a:endParaRPr/>
          </a:p>
        </p:txBody>
      </p:sp>
      <p:sp>
        <p:nvSpPr>
          <p:cNvPr id="916" name="Google Shape;916;p34"/>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2000"/>
              <a:buNone/>
            </a:pPr>
            <a:r>
              <a:rPr lang="en-US">
                <a:solidFill>
                  <a:srgbClr val="000000"/>
                </a:solidFill>
              </a:rPr>
              <a:t>This video will cover the following:</a:t>
            </a:r>
            <a:endParaRPr/>
          </a:p>
          <a:p>
            <a:pPr marL="342900" lvl="0" indent="-342900" algn="l" rtl="0">
              <a:lnSpc>
                <a:spcPct val="100000"/>
              </a:lnSpc>
              <a:spcBef>
                <a:spcPts val="400"/>
              </a:spcBef>
              <a:spcAft>
                <a:spcPts val="0"/>
              </a:spcAft>
              <a:buSzPts val="2000"/>
              <a:buFont typeface="Arial"/>
              <a:buChar char="•"/>
            </a:pPr>
            <a:r>
              <a:rPr lang="en-US">
                <a:solidFill>
                  <a:srgbClr val="000000"/>
                </a:solidFill>
              </a:rPr>
              <a:t>Techniques used in Denial-of-Service attacks (overwhelming quantity of traffic, maliciously formatted packets)</a:t>
            </a:r>
            <a:endParaRPr/>
          </a:p>
          <a:p>
            <a:pPr marL="342900" lvl="0" indent="-342900" algn="l" rtl="0">
              <a:lnSpc>
                <a:spcPct val="100000"/>
              </a:lnSpc>
              <a:spcBef>
                <a:spcPts val="400"/>
              </a:spcBef>
              <a:spcAft>
                <a:spcPts val="0"/>
              </a:spcAft>
              <a:buSzPts val="2000"/>
              <a:buFont typeface="Arial"/>
              <a:buChar char="•"/>
            </a:pPr>
            <a:r>
              <a:rPr lang="en-US">
                <a:solidFill>
                  <a:srgbClr val="000000"/>
                </a:solidFill>
              </a:rPr>
              <a:t>Techniques used in Distributed Denial of Service attacks (zombies)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p35"/>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Common Network Attacks</a:t>
            </a:r>
            <a:br>
              <a:rPr lang="en-US"/>
            </a:br>
            <a:r>
              <a:rPr lang="en-US" sz="2400"/>
              <a:t>DoS and DDoS Attacks</a:t>
            </a:r>
            <a:endParaRPr/>
          </a:p>
        </p:txBody>
      </p:sp>
      <p:sp>
        <p:nvSpPr>
          <p:cNvPr id="923" name="Google Shape;923;p35"/>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600"/>
              <a:buFont typeface="Arial"/>
              <a:buChar char="•"/>
            </a:pPr>
            <a:r>
              <a:rPr lang="en-US" sz="1600">
                <a:solidFill>
                  <a:srgbClr val="000000"/>
                </a:solidFill>
              </a:rPr>
              <a:t>A Denial of Service (DoS) attack creates some sort of interruption of network services to users, devices, or applications. There are two major types of DoS attacks:</a:t>
            </a:r>
            <a:endParaRPr/>
          </a:p>
          <a:p>
            <a:pPr marL="415984" lvl="1" indent="-342899" algn="l" rtl="0">
              <a:lnSpc>
                <a:spcPct val="95000"/>
              </a:lnSpc>
              <a:spcBef>
                <a:spcPts val="600"/>
              </a:spcBef>
              <a:spcAft>
                <a:spcPts val="0"/>
              </a:spcAft>
              <a:buSzPts val="1600"/>
              <a:buFont typeface="Arial"/>
              <a:buChar char="•"/>
            </a:pPr>
            <a:r>
              <a:rPr lang="en-US" sz="1600" b="1">
                <a:solidFill>
                  <a:srgbClr val="000000"/>
                </a:solidFill>
              </a:rPr>
              <a:t>Overwhelming Quantity of Traffic</a:t>
            </a:r>
            <a:r>
              <a:rPr lang="en-US" sz="1600">
                <a:solidFill>
                  <a:srgbClr val="000000"/>
                </a:solidFill>
              </a:rPr>
              <a:t> - The threat actor sends an enormous quantity of data at a rate that the network, host, or application cannot handle. This causes transmission and response times to slow down. It can also crash a device or service.</a:t>
            </a:r>
            <a:endParaRPr/>
          </a:p>
          <a:p>
            <a:pPr marL="415984" lvl="1" indent="-342899" algn="l" rtl="0">
              <a:lnSpc>
                <a:spcPct val="95000"/>
              </a:lnSpc>
              <a:spcBef>
                <a:spcPts val="600"/>
              </a:spcBef>
              <a:spcAft>
                <a:spcPts val="0"/>
              </a:spcAft>
              <a:buSzPts val="1600"/>
              <a:buFont typeface="Arial"/>
              <a:buChar char="•"/>
            </a:pPr>
            <a:r>
              <a:rPr lang="en-US" sz="1600" b="1">
                <a:solidFill>
                  <a:srgbClr val="000000"/>
                </a:solidFill>
              </a:rPr>
              <a:t>Maliciously Formatted Packets</a:t>
            </a:r>
            <a:r>
              <a:rPr lang="en-US" sz="1600">
                <a:solidFill>
                  <a:srgbClr val="000000"/>
                </a:solidFill>
              </a:rPr>
              <a:t> - The threat actor sends a maliciously formatted packet to a host or application and the receiver is unable to handle it. This causes the receiving device to run very slowly or crash.</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DoS attacks are a major risk because they interrupt communication and cause significant loss of time and money. These attacks are relatively simple to conduct, even by an unskilled threat actor.</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A Distributed DoS Attack (DDoS) is similar to a DoS attack, but it originates from multiple, coordinated sources. </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sp>
        <p:nvSpPr>
          <p:cNvPr id="929" name="Google Shape;929;p36"/>
          <p:cNvSpPr txBox="1">
            <a:spLocks noGrp="1"/>
          </p:cNvSpPr>
          <p:nvPr>
            <p:ph type="ctrTitle"/>
          </p:nvPr>
        </p:nvSpPr>
        <p:spPr>
          <a:xfrm>
            <a:off x="416425" y="1788160"/>
            <a:ext cx="7848344" cy="929640"/>
          </a:xfrm>
          <a:prstGeom prst="rect">
            <a:avLst/>
          </a:prstGeom>
          <a:noFill/>
          <a:ln>
            <a:noFill/>
          </a:ln>
        </p:spPr>
        <p:txBody>
          <a:bodyPr spcFirstLastPara="1" wrap="square" lIns="91400" tIns="45700" rIns="91400" bIns="45700" anchor="b" anchorCtr="0">
            <a:noAutofit/>
          </a:bodyPr>
          <a:lstStyle/>
          <a:p>
            <a:pPr marL="0" lvl="0" indent="0" algn="l" rtl="0">
              <a:lnSpc>
                <a:spcPct val="90000"/>
              </a:lnSpc>
              <a:spcBef>
                <a:spcPts val="0"/>
              </a:spcBef>
              <a:spcAft>
                <a:spcPts val="0"/>
              </a:spcAft>
              <a:buClr>
                <a:srgbClr val="AEE8FA"/>
              </a:buClr>
              <a:buSzPts val="4600"/>
              <a:buFont typeface="Arial"/>
              <a:buNone/>
            </a:pPr>
            <a:r>
              <a:rPr lang="en-US">
                <a:solidFill>
                  <a:srgbClr val="AEE8FA"/>
                </a:solidFill>
              </a:rPr>
              <a:t>3.6 IP Vulnerabilities and Threats</a:t>
            </a:r>
            <a:endParaRPr/>
          </a:p>
        </p:txBody>
      </p:sp>
    </p:spTree>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34"/>
        <p:cNvGrpSpPr/>
        <p:nvPr/>
      </p:nvGrpSpPr>
      <p:grpSpPr>
        <a:xfrm>
          <a:off x="0" y="0"/>
          <a:ext cx="0" cy="0"/>
          <a:chOff x="0" y="0"/>
          <a:chExt cx="0" cy="0"/>
        </a:xfrm>
      </p:grpSpPr>
      <p:sp>
        <p:nvSpPr>
          <p:cNvPr id="935" name="Google Shape;935;p37"/>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IP Vulnerabilities and Threats</a:t>
            </a:r>
            <a:br>
              <a:rPr lang="en-US"/>
            </a:br>
            <a:r>
              <a:rPr lang="en-US" sz="2400"/>
              <a:t>Video – Common IP and ICMP Attacks</a:t>
            </a:r>
            <a:endParaRPr/>
          </a:p>
        </p:txBody>
      </p:sp>
      <p:sp>
        <p:nvSpPr>
          <p:cNvPr id="936" name="Google Shape;936;p37"/>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This video will cover the following:</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Techniques used in IP attacks (ICMP attacks, amplification and reflection attacks, address spoofing attacks, man-in-the-middle attacks, session hijacking)</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Techniques used in ICMP attacks (ICMP echo request and echo reply, ICMP unreachable, ICMP mask reply, ICMP redirects, ICMP router discovery)</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p38"/>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IP Vulnerabilities and Threats</a:t>
            </a:r>
            <a:br>
              <a:rPr lang="en-US"/>
            </a:br>
            <a:r>
              <a:rPr lang="en-US" sz="2400"/>
              <a:t>IPv4 and IPv6</a:t>
            </a:r>
            <a:endParaRPr/>
          </a:p>
        </p:txBody>
      </p:sp>
      <p:sp>
        <p:nvSpPr>
          <p:cNvPr id="943" name="Google Shape;943;p38"/>
          <p:cNvSpPr txBox="1">
            <a:spLocks noGrp="1"/>
          </p:cNvSpPr>
          <p:nvPr>
            <p:ph type="body" idx="1"/>
          </p:nvPr>
        </p:nvSpPr>
        <p:spPr>
          <a:xfrm>
            <a:off x="474662" y="731837"/>
            <a:ext cx="8280057" cy="990637"/>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400"/>
              <a:buFont typeface="Arial"/>
              <a:buChar char="•"/>
            </a:pPr>
            <a:r>
              <a:rPr lang="en-US" sz="1400">
                <a:solidFill>
                  <a:srgbClr val="000000"/>
                </a:solidFill>
              </a:rPr>
              <a:t>IP does not validate whether the source IP address contained in a packet actually came from that source. For this reason, threat actors can send packets using a spoofed source IP address. Security analysts must understand the different fields in both the IPv4 and IPv6 headers.</a:t>
            </a:r>
            <a:endParaRPr/>
          </a:p>
          <a:p>
            <a:pPr marL="342900" lvl="0" indent="-342900" algn="l" rtl="0">
              <a:lnSpc>
                <a:spcPct val="100000"/>
              </a:lnSpc>
              <a:spcBef>
                <a:spcPts val="280"/>
              </a:spcBef>
              <a:spcAft>
                <a:spcPts val="0"/>
              </a:spcAft>
              <a:buSzPts val="1400"/>
              <a:buFont typeface="Arial"/>
              <a:buChar char="•"/>
            </a:pPr>
            <a:r>
              <a:rPr lang="en-US" sz="1400">
                <a:solidFill>
                  <a:srgbClr val="000000"/>
                </a:solidFill>
              </a:rPr>
              <a:t>Some of the more common IP related attacks are shown in the table</a:t>
            </a:r>
            <a:endParaRPr/>
          </a:p>
          <a:p>
            <a:pPr marL="342900" lvl="0" indent="-254000" algn="l" rtl="0">
              <a:lnSpc>
                <a:spcPct val="100000"/>
              </a:lnSpc>
              <a:spcBef>
                <a:spcPts val="280"/>
              </a:spcBef>
              <a:spcAft>
                <a:spcPts val="0"/>
              </a:spcAft>
              <a:buSzPts val="1400"/>
              <a:buFont typeface="Arial"/>
              <a:buNone/>
            </a:pPr>
            <a:endParaRPr sz="1400">
              <a:solidFill>
                <a:srgbClr val="000000"/>
              </a:solidFill>
            </a:endParaRPr>
          </a:p>
        </p:txBody>
      </p:sp>
      <p:graphicFrame>
        <p:nvGraphicFramePr>
          <p:cNvPr id="944" name="Google Shape;944;p38"/>
          <p:cNvGraphicFramePr/>
          <p:nvPr/>
        </p:nvGraphicFramePr>
        <p:xfrm>
          <a:off x="630569" y="1801559"/>
          <a:ext cx="8038775" cy="2620190"/>
        </p:xfrm>
        <a:graphic>
          <a:graphicData uri="http://schemas.openxmlformats.org/drawingml/2006/table">
            <a:tbl>
              <a:tblPr firstRow="1" bandRow="1">
                <a:noFill/>
                <a:tableStyleId>{0DCACE81-CCCA-460A-ACD2-FE0297909B90}</a:tableStyleId>
              </a:tblPr>
              <a:tblGrid>
                <a:gridCol w="1876175">
                  <a:extLst>
                    <a:ext uri="{9D8B030D-6E8A-4147-A177-3AD203B41FA5}">
                      <a16:colId xmlns:a16="http://schemas.microsoft.com/office/drawing/2014/main" val="20000"/>
                    </a:ext>
                  </a:extLst>
                </a:gridCol>
                <a:gridCol w="6162600">
                  <a:extLst>
                    <a:ext uri="{9D8B030D-6E8A-4147-A177-3AD203B41FA5}">
                      <a16:colId xmlns:a16="http://schemas.microsoft.com/office/drawing/2014/main" val="20001"/>
                    </a:ext>
                  </a:extLst>
                </a:gridCol>
              </a:tblGrid>
              <a:tr h="305150">
                <a:tc>
                  <a:txBody>
                    <a:bodyPr/>
                    <a:lstStyle/>
                    <a:p>
                      <a:pPr marL="0" marR="0" lvl="0" indent="0" algn="l" rtl="0">
                        <a:spcBef>
                          <a:spcPts val="0"/>
                        </a:spcBef>
                        <a:spcAft>
                          <a:spcPts val="0"/>
                        </a:spcAft>
                        <a:buNone/>
                      </a:pPr>
                      <a:r>
                        <a:rPr lang="en-US" sz="1050" b="1" u="none" strike="noStrike" cap="none"/>
                        <a:t>IP Attack Techniques</a:t>
                      </a:r>
                      <a:endParaRPr sz="1050" u="none" strike="noStrike" cap="none"/>
                    </a:p>
                  </a:txBody>
                  <a:tcPr marL="47625" marR="47625" marT="47625" marB="47625" anchor="ctr"/>
                </a:tc>
                <a:tc>
                  <a:txBody>
                    <a:bodyPr/>
                    <a:lstStyle/>
                    <a:p>
                      <a:pPr marL="0" marR="0" lvl="0" indent="0" algn="l" rtl="0">
                        <a:spcBef>
                          <a:spcPts val="0"/>
                        </a:spcBef>
                        <a:spcAft>
                          <a:spcPts val="0"/>
                        </a:spcAft>
                        <a:buNone/>
                      </a:pPr>
                      <a:r>
                        <a:rPr lang="en-US" sz="1050" b="1" u="none" strike="noStrike" cap="none"/>
                        <a:t>Description</a:t>
                      </a:r>
                      <a:endParaRPr sz="1050" u="none" strike="noStrike" cap="none"/>
                    </a:p>
                  </a:txBody>
                  <a:tcPr marL="47625" marR="47625" marT="47625" marB="47625" anchor="ctr"/>
                </a:tc>
                <a:extLst>
                  <a:ext uri="{0D108BD9-81ED-4DB2-BD59-A6C34878D82A}">
                    <a16:rowId xmlns:a16="http://schemas.microsoft.com/office/drawing/2014/main" val="10000"/>
                  </a:ext>
                </a:extLst>
              </a:tr>
              <a:tr h="529825">
                <a:tc>
                  <a:txBody>
                    <a:bodyPr/>
                    <a:lstStyle/>
                    <a:p>
                      <a:pPr marL="0" marR="0" lvl="0" indent="0" algn="l" rtl="0">
                        <a:spcBef>
                          <a:spcPts val="0"/>
                        </a:spcBef>
                        <a:spcAft>
                          <a:spcPts val="0"/>
                        </a:spcAft>
                        <a:buNone/>
                      </a:pPr>
                      <a:r>
                        <a:rPr lang="en-US" sz="1050" b="1" u="none" strike="noStrike" cap="none"/>
                        <a:t>ICMP attacks</a:t>
                      </a:r>
                      <a:endParaRPr sz="1050" b="0" u="none" strike="noStrike" cap="none"/>
                    </a:p>
                  </a:txBody>
                  <a:tcPr marL="47625" marR="47625" marT="47625" marB="47625" anchor="ctr"/>
                </a:tc>
                <a:tc>
                  <a:txBody>
                    <a:bodyPr/>
                    <a:lstStyle/>
                    <a:p>
                      <a:pPr marL="0" marR="0" lvl="0" indent="0" algn="l" rtl="0">
                        <a:spcBef>
                          <a:spcPts val="0"/>
                        </a:spcBef>
                        <a:spcAft>
                          <a:spcPts val="0"/>
                        </a:spcAft>
                        <a:buNone/>
                      </a:pPr>
                      <a:r>
                        <a:rPr lang="en-US" sz="1050" b="0" u="none" strike="noStrike" cap="none"/>
                        <a:t>Threat actors use Internet Control Message Protocol (ICMP) echo packets (pings) to discover subnets and hosts on a protected network, to generate DoS flood attacks, and to alter host routing tables.</a:t>
                      </a:r>
                      <a:endParaRPr/>
                    </a:p>
                  </a:txBody>
                  <a:tcPr marL="47625" marR="47625" marT="47625" marB="47625" anchor="ctr"/>
                </a:tc>
                <a:extLst>
                  <a:ext uri="{0D108BD9-81ED-4DB2-BD59-A6C34878D82A}">
                    <a16:rowId xmlns:a16="http://schemas.microsoft.com/office/drawing/2014/main" val="10001"/>
                  </a:ext>
                </a:extLst>
              </a:tr>
              <a:tr h="379325">
                <a:tc>
                  <a:txBody>
                    <a:bodyPr/>
                    <a:lstStyle/>
                    <a:p>
                      <a:pPr marL="0" marR="0" lvl="0" indent="0" algn="l" rtl="0">
                        <a:spcBef>
                          <a:spcPts val="0"/>
                        </a:spcBef>
                        <a:spcAft>
                          <a:spcPts val="0"/>
                        </a:spcAft>
                        <a:buNone/>
                      </a:pPr>
                      <a:r>
                        <a:rPr lang="en-US" sz="1050" b="1" u="none" strike="noStrike" cap="none"/>
                        <a:t>Amplification and</a:t>
                      </a:r>
                      <a:endParaRPr sz="1050" b="0" u="none" strike="noStrike" cap="none"/>
                    </a:p>
                    <a:p>
                      <a:pPr marL="0" marR="0" lvl="0" indent="0" algn="l" rtl="0">
                        <a:spcBef>
                          <a:spcPts val="0"/>
                        </a:spcBef>
                        <a:spcAft>
                          <a:spcPts val="0"/>
                        </a:spcAft>
                        <a:buNone/>
                      </a:pPr>
                      <a:r>
                        <a:rPr lang="en-US" sz="1050" b="1" u="none" strike="noStrike" cap="none"/>
                        <a:t>reflection attacks</a:t>
                      </a:r>
                      <a:endParaRPr sz="1050" b="0" u="none" strike="noStrike" cap="none"/>
                    </a:p>
                  </a:txBody>
                  <a:tcPr marL="47625" marR="47625" marT="47625" marB="47625" anchor="ctr"/>
                </a:tc>
                <a:tc>
                  <a:txBody>
                    <a:bodyPr/>
                    <a:lstStyle/>
                    <a:p>
                      <a:pPr marL="0" marR="0" lvl="0" indent="0" algn="l" rtl="0">
                        <a:spcBef>
                          <a:spcPts val="0"/>
                        </a:spcBef>
                        <a:spcAft>
                          <a:spcPts val="0"/>
                        </a:spcAft>
                        <a:buNone/>
                      </a:pPr>
                      <a:r>
                        <a:rPr lang="en-US" sz="1050" b="0" u="none" strike="noStrike" cap="none"/>
                        <a:t>Threat actors attempt to prevent legitimate users from accessing information or services using DoS and DDoS attacks.</a:t>
                      </a:r>
                      <a:endParaRPr/>
                    </a:p>
                  </a:txBody>
                  <a:tcPr marL="47625" marR="47625" marT="47625" marB="47625" anchor="ctr"/>
                </a:tc>
                <a:extLst>
                  <a:ext uri="{0D108BD9-81ED-4DB2-BD59-A6C34878D82A}">
                    <a16:rowId xmlns:a16="http://schemas.microsoft.com/office/drawing/2014/main" val="10002"/>
                  </a:ext>
                </a:extLst>
              </a:tr>
              <a:tr h="379325">
                <a:tc>
                  <a:txBody>
                    <a:bodyPr/>
                    <a:lstStyle/>
                    <a:p>
                      <a:pPr marL="0" marR="0" lvl="0" indent="0" algn="l" rtl="0">
                        <a:spcBef>
                          <a:spcPts val="0"/>
                        </a:spcBef>
                        <a:spcAft>
                          <a:spcPts val="0"/>
                        </a:spcAft>
                        <a:buNone/>
                      </a:pPr>
                      <a:r>
                        <a:rPr lang="en-US" sz="1050" b="1" u="none" strike="noStrike" cap="none"/>
                        <a:t>Address spoofing attacks</a:t>
                      </a:r>
                      <a:endParaRPr sz="1050" b="0" u="none" strike="noStrike" cap="none"/>
                    </a:p>
                  </a:txBody>
                  <a:tcPr marL="47625" marR="47625" marT="47625" marB="47625" anchor="ctr"/>
                </a:tc>
                <a:tc>
                  <a:txBody>
                    <a:bodyPr/>
                    <a:lstStyle/>
                    <a:p>
                      <a:pPr marL="0" marR="0" lvl="0" indent="0" algn="l" rtl="0">
                        <a:spcBef>
                          <a:spcPts val="0"/>
                        </a:spcBef>
                        <a:spcAft>
                          <a:spcPts val="0"/>
                        </a:spcAft>
                        <a:buNone/>
                      </a:pPr>
                      <a:r>
                        <a:rPr lang="en-US" sz="1050" b="0" u="none" strike="noStrike" cap="none"/>
                        <a:t>Threat actors spoof the source IP address in an IP packet to perform blind spoofing or non-blind spoofing.</a:t>
                      </a:r>
                      <a:endParaRPr/>
                    </a:p>
                  </a:txBody>
                  <a:tcPr marL="47625" marR="47625" marT="47625" marB="47625" anchor="ctr"/>
                </a:tc>
                <a:extLst>
                  <a:ext uri="{0D108BD9-81ED-4DB2-BD59-A6C34878D82A}">
                    <a16:rowId xmlns:a16="http://schemas.microsoft.com/office/drawing/2014/main" val="10003"/>
                  </a:ext>
                </a:extLst>
              </a:tr>
              <a:tr h="529825">
                <a:tc>
                  <a:txBody>
                    <a:bodyPr/>
                    <a:lstStyle/>
                    <a:p>
                      <a:pPr marL="0" marR="0" lvl="0" indent="0" algn="l" rtl="0">
                        <a:spcBef>
                          <a:spcPts val="0"/>
                        </a:spcBef>
                        <a:spcAft>
                          <a:spcPts val="0"/>
                        </a:spcAft>
                        <a:buNone/>
                      </a:pPr>
                      <a:r>
                        <a:rPr lang="en-US" sz="1050" b="1" u="none" strike="noStrike" cap="none"/>
                        <a:t>Man-in-the-middle attack (MITM)</a:t>
                      </a:r>
                      <a:endParaRPr sz="1050" b="0" u="none" strike="noStrike" cap="none"/>
                    </a:p>
                  </a:txBody>
                  <a:tcPr marL="47625" marR="47625" marT="47625" marB="47625" anchor="ctr"/>
                </a:tc>
                <a:tc>
                  <a:txBody>
                    <a:bodyPr/>
                    <a:lstStyle/>
                    <a:p>
                      <a:pPr marL="0" marR="0" lvl="0" indent="0" algn="l" rtl="0">
                        <a:spcBef>
                          <a:spcPts val="0"/>
                        </a:spcBef>
                        <a:spcAft>
                          <a:spcPts val="0"/>
                        </a:spcAft>
                        <a:buNone/>
                      </a:pPr>
                      <a:r>
                        <a:rPr lang="en-US" sz="1050" b="0" u="none" strike="noStrike" cap="none"/>
                        <a:t>Threat actors position themselves between a source and destination to transparently monitor, capture, and control the communication. They could eavesdrop by inspecting captured packets, or alter packets and forward them to their original destination.</a:t>
                      </a:r>
                      <a:endParaRPr/>
                    </a:p>
                  </a:txBody>
                  <a:tcPr marL="47625" marR="47625" marT="47625" marB="47625" anchor="ctr"/>
                </a:tc>
                <a:extLst>
                  <a:ext uri="{0D108BD9-81ED-4DB2-BD59-A6C34878D82A}">
                    <a16:rowId xmlns:a16="http://schemas.microsoft.com/office/drawing/2014/main" val="10004"/>
                  </a:ext>
                </a:extLst>
              </a:tr>
              <a:tr h="379325">
                <a:tc>
                  <a:txBody>
                    <a:bodyPr/>
                    <a:lstStyle/>
                    <a:p>
                      <a:pPr marL="0" marR="0" lvl="0" indent="0" algn="l" rtl="0">
                        <a:spcBef>
                          <a:spcPts val="0"/>
                        </a:spcBef>
                        <a:spcAft>
                          <a:spcPts val="0"/>
                        </a:spcAft>
                        <a:buNone/>
                      </a:pPr>
                      <a:r>
                        <a:rPr lang="en-US" sz="1050" b="1" u="none" strike="noStrike" cap="none"/>
                        <a:t>Session hijacking</a:t>
                      </a:r>
                      <a:endParaRPr sz="1050" b="0" u="none" strike="noStrike" cap="none"/>
                    </a:p>
                  </a:txBody>
                  <a:tcPr marL="47625" marR="47625" marT="47625" marB="47625" anchor="ctr"/>
                </a:tc>
                <a:tc>
                  <a:txBody>
                    <a:bodyPr/>
                    <a:lstStyle/>
                    <a:p>
                      <a:pPr marL="0" marR="0" lvl="0" indent="0" algn="l" rtl="0">
                        <a:spcBef>
                          <a:spcPts val="0"/>
                        </a:spcBef>
                        <a:spcAft>
                          <a:spcPts val="0"/>
                        </a:spcAft>
                        <a:buNone/>
                      </a:pPr>
                      <a:r>
                        <a:rPr lang="en-US" sz="1050" b="0" u="none" strike="noStrike" cap="none"/>
                        <a:t>Threat actors gain access to the physical network, and then use an MITM attack to hijack a session</a:t>
                      </a:r>
                      <a:endParaRPr/>
                    </a:p>
                  </a:txBody>
                  <a:tcPr marL="47625" marR="47625" marT="47625" marB="47625" anchor="ct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p39"/>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IP Vulnerabilities and Threats</a:t>
            </a:r>
            <a:br>
              <a:rPr lang="en-US"/>
            </a:br>
            <a:r>
              <a:rPr lang="en-US" sz="2400"/>
              <a:t>ICMP Attacks</a:t>
            </a:r>
            <a:endParaRPr/>
          </a:p>
        </p:txBody>
      </p:sp>
      <p:sp>
        <p:nvSpPr>
          <p:cNvPr id="951" name="Google Shape;951;p39"/>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600"/>
              <a:buFont typeface="Arial"/>
              <a:buChar char="•"/>
            </a:pPr>
            <a:r>
              <a:rPr lang="en-US" sz="1600">
                <a:solidFill>
                  <a:srgbClr val="000000"/>
                </a:solidFill>
              </a:rPr>
              <a:t>Threat actors use ICMP for reconnaissance and scanning attacks. They can launch information-gathering attacks to map out a network topology, discover which hosts are active (reachable), identify the host operating system (OS fingerprinting), and determine the state of a firewall. Threat actors also use </a:t>
            </a:r>
            <a:r>
              <a:rPr lang="en-US" sz="1600">
                <a:solidFill>
                  <a:srgbClr val="FF0000"/>
                </a:solidFill>
              </a:rPr>
              <a:t>ICMP for DoS attacks</a:t>
            </a:r>
            <a:r>
              <a:rPr lang="en-US" sz="1600">
                <a:solidFill>
                  <a:srgbClr val="000000"/>
                </a:solidFill>
              </a:rPr>
              <a:t>.</a:t>
            </a:r>
            <a:endParaRPr/>
          </a:p>
          <a:p>
            <a:pPr marL="342900" lvl="0" indent="-342900" algn="l" rtl="0">
              <a:lnSpc>
                <a:spcPct val="100000"/>
              </a:lnSpc>
              <a:spcBef>
                <a:spcPts val="320"/>
              </a:spcBef>
              <a:spcAft>
                <a:spcPts val="0"/>
              </a:spcAft>
              <a:buSzPts val="1600"/>
              <a:buFont typeface="Arial"/>
              <a:buChar char="•"/>
            </a:pPr>
            <a:r>
              <a:rPr lang="en-US" sz="1600" b="1">
                <a:solidFill>
                  <a:srgbClr val="000000"/>
                </a:solidFill>
              </a:rPr>
              <a:t>Note</a:t>
            </a:r>
            <a:r>
              <a:rPr lang="en-US" sz="1600">
                <a:solidFill>
                  <a:srgbClr val="000000"/>
                </a:solidFill>
              </a:rPr>
              <a:t>: ICMP for IPv4 (ICMPv4) and ICMP for IPv6 (ICMPv6) are susceptible to similar types of attacks.</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Networks should have strict ICMP access control list (ACL) filtering on the network edge to avoid ICMP probing from the internet. In the case of large networks, security devices such as firewalls and intrusion detection systems (IDS) detect such attacks and generate alerts to the security analysts.</a:t>
            </a:r>
            <a:endParaRPr/>
          </a:p>
          <a:p>
            <a:pPr marL="342900" lvl="0" indent="-241300" algn="l" rtl="0">
              <a:lnSpc>
                <a:spcPct val="100000"/>
              </a:lnSpc>
              <a:spcBef>
                <a:spcPts val="320"/>
              </a:spcBef>
              <a:spcAft>
                <a:spcPts val="0"/>
              </a:spcAft>
              <a:buSzPts val="1600"/>
              <a:buFont typeface="Arial"/>
              <a:buNone/>
            </a:pPr>
            <a:endParaRPr sz="16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sp>
        <p:nvSpPr>
          <p:cNvPr id="957" name="Google Shape;957;p40"/>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IP Vulnerabilities and Threats</a:t>
            </a:r>
            <a:br>
              <a:rPr lang="en-US"/>
            </a:br>
            <a:r>
              <a:rPr lang="en-US" sz="2400"/>
              <a:t>ICMP Attacks (Cont.)</a:t>
            </a:r>
            <a:endParaRPr/>
          </a:p>
        </p:txBody>
      </p:sp>
      <p:sp>
        <p:nvSpPr>
          <p:cNvPr id="958" name="Google Shape;958;p40"/>
          <p:cNvSpPr/>
          <p:nvPr/>
        </p:nvSpPr>
        <p:spPr>
          <a:xfrm>
            <a:off x="388937" y="978456"/>
            <a:ext cx="774698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000000"/>
                </a:solidFill>
                <a:latin typeface="Arial"/>
                <a:ea typeface="Arial"/>
                <a:cs typeface="Arial"/>
                <a:sym typeface="Arial"/>
              </a:rPr>
              <a:t>Common ICMP messages of interest to threat actors are listed in the table.</a:t>
            </a:r>
            <a:endParaRPr sz="1600">
              <a:solidFill>
                <a:srgbClr val="000000"/>
              </a:solidFill>
              <a:latin typeface="Arial"/>
              <a:ea typeface="Arial"/>
              <a:cs typeface="Arial"/>
              <a:sym typeface="Arial"/>
            </a:endParaRPr>
          </a:p>
        </p:txBody>
      </p:sp>
      <p:graphicFrame>
        <p:nvGraphicFramePr>
          <p:cNvPr id="959" name="Google Shape;959;p40"/>
          <p:cNvGraphicFramePr/>
          <p:nvPr/>
        </p:nvGraphicFramePr>
        <p:xfrm>
          <a:off x="474663" y="1347788"/>
          <a:ext cx="8280400" cy="2405420"/>
        </p:xfrm>
        <a:graphic>
          <a:graphicData uri="http://schemas.openxmlformats.org/drawingml/2006/table">
            <a:tbl>
              <a:tblPr firstRow="1" bandRow="1">
                <a:noFill/>
                <a:tableStyleId>{0DCACE81-CCCA-460A-ACD2-FE0297909B90}</a:tableStyleId>
              </a:tblPr>
              <a:tblGrid>
                <a:gridCol w="3182925">
                  <a:extLst>
                    <a:ext uri="{9D8B030D-6E8A-4147-A177-3AD203B41FA5}">
                      <a16:colId xmlns:a16="http://schemas.microsoft.com/office/drawing/2014/main" val="20000"/>
                    </a:ext>
                  </a:extLst>
                </a:gridCol>
                <a:gridCol w="509747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US" sz="1200" b="1" u="none" strike="noStrike" cap="none"/>
                        <a:t>ICMP Messages used by Hackers</a:t>
                      </a:r>
                      <a:endParaRPr sz="1200" u="none" strike="noStrike" cap="none"/>
                    </a:p>
                  </a:txBody>
                  <a:tcPr marL="47625" marR="47625" marT="47625" marB="47625" anchor="ctr"/>
                </a:tc>
                <a:tc>
                  <a:txBody>
                    <a:bodyPr/>
                    <a:lstStyle/>
                    <a:p>
                      <a:pPr marL="0" marR="0" lvl="0" indent="0" algn="l" rtl="0">
                        <a:spcBef>
                          <a:spcPts val="0"/>
                        </a:spcBef>
                        <a:spcAft>
                          <a:spcPts val="0"/>
                        </a:spcAft>
                        <a:buNone/>
                      </a:pPr>
                      <a:r>
                        <a:rPr lang="en-US" sz="1200" b="1" u="none" strike="noStrike" cap="none"/>
                        <a:t>Description</a:t>
                      </a:r>
                      <a:endParaRPr sz="1200" u="none" strike="noStrike" cap="none"/>
                    </a:p>
                  </a:txBody>
                  <a:tcPr marL="47625" marR="47625" marT="47625" marB="47625" anchor="ctr"/>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200" b="1" u="none" strike="noStrike" cap="none"/>
                        <a:t>ICMP echo request and echo reply</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This is used to perform host verification and DoS attacks.</a:t>
                      </a:r>
                      <a:endParaRPr/>
                    </a:p>
                  </a:txBody>
                  <a:tcPr marL="47625" marR="47625" marT="47625" marB="47625" anchor="ctr"/>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200" b="1" u="none" strike="noStrike" cap="none"/>
                        <a:t>ICMP unreachable</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This is used to perform network reconnaissance and scanning attacks.</a:t>
                      </a:r>
                      <a:endParaRPr/>
                    </a:p>
                  </a:txBody>
                  <a:tcPr marL="47625" marR="47625" marT="47625" marB="47625" anchor="ctr"/>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200" b="1" u="none" strike="noStrike" cap="none"/>
                        <a:t>ICMP mask reply</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This is used to map an internal IP network.</a:t>
                      </a:r>
                      <a:endParaRPr/>
                    </a:p>
                  </a:txBody>
                  <a:tcPr marL="47625" marR="47625" marT="47625" marB="47625" anchor="ctr"/>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200" b="1" u="none" strike="noStrike" cap="none"/>
                        <a:t>ICMP redirects</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This is used to lure a target host into sending all traffic through a compromised device and create a MITM attack.</a:t>
                      </a:r>
                      <a:endParaRPr/>
                    </a:p>
                  </a:txBody>
                  <a:tcPr marL="47625" marR="47625" marT="47625" marB="47625" anchor="ctr"/>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1200" b="1" u="none" strike="noStrike" cap="none"/>
                        <a:t>ICMP router discovery</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This is used to inject bogus route entries into the routing table of a target host.</a:t>
                      </a:r>
                      <a:endParaRPr/>
                    </a:p>
                  </a:txBody>
                  <a:tcPr marL="47625" marR="47625" marT="47625" marB="47625" anchor="ct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5" name="Google Shape;965;p41"/>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IP Vulnerabilities and Threats</a:t>
            </a:r>
            <a:br>
              <a:rPr lang="en-US"/>
            </a:br>
            <a:r>
              <a:rPr lang="en-US" sz="2400"/>
              <a:t>Video – Amplification, Reflection, and Spoofing Attacks</a:t>
            </a:r>
            <a:endParaRPr/>
          </a:p>
        </p:txBody>
      </p:sp>
      <p:sp>
        <p:nvSpPr>
          <p:cNvPr id="966" name="Google Shape;966;p41"/>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This video will explain the amplification, reflection, and spoofing attack.</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sp>
        <p:nvSpPr>
          <p:cNvPr id="972" name="Google Shape;972;p42"/>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IP Vulnerabilities and Threats</a:t>
            </a:r>
            <a:br>
              <a:rPr lang="en-US"/>
            </a:br>
            <a:r>
              <a:rPr lang="en-US" sz="2400"/>
              <a:t>Amplification and Reflection Attacks</a:t>
            </a:r>
            <a:endParaRPr/>
          </a:p>
        </p:txBody>
      </p:sp>
      <p:sp>
        <p:nvSpPr>
          <p:cNvPr id="973" name="Google Shape;973;p42"/>
          <p:cNvSpPr txBox="1">
            <a:spLocks noGrp="1"/>
          </p:cNvSpPr>
          <p:nvPr>
            <p:ph type="body" idx="1"/>
          </p:nvPr>
        </p:nvSpPr>
        <p:spPr>
          <a:xfrm>
            <a:off x="474662" y="993422"/>
            <a:ext cx="3540747" cy="3428312"/>
          </a:xfrm>
          <a:prstGeom prst="rect">
            <a:avLst/>
          </a:prstGeom>
          <a:noFill/>
          <a:ln>
            <a:noFill/>
          </a:ln>
        </p:spPr>
        <p:txBody>
          <a:bodyPr spcFirstLastPara="1" wrap="square" lIns="91400" tIns="45700" rIns="91400" bIns="45700" anchor="t" anchorCtr="0">
            <a:noAutofit/>
          </a:bodyPr>
          <a:lstStyle/>
          <a:p>
            <a:pPr marL="285750" lvl="0" indent="-285750" algn="l" rtl="0">
              <a:lnSpc>
                <a:spcPct val="100000"/>
              </a:lnSpc>
              <a:spcBef>
                <a:spcPts val="0"/>
              </a:spcBef>
              <a:spcAft>
                <a:spcPts val="0"/>
              </a:spcAft>
              <a:buSzPts val="1400"/>
              <a:buFont typeface="Arial"/>
              <a:buChar char="•"/>
            </a:pPr>
            <a:r>
              <a:rPr lang="en-US" sz="1400">
                <a:solidFill>
                  <a:srgbClr val="000000"/>
                </a:solidFill>
              </a:rPr>
              <a:t>Threat actors often use amplification and reflection techniques to create DoS attacks. The example in the figure illustrates a </a:t>
            </a:r>
            <a:r>
              <a:rPr lang="en-US" sz="1400">
                <a:solidFill>
                  <a:srgbClr val="FF0000"/>
                </a:solidFill>
              </a:rPr>
              <a:t>Smurf attack </a:t>
            </a:r>
            <a:r>
              <a:rPr lang="en-US" sz="1400">
                <a:solidFill>
                  <a:srgbClr val="000000"/>
                </a:solidFill>
              </a:rPr>
              <a:t>is used to overwhelm a target host.</a:t>
            </a:r>
            <a:endParaRPr/>
          </a:p>
          <a:p>
            <a:pPr marL="358835" lvl="1" indent="-285750" algn="l" rtl="0">
              <a:lnSpc>
                <a:spcPct val="95000"/>
              </a:lnSpc>
              <a:spcBef>
                <a:spcPts val="600"/>
              </a:spcBef>
              <a:spcAft>
                <a:spcPts val="0"/>
              </a:spcAft>
              <a:buSzPts val="1200"/>
              <a:buFont typeface="Arial"/>
              <a:buChar char="•"/>
            </a:pPr>
            <a:r>
              <a:rPr lang="en-US" sz="1200" b="1">
                <a:solidFill>
                  <a:srgbClr val="000000"/>
                </a:solidFill>
              </a:rPr>
              <a:t>Note</a:t>
            </a:r>
            <a:r>
              <a:rPr lang="en-US" sz="1200">
                <a:solidFill>
                  <a:srgbClr val="000000"/>
                </a:solidFill>
              </a:rPr>
              <a:t>: Newer forms of amplification and reflection attacks such as DNS-based reflection and amplification attacks and Network Time Protocol (NTP) amplification attacks are now being used.</a:t>
            </a:r>
            <a:endParaRPr/>
          </a:p>
          <a:p>
            <a:pPr marL="285750" lvl="0" indent="-285750" algn="l" rtl="0">
              <a:lnSpc>
                <a:spcPct val="100000"/>
              </a:lnSpc>
              <a:spcBef>
                <a:spcPts val="280"/>
              </a:spcBef>
              <a:spcAft>
                <a:spcPts val="0"/>
              </a:spcAft>
              <a:buSzPts val="1400"/>
              <a:buFont typeface="Arial"/>
              <a:buChar char="•"/>
            </a:pPr>
            <a:r>
              <a:rPr lang="en-US" sz="1400">
                <a:solidFill>
                  <a:srgbClr val="000000"/>
                </a:solidFill>
              </a:rPr>
              <a:t>Threat actors also use resource exhaustion attacks to either to crash a target host or to consume the resources of a network.</a:t>
            </a:r>
            <a:br>
              <a:rPr lang="en-US" sz="1400">
                <a:solidFill>
                  <a:srgbClr val="000000"/>
                </a:solidFill>
              </a:rPr>
            </a:br>
            <a:endParaRPr sz="1400">
              <a:solidFill>
                <a:srgbClr val="000000"/>
              </a:solidFill>
            </a:endParaRPr>
          </a:p>
        </p:txBody>
      </p:sp>
      <p:pic>
        <p:nvPicPr>
          <p:cNvPr id="974" name="Google Shape;974;p42"/>
          <p:cNvPicPr preferRelativeResize="0"/>
          <p:nvPr/>
        </p:nvPicPr>
        <p:blipFill rotWithShape="1">
          <a:blip r:embed="rId3">
            <a:alphaModFix/>
          </a:blip>
          <a:srcRect/>
          <a:stretch/>
        </p:blipFill>
        <p:spPr>
          <a:xfrm>
            <a:off x="4384507" y="857502"/>
            <a:ext cx="4341056" cy="368989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sp>
        <p:nvSpPr>
          <p:cNvPr id="980" name="Google Shape;980;p43"/>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IP Vulnerabilities and Threats</a:t>
            </a:r>
            <a:br>
              <a:rPr lang="en-US"/>
            </a:br>
            <a:r>
              <a:rPr lang="en-US" sz="2400"/>
              <a:t>Address Spoofing Attacks</a:t>
            </a:r>
            <a:endParaRPr/>
          </a:p>
        </p:txBody>
      </p:sp>
      <p:sp>
        <p:nvSpPr>
          <p:cNvPr id="981" name="Google Shape;981;p43"/>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400"/>
              <a:buFont typeface="Arial"/>
              <a:buChar char="•"/>
            </a:pPr>
            <a:r>
              <a:rPr lang="en-US" sz="1400">
                <a:solidFill>
                  <a:srgbClr val="000000"/>
                </a:solidFill>
              </a:rPr>
              <a:t>IP address spoofing attacks occur when a threat actor creates packets with false source IP address information to either hide the identity of the sender, or to pose as another legitimate user. Spoofing is usually incorporated into another attack such as a Smurf attack.</a:t>
            </a:r>
            <a:endParaRPr/>
          </a:p>
          <a:p>
            <a:pPr marL="342900" lvl="0" indent="-342900" algn="l" rtl="0">
              <a:lnSpc>
                <a:spcPct val="100000"/>
              </a:lnSpc>
              <a:spcBef>
                <a:spcPts val="280"/>
              </a:spcBef>
              <a:spcAft>
                <a:spcPts val="0"/>
              </a:spcAft>
              <a:buSzPts val="1400"/>
              <a:buFont typeface="Arial"/>
              <a:buChar char="•"/>
            </a:pPr>
            <a:r>
              <a:rPr lang="en-US" sz="1400">
                <a:solidFill>
                  <a:srgbClr val="000000"/>
                </a:solidFill>
              </a:rPr>
              <a:t>Spoofing attacks can be non-blind or blind:</a:t>
            </a:r>
            <a:endParaRPr/>
          </a:p>
          <a:p>
            <a:pPr marL="415984" lvl="1" indent="-342899" algn="l" rtl="0">
              <a:lnSpc>
                <a:spcPct val="95000"/>
              </a:lnSpc>
              <a:spcBef>
                <a:spcPts val="600"/>
              </a:spcBef>
              <a:spcAft>
                <a:spcPts val="0"/>
              </a:spcAft>
              <a:buSzPts val="1400"/>
              <a:buFont typeface="Arial"/>
              <a:buChar char="•"/>
            </a:pPr>
            <a:r>
              <a:rPr lang="en-US" b="1">
                <a:solidFill>
                  <a:srgbClr val="000000"/>
                </a:solidFill>
              </a:rPr>
              <a:t>Non-blind spoofing</a:t>
            </a:r>
            <a:r>
              <a:rPr lang="en-US">
                <a:solidFill>
                  <a:srgbClr val="000000"/>
                </a:solidFill>
              </a:rPr>
              <a:t> - The threat actor can see the traffic that is being sent between the host and the target. Non-blind spoofing determines the state of a firewall and sequence-number prediction. It can also hijack an authorized session.</a:t>
            </a:r>
            <a:endParaRPr/>
          </a:p>
          <a:p>
            <a:pPr marL="415984" lvl="1" indent="-342899" algn="l" rtl="0">
              <a:lnSpc>
                <a:spcPct val="95000"/>
              </a:lnSpc>
              <a:spcBef>
                <a:spcPts val="600"/>
              </a:spcBef>
              <a:spcAft>
                <a:spcPts val="0"/>
              </a:spcAft>
              <a:buSzPts val="1400"/>
              <a:buFont typeface="Arial"/>
              <a:buChar char="•"/>
            </a:pPr>
            <a:r>
              <a:rPr lang="en-US" b="1">
                <a:solidFill>
                  <a:srgbClr val="000000"/>
                </a:solidFill>
              </a:rPr>
              <a:t>Blind spoofing</a:t>
            </a:r>
            <a:r>
              <a:rPr lang="en-US">
                <a:solidFill>
                  <a:srgbClr val="000000"/>
                </a:solidFill>
              </a:rPr>
              <a:t> - The threat actor cannot see the traffic that is being sent between the host and the target. Blind spoofing is used in DoS attacks.</a:t>
            </a:r>
            <a:endParaRPr/>
          </a:p>
          <a:p>
            <a:pPr marL="342900" lvl="0" indent="-342900" algn="l" rtl="0">
              <a:lnSpc>
                <a:spcPct val="100000"/>
              </a:lnSpc>
              <a:spcBef>
                <a:spcPts val="280"/>
              </a:spcBef>
              <a:spcAft>
                <a:spcPts val="0"/>
              </a:spcAft>
              <a:buSzPts val="1400"/>
              <a:buFont typeface="Arial"/>
              <a:buChar char="•"/>
            </a:pPr>
            <a:r>
              <a:rPr lang="en-US" sz="1400">
                <a:solidFill>
                  <a:srgbClr val="000000"/>
                </a:solidFill>
              </a:rPr>
              <a:t>MAC address spoofing attacks are used when threat actors have access to the internal network. Threat actors alter the MAC address of their host to match another known MAC address of a target host. </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p44"/>
          <p:cNvSpPr txBox="1">
            <a:spLocks noGrp="1"/>
          </p:cNvSpPr>
          <p:nvPr>
            <p:ph type="ctrTitle"/>
          </p:nvPr>
        </p:nvSpPr>
        <p:spPr>
          <a:xfrm>
            <a:off x="416425" y="1788160"/>
            <a:ext cx="7848344" cy="929640"/>
          </a:xfrm>
          <a:prstGeom prst="rect">
            <a:avLst/>
          </a:prstGeom>
          <a:noFill/>
          <a:ln>
            <a:noFill/>
          </a:ln>
        </p:spPr>
        <p:txBody>
          <a:bodyPr spcFirstLastPara="1" wrap="square" lIns="91400" tIns="45700" rIns="91400" bIns="45700" anchor="b" anchorCtr="0">
            <a:noAutofit/>
          </a:bodyPr>
          <a:lstStyle/>
          <a:p>
            <a:pPr marL="0" lvl="0" indent="0" algn="l" rtl="0">
              <a:lnSpc>
                <a:spcPct val="90000"/>
              </a:lnSpc>
              <a:spcBef>
                <a:spcPts val="0"/>
              </a:spcBef>
              <a:spcAft>
                <a:spcPts val="0"/>
              </a:spcAft>
              <a:buClr>
                <a:srgbClr val="AEE8FA"/>
              </a:buClr>
              <a:buSzPts val="4600"/>
              <a:buFont typeface="Arial"/>
              <a:buNone/>
            </a:pPr>
            <a:r>
              <a:rPr lang="en-US">
                <a:solidFill>
                  <a:srgbClr val="AEE8FA"/>
                </a:solidFill>
              </a:rPr>
              <a:t>3.7 TCP and UDP Vulnerabilities</a:t>
            </a:r>
            <a:endParaRPr/>
          </a:p>
        </p:txBody>
      </p:sp>
    </p:spTree>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92"/>
        <p:cNvGrpSpPr/>
        <p:nvPr/>
      </p:nvGrpSpPr>
      <p:grpSpPr>
        <a:xfrm>
          <a:off x="0" y="0"/>
          <a:ext cx="0" cy="0"/>
          <a:chOff x="0" y="0"/>
          <a:chExt cx="0" cy="0"/>
        </a:xfrm>
      </p:grpSpPr>
      <p:sp>
        <p:nvSpPr>
          <p:cNvPr id="993" name="Google Shape;993;p45"/>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TCP and UDP Vulnerabilities</a:t>
            </a:r>
            <a:br>
              <a:rPr lang="en-US"/>
            </a:br>
            <a:r>
              <a:rPr lang="en-US" sz="2400"/>
              <a:t>TCP Segment Header</a:t>
            </a:r>
            <a:endParaRPr/>
          </a:p>
        </p:txBody>
      </p:sp>
      <p:sp>
        <p:nvSpPr>
          <p:cNvPr id="994" name="Google Shape;994;p45"/>
          <p:cNvSpPr txBox="1">
            <a:spLocks noGrp="1"/>
          </p:cNvSpPr>
          <p:nvPr>
            <p:ph type="body" idx="1"/>
          </p:nvPr>
        </p:nvSpPr>
        <p:spPr>
          <a:xfrm>
            <a:off x="219476" y="914400"/>
            <a:ext cx="4176851" cy="3507334"/>
          </a:xfrm>
          <a:prstGeom prst="rect">
            <a:avLst/>
          </a:prstGeom>
          <a:noFill/>
          <a:ln>
            <a:noFill/>
          </a:ln>
        </p:spPr>
        <p:txBody>
          <a:bodyPr spcFirstLastPara="1" wrap="square" lIns="91400" tIns="45700" rIns="91400" bIns="45700" anchor="t" anchorCtr="0">
            <a:noAutofit/>
          </a:bodyPr>
          <a:lstStyle/>
          <a:p>
            <a:pPr marL="285750" lvl="0" indent="-285750" algn="l" rtl="0">
              <a:lnSpc>
                <a:spcPct val="100000"/>
              </a:lnSpc>
              <a:spcBef>
                <a:spcPts val="0"/>
              </a:spcBef>
              <a:spcAft>
                <a:spcPts val="0"/>
              </a:spcAft>
              <a:buSzPts val="1400"/>
              <a:buFont typeface="Arial"/>
              <a:buChar char="•"/>
            </a:pPr>
            <a:r>
              <a:rPr lang="en-US" sz="1400">
                <a:solidFill>
                  <a:srgbClr val="000000"/>
                </a:solidFill>
              </a:rPr>
              <a:t>TCP segment information appears immediately after the IP header. The fields of the TCP segment and the flags for the Control Bits field are displayed in the figure.</a:t>
            </a:r>
            <a:endParaRPr/>
          </a:p>
          <a:p>
            <a:pPr marL="342900" lvl="0" indent="-342900" algn="l" rtl="0">
              <a:lnSpc>
                <a:spcPct val="100000"/>
              </a:lnSpc>
              <a:spcBef>
                <a:spcPts val="280"/>
              </a:spcBef>
              <a:spcAft>
                <a:spcPts val="0"/>
              </a:spcAft>
              <a:buSzPts val="1400"/>
              <a:buFont typeface="Arial"/>
              <a:buChar char="•"/>
            </a:pPr>
            <a:r>
              <a:rPr lang="en-US" sz="1400">
                <a:solidFill>
                  <a:srgbClr val="000000"/>
                </a:solidFill>
              </a:rPr>
              <a:t>The following are the six control bits of the TCP segment:</a:t>
            </a:r>
            <a:endParaRPr/>
          </a:p>
          <a:p>
            <a:pPr marL="415984" lvl="1" indent="-342899" algn="l" rtl="0">
              <a:lnSpc>
                <a:spcPct val="95000"/>
              </a:lnSpc>
              <a:spcBef>
                <a:spcPts val="600"/>
              </a:spcBef>
              <a:spcAft>
                <a:spcPts val="0"/>
              </a:spcAft>
              <a:buSzPts val="1200"/>
              <a:buFont typeface="Arial"/>
              <a:buChar char="•"/>
            </a:pPr>
            <a:r>
              <a:rPr lang="en-US" sz="1200" b="1">
                <a:solidFill>
                  <a:srgbClr val="000000"/>
                </a:solidFill>
              </a:rPr>
              <a:t>URG</a:t>
            </a:r>
            <a:r>
              <a:rPr lang="en-US" sz="1200">
                <a:solidFill>
                  <a:srgbClr val="000000"/>
                </a:solidFill>
              </a:rPr>
              <a:t> - Urgent pointer field significant</a:t>
            </a:r>
            <a:endParaRPr/>
          </a:p>
          <a:p>
            <a:pPr marL="415984" lvl="1" indent="-342899" algn="l" rtl="0">
              <a:lnSpc>
                <a:spcPct val="95000"/>
              </a:lnSpc>
              <a:spcBef>
                <a:spcPts val="600"/>
              </a:spcBef>
              <a:spcAft>
                <a:spcPts val="0"/>
              </a:spcAft>
              <a:buSzPts val="1200"/>
              <a:buFont typeface="Arial"/>
              <a:buChar char="•"/>
            </a:pPr>
            <a:r>
              <a:rPr lang="en-US" sz="1200" b="1">
                <a:solidFill>
                  <a:srgbClr val="000000"/>
                </a:solidFill>
              </a:rPr>
              <a:t>ACK</a:t>
            </a:r>
            <a:r>
              <a:rPr lang="en-US" sz="1200">
                <a:solidFill>
                  <a:srgbClr val="000000"/>
                </a:solidFill>
              </a:rPr>
              <a:t> - Acknowledgment field significant</a:t>
            </a:r>
            <a:endParaRPr/>
          </a:p>
          <a:p>
            <a:pPr marL="415984" lvl="1" indent="-342899" algn="l" rtl="0">
              <a:lnSpc>
                <a:spcPct val="95000"/>
              </a:lnSpc>
              <a:spcBef>
                <a:spcPts val="600"/>
              </a:spcBef>
              <a:spcAft>
                <a:spcPts val="0"/>
              </a:spcAft>
              <a:buSzPts val="1200"/>
              <a:buFont typeface="Arial"/>
              <a:buChar char="•"/>
            </a:pPr>
            <a:r>
              <a:rPr lang="en-US" sz="1200" b="1">
                <a:solidFill>
                  <a:srgbClr val="000000"/>
                </a:solidFill>
              </a:rPr>
              <a:t>PSH</a:t>
            </a:r>
            <a:r>
              <a:rPr lang="en-US" sz="1200">
                <a:solidFill>
                  <a:srgbClr val="000000"/>
                </a:solidFill>
              </a:rPr>
              <a:t> - Push function</a:t>
            </a:r>
            <a:endParaRPr/>
          </a:p>
          <a:p>
            <a:pPr marL="415984" lvl="1" indent="-342899" algn="l" rtl="0">
              <a:lnSpc>
                <a:spcPct val="95000"/>
              </a:lnSpc>
              <a:spcBef>
                <a:spcPts val="600"/>
              </a:spcBef>
              <a:spcAft>
                <a:spcPts val="0"/>
              </a:spcAft>
              <a:buSzPts val="1200"/>
              <a:buFont typeface="Arial"/>
              <a:buChar char="•"/>
            </a:pPr>
            <a:r>
              <a:rPr lang="en-US" sz="1200" b="1">
                <a:solidFill>
                  <a:srgbClr val="000000"/>
                </a:solidFill>
              </a:rPr>
              <a:t>RST</a:t>
            </a:r>
            <a:r>
              <a:rPr lang="en-US" sz="1200">
                <a:solidFill>
                  <a:srgbClr val="000000"/>
                </a:solidFill>
              </a:rPr>
              <a:t>- Reset the connection</a:t>
            </a:r>
            <a:endParaRPr/>
          </a:p>
          <a:p>
            <a:pPr marL="415984" lvl="1" indent="-342899" algn="l" rtl="0">
              <a:lnSpc>
                <a:spcPct val="95000"/>
              </a:lnSpc>
              <a:spcBef>
                <a:spcPts val="600"/>
              </a:spcBef>
              <a:spcAft>
                <a:spcPts val="0"/>
              </a:spcAft>
              <a:buSzPts val="1200"/>
              <a:buFont typeface="Arial"/>
              <a:buChar char="•"/>
            </a:pPr>
            <a:r>
              <a:rPr lang="en-US" sz="1200" b="1">
                <a:solidFill>
                  <a:srgbClr val="000000"/>
                </a:solidFill>
              </a:rPr>
              <a:t>SYN</a:t>
            </a:r>
            <a:r>
              <a:rPr lang="en-US" sz="1200">
                <a:solidFill>
                  <a:srgbClr val="000000"/>
                </a:solidFill>
              </a:rPr>
              <a:t> - Synchronize sequence numbers</a:t>
            </a:r>
            <a:endParaRPr/>
          </a:p>
          <a:p>
            <a:pPr marL="415984" lvl="1" indent="-342899" algn="l" rtl="0">
              <a:lnSpc>
                <a:spcPct val="95000"/>
              </a:lnSpc>
              <a:spcBef>
                <a:spcPts val="600"/>
              </a:spcBef>
              <a:spcAft>
                <a:spcPts val="0"/>
              </a:spcAft>
              <a:buSzPts val="1200"/>
              <a:buFont typeface="Arial"/>
              <a:buChar char="•"/>
            </a:pPr>
            <a:r>
              <a:rPr lang="en-US" sz="1200" b="1">
                <a:solidFill>
                  <a:srgbClr val="000000"/>
                </a:solidFill>
              </a:rPr>
              <a:t>FIN</a:t>
            </a:r>
            <a:r>
              <a:rPr lang="en-US" sz="1200">
                <a:solidFill>
                  <a:srgbClr val="000000"/>
                </a:solidFill>
              </a:rPr>
              <a:t> - No more data from sender</a:t>
            </a:r>
            <a:endParaRPr/>
          </a:p>
          <a:p>
            <a:pPr marL="285750" lvl="0" indent="-196850" algn="l" rtl="0">
              <a:lnSpc>
                <a:spcPct val="100000"/>
              </a:lnSpc>
              <a:spcBef>
                <a:spcPts val="280"/>
              </a:spcBef>
              <a:spcAft>
                <a:spcPts val="0"/>
              </a:spcAft>
              <a:buSzPts val="1400"/>
              <a:buFont typeface="Arial"/>
              <a:buNone/>
            </a:pPr>
            <a:endParaRPr sz="1400">
              <a:solidFill>
                <a:srgbClr val="000000"/>
              </a:solidFill>
            </a:endParaRPr>
          </a:p>
        </p:txBody>
      </p:sp>
      <p:pic>
        <p:nvPicPr>
          <p:cNvPr id="995" name="Google Shape;995;p45"/>
          <p:cNvPicPr preferRelativeResize="0"/>
          <p:nvPr/>
        </p:nvPicPr>
        <p:blipFill rotWithShape="1">
          <a:blip r:embed="rId3">
            <a:alphaModFix/>
          </a:blip>
          <a:srcRect/>
          <a:stretch/>
        </p:blipFill>
        <p:spPr>
          <a:xfrm>
            <a:off x="4498838" y="1310661"/>
            <a:ext cx="4645162" cy="252217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p46"/>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TCP and UDP Vulnerabilities</a:t>
            </a:r>
            <a:br>
              <a:rPr lang="en-US"/>
            </a:br>
            <a:r>
              <a:rPr lang="en-US" sz="2400"/>
              <a:t>TCP Services</a:t>
            </a:r>
            <a:endParaRPr/>
          </a:p>
        </p:txBody>
      </p:sp>
      <p:sp>
        <p:nvSpPr>
          <p:cNvPr id="1002" name="Google Shape;1002;p46"/>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TCP provides these services:</a:t>
            </a:r>
            <a:endParaRPr/>
          </a:p>
          <a:p>
            <a:pPr marL="342900" lvl="0" indent="-342900" algn="l" rtl="0">
              <a:lnSpc>
                <a:spcPct val="100000"/>
              </a:lnSpc>
              <a:spcBef>
                <a:spcPts val="320"/>
              </a:spcBef>
              <a:spcAft>
                <a:spcPts val="0"/>
              </a:spcAft>
              <a:buSzPts val="1600"/>
              <a:buFont typeface="Arial"/>
              <a:buChar char="•"/>
            </a:pPr>
            <a:r>
              <a:rPr lang="en-US" sz="1600" b="1">
                <a:solidFill>
                  <a:srgbClr val="000000"/>
                </a:solidFill>
              </a:rPr>
              <a:t>Reliable delivery</a:t>
            </a:r>
            <a:r>
              <a:rPr lang="en-US" sz="1600">
                <a:solidFill>
                  <a:srgbClr val="000000"/>
                </a:solidFill>
              </a:rPr>
              <a:t> - TCP incorporates acknowledgments to guarantee delivery. If a timely acknowledgment is not received, the sender retransmits the data. Requiring acknowledgments of received data can cause substantial delays. Examples of application layer protocols that make use of TCP reliability include HTTP, SSL/TLS, FTP, DNS zone transfers, and others.</a:t>
            </a:r>
            <a:endParaRPr/>
          </a:p>
          <a:p>
            <a:pPr marL="342900" lvl="0" indent="-342900" algn="l" rtl="0">
              <a:lnSpc>
                <a:spcPct val="100000"/>
              </a:lnSpc>
              <a:spcBef>
                <a:spcPts val="320"/>
              </a:spcBef>
              <a:spcAft>
                <a:spcPts val="0"/>
              </a:spcAft>
              <a:buSzPts val="1600"/>
              <a:buFont typeface="Arial"/>
              <a:buChar char="•"/>
            </a:pPr>
            <a:r>
              <a:rPr lang="en-US" sz="1600" b="1">
                <a:solidFill>
                  <a:srgbClr val="000000"/>
                </a:solidFill>
              </a:rPr>
              <a:t>Flow control</a:t>
            </a:r>
            <a:r>
              <a:rPr lang="en-US" sz="1600">
                <a:solidFill>
                  <a:srgbClr val="000000"/>
                </a:solidFill>
              </a:rPr>
              <a:t> - TCP implements flow control to address this issue. Rather than acknowledge one segment at a time, multiple segments can be acknowledged with a single acknowledgment segment.</a:t>
            </a:r>
            <a:endParaRPr/>
          </a:p>
          <a:p>
            <a:pPr marL="342900" lvl="0" indent="-342900" algn="l" rtl="0">
              <a:lnSpc>
                <a:spcPct val="100000"/>
              </a:lnSpc>
              <a:spcBef>
                <a:spcPts val="320"/>
              </a:spcBef>
              <a:spcAft>
                <a:spcPts val="0"/>
              </a:spcAft>
              <a:buSzPts val="1600"/>
              <a:buFont typeface="Arial"/>
              <a:buChar char="•"/>
            </a:pPr>
            <a:r>
              <a:rPr lang="en-US" sz="1600" b="1">
                <a:solidFill>
                  <a:srgbClr val="000000"/>
                </a:solidFill>
              </a:rPr>
              <a:t>Stateful communication</a:t>
            </a:r>
            <a:r>
              <a:rPr lang="en-US" sz="1600">
                <a:solidFill>
                  <a:srgbClr val="000000"/>
                </a:solidFill>
              </a:rPr>
              <a:t> - TCP stateful communication between two parties occurs during the TCP three-way handshake. </a:t>
            </a:r>
            <a:endParaRPr/>
          </a:p>
          <a:p>
            <a:pPr marL="342900" lvl="0" indent="-241300" algn="l" rtl="0">
              <a:lnSpc>
                <a:spcPct val="100000"/>
              </a:lnSpc>
              <a:spcBef>
                <a:spcPts val="320"/>
              </a:spcBef>
              <a:spcAft>
                <a:spcPts val="0"/>
              </a:spcAft>
              <a:buSzPts val="1600"/>
              <a:buFont typeface="Arial"/>
              <a:buNone/>
            </a:pPr>
            <a:endParaRPr sz="16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sp>
        <p:nvSpPr>
          <p:cNvPr id="1008" name="Google Shape;1008;p47"/>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TCP and UDP Vulnerabilities</a:t>
            </a:r>
            <a:br>
              <a:rPr lang="en-US"/>
            </a:br>
            <a:r>
              <a:rPr lang="en-US" sz="2400"/>
              <a:t>TCP Services (Cont.)</a:t>
            </a:r>
            <a:endParaRPr/>
          </a:p>
        </p:txBody>
      </p:sp>
      <p:sp>
        <p:nvSpPr>
          <p:cNvPr id="1009" name="Google Shape;1009;p47"/>
          <p:cNvSpPr txBox="1">
            <a:spLocks noGrp="1"/>
          </p:cNvSpPr>
          <p:nvPr>
            <p:ph type="body" idx="1"/>
          </p:nvPr>
        </p:nvSpPr>
        <p:spPr>
          <a:xfrm>
            <a:off x="474662" y="731837"/>
            <a:ext cx="8280057" cy="1318309"/>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400"/>
              <a:buNone/>
            </a:pPr>
            <a:r>
              <a:rPr lang="en-US" sz="1400">
                <a:solidFill>
                  <a:srgbClr val="000000"/>
                </a:solidFill>
              </a:rPr>
              <a:t>A TCP connection is established in three steps:</a:t>
            </a:r>
            <a:endParaRPr/>
          </a:p>
          <a:p>
            <a:pPr marL="342900" lvl="0" indent="-342900" algn="l" rtl="0">
              <a:lnSpc>
                <a:spcPct val="100000"/>
              </a:lnSpc>
              <a:spcBef>
                <a:spcPts val="280"/>
              </a:spcBef>
              <a:spcAft>
                <a:spcPts val="0"/>
              </a:spcAft>
              <a:buSzPts val="1400"/>
              <a:buFont typeface="Arial"/>
              <a:buAutoNum type="arabicPeriod"/>
            </a:pPr>
            <a:r>
              <a:rPr lang="en-US" sz="1400">
                <a:solidFill>
                  <a:srgbClr val="000000"/>
                </a:solidFill>
              </a:rPr>
              <a:t>The initiating client requests a client-to-server communication session with the server.</a:t>
            </a:r>
            <a:endParaRPr/>
          </a:p>
          <a:p>
            <a:pPr marL="342900" lvl="0" indent="-342900" algn="l" rtl="0">
              <a:lnSpc>
                <a:spcPct val="100000"/>
              </a:lnSpc>
              <a:spcBef>
                <a:spcPts val="280"/>
              </a:spcBef>
              <a:spcAft>
                <a:spcPts val="0"/>
              </a:spcAft>
              <a:buSzPts val="1400"/>
              <a:buFont typeface="Arial"/>
              <a:buAutoNum type="arabicPeriod"/>
            </a:pPr>
            <a:r>
              <a:rPr lang="en-US" sz="1400">
                <a:solidFill>
                  <a:srgbClr val="000000"/>
                </a:solidFill>
              </a:rPr>
              <a:t>The server acknowledges the client-to-server communication session and requests a server-to-client communication session.</a:t>
            </a:r>
            <a:endParaRPr/>
          </a:p>
          <a:p>
            <a:pPr marL="342900" lvl="0" indent="-342900" algn="l" rtl="0">
              <a:lnSpc>
                <a:spcPct val="100000"/>
              </a:lnSpc>
              <a:spcBef>
                <a:spcPts val="280"/>
              </a:spcBef>
              <a:spcAft>
                <a:spcPts val="0"/>
              </a:spcAft>
              <a:buSzPts val="1400"/>
              <a:buFont typeface="Arial"/>
              <a:buAutoNum type="arabicPeriod"/>
            </a:pPr>
            <a:r>
              <a:rPr lang="en-US" sz="1400">
                <a:solidFill>
                  <a:srgbClr val="000000"/>
                </a:solidFill>
              </a:rPr>
              <a:t>The initiating client acknowledges the server-to-client communication session.</a:t>
            </a:r>
            <a:endParaRPr/>
          </a:p>
        </p:txBody>
      </p:sp>
      <p:pic>
        <p:nvPicPr>
          <p:cNvPr id="1010" name="Google Shape;1010;p47"/>
          <p:cNvPicPr preferRelativeResize="0"/>
          <p:nvPr/>
        </p:nvPicPr>
        <p:blipFill rotWithShape="1">
          <a:blip r:embed="rId3">
            <a:alphaModFix/>
          </a:blip>
          <a:srcRect/>
          <a:stretch/>
        </p:blipFill>
        <p:spPr>
          <a:xfrm>
            <a:off x="1584905" y="2050146"/>
            <a:ext cx="5175678" cy="259976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015"/>
        <p:cNvGrpSpPr/>
        <p:nvPr/>
      </p:nvGrpSpPr>
      <p:grpSpPr>
        <a:xfrm>
          <a:off x="0" y="0"/>
          <a:ext cx="0" cy="0"/>
          <a:chOff x="0" y="0"/>
          <a:chExt cx="0" cy="0"/>
        </a:xfrm>
      </p:grpSpPr>
      <p:sp>
        <p:nvSpPr>
          <p:cNvPr id="1016" name="Google Shape;1016;p48"/>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TCP and UDP Vulnerabilities</a:t>
            </a:r>
            <a:br>
              <a:rPr lang="en-US"/>
            </a:br>
            <a:r>
              <a:rPr lang="en-US" sz="2400"/>
              <a:t>TCP Attacks</a:t>
            </a:r>
            <a:endParaRPr/>
          </a:p>
        </p:txBody>
      </p:sp>
      <p:sp>
        <p:nvSpPr>
          <p:cNvPr id="1017" name="Google Shape;1017;p48"/>
          <p:cNvSpPr txBox="1">
            <a:spLocks noGrp="1"/>
          </p:cNvSpPr>
          <p:nvPr>
            <p:ph type="body" idx="1"/>
          </p:nvPr>
        </p:nvSpPr>
        <p:spPr>
          <a:xfrm>
            <a:off x="474662" y="731836"/>
            <a:ext cx="3015961"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b="1">
                <a:solidFill>
                  <a:srgbClr val="000000"/>
                </a:solidFill>
              </a:rPr>
              <a:t>TCP SYN Flood Attack</a:t>
            </a:r>
            <a:endParaRPr/>
          </a:p>
          <a:p>
            <a:pPr marL="457200" lvl="0" indent="-457200" algn="l" rtl="0">
              <a:lnSpc>
                <a:spcPct val="100000"/>
              </a:lnSpc>
              <a:spcBef>
                <a:spcPts val="280"/>
              </a:spcBef>
              <a:spcAft>
                <a:spcPts val="0"/>
              </a:spcAft>
              <a:buSzPts val="1400"/>
              <a:buFont typeface="Arial"/>
              <a:buAutoNum type="arabicPeriod"/>
            </a:pPr>
            <a:r>
              <a:rPr lang="en-US" sz="1400">
                <a:solidFill>
                  <a:srgbClr val="000000"/>
                </a:solidFill>
              </a:rPr>
              <a:t>The threat actor sends multiple SYN requests to a webserver.</a:t>
            </a:r>
            <a:endParaRPr/>
          </a:p>
          <a:p>
            <a:pPr marL="457200" lvl="0" indent="-457200" algn="l" rtl="0">
              <a:lnSpc>
                <a:spcPct val="100000"/>
              </a:lnSpc>
              <a:spcBef>
                <a:spcPts val="280"/>
              </a:spcBef>
              <a:spcAft>
                <a:spcPts val="0"/>
              </a:spcAft>
              <a:buSzPts val="1400"/>
              <a:buFont typeface="Arial"/>
              <a:buAutoNum type="arabicPeriod"/>
            </a:pPr>
            <a:r>
              <a:rPr lang="en-US" sz="1400">
                <a:solidFill>
                  <a:srgbClr val="000000"/>
                </a:solidFill>
              </a:rPr>
              <a:t>The web server replies with SYN-ACKs for each SYN request and waits to complete the three-way handshake. The threat actor does not respond to the SYN-ACKs.</a:t>
            </a:r>
            <a:endParaRPr/>
          </a:p>
          <a:p>
            <a:pPr marL="457200" lvl="0" indent="-457200" algn="l" rtl="0">
              <a:lnSpc>
                <a:spcPct val="100000"/>
              </a:lnSpc>
              <a:spcBef>
                <a:spcPts val="280"/>
              </a:spcBef>
              <a:spcAft>
                <a:spcPts val="0"/>
              </a:spcAft>
              <a:buSzPts val="1400"/>
              <a:buFont typeface="Arial"/>
              <a:buAutoNum type="arabicPeriod"/>
            </a:pPr>
            <a:r>
              <a:rPr lang="en-US" sz="1400">
                <a:solidFill>
                  <a:srgbClr val="000000"/>
                </a:solidFill>
              </a:rPr>
              <a:t>A valid user cannot access the web server because the web server has too many half-opened TCP connections.</a:t>
            </a:r>
            <a:endParaRPr/>
          </a:p>
          <a:p>
            <a:pPr marL="0" lvl="0" indent="0" algn="l" rtl="0">
              <a:lnSpc>
                <a:spcPct val="100000"/>
              </a:lnSpc>
              <a:spcBef>
                <a:spcPts val="320"/>
              </a:spcBef>
              <a:spcAft>
                <a:spcPts val="0"/>
              </a:spcAft>
              <a:buSzPts val="1600"/>
              <a:buNone/>
            </a:pPr>
            <a:endParaRPr sz="1600">
              <a:solidFill>
                <a:srgbClr val="000000"/>
              </a:solidFill>
            </a:endParaRPr>
          </a:p>
        </p:txBody>
      </p:sp>
      <p:pic>
        <p:nvPicPr>
          <p:cNvPr id="1018" name="Google Shape;1018;p48"/>
          <p:cNvPicPr preferRelativeResize="0"/>
          <p:nvPr/>
        </p:nvPicPr>
        <p:blipFill rotWithShape="1">
          <a:blip r:embed="rId3">
            <a:alphaModFix/>
          </a:blip>
          <a:srcRect/>
          <a:stretch/>
        </p:blipFill>
        <p:spPr>
          <a:xfrm>
            <a:off x="3654519" y="882595"/>
            <a:ext cx="5073338" cy="324413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sp>
        <p:nvSpPr>
          <p:cNvPr id="1024" name="Google Shape;1024;p49"/>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TCP and UDP Vulnerabilities</a:t>
            </a:r>
            <a:br>
              <a:rPr lang="en-US"/>
            </a:br>
            <a:r>
              <a:rPr lang="en-US" sz="2400"/>
              <a:t>TCP Attacks (Cont.)</a:t>
            </a:r>
            <a:endParaRPr/>
          </a:p>
        </p:txBody>
      </p:sp>
      <p:sp>
        <p:nvSpPr>
          <p:cNvPr id="1025" name="Google Shape;1025;p49"/>
          <p:cNvSpPr txBox="1">
            <a:spLocks noGrp="1"/>
          </p:cNvSpPr>
          <p:nvPr>
            <p:ph type="body" idx="1"/>
          </p:nvPr>
        </p:nvSpPr>
        <p:spPr>
          <a:xfrm>
            <a:off x="474663" y="731837"/>
            <a:ext cx="4097338"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400"/>
              <a:buNone/>
            </a:pPr>
            <a:r>
              <a:rPr lang="en-US" sz="1400">
                <a:solidFill>
                  <a:srgbClr val="000000"/>
                </a:solidFill>
              </a:rPr>
              <a:t>Terminating a TCP session uses the following four-way exchange process:</a:t>
            </a:r>
            <a:endParaRPr/>
          </a:p>
          <a:p>
            <a:pPr marL="342900" lvl="0" indent="-342900" algn="l" rtl="0">
              <a:lnSpc>
                <a:spcPct val="100000"/>
              </a:lnSpc>
              <a:spcBef>
                <a:spcPts val="280"/>
              </a:spcBef>
              <a:spcAft>
                <a:spcPts val="0"/>
              </a:spcAft>
              <a:buSzPts val="1400"/>
              <a:buFont typeface="Arial"/>
              <a:buAutoNum type="arabicPeriod"/>
            </a:pPr>
            <a:r>
              <a:rPr lang="en-US" sz="1400">
                <a:solidFill>
                  <a:srgbClr val="000000"/>
                </a:solidFill>
              </a:rPr>
              <a:t>When the client has no more data to send in the stream, it sends a segment with the FIN flag set.</a:t>
            </a:r>
            <a:endParaRPr/>
          </a:p>
          <a:p>
            <a:pPr marL="342900" lvl="0" indent="-342900" algn="l" rtl="0">
              <a:lnSpc>
                <a:spcPct val="100000"/>
              </a:lnSpc>
              <a:spcBef>
                <a:spcPts val="280"/>
              </a:spcBef>
              <a:spcAft>
                <a:spcPts val="0"/>
              </a:spcAft>
              <a:buSzPts val="1400"/>
              <a:buFont typeface="Arial"/>
              <a:buAutoNum type="arabicPeriod"/>
            </a:pPr>
            <a:r>
              <a:rPr lang="en-US" sz="1400">
                <a:solidFill>
                  <a:srgbClr val="000000"/>
                </a:solidFill>
              </a:rPr>
              <a:t>The server sends an ACK to acknowledge the receipt of the FIN to terminate the session from client to server.</a:t>
            </a:r>
            <a:endParaRPr/>
          </a:p>
          <a:p>
            <a:pPr marL="342900" lvl="0" indent="-342900" algn="l" rtl="0">
              <a:lnSpc>
                <a:spcPct val="100000"/>
              </a:lnSpc>
              <a:spcBef>
                <a:spcPts val="280"/>
              </a:spcBef>
              <a:spcAft>
                <a:spcPts val="0"/>
              </a:spcAft>
              <a:buSzPts val="1400"/>
              <a:buFont typeface="Arial"/>
              <a:buAutoNum type="arabicPeriod"/>
            </a:pPr>
            <a:r>
              <a:rPr lang="en-US" sz="1400">
                <a:solidFill>
                  <a:srgbClr val="000000"/>
                </a:solidFill>
              </a:rPr>
              <a:t>The server sends a FIN to the client to terminate the server-to-client session.</a:t>
            </a:r>
            <a:endParaRPr/>
          </a:p>
          <a:p>
            <a:pPr marL="342900" lvl="0" indent="-342900" algn="l" rtl="0">
              <a:lnSpc>
                <a:spcPct val="100000"/>
              </a:lnSpc>
              <a:spcBef>
                <a:spcPts val="280"/>
              </a:spcBef>
              <a:spcAft>
                <a:spcPts val="0"/>
              </a:spcAft>
              <a:buSzPts val="1400"/>
              <a:buFont typeface="Arial"/>
              <a:buAutoNum type="arabicPeriod"/>
            </a:pPr>
            <a:r>
              <a:rPr lang="en-US" sz="1400">
                <a:solidFill>
                  <a:srgbClr val="000000"/>
                </a:solidFill>
              </a:rPr>
              <a:t>The client responds with an ACK to acknowledge the FIN from the server.</a:t>
            </a:r>
            <a:endParaRPr/>
          </a:p>
          <a:p>
            <a:pPr marL="0" lvl="0" indent="0" algn="l" rtl="0">
              <a:lnSpc>
                <a:spcPct val="100000"/>
              </a:lnSpc>
              <a:spcBef>
                <a:spcPts val="280"/>
              </a:spcBef>
              <a:spcAft>
                <a:spcPts val="0"/>
              </a:spcAft>
              <a:buSzPts val="1400"/>
              <a:buNone/>
            </a:pPr>
            <a:r>
              <a:rPr lang="en-US" sz="1400">
                <a:solidFill>
                  <a:srgbClr val="000000"/>
                </a:solidFill>
              </a:rPr>
              <a:t>A threat actor could do a TCP reset attack and send a spoofed packet containing a TCP RST to one or both endpoints.</a:t>
            </a:r>
            <a:endParaRPr/>
          </a:p>
        </p:txBody>
      </p:sp>
      <p:pic>
        <p:nvPicPr>
          <p:cNvPr id="1026" name="Google Shape;1026;p49"/>
          <p:cNvPicPr preferRelativeResize="0"/>
          <p:nvPr/>
        </p:nvPicPr>
        <p:blipFill rotWithShape="1">
          <a:blip r:embed="rId3">
            <a:alphaModFix/>
          </a:blip>
          <a:srcRect/>
          <a:stretch/>
        </p:blipFill>
        <p:spPr>
          <a:xfrm>
            <a:off x="4926370" y="731837"/>
            <a:ext cx="3419118" cy="378105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1032" name="Google Shape;1032;p50"/>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TCP and UDP Vulnerabilities</a:t>
            </a:r>
            <a:br>
              <a:rPr lang="en-US"/>
            </a:br>
            <a:r>
              <a:rPr lang="en-US" sz="2400"/>
              <a:t>TCP Attacks (Cont.)</a:t>
            </a:r>
            <a:endParaRPr/>
          </a:p>
        </p:txBody>
      </p:sp>
      <p:sp>
        <p:nvSpPr>
          <p:cNvPr id="1033" name="Google Shape;1033;p50"/>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TCP session hijacking is another TCP vulnerability. Although difficult to conduct, a threat actor takes over an already-authenticated host as it communicates with the target. The threat actor must spoof the IP address of one host, predict the next sequence number, and send an ACK to the other host. If successful, the threat actor could send, but not receive, data from the target device.</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038"/>
        <p:cNvGrpSpPr/>
        <p:nvPr/>
      </p:nvGrpSpPr>
      <p:grpSpPr>
        <a:xfrm>
          <a:off x="0" y="0"/>
          <a:ext cx="0" cy="0"/>
          <a:chOff x="0" y="0"/>
          <a:chExt cx="0" cy="0"/>
        </a:xfrm>
      </p:grpSpPr>
      <p:sp>
        <p:nvSpPr>
          <p:cNvPr id="1039" name="Google Shape;1039;p51"/>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TCP and UDP Vulnerabilities</a:t>
            </a:r>
            <a:br>
              <a:rPr lang="en-US"/>
            </a:br>
            <a:r>
              <a:rPr lang="en-US" sz="2400"/>
              <a:t>UDP Segment Header and Operation</a:t>
            </a:r>
            <a:endParaRPr/>
          </a:p>
        </p:txBody>
      </p:sp>
      <p:sp>
        <p:nvSpPr>
          <p:cNvPr id="1040" name="Google Shape;1040;p51"/>
          <p:cNvSpPr txBox="1">
            <a:spLocks noGrp="1"/>
          </p:cNvSpPr>
          <p:nvPr>
            <p:ph type="body" idx="1"/>
          </p:nvPr>
        </p:nvSpPr>
        <p:spPr>
          <a:xfrm>
            <a:off x="474662" y="731837"/>
            <a:ext cx="8280057" cy="1936935"/>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400"/>
              <a:buFont typeface="Arial"/>
              <a:buChar char="•"/>
            </a:pPr>
            <a:r>
              <a:rPr lang="en-US" sz="1400">
                <a:solidFill>
                  <a:srgbClr val="000000"/>
                </a:solidFill>
              </a:rPr>
              <a:t>UDP is commonly used by DNS, TFTP, NFS, and SNMP. It is also used with real-time applications such as media streaming or VoIP. UDP is a connectionless transport layer protocol. It has much lower overhead than TCP because it is not connection-oriented and does not offer the sophisticated retransmission, sequencing, and flow control mechanisms that provide reliability. </a:t>
            </a:r>
            <a:endParaRPr/>
          </a:p>
          <a:p>
            <a:pPr marL="342900" lvl="0" indent="-342900" algn="l" rtl="0">
              <a:lnSpc>
                <a:spcPct val="100000"/>
              </a:lnSpc>
              <a:spcBef>
                <a:spcPts val="280"/>
              </a:spcBef>
              <a:spcAft>
                <a:spcPts val="0"/>
              </a:spcAft>
              <a:buSzPts val="1400"/>
              <a:buFont typeface="Arial"/>
              <a:buChar char="•"/>
            </a:pPr>
            <a:r>
              <a:rPr lang="en-US" sz="1400">
                <a:solidFill>
                  <a:srgbClr val="000000"/>
                </a:solidFill>
              </a:rPr>
              <a:t>These reliability functions are not provided by the transport layer protocol and must be implemented elsewhere if required.</a:t>
            </a:r>
            <a:endParaRPr/>
          </a:p>
          <a:p>
            <a:pPr marL="342900" lvl="0" indent="-342900" algn="l" rtl="0">
              <a:lnSpc>
                <a:spcPct val="100000"/>
              </a:lnSpc>
              <a:spcBef>
                <a:spcPts val="280"/>
              </a:spcBef>
              <a:spcAft>
                <a:spcPts val="0"/>
              </a:spcAft>
              <a:buSzPts val="1400"/>
              <a:buFont typeface="Arial"/>
              <a:buChar char="•"/>
            </a:pPr>
            <a:r>
              <a:rPr lang="en-US" sz="1400">
                <a:solidFill>
                  <a:srgbClr val="000000"/>
                </a:solidFill>
              </a:rPr>
              <a:t>The low overhead of UDP makes it very desirable for protocols that make simple request and reply transactions. </a:t>
            </a:r>
            <a:endParaRPr/>
          </a:p>
        </p:txBody>
      </p:sp>
      <p:pic>
        <p:nvPicPr>
          <p:cNvPr id="1041" name="Google Shape;1041;p51"/>
          <p:cNvPicPr preferRelativeResize="0"/>
          <p:nvPr/>
        </p:nvPicPr>
        <p:blipFill rotWithShape="1">
          <a:blip r:embed="rId3">
            <a:alphaModFix/>
          </a:blip>
          <a:srcRect/>
          <a:stretch/>
        </p:blipFill>
        <p:spPr>
          <a:xfrm>
            <a:off x="2297927" y="2928399"/>
            <a:ext cx="4902890" cy="163863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046"/>
        <p:cNvGrpSpPr/>
        <p:nvPr/>
      </p:nvGrpSpPr>
      <p:grpSpPr>
        <a:xfrm>
          <a:off x="0" y="0"/>
          <a:ext cx="0" cy="0"/>
          <a:chOff x="0" y="0"/>
          <a:chExt cx="0" cy="0"/>
        </a:xfrm>
      </p:grpSpPr>
      <p:sp>
        <p:nvSpPr>
          <p:cNvPr id="1047" name="Google Shape;1047;p52"/>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TCP and UDP Vulnerabilities</a:t>
            </a:r>
            <a:br>
              <a:rPr lang="en-US"/>
            </a:br>
            <a:r>
              <a:rPr lang="en-US" sz="2400"/>
              <a:t>UDP Attacks</a:t>
            </a:r>
            <a:endParaRPr/>
          </a:p>
        </p:txBody>
      </p:sp>
      <p:sp>
        <p:nvSpPr>
          <p:cNvPr id="1048" name="Google Shape;1048;p52"/>
          <p:cNvSpPr txBox="1">
            <a:spLocks noGrp="1"/>
          </p:cNvSpPr>
          <p:nvPr>
            <p:ph type="body" idx="1"/>
          </p:nvPr>
        </p:nvSpPr>
        <p:spPr>
          <a:xfrm>
            <a:off x="474662" y="731836"/>
            <a:ext cx="8280057" cy="3689897"/>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400"/>
              <a:buFont typeface="Arial"/>
              <a:buChar char="•"/>
            </a:pPr>
            <a:r>
              <a:rPr lang="en-US" sz="1400">
                <a:solidFill>
                  <a:srgbClr val="000000"/>
                </a:solidFill>
              </a:rPr>
              <a:t>UDP is not protected by any encryption. You can add encryption to UDP, but it is not available by default. The lack of encryption means that anyone can see the traffic, change it, and send it on to its destination.</a:t>
            </a:r>
            <a:endParaRPr/>
          </a:p>
          <a:p>
            <a:pPr marL="342900" lvl="0" indent="-342900" algn="l" rtl="0">
              <a:lnSpc>
                <a:spcPct val="100000"/>
              </a:lnSpc>
              <a:spcBef>
                <a:spcPts val="280"/>
              </a:spcBef>
              <a:spcAft>
                <a:spcPts val="0"/>
              </a:spcAft>
              <a:buSzPts val="1400"/>
              <a:buFont typeface="Arial"/>
              <a:buChar char="•"/>
            </a:pPr>
            <a:r>
              <a:rPr lang="en-US" sz="1400" b="1">
                <a:solidFill>
                  <a:srgbClr val="000000"/>
                </a:solidFill>
              </a:rPr>
              <a:t>UDP Flood Attacks: </a:t>
            </a:r>
            <a:r>
              <a:rPr lang="en-US" sz="1400">
                <a:solidFill>
                  <a:srgbClr val="000000"/>
                </a:solidFill>
              </a:rPr>
              <a:t>The threat actor uses a tool like UDP Unicorn or Low Orbit Ion Cannon. These tools send a flood of UDP packets, often from a spoofed host, to a server on the subnet. The program will sweep through all the known ports trying to find closed ports. This will cause the server to reply with an ICMP port unreachable message. Because there are many closed ports on the server, this creates a lot of traffic on the segment, which uses up most of the bandwidth. The result is very similar to a DoS attack.</a:t>
            </a:r>
            <a:endParaRPr/>
          </a:p>
          <a:p>
            <a:pPr marL="342900" lvl="0" indent="-254000" algn="l" rtl="0">
              <a:lnSpc>
                <a:spcPct val="100000"/>
              </a:lnSpc>
              <a:spcBef>
                <a:spcPts val="280"/>
              </a:spcBef>
              <a:spcAft>
                <a:spcPts val="0"/>
              </a:spcAft>
              <a:buSzPts val="1400"/>
              <a:buFont typeface="Arial"/>
              <a:buNone/>
            </a:pPr>
            <a:endParaRPr sz="14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053"/>
        <p:cNvGrpSpPr/>
        <p:nvPr/>
      </p:nvGrpSpPr>
      <p:grpSpPr>
        <a:xfrm>
          <a:off x="0" y="0"/>
          <a:ext cx="0" cy="0"/>
          <a:chOff x="0" y="0"/>
          <a:chExt cx="0" cy="0"/>
        </a:xfrm>
      </p:grpSpPr>
      <p:sp>
        <p:nvSpPr>
          <p:cNvPr id="1054" name="Google Shape;1054;p53"/>
          <p:cNvSpPr txBox="1">
            <a:spLocks noGrp="1"/>
          </p:cNvSpPr>
          <p:nvPr>
            <p:ph type="ctrTitle"/>
          </p:nvPr>
        </p:nvSpPr>
        <p:spPr>
          <a:xfrm>
            <a:off x="416425" y="1788160"/>
            <a:ext cx="7848344" cy="929640"/>
          </a:xfrm>
          <a:prstGeom prst="rect">
            <a:avLst/>
          </a:prstGeom>
          <a:noFill/>
          <a:ln>
            <a:noFill/>
          </a:ln>
        </p:spPr>
        <p:txBody>
          <a:bodyPr spcFirstLastPara="1" wrap="square" lIns="91400" tIns="45700" rIns="91400" bIns="45700" anchor="b" anchorCtr="0">
            <a:noAutofit/>
          </a:bodyPr>
          <a:lstStyle/>
          <a:p>
            <a:pPr marL="0" lvl="0" indent="0" algn="l" rtl="0">
              <a:lnSpc>
                <a:spcPct val="90000"/>
              </a:lnSpc>
              <a:spcBef>
                <a:spcPts val="0"/>
              </a:spcBef>
              <a:spcAft>
                <a:spcPts val="0"/>
              </a:spcAft>
              <a:buClr>
                <a:srgbClr val="AEE8FA"/>
              </a:buClr>
              <a:buSzPts val="4600"/>
              <a:buFont typeface="Arial"/>
              <a:buNone/>
            </a:pPr>
            <a:r>
              <a:rPr lang="en-US">
                <a:solidFill>
                  <a:srgbClr val="AEE8FA"/>
                </a:solidFill>
              </a:rPr>
              <a:t>3.8 IP Services</a:t>
            </a:r>
            <a:endParaRPr/>
          </a:p>
        </p:txBody>
      </p:sp>
    </p:spTree>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p54"/>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IP Services</a:t>
            </a:r>
            <a:br>
              <a:rPr lang="en-US"/>
            </a:br>
            <a:r>
              <a:rPr lang="en-US" sz="2400"/>
              <a:t>ARP Vulnerabilities</a:t>
            </a:r>
            <a:endParaRPr/>
          </a:p>
        </p:txBody>
      </p:sp>
      <p:sp>
        <p:nvSpPr>
          <p:cNvPr id="1061" name="Google Shape;1061;p54"/>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600"/>
              <a:buFont typeface="Arial"/>
              <a:buChar char="•"/>
            </a:pPr>
            <a:r>
              <a:rPr lang="en-US" sz="1600">
                <a:solidFill>
                  <a:srgbClr val="000000"/>
                </a:solidFill>
              </a:rPr>
              <a:t>Hosts broadcast an ARP Request to other hosts on the segment to determine the MAC address of a host with a particular IP address. The host with the matching IP address in the ARP Request sends an ARP Reply.</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Any client can send an unsolicited ARP Reply called a “gratuitous ARP.” When a host sends a gratuitous ARP, other hosts on the subnet store the MAC address and IP address contained in the gratuitous ARP in their ARP tables.</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This feature of ARP also means that any host can claim to be the owner of any IP or MAC. A threat actor can poison the ARP cache of devices on the local network, creating an MITM attack to redirect traffic. </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066"/>
        <p:cNvGrpSpPr/>
        <p:nvPr/>
      </p:nvGrpSpPr>
      <p:grpSpPr>
        <a:xfrm>
          <a:off x="0" y="0"/>
          <a:ext cx="0" cy="0"/>
          <a:chOff x="0" y="0"/>
          <a:chExt cx="0" cy="0"/>
        </a:xfrm>
      </p:grpSpPr>
      <p:sp>
        <p:nvSpPr>
          <p:cNvPr id="1067" name="Google Shape;1067;p55"/>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dirty="0"/>
              <a:t>IP Services</a:t>
            </a:r>
            <a:br>
              <a:rPr lang="en-US" dirty="0"/>
            </a:br>
            <a:r>
              <a:rPr lang="en-US" sz="2400" dirty="0"/>
              <a:t>ARP Cache Poisoning</a:t>
            </a:r>
            <a:endParaRPr dirty="0"/>
          </a:p>
        </p:txBody>
      </p:sp>
      <p:sp>
        <p:nvSpPr>
          <p:cNvPr id="1068" name="Google Shape;1068;p55"/>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285690" lvl="0" indent="-285690" algn="l" rtl="0">
              <a:lnSpc>
                <a:spcPct val="100000"/>
              </a:lnSpc>
              <a:spcBef>
                <a:spcPts val="0"/>
              </a:spcBef>
              <a:spcAft>
                <a:spcPts val="0"/>
              </a:spcAft>
              <a:buSzPts val="1600"/>
              <a:buNone/>
            </a:pPr>
            <a:r>
              <a:rPr lang="en-US" sz="1600" dirty="0">
                <a:solidFill>
                  <a:srgbClr val="000000"/>
                </a:solidFill>
              </a:rPr>
              <a:t>ARP cache poisoning can be used to launch various man-in-the-middle attacks.</a:t>
            </a:r>
            <a:endParaRPr dirty="0"/>
          </a:p>
          <a:p>
            <a:pPr marL="342900" lvl="0" indent="-342900" algn="l" rtl="0">
              <a:lnSpc>
                <a:spcPct val="100000"/>
              </a:lnSpc>
              <a:spcBef>
                <a:spcPts val="320"/>
              </a:spcBef>
              <a:spcAft>
                <a:spcPts val="0"/>
              </a:spcAft>
              <a:buSzPts val="1600"/>
              <a:buFont typeface="Arial"/>
              <a:buAutoNum type="arabicPeriod"/>
            </a:pPr>
            <a:r>
              <a:rPr lang="en-US" sz="1600" dirty="0">
                <a:solidFill>
                  <a:srgbClr val="000000"/>
                </a:solidFill>
              </a:rPr>
              <a:t>PC-A requires the MAC address of its default gateway (R1); therefore, it sends an ARP Request for the MAC address of 192.168.10.1.</a:t>
            </a:r>
            <a:endParaRPr dirty="0"/>
          </a:p>
          <a:p>
            <a:pPr marL="342900" lvl="0" indent="-342900" algn="l" rtl="0">
              <a:lnSpc>
                <a:spcPct val="100000"/>
              </a:lnSpc>
              <a:spcBef>
                <a:spcPts val="320"/>
              </a:spcBef>
              <a:spcAft>
                <a:spcPts val="0"/>
              </a:spcAft>
              <a:buSzPts val="1600"/>
              <a:buFont typeface="Arial"/>
              <a:buAutoNum type="arabicPeriod"/>
            </a:pPr>
            <a:r>
              <a:rPr lang="en-US" sz="1600" dirty="0">
                <a:solidFill>
                  <a:srgbClr val="000000"/>
                </a:solidFill>
              </a:rPr>
              <a:t>R1 updates its ARP cache with the IP and MAC addresses of PC-A. R1 sends an ARP Reply to PC-A, which then updates its ARP cache with the IP and MAC addresses of R1.</a:t>
            </a:r>
            <a:endParaRPr dirty="0"/>
          </a:p>
          <a:p>
            <a:pPr marL="342900" lvl="0" indent="-342900" algn="l" rtl="0">
              <a:lnSpc>
                <a:spcPct val="100000"/>
              </a:lnSpc>
              <a:spcBef>
                <a:spcPts val="320"/>
              </a:spcBef>
              <a:spcAft>
                <a:spcPts val="0"/>
              </a:spcAft>
              <a:buSzPts val="1600"/>
              <a:buFont typeface="Arial"/>
              <a:buAutoNum type="arabicPeriod"/>
            </a:pPr>
            <a:r>
              <a:rPr lang="en-US" sz="1600" dirty="0">
                <a:solidFill>
                  <a:srgbClr val="000000"/>
                </a:solidFill>
              </a:rPr>
              <a:t>The threat actor sends two spoofed gratuitous ARP Replies using its own MAC address for the indicated destination IP addresses. PC-A updates its ARP cache with its default gateway which is now pointing to the threat actor’s host MAC address. R1 also updates its ARP cache with the IP address of PC-A pointing to the threat actor’s MAC address.</a:t>
            </a:r>
            <a:endParaRPr dirty="0"/>
          </a:p>
          <a:p>
            <a:pPr marL="0" lvl="0" indent="0" algn="l" rtl="0">
              <a:lnSpc>
                <a:spcPct val="100000"/>
              </a:lnSpc>
              <a:spcBef>
                <a:spcPts val="320"/>
              </a:spcBef>
              <a:spcAft>
                <a:spcPts val="0"/>
              </a:spcAft>
              <a:buSzPts val="1600"/>
              <a:buNone/>
            </a:pPr>
            <a:r>
              <a:rPr lang="en-US" sz="1600" dirty="0">
                <a:solidFill>
                  <a:srgbClr val="000000"/>
                </a:solidFill>
              </a:rPr>
              <a:t>The ARP poisoning attack can be passive or active. Passive ARP poisoning is where threat actors steal confidential information. Active ARP poisoning is where threat actors modify data in transit or inject malicious data.</a:t>
            </a:r>
            <a:endParaRPr dirty="0"/>
          </a:p>
          <a:p>
            <a:pPr marL="285690" lvl="0" indent="-285690" algn="l" rtl="0">
              <a:lnSpc>
                <a:spcPct val="100000"/>
              </a:lnSpc>
              <a:spcBef>
                <a:spcPts val="320"/>
              </a:spcBef>
              <a:spcAft>
                <a:spcPts val="0"/>
              </a:spcAft>
              <a:buSzPts val="1600"/>
              <a:buNone/>
            </a:pPr>
            <a:endParaRPr sz="1600" dirty="0">
              <a:solidFill>
                <a:srgbClr val="000000"/>
              </a:solidFill>
            </a:endParaRPr>
          </a:p>
        </p:txBody>
      </p:sp>
      <p:sp>
        <p:nvSpPr>
          <p:cNvPr id="1069" name="Google Shape;1069;p55"/>
          <p:cNvSpPr/>
          <p:nvPr/>
        </p:nvSpPr>
        <p:spPr>
          <a:xfrm>
            <a:off x="3485407" y="182278"/>
            <a:ext cx="526931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rgbClr val="FF0000"/>
                </a:solidFill>
                <a:latin typeface="Arial"/>
                <a:ea typeface="Arial"/>
                <a:cs typeface="Arial"/>
                <a:sym typeface="Arial"/>
              </a:rPr>
              <a:t>https://contenthub.netacad.com/ensa-dl/3.8.1</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71668F5-FAA5-BDDB-655A-2037B7430185}"/>
              </a:ext>
            </a:extLst>
          </p:cNvPr>
          <p:cNvSpPr>
            <a:spLocks noGrp="1"/>
          </p:cNvSpPr>
          <p:nvPr>
            <p:ph type="title"/>
          </p:nvPr>
        </p:nvSpPr>
        <p:spPr/>
        <p:txBody>
          <a:bodyPr/>
          <a:lstStyle/>
          <a:p>
            <a:r>
              <a:rPr lang="en-US" sz="2000" dirty="0"/>
              <a:t>IP Services</a:t>
            </a:r>
            <a:br>
              <a:rPr lang="en-US" dirty="0"/>
            </a:br>
            <a:r>
              <a:rPr lang="en-US" dirty="0"/>
              <a:t>ARP Cache Poisoning</a:t>
            </a:r>
            <a:endParaRPr lang="en-MY" dirty="0"/>
          </a:p>
        </p:txBody>
      </p:sp>
      <p:pic>
        <p:nvPicPr>
          <p:cNvPr id="5" name="Picture 4">
            <a:extLst>
              <a:ext uri="{FF2B5EF4-FFF2-40B4-BE49-F238E27FC236}">
                <a16:creationId xmlns:a16="http://schemas.microsoft.com/office/drawing/2014/main" id="{2580A447-1485-CE16-642D-345F7A255A8F}"/>
              </a:ext>
            </a:extLst>
          </p:cNvPr>
          <p:cNvPicPr>
            <a:picLocks noChangeAspect="1"/>
          </p:cNvPicPr>
          <p:nvPr/>
        </p:nvPicPr>
        <p:blipFill>
          <a:blip r:embed="rId2"/>
          <a:stretch>
            <a:fillRect/>
          </a:stretch>
        </p:blipFill>
        <p:spPr>
          <a:xfrm>
            <a:off x="1512278" y="1200432"/>
            <a:ext cx="5662262" cy="3727656"/>
          </a:xfrm>
          <a:prstGeom prst="rect">
            <a:avLst/>
          </a:prstGeom>
        </p:spPr>
      </p:pic>
    </p:spTree>
    <p:extLst>
      <p:ext uri="{BB962C8B-B14F-4D97-AF65-F5344CB8AC3E}">
        <p14:creationId xmlns:p14="http://schemas.microsoft.com/office/powerpoint/2010/main" val="2596269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074"/>
        <p:cNvGrpSpPr/>
        <p:nvPr/>
      </p:nvGrpSpPr>
      <p:grpSpPr>
        <a:xfrm>
          <a:off x="0" y="0"/>
          <a:ext cx="0" cy="0"/>
          <a:chOff x="0" y="0"/>
          <a:chExt cx="0" cy="0"/>
        </a:xfrm>
      </p:grpSpPr>
      <p:sp>
        <p:nvSpPr>
          <p:cNvPr id="1075" name="Google Shape;1075;p56"/>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IP Services</a:t>
            </a:r>
            <a:br>
              <a:rPr lang="en-US"/>
            </a:br>
            <a:r>
              <a:rPr lang="en-US" sz="2400"/>
              <a:t>Video – ARP Spoofing</a:t>
            </a:r>
            <a:endParaRPr/>
          </a:p>
        </p:txBody>
      </p:sp>
      <p:sp>
        <p:nvSpPr>
          <p:cNvPr id="1076" name="Google Shape;1076;p56"/>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285690" lvl="0" indent="-285690" algn="l" rtl="0">
              <a:lnSpc>
                <a:spcPct val="100000"/>
              </a:lnSpc>
              <a:spcBef>
                <a:spcPts val="0"/>
              </a:spcBef>
              <a:spcAft>
                <a:spcPts val="0"/>
              </a:spcAft>
              <a:buSzPts val="2000"/>
              <a:buNone/>
            </a:pPr>
            <a:r>
              <a:rPr lang="en-US">
                <a:solidFill>
                  <a:srgbClr val="000000"/>
                </a:solidFill>
              </a:rPr>
              <a:t>This video will explain an ARP spoofing attack.</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081"/>
        <p:cNvGrpSpPr/>
        <p:nvPr/>
      </p:nvGrpSpPr>
      <p:grpSpPr>
        <a:xfrm>
          <a:off x="0" y="0"/>
          <a:ext cx="0" cy="0"/>
          <a:chOff x="0" y="0"/>
          <a:chExt cx="0" cy="0"/>
        </a:xfrm>
      </p:grpSpPr>
      <p:sp>
        <p:nvSpPr>
          <p:cNvPr id="1082" name="Google Shape;1082;p57"/>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IP Services</a:t>
            </a:r>
            <a:br>
              <a:rPr lang="en-US"/>
            </a:br>
            <a:r>
              <a:rPr lang="en-US" sz="2400"/>
              <a:t>DNS Attacks</a:t>
            </a:r>
            <a:endParaRPr/>
          </a:p>
        </p:txBody>
      </p:sp>
      <p:sp>
        <p:nvSpPr>
          <p:cNvPr id="1083" name="Google Shape;1083;p57"/>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285750" lvl="0" indent="-285750" algn="l" rtl="0">
              <a:lnSpc>
                <a:spcPct val="100000"/>
              </a:lnSpc>
              <a:spcBef>
                <a:spcPts val="0"/>
              </a:spcBef>
              <a:spcAft>
                <a:spcPts val="0"/>
              </a:spcAft>
              <a:buSzPts val="1600"/>
              <a:buFont typeface="Arial"/>
              <a:buChar char="•"/>
            </a:pPr>
            <a:r>
              <a:rPr lang="en-US" sz="1600">
                <a:solidFill>
                  <a:srgbClr val="000000"/>
                </a:solidFill>
              </a:rPr>
              <a:t>The Domain Name Service (DNS) protocol defines an automated service that matches resource names, such as www.cisco.com, with the required numeric network address, such as the IPv4 or IPv6 address. It includes the format for queries, responses, and data and uses resource records (RR) to identify the type of DNS response.</a:t>
            </a:r>
            <a:endParaRPr/>
          </a:p>
          <a:p>
            <a:pPr marL="285750" lvl="0" indent="-285750" algn="l" rtl="0">
              <a:lnSpc>
                <a:spcPct val="100000"/>
              </a:lnSpc>
              <a:spcBef>
                <a:spcPts val="320"/>
              </a:spcBef>
              <a:spcAft>
                <a:spcPts val="0"/>
              </a:spcAft>
              <a:buSzPts val="1600"/>
              <a:buFont typeface="Arial"/>
              <a:buChar char="•"/>
            </a:pPr>
            <a:r>
              <a:rPr lang="en-US" sz="1600">
                <a:solidFill>
                  <a:srgbClr val="000000"/>
                </a:solidFill>
              </a:rPr>
              <a:t>Securing DNS is often overlooked. However, it is crucial to the operation of a network and should be secured accordingly.</a:t>
            </a:r>
            <a:endParaRPr/>
          </a:p>
          <a:p>
            <a:pPr marL="285750" lvl="0" indent="-285750" algn="l" rtl="0">
              <a:lnSpc>
                <a:spcPct val="100000"/>
              </a:lnSpc>
              <a:spcBef>
                <a:spcPts val="320"/>
              </a:spcBef>
              <a:spcAft>
                <a:spcPts val="0"/>
              </a:spcAft>
              <a:buSzPts val="1600"/>
              <a:buFont typeface="Arial"/>
              <a:buChar char="•"/>
            </a:pPr>
            <a:r>
              <a:rPr lang="en-US" sz="1600">
                <a:solidFill>
                  <a:srgbClr val="000000"/>
                </a:solidFill>
              </a:rPr>
              <a:t>DNS attacks include the following:</a:t>
            </a:r>
            <a:endParaRPr/>
          </a:p>
          <a:p>
            <a:pPr marL="358835" lvl="1" indent="-285750" algn="l" rtl="0">
              <a:lnSpc>
                <a:spcPct val="95000"/>
              </a:lnSpc>
              <a:spcBef>
                <a:spcPts val="600"/>
              </a:spcBef>
              <a:spcAft>
                <a:spcPts val="0"/>
              </a:spcAft>
              <a:buSzPts val="1400"/>
              <a:buFont typeface="Arial"/>
              <a:buChar char="•"/>
            </a:pPr>
            <a:r>
              <a:rPr lang="en-US">
                <a:solidFill>
                  <a:srgbClr val="000000"/>
                </a:solidFill>
              </a:rPr>
              <a:t>DNS open resolver attacks</a:t>
            </a:r>
            <a:endParaRPr/>
          </a:p>
          <a:p>
            <a:pPr marL="358835" lvl="1" indent="-285750" algn="l" rtl="0">
              <a:lnSpc>
                <a:spcPct val="95000"/>
              </a:lnSpc>
              <a:spcBef>
                <a:spcPts val="600"/>
              </a:spcBef>
              <a:spcAft>
                <a:spcPts val="0"/>
              </a:spcAft>
              <a:buSzPts val="1400"/>
              <a:buFont typeface="Arial"/>
              <a:buChar char="•"/>
            </a:pPr>
            <a:r>
              <a:rPr lang="en-US">
                <a:solidFill>
                  <a:srgbClr val="000000"/>
                </a:solidFill>
              </a:rPr>
              <a:t>DNS stealth attacks</a:t>
            </a:r>
            <a:endParaRPr/>
          </a:p>
          <a:p>
            <a:pPr marL="358835" lvl="1" indent="-285750" algn="l" rtl="0">
              <a:lnSpc>
                <a:spcPct val="95000"/>
              </a:lnSpc>
              <a:spcBef>
                <a:spcPts val="600"/>
              </a:spcBef>
              <a:spcAft>
                <a:spcPts val="0"/>
              </a:spcAft>
              <a:buSzPts val="1400"/>
              <a:buFont typeface="Arial"/>
              <a:buChar char="•"/>
            </a:pPr>
            <a:r>
              <a:rPr lang="en-US">
                <a:solidFill>
                  <a:srgbClr val="000000"/>
                </a:solidFill>
              </a:rPr>
              <a:t>DNS domain shadowing attacks</a:t>
            </a:r>
            <a:endParaRPr/>
          </a:p>
          <a:p>
            <a:pPr marL="358835" lvl="1" indent="-285750" algn="l" rtl="0">
              <a:lnSpc>
                <a:spcPct val="95000"/>
              </a:lnSpc>
              <a:spcBef>
                <a:spcPts val="600"/>
              </a:spcBef>
              <a:spcAft>
                <a:spcPts val="0"/>
              </a:spcAft>
              <a:buSzPts val="1400"/>
              <a:buFont typeface="Arial"/>
              <a:buChar char="•"/>
            </a:pPr>
            <a:r>
              <a:rPr lang="en-US">
                <a:solidFill>
                  <a:srgbClr val="000000"/>
                </a:solidFill>
              </a:rPr>
              <a:t>DNS tunneling attacks</a:t>
            </a:r>
            <a:endParaRPr/>
          </a:p>
          <a:p>
            <a:pPr marL="0" lvl="0" indent="0" algn="l" rtl="0">
              <a:lnSpc>
                <a:spcPct val="100000"/>
              </a:lnSpc>
              <a:spcBef>
                <a:spcPts val="320"/>
              </a:spcBef>
              <a:spcAft>
                <a:spcPts val="0"/>
              </a:spcAft>
              <a:buSzPts val="1600"/>
              <a:buNone/>
            </a:pPr>
            <a:endParaRPr sz="16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088"/>
        <p:cNvGrpSpPr/>
        <p:nvPr/>
      </p:nvGrpSpPr>
      <p:grpSpPr>
        <a:xfrm>
          <a:off x="0" y="0"/>
          <a:ext cx="0" cy="0"/>
          <a:chOff x="0" y="0"/>
          <a:chExt cx="0" cy="0"/>
        </a:xfrm>
      </p:grpSpPr>
      <p:sp>
        <p:nvSpPr>
          <p:cNvPr id="1089" name="Google Shape;1089;p58"/>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IP Services</a:t>
            </a:r>
            <a:br>
              <a:rPr lang="en-US"/>
            </a:br>
            <a:r>
              <a:rPr lang="en-US" sz="2400"/>
              <a:t>DNS Attacks (Cont.)</a:t>
            </a:r>
            <a:endParaRPr/>
          </a:p>
        </p:txBody>
      </p:sp>
      <p:sp>
        <p:nvSpPr>
          <p:cNvPr id="1090" name="Google Shape;1090;p58"/>
          <p:cNvSpPr txBox="1">
            <a:spLocks noGrp="1"/>
          </p:cNvSpPr>
          <p:nvPr>
            <p:ph type="body" idx="1"/>
          </p:nvPr>
        </p:nvSpPr>
        <p:spPr>
          <a:xfrm>
            <a:off x="474662" y="731838"/>
            <a:ext cx="8280057" cy="839962"/>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DNS Open Resolver Attacks: A DNS open resolver answers queries from clients outside of its administrative domain. DNS open resolvers are vulnerable to multiple malicious activities described in the table.</a:t>
            </a:r>
            <a:endParaRPr/>
          </a:p>
        </p:txBody>
      </p:sp>
      <p:graphicFrame>
        <p:nvGraphicFramePr>
          <p:cNvPr id="1091" name="Google Shape;1091;p58"/>
          <p:cNvGraphicFramePr/>
          <p:nvPr/>
        </p:nvGraphicFramePr>
        <p:xfrm>
          <a:off x="636587" y="1571799"/>
          <a:ext cx="7870825" cy="2941320"/>
        </p:xfrm>
        <a:graphic>
          <a:graphicData uri="http://schemas.openxmlformats.org/drawingml/2006/table">
            <a:tbl>
              <a:tblPr firstRow="1" bandRow="1">
                <a:noFill/>
                <a:tableStyleId>{0DCACE81-CCCA-460A-ACD2-FE0297909B90}</a:tableStyleId>
              </a:tblPr>
              <a:tblGrid>
                <a:gridCol w="2246850">
                  <a:extLst>
                    <a:ext uri="{9D8B030D-6E8A-4147-A177-3AD203B41FA5}">
                      <a16:colId xmlns:a16="http://schemas.microsoft.com/office/drawing/2014/main" val="20000"/>
                    </a:ext>
                  </a:extLst>
                </a:gridCol>
                <a:gridCol w="5623975">
                  <a:extLst>
                    <a:ext uri="{9D8B030D-6E8A-4147-A177-3AD203B41FA5}">
                      <a16:colId xmlns:a16="http://schemas.microsoft.com/office/drawing/2014/main" val="20001"/>
                    </a:ext>
                  </a:extLst>
                </a:gridCol>
              </a:tblGrid>
              <a:tr h="266575">
                <a:tc>
                  <a:txBody>
                    <a:bodyPr/>
                    <a:lstStyle/>
                    <a:p>
                      <a:pPr marL="0" marR="0" lvl="0" indent="0" algn="l" rtl="0">
                        <a:spcBef>
                          <a:spcPts val="0"/>
                        </a:spcBef>
                        <a:spcAft>
                          <a:spcPts val="0"/>
                        </a:spcAft>
                        <a:buNone/>
                      </a:pPr>
                      <a:r>
                        <a:rPr lang="en-US" sz="1200" b="1" u="none" strike="noStrike" cap="none"/>
                        <a:t>DNS Resolver Vulnerabilities</a:t>
                      </a:r>
                      <a:endParaRPr sz="1200" u="none" strike="noStrike" cap="none"/>
                    </a:p>
                  </a:txBody>
                  <a:tcPr marL="47625" marR="47625" marT="47625" marB="47625" anchor="ctr"/>
                </a:tc>
                <a:tc>
                  <a:txBody>
                    <a:bodyPr/>
                    <a:lstStyle/>
                    <a:p>
                      <a:pPr marL="0" marR="0" lvl="0" indent="0" algn="l" rtl="0">
                        <a:spcBef>
                          <a:spcPts val="0"/>
                        </a:spcBef>
                        <a:spcAft>
                          <a:spcPts val="0"/>
                        </a:spcAft>
                        <a:buNone/>
                      </a:pPr>
                      <a:r>
                        <a:rPr lang="en-US" sz="1200" b="1" u="none" strike="noStrike" cap="none"/>
                        <a:t>Description</a:t>
                      </a:r>
                      <a:endParaRPr sz="1200" u="none" strike="noStrike" cap="none"/>
                    </a:p>
                  </a:txBody>
                  <a:tcPr marL="47625" marR="47625" marT="47625" marB="47625" anchor="ctr"/>
                </a:tc>
                <a:extLst>
                  <a:ext uri="{0D108BD9-81ED-4DB2-BD59-A6C34878D82A}">
                    <a16:rowId xmlns:a16="http://schemas.microsoft.com/office/drawing/2014/main" val="10000"/>
                  </a:ext>
                </a:extLst>
              </a:tr>
              <a:tr h="594300">
                <a:tc>
                  <a:txBody>
                    <a:bodyPr/>
                    <a:lstStyle/>
                    <a:p>
                      <a:pPr marL="0" marR="0" lvl="0" indent="0" algn="l" rtl="0">
                        <a:spcBef>
                          <a:spcPts val="0"/>
                        </a:spcBef>
                        <a:spcAft>
                          <a:spcPts val="0"/>
                        </a:spcAft>
                        <a:buNone/>
                      </a:pPr>
                      <a:r>
                        <a:rPr lang="en-US" sz="1200" b="1" u="none" strike="noStrike" cap="none"/>
                        <a:t>DNS cache poisoning attacks</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Threat actors send spoofed, falsified record resource (RR) information to a DNS resolver to redirect users from legitimate sites to malicious sites. DNS cache poisoning attacks can all be used to inform the DNS resolver to use a malicious name server that is providing RR information for malicious activities.</a:t>
                      </a:r>
                      <a:endParaRPr/>
                    </a:p>
                  </a:txBody>
                  <a:tcPr marL="47625" marR="47625" marT="47625" marB="47625" anchor="ctr"/>
                </a:tc>
                <a:extLst>
                  <a:ext uri="{0D108BD9-81ED-4DB2-BD59-A6C34878D82A}">
                    <a16:rowId xmlns:a16="http://schemas.microsoft.com/office/drawing/2014/main" val="10001"/>
                  </a:ext>
                </a:extLst>
              </a:tr>
              <a:tr h="725750">
                <a:tc>
                  <a:txBody>
                    <a:bodyPr/>
                    <a:lstStyle/>
                    <a:p>
                      <a:pPr marL="0" marR="0" lvl="0" indent="0" algn="l" rtl="0">
                        <a:spcBef>
                          <a:spcPts val="0"/>
                        </a:spcBef>
                        <a:spcAft>
                          <a:spcPts val="0"/>
                        </a:spcAft>
                        <a:buNone/>
                      </a:pPr>
                      <a:r>
                        <a:rPr lang="en-US" sz="1200" b="1" u="none" strike="noStrike" cap="none"/>
                        <a:t>DNS amplification and reflection attacks</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Threat actors use DoS or DDoS attacks on DNS open resolvers to increase the volume of attacks and to hide the true source of an attack. Threat actors send DNS messages to the open resolvers using the IP address of a target host. These attacks are possible because the open resolver will respond to queries from anyone asking a question.</a:t>
                      </a:r>
                      <a:endParaRPr/>
                    </a:p>
                  </a:txBody>
                  <a:tcPr marL="47625" marR="47625" marT="47625" marB="47625" anchor="ctr"/>
                </a:tc>
                <a:extLst>
                  <a:ext uri="{0D108BD9-81ED-4DB2-BD59-A6C34878D82A}">
                    <a16:rowId xmlns:a16="http://schemas.microsoft.com/office/drawing/2014/main" val="10002"/>
                  </a:ext>
                </a:extLst>
              </a:tr>
              <a:tr h="594300">
                <a:tc>
                  <a:txBody>
                    <a:bodyPr/>
                    <a:lstStyle/>
                    <a:p>
                      <a:pPr marL="0" marR="0" lvl="0" indent="0" algn="l" rtl="0">
                        <a:spcBef>
                          <a:spcPts val="0"/>
                        </a:spcBef>
                        <a:spcAft>
                          <a:spcPts val="0"/>
                        </a:spcAft>
                        <a:buNone/>
                      </a:pPr>
                      <a:r>
                        <a:rPr lang="en-US" sz="1200" b="1" u="none" strike="noStrike" cap="none"/>
                        <a:t>DNS resource utilization attacks</a:t>
                      </a:r>
                      <a:endParaRPr sz="1200" b="0" u="none" strike="noStrike" cap="none"/>
                    </a:p>
                  </a:txBody>
                  <a:tcPr marL="47625" marR="47625" marT="47625" marB="47625" anchor="ctr"/>
                </a:tc>
                <a:tc>
                  <a:txBody>
                    <a:bodyPr/>
                    <a:lstStyle/>
                    <a:p>
                      <a:pPr marL="0" marR="0" lvl="0" indent="0" algn="l" rtl="0">
                        <a:spcBef>
                          <a:spcPts val="0"/>
                        </a:spcBef>
                        <a:spcAft>
                          <a:spcPts val="0"/>
                        </a:spcAft>
                        <a:buNone/>
                      </a:pPr>
                      <a:r>
                        <a:rPr lang="en-US" sz="1200" b="0" u="none" strike="noStrike" cap="none"/>
                        <a:t>A DoS attack that consumes the resources of the DNS open resolvers. This DoS attack consumes all the available resources to negatively affect the operations of the DNS open resolver. The impact of this DoS attack may require the DNS open resolver to be rebooted or services to be stopped and restarted.</a:t>
                      </a:r>
                      <a:endParaRPr/>
                    </a:p>
                  </a:txBody>
                  <a:tcPr marL="47625" marR="47625" marT="47625" marB="47625" anchor="ct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096"/>
        <p:cNvGrpSpPr/>
        <p:nvPr/>
      </p:nvGrpSpPr>
      <p:grpSpPr>
        <a:xfrm>
          <a:off x="0" y="0"/>
          <a:ext cx="0" cy="0"/>
          <a:chOff x="0" y="0"/>
          <a:chExt cx="0" cy="0"/>
        </a:xfrm>
      </p:grpSpPr>
      <p:sp>
        <p:nvSpPr>
          <p:cNvPr id="1097" name="Google Shape;1097;p59"/>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IP Services</a:t>
            </a:r>
            <a:br>
              <a:rPr lang="en-US"/>
            </a:br>
            <a:r>
              <a:rPr lang="en-US" sz="2400"/>
              <a:t>DNS Attacks (Cont.)</a:t>
            </a:r>
            <a:endParaRPr/>
          </a:p>
        </p:txBody>
      </p:sp>
      <p:sp>
        <p:nvSpPr>
          <p:cNvPr id="1098" name="Google Shape;1098;p59"/>
          <p:cNvSpPr txBox="1">
            <a:spLocks noGrp="1"/>
          </p:cNvSpPr>
          <p:nvPr>
            <p:ph type="body" idx="1"/>
          </p:nvPr>
        </p:nvSpPr>
        <p:spPr>
          <a:xfrm>
            <a:off x="474662" y="731838"/>
            <a:ext cx="8280057" cy="618498"/>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DNS Stealth Attacks: To hide their identity, threat actors also use the DNS stealth techniques described in the table to carry out their attacks.</a:t>
            </a:r>
            <a:endParaRPr/>
          </a:p>
        </p:txBody>
      </p:sp>
      <p:graphicFrame>
        <p:nvGraphicFramePr>
          <p:cNvPr id="1099" name="Google Shape;1099;p59"/>
          <p:cNvGraphicFramePr/>
          <p:nvPr/>
        </p:nvGraphicFramePr>
        <p:xfrm>
          <a:off x="636587" y="1463674"/>
          <a:ext cx="7870825" cy="2941320"/>
        </p:xfrm>
        <a:graphic>
          <a:graphicData uri="http://schemas.openxmlformats.org/drawingml/2006/table">
            <a:tbl>
              <a:tblPr firstRow="1" bandRow="1">
                <a:noFill/>
                <a:tableStyleId>{0DCACE81-CCCA-460A-ACD2-FE0297909B90}</a:tableStyleId>
              </a:tblPr>
              <a:tblGrid>
                <a:gridCol w="1513625">
                  <a:extLst>
                    <a:ext uri="{9D8B030D-6E8A-4147-A177-3AD203B41FA5}">
                      <a16:colId xmlns:a16="http://schemas.microsoft.com/office/drawing/2014/main" val="20000"/>
                    </a:ext>
                  </a:extLst>
                </a:gridCol>
                <a:gridCol w="6357200">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US" sz="1400" b="1" u="none" strike="noStrike" cap="none"/>
                        <a:t>DNS Stealth Techniques</a:t>
                      </a:r>
                      <a:endParaRPr sz="1400" u="none" strike="noStrike" cap="none"/>
                    </a:p>
                  </a:txBody>
                  <a:tcPr marL="47625" marR="47625" marT="47625" marB="47625" anchor="ctr"/>
                </a:tc>
                <a:tc>
                  <a:txBody>
                    <a:bodyPr/>
                    <a:lstStyle/>
                    <a:p>
                      <a:pPr marL="0" marR="0" lvl="0" indent="0" algn="l" rtl="0">
                        <a:spcBef>
                          <a:spcPts val="0"/>
                        </a:spcBef>
                        <a:spcAft>
                          <a:spcPts val="0"/>
                        </a:spcAft>
                        <a:buNone/>
                      </a:pPr>
                      <a:r>
                        <a:rPr lang="en-US" sz="1400" b="1" u="none" strike="noStrike" cap="none"/>
                        <a:t>Description</a:t>
                      </a:r>
                      <a:endParaRPr sz="1400" u="none" strike="noStrike" cap="none"/>
                    </a:p>
                  </a:txBody>
                  <a:tcPr marL="47625" marR="47625" marT="47625" marB="47625" anchor="ctr"/>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400" b="1" u="none" strike="noStrike" cap="none"/>
                        <a:t>Fast Flux</a:t>
                      </a:r>
                      <a:endParaRPr sz="1400" b="0" u="none" strike="noStrike" cap="none"/>
                    </a:p>
                  </a:txBody>
                  <a:tcPr marL="47625" marR="47625" marT="47625" marB="47625" anchor="ctr"/>
                </a:tc>
                <a:tc>
                  <a:txBody>
                    <a:bodyPr/>
                    <a:lstStyle/>
                    <a:p>
                      <a:pPr marL="0" marR="0" lvl="0" indent="0" algn="l" rtl="0">
                        <a:spcBef>
                          <a:spcPts val="0"/>
                        </a:spcBef>
                        <a:spcAft>
                          <a:spcPts val="0"/>
                        </a:spcAft>
                        <a:buNone/>
                      </a:pPr>
                      <a:r>
                        <a:rPr lang="en-US" sz="1400" b="0" u="none" strike="noStrike" cap="none"/>
                        <a:t>Threat actors use this technique to hide their phishing and malware delivery sites behind a quickly-changing network of compromised DNS hosts. The DNS IP addresses are continuously changed within minutes. Botnets often employ Fast Flux techniques to effectively hide malicious servers from being detected.</a:t>
                      </a:r>
                      <a:endParaRPr/>
                    </a:p>
                  </a:txBody>
                  <a:tcPr marL="47625" marR="47625" marT="47625" marB="47625" anchor="ctr"/>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400" b="1" u="none" strike="noStrike" cap="none"/>
                        <a:t>Double IP Flux</a:t>
                      </a:r>
                      <a:endParaRPr sz="1400" b="0" u="none" strike="noStrike" cap="none"/>
                    </a:p>
                  </a:txBody>
                  <a:tcPr marL="47625" marR="47625" marT="47625" marB="47625" anchor="ctr"/>
                </a:tc>
                <a:tc>
                  <a:txBody>
                    <a:bodyPr/>
                    <a:lstStyle/>
                    <a:p>
                      <a:pPr marL="0" marR="0" lvl="0" indent="0" algn="l" rtl="0">
                        <a:spcBef>
                          <a:spcPts val="0"/>
                        </a:spcBef>
                        <a:spcAft>
                          <a:spcPts val="0"/>
                        </a:spcAft>
                        <a:buNone/>
                      </a:pPr>
                      <a:r>
                        <a:rPr lang="en-US" sz="1400" b="0" u="none" strike="noStrike" cap="none"/>
                        <a:t>Threat actors use this technique to rapidly change the hostname to IP address mappings and to also change the authoritative name server. This increases the difficulty of identifying the source of the attack.</a:t>
                      </a:r>
                      <a:endParaRPr/>
                    </a:p>
                  </a:txBody>
                  <a:tcPr marL="47625" marR="47625" marT="47625" marB="47625" anchor="ctr"/>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400" b="1" u="none" strike="noStrike" cap="none"/>
                        <a:t>Domain Generation Algorithms</a:t>
                      </a:r>
                      <a:endParaRPr sz="1400" b="0" u="none" strike="noStrike" cap="none"/>
                    </a:p>
                  </a:txBody>
                  <a:tcPr marL="47625" marR="47625" marT="47625" marB="47625" anchor="ctr"/>
                </a:tc>
                <a:tc>
                  <a:txBody>
                    <a:bodyPr/>
                    <a:lstStyle/>
                    <a:p>
                      <a:pPr marL="0" marR="0" lvl="0" indent="0" algn="l" rtl="0">
                        <a:spcBef>
                          <a:spcPts val="0"/>
                        </a:spcBef>
                        <a:spcAft>
                          <a:spcPts val="0"/>
                        </a:spcAft>
                        <a:buNone/>
                      </a:pPr>
                      <a:r>
                        <a:rPr lang="en-US" sz="1400" b="0" u="none" strike="noStrike" cap="none"/>
                        <a:t>Threat actors use this technique in malware to randomly generate domain names that can then be used as rendezvous points to their command and control (C&amp;C) servers.</a:t>
                      </a:r>
                      <a:endParaRPr/>
                    </a:p>
                  </a:txBody>
                  <a:tcPr marL="47625" marR="47625" marT="47625" marB="47625" anchor="ct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104"/>
        <p:cNvGrpSpPr/>
        <p:nvPr/>
      </p:nvGrpSpPr>
      <p:grpSpPr>
        <a:xfrm>
          <a:off x="0" y="0"/>
          <a:ext cx="0" cy="0"/>
          <a:chOff x="0" y="0"/>
          <a:chExt cx="0" cy="0"/>
        </a:xfrm>
      </p:grpSpPr>
      <p:sp>
        <p:nvSpPr>
          <p:cNvPr id="1105" name="Google Shape;1105;p60"/>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IP Services</a:t>
            </a:r>
            <a:br>
              <a:rPr lang="en-US"/>
            </a:br>
            <a:r>
              <a:rPr lang="en-US" sz="2400"/>
              <a:t>DNS Attacks (Cont.)</a:t>
            </a:r>
            <a:endParaRPr/>
          </a:p>
        </p:txBody>
      </p:sp>
      <p:sp>
        <p:nvSpPr>
          <p:cNvPr id="1106" name="Google Shape;1106;p60"/>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2000"/>
              <a:buNone/>
            </a:pPr>
            <a:r>
              <a:rPr lang="en-US">
                <a:solidFill>
                  <a:srgbClr val="000000"/>
                </a:solidFill>
              </a:rPr>
              <a:t>DNS Domain Shadowing Attacks: Domain shadowing involves the threat actor gathering domain account credentials in order to silently create multiple sub-domains to be used during the attacks. These subdomains typically point to malicious servers without alerting the actual owner of the parent domain.</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111"/>
        <p:cNvGrpSpPr/>
        <p:nvPr/>
      </p:nvGrpSpPr>
      <p:grpSpPr>
        <a:xfrm>
          <a:off x="0" y="0"/>
          <a:ext cx="0" cy="0"/>
          <a:chOff x="0" y="0"/>
          <a:chExt cx="0" cy="0"/>
        </a:xfrm>
      </p:grpSpPr>
      <p:sp>
        <p:nvSpPr>
          <p:cNvPr id="1112" name="Google Shape;1112;p61"/>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IP Services</a:t>
            </a:r>
            <a:br>
              <a:rPr lang="en-US"/>
            </a:br>
            <a:r>
              <a:rPr lang="en-US" sz="2400"/>
              <a:t>DNS Tunneling</a:t>
            </a:r>
            <a:endParaRPr/>
          </a:p>
        </p:txBody>
      </p:sp>
      <p:sp>
        <p:nvSpPr>
          <p:cNvPr id="1113" name="Google Shape;1113;p61"/>
          <p:cNvSpPr txBox="1">
            <a:spLocks noGrp="1"/>
          </p:cNvSpPr>
          <p:nvPr>
            <p:ph type="body" idx="1"/>
          </p:nvPr>
        </p:nvSpPr>
        <p:spPr>
          <a:xfrm>
            <a:off x="431971" y="731837"/>
            <a:ext cx="8280057" cy="3689897"/>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400"/>
              <a:buFont typeface="Arial"/>
              <a:buChar char="•"/>
            </a:pPr>
            <a:r>
              <a:rPr lang="en-US" sz="1400">
                <a:solidFill>
                  <a:srgbClr val="000000"/>
                </a:solidFill>
              </a:rPr>
              <a:t>Threat actors who use DNS tunneling place non-DNS traffic within DNS traffic. This method often circumvents security solutions when a threat actor wishes to communicate with bots inside a protected network, or exfiltrate data from the organization. This is how DNS tunneling works for CnC commands sent to a botnet:</a:t>
            </a:r>
            <a:endParaRPr/>
          </a:p>
          <a:p>
            <a:pPr marL="489009" lvl="2" indent="-342899" algn="l" rtl="0">
              <a:lnSpc>
                <a:spcPct val="95000"/>
              </a:lnSpc>
              <a:spcBef>
                <a:spcPts val="625"/>
              </a:spcBef>
              <a:spcAft>
                <a:spcPts val="0"/>
              </a:spcAft>
              <a:buClr>
                <a:srgbClr val="000000"/>
              </a:buClr>
              <a:buSzPts val="1200"/>
              <a:buFont typeface="Arial"/>
              <a:buAutoNum type="arabicPeriod"/>
            </a:pPr>
            <a:r>
              <a:rPr lang="en-US">
                <a:solidFill>
                  <a:srgbClr val="000000"/>
                </a:solidFill>
              </a:rPr>
              <a:t>The command data is split into multiple encoded chunks.</a:t>
            </a:r>
            <a:endParaRPr/>
          </a:p>
          <a:p>
            <a:pPr marL="489009" lvl="2" indent="-342899" algn="l" rtl="0">
              <a:lnSpc>
                <a:spcPct val="95000"/>
              </a:lnSpc>
              <a:spcBef>
                <a:spcPts val="625"/>
              </a:spcBef>
              <a:spcAft>
                <a:spcPts val="0"/>
              </a:spcAft>
              <a:buClr>
                <a:srgbClr val="000000"/>
              </a:buClr>
              <a:buSzPts val="1200"/>
              <a:buFont typeface="Arial"/>
              <a:buAutoNum type="arabicPeriod"/>
            </a:pPr>
            <a:r>
              <a:rPr lang="en-US">
                <a:solidFill>
                  <a:srgbClr val="000000"/>
                </a:solidFill>
              </a:rPr>
              <a:t>Each chunk is placed into a lower level domain name label of the DNS query.</a:t>
            </a:r>
            <a:endParaRPr/>
          </a:p>
          <a:p>
            <a:pPr marL="489009" lvl="2" indent="-342899" algn="l" rtl="0">
              <a:lnSpc>
                <a:spcPct val="95000"/>
              </a:lnSpc>
              <a:spcBef>
                <a:spcPts val="625"/>
              </a:spcBef>
              <a:spcAft>
                <a:spcPts val="0"/>
              </a:spcAft>
              <a:buClr>
                <a:srgbClr val="000000"/>
              </a:buClr>
              <a:buSzPts val="1200"/>
              <a:buFont typeface="Arial"/>
              <a:buAutoNum type="arabicPeriod"/>
            </a:pPr>
            <a:r>
              <a:rPr lang="en-US">
                <a:solidFill>
                  <a:srgbClr val="000000"/>
                </a:solidFill>
              </a:rPr>
              <a:t>Because there is no response from the local or networked DNS for the query, the request is sent to the ISP’s recursive DNS servers.</a:t>
            </a:r>
            <a:endParaRPr/>
          </a:p>
          <a:p>
            <a:pPr marL="489009" lvl="2" indent="-342899" algn="l" rtl="0">
              <a:lnSpc>
                <a:spcPct val="95000"/>
              </a:lnSpc>
              <a:spcBef>
                <a:spcPts val="625"/>
              </a:spcBef>
              <a:spcAft>
                <a:spcPts val="0"/>
              </a:spcAft>
              <a:buClr>
                <a:srgbClr val="000000"/>
              </a:buClr>
              <a:buSzPts val="1200"/>
              <a:buFont typeface="Arial"/>
              <a:buAutoNum type="arabicPeriod"/>
            </a:pPr>
            <a:r>
              <a:rPr lang="en-US">
                <a:solidFill>
                  <a:srgbClr val="000000"/>
                </a:solidFill>
              </a:rPr>
              <a:t>The recursive DNS service will forward the query to the threat actor’s authoritative name server.</a:t>
            </a:r>
            <a:endParaRPr/>
          </a:p>
          <a:p>
            <a:pPr marL="489009" lvl="2" indent="-342899" algn="l" rtl="0">
              <a:lnSpc>
                <a:spcPct val="95000"/>
              </a:lnSpc>
              <a:spcBef>
                <a:spcPts val="625"/>
              </a:spcBef>
              <a:spcAft>
                <a:spcPts val="0"/>
              </a:spcAft>
              <a:buClr>
                <a:srgbClr val="000000"/>
              </a:buClr>
              <a:buSzPts val="1200"/>
              <a:buFont typeface="Arial"/>
              <a:buAutoNum type="arabicPeriod"/>
            </a:pPr>
            <a:r>
              <a:rPr lang="en-US">
                <a:solidFill>
                  <a:srgbClr val="000000"/>
                </a:solidFill>
              </a:rPr>
              <a:t>The process is repeated until all the queries containing the chunks of are sent.</a:t>
            </a:r>
            <a:endParaRPr/>
          </a:p>
          <a:p>
            <a:pPr marL="489009" lvl="2" indent="-342899" algn="l" rtl="0">
              <a:lnSpc>
                <a:spcPct val="95000"/>
              </a:lnSpc>
              <a:spcBef>
                <a:spcPts val="625"/>
              </a:spcBef>
              <a:spcAft>
                <a:spcPts val="0"/>
              </a:spcAft>
              <a:buClr>
                <a:srgbClr val="000000"/>
              </a:buClr>
              <a:buSzPts val="1200"/>
              <a:buFont typeface="Arial"/>
              <a:buAutoNum type="arabicPeriod"/>
            </a:pPr>
            <a:r>
              <a:rPr lang="en-US">
                <a:solidFill>
                  <a:srgbClr val="000000"/>
                </a:solidFill>
              </a:rPr>
              <a:t>When the threat actor’s authoritative name server receives the DNS queries from the infected devices, it sends responses for each DNS query, which contain the encapsulated, encoded CnC commands.</a:t>
            </a:r>
            <a:endParaRPr/>
          </a:p>
          <a:p>
            <a:pPr marL="489009" lvl="2" indent="-342899" algn="l" rtl="0">
              <a:lnSpc>
                <a:spcPct val="95000"/>
              </a:lnSpc>
              <a:spcBef>
                <a:spcPts val="625"/>
              </a:spcBef>
              <a:spcAft>
                <a:spcPts val="0"/>
              </a:spcAft>
              <a:buClr>
                <a:srgbClr val="000000"/>
              </a:buClr>
              <a:buSzPts val="1200"/>
              <a:buFont typeface="Arial"/>
              <a:buAutoNum type="arabicPeriod"/>
            </a:pPr>
            <a:r>
              <a:rPr lang="en-US">
                <a:solidFill>
                  <a:srgbClr val="000000"/>
                </a:solidFill>
              </a:rPr>
              <a:t>The malware on the compromised host recombines the chunks and executes the commands hidden within the DNS record.</a:t>
            </a:r>
            <a:endParaRPr/>
          </a:p>
          <a:p>
            <a:pPr marL="342900" lvl="0" indent="-342900" algn="l" rtl="0">
              <a:lnSpc>
                <a:spcPct val="100000"/>
              </a:lnSpc>
              <a:spcBef>
                <a:spcPts val="280"/>
              </a:spcBef>
              <a:spcAft>
                <a:spcPts val="0"/>
              </a:spcAft>
              <a:buSzPts val="1400"/>
              <a:buFont typeface="Arial"/>
              <a:buChar char="•"/>
            </a:pPr>
            <a:r>
              <a:rPr lang="en-US" sz="1400">
                <a:solidFill>
                  <a:srgbClr val="000000"/>
                </a:solidFill>
              </a:rPr>
              <a:t>To stop DNS tunneling, the network administrator must use a filter that inspects DNS traffic. Pay close attention to DNS queries that are longer than average, or those that have a suspicious domain name..</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118"/>
        <p:cNvGrpSpPr/>
        <p:nvPr/>
      </p:nvGrpSpPr>
      <p:grpSpPr>
        <a:xfrm>
          <a:off x="0" y="0"/>
          <a:ext cx="0" cy="0"/>
          <a:chOff x="0" y="0"/>
          <a:chExt cx="0" cy="0"/>
        </a:xfrm>
      </p:grpSpPr>
      <p:sp>
        <p:nvSpPr>
          <p:cNvPr id="1119" name="Google Shape;1119;p62"/>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dirty="0"/>
              <a:t>IP Services</a:t>
            </a:r>
            <a:br>
              <a:rPr lang="en-US" dirty="0"/>
            </a:br>
            <a:r>
              <a:rPr lang="en-US" sz="2400" dirty="0"/>
              <a:t>DHCP </a:t>
            </a:r>
            <a:r>
              <a:rPr lang="en-US" sz="2400" dirty="0">
                <a:solidFill>
                  <a:schemeClr val="tx1"/>
                </a:solidFill>
              </a:rPr>
              <a:t>(</a:t>
            </a:r>
            <a:r>
              <a:rPr lang="en-US" sz="2400" dirty="0">
                <a:solidFill>
                  <a:srgbClr val="000000"/>
                </a:solidFill>
              </a:rPr>
              <a:t>Dynamic Host Configuration Protocol )</a:t>
            </a:r>
            <a:endParaRPr sz="2400" dirty="0"/>
          </a:p>
        </p:txBody>
      </p:sp>
      <p:sp>
        <p:nvSpPr>
          <p:cNvPr id="1120" name="Google Shape;1120;p62"/>
          <p:cNvSpPr txBox="1">
            <a:spLocks noGrp="1"/>
          </p:cNvSpPr>
          <p:nvPr>
            <p:ph type="body" idx="1"/>
          </p:nvPr>
        </p:nvSpPr>
        <p:spPr>
          <a:xfrm>
            <a:off x="474662" y="731837"/>
            <a:ext cx="4013201" cy="3689897"/>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600"/>
              <a:buFont typeface="Arial"/>
              <a:buChar char="•"/>
            </a:pPr>
            <a:r>
              <a:rPr lang="en-US" sz="1600" dirty="0">
                <a:solidFill>
                  <a:srgbClr val="000000"/>
                </a:solidFill>
              </a:rPr>
              <a:t>DHCP servers dynamically provide IP configuration information to clients. </a:t>
            </a:r>
            <a:endParaRPr dirty="0"/>
          </a:p>
          <a:p>
            <a:pPr marL="342900" lvl="0" indent="-342900" algn="l" rtl="0">
              <a:lnSpc>
                <a:spcPct val="100000"/>
              </a:lnSpc>
              <a:spcBef>
                <a:spcPts val="320"/>
              </a:spcBef>
              <a:spcAft>
                <a:spcPts val="0"/>
              </a:spcAft>
              <a:buSzPts val="1600"/>
              <a:buFont typeface="Arial"/>
              <a:buChar char="•"/>
            </a:pPr>
            <a:r>
              <a:rPr lang="en-US" sz="1600" dirty="0">
                <a:solidFill>
                  <a:srgbClr val="000000"/>
                </a:solidFill>
              </a:rPr>
              <a:t>In the figure, a client broadcasts a DHCP discover message. The DHCP responds with a unicast offer that includes addressing information the client can use. The client broadcasts a DHCP request to tell the server that the client accepts the offer. The server responds with a unicast acknowledgment accepting the request.</a:t>
            </a:r>
            <a:endParaRPr dirty="0"/>
          </a:p>
        </p:txBody>
      </p:sp>
      <p:pic>
        <p:nvPicPr>
          <p:cNvPr id="1121" name="Google Shape;1121;p62"/>
          <p:cNvPicPr preferRelativeResize="0"/>
          <p:nvPr/>
        </p:nvPicPr>
        <p:blipFill rotWithShape="1">
          <a:blip r:embed="rId3">
            <a:alphaModFix/>
          </a:blip>
          <a:srcRect/>
          <a:stretch/>
        </p:blipFill>
        <p:spPr>
          <a:xfrm>
            <a:off x="4645392" y="1198834"/>
            <a:ext cx="4184357" cy="287343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126"/>
        <p:cNvGrpSpPr/>
        <p:nvPr/>
      </p:nvGrpSpPr>
      <p:grpSpPr>
        <a:xfrm>
          <a:off x="0" y="0"/>
          <a:ext cx="0" cy="0"/>
          <a:chOff x="0" y="0"/>
          <a:chExt cx="0" cy="0"/>
        </a:xfrm>
      </p:grpSpPr>
      <p:sp>
        <p:nvSpPr>
          <p:cNvPr id="1127" name="Google Shape;1127;p63"/>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IP Services</a:t>
            </a:r>
            <a:br>
              <a:rPr lang="en-US"/>
            </a:br>
            <a:r>
              <a:rPr lang="en-US" sz="2400"/>
              <a:t>DHCP Attacks</a:t>
            </a:r>
            <a:endParaRPr/>
          </a:p>
        </p:txBody>
      </p:sp>
      <p:sp>
        <p:nvSpPr>
          <p:cNvPr id="1128" name="Google Shape;1128;p63"/>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600"/>
              <a:buFont typeface="Arial"/>
              <a:buChar char="•"/>
            </a:pPr>
            <a:r>
              <a:rPr lang="en-US" sz="1600" dirty="0">
                <a:solidFill>
                  <a:srgbClr val="000000"/>
                </a:solidFill>
              </a:rPr>
              <a:t>A </a:t>
            </a:r>
            <a:r>
              <a:rPr lang="en-US" sz="1600" b="1" dirty="0">
                <a:solidFill>
                  <a:srgbClr val="FF0000"/>
                </a:solidFill>
              </a:rPr>
              <a:t>DHCP spoofing attack </a:t>
            </a:r>
            <a:r>
              <a:rPr lang="en-US" sz="1600" dirty="0">
                <a:solidFill>
                  <a:srgbClr val="000000"/>
                </a:solidFill>
              </a:rPr>
              <a:t>occurs when a rogue DHCP server is connected to the network and provides false IP configuration parameters to legitimate clients. </a:t>
            </a:r>
          </a:p>
          <a:p>
            <a:pPr marL="342900" lvl="0" indent="-342900" algn="l" rtl="0">
              <a:lnSpc>
                <a:spcPct val="100000"/>
              </a:lnSpc>
              <a:spcBef>
                <a:spcPts val="0"/>
              </a:spcBef>
              <a:spcAft>
                <a:spcPts val="0"/>
              </a:spcAft>
              <a:buSzPts val="1600"/>
              <a:buFont typeface="Arial"/>
              <a:buChar char="•"/>
            </a:pPr>
            <a:endParaRPr lang="en-US" sz="1600" dirty="0">
              <a:solidFill>
                <a:srgbClr val="000000"/>
              </a:solidFill>
            </a:endParaRPr>
          </a:p>
          <a:p>
            <a:pPr marL="342900" lvl="0" indent="-342900" algn="l" rtl="0">
              <a:lnSpc>
                <a:spcPct val="100000"/>
              </a:lnSpc>
              <a:spcBef>
                <a:spcPts val="0"/>
              </a:spcBef>
              <a:spcAft>
                <a:spcPts val="0"/>
              </a:spcAft>
              <a:buSzPts val="1600"/>
              <a:buFont typeface="Arial"/>
              <a:buChar char="•"/>
            </a:pPr>
            <a:r>
              <a:rPr lang="en-US" sz="1600" dirty="0">
                <a:solidFill>
                  <a:srgbClr val="000000"/>
                </a:solidFill>
              </a:rPr>
              <a:t>A </a:t>
            </a:r>
            <a:r>
              <a:rPr lang="en-US" sz="1600" dirty="0">
                <a:solidFill>
                  <a:srgbClr val="FF0000"/>
                </a:solidFill>
              </a:rPr>
              <a:t>rogue server </a:t>
            </a:r>
            <a:r>
              <a:rPr lang="en-US" sz="1600" dirty="0">
                <a:solidFill>
                  <a:srgbClr val="000000"/>
                </a:solidFill>
              </a:rPr>
              <a:t>can provide a variety of misleading information:</a:t>
            </a:r>
            <a:endParaRPr dirty="0"/>
          </a:p>
          <a:p>
            <a:pPr marL="415984" lvl="1" indent="-342899" algn="l" rtl="0">
              <a:lnSpc>
                <a:spcPct val="95000"/>
              </a:lnSpc>
              <a:spcBef>
                <a:spcPts val="600"/>
              </a:spcBef>
              <a:spcAft>
                <a:spcPts val="0"/>
              </a:spcAft>
              <a:buSzPts val="1600"/>
              <a:buFont typeface="Arial"/>
              <a:buChar char="•"/>
            </a:pPr>
            <a:r>
              <a:rPr lang="en-US" sz="1600" b="1" dirty="0">
                <a:solidFill>
                  <a:srgbClr val="000000"/>
                </a:solidFill>
              </a:rPr>
              <a:t>Wrong default gateway</a:t>
            </a:r>
            <a:r>
              <a:rPr lang="en-US" sz="1600" dirty="0">
                <a:solidFill>
                  <a:srgbClr val="000000"/>
                </a:solidFill>
              </a:rPr>
              <a:t> - Threat actor provides an invalid gateway, or the IP address of its host to create a MITM attack. This may go entirely undetected as the intruder intercepts the data flow through the network.</a:t>
            </a:r>
            <a:endParaRPr dirty="0"/>
          </a:p>
          <a:p>
            <a:pPr marL="415984" lvl="1" indent="-342899" algn="l" rtl="0">
              <a:lnSpc>
                <a:spcPct val="95000"/>
              </a:lnSpc>
              <a:spcBef>
                <a:spcPts val="600"/>
              </a:spcBef>
              <a:spcAft>
                <a:spcPts val="0"/>
              </a:spcAft>
              <a:buSzPts val="1600"/>
              <a:buFont typeface="Arial"/>
              <a:buChar char="•"/>
            </a:pPr>
            <a:r>
              <a:rPr lang="en-US" sz="1600" b="1" dirty="0">
                <a:solidFill>
                  <a:srgbClr val="000000"/>
                </a:solidFill>
              </a:rPr>
              <a:t>Wrong DNS server</a:t>
            </a:r>
            <a:r>
              <a:rPr lang="en-US" sz="1600" dirty="0">
                <a:solidFill>
                  <a:srgbClr val="000000"/>
                </a:solidFill>
              </a:rPr>
              <a:t> - Threat actor provides an incorrect DNS server address pointing the user to a malicious website.</a:t>
            </a:r>
            <a:endParaRPr dirty="0"/>
          </a:p>
          <a:p>
            <a:pPr marL="415984" lvl="1" indent="-342899" algn="l" rtl="0">
              <a:lnSpc>
                <a:spcPct val="95000"/>
              </a:lnSpc>
              <a:spcBef>
                <a:spcPts val="600"/>
              </a:spcBef>
              <a:spcAft>
                <a:spcPts val="0"/>
              </a:spcAft>
              <a:buSzPts val="1600"/>
              <a:buFont typeface="Arial"/>
              <a:buChar char="•"/>
            </a:pPr>
            <a:r>
              <a:rPr lang="en-US" sz="1600" b="1" dirty="0">
                <a:solidFill>
                  <a:srgbClr val="000000"/>
                </a:solidFill>
              </a:rPr>
              <a:t>Wrong IP address</a:t>
            </a:r>
            <a:r>
              <a:rPr lang="en-US" sz="1600" dirty="0">
                <a:solidFill>
                  <a:srgbClr val="000000"/>
                </a:solidFill>
              </a:rPr>
              <a:t> - Threat actor provides an invalid IP address, invalid default gateway IP address, or both. The threat actor then creates a DoS attack on the DHCP client.</a:t>
            </a:r>
            <a:endParaRPr dirty="0"/>
          </a:p>
          <a:p>
            <a:pPr marL="0" lvl="0" indent="0" algn="l" rtl="0">
              <a:lnSpc>
                <a:spcPct val="100000"/>
              </a:lnSpc>
              <a:spcBef>
                <a:spcPts val="320"/>
              </a:spcBef>
              <a:spcAft>
                <a:spcPts val="0"/>
              </a:spcAft>
              <a:buSzPts val="1600"/>
              <a:buNone/>
            </a:pPr>
            <a:endParaRPr sz="1600" dirty="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133"/>
        <p:cNvGrpSpPr/>
        <p:nvPr/>
      </p:nvGrpSpPr>
      <p:grpSpPr>
        <a:xfrm>
          <a:off x="0" y="0"/>
          <a:ext cx="0" cy="0"/>
          <a:chOff x="0" y="0"/>
          <a:chExt cx="0" cy="0"/>
        </a:xfrm>
      </p:grpSpPr>
      <p:sp>
        <p:nvSpPr>
          <p:cNvPr id="1134" name="Google Shape;1134;p64"/>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IP Services</a:t>
            </a:r>
            <a:br>
              <a:rPr lang="en-US"/>
            </a:br>
            <a:r>
              <a:rPr lang="en-US" sz="2400"/>
              <a:t>DHCP Attacks (Cont.)</a:t>
            </a:r>
            <a:endParaRPr/>
          </a:p>
        </p:txBody>
      </p:sp>
      <p:sp>
        <p:nvSpPr>
          <p:cNvPr id="1135" name="Google Shape;1135;p64"/>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dirty="0">
                <a:solidFill>
                  <a:srgbClr val="000000"/>
                </a:solidFill>
              </a:rPr>
              <a:t>Assume a threat actor has successfully connected a </a:t>
            </a:r>
            <a:r>
              <a:rPr lang="en-US" sz="1600" dirty="0">
                <a:solidFill>
                  <a:srgbClr val="FF0000"/>
                </a:solidFill>
              </a:rPr>
              <a:t>rogue DHCP server</a:t>
            </a:r>
            <a:r>
              <a:rPr lang="en-US" sz="1600" dirty="0">
                <a:solidFill>
                  <a:srgbClr val="000000"/>
                </a:solidFill>
              </a:rPr>
              <a:t> to a switch port on the same subnet as the target clients. The goal of the rogue server is to provide clients with </a:t>
            </a:r>
            <a:r>
              <a:rPr lang="en-US" sz="1600" dirty="0">
                <a:solidFill>
                  <a:srgbClr val="FF0000"/>
                </a:solidFill>
              </a:rPr>
              <a:t>false IP configuration information</a:t>
            </a:r>
            <a:r>
              <a:rPr lang="en-US" sz="1600" dirty="0">
                <a:solidFill>
                  <a:srgbClr val="000000"/>
                </a:solidFill>
              </a:rPr>
              <a:t>.</a:t>
            </a:r>
            <a:endParaRPr dirty="0"/>
          </a:p>
          <a:p>
            <a:pPr marL="342900" lvl="0" indent="-342900" algn="l" rtl="0">
              <a:lnSpc>
                <a:spcPct val="100000"/>
              </a:lnSpc>
              <a:spcBef>
                <a:spcPts val="320"/>
              </a:spcBef>
              <a:spcAft>
                <a:spcPts val="0"/>
              </a:spcAft>
              <a:buSzPts val="1600"/>
              <a:buFont typeface="Arial"/>
              <a:buAutoNum type="arabicPeriod"/>
            </a:pPr>
            <a:r>
              <a:rPr lang="en-US" sz="1600" dirty="0">
                <a:solidFill>
                  <a:srgbClr val="000000"/>
                </a:solidFill>
              </a:rPr>
              <a:t>The client broadcasts a DHCP Discover request looking for a response from a DHCP server. Both servers receive the message.</a:t>
            </a:r>
            <a:endParaRPr dirty="0"/>
          </a:p>
          <a:p>
            <a:pPr marL="342900" lvl="0" indent="-342900" algn="l" rtl="0">
              <a:lnSpc>
                <a:spcPct val="100000"/>
              </a:lnSpc>
              <a:spcBef>
                <a:spcPts val="320"/>
              </a:spcBef>
              <a:spcAft>
                <a:spcPts val="0"/>
              </a:spcAft>
              <a:buSzPts val="1600"/>
              <a:buFont typeface="Arial"/>
              <a:buAutoNum type="arabicPeriod"/>
            </a:pPr>
            <a:r>
              <a:rPr lang="en-US" sz="1600" dirty="0">
                <a:solidFill>
                  <a:srgbClr val="000000"/>
                </a:solidFill>
              </a:rPr>
              <a:t>The legitimate and rogue DHCP servers each respond with valid IP configuration parameters. The client replies to the first offer received</a:t>
            </a:r>
            <a:endParaRPr dirty="0"/>
          </a:p>
          <a:p>
            <a:pPr marL="342900" lvl="0" indent="-342900" algn="l" rtl="0">
              <a:lnSpc>
                <a:spcPct val="100000"/>
              </a:lnSpc>
              <a:spcBef>
                <a:spcPts val="320"/>
              </a:spcBef>
              <a:spcAft>
                <a:spcPts val="0"/>
              </a:spcAft>
              <a:buSzPts val="1600"/>
              <a:buFont typeface="Arial"/>
              <a:buAutoNum type="arabicPeriod"/>
            </a:pPr>
            <a:r>
              <a:rPr lang="en-US" sz="1600" dirty="0">
                <a:solidFill>
                  <a:srgbClr val="000000"/>
                </a:solidFill>
              </a:rPr>
              <a:t>The client received the rogue offer first. It broadcasts a DHCP request accepting the parameters from the rogue server. The legitimate and rogue server each receive the request.</a:t>
            </a:r>
            <a:endParaRPr dirty="0"/>
          </a:p>
          <a:p>
            <a:pPr marL="342900" lvl="0" indent="-342900" algn="l" rtl="0">
              <a:lnSpc>
                <a:spcPct val="100000"/>
              </a:lnSpc>
              <a:spcBef>
                <a:spcPts val="320"/>
              </a:spcBef>
              <a:spcAft>
                <a:spcPts val="0"/>
              </a:spcAft>
              <a:buSzPts val="1600"/>
              <a:buFont typeface="Arial"/>
              <a:buAutoNum type="arabicPeriod"/>
            </a:pPr>
            <a:r>
              <a:rPr lang="en-US" sz="1600" dirty="0">
                <a:solidFill>
                  <a:srgbClr val="000000"/>
                </a:solidFill>
              </a:rPr>
              <a:t>Only the rogue server unicasts a reply to the client to acknowledge its request. The legitimate server stops communicating with the client because the request has already been acknowledged.</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140"/>
        <p:cNvGrpSpPr/>
        <p:nvPr/>
      </p:nvGrpSpPr>
      <p:grpSpPr>
        <a:xfrm>
          <a:off x="0" y="0"/>
          <a:ext cx="0" cy="0"/>
          <a:chOff x="0" y="0"/>
          <a:chExt cx="0" cy="0"/>
        </a:xfrm>
      </p:grpSpPr>
      <p:sp>
        <p:nvSpPr>
          <p:cNvPr id="1141" name="Google Shape;1141;p65"/>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IP Services</a:t>
            </a:r>
            <a:br>
              <a:rPr lang="en-US"/>
            </a:br>
            <a:r>
              <a:rPr lang="en-US" sz="2400"/>
              <a:t>Lab – Explore DNS Traffic</a:t>
            </a:r>
            <a:endParaRPr/>
          </a:p>
        </p:txBody>
      </p:sp>
      <p:sp>
        <p:nvSpPr>
          <p:cNvPr id="1142" name="Google Shape;1142;p65"/>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2000"/>
              <a:buNone/>
            </a:pPr>
            <a:r>
              <a:rPr lang="en-US">
                <a:solidFill>
                  <a:srgbClr val="000000"/>
                </a:solidFill>
              </a:rPr>
              <a:t>In this lab, you will complete the following objectives:</a:t>
            </a:r>
            <a:endParaRPr/>
          </a:p>
          <a:p>
            <a:pPr marL="342900" lvl="0" indent="-342900" algn="l" rtl="0">
              <a:lnSpc>
                <a:spcPct val="100000"/>
              </a:lnSpc>
              <a:spcBef>
                <a:spcPts val="400"/>
              </a:spcBef>
              <a:spcAft>
                <a:spcPts val="0"/>
              </a:spcAft>
              <a:buSzPts val="2000"/>
              <a:buFont typeface="Arial"/>
              <a:buChar char="•"/>
            </a:pPr>
            <a:r>
              <a:rPr lang="en-US">
                <a:solidFill>
                  <a:srgbClr val="000000"/>
                </a:solidFill>
              </a:rPr>
              <a:t>Capture DNS Traffic</a:t>
            </a:r>
            <a:endParaRPr/>
          </a:p>
          <a:p>
            <a:pPr marL="342900" lvl="0" indent="-342900" algn="l" rtl="0">
              <a:lnSpc>
                <a:spcPct val="100000"/>
              </a:lnSpc>
              <a:spcBef>
                <a:spcPts val="400"/>
              </a:spcBef>
              <a:spcAft>
                <a:spcPts val="0"/>
              </a:spcAft>
              <a:buSzPts val="2000"/>
              <a:buFont typeface="Arial"/>
              <a:buChar char="•"/>
            </a:pPr>
            <a:r>
              <a:rPr lang="en-US">
                <a:solidFill>
                  <a:srgbClr val="000000"/>
                </a:solidFill>
              </a:rPr>
              <a:t>Explore DNS Query Traffic</a:t>
            </a:r>
            <a:endParaRPr/>
          </a:p>
          <a:p>
            <a:pPr marL="342900" lvl="0" indent="-342900" algn="l" rtl="0">
              <a:lnSpc>
                <a:spcPct val="100000"/>
              </a:lnSpc>
              <a:spcBef>
                <a:spcPts val="400"/>
              </a:spcBef>
              <a:spcAft>
                <a:spcPts val="0"/>
              </a:spcAft>
              <a:buSzPts val="2000"/>
              <a:buFont typeface="Arial"/>
              <a:buChar char="•"/>
            </a:pPr>
            <a:r>
              <a:rPr lang="en-US">
                <a:solidFill>
                  <a:srgbClr val="000000"/>
                </a:solidFill>
              </a:rPr>
              <a:t>Explore DNS Response Traffic</a:t>
            </a:r>
            <a:endParaRPr/>
          </a:p>
          <a:p>
            <a:pPr marL="342900" lvl="0" indent="-215900" algn="l" rtl="0">
              <a:lnSpc>
                <a:spcPct val="100000"/>
              </a:lnSpc>
              <a:spcBef>
                <a:spcPts val="400"/>
              </a:spcBef>
              <a:spcAft>
                <a:spcPts val="0"/>
              </a:spcAft>
              <a:buSzPts val="2000"/>
              <a:buFont typeface="Arial"/>
              <a:buNone/>
            </a:pPr>
            <a:endParaRPr>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147"/>
        <p:cNvGrpSpPr/>
        <p:nvPr/>
      </p:nvGrpSpPr>
      <p:grpSpPr>
        <a:xfrm>
          <a:off x="0" y="0"/>
          <a:ext cx="0" cy="0"/>
          <a:chOff x="0" y="0"/>
          <a:chExt cx="0" cy="0"/>
        </a:xfrm>
      </p:grpSpPr>
      <p:sp>
        <p:nvSpPr>
          <p:cNvPr id="1148" name="Google Shape;1148;p66"/>
          <p:cNvSpPr txBox="1">
            <a:spLocks noGrp="1"/>
          </p:cNvSpPr>
          <p:nvPr>
            <p:ph type="ctrTitle"/>
          </p:nvPr>
        </p:nvSpPr>
        <p:spPr>
          <a:xfrm>
            <a:off x="416425" y="1788160"/>
            <a:ext cx="7848344" cy="929640"/>
          </a:xfrm>
          <a:prstGeom prst="rect">
            <a:avLst/>
          </a:prstGeom>
          <a:noFill/>
          <a:ln>
            <a:noFill/>
          </a:ln>
        </p:spPr>
        <p:txBody>
          <a:bodyPr spcFirstLastPara="1" wrap="square" lIns="91400" tIns="45700" rIns="91400" bIns="45700" anchor="b" anchorCtr="0">
            <a:noAutofit/>
          </a:bodyPr>
          <a:lstStyle/>
          <a:p>
            <a:pPr marL="0" lvl="0" indent="0" algn="l" rtl="0">
              <a:lnSpc>
                <a:spcPct val="90000"/>
              </a:lnSpc>
              <a:spcBef>
                <a:spcPts val="0"/>
              </a:spcBef>
              <a:spcAft>
                <a:spcPts val="0"/>
              </a:spcAft>
              <a:buClr>
                <a:srgbClr val="AEE8FA"/>
              </a:buClr>
              <a:buSzPts val="4600"/>
              <a:buFont typeface="Arial"/>
              <a:buNone/>
            </a:pPr>
            <a:r>
              <a:rPr lang="en-US">
                <a:solidFill>
                  <a:srgbClr val="AEE8FA"/>
                </a:solidFill>
              </a:rPr>
              <a:t>3.9 Network Security Best Practices</a:t>
            </a:r>
            <a:endParaRPr/>
          </a:p>
        </p:txBody>
      </p:sp>
    </p:spTree>
  </p:cSld>
  <p:clrMapOvr>
    <a:masterClrMapping/>
  </p:clrMapOvr>
  <p:transition spd="slow">
    <p:wip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153"/>
        <p:cNvGrpSpPr/>
        <p:nvPr/>
      </p:nvGrpSpPr>
      <p:grpSpPr>
        <a:xfrm>
          <a:off x="0" y="0"/>
          <a:ext cx="0" cy="0"/>
          <a:chOff x="0" y="0"/>
          <a:chExt cx="0" cy="0"/>
        </a:xfrm>
      </p:grpSpPr>
      <p:sp>
        <p:nvSpPr>
          <p:cNvPr id="1154" name="Google Shape;1154;p67"/>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Network Security Best Practices</a:t>
            </a:r>
            <a:br>
              <a:rPr lang="en-US"/>
            </a:br>
            <a:r>
              <a:rPr lang="en-US" sz="2400"/>
              <a:t>Confidentiality, Availability, and Integrity</a:t>
            </a:r>
            <a:endParaRPr/>
          </a:p>
        </p:txBody>
      </p:sp>
      <p:sp>
        <p:nvSpPr>
          <p:cNvPr id="1155" name="Google Shape;1155;p67"/>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600"/>
              <a:buFont typeface="Arial"/>
              <a:buChar char="•"/>
            </a:pPr>
            <a:r>
              <a:rPr lang="en-US" sz="1600">
                <a:solidFill>
                  <a:srgbClr val="000000"/>
                </a:solidFill>
              </a:rPr>
              <a:t>Network security consists of protecting information and information systems from unauthorized access, use, disclosure, disruption, modification, or destruction.</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Most organizations follow the CIA information security triad:</a:t>
            </a:r>
            <a:endParaRPr/>
          </a:p>
          <a:p>
            <a:pPr marL="415984" lvl="1" indent="-342899" algn="l" rtl="0">
              <a:lnSpc>
                <a:spcPct val="95000"/>
              </a:lnSpc>
              <a:spcBef>
                <a:spcPts val="600"/>
              </a:spcBef>
              <a:spcAft>
                <a:spcPts val="0"/>
              </a:spcAft>
              <a:buSzPts val="1600"/>
              <a:buFont typeface="Arial"/>
              <a:buChar char="•"/>
            </a:pPr>
            <a:r>
              <a:rPr lang="en-US" sz="1600" b="1">
                <a:solidFill>
                  <a:srgbClr val="000000"/>
                </a:solidFill>
              </a:rPr>
              <a:t>Confidentiality</a:t>
            </a:r>
            <a:r>
              <a:rPr lang="en-US" sz="1600">
                <a:solidFill>
                  <a:srgbClr val="000000"/>
                </a:solidFill>
              </a:rPr>
              <a:t> - Only authorized individuals, entities, or processes can access sensitive information. It may require using cryptographic encryption algorithms such as AES to encrypt and decrypt data.</a:t>
            </a:r>
            <a:endParaRPr/>
          </a:p>
          <a:p>
            <a:pPr marL="415984" lvl="1" indent="-342899" algn="l" rtl="0">
              <a:lnSpc>
                <a:spcPct val="95000"/>
              </a:lnSpc>
              <a:spcBef>
                <a:spcPts val="600"/>
              </a:spcBef>
              <a:spcAft>
                <a:spcPts val="0"/>
              </a:spcAft>
              <a:buSzPts val="1600"/>
              <a:buFont typeface="Arial"/>
              <a:buChar char="•"/>
            </a:pPr>
            <a:r>
              <a:rPr lang="en-US" sz="1600" b="1">
                <a:solidFill>
                  <a:srgbClr val="000000"/>
                </a:solidFill>
              </a:rPr>
              <a:t>Integrity</a:t>
            </a:r>
            <a:r>
              <a:rPr lang="en-US" sz="1600">
                <a:solidFill>
                  <a:srgbClr val="000000"/>
                </a:solidFill>
              </a:rPr>
              <a:t> - Refers to protecting data from unauthorized alteration. It requires the use of cryptographic hashing algorithms such as SHA.</a:t>
            </a:r>
            <a:endParaRPr/>
          </a:p>
          <a:p>
            <a:pPr marL="415984" lvl="1" indent="-342899" algn="l" rtl="0">
              <a:lnSpc>
                <a:spcPct val="95000"/>
              </a:lnSpc>
              <a:spcBef>
                <a:spcPts val="600"/>
              </a:spcBef>
              <a:spcAft>
                <a:spcPts val="0"/>
              </a:spcAft>
              <a:buSzPts val="1600"/>
              <a:buFont typeface="Arial"/>
              <a:buChar char="•"/>
            </a:pPr>
            <a:r>
              <a:rPr lang="en-US" sz="1600" b="1">
                <a:solidFill>
                  <a:srgbClr val="000000"/>
                </a:solidFill>
              </a:rPr>
              <a:t>Availability</a:t>
            </a:r>
            <a:r>
              <a:rPr lang="en-US" sz="1600">
                <a:solidFill>
                  <a:srgbClr val="000000"/>
                </a:solidFill>
              </a:rPr>
              <a:t> - Authorized users must have uninterrupted access to important resources and data. It requires implementing redundant services, gateways, and links.</a:t>
            </a:r>
            <a:endParaRPr/>
          </a:p>
          <a:p>
            <a:pPr marL="342900" lvl="0" indent="-241300" algn="l" rtl="0">
              <a:lnSpc>
                <a:spcPct val="100000"/>
              </a:lnSpc>
              <a:spcBef>
                <a:spcPts val="320"/>
              </a:spcBef>
              <a:spcAft>
                <a:spcPts val="0"/>
              </a:spcAft>
              <a:buSzPts val="1600"/>
              <a:buFont typeface="Arial"/>
              <a:buNone/>
            </a:pPr>
            <a:endParaRPr sz="16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160"/>
        <p:cNvGrpSpPr/>
        <p:nvPr/>
      </p:nvGrpSpPr>
      <p:grpSpPr>
        <a:xfrm>
          <a:off x="0" y="0"/>
          <a:ext cx="0" cy="0"/>
          <a:chOff x="0" y="0"/>
          <a:chExt cx="0" cy="0"/>
        </a:xfrm>
      </p:grpSpPr>
      <p:sp>
        <p:nvSpPr>
          <p:cNvPr id="1161" name="Google Shape;1161;p68"/>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Network Security Best Practices</a:t>
            </a:r>
            <a:br>
              <a:rPr lang="en-US"/>
            </a:br>
            <a:r>
              <a:rPr lang="en-US" sz="2400"/>
              <a:t>The Defense-in-Depth Approach</a:t>
            </a:r>
            <a:endParaRPr/>
          </a:p>
        </p:txBody>
      </p:sp>
      <p:sp>
        <p:nvSpPr>
          <p:cNvPr id="1162" name="Google Shape;1162;p68"/>
          <p:cNvSpPr txBox="1">
            <a:spLocks noGrp="1"/>
          </p:cNvSpPr>
          <p:nvPr>
            <p:ph type="body" idx="1"/>
          </p:nvPr>
        </p:nvSpPr>
        <p:spPr>
          <a:xfrm>
            <a:off x="243840" y="731837"/>
            <a:ext cx="8717280" cy="4411663"/>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600"/>
              <a:buFont typeface="Arial"/>
              <a:buChar char="•"/>
            </a:pPr>
            <a:r>
              <a:rPr lang="en-US" sz="1600">
                <a:solidFill>
                  <a:srgbClr val="000000"/>
                </a:solidFill>
              </a:rPr>
              <a:t>To ensure secure communications across both public and private networks, you must secure devices including routers, switches, servers, and hosts. Most organizations employ a defense-in-depth approach to security. It requires a combination of networking devices and services working together.</a:t>
            </a:r>
            <a:endParaRPr/>
          </a:p>
          <a:p>
            <a:pPr marL="0" lvl="0" indent="0" algn="l" rtl="0">
              <a:lnSpc>
                <a:spcPct val="100000"/>
              </a:lnSpc>
              <a:spcBef>
                <a:spcPts val="320"/>
              </a:spcBef>
              <a:spcAft>
                <a:spcPts val="0"/>
              </a:spcAft>
              <a:buSzPts val="1600"/>
              <a:buNone/>
            </a:pPr>
            <a:r>
              <a:rPr lang="en-US" sz="1600">
                <a:solidFill>
                  <a:srgbClr val="000000"/>
                </a:solidFill>
              </a:rPr>
              <a:t>1. Several security devices and services are implemented.</a:t>
            </a:r>
            <a:endParaRPr/>
          </a:p>
          <a:p>
            <a:pPr marL="415984" lvl="1" indent="-342899" algn="l" rtl="0">
              <a:lnSpc>
                <a:spcPct val="95000"/>
              </a:lnSpc>
              <a:spcBef>
                <a:spcPts val="600"/>
              </a:spcBef>
              <a:spcAft>
                <a:spcPts val="0"/>
              </a:spcAft>
              <a:buSzPts val="1200"/>
              <a:buFont typeface="Arial"/>
              <a:buChar char="•"/>
            </a:pPr>
            <a:r>
              <a:rPr lang="en-US" sz="1200" b="1">
                <a:solidFill>
                  <a:srgbClr val="000000"/>
                </a:solidFill>
              </a:rPr>
              <a:t>VPN</a:t>
            </a:r>
            <a:r>
              <a:rPr lang="en-US" sz="1200">
                <a:solidFill>
                  <a:srgbClr val="000000"/>
                </a:solidFill>
              </a:rPr>
              <a:t>  </a:t>
            </a:r>
            <a:endParaRPr/>
          </a:p>
          <a:p>
            <a:pPr marL="415984" lvl="1" indent="-342899" algn="l" rtl="0">
              <a:lnSpc>
                <a:spcPct val="95000"/>
              </a:lnSpc>
              <a:spcBef>
                <a:spcPts val="600"/>
              </a:spcBef>
              <a:spcAft>
                <a:spcPts val="0"/>
              </a:spcAft>
              <a:buSzPts val="1200"/>
              <a:buFont typeface="Arial"/>
              <a:buChar char="•"/>
            </a:pPr>
            <a:r>
              <a:rPr lang="en-US" sz="1200" b="1">
                <a:solidFill>
                  <a:srgbClr val="000000"/>
                </a:solidFill>
              </a:rPr>
              <a:t>ASA Firewall</a:t>
            </a:r>
            <a:endParaRPr sz="1200">
              <a:solidFill>
                <a:srgbClr val="000000"/>
              </a:solidFill>
            </a:endParaRPr>
          </a:p>
          <a:p>
            <a:pPr marL="415984" lvl="1" indent="-342899" algn="l" rtl="0">
              <a:lnSpc>
                <a:spcPct val="95000"/>
              </a:lnSpc>
              <a:spcBef>
                <a:spcPts val="600"/>
              </a:spcBef>
              <a:spcAft>
                <a:spcPts val="0"/>
              </a:spcAft>
              <a:buSzPts val="1200"/>
              <a:buFont typeface="Arial"/>
              <a:buChar char="•"/>
            </a:pPr>
            <a:r>
              <a:rPr lang="en-US" sz="1200" b="1">
                <a:solidFill>
                  <a:srgbClr val="000000"/>
                </a:solidFill>
              </a:rPr>
              <a:t>IPS</a:t>
            </a:r>
            <a:endParaRPr sz="1200">
              <a:solidFill>
                <a:srgbClr val="000000"/>
              </a:solidFill>
            </a:endParaRPr>
          </a:p>
          <a:p>
            <a:pPr marL="415984" lvl="1" indent="-342899" algn="l" rtl="0">
              <a:lnSpc>
                <a:spcPct val="95000"/>
              </a:lnSpc>
              <a:spcBef>
                <a:spcPts val="600"/>
              </a:spcBef>
              <a:spcAft>
                <a:spcPts val="0"/>
              </a:spcAft>
              <a:buSzPts val="1200"/>
              <a:buFont typeface="Arial"/>
              <a:buChar char="•"/>
            </a:pPr>
            <a:r>
              <a:rPr lang="en-US" sz="1200" b="1">
                <a:solidFill>
                  <a:srgbClr val="000000"/>
                </a:solidFill>
              </a:rPr>
              <a:t>ESA/WSA</a:t>
            </a:r>
            <a:endParaRPr sz="1200">
              <a:solidFill>
                <a:srgbClr val="000000"/>
              </a:solidFill>
            </a:endParaRPr>
          </a:p>
          <a:p>
            <a:pPr marL="415984" lvl="1" indent="-342899" algn="l" rtl="0">
              <a:lnSpc>
                <a:spcPct val="95000"/>
              </a:lnSpc>
              <a:spcBef>
                <a:spcPts val="600"/>
              </a:spcBef>
              <a:spcAft>
                <a:spcPts val="0"/>
              </a:spcAft>
              <a:buSzPts val="1200"/>
              <a:buFont typeface="Arial"/>
              <a:buChar char="•"/>
            </a:pPr>
            <a:r>
              <a:rPr lang="en-US" sz="1200" b="1">
                <a:solidFill>
                  <a:srgbClr val="000000"/>
                </a:solidFill>
              </a:rPr>
              <a:t>AAA Server</a:t>
            </a:r>
            <a:endParaRPr sz="1200">
              <a:solidFill>
                <a:srgbClr val="000000"/>
              </a:solidFill>
            </a:endParaRPr>
          </a:p>
          <a:p>
            <a:pPr marL="0" lvl="0" indent="0" algn="l" rtl="0">
              <a:lnSpc>
                <a:spcPct val="100000"/>
              </a:lnSpc>
              <a:spcBef>
                <a:spcPts val="360"/>
              </a:spcBef>
              <a:spcAft>
                <a:spcPts val="0"/>
              </a:spcAft>
              <a:buSzPts val="1600"/>
              <a:buNone/>
            </a:pPr>
            <a:r>
              <a:rPr lang="en-US" sz="1600">
                <a:solidFill>
                  <a:srgbClr val="000000"/>
                </a:solidFill>
              </a:rPr>
              <a:t>2. All network devices including the router and switches are hardened, </a:t>
            </a:r>
            <a:r>
              <a:rPr lang="en-US" sz="1800">
                <a:solidFill>
                  <a:srgbClr val="000000"/>
                </a:solidFill>
                <a:latin typeface="Times New Roman"/>
                <a:ea typeface="Times New Roman"/>
                <a:cs typeface="Times New Roman"/>
                <a:sym typeface="Times New Roman"/>
              </a:rPr>
              <a:t>which means that they have been secured to prevent threat actors from gaining access and tampering with the devices.</a:t>
            </a:r>
            <a:endParaRPr sz="1600">
              <a:solidFill>
                <a:srgbClr val="000000"/>
              </a:solidFill>
            </a:endParaRPr>
          </a:p>
          <a:p>
            <a:pPr marL="0" lvl="0" indent="0" algn="l" rtl="0">
              <a:lnSpc>
                <a:spcPct val="100000"/>
              </a:lnSpc>
              <a:spcBef>
                <a:spcPts val="360"/>
              </a:spcBef>
              <a:spcAft>
                <a:spcPts val="0"/>
              </a:spcAft>
              <a:buSzPts val="1600"/>
              <a:buNone/>
            </a:pPr>
            <a:r>
              <a:rPr lang="en-US" sz="1600">
                <a:solidFill>
                  <a:srgbClr val="000000"/>
                </a:solidFill>
              </a:rPr>
              <a:t>3. You must also secure data as it travels across various links. </a:t>
            </a:r>
            <a:r>
              <a:rPr lang="en-US" sz="1800">
                <a:solidFill>
                  <a:srgbClr val="000000"/>
                </a:solidFill>
                <a:latin typeface="Times New Roman"/>
                <a:ea typeface="Times New Roman"/>
                <a:cs typeface="Times New Roman"/>
                <a:sym typeface="Times New Roman"/>
              </a:rPr>
              <a:t>This may include internal traffic, but it is more important to protect the data that travels outside of the organization to branch sites, telecommuter sites, and partner sites.</a:t>
            </a:r>
            <a:endParaRPr sz="1800">
              <a:latin typeface="Times New Roman"/>
              <a:ea typeface="Times New Roman"/>
              <a:cs typeface="Times New Roman"/>
              <a:sym typeface="Times New Roman"/>
            </a:endParaRPr>
          </a:p>
          <a:p>
            <a:pPr marL="0" lvl="0" indent="0" algn="l" rtl="0">
              <a:lnSpc>
                <a:spcPct val="100000"/>
              </a:lnSpc>
              <a:spcBef>
                <a:spcPts val="320"/>
              </a:spcBef>
              <a:spcAft>
                <a:spcPts val="0"/>
              </a:spcAft>
              <a:buSzPts val="1600"/>
              <a:buNone/>
            </a:pPr>
            <a:endParaRPr sz="1600">
              <a:solidFill>
                <a:srgbClr val="000000"/>
              </a:solidFill>
            </a:endParaRPr>
          </a:p>
          <a:p>
            <a:pPr marL="244535" lvl="1" indent="-95250" algn="l" rtl="0">
              <a:lnSpc>
                <a:spcPct val="95000"/>
              </a:lnSpc>
              <a:spcBef>
                <a:spcPts val="600"/>
              </a:spcBef>
              <a:spcAft>
                <a:spcPts val="0"/>
              </a:spcAft>
              <a:buSzPts val="1200"/>
              <a:buNone/>
            </a:pPr>
            <a:endParaRPr sz="1200">
              <a:solidFill>
                <a:srgbClr val="000000"/>
              </a:solidFill>
            </a:endParaRPr>
          </a:p>
          <a:p>
            <a:pPr marL="342900" lvl="0" indent="-241300" algn="l" rtl="0">
              <a:lnSpc>
                <a:spcPct val="100000"/>
              </a:lnSpc>
              <a:spcBef>
                <a:spcPts val="320"/>
              </a:spcBef>
              <a:spcAft>
                <a:spcPts val="0"/>
              </a:spcAft>
              <a:buSzPts val="1600"/>
              <a:buFont typeface="Arial"/>
              <a:buNone/>
            </a:pPr>
            <a:endParaRPr sz="16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167"/>
        <p:cNvGrpSpPr/>
        <p:nvPr/>
      </p:nvGrpSpPr>
      <p:grpSpPr>
        <a:xfrm>
          <a:off x="0" y="0"/>
          <a:ext cx="0" cy="0"/>
          <a:chOff x="0" y="0"/>
          <a:chExt cx="0" cy="0"/>
        </a:xfrm>
      </p:grpSpPr>
      <p:sp>
        <p:nvSpPr>
          <p:cNvPr id="1168" name="Google Shape;1168;p69"/>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Network Security Best Practices</a:t>
            </a:r>
            <a:br>
              <a:rPr lang="en-US"/>
            </a:br>
            <a:r>
              <a:rPr lang="en-US" sz="2400"/>
              <a:t>Firewalls</a:t>
            </a:r>
            <a:endParaRPr/>
          </a:p>
        </p:txBody>
      </p:sp>
      <p:sp>
        <p:nvSpPr>
          <p:cNvPr id="1169" name="Google Shape;1169;p69"/>
          <p:cNvSpPr txBox="1">
            <a:spLocks noGrp="1"/>
          </p:cNvSpPr>
          <p:nvPr>
            <p:ph type="body" idx="1"/>
          </p:nvPr>
        </p:nvSpPr>
        <p:spPr>
          <a:xfrm>
            <a:off x="474662" y="731838"/>
            <a:ext cx="8280057" cy="648986"/>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600"/>
              <a:buNone/>
            </a:pPr>
            <a:r>
              <a:rPr lang="en-US" sz="1600">
                <a:solidFill>
                  <a:srgbClr val="000000"/>
                </a:solidFill>
              </a:rPr>
              <a:t>A firewall is a system, or group of systems, that enforces an access control policy between networks.</a:t>
            </a:r>
            <a:endParaRPr/>
          </a:p>
        </p:txBody>
      </p:sp>
      <p:pic>
        <p:nvPicPr>
          <p:cNvPr id="1170" name="Google Shape;1170;p69"/>
          <p:cNvPicPr preferRelativeResize="0"/>
          <p:nvPr/>
        </p:nvPicPr>
        <p:blipFill rotWithShape="1">
          <a:blip r:embed="rId3">
            <a:alphaModFix/>
          </a:blip>
          <a:srcRect/>
          <a:stretch/>
        </p:blipFill>
        <p:spPr>
          <a:xfrm>
            <a:off x="1753094" y="1433988"/>
            <a:ext cx="4839299" cy="304091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175"/>
        <p:cNvGrpSpPr/>
        <p:nvPr/>
      </p:nvGrpSpPr>
      <p:grpSpPr>
        <a:xfrm>
          <a:off x="0" y="0"/>
          <a:ext cx="0" cy="0"/>
          <a:chOff x="0" y="0"/>
          <a:chExt cx="0" cy="0"/>
        </a:xfrm>
      </p:grpSpPr>
      <p:sp>
        <p:nvSpPr>
          <p:cNvPr id="1176" name="Google Shape;1176;p70"/>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Network Security Best Practices</a:t>
            </a:r>
            <a:br>
              <a:rPr lang="en-US"/>
            </a:br>
            <a:r>
              <a:rPr lang="en-US" sz="2400"/>
              <a:t>IPS</a:t>
            </a:r>
            <a:endParaRPr/>
          </a:p>
        </p:txBody>
      </p:sp>
      <p:sp>
        <p:nvSpPr>
          <p:cNvPr id="1177" name="Google Shape;1177;p70"/>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600"/>
              <a:buFont typeface="Arial"/>
              <a:buChar char="•"/>
            </a:pPr>
            <a:r>
              <a:rPr lang="en-US" sz="1600">
                <a:solidFill>
                  <a:srgbClr val="000000"/>
                </a:solidFill>
              </a:rPr>
              <a:t>To defend against fast-moving and evolving attacks, you may need cost-effective detection and prevention systems integrated into the entry and exit points of the network.</a:t>
            </a:r>
            <a:endParaRPr/>
          </a:p>
          <a:p>
            <a:pPr marL="342900" lvl="0" indent="-342900" algn="l" rtl="0">
              <a:lnSpc>
                <a:spcPct val="100000"/>
              </a:lnSpc>
              <a:spcBef>
                <a:spcPts val="320"/>
              </a:spcBef>
              <a:spcAft>
                <a:spcPts val="0"/>
              </a:spcAft>
              <a:buSzPts val="1600"/>
              <a:buFont typeface="Arial"/>
              <a:buChar char="•"/>
            </a:pPr>
            <a:r>
              <a:rPr lang="en-US" sz="1600">
                <a:solidFill>
                  <a:srgbClr val="000000"/>
                </a:solidFill>
              </a:rPr>
              <a:t>IDS and IPS technologies share several characteristics. IDS and IPS technologies are both deployed as sensors. An IDS or IPS sensor can be in the form of several different devices:</a:t>
            </a:r>
            <a:endParaRPr/>
          </a:p>
          <a:p>
            <a:pPr marL="415984" lvl="1" indent="-342899" algn="l" rtl="0">
              <a:lnSpc>
                <a:spcPct val="95000"/>
              </a:lnSpc>
              <a:spcBef>
                <a:spcPts val="600"/>
              </a:spcBef>
              <a:spcAft>
                <a:spcPts val="0"/>
              </a:spcAft>
              <a:buSzPts val="1400"/>
              <a:buFont typeface="Arial"/>
              <a:buChar char="•"/>
            </a:pPr>
            <a:r>
              <a:rPr lang="en-US">
                <a:solidFill>
                  <a:srgbClr val="000000"/>
                </a:solidFill>
              </a:rPr>
              <a:t>A router configured with Cisco IOS IPS software</a:t>
            </a:r>
            <a:endParaRPr/>
          </a:p>
          <a:p>
            <a:pPr marL="415984" lvl="1" indent="-342899" algn="l" rtl="0">
              <a:lnSpc>
                <a:spcPct val="95000"/>
              </a:lnSpc>
              <a:spcBef>
                <a:spcPts val="600"/>
              </a:spcBef>
              <a:spcAft>
                <a:spcPts val="0"/>
              </a:spcAft>
              <a:buSzPts val="1400"/>
              <a:buFont typeface="Arial"/>
              <a:buChar char="•"/>
            </a:pPr>
            <a:r>
              <a:rPr lang="en-US">
                <a:solidFill>
                  <a:srgbClr val="000000"/>
                </a:solidFill>
              </a:rPr>
              <a:t>A device specifically designed to provide dedicated IDS or IPS services</a:t>
            </a:r>
            <a:endParaRPr/>
          </a:p>
          <a:p>
            <a:pPr marL="415984" lvl="1" indent="-342899" algn="l" rtl="0">
              <a:lnSpc>
                <a:spcPct val="95000"/>
              </a:lnSpc>
              <a:spcBef>
                <a:spcPts val="600"/>
              </a:spcBef>
              <a:spcAft>
                <a:spcPts val="0"/>
              </a:spcAft>
              <a:buSzPts val="1400"/>
              <a:buFont typeface="Arial"/>
              <a:buChar char="•"/>
            </a:pPr>
            <a:r>
              <a:rPr lang="en-US">
                <a:solidFill>
                  <a:srgbClr val="000000"/>
                </a:solidFill>
              </a:rPr>
              <a:t>A network module installed in an adaptive security appliance (ASA), switch, or router</a:t>
            </a:r>
            <a:endParaRPr/>
          </a:p>
          <a:p>
            <a:pPr marL="358835" lvl="1" indent="-285750" algn="l" rtl="0">
              <a:lnSpc>
                <a:spcPct val="95000"/>
              </a:lnSpc>
              <a:spcBef>
                <a:spcPts val="600"/>
              </a:spcBef>
              <a:spcAft>
                <a:spcPts val="0"/>
              </a:spcAft>
              <a:buSzPts val="1400"/>
              <a:buChar char="•"/>
            </a:pPr>
            <a:r>
              <a:rPr lang="en-US">
                <a:solidFill>
                  <a:srgbClr val="000000"/>
                </a:solidFill>
              </a:rPr>
              <a:t>IDS and IPS technologies detect patterns in network traffic using signatures, which is a set of rules that used to detect malicious activity. IDS and IPS technologies can detect atomic signature patterns (single-packet) or composite signature patterns (multi-packet).</a:t>
            </a:r>
            <a:endParaRPr/>
          </a:p>
          <a:p>
            <a:pPr marL="342900" lvl="0" indent="-241300" algn="l" rtl="0">
              <a:lnSpc>
                <a:spcPct val="100000"/>
              </a:lnSpc>
              <a:spcBef>
                <a:spcPts val="320"/>
              </a:spcBef>
              <a:spcAft>
                <a:spcPts val="0"/>
              </a:spcAft>
              <a:buSzPts val="1600"/>
              <a:buFont typeface="Arial"/>
              <a:buNone/>
            </a:pPr>
            <a:endParaRPr sz="16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182"/>
        <p:cNvGrpSpPr/>
        <p:nvPr/>
      </p:nvGrpSpPr>
      <p:grpSpPr>
        <a:xfrm>
          <a:off x="0" y="0"/>
          <a:ext cx="0" cy="0"/>
          <a:chOff x="0" y="0"/>
          <a:chExt cx="0" cy="0"/>
        </a:xfrm>
      </p:grpSpPr>
      <p:sp>
        <p:nvSpPr>
          <p:cNvPr id="1183" name="Google Shape;1183;p71"/>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Network Security Best Practices</a:t>
            </a:r>
            <a:br>
              <a:rPr lang="en-US"/>
            </a:br>
            <a:r>
              <a:rPr lang="en-US" sz="2400"/>
              <a:t>IPS (Cont.)</a:t>
            </a:r>
            <a:endParaRPr/>
          </a:p>
        </p:txBody>
      </p:sp>
      <p:sp>
        <p:nvSpPr>
          <p:cNvPr id="1184" name="Google Shape;1184;p71"/>
          <p:cNvSpPr txBox="1">
            <a:spLocks noGrp="1"/>
          </p:cNvSpPr>
          <p:nvPr>
            <p:ph type="body" idx="1"/>
          </p:nvPr>
        </p:nvSpPr>
        <p:spPr>
          <a:xfrm>
            <a:off x="474662" y="877887"/>
            <a:ext cx="4274288" cy="3543847"/>
          </a:xfrm>
          <a:prstGeom prst="rect">
            <a:avLst/>
          </a:prstGeom>
          <a:noFill/>
          <a:ln>
            <a:noFill/>
          </a:ln>
        </p:spPr>
        <p:txBody>
          <a:bodyPr spcFirstLastPara="1" wrap="square" lIns="91400" tIns="45700" rIns="91400" bIns="45700" anchor="t" anchorCtr="0">
            <a:noAutofit/>
          </a:bodyPr>
          <a:lstStyle/>
          <a:p>
            <a:pPr marL="0" lvl="0" indent="0" algn="l" rtl="0">
              <a:lnSpc>
                <a:spcPct val="100000"/>
              </a:lnSpc>
              <a:spcBef>
                <a:spcPts val="0"/>
              </a:spcBef>
              <a:spcAft>
                <a:spcPts val="0"/>
              </a:spcAft>
              <a:buSzPts val="1400"/>
              <a:buNone/>
            </a:pPr>
            <a:r>
              <a:rPr lang="en-US" sz="1400">
                <a:solidFill>
                  <a:srgbClr val="000000"/>
                </a:solidFill>
              </a:rPr>
              <a:t>The figure shows how an IPS handles denied traffic.</a:t>
            </a:r>
            <a:endParaRPr/>
          </a:p>
          <a:p>
            <a:pPr marL="342900" lvl="0" indent="-342900" algn="l" rtl="0">
              <a:lnSpc>
                <a:spcPct val="100000"/>
              </a:lnSpc>
              <a:spcBef>
                <a:spcPts val="280"/>
              </a:spcBef>
              <a:spcAft>
                <a:spcPts val="0"/>
              </a:spcAft>
              <a:buSzPts val="1400"/>
              <a:buFont typeface="Arial"/>
              <a:buAutoNum type="arabicPeriod"/>
            </a:pPr>
            <a:r>
              <a:rPr lang="en-US" sz="1400">
                <a:solidFill>
                  <a:srgbClr val="000000"/>
                </a:solidFill>
              </a:rPr>
              <a:t>The threat actor sends a packet destined for the target laptop.</a:t>
            </a:r>
            <a:endParaRPr/>
          </a:p>
          <a:p>
            <a:pPr marL="342900" lvl="0" indent="-342900" algn="l" rtl="0">
              <a:lnSpc>
                <a:spcPct val="100000"/>
              </a:lnSpc>
              <a:spcBef>
                <a:spcPts val="280"/>
              </a:spcBef>
              <a:spcAft>
                <a:spcPts val="0"/>
              </a:spcAft>
              <a:buSzPts val="1400"/>
              <a:buFont typeface="Arial"/>
              <a:buAutoNum type="arabicPeriod"/>
            </a:pPr>
            <a:r>
              <a:rPr lang="en-US" sz="1400">
                <a:solidFill>
                  <a:srgbClr val="000000"/>
                </a:solidFill>
              </a:rPr>
              <a:t>The IPS intercepts the traffic and evaluates it against known threats and the configured policies.</a:t>
            </a:r>
            <a:endParaRPr/>
          </a:p>
          <a:p>
            <a:pPr marL="342900" lvl="0" indent="-342900" algn="l" rtl="0">
              <a:lnSpc>
                <a:spcPct val="100000"/>
              </a:lnSpc>
              <a:spcBef>
                <a:spcPts val="280"/>
              </a:spcBef>
              <a:spcAft>
                <a:spcPts val="0"/>
              </a:spcAft>
              <a:buSzPts val="1400"/>
              <a:buFont typeface="Arial"/>
              <a:buAutoNum type="arabicPeriod"/>
            </a:pPr>
            <a:r>
              <a:rPr lang="en-US" sz="1400">
                <a:solidFill>
                  <a:srgbClr val="000000"/>
                </a:solidFill>
              </a:rPr>
              <a:t>The IPS sends a log message to the management console.</a:t>
            </a:r>
            <a:endParaRPr/>
          </a:p>
          <a:p>
            <a:pPr marL="342900" lvl="0" indent="-342900" algn="l" rtl="0">
              <a:lnSpc>
                <a:spcPct val="100000"/>
              </a:lnSpc>
              <a:spcBef>
                <a:spcPts val="280"/>
              </a:spcBef>
              <a:spcAft>
                <a:spcPts val="0"/>
              </a:spcAft>
              <a:buSzPts val="1400"/>
              <a:buFont typeface="Arial"/>
              <a:buAutoNum type="arabicPeriod"/>
            </a:pPr>
            <a:r>
              <a:rPr lang="en-US" sz="1400">
                <a:solidFill>
                  <a:srgbClr val="000000"/>
                </a:solidFill>
              </a:rPr>
              <a:t>The IPS drops the packet.</a:t>
            </a:r>
            <a:endParaRPr/>
          </a:p>
          <a:p>
            <a:pPr marL="342900" lvl="0" indent="-254000" algn="l" rtl="0">
              <a:lnSpc>
                <a:spcPct val="100000"/>
              </a:lnSpc>
              <a:spcBef>
                <a:spcPts val="280"/>
              </a:spcBef>
              <a:spcAft>
                <a:spcPts val="0"/>
              </a:spcAft>
              <a:buSzPts val="1400"/>
              <a:buFont typeface="Arial"/>
              <a:buNone/>
            </a:pPr>
            <a:endParaRPr sz="1400">
              <a:solidFill>
                <a:srgbClr val="000000"/>
              </a:solidFill>
            </a:endParaRPr>
          </a:p>
        </p:txBody>
      </p:sp>
      <p:pic>
        <p:nvPicPr>
          <p:cNvPr id="1185" name="Google Shape;1185;p71"/>
          <p:cNvPicPr preferRelativeResize="0"/>
          <p:nvPr/>
        </p:nvPicPr>
        <p:blipFill rotWithShape="1">
          <a:blip r:embed="rId3">
            <a:alphaModFix/>
          </a:blip>
          <a:srcRect/>
          <a:stretch/>
        </p:blipFill>
        <p:spPr>
          <a:xfrm>
            <a:off x="4748950" y="877887"/>
            <a:ext cx="3583172" cy="338772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190"/>
        <p:cNvGrpSpPr/>
        <p:nvPr/>
      </p:nvGrpSpPr>
      <p:grpSpPr>
        <a:xfrm>
          <a:off x="0" y="0"/>
          <a:ext cx="0" cy="0"/>
          <a:chOff x="0" y="0"/>
          <a:chExt cx="0" cy="0"/>
        </a:xfrm>
      </p:grpSpPr>
      <p:sp>
        <p:nvSpPr>
          <p:cNvPr id="1191" name="Google Shape;1191;p72"/>
          <p:cNvSpPr txBox="1">
            <a:spLocks noGrp="1"/>
          </p:cNvSpPr>
          <p:nvPr>
            <p:ph type="title"/>
          </p:nvPr>
        </p:nvSpPr>
        <p:spPr>
          <a:xfrm>
            <a:off x="0" y="0"/>
            <a:ext cx="8345488" cy="731837"/>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US" sz="1600"/>
              <a:t>Network Security Best Practices</a:t>
            </a:r>
            <a:br>
              <a:rPr lang="en-US"/>
            </a:br>
            <a:r>
              <a:rPr lang="en-US" sz="2400"/>
              <a:t>Content Security Devices</a:t>
            </a:r>
            <a:endParaRPr/>
          </a:p>
        </p:txBody>
      </p:sp>
      <p:sp>
        <p:nvSpPr>
          <p:cNvPr id="1192" name="Google Shape;1192;p72"/>
          <p:cNvSpPr txBox="1">
            <a:spLocks noGrp="1"/>
          </p:cNvSpPr>
          <p:nvPr>
            <p:ph type="body" idx="1"/>
          </p:nvPr>
        </p:nvSpPr>
        <p:spPr>
          <a:xfrm>
            <a:off x="474662" y="731837"/>
            <a:ext cx="8280057" cy="3689897"/>
          </a:xfrm>
          <a:prstGeom prst="rect">
            <a:avLst/>
          </a:prstGeom>
          <a:noFill/>
          <a:ln>
            <a:noFill/>
          </a:ln>
        </p:spPr>
        <p:txBody>
          <a:bodyPr spcFirstLastPara="1" wrap="square" lIns="91400" tIns="45700" rIns="91400" bIns="45700" anchor="t" anchorCtr="0">
            <a:noAutofit/>
          </a:bodyPr>
          <a:lstStyle/>
          <a:p>
            <a:pPr marL="342900" lvl="0" indent="-342900" algn="l" rtl="0">
              <a:lnSpc>
                <a:spcPct val="100000"/>
              </a:lnSpc>
              <a:spcBef>
                <a:spcPts val="0"/>
              </a:spcBef>
              <a:spcAft>
                <a:spcPts val="0"/>
              </a:spcAft>
              <a:buSzPts val="1600"/>
              <a:buFont typeface="Arial"/>
              <a:buChar char="•"/>
            </a:pPr>
            <a:r>
              <a:rPr lang="en-US" sz="1600" dirty="0">
                <a:solidFill>
                  <a:srgbClr val="000000"/>
                </a:solidFill>
              </a:rPr>
              <a:t>The </a:t>
            </a:r>
            <a:r>
              <a:rPr lang="en-US" sz="1600" dirty="0">
                <a:solidFill>
                  <a:srgbClr val="FF0000"/>
                </a:solidFill>
              </a:rPr>
              <a:t>Cisco Email Security Appliance (ESA) </a:t>
            </a:r>
            <a:r>
              <a:rPr lang="en-US" sz="1600" dirty="0">
                <a:solidFill>
                  <a:srgbClr val="000000"/>
                </a:solidFill>
              </a:rPr>
              <a:t>is a special device designed to monitor Simple Mail Transfer Protocol (SMTP). The Cisco ESA is constantly updated by real-time feeds from the Cisco Talos. This threat intelligence data is pulled by the Cisco ESA every three to five minutes.</a:t>
            </a:r>
            <a:endParaRPr dirty="0"/>
          </a:p>
          <a:p>
            <a:pPr marL="342900" lvl="0" indent="-342900" algn="l" rtl="0">
              <a:lnSpc>
                <a:spcPct val="100000"/>
              </a:lnSpc>
              <a:spcBef>
                <a:spcPts val="320"/>
              </a:spcBef>
              <a:spcAft>
                <a:spcPts val="0"/>
              </a:spcAft>
              <a:buSzPts val="1600"/>
              <a:buFont typeface="Arial"/>
              <a:buChar char="•"/>
            </a:pPr>
            <a:r>
              <a:rPr lang="en-US" sz="1600" dirty="0">
                <a:solidFill>
                  <a:srgbClr val="000000"/>
                </a:solidFill>
              </a:rPr>
              <a:t>The </a:t>
            </a:r>
            <a:r>
              <a:rPr lang="en-US" sz="1600" dirty="0">
                <a:solidFill>
                  <a:srgbClr val="FF0000"/>
                </a:solidFill>
              </a:rPr>
              <a:t>Cisco Web Security Appliance (WSA) </a:t>
            </a:r>
            <a:r>
              <a:rPr lang="en-US" sz="1600" dirty="0">
                <a:solidFill>
                  <a:srgbClr val="000000"/>
                </a:solidFill>
              </a:rPr>
              <a:t>is a mitigation technology for web-based threats. The Cisco WSA combines advanced malware protection, application visibility and control, acceptable use policy controls, and reporting.</a:t>
            </a:r>
            <a:endParaRPr dirty="0"/>
          </a:p>
          <a:p>
            <a:pPr marL="342900" lvl="0" indent="-342900" algn="l" rtl="0">
              <a:lnSpc>
                <a:spcPct val="100000"/>
              </a:lnSpc>
              <a:spcBef>
                <a:spcPts val="320"/>
              </a:spcBef>
              <a:spcAft>
                <a:spcPts val="0"/>
              </a:spcAft>
              <a:buSzPts val="1600"/>
              <a:buFont typeface="Arial"/>
              <a:buChar char="•"/>
            </a:pPr>
            <a:r>
              <a:rPr lang="en-US" sz="1600" dirty="0">
                <a:solidFill>
                  <a:srgbClr val="000000"/>
                </a:solidFill>
              </a:rPr>
              <a:t>Cisco WSA provides complete control over how users access the internet. The WSA can perform blacklisting of URLs, URL-filtering, malware scanning, URL categorization, web application filtering, and encryption and decryption of web traffic.</a:t>
            </a:r>
            <a:endParaRPr dirty="0"/>
          </a:p>
          <a:p>
            <a:pPr marL="342900" lvl="0" indent="-241300" algn="l" rtl="0">
              <a:lnSpc>
                <a:spcPct val="100000"/>
              </a:lnSpc>
              <a:spcBef>
                <a:spcPts val="320"/>
              </a:spcBef>
              <a:spcAft>
                <a:spcPts val="0"/>
              </a:spcAft>
              <a:buSzPts val="1600"/>
              <a:buFont typeface="Arial"/>
              <a:buNone/>
            </a:pPr>
            <a:endParaRPr sz="1600" dirty="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197"/>
        <p:cNvGrpSpPr/>
        <p:nvPr/>
      </p:nvGrpSpPr>
      <p:grpSpPr>
        <a:xfrm>
          <a:off x="0" y="0"/>
          <a:ext cx="0" cy="0"/>
          <a:chOff x="0" y="0"/>
          <a:chExt cx="0" cy="0"/>
        </a:xfrm>
      </p:grpSpPr>
    </p:spTree>
  </p:cSld>
  <p:clrMapOvr>
    <a:masterClrMapping/>
  </p:clrMapOvr>
  <p:transition spd="slow">
    <p:wipe/>
  </p:transition>
</p:sld>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166</TotalTime>
  <Words>9095</Words>
  <Application>Microsoft Office PowerPoint</Application>
  <PresentationFormat>On-screen Show (16:9)</PresentationFormat>
  <Paragraphs>803</Paragraphs>
  <Slides>74</Slides>
  <Notes>73</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74</vt:i4>
      </vt:variant>
    </vt:vector>
  </HeadingPairs>
  <TitlesOfParts>
    <vt:vector size="81" baseType="lpstr">
      <vt:lpstr>Arial</vt:lpstr>
      <vt:lpstr>Calibri</vt:lpstr>
      <vt:lpstr>Noto Sans Symbols</vt:lpstr>
      <vt:lpstr>Times New Roman</vt:lpstr>
      <vt:lpstr>Default Theme</vt:lpstr>
      <vt:lpstr>1_Default Theme</vt:lpstr>
      <vt:lpstr>2_Default Theme</vt:lpstr>
      <vt:lpstr>Module 3: Network Security Concepts</vt:lpstr>
      <vt:lpstr>Module Objectives</vt:lpstr>
      <vt:lpstr>3.1 Current State of Cybersecurity</vt:lpstr>
      <vt:lpstr>Current State of Cybersecurity Current State of Affairs</vt:lpstr>
      <vt:lpstr>Current State of Cybersecurity Vectors of Network Attacks</vt:lpstr>
      <vt:lpstr>Current State of Cybersecurity Data Loss</vt:lpstr>
      <vt:lpstr>Current State of Cybersecurity Data Loss (Cont.)</vt:lpstr>
      <vt:lpstr>3.2 Threat Actors</vt:lpstr>
      <vt:lpstr>Threat Actors The Hacker</vt:lpstr>
      <vt:lpstr>Threat Actors The Evolution of Hackers</vt:lpstr>
      <vt:lpstr>3.3 Threat Actor Tools</vt:lpstr>
      <vt:lpstr>Threat Actor Tools Video – Threat Actor Tools</vt:lpstr>
      <vt:lpstr>Threat Actor Tools Introduction to Attack Tools</vt:lpstr>
      <vt:lpstr>Threat Actor Tools Evolution of Security Tools</vt:lpstr>
      <vt:lpstr>Threat Actor Tools Evolution of Security Tools (Cont.)</vt:lpstr>
      <vt:lpstr>Threat Actor Tools Attack Types</vt:lpstr>
      <vt:lpstr>3.4 Malware</vt:lpstr>
      <vt:lpstr>Malware Overview of Malware</vt:lpstr>
      <vt:lpstr>Malware Viruses and Trojan Horses</vt:lpstr>
      <vt:lpstr>Malware Viruses and Trojan Horses (Cont.)</vt:lpstr>
      <vt:lpstr>Malware Viruses and Trojan Horses (Cont.)</vt:lpstr>
      <vt:lpstr>Malware Other Types of Malware</vt:lpstr>
      <vt:lpstr>3.5 Common Network Attacks</vt:lpstr>
      <vt:lpstr>Common Network Attacks Overview of Common Network Attacks</vt:lpstr>
      <vt:lpstr>Common Network Attacks Video - Common Network Attacks</vt:lpstr>
      <vt:lpstr>Common Network Attacks Reconnaissance Attacks</vt:lpstr>
      <vt:lpstr>Common Network Attacks Reconnaissance Attacks (Cont.)</vt:lpstr>
      <vt:lpstr>Common Network Attacks Video – Access and Social Engineering Attacks</vt:lpstr>
      <vt:lpstr>Common Network Attacks Access Attacks</vt:lpstr>
      <vt:lpstr>Common Network Attacks Social Engineering Attacks</vt:lpstr>
      <vt:lpstr>Common Network Attacks Social Engineering Attacks (Cont.)</vt:lpstr>
      <vt:lpstr>Common Network Attacks Social Engineering Attacks (Cont.)</vt:lpstr>
      <vt:lpstr>Common Network Attacks Lab - Social Engineering</vt:lpstr>
      <vt:lpstr>Common Network Attacks Video – Denial of Service Attacks</vt:lpstr>
      <vt:lpstr>Common Network Attacks DoS and DDoS Attacks</vt:lpstr>
      <vt:lpstr>3.6 IP Vulnerabilities and Threats</vt:lpstr>
      <vt:lpstr>IP Vulnerabilities and Threats Video – Common IP and ICMP Attacks</vt:lpstr>
      <vt:lpstr>IP Vulnerabilities and Threats IPv4 and IPv6</vt:lpstr>
      <vt:lpstr>IP Vulnerabilities and Threats ICMP Attacks</vt:lpstr>
      <vt:lpstr>IP Vulnerabilities and Threats ICMP Attacks (Cont.)</vt:lpstr>
      <vt:lpstr>IP Vulnerabilities and Threats Video – Amplification, Reflection, and Spoofing Attacks</vt:lpstr>
      <vt:lpstr>IP Vulnerabilities and Threats Amplification and Reflection Attacks</vt:lpstr>
      <vt:lpstr>IP Vulnerabilities and Threats Address Spoofing Attacks</vt:lpstr>
      <vt:lpstr>3.7 TCP and UDP Vulnerabilities</vt:lpstr>
      <vt:lpstr>TCP and UDP Vulnerabilities TCP Segment Header</vt:lpstr>
      <vt:lpstr>TCP and UDP Vulnerabilities TCP Services</vt:lpstr>
      <vt:lpstr>TCP and UDP Vulnerabilities TCP Services (Cont.)</vt:lpstr>
      <vt:lpstr>TCP and UDP Vulnerabilities TCP Attacks</vt:lpstr>
      <vt:lpstr>TCP and UDP Vulnerabilities TCP Attacks (Cont.)</vt:lpstr>
      <vt:lpstr>TCP and UDP Vulnerabilities TCP Attacks (Cont.)</vt:lpstr>
      <vt:lpstr>TCP and UDP Vulnerabilities UDP Segment Header and Operation</vt:lpstr>
      <vt:lpstr>TCP and UDP Vulnerabilities UDP Attacks</vt:lpstr>
      <vt:lpstr>3.8 IP Services</vt:lpstr>
      <vt:lpstr>IP Services ARP Vulnerabilities</vt:lpstr>
      <vt:lpstr>IP Services ARP Cache Poisoning</vt:lpstr>
      <vt:lpstr>IP Services ARP Cache Poisoning</vt:lpstr>
      <vt:lpstr>IP Services Video – ARP Spoofing</vt:lpstr>
      <vt:lpstr>IP Services DNS Attacks</vt:lpstr>
      <vt:lpstr>IP Services DNS Attacks (Cont.)</vt:lpstr>
      <vt:lpstr>IP Services DNS Attacks (Cont.)</vt:lpstr>
      <vt:lpstr>IP Services DNS Attacks (Cont.)</vt:lpstr>
      <vt:lpstr>IP Services DNS Tunneling</vt:lpstr>
      <vt:lpstr>IP Services DHCP (Dynamic Host Configuration Protocol )</vt:lpstr>
      <vt:lpstr>IP Services DHCP Attacks</vt:lpstr>
      <vt:lpstr>IP Services DHCP Attacks (Cont.)</vt:lpstr>
      <vt:lpstr>IP Services Lab – Explore DNS Traffic</vt:lpstr>
      <vt:lpstr>3.9 Network Security Best Practices</vt:lpstr>
      <vt:lpstr>Network Security Best Practices Confidentiality, Availability, and Integrity</vt:lpstr>
      <vt:lpstr>Network Security Best Practices The Defense-in-Depth Approach</vt:lpstr>
      <vt:lpstr>Network Security Best Practices Firewalls</vt:lpstr>
      <vt:lpstr>Network Security Best Practices IPS</vt:lpstr>
      <vt:lpstr>Network Security Best Practices IPS (Cont.)</vt:lpstr>
      <vt:lpstr>Network Security Best Practices Content Security Devices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Stephanie Harvey</dc:creator>
  <cp:lastModifiedBy>Jessie Teoh</cp:lastModifiedBy>
  <cp:revision>5</cp:revision>
  <dcterms:created xsi:type="dcterms:W3CDTF">2019-10-18T06:21:22Z</dcterms:created>
  <dcterms:modified xsi:type="dcterms:W3CDTF">2025-10-09T14:14:00Z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