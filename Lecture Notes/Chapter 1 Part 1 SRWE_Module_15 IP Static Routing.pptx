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303" r:id="rId32"/>
    <p:sldId id="302"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3" roundtripDataSignature="AMtx7mjSjJxwbRd363WF2JzwudwdwGj7H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FCC90D9-844F-4021-B7A0-B0AEDD6D6780}">
  <a:tblStyle styleId="{1FCC90D9-844F-4021-B7A0-B0AEDD6D6780}"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8EA"/>
          </a:solidFill>
        </a:fill>
      </a:tcStyle>
    </a:wholeTbl>
    <a:band1H>
      <a:tcTxStyle/>
      <a:tcStyle>
        <a:tcBdr/>
        <a:fill>
          <a:solidFill>
            <a:srgbClr val="CACED3"/>
          </a:solidFill>
        </a:fill>
      </a:tcStyle>
    </a:band1H>
    <a:band2H>
      <a:tcTxStyle/>
      <a:tcStyle>
        <a:tcBdr/>
      </a:tcStyle>
    </a:band2H>
    <a:band1V>
      <a:tcTxStyle/>
      <a:tcStyle>
        <a:tcBdr/>
        <a:fill>
          <a:solidFill>
            <a:srgbClr val="CACED3"/>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98" y="1128"/>
      </p:cViewPr>
      <p:guideLst>
        <p:guide orient="horz" pos="1620"/>
        <p:guide pos="33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customschemas.google.com/relationships/presentationmetadata" Target="metadata"/><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n-US" b="0"/>
              <a:t>Cisco Networking Academy Program</a:t>
            </a:r>
            <a:endParaRPr/>
          </a:p>
          <a:p>
            <a:pPr marL="0" lvl="0" indent="0" algn="l" rtl="0">
              <a:spcBef>
                <a:spcPts val="0"/>
              </a:spcBef>
              <a:spcAft>
                <a:spcPts val="0"/>
              </a:spcAft>
              <a:buNone/>
            </a:pPr>
            <a:r>
              <a:rPr lang="en-US">
                <a:solidFill>
                  <a:srgbClr val="B6DDE7"/>
                </a:solidFill>
              </a:rPr>
              <a:t>Switching, Routing, and Wireless Essentials v7.0 (SRWE)</a:t>
            </a:r>
            <a:endParaRPr/>
          </a:p>
          <a:p>
            <a:pPr marL="0" lvl="0" indent="0" algn="l" rtl="0">
              <a:spcBef>
                <a:spcPts val="0"/>
              </a:spcBef>
              <a:spcAft>
                <a:spcPts val="0"/>
              </a:spcAft>
              <a:buClr>
                <a:schemeClr val="dk1"/>
              </a:buClr>
              <a:buSzPts val="1200"/>
              <a:buFont typeface="Calibri"/>
              <a:buNone/>
            </a:pPr>
            <a:r>
              <a:rPr lang="en-US" b="0"/>
              <a:t>Module 15: IP Static Routing</a:t>
            </a:r>
            <a:endParaRPr/>
          </a:p>
          <a:p>
            <a:pPr marL="0" lvl="0" indent="0" algn="l" rtl="0">
              <a:spcBef>
                <a:spcPts val="0"/>
              </a:spcBef>
              <a:spcAft>
                <a:spcPts val="0"/>
              </a:spcAft>
              <a:buNone/>
            </a:pPr>
            <a:endParaRPr/>
          </a:p>
        </p:txBody>
      </p:sp>
      <p:sp>
        <p:nvSpPr>
          <p:cNvPr id="236" name="Google Shape;236;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notes"/>
          <p:cNvSpPr txBox="1"/>
          <p:nvPr/>
        </p:nvSpPr>
        <p:spPr>
          <a:xfrm>
            <a:off x="5929313" y="8680450"/>
            <a:ext cx="812800" cy="287338"/>
          </a:xfrm>
          <a:prstGeom prst="rect">
            <a:avLst/>
          </a:prstGeom>
          <a:noFill/>
          <a:ln>
            <a:noFill/>
          </a:ln>
        </p:spPr>
        <p:txBody>
          <a:bodyPr spcFirstLastPara="1" wrap="square" lIns="18800" tIns="0" rIns="18800" bIns="0" anchor="b" anchorCtr="0">
            <a:noAutofit/>
          </a:bodyPr>
          <a:lstStyle/>
          <a:p>
            <a:pPr marL="0" marR="0" lvl="0" indent="0" algn="r" rtl="0">
              <a:spcBef>
                <a:spcPts val="0"/>
              </a:spcBef>
              <a:spcAft>
                <a:spcPts val="0"/>
              </a:spcAft>
              <a:buNone/>
            </a:pPr>
            <a:fld id="{00000000-1234-1234-1234-123412341234}" type="slidenum">
              <a:rPr lang="en-US" sz="800" b="0">
                <a:solidFill>
                  <a:srgbClr val="000000"/>
                </a:solidFill>
                <a:latin typeface="Arial"/>
                <a:ea typeface="Arial"/>
                <a:cs typeface="Arial"/>
                <a:sym typeface="Arial"/>
              </a:rPr>
              <a:t>2</a:t>
            </a:fld>
            <a:endParaRPr sz="800" b="0">
              <a:solidFill>
                <a:srgbClr val="000000"/>
              </a:solidFill>
              <a:latin typeface="Arial"/>
              <a:ea typeface="Arial"/>
              <a:cs typeface="Arial"/>
              <a:sym typeface="Arial"/>
            </a:endParaRPr>
          </a:p>
        </p:txBody>
      </p:sp>
      <p:sp>
        <p:nvSpPr>
          <p:cNvPr id="242" name="Google Shape;24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3" name="Google Shape;243;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n-US"/>
              <a:t>15- IP Static Routing</a:t>
            </a:r>
            <a:endParaRPr/>
          </a:p>
          <a:p>
            <a:pPr marL="0" lvl="0" indent="0" algn="l" rtl="0">
              <a:spcBef>
                <a:spcPts val="0"/>
              </a:spcBef>
              <a:spcAft>
                <a:spcPts val="0"/>
              </a:spcAft>
              <a:buClr>
                <a:schemeClr val="dk1"/>
              </a:buClr>
              <a:buSzPts val="1200"/>
              <a:buFont typeface="Calibri"/>
              <a:buNone/>
            </a:pPr>
            <a:r>
              <a:rPr lang="en-US"/>
              <a:t>15.0 – Introduction</a:t>
            </a:r>
            <a:endParaRPr/>
          </a:p>
          <a:p>
            <a:pPr marL="0" lvl="0" indent="0" algn="l" rtl="0">
              <a:spcBef>
                <a:spcPts val="0"/>
              </a:spcBef>
              <a:spcAft>
                <a:spcPts val="0"/>
              </a:spcAft>
              <a:buClr>
                <a:schemeClr val="dk1"/>
              </a:buClr>
              <a:buSzPts val="1200"/>
              <a:buFont typeface="Calibri"/>
              <a:buNone/>
            </a:pPr>
            <a:r>
              <a:rPr lang="en-US"/>
              <a:t>15.0.2 – What will I learn to do in this module?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15.1 – Static Routes</a:t>
            </a:r>
            <a:endParaRPr/>
          </a:p>
        </p:txBody>
      </p:sp>
      <p:sp>
        <p:nvSpPr>
          <p:cNvPr id="251" name="Google Shape;251;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15.1 – Static Routes</a:t>
            </a:r>
            <a:endParaRPr/>
          </a:p>
          <a:p>
            <a:pPr marL="0" lvl="0" indent="0" algn="l" rtl="0">
              <a:spcBef>
                <a:spcPts val="0"/>
              </a:spcBef>
              <a:spcAft>
                <a:spcPts val="0"/>
              </a:spcAft>
              <a:buNone/>
            </a:pPr>
            <a:r>
              <a:rPr lang="en-US"/>
              <a:t>15.1.1 - Type of Static Routes</a:t>
            </a:r>
            <a:endParaRPr/>
          </a:p>
        </p:txBody>
      </p:sp>
      <p:sp>
        <p:nvSpPr>
          <p:cNvPr id="257" name="Google Shape;257;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15.1 – Static Routes</a:t>
            </a:r>
            <a:endParaRPr/>
          </a:p>
          <a:p>
            <a:pPr marL="0" lvl="0" indent="0" algn="l" rtl="0">
              <a:spcBef>
                <a:spcPts val="0"/>
              </a:spcBef>
              <a:spcAft>
                <a:spcPts val="0"/>
              </a:spcAft>
              <a:buNone/>
            </a:pPr>
            <a:r>
              <a:rPr lang="en-US"/>
              <a:t>15.1.2 - </a:t>
            </a:r>
            <a:r>
              <a:rPr lang="en-US" sz="1200"/>
              <a:t>Next-Hop Options</a:t>
            </a:r>
            <a:endParaRPr/>
          </a:p>
        </p:txBody>
      </p:sp>
      <p:sp>
        <p:nvSpPr>
          <p:cNvPr id="264" name="Google Shape;264;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15.1 – Static Routes</a:t>
            </a:r>
            <a:endParaRPr/>
          </a:p>
          <a:p>
            <a:pPr marL="0" lvl="0" indent="0" algn="l" rtl="0">
              <a:spcBef>
                <a:spcPts val="0"/>
              </a:spcBef>
              <a:spcAft>
                <a:spcPts val="0"/>
              </a:spcAft>
              <a:buNone/>
            </a:pPr>
            <a:r>
              <a:rPr lang="en-US"/>
              <a:t>15.1.3 - </a:t>
            </a:r>
            <a:r>
              <a:rPr lang="en-US" sz="1200"/>
              <a:t>IPv4 Static Route Command</a:t>
            </a:r>
            <a:endParaRPr/>
          </a:p>
        </p:txBody>
      </p:sp>
      <p:sp>
        <p:nvSpPr>
          <p:cNvPr id="271" name="Google Shape;271;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7" name="Google Shape;277;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15.1 – Static Routes</a:t>
            </a:r>
            <a:endParaRPr/>
          </a:p>
          <a:p>
            <a:pPr marL="0" lvl="0" indent="0" algn="l" rtl="0">
              <a:spcBef>
                <a:spcPts val="0"/>
              </a:spcBef>
              <a:spcAft>
                <a:spcPts val="0"/>
              </a:spcAft>
              <a:buNone/>
            </a:pPr>
            <a:r>
              <a:rPr lang="en-US"/>
              <a:t>15.1.4 - </a:t>
            </a:r>
            <a:r>
              <a:rPr lang="en-US" sz="1200"/>
              <a:t>IPv6 Static Route Command</a:t>
            </a:r>
            <a:endParaRPr/>
          </a:p>
        </p:txBody>
      </p:sp>
      <p:sp>
        <p:nvSpPr>
          <p:cNvPr id="278" name="Google Shape;278;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4" name="Google Shape;284;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15.1 – Static Routes</a:t>
            </a:r>
            <a:endParaRPr/>
          </a:p>
          <a:p>
            <a:pPr marL="0" lvl="0" indent="0" algn="l" rtl="0">
              <a:spcBef>
                <a:spcPts val="0"/>
              </a:spcBef>
              <a:spcAft>
                <a:spcPts val="0"/>
              </a:spcAft>
              <a:buNone/>
            </a:pPr>
            <a:r>
              <a:rPr lang="en-US"/>
              <a:t>15.1.5 - </a:t>
            </a:r>
            <a:r>
              <a:rPr lang="en-US" sz="1200"/>
              <a:t>Dual-Stack Topology</a:t>
            </a:r>
            <a:endParaRPr/>
          </a:p>
        </p:txBody>
      </p:sp>
      <p:sp>
        <p:nvSpPr>
          <p:cNvPr id="285" name="Google Shape;285;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15.1 – Static Routes</a:t>
            </a:r>
            <a:endParaRPr/>
          </a:p>
          <a:p>
            <a:pPr marL="0" lvl="0" indent="0" algn="l" rtl="0">
              <a:spcBef>
                <a:spcPts val="0"/>
              </a:spcBef>
              <a:spcAft>
                <a:spcPts val="0"/>
              </a:spcAft>
              <a:buNone/>
            </a:pPr>
            <a:r>
              <a:rPr lang="en-US"/>
              <a:t>15.1.6 - </a:t>
            </a:r>
            <a:r>
              <a:rPr lang="en-US" sz="1200"/>
              <a:t>IPv4 Starting Routing Tables</a:t>
            </a:r>
            <a:endParaRPr/>
          </a:p>
        </p:txBody>
      </p:sp>
      <p:sp>
        <p:nvSpPr>
          <p:cNvPr id="293" name="Google Shape;293;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15.1 – Static Routes</a:t>
            </a:r>
            <a:endParaRPr/>
          </a:p>
          <a:p>
            <a:pPr marL="0" lvl="0" indent="0" algn="l" rtl="0">
              <a:spcBef>
                <a:spcPts val="0"/>
              </a:spcBef>
              <a:spcAft>
                <a:spcPts val="0"/>
              </a:spcAft>
              <a:buNone/>
            </a:pPr>
            <a:r>
              <a:rPr lang="en-US"/>
              <a:t>15.1.7 - </a:t>
            </a:r>
            <a:r>
              <a:rPr lang="en-US" sz="1200"/>
              <a:t>IPv6 Starting Routing Tables</a:t>
            </a:r>
            <a:endParaRPr/>
          </a:p>
          <a:p>
            <a:pPr marL="0" lvl="0" indent="0" algn="l" rtl="0">
              <a:spcBef>
                <a:spcPts val="0"/>
              </a:spcBef>
              <a:spcAft>
                <a:spcPts val="0"/>
              </a:spcAft>
              <a:buNone/>
            </a:pPr>
            <a:r>
              <a:rPr lang="en-US" sz="1200"/>
              <a:t>15.1.8 - Check Your Understanding - Static Routes</a:t>
            </a:r>
            <a:endParaRPr/>
          </a:p>
        </p:txBody>
      </p:sp>
      <p:sp>
        <p:nvSpPr>
          <p:cNvPr id="301" name="Google Shape;301;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8" name="Google Shape;308;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Static IP Routes</a:t>
            </a:r>
            <a:endParaRPr/>
          </a:p>
          <a:p>
            <a:pPr marL="0" lvl="0" indent="0" algn="l" rtl="0">
              <a:spcBef>
                <a:spcPts val="0"/>
              </a:spcBef>
              <a:spcAft>
                <a:spcPts val="0"/>
              </a:spcAft>
              <a:buNone/>
            </a:pPr>
            <a:r>
              <a:rPr lang="en-US"/>
              <a:t>15.2 – Configure IP Static Routes</a:t>
            </a:r>
            <a:endParaRPr/>
          </a:p>
          <a:p>
            <a:pPr marL="0" lvl="0" indent="0" algn="l" rtl="0">
              <a:spcBef>
                <a:spcPts val="0"/>
              </a:spcBef>
              <a:spcAft>
                <a:spcPts val="0"/>
              </a:spcAft>
              <a:buNone/>
            </a:pPr>
            <a:endParaRPr/>
          </a:p>
        </p:txBody>
      </p:sp>
      <p:sp>
        <p:nvSpPr>
          <p:cNvPr id="309" name="Google Shape;309;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 name="Google Shape;314;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Static IP Routes</a:t>
            </a:r>
            <a:endParaRPr/>
          </a:p>
          <a:p>
            <a:pPr marL="0" lvl="0" indent="0" algn="l" rtl="0">
              <a:spcBef>
                <a:spcPts val="0"/>
              </a:spcBef>
              <a:spcAft>
                <a:spcPts val="0"/>
              </a:spcAft>
              <a:buNone/>
            </a:pPr>
            <a:r>
              <a:rPr lang="en-US"/>
              <a:t>15.2 – Configure IP Static Routes</a:t>
            </a:r>
            <a:endParaRPr/>
          </a:p>
          <a:p>
            <a:pPr marL="0" lvl="0" indent="0" algn="l" rtl="0">
              <a:spcBef>
                <a:spcPts val="0"/>
              </a:spcBef>
              <a:spcAft>
                <a:spcPts val="0"/>
              </a:spcAft>
              <a:buNone/>
            </a:pPr>
            <a:r>
              <a:rPr lang="en-US"/>
              <a:t>15.2.1 - IPv4 Next-Hop Static Route</a:t>
            </a:r>
            <a:endParaRPr/>
          </a:p>
        </p:txBody>
      </p:sp>
      <p:sp>
        <p:nvSpPr>
          <p:cNvPr id="315" name="Google Shape;315;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2" name="Google Shape;322;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Static IP Routes</a:t>
            </a:r>
            <a:endParaRPr/>
          </a:p>
          <a:p>
            <a:pPr marL="0" lvl="0" indent="0" algn="l" rtl="0">
              <a:spcBef>
                <a:spcPts val="0"/>
              </a:spcBef>
              <a:spcAft>
                <a:spcPts val="0"/>
              </a:spcAft>
              <a:buNone/>
            </a:pPr>
            <a:r>
              <a:rPr lang="en-US"/>
              <a:t>15.2 – Configure IP Static Routes</a:t>
            </a:r>
            <a:endParaRPr/>
          </a:p>
          <a:p>
            <a:pPr marL="0" lvl="0" indent="0" algn="l" rtl="0">
              <a:spcBef>
                <a:spcPts val="0"/>
              </a:spcBef>
              <a:spcAft>
                <a:spcPts val="0"/>
              </a:spcAft>
              <a:buNone/>
            </a:pPr>
            <a:r>
              <a:rPr lang="en-US"/>
              <a:t>15.2.2 - IPv6 Next-Hop Static Route</a:t>
            </a:r>
            <a:endParaRPr/>
          </a:p>
        </p:txBody>
      </p:sp>
      <p:sp>
        <p:nvSpPr>
          <p:cNvPr id="323" name="Google Shape;323;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0" name="Google Shape;330;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Static IP Routes</a:t>
            </a:r>
            <a:endParaRPr/>
          </a:p>
          <a:p>
            <a:pPr marL="0" lvl="0" indent="0" algn="l" rtl="0">
              <a:spcBef>
                <a:spcPts val="0"/>
              </a:spcBef>
              <a:spcAft>
                <a:spcPts val="0"/>
              </a:spcAft>
              <a:buNone/>
            </a:pPr>
            <a:r>
              <a:rPr lang="en-US"/>
              <a:t>15.2 – Configure IP Static Routes</a:t>
            </a:r>
            <a:endParaRPr/>
          </a:p>
          <a:p>
            <a:pPr marL="0" lvl="0" indent="0" algn="l" rtl="0">
              <a:spcBef>
                <a:spcPts val="0"/>
              </a:spcBef>
              <a:spcAft>
                <a:spcPts val="0"/>
              </a:spcAft>
              <a:buNone/>
            </a:pPr>
            <a:r>
              <a:rPr lang="en-US"/>
              <a:t>15.2.3 - </a:t>
            </a:r>
            <a:r>
              <a:rPr lang="en-US" sz="1200"/>
              <a:t>IPv4 Directly Connected Static Route</a:t>
            </a:r>
            <a:endParaRPr/>
          </a:p>
        </p:txBody>
      </p:sp>
      <p:sp>
        <p:nvSpPr>
          <p:cNvPr id="331" name="Google Shape;331;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Static IP Routes</a:t>
            </a:r>
            <a:endParaRPr/>
          </a:p>
          <a:p>
            <a:pPr marL="0" lvl="0" indent="0" algn="l" rtl="0">
              <a:spcBef>
                <a:spcPts val="0"/>
              </a:spcBef>
              <a:spcAft>
                <a:spcPts val="0"/>
              </a:spcAft>
              <a:buNone/>
            </a:pPr>
            <a:r>
              <a:rPr lang="en-US"/>
              <a:t>15.2 – Configure IP Static Routes</a:t>
            </a:r>
            <a:endParaRPr/>
          </a:p>
          <a:p>
            <a:pPr marL="0" lvl="0" indent="0" algn="l" rtl="0">
              <a:spcBef>
                <a:spcPts val="0"/>
              </a:spcBef>
              <a:spcAft>
                <a:spcPts val="0"/>
              </a:spcAft>
              <a:buNone/>
            </a:pPr>
            <a:r>
              <a:rPr lang="en-US"/>
              <a:t>15.2.4 - </a:t>
            </a:r>
            <a:r>
              <a:rPr lang="en-US" sz="1200"/>
              <a:t>IPv6 Directly Connected Static Route</a:t>
            </a:r>
            <a:endParaRPr/>
          </a:p>
        </p:txBody>
      </p:sp>
      <p:sp>
        <p:nvSpPr>
          <p:cNvPr id="339" name="Google Shape;339;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 name="Google Shape;346;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15.1 – Static Routes</a:t>
            </a:r>
            <a:endParaRPr/>
          </a:p>
          <a:p>
            <a:pPr marL="0" lvl="0" indent="0" algn="l" rtl="0">
              <a:spcBef>
                <a:spcPts val="0"/>
              </a:spcBef>
              <a:spcAft>
                <a:spcPts val="0"/>
              </a:spcAft>
              <a:buNone/>
            </a:pPr>
            <a:r>
              <a:rPr lang="en-US"/>
              <a:t>15.1.5 - </a:t>
            </a:r>
            <a:r>
              <a:rPr lang="en-US" sz="1200"/>
              <a:t>Dual-Stack Topology</a:t>
            </a:r>
            <a:endParaRPr/>
          </a:p>
        </p:txBody>
      </p:sp>
      <p:sp>
        <p:nvSpPr>
          <p:cNvPr id="347" name="Google Shape;347;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Static IP Routes</a:t>
            </a:r>
            <a:endParaRPr/>
          </a:p>
          <a:p>
            <a:pPr marL="0" lvl="0" indent="0" algn="l" rtl="0">
              <a:spcBef>
                <a:spcPts val="0"/>
              </a:spcBef>
              <a:spcAft>
                <a:spcPts val="0"/>
              </a:spcAft>
              <a:buNone/>
            </a:pPr>
            <a:r>
              <a:rPr lang="en-US"/>
              <a:t>15.2 – Configure IP Static Routes</a:t>
            </a:r>
            <a:endParaRPr/>
          </a:p>
          <a:p>
            <a:pPr marL="0" lvl="0" indent="0" algn="l" rtl="0">
              <a:spcBef>
                <a:spcPts val="0"/>
              </a:spcBef>
              <a:spcAft>
                <a:spcPts val="0"/>
              </a:spcAft>
              <a:buNone/>
            </a:pPr>
            <a:r>
              <a:rPr lang="en-US"/>
              <a:t>15.2.5 - </a:t>
            </a:r>
            <a:r>
              <a:rPr lang="en-US" sz="1200"/>
              <a:t>IPv4 Fully Specified Static Route</a:t>
            </a:r>
            <a:endParaRPr/>
          </a:p>
        </p:txBody>
      </p:sp>
      <p:sp>
        <p:nvSpPr>
          <p:cNvPr id="354" name="Google Shape;354;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Static IP Routes</a:t>
            </a:r>
            <a:endParaRPr/>
          </a:p>
          <a:p>
            <a:pPr marL="0" lvl="0" indent="0" algn="l" rtl="0">
              <a:spcBef>
                <a:spcPts val="0"/>
              </a:spcBef>
              <a:spcAft>
                <a:spcPts val="0"/>
              </a:spcAft>
              <a:buNone/>
            </a:pPr>
            <a:r>
              <a:rPr lang="en-US"/>
              <a:t>15.2 – Configure IP Static Routes</a:t>
            </a:r>
            <a:endParaRPr/>
          </a:p>
          <a:p>
            <a:pPr marL="0" lvl="0" indent="0" algn="l" rtl="0">
              <a:spcBef>
                <a:spcPts val="0"/>
              </a:spcBef>
              <a:spcAft>
                <a:spcPts val="0"/>
              </a:spcAft>
              <a:buNone/>
            </a:pPr>
            <a:r>
              <a:rPr lang="en-US"/>
              <a:t>15.2.6 - </a:t>
            </a:r>
            <a:r>
              <a:rPr lang="en-US" sz="1200"/>
              <a:t>IPv6 Fully Specified Static Route</a:t>
            </a:r>
            <a:endParaRPr/>
          </a:p>
        </p:txBody>
      </p:sp>
      <p:sp>
        <p:nvSpPr>
          <p:cNvPr id="363" name="Google Shape;363;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2" name="Google Shape;372;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Static IP Routes</a:t>
            </a:r>
            <a:endParaRPr/>
          </a:p>
          <a:p>
            <a:pPr marL="0" lvl="0" indent="0" algn="l" rtl="0">
              <a:spcBef>
                <a:spcPts val="0"/>
              </a:spcBef>
              <a:spcAft>
                <a:spcPts val="0"/>
              </a:spcAft>
              <a:buNone/>
            </a:pPr>
            <a:r>
              <a:rPr lang="en-US"/>
              <a:t>15.2 – Configure IP Static Routes</a:t>
            </a:r>
            <a:endParaRPr/>
          </a:p>
          <a:p>
            <a:pPr marL="0" lvl="0" indent="0" algn="l" rtl="0">
              <a:spcBef>
                <a:spcPts val="0"/>
              </a:spcBef>
              <a:spcAft>
                <a:spcPts val="0"/>
              </a:spcAft>
              <a:buNone/>
            </a:pPr>
            <a:r>
              <a:rPr lang="en-US"/>
              <a:t>15.2.6 - </a:t>
            </a:r>
            <a:r>
              <a:rPr lang="en-US" sz="1200"/>
              <a:t>IPv6 Fully Specified Static Route (Cont.)</a:t>
            </a:r>
            <a:endParaRPr/>
          </a:p>
        </p:txBody>
      </p:sp>
      <p:sp>
        <p:nvSpPr>
          <p:cNvPr id="373" name="Google Shape;373;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0" name="Google Shape;380;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Static IP Routes</a:t>
            </a:r>
            <a:endParaRPr/>
          </a:p>
          <a:p>
            <a:pPr marL="0" lvl="0" indent="0" algn="l" rtl="0">
              <a:spcBef>
                <a:spcPts val="0"/>
              </a:spcBef>
              <a:spcAft>
                <a:spcPts val="0"/>
              </a:spcAft>
              <a:buNone/>
            </a:pPr>
            <a:r>
              <a:rPr lang="en-US"/>
              <a:t>15.2 – Configure IP Static Routes</a:t>
            </a:r>
            <a:endParaRPr/>
          </a:p>
          <a:p>
            <a:pPr marL="0" lvl="0" indent="0" algn="l" rtl="0">
              <a:spcBef>
                <a:spcPts val="0"/>
              </a:spcBef>
              <a:spcAft>
                <a:spcPts val="0"/>
              </a:spcAft>
              <a:buNone/>
            </a:pPr>
            <a:r>
              <a:rPr lang="en-US"/>
              <a:t>15.2.7 - Verify a Static Route</a:t>
            </a:r>
            <a:endParaRPr/>
          </a:p>
          <a:p>
            <a:pPr marL="0" lvl="0" indent="0" algn="l" rtl="0">
              <a:spcBef>
                <a:spcPts val="0"/>
              </a:spcBef>
              <a:spcAft>
                <a:spcPts val="0"/>
              </a:spcAft>
              <a:buNone/>
            </a:pPr>
            <a:r>
              <a:rPr lang="en-US"/>
              <a:t>15.2.8 - Syntax Checker - Configure Static Routes</a:t>
            </a:r>
            <a:endParaRPr/>
          </a:p>
        </p:txBody>
      </p:sp>
      <p:sp>
        <p:nvSpPr>
          <p:cNvPr id="381" name="Google Shape;381;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7" name="Google Shape;387;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15.3 – Configure IP Default Static Routes</a:t>
            </a:r>
            <a:endParaRPr/>
          </a:p>
          <a:p>
            <a:pPr marL="0" lvl="0" indent="0" algn="l" rtl="0">
              <a:spcBef>
                <a:spcPts val="0"/>
              </a:spcBef>
              <a:spcAft>
                <a:spcPts val="0"/>
              </a:spcAft>
              <a:buNone/>
            </a:pPr>
            <a:endParaRPr/>
          </a:p>
        </p:txBody>
      </p:sp>
      <p:sp>
        <p:nvSpPr>
          <p:cNvPr id="388" name="Google Shape;388;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3" name="Google Shape;393;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15.3 – Configure IP Default Static Routes</a:t>
            </a:r>
            <a:endParaRPr/>
          </a:p>
          <a:p>
            <a:pPr marL="0" lvl="0" indent="0" algn="l" rtl="0">
              <a:spcBef>
                <a:spcPts val="0"/>
              </a:spcBef>
              <a:spcAft>
                <a:spcPts val="0"/>
              </a:spcAft>
              <a:buNone/>
            </a:pPr>
            <a:r>
              <a:rPr lang="en-US"/>
              <a:t>15.3.1 - Default Static Route</a:t>
            </a:r>
            <a:endParaRPr/>
          </a:p>
        </p:txBody>
      </p:sp>
      <p:sp>
        <p:nvSpPr>
          <p:cNvPr id="394" name="Google Shape;394;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1" name="Google Shape;401;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15.3 – Configure IP Default Static Routes</a:t>
            </a:r>
            <a:endParaRPr/>
          </a:p>
          <a:p>
            <a:pPr marL="0" lvl="0" indent="0" algn="l" rtl="0">
              <a:spcBef>
                <a:spcPts val="0"/>
              </a:spcBef>
              <a:spcAft>
                <a:spcPts val="0"/>
              </a:spcAft>
              <a:buNone/>
            </a:pPr>
            <a:r>
              <a:rPr lang="en-US"/>
              <a:t>15.3.1 - Default Static Route (Cont.)</a:t>
            </a:r>
            <a:endParaRPr/>
          </a:p>
        </p:txBody>
      </p:sp>
      <p:sp>
        <p:nvSpPr>
          <p:cNvPr id="402" name="Google Shape;402;p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8" name="Google Shape;408;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15.3 – Configure IP Default Static Routes</a:t>
            </a:r>
            <a:endParaRPr/>
          </a:p>
          <a:p>
            <a:pPr marL="0" lvl="0" indent="0" algn="l" rtl="0">
              <a:spcBef>
                <a:spcPts val="0"/>
              </a:spcBef>
              <a:spcAft>
                <a:spcPts val="0"/>
              </a:spcAft>
              <a:buNone/>
            </a:pPr>
            <a:r>
              <a:rPr lang="en-US"/>
              <a:t>15.3.2 - Configure a Default Static Route</a:t>
            </a:r>
            <a:endParaRPr/>
          </a:p>
        </p:txBody>
      </p:sp>
      <p:sp>
        <p:nvSpPr>
          <p:cNvPr id="409" name="Google Shape;409;p2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5" name="Google Shape;415;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15.3 – Configure IP Default Static Routes</a:t>
            </a:r>
            <a:endParaRPr/>
          </a:p>
          <a:p>
            <a:pPr marL="0" lvl="0" indent="0" algn="l" rtl="0">
              <a:spcBef>
                <a:spcPts val="0"/>
              </a:spcBef>
              <a:spcAft>
                <a:spcPts val="0"/>
              </a:spcAft>
              <a:buNone/>
            </a:pPr>
            <a:r>
              <a:rPr lang="en-US"/>
              <a:t>15.3.3 - Verify a Default Static Route</a:t>
            </a:r>
            <a:endParaRPr/>
          </a:p>
        </p:txBody>
      </p:sp>
      <p:sp>
        <p:nvSpPr>
          <p:cNvPr id="416" name="Google Shape;416;p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3" name="Google Shape;423;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15.3 – Configure IP Default Static Routes </a:t>
            </a:r>
            <a:endParaRPr/>
          </a:p>
          <a:p>
            <a:pPr marL="0" lvl="0" indent="0" algn="l" rtl="0">
              <a:spcBef>
                <a:spcPts val="0"/>
              </a:spcBef>
              <a:spcAft>
                <a:spcPts val="0"/>
              </a:spcAft>
              <a:buNone/>
            </a:pPr>
            <a:r>
              <a:rPr lang="en-US"/>
              <a:t>15.3.3 - Verify a Default Static Route (Cont.)</a:t>
            </a:r>
            <a:endParaRPr/>
          </a:p>
          <a:p>
            <a:pPr marL="0" lvl="0" indent="0" algn="l" rtl="0">
              <a:spcBef>
                <a:spcPts val="0"/>
              </a:spcBef>
              <a:spcAft>
                <a:spcPts val="0"/>
              </a:spcAft>
              <a:buNone/>
            </a:pPr>
            <a:r>
              <a:rPr lang="en-US"/>
              <a:t>15.3.4 - Syntax Checker - Configure Default Static Routes</a:t>
            </a:r>
            <a:endParaRPr/>
          </a:p>
        </p:txBody>
      </p:sp>
      <p:sp>
        <p:nvSpPr>
          <p:cNvPr id="424" name="Google Shape;424;p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1" name="Google Shape;431;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15.4 – Configure Floating Static Routes</a:t>
            </a:r>
            <a:endParaRPr/>
          </a:p>
          <a:p>
            <a:pPr marL="0" lvl="0" indent="0" algn="l" rtl="0">
              <a:spcBef>
                <a:spcPts val="0"/>
              </a:spcBef>
              <a:spcAft>
                <a:spcPts val="0"/>
              </a:spcAft>
              <a:buNone/>
            </a:pPr>
            <a:endParaRPr/>
          </a:p>
        </p:txBody>
      </p:sp>
      <p:sp>
        <p:nvSpPr>
          <p:cNvPr id="432" name="Google Shape;432;p2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7" name="Google Shape;437;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15.4 – Configure Floating Static Routes</a:t>
            </a:r>
            <a:endParaRPr/>
          </a:p>
          <a:p>
            <a:pPr marL="0" lvl="0" indent="0" algn="l" rtl="0">
              <a:spcBef>
                <a:spcPts val="0"/>
              </a:spcBef>
              <a:spcAft>
                <a:spcPts val="0"/>
              </a:spcAft>
              <a:buNone/>
            </a:pPr>
            <a:r>
              <a:rPr lang="en-US"/>
              <a:t>15.4.1 - Floating Static Routes</a:t>
            </a:r>
            <a:endParaRPr/>
          </a:p>
        </p:txBody>
      </p:sp>
      <p:sp>
        <p:nvSpPr>
          <p:cNvPr id="438" name="Google Shape;438;p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4" name="Google Shape;444;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15.4 – Configure Floating Static Routes</a:t>
            </a:r>
            <a:endParaRPr/>
          </a:p>
          <a:p>
            <a:pPr marL="0" lvl="0" indent="0" algn="l" rtl="0">
              <a:spcBef>
                <a:spcPts val="0"/>
              </a:spcBef>
              <a:spcAft>
                <a:spcPts val="0"/>
              </a:spcAft>
              <a:buNone/>
            </a:pPr>
            <a:r>
              <a:rPr lang="en-US"/>
              <a:t>15.4.2 - </a:t>
            </a:r>
            <a:r>
              <a:rPr lang="en-US" sz="1200"/>
              <a:t>Configure IPv4 and IPv6 Floating Static Routes</a:t>
            </a:r>
            <a:endParaRPr/>
          </a:p>
        </p:txBody>
      </p:sp>
      <p:sp>
        <p:nvSpPr>
          <p:cNvPr id="445" name="Google Shape;445;p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6" name="Google Shape;456;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15.4 – Configure Floating Static Routes</a:t>
            </a:r>
            <a:endParaRPr/>
          </a:p>
          <a:p>
            <a:pPr marL="0" lvl="0" indent="0" algn="l" rtl="0">
              <a:spcBef>
                <a:spcPts val="0"/>
              </a:spcBef>
              <a:spcAft>
                <a:spcPts val="0"/>
              </a:spcAft>
              <a:buNone/>
            </a:pPr>
            <a:r>
              <a:rPr lang="en-US"/>
              <a:t>15.4.3 - </a:t>
            </a:r>
            <a:r>
              <a:rPr lang="en-US" sz="1200"/>
              <a:t>Test the Floating Static Routes</a:t>
            </a:r>
            <a:endParaRPr/>
          </a:p>
          <a:p>
            <a:pPr marL="0" lvl="0" indent="0" algn="l" rtl="0">
              <a:spcBef>
                <a:spcPts val="0"/>
              </a:spcBef>
              <a:spcAft>
                <a:spcPts val="0"/>
              </a:spcAft>
              <a:buNone/>
            </a:pPr>
            <a:r>
              <a:rPr lang="en-US" sz="1200"/>
              <a:t>15.4.4 - Syntax Checker - Configure Floating Static Route</a:t>
            </a:r>
            <a:endParaRPr/>
          </a:p>
        </p:txBody>
      </p:sp>
      <p:sp>
        <p:nvSpPr>
          <p:cNvPr id="457" name="Google Shape;457;p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653592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24035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8" name="Google Shape;468;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15.5 - Configure Static Host Routes</a:t>
            </a:r>
            <a:endParaRPr/>
          </a:p>
          <a:p>
            <a:pPr marL="0" lvl="0" indent="0" algn="l" rtl="0">
              <a:spcBef>
                <a:spcPts val="0"/>
              </a:spcBef>
              <a:spcAft>
                <a:spcPts val="0"/>
              </a:spcAft>
              <a:buNone/>
            </a:pPr>
            <a:endParaRPr/>
          </a:p>
        </p:txBody>
      </p:sp>
      <p:sp>
        <p:nvSpPr>
          <p:cNvPr id="469" name="Google Shape;469;p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4" name="Google Shape;474;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15.5 - Configure Static Host Routes</a:t>
            </a:r>
            <a:endParaRPr/>
          </a:p>
          <a:p>
            <a:pPr marL="0" lvl="0" indent="0" algn="l" rtl="0">
              <a:spcBef>
                <a:spcPts val="0"/>
              </a:spcBef>
              <a:spcAft>
                <a:spcPts val="0"/>
              </a:spcAft>
              <a:buNone/>
            </a:pPr>
            <a:r>
              <a:rPr lang="en-US"/>
              <a:t>15.5.1 - Host Routes</a:t>
            </a:r>
            <a:endParaRPr/>
          </a:p>
        </p:txBody>
      </p:sp>
      <p:sp>
        <p:nvSpPr>
          <p:cNvPr id="475" name="Google Shape;475;p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1" name="Google Shape;481;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15.5 - Configure Static Host Routes</a:t>
            </a:r>
            <a:endParaRPr/>
          </a:p>
          <a:p>
            <a:pPr marL="0" lvl="0" indent="0" algn="l" rtl="0">
              <a:spcBef>
                <a:spcPts val="0"/>
              </a:spcBef>
              <a:spcAft>
                <a:spcPts val="0"/>
              </a:spcAft>
              <a:buNone/>
            </a:pPr>
            <a:r>
              <a:rPr lang="en-US"/>
              <a:t>15.5.2- </a:t>
            </a:r>
            <a:r>
              <a:rPr lang="en-US" sz="1200"/>
              <a:t>Automatically Installed Host Routes</a:t>
            </a:r>
            <a:endParaRPr/>
          </a:p>
        </p:txBody>
      </p:sp>
      <p:sp>
        <p:nvSpPr>
          <p:cNvPr id="482" name="Google Shape;482;p3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8" name="Google Shape;48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8" name="Google Shape;4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15.5 - Configure Static Host Routes</a:t>
            </a:r>
            <a:endParaRPr/>
          </a:p>
          <a:p>
            <a:pPr marL="0" lvl="0" indent="0" algn="l" rtl="0">
              <a:spcBef>
                <a:spcPts val="0"/>
              </a:spcBef>
              <a:spcAft>
                <a:spcPts val="0"/>
              </a:spcAft>
              <a:buNone/>
            </a:pPr>
            <a:r>
              <a:rPr lang="en-US"/>
              <a:t>15.5.3- </a:t>
            </a:r>
            <a:r>
              <a:rPr lang="en-US" sz="1200"/>
              <a:t>Static Host Routes</a:t>
            </a:r>
            <a:endParaRPr/>
          </a:p>
        </p:txBody>
      </p:sp>
      <p:sp>
        <p:nvSpPr>
          <p:cNvPr id="499" name="Google Shape;499;p3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8" name="Google Shape;508;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15.5 - Configure Static Host Routes</a:t>
            </a:r>
            <a:endParaRPr/>
          </a:p>
          <a:p>
            <a:pPr marL="0" lvl="0" indent="0" algn="l" rtl="0">
              <a:spcBef>
                <a:spcPts val="0"/>
              </a:spcBef>
              <a:spcAft>
                <a:spcPts val="0"/>
              </a:spcAft>
              <a:buNone/>
            </a:pPr>
            <a:r>
              <a:rPr lang="en-US"/>
              <a:t>15.5.4 - Configure </a:t>
            </a:r>
            <a:r>
              <a:rPr lang="en-US" sz="1200"/>
              <a:t>Static Host Routes</a:t>
            </a:r>
            <a:endParaRPr/>
          </a:p>
        </p:txBody>
      </p:sp>
      <p:sp>
        <p:nvSpPr>
          <p:cNvPr id="509" name="Google Shape;509;p3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5" name="Google Shape;515;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15.5 - Configure Static Host Routes</a:t>
            </a:r>
            <a:endParaRPr/>
          </a:p>
          <a:p>
            <a:pPr marL="0" lvl="0" indent="0" algn="l" rtl="0">
              <a:spcBef>
                <a:spcPts val="0"/>
              </a:spcBef>
              <a:spcAft>
                <a:spcPts val="0"/>
              </a:spcAft>
              <a:buNone/>
            </a:pPr>
            <a:r>
              <a:rPr lang="en-US"/>
              <a:t>15.5.5 - Verify </a:t>
            </a:r>
            <a:r>
              <a:rPr lang="en-US" sz="1200"/>
              <a:t>Static Host Routes</a:t>
            </a:r>
            <a:endParaRPr/>
          </a:p>
        </p:txBody>
      </p:sp>
      <p:sp>
        <p:nvSpPr>
          <p:cNvPr id="516" name="Google Shape;516;p3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3" name="Google Shape;523;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15.5 - Configure Static Host Routes</a:t>
            </a:r>
            <a:endParaRPr/>
          </a:p>
          <a:p>
            <a:pPr marL="0" lvl="0" indent="0" algn="l" rtl="0">
              <a:spcBef>
                <a:spcPts val="0"/>
              </a:spcBef>
              <a:spcAft>
                <a:spcPts val="0"/>
              </a:spcAft>
              <a:buNone/>
            </a:pPr>
            <a:r>
              <a:rPr lang="en-US"/>
              <a:t>15.5.6 - </a:t>
            </a:r>
            <a:r>
              <a:rPr lang="en-US" sz="1200"/>
              <a:t>Configure IPv6 Static Host Route with Link-Local Next-Hop</a:t>
            </a:r>
            <a:endParaRPr/>
          </a:p>
          <a:p>
            <a:pPr marL="0" lvl="0" indent="0" algn="l" rtl="0">
              <a:spcBef>
                <a:spcPts val="0"/>
              </a:spcBef>
              <a:spcAft>
                <a:spcPts val="0"/>
              </a:spcAft>
              <a:buNone/>
            </a:pPr>
            <a:r>
              <a:rPr lang="en-US" sz="1200"/>
              <a:t>15.5.7 - Syntax Checker - Configure Static Host Routes</a:t>
            </a:r>
            <a:endParaRPr/>
          </a:p>
        </p:txBody>
      </p:sp>
      <p:sp>
        <p:nvSpPr>
          <p:cNvPr id="524" name="Google Shape;524;p3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7" name="Google Shape;537;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15.6 - Module Practice and Quiz</a:t>
            </a:r>
            <a:endParaRPr/>
          </a:p>
          <a:p>
            <a:pPr marL="0" lvl="0" indent="0" algn="l" rtl="0">
              <a:spcBef>
                <a:spcPts val="0"/>
              </a:spcBef>
              <a:spcAft>
                <a:spcPts val="0"/>
              </a:spcAft>
              <a:buClr>
                <a:schemeClr val="dk1"/>
              </a:buClr>
              <a:buSzPts val="1200"/>
              <a:buFont typeface="Calibri"/>
              <a:buNone/>
            </a:pPr>
            <a:endParaRPr/>
          </a:p>
        </p:txBody>
      </p:sp>
      <p:sp>
        <p:nvSpPr>
          <p:cNvPr id="538" name="Google Shape;538;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3" name="Google Shape;543;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15.6 - Module Practice and Quiz</a:t>
            </a:r>
            <a:endParaRPr/>
          </a:p>
          <a:p>
            <a:pPr marL="0" lvl="0" indent="0" algn="l" rtl="0">
              <a:spcBef>
                <a:spcPts val="0"/>
              </a:spcBef>
              <a:spcAft>
                <a:spcPts val="0"/>
              </a:spcAft>
              <a:buNone/>
            </a:pPr>
            <a:r>
              <a:rPr lang="en-US"/>
              <a:t>15.6.1 - Packet Tracer - Configure IPv4 and IPv6 Static and Default Routes</a:t>
            </a:r>
            <a:endParaRPr/>
          </a:p>
        </p:txBody>
      </p:sp>
      <p:sp>
        <p:nvSpPr>
          <p:cNvPr id="544" name="Google Shape;544;p4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0" name="Google Shape;550;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15.6 - Module Practice and Quiz</a:t>
            </a:r>
            <a:endParaRPr/>
          </a:p>
          <a:p>
            <a:pPr marL="0" lvl="0" indent="0" algn="l" rtl="0">
              <a:spcBef>
                <a:spcPts val="0"/>
              </a:spcBef>
              <a:spcAft>
                <a:spcPts val="0"/>
              </a:spcAft>
              <a:buNone/>
            </a:pPr>
            <a:r>
              <a:rPr lang="en-US"/>
              <a:t>15.6.2 - Lab- Configure IPv4 and IPv6 Static and Default Routes</a:t>
            </a:r>
            <a:endParaRPr/>
          </a:p>
        </p:txBody>
      </p:sp>
      <p:sp>
        <p:nvSpPr>
          <p:cNvPr id="551" name="Google Shape;551;p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4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800">
                <a:solidFill>
                  <a:srgbClr val="000000"/>
                </a:solidFill>
                <a:latin typeface="Arial"/>
                <a:ea typeface="Arial"/>
                <a:cs typeface="Arial"/>
                <a:sym typeface="Arial"/>
              </a:rPr>
              <a:t>44</a:t>
            </a:fld>
            <a:endParaRPr sz="800">
              <a:solidFill>
                <a:srgbClr val="000000"/>
              </a:solidFill>
              <a:latin typeface="Arial"/>
              <a:ea typeface="Arial"/>
              <a:cs typeface="Arial"/>
              <a:sym typeface="Arial"/>
            </a:endParaRPr>
          </a:p>
        </p:txBody>
      </p:sp>
      <p:sp>
        <p:nvSpPr>
          <p:cNvPr id="557" name="Google Shape;557;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8" name="Google Shape;558;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15.6 - Module Practice and Quiz</a:t>
            </a:r>
            <a:endParaRPr/>
          </a:p>
          <a:p>
            <a:pPr marL="0" lvl="0" indent="0" algn="l" rtl="0">
              <a:spcBef>
                <a:spcPts val="0"/>
              </a:spcBef>
              <a:spcAft>
                <a:spcPts val="0"/>
              </a:spcAft>
              <a:buNone/>
            </a:pPr>
            <a:r>
              <a:rPr lang="en-US"/>
              <a:t>15.6.2 - What Did I Learn In This Module?</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4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800">
                <a:solidFill>
                  <a:srgbClr val="000000"/>
                </a:solidFill>
                <a:latin typeface="Arial"/>
                <a:ea typeface="Arial"/>
                <a:cs typeface="Arial"/>
                <a:sym typeface="Arial"/>
              </a:rPr>
              <a:t>45</a:t>
            </a:fld>
            <a:endParaRPr sz="800">
              <a:solidFill>
                <a:srgbClr val="000000"/>
              </a:solidFill>
              <a:latin typeface="Arial"/>
              <a:ea typeface="Arial"/>
              <a:cs typeface="Arial"/>
              <a:sym typeface="Arial"/>
            </a:endParaRPr>
          </a:p>
        </p:txBody>
      </p:sp>
      <p:sp>
        <p:nvSpPr>
          <p:cNvPr id="564" name="Google Shape;564;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5" name="Google Shape;565;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15.6 - Module Practice and Quiz</a:t>
            </a:r>
            <a:endParaRPr/>
          </a:p>
          <a:p>
            <a:pPr marL="0" lvl="0" indent="0" algn="l" rtl="0">
              <a:spcBef>
                <a:spcPts val="0"/>
              </a:spcBef>
              <a:spcAft>
                <a:spcPts val="0"/>
              </a:spcAft>
              <a:buNone/>
            </a:pPr>
            <a:r>
              <a:rPr lang="en-US"/>
              <a:t>15.6.2 - What Did I Learn In This Module? (Cont.)</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4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800">
                <a:solidFill>
                  <a:srgbClr val="000000"/>
                </a:solidFill>
                <a:latin typeface="Arial"/>
                <a:ea typeface="Arial"/>
                <a:cs typeface="Arial"/>
                <a:sym typeface="Arial"/>
              </a:rPr>
              <a:t>46</a:t>
            </a:fld>
            <a:endParaRPr sz="800">
              <a:solidFill>
                <a:srgbClr val="000000"/>
              </a:solidFill>
              <a:latin typeface="Arial"/>
              <a:ea typeface="Arial"/>
              <a:cs typeface="Arial"/>
              <a:sym typeface="Arial"/>
            </a:endParaRPr>
          </a:p>
        </p:txBody>
      </p:sp>
      <p:sp>
        <p:nvSpPr>
          <p:cNvPr id="571" name="Google Shape;571;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2" name="Google Shape;572;p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 IP Static Routing</a:t>
            </a:r>
            <a:endParaRPr/>
          </a:p>
          <a:p>
            <a:pPr marL="0" lvl="0" indent="0" algn="l" rtl="0">
              <a:spcBef>
                <a:spcPts val="0"/>
              </a:spcBef>
              <a:spcAft>
                <a:spcPts val="0"/>
              </a:spcAft>
              <a:buNone/>
            </a:pPr>
            <a:r>
              <a:rPr lang="en-US"/>
              <a:t>15.6 - Module Practice and Quiz</a:t>
            </a:r>
            <a:endParaRPr/>
          </a:p>
          <a:p>
            <a:pPr marL="0" lvl="0" indent="0" algn="l" rtl="0">
              <a:spcBef>
                <a:spcPts val="0"/>
              </a:spcBef>
              <a:spcAft>
                <a:spcPts val="0"/>
              </a:spcAft>
              <a:buNone/>
            </a:pPr>
            <a:r>
              <a:rPr lang="en-US"/>
              <a:t>15.6.2 - What Did I Learn In This Module?</a:t>
            </a:r>
            <a:endParaRPr/>
          </a:p>
          <a:p>
            <a:pPr marL="0" lvl="0" indent="0" algn="l" rtl="0">
              <a:spcBef>
                <a:spcPts val="0"/>
              </a:spcBef>
              <a:spcAft>
                <a:spcPts val="0"/>
              </a:spcAft>
              <a:buNone/>
            </a:pPr>
            <a:r>
              <a:rPr lang="en-US"/>
              <a:t>15.6.3 - Module Quiz - IP Static Routing</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4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800">
                <a:solidFill>
                  <a:srgbClr val="000000"/>
                </a:solidFill>
                <a:latin typeface="Arial"/>
                <a:ea typeface="Arial"/>
                <a:cs typeface="Arial"/>
                <a:sym typeface="Arial"/>
              </a:rPr>
              <a:t>47</a:t>
            </a:fld>
            <a:endParaRPr sz="800">
              <a:solidFill>
                <a:srgbClr val="000000"/>
              </a:solidFill>
              <a:latin typeface="Arial"/>
              <a:ea typeface="Arial"/>
              <a:cs typeface="Arial"/>
              <a:sym typeface="Arial"/>
            </a:endParaRPr>
          </a:p>
        </p:txBody>
      </p:sp>
      <p:sp>
        <p:nvSpPr>
          <p:cNvPr id="578" name="Google Shape;578;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9" name="Google Shape;579;p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Clr>
                <a:schemeClr val="dk1"/>
              </a:buClr>
              <a:buSzPts val="1200"/>
              <a:buFont typeface="Calibri"/>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5" name="Google Shape;585;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6" name="Google Shape;586;p4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3_Title Slide-animated gradient">
  <p:cSld name="3_Title Slide-animated gradient">
    <p:bg>
      <p:bgPr>
        <a:solidFill>
          <a:schemeClr val="accent5"/>
        </a:solidFill>
        <a:effectLst/>
      </p:bgPr>
    </p:bg>
    <p:spTree>
      <p:nvGrpSpPr>
        <p:cNvPr id="1" name="Shape 28"/>
        <p:cNvGrpSpPr/>
        <p:nvPr/>
      </p:nvGrpSpPr>
      <p:grpSpPr>
        <a:xfrm>
          <a:off x="0" y="0"/>
          <a:ext cx="0" cy="0"/>
          <a:chOff x="0" y="0"/>
          <a:chExt cx="0" cy="0"/>
        </a:xfrm>
      </p:grpSpPr>
      <p:pic>
        <p:nvPicPr>
          <p:cNvPr id="29" name="Google Shape;29;p48"/>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30" name="Google Shape;30;p48"/>
          <p:cNvSpPr txBox="1">
            <a:spLocks noGrp="1"/>
          </p:cNvSpPr>
          <p:nvPr>
            <p:ph type="subTitle" idx="1"/>
          </p:nvPr>
        </p:nvSpPr>
        <p:spPr>
          <a:xfrm>
            <a:off x="469496" y="3809526"/>
            <a:ext cx="4319105" cy="288131"/>
          </a:xfrm>
          <a:prstGeom prst="rect">
            <a:avLst/>
          </a:prstGeom>
          <a:noFill/>
          <a:ln>
            <a:noFill/>
          </a:ln>
        </p:spPr>
        <p:txBody>
          <a:bodyPr spcFirstLastPara="1" wrap="square" lIns="91400" tIns="45700" rIns="91400" bIns="45700" anchor="b" anchorCtr="0">
            <a:noAutofit/>
          </a:bodyPr>
          <a:lstStyle>
            <a:lvl1pPr marR="0" lvl="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R="0" lvl="1" algn="ctr" rtl="0">
              <a:lnSpc>
                <a:spcPct val="95000"/>
              </a:lnSpc>
              <a:spcBef>
                <a:spcPts val="600"/>
              </a:spcBef>
              <a:spcAft>
                <a:spcPts val="0"/>
              </a:spcAft>
              <a:buClr>
                <a:schemeClr val="dk2"/>
              </a:buClr>
              <a:buSzPts val="1400"/>
              <a:buFont typeface="Arial"/>
              <a:buNone/>
              <a:defRPr sz="1400" b="0" i="0" u="none" strike="noStrike" cap="none">
                <a:solidFill>
                  <a:srgbClr val="98989A"/>
                </a:solidFill>
                <a:latin typeface="Arial"/>
                <a:ea typeface="Arial"/>
                <a:cs typeface="Arial"/>
                <a:sym typeface="Arial"/>
              </a:defRPr>
            </a:lvl2pPr>
            <a:lvl3pPr marR="0" lvl="2" algn="ctr" rtl="0">
              <a:lnSpc>
                <a:spcPct val="95000"/>
              </a:lnSpc>
              <a:spcBef>
                <a:spcPts val="625"/>
              </a:spcBef>
              <a:spcAft>
                <a:spcPts val="0"/>
              </a:spcAft>
              <a:buClr>
                <a:srgbClr val="98989A"/>
              </a:buClr>
              <a:buSzPts val="1200"/>
              <a:buFont typeface="Arial"/>
              <a:buNone/>
              <a:defRPr sz="1200" b="0" i="0" u="none" strike="noStrike" cap="none">
                <a:solidFill>
                  <a:srgbClr val="98989A"/>
                </a:solidFill>
                <a:latin typeface="Arial"/>
                <a:ea typeface="Arial"/>
                <a:cs typeface="Arial"/>
                <a:sym typeface="Arial"/>
              </a:defRPr>
            </a:lvl3pPr>
            <a:lvl4pPr marR="0" lvl="3"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4pPr>
            <a:lvl5pPr marR="0" lvl="4"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5pPr>
            <a:lvl6pPr marR="0" lvl="5" algn="ctr" rtl="0">
              <a:spcBef>
                <a:spcPts val="600"/>
              </a:spcBef>
              <a:spcAft>
                <a:spcPts val="0"/>
              </a:spcAft>
              <a:buClr>
                <a:srgbClr val="98989A"/>
              </a:buClr>
              <a:buSzPts val="900"/>
              <a:buFont typeface="Arial"/>
              <a:buNone/>
              <a:defRPr sz="900" b="0" i="0" u="none" strike="noStrike" cap="none">
                <a:solidFill>
                  <a:srgbClr val="98989A"/>
                </a:solidFill>
                <a:latin typeface="Arial"/>
                <a:ea typeface="Arial"/>
                <a:cs typeface="Arial"/>
                <a:sym typeface="Arial"/>
              </a:defRPr>
            </a:lvl6pPr>
            <a:lvl7pPr marR="0" lvl="6" algn="ctr" rtl="0">
              <a:spcBef>
                <a:spcPts val="600"/>
              </a:spcBef>
              <a:spcAft>
                <a:spcPts val="0"/>
              </a:spcAft>
              <a:buClr>
                <a:srgbClr val="98989A"/>
              </a:buClr>
              <a:buSzPts val="800"/>
              <a:buFont typeface="Arial"/>
              <a:buNone/>
              <a:defRPr sz="800" b="0" i="0" u="none" strike="noStrike" cap="none">
                <a:solidFill>
                  <a:srgbClr val="98989A"/>
                </a:solidFill>
                <a:latin typeface="Arial"/>
                <a:ea typeface="Arial"/>
                <a:cs typeface="Arial"/>
                <a:sym typeface="Arial"/>
              </a:defRPr>
            </a:lvl7pPr>
            <a:lvl8pPr marR="0" lvl="7"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8pPr>
            <a:lvl9pPr marR="0" lvl="8"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9pPr>
          </a:lstStyle>
          <a:p>
            <a:endParaRPr/>
          </a:p>
        </p:txBody>
      </p:sp>
      <p:sp>
        <p:nvSpPr>
          <p:cNvPr id="31" name="Google Shape;31;p48"/>
          <p:cNvSpPr txBox="1">
            <a:spLocks noGrp="1"/>
          </p:cNvSpPr>
          <p:nvPr>
            <p:ph type="body" idx="2"/>
          </p:nvPr>
        </p:nvSpPr>
        <p:spPr>
          <a:xfrm>
            <a:off x="469496" y="4049523"/>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2" name="Google Shape;32;p48"/>
          <p:cNvSpPr txBox="1">
            <a:spLocks noGrp="1"/>
          </p:cNvSpPr>
          <p:nvPr>
            <p:ph type="body" idx="3"/>
          </p:nvPr>
        </p:nvSpPr>
        <p:spPr>
          <a:xfrm>
            <a:off x="469496" y="4289520"/>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3" name="Google Shape;33;p48"/>
          <p:cNvSpPr txBox="1">
            <a:spLocks noGrp="1"/>
          </p:cNvSpPr>
          <p:nvPr>
            <p:ph type="body" idx="4"/>
          </p:nvPr>
        </p:nvSpPr>
        <p:spPr>
          <a:xfrm>
            <a:off x="463292" y="2872236"/>
            <a:ext cx="5925246" cy="29900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lt2"/>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5000"/>
              </a:lnSpc>
              <a:spcBef>
                <a:spcPts val="625"/>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4" name="Google Shape;34;p48"/>
          <p:cNvSpPr txBox="1">
            <a:spLocks noGrp="1"/>
          </p:cNvSpPr>
          <p:nvPr>
            <p:ph type="ctrTitle"/>
          </p:nvPr>
        </p:nvSpPr>
        <p:spPr>
          <a:xfrm>
            <a:off x="425765" y="2300750"/>
            <a:ext cx="5955513" cy="644730"/>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rgbClr val="38C6F4"/>
              </a:buClr>
              <a:buSzPts val="3600"/>
              <a:buFont typeface="Arial"/>
              <a:buNone/>
              <a:defRPr sz="3600" b="0" i="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grpSp>
        <p:nvGrpSpPr>
          <p:cNvPr id="35" name="Google Shape;35;p48"/>
          <p:cNvGrpSpPr/>
          <p:nvPr/>
        </p:nvGrpSpPr>
        <p:grpSpPr>
          <a:xfrm>
            <a:off x="492125" y="395288"/>
            <a:ext cx="796924" cy="423863"/>
            <a:chOff x="310" y="249"/>
            <a:chExt cx="502" cy="267"/>
          </a:xfrm>
        </p:grpSpPr>
        <p:sp>
          <p:nvSpPr>
            <p:cNvPr id="36" name="Google Shape;36;p48"/>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 name="Google Shape;37;p48"/>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 name="Google Shape;38;p48"/>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 name="Google Shape;39;p48"/>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 name="Google Shape;40;p48"/>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 name="Google Shape;41;p48"/>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 name="Google Shape;42;p48"/>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3" name="Google Shape;43;p48"/>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 name="Google Shape;44;p48"/>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5" name="Google Shape;45;p48"/>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 name="Google Shape;46;p48"/>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 name="Google Shape;47;p48"/>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 name="Google Shape;48;p48"/>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 name="Google Shape;49;p48"/>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0"/>
        <p:cNvGrpSpPr/>
        <p:nvPr/>
      </p:nvGrpSpPr>
      <p:grpSpPr>
        <a:xfrm>
          <a:off x="0" y="0"/>
          <a:ext cx="0" cy="0"/>
          <a:chOff x="0" y="0"/>
          <a:chExt cx="0" cy="0"/>
        </a:xfrm>
      </p:grpSpPr>
      <p:sp>
        <p:nvSpPr>
          <p:cNvPr id="51" name="Google Shape;51;p49"/>
          <p:cNvSpPr txBox="1">
            <a:spLocks noGrp="1"/>
          </p:cNvSpPr>
          <p:nvPr>
            <p:ph type="sldNum" idx="12"/>
          </p:nvPr>
        </p:nvSpPr>
        <p:spPr>
          <a:xfrm>
            <a:off x="8473441" y="4954263"/>
            <a:ext cx="676910" cy="189238"/>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525">
                <a:solidFill>
                  <a:srgbClr val="595959"/>
                </a:solidFill>
                <a:latin typeface="Arial"/>
                <a:ea typeface="Arial"/>
                <a:cs typeface="Arial"/>
                <a:sym typeface="Arial"/>
              </a:defRPr>
            </a:lvl1pPr>
            <a:lvl2pPr marL="0" marR="0" lvl="1" indent="0" algn="r" rtl="0">
              <a:spcBef>
                <a:spcPts val="0"/>
              </a:spcBef>
              <a:spcAft>
                <a:spcPts val="0"/>
              </a:spcAft>
              <a:buNone/>
              <a:defRPr sz="525">
                <a:solidFill>
                  <a:srgbClr val="595959"/>
                </a:solidFill>
                <a:latin typeface="Arial"/>
                <a:ea typeface="Arial"/>
                <a:cs typeface="Arial"/>
                <a:sym typeface="Arial"/>
              </a:defRPr>
            </a:lvl2pPr>
            <a:lvl3pPr marL="0" marR="0" lvl="2" indent="0" algn="r" rtl="0">
              <a:spcBef>
                <a:spcPts val="0"/>
              </a:spcBef>
              <a:spcAft>
                <a:spcPts val="0"/>
              </a:spcAft>
              <a:buNone/>
              <a:defRPr sz="525">
                <a:solidFill>
                  <a:srgbClr val="595959"/>
                </a:solidFill>
                <a:latin typeface="Arial"/>
                <a:ea typeface="Arial"/>
                <a:cs typeface="Arial"/>
                <a:sym typeface="Arial"/>
              </a:defRPr>
            </a:lvl3pPr>
            <a:lvl4pPr marL="0" marR="0" lvl="3" indent="0" algn="r" rtl="0">
              <a:spcBef>
                <a:spcPts val="0"/>
              </a:spcBef>
              <a:spcAft>
                <a:spcPts val="0"/>
              </a:spcAft>
              <a:buNone/>
              <a:defRPr sz="525">
                <a:solidFill>
                  <a:srgbClr val="595959"/>
                </a:solidFill>
                <a:latin typeface="Arial"/>
                <a:ea typeface="Arial"/>
                <a:cs typeface="Arial"/>
                <a:sym typeface="Arial"/>
              </a:defRPr>
            </a:lvl4pPr>
            <a:lvl5pPr marL="0" marR="0" lvl="4" indent="0" algn="r" rtl="0">
              <a:spcBef>
                <a:spcPts val="0"/>
              </a:spcBef>
              <a:spcAft>
                <a:spcPts val="0"/>
              </a:spcAft>
              <a:buNone/>
              <a:defRPr sz="525">
                <a:solidFill>
                  <a:srgbClr val="595959"/>
                </a:solidFill>
                <a:latin typeface="Arial"/>
                <a:ea typeface="Arial"/>
                <a:cs typeface="Arial"/>
                <a:sym typeface="Arial"/>
              </a:defRPr>
            </a:lvl5pPr>
            <a:lvl6pPr marL="0" marR="0" lvl="5" indent="0" algn="r" rtl="0">
              <a:spcBef>
                <a:spcPts val="0"/>
              </a:spcBef>
              <a:spcAft>
                <a:spcPts val="0"/>
              </a:spcAft>
              <a:buNone/>
              <a:defRPr sz="525">
                <a:solidFill>
                  <a:srgbClr val="595959"/>
                </a:solidFill>
                <a:latin typeface="Arial"/>
                <a:ea typeface="Arial"/>
                <a:cs typeface="Arial"/>
                <a:sym typeface="Arial"/>
              </a:defRPr>
            </a:lvl6pPr>
            <a:lvl7pPr marL="0" marR="0" lvl="6" indent="0" algn="r" rtl="0">
              <a:spcBef>
                <a:spcPts val="0"/>
              </a:spcBef>
              <a:spcAft>
                <a:spcPts val="0"/>
              </a:spcAft>
              <a:buNone/>
              <a:defRPr sz="525">
                <a:solidFill>
                  <a:srgbClr val="595959"/>
                </a:solidFill>
                <a:latin typeface="Arial"/>
                <a:ea typeface="Arial"/>
                <a:cs typeface="Arial"/>
                <a:sym typeface="Arial"/>
              </a:defRPr>
            </a:lvl7pPr>
            <a:lvl8pPr marL="0" marR="0" lvl="7" indent="0" algn="r" rtl="0">
              <a:spcBef>
                <a:spcPts val="0"/>
              </a:spcBef>
              <a:spcAft>
                <a:spcPts val="0"/>
              </a:spcAft>
              <a:buNone/>
              <a:defRPr sz="525">
                <a:solidFill>
                  <a:srgbClr val="595959"/>
                </a:solidFill>
                <a:latin typeface="Arial"/>
                <a:ea typeface="Arial"/>
                <a:cs typeface="Arial"/>
                <a:sym typeface="Arial"/>
              </a:defRPr>
            </a:lvl8pPr>
            <a:lvl9pPr marL="0" marR="0" lvl="8" indent="0" algn="r" rtl="0">
              <a:spcBef>
                <a:spcPts val="0"/>
              </a:spcBef>
              <a:spcAft>
                <a:spcPts val="0"/>
              </a:spcAft>
              <a:buNone/>
              <a:defRPr sz="525">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52" name="Google Shape;52;p49"/>
          <p:cNvSpPr txBox="1">
            <a:spLocks noGrp="1"/>
          </p:cNvSpPr>
          <p:nvPr>
            <p:ph type="body" idx="1"/>
          </p:nvPr>
        </p:nvSpPr>
        <p:spPr>
          <a:xfrm>
            <a:off x="144065" y="798944"/>
            <a:ext cx="8853286" cy="4155319"/>
          </a:xfrm>
          <a:prstGeom prst="rect">
            <a:avLst/>
          </a:prstGeom>
          <a:noFill/>
          <a:ln>
            <a:noFill/>
          </a:ln>
        </p:spPr>
        <p:txBody>
          <a:bodyPr spcFirstLastPara="1" wrap="square" lIns="91425" tIns="45700" rIns="182875" bIns="45700" anchor="t" anchorCtr="0">
            <a:noAutofit/>
          </a:bodyPr>
          <a:lstStyle>
            <a:lvl1pPr marL="457200" marR="0" lvl="0" indent="-314325" algn="l" rtl="0">
              <a:lnSpc>
                <a:spcPct val="100000"/>
              </a:lnSpc>
              <a:spcBef>
                <a:spcPts val="600"/>
              </a:spcBef>
              <a:spcAft>
                <a:spcPts val="0"/>
              </a:spcAft>
              <a:buClr>
                <a:schemeClr val="dk2"/>
              </a:buClr>
              <a:buSzPts val="1350"/>
              <a:buFont typeface="Noto Sans Symbols"/>
              <a:buChar char="▪"/>
              <a:defRPr sz="1500" b="0" i="0" u="none" strike="noStrike" cap="none">
                <a:solidFill>
                  <a:srgbClr val="000000"/>
                </a:solidFill>
                <a:latin typeface="Arial"/>
                <a:ea typeface="Arial"/>
                <a:cs typeface="Arial"/>
                <a:sym typeface="Arial"/>
              </a:defRPr>
            </a:lvl1pPr>
            <a:lvl2pPr marL="914400" marR="0" lvl="1" indent="-317500" algn="l" rtl="0">
              <a:lnSpc>
                <a:spcPct val="100000"/>
              </a:lnSpc>
              <a:spcBef>
                <a:spcPts val="600"/>
              </a:spcBef>
              <a:spcAft>
                <a:spcPts val="0"/>
              </a:spcAft>
              <a:buClr>
                <a:schemeClr val="dk2"/>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04800" algn="l" rtl="0">
              <a:lnSpc>
                <a:spcPct val="100000"/>
              </a:lnSpc>
              <a:spcBef>
                <a:spcPts val="3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3pPr>
            <a:lvl4pPr marL="1828800" marR="0" lvl="3" indent="-298450" algn="l" rtl="0">
              <a:lnSpc>
                <a:spcPct val="100000"/>
              </a:lnSpc>
              <a:spcBef>
                <a:spcPts val="30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3" name="Google Shape;53;p49"/>
          <p:cNvSpPr txBox="1">
            <a:spLocks noGrp="1"/>
          </p:cNvSpPr>
          <p:nvPr>
            <p:ph type="title"/>
          </p:nvPr>
        </p:nvSpPr>
        <p:spPr>
          <a:xfrm>
            <a:off x="1" y="41393"/>
            <a:ext cx="9144000" cy="75755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2400"/>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3_Segue">
  <p:cSld name="3_Segue">
    <p:bg>
      <p:bgPr>
        <a:solidFill>
          <a:schemeClr val="lt1"/>
        </a:solidFill>
        <a:effectLst/>
      </p:bgPr>
    </p:bg>
    <p:spTree>
      <p:nvGrpSpPr>
        <p:cNvPr id="1" name="Shape 54"/>
        <p:cNvGrpSpPr/>
        <p:nvPr/>
      </p:nvGrpSpPr>
      <p:grpSpPr>
        <a:xfrm>
          <a:off x="0" y="0"/>
          <a:ext cx="0" cy="0"/>
          <a:chOff x="0" y="0"/>
          <a:chExt cx="0" cy="0"/>
        </a:xfrm>
      </p:grpSpPr>
      <p:sp>
        <p:nvSpPr>
          <p:cNvPr id="55" name="Google Shape;55;p50"/>
          <p:cNvSpPr/>
          <p:nvPr/>
        </p:nvSpPr>
        <p:spPr>
          <a:xfrm>
            <a:off x="0" y="0"/>
            <a:ext cx="9144000" cy="5143499"/>
          </a:xfrm>
          <a:prstGeom prst="rect">
            <a:avLst/>
          </a:prstGeom>
          <a:solidFill>
            <a:srgbClr val="00394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6" name="Google Shape;56;p50"/>
          <p:cNvSpPr txBox="1">
            <a:spLocks noGrp="1"/>
          </p:cNvSpPr>
          <p:nvPr>
            <p:ph type="ctrTitle"/>
          </p:nvPr>
        </p:nvSpPr>
        <p:spPr>
          <a:xfrm>
            <a:off x="416425" y="915409"/>
            <a:ext cx="7598042" cy="2569946"/>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chemeClr val="accent5"/>
              </a:buClr>
              <a:buSzPts val="4600"/>
              <a:buFont typeface="Arial"/>
              <a:buNone/>
              <a:defRPr sz="4600" b="0" i="0">
                <a:solidFill>
                  <a:schemeClr val="accent5"/>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57" name="Google Shape;57;p50"/>
          <p:cNvSpPr/>
          <p:nvPr/>
        </p:nvSpPr>
        <p:spPr>
          <a:xfrm>
            <a:off x="8515707" y="4742907"/>
            <a:ext cx="218414" cy="154518"/>
          </a:xfrm>
          <a:prstGeom prst="rect">
            <a:avLst/>
          </a:prstGeom>
          <a:noFill/>
          <a:ln>
            <a:noFill/>
          </a:ln>
        </p:spPr>
        <p:txBody>
          <a:bodyPr spcFirstLastPara="1" wrap="square" lIns="61575" tIns="30775" rIns="61575" bIns="30775" anchor="b" anchorCtr="0">
            <a:spAutoFit/>
          </a:bodyPr>
          <a:lstStyle/>
          <a:p>
            <a:pPr marL="0" marR="0" lvl="0" indent="0" algn="r" rtl="0">
              <a:spcBef>
                <a:spcPts val="0"/>
              </a:spcBef>
              <a:spcAft>
                <a:spcPts val="0"/>
              </a:spcAft>
              <a:buNone/>
            </a:pPr>
            <a:fld id="{00000000-1234-1234-1234-123412341234}" type="slidenum">
              <a:rPr lang="en-US" sz="600">
                <a:solidFill>
                  <a:srgbClr val="076D8E"/>
                </a:solidFill>
                <a:latin typeface="Arial"/>
                <a:ea typeface="Arial"/>
                <a:cs typeface="Arial"/>
                <a:sym typeface="Arial"/>
              </a:rPr>
              <a:t>‹#›</a:t>
            </a:fld>
            <a:endParaRPr sz="600">
              <a:solidFill>
                <a:srgbClr val="076D8E"/>
              </a:solidFill>
              <a:latin typeface="Arial"/>
              <a:ea typeface="Arial"/>
              <a:cs typeface="Arial"/>
              <a:sym typeface="Arial"/>
            </a:endParaRPr>
          </a:p>
        </p:txBody>
      </p:sp>
      <p:sp>
        <p:nvSpPr>
          <p:cNvPr id="58" name="Google Shape;58;p50"/>
          <p:cNvSpPr/>
          <p:nvPr/>
        </p:nvSpPr>
        <p:spPr>
          <a:xfrm>
            <a:off x="5867508" y="4741653"/>
            <a:ext cx="2658018" cy="154518"/>
          </a:xfrm>
          <a:prstGeom prst="rect">
            <a:avLst/>
          </a:prstGeom>
          <a:noFill/>
          <a:ln>
            <a:noFill/>
          </a:ln>
        </p:spPr>
        <p:txBody>
          <a:bodyPr spcFirstLastPara="1" wrap="square" lIns="61575" tIns="30775" rIns="61575" bIns="30775" anchor="b" anchorCtr="0">
            <a:spAutoFit/>
          </a:bodyPr>
          <a:lstStyle/>
          <a:p>
            <a:pPr marL="0" marR="0" lvl="0" indent="0" algn="l" rtl="0">
              <a:spcBef>
                <a:spcPts val="0"/>
              </a:spcBef>
              <a:spcAft>
                <a:spcPts val="0"/>
              </a:spcAft>
              <a:buNone/>
            </a:pPr>
            <a:r>
              <a:rPr lang="en-US" sz="600">
                <a:solidFill>
                  <a:srgbClr val="076D8E"/>
                </a:solidFill>
                <a:latin typeface="Arial"/>
                <a:ea typeface="Arial"/>
                <a:cs typeface="Arial"/>
                <a:sym typeface="Arial"/>
              </a:rPr>
              <a:t>© 2016  Cisco and/or its affiliates. All rights reserved.   Cisco Confidential</a:t>
            </a:r>
            <a:endParaRPr/>
          </a:p>
        </p:txBody>
      </p:sp>
      <p:grpSp>
        <p:nvGrpSpPr>
          <p:cNvPr id="59" name="Google Shape;59;p50"/>
          <p:cNvGrpSpPr/>
          <p:nvPr/>
        </p:nvGrpSpPr>
        <p:grpSpPr>
          <a:xfrm>
            <a:off x="508039" y="4715197"/>
            <a:ext cx="340257" cy="180974"/>
            <a:chOff x="310" y="249"/>
            <a:chExt cx="502" cy="267"/>
          </a:xfrm>
        </p:grpSpPr>
        <p:sp>
          <p:nvSpPr>
            <p:cNvPr id="60" name="Google Shape;60;p50"/>
            <p:cNvSpPr/>
            <p:nvPr/>
          </p:nvSpPr>
          <p:spPr>
            <a:xfrm>
              <a:off x="452" y="426"/>
              <a:ext cx="22" cy="88"/>
            </a:xfrm>
            <a:prstGeom prst="rect">
              <a:avLst/>
            </a:pr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 name="Google Shape;61;p50"/>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 name="Google Shape;62;p50"/>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 name="Google Shape;63;p50"/>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 name="Google Shape;64;p50"/>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 name="Google Shape;65;p50"/>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 name="Google Shape;66;p50"/>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7" name="Google Shape;67;p50"/>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 name="Google Shape;68;p50"/>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 name="Google Shape;69;p50"/>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 name="Google Shape;70;p50"/>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 name="Google Shape;71;p50"/>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 name="Google Shape;72;p50"/>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 name="Google Shape;73;p50"/>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ulti_Slide">
  <p:cSld name="Multi_Slide">
    <p:spTree>
      <p:nvGrpSpPr>
        <p:cNvPr id="1" name="Shape 74"/>
        <p:cNvGrpSpPr/>
        <p:nvPr/>
      </p:nvGrpSpPr>
      <p:grpSpPr>
        <a:xfrm>
          <a:off x="0" y="0"/>
          <a:ext cx="0" cy="0"/>
          <a:chOff x="0" y="0"/>
          <a:chExt cx="0" cy="0"/>
        </a:xfrm>
      </p:grpSpPr>
      <p:sp>
        <p:nvSpPr>
          <p:cNvPr id="75" name="Google Shape;75;p51"/>
          <p:cNvSpPr txBox="1">
            <a:spLocks noGrp="1"/>
          </p:cNvSpPr>
          <p:nvPr>
            <p:ph type="body" idx="1"/>
          </p:nvPr>
        </p:nvSpPr>
        <p:spPr>
          <a:xfrm>
            <a:off x="474662" y="1347788"/>
            <a:ext cx="8280057" cy="3073946"/>
          </a:xfrm>
          <a:prstGeom prst="rect">
            <a:avLst/>
          </a:prstGeom>
          <a:noFill/>
          <a:ln>
            <a:noFill/>
          </a:ln>
        </p:spPr>
        <p:txBody>
          <a:bodyPr spcFirstLastPara="1" wrap="square" lIns="91400" tIns="45700" rIns="91400" bIns="45700" anchor="t" anchorCtr="0">
            <a:noAutofit/>
          </a:bodyPr>
          <a:lstStyle>
            <a:lvl1pPr marL="457200" marR="0" lvl="0" indent="-228600" algn="ctr" rtl="0">
              <a:lnSpc>
                <a:spcPct val="100000"/>
              </a:lnSpc>
              <a:spcBef>
                <a:spcPts val="4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04800" algn="l" rtl="0">
              <a:lnSpc>
                <a:spcPct val="95000"/>
              </a:lnSpc>
              <a:spcBef>
                <a:spcPts val="625"/>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298450"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76" name="Google Shape;76;p51"/>
          <p:cNvSpPr txBox="1">
            <a:spLocks noGrp="1"/>
          </p:cNvSpPr>
          <p:nvPr>
            <p:ph type="title"/>
          </p:nvPr>
        </p:nvSpPr>
        <p:spPr>
          <a:xfrm>
            <a:off x="437766"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1_Closing Slide">
  <p:cSld name="1_Closing Slide">
    <p:bg>
      <p:bgPr>
        <a:solidFill>
          <a:schemeClr val="accent5"/>
        </a:solidFill>
        <a:effectLst/>
      </p:bgPr>
    </p:bg>
    <p:spTree>
      <p:nvGrpSpPr>
        <p:cNvPr id="1" name="Shape 77"/>
        <p:cNvGrpSpPr/>
        <p:nvPr/>
      </p:nvGrpSpPr>
      <p:grpSpPr>
        <a:xfrm>
          <a:off x="0" y="0"/>
          <a:ext cx="0" cy="0"/>
          <a:chOff x="0" y="0"/>
          <a:chExt cx="0" cy="0"/>
        </a:xfrm>
      </p:grpSpPr>
      <p:pic>
        <p:nvPicPr>
          <p:cNvPr id="78" name="Google Shape;78;p52"/>
          <p:cNvPicPr preferRelativeResize="0"/>
          <p:nvPr/>
        </p:nvPicPr>
        <p:blipFill rotWithShape="1">
          <a:blip r:embed="rId2">
            <a:alphaModFix/>
          </a:blip>
          <a:srcRect/>
          <a:stretch/>
        </p:blipFill>
        <p:spPr>
          <a:xfrm>
            <a:off x="0" y="1"/>
            <a:ext cx="9143999" cy="5165874"/>
          </a:xfrm>
          <a:prstGeom prst="rect">
            <a:avLst/>
          </a:prstGeom>
          <a:noFill/>
          <a:ln>
            <a:noFill/>
          </a:ln>
        </p:spPr>
      </p:pic>
      <p:grpSp>
        <p:nvGrpSpPr>
          <p:cNvPr id="79" name="Google Shape;79;p52"/>
          <p:cNvGrpSpPr/>
          <p:nvPr/>
        </p:nvGrpSpPr>
        <p:grpSpPr>
          <a:xfrm>
            <a:off x="3746294" y="2129856"/>
            <a:ext cx="1617944" cy="860542"/>
            <a:chOff x="310" y="249"/>
            <a:chExt cx="502" cy="267"/>
          </a:xfrm>
        </p:grpSpPr>
        <p:sp>
          <p:nvSpPr>
            <p:cNvPr id="80" name="Google Shape;80;p52"/>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1" name="Google Shape;81;p52"/>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2" name="Google Shape;82;p52"/>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3" name="Google Shape;83;p52"/>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4" name="Google Shape;84;p52"/>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5" name="Google Shape;85;p52"/>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6" name="Google Shape;86;p52"/>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7" name="Google Shape;87;p52"/>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8" name="Google Shape;88;p52"/>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9" name="Google Shape;89;p52"/>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0" name="Google Shape;90;p52"/>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 name="Google Shape;91;p52"/>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2" name="Google Shape;92;p52"/>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3" name="Google Shape;93;p52"/>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5_Title Slide-animated gradient">
  <p:cSld name="5_Title Slide-animated gradient">
    <p:bg>
      <p:bgPr>
        <a:solidFill>
          <a:schemeClr val="accent5"/>
        </a:solidFill>
        <a:effectLst/>
      </p:bgPr>
    </p:bg>
    <p:spTree>
      <p:nvGrpSpPr>
        <p:cNvPr id="1" name="Shape 94"/>
        <p:cNvGrpSpPr/>
        <p:nvPr/>
      </p:nvGrpSpPr>
      <p:grpSpPr>
        <a:xfrm>
          <a:off x="0" y="0"/>
          <a:ext cx="0" cy="0"/>
          <a:chOff x="0" y="0"/>
          <a:chExt cx="0" cy="0"/>
        </a:xfrm>
      </p:grpSpPr>
      <p:sp>
        <p:nvSpPr>
          <p:cNvPr id="95" name="Google Shape;95;p53"/>
          <p:cNvSpPr txBox="1">
            <a:spLocks noGrp="1"/>
          </p:cNvSpPr>
          <p:nvPr>
            <p:ph type="subTitle" idx="1"/>
          </p:nvPr>
        </p:nvSpPr>
        <p:spPr>
          <a:xfrm>
            <a:off x="469496" y="3809526"/>
            <a:ext cx="4319105" cy="288131"/>
          </a:xfrm>
          <a:prstGeom prst="rect">
            <a:avLst/>
          </a:prstGeom>
          <a:noFill/>
          <a:ln>
            <a:noFill/>
          </a:ln>
        </p:spPr>
        <p:txBody>
          <a:bodyPr spcFirstLastPara="1" wrap="square" lIns="91400" tIns="45700" rIns="91400" bIns="45700" anchor="b" anchorCtr="0">
            <a:noAutofit/>
          </a:bodyPr>
          <a:lstStyle>
            <a:lvl1pPr marR="0" lvl="0" algn="l" rtl="0">
              <a:lnSpc>
                <a:spcPct val="95000"/>
              </a:lnSpc>
              <a:spcBef>
                <a:spcPts val="1075"/>
              </a:spcBef>
              <a:spcAft>
                <a:spcPts val="0"/>
              </a:spcAft>
              <a:buClr>
                <a:schemeClr val="dk2"/>
              </a:buClr>
              <a:buSzPts val="1080"/>
              <a:buFont typeface="Arial"/>
              <a:buNone/>
              <a:defRPr sz="1200" b="0" i="0" u="none" strike="noStrike" cap="none">
                <a:solidFill>
                  <a:schemeClr val="accent1"/>
                </a:solidFill>
                <a:latin typeface="Arial"/>
                <a:ea typeface="Arial"/>
                <a:cs typeface="Arial"/>
                <a:sym typeface="Arial"/>
              </a:defRPr>
            </a:lvl1pPr>
            <a:lvl2pPr marR="0" lvl="1" algn="ctr" rtl="0">
              <a:lnSpc>
                <a:spcPct val="95000"/>
              </a:lnSpc>
              <a:spcBef>
                <a:spcPts val="600"/>
              </a:spcBef>
              <a:spcAft>
                <a:spcPts val="0"/>
              </a:spcAft>
              <a:buClr>
                <a:schemeClr val="dk2"/>
              </a:buClr>
              <a:buSzPts val="1400"/>
              <a:buFont typeface="Arial"/>
              <a:buNone/>
              <a:defRPr sz="1400" b="0" i="0" u="none" strike="noStrike" cap="none">
                <a:solidFill>
                  <a:srgbClr val="98989A"/>
                </a:solidFill>
                <a:latin typeface="Arial"/>
                <a:ea typeface="Arial"/>
                <a:cs typeface="Arial"/>
                <a:sym typeface="Arial"/>
              </a:defRPr>
            </a:lvl2pPr>
            <a:lvl3pPr marR="0" lvl="2" algn="ctr" rtl="0">
              <a:lnSpc>
                <a:spcPct val="95000"/>
              </a:lnSpc>
              <a:spcBef>
                <a:spcPts val="625"/>
              </a:spcBef>
              <a:spcAft>
                <a:spcPts val="0"/>
              </a:spcAft>
              <a:buClr>
                <a:srgbClr val="98989A"/>
              </a:buClr>
              <a:buSzPts val="1200"/>
              <a:buFont typeface="Arial"/>
              <a:buNone/>
              <a:defRPr sz="1200" b="0" i="0" u="none" strike="noStrike" cap="none">
                <a:solidFill>
                  <a:srgbClr val="98989A"/>
                </a:solidFill>
                <a:latin typeface="Arial"/>
                <a:ea typeface="Arial"/>
                <a:cs typeface="Arial"/>
                <a:sym typeface="Arial"/>
              </a:defRPr>
            </a:lvl3pPr>
            <a:lvl4pPr marR="0" lvl="3"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4pPr>
            <a:lvl5pPr marR="0" lvl="4"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5pPr>
            <a:lvl6pPr marR="0" lvl="5" algn="ctr" rtl="0">
              <a:spcBef>
                <a:spcPts val="600"/>
              </a:spcBef>
              <a:spcAft>
                <a:spcPts val="0"/>
              </a:spcAft>
              <a:buClr>
                <a:srgbClr val="98989A"/>
              </a:buClr>
              <a:buSzPts val="900"/>
              <a:buFont typeface="Arial"/>
              <a:buNone/>
              <a:defRPr sz="900" b="0" i="0" u="none" strike="noStrike" cap="none">
                <a:solidFill>
                  <a:srgbClr val="98989A"/>
                </a:solidFill>
                <a:latin typeface="Arial"/>
                <a:ea typeface="Arial"/>
                <a:cs typeface="Arial"/>
                <a:sym typeface="Arial"/>
              </a:defRPr>
            </a:lvl6pPr>
            <a:lvl7pPr marR="0" lvl="6" algn="ctr" rtl="0">
              <a:spcBef>
                <a:spcPts val="600"/>
              </a:spcBef>
              <a:spcAft>
                <a:spcPts val="0"/>
              </a:spcAft>
              <a:buClr>
                <a:srgbClr val="98989A"/>
              </a:buClr>
              <a:buSzPts val="800"/>
              <a:buFont typeface="Arial"/>
              <a:buNone/>
              <a:defRPr sz="800" b="0" i="0" u="none" strike="noStrike" cap="none">
                <a:solidFill>
                  <a:srgbClr val="98989A"/>
                </a:solidFill>
                <a:latin typeface="Arial"/>
                <a:ea typeface="Arial"/>
                <a:cs typeface="Arial"/>
                <a:sym typeface="Arial"/>
              </a:defRPr>
            </a:lvl7pPr>
            <a:lvl8pPr marR="0" lvl="7"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8pPr>
            <a:lvl9pPr marR="0" lvl="8"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9pPr>
          </a:lstStyle>
          <a:p>
            <a:endParaRPr/>
          </a:p>
        </p:txBody>
      </p:sp>
      <p:sp>
        <p:nvSpPr>
          <p:cNvPr id="96" name="Google Shape;96;p53"/>
          <p:cNvSpPr txBox="1">
            <a:spLocks noGrp="1"/>
          </p:cNvSpPr>
          <p:nvPr>
            <p:ph type="body" idx="2"/>
          </p:nvPr>
        </p:nvSpPr>
        <p:spPr>
          <a:xfrm>
            <a:off x="469496" y="4049523"/>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1"/>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97" name="Google Shape;97;p53"/>
          <p:cNvSpPr txBox="1">
            <a:spLocks noGrp="1"/>
          </p:cNvSpPr>
          <p:nvPr>
            <p:ph type="body" idx="3"/>
          </p:nvPr>
        </p:nvSpPr>
        <p:spPr>
          <a:xfrm>
            <a:off x="469496" y="4289520"/>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1"/>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grpSp>
        <p:nvGrpSpPr>
          <p:cNvPr id="98" name="Google Shape;98;p53"/>
          <p:cNvGrpSpPr/>
          <p:nvPr/>
        </p:nvGrpSpPr>
        <p:grpSpPr>
          <a:xfrm>
            <a:off x="492125" y="395288"/>
            <a:ext cx="796924" cy="423863"/>
            <a:chOff x="310" y="249"/>
            <a:chExt cx="502" cy="267"/>
          </a:xfrm>
        </p:grpSpPr>
        <p:sp>
          <p:nvSpPr>
            <p:cNvPr id="99" name="Google Shape;99;p53"/>
            <p:cNvSpPr/>
            <p:nvPr/>
          </p:nvSpPr>
          <p:spPr>
            <a:xfrm>
              <a:off x="452" y="426"/>
              <a:ext cx="22" cy="88"/>
            </a:xfrm>
            <a:prstGeom prst="rect">
              <a:avLst/>
            </a:pr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 name="Google Shape;100;p53"/>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 name="Google Shape;101;p53"/>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2" name="Google Shape;102;p53"/>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 name="Google Shape;103;p53"/>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 name="Google Shape;104;p53"/>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 name="Google Shape;105;p53"/>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6" name="Google Shape;106;p53"/>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7" name="Google Shape;107;p53"/>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8" name="Google Shape;108;p53"/>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9" name="Google Shape;109;p53"/>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0" name="Google Shape;110;p53"/>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1" name="Google Shape;111;p53"/>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2" name="Google Shape;112;p53"/>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13" name="Google Shape;113;p53"/>
          <p:cNvSpPr txBox="1">
            <a:spLocks noGrp="1"/>
          </p:cNvSpPr>
          <p:nvPr>
            <p:ph type="body" idx="4"/>
          </p:nvPr>
        </p:nvSpPr>
        <p:spPr>
          <a:xfrm>
            <a:off x="463292" y="2872236"/>
            <a:ext cx="5925246" cy="29900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5000"/>
              </a:lnSpc>
              <a:spcBef>
                <a:spcPts val="625"/>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14" name="Google Shape;114;p53"/>
          <p:cNvSpPr txBox="1">
            <a:spLocks noGrp="1"/>
          </p:cNvSpPr>
          <p:nvPr>
            <p:ph type="ctrTitle"/>
          </p:nvPr>
        </p:nvSpPr>
        <p:spPr>
          <a:xfrm>
            <a:off x="425765" y="2300750"/>
            <a:ext cx="5955513" cy="644730"/>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chemeClr val="accent1"/>
              </a:buClr>
              <a:buSzPts val="3600"/>
              <a:buFont typeface="Arial"/>
              <a:buNone/>
              <a:defRPr sz="3600" b="0" i="0">
                <a:solidFill>
                  <a:schemeClr val="accen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6_Title Slide-animated gradient">
  <p:cSld name="6_Title Slide-animated gradient">
    <p:bg>
      <p:bgPr>
        <a:solidFill>
          <a:schemeClr val="accent5"/>
        </a:solidFill>
        <a:effectLst/>
      </p:bgPr>
    </p:bg>
    <p:spTree>
      <p:nvGrpSpPr>
        <p:cNvPr id="1" name="Shape 115"/>
        <p:cNvGrpSpPr/>
        <p:nvPr/>
      </p:nvGrpSpPr>
      <p:grpSpPr>
        <a:xfrm>
          <a:off x="0" y="0"/>
          <a:ext cx="0" cy="0"/>
          <a:chOff x="0" y="0"/>
          <a:chExt cx="0" cy="0"/>
        </a:xfrm>
      </p:grpSpPr>
      <p:sp>
        <p:nvSpPr>
          <p:cNvPr id="116" name="Google Shape;116;p54"/>
          <p:cNvSpPr/>
          <p:nvPr/>
        </p:nvSpPr>
        <p:spPr>
          <a:xfrm>
            <a:off x="0" y="0"/>
            <a:ext cx="9144000" cy="5143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7" name="Google Shape;117;p54"/>
          <p:cNvSpPr txBox="1">
            <a:spLocks noGrp="1"/>
          </p:cNvSpPr>
          <p:nvPr>
            <p:ph type="subTitle" idx="1"/>
          </p:nvPr>
        </p:nvSpPr>
        <p:spPr>
          <a:xfrm>
            <a:off x="469496" y="3809526"/>
            <a:ext cx="4319105" cy="288131"/>
          </a:xfrm>
          <a:prstGeom prst="rect">
            <a:avLst/>
          </a:prstGeom>
          <a:noFill/>
          <a:ln>
            <a:noFill/>
          </a:ln>
        </p:spPr>
        <p:txBody>
          <a:bodyPr spcFirstLastPara="1" wrap="square" lIns="91400" tIns="45700" rIns="91400" bIns="45700" anchor="b" anchorCtr="0">
            <a:noAutofit/>
          </a:bodyPr>
          <a:lstStyle>
            <a:lvl1pPr marR="0" lvl="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R="0" lvl="1" algn="ctr" rtl="0">
              <a:lnSpc>
                <a:spcPct val="95000"/>
              </a:lnSpc>
              <a:spcBef>
                <a:spcPts val="600"/>
              </a:spcBef>
              <a:spcAft>
                <a:spcPts val="0"/>
              </a:spcAft>
              <a:buClr>
                <a:schemeClr val="dk2"/>
              </a:buClr>
              <a:buSzPts val="1400"/>
              <a:buFont typeface="Arial"/>
              <a:buNone/>
              <a:defRPr sz="1400" b="0" i="0" u="none" strike="noStrike" cap="none">
                <a:solidFill>
                  <a:srgbClr val="98989A"/>
                </a:solidFill>
                <a:latin typeface="Arial"/>
                <a:ea typeface="Arial"/>
                <a:cs typeface="Arial"/>
                <a:sym typeface="Arial"/>
              </a:defRPr>
            </a:lvl2pPr>
            <a:lvl3pPr marR="0" lvl="2" algn="ctr" rtl="0">
              <a:lnSpc>
                <a:spcPct val="95000"/>
              </a:lnSpc>
              <a:spcBef>
                <a:spcPts val="625"/>
              </a:spcBef>
              <a:spcAft>
                <a:spcPts val="0"/>
              </a:spcAft>
              <a:buClr>
                <a:srgbClr val="98989A"/>
              </a:buClr>
              <a:buSzPts val="1200"/>
              <a:buFont typeface="Arial"/>
              <a:buNone/>
              <a:defRPr sz="1200" b="0" i="0" u="none" strike="noStrike" cap="none">
                <a:solidFill>
                  <a:srgbClr val="98989A"/>
                </a:solidFill>
                <a:latin typeface="Arial"/>
                <a:ea typeface="Arial"/>
                <a:cs typeface="Arial"/>
                <a:sym typeface="Arial"/>
              </a:defRPr>
            </a:lvl3pPr>
            <a:lvl4pPr marR="0" lvl="3"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4pPr>
            <a:lvl5pPr marR="0" lvl="4"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5pPr>
            <a:lvl6pPr marR="0" lvl="5" algn="ctr" rtl="0">
              <a:spcBef>
                <a:spcPts val="600"/>
              </a:spcBef>
              <a:spcAft>
                <a:spcPts val="0"/>
              </a:spcAft>
              <a:buClr>
                <a:srgbClr val="98989A"/>
              </a:buClr>
              <a:buSzPts val="900"/>
              <a:buFont typeface="Arial"/>
              <a:buNone/>
              <a:defRPr sz="900" b="0" i="0" u="none" strike="noStrike" cap="none">
                <a:solidFill>
                  <a:srgbClr val="98989A"/>
                </a:solidFill>
                <a:latin typeface="Arial"/>
                <a:ea typeface="Arial"/>
                <a:cs typeface="Arial"/>
                <a:sym typeface="Arial"/>
              </a:defRPr>
            </a:lvl6pPr>
            <a:lvl7pPr marR="0" lvl="6" algn="ctr" rtl="0">
              <a:spcBef>
                <a:spcPts val="600"/>
              </a:spcBef>
              <a:spcAft>
                <a:spcPts val="0"/>
              </a:spcAft>
              <a:buClr>
                <a:srgbClr val="98989A"/>
              </a:buClr>
              <a:buSzPts val="800"/>
              <a:buFont typeface="Arial"/>
              <a:buNone/>
              <a:defRPr sz="800" b="0" i="0" u="none" strike="noStrike" cap="none">
                <a:solidFill>
                  <a:srgbClr val="98989A"/>
                </a:solidFill>
                <a:latin typeface="Arial"/>
                <a:ea typeface="Arial"/>
                <a:cs typeface="Arial"/>
                <a:sym typeface="Arial"/>
              </a:defRPr>
            </a:lvl7pPr>
            <a:lvl8pPr marR="0" lvl="7"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8pPr>
            <a:lvl9pPr marR="0" lvl="8"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9pPr>
          </a:lstStyle>
          <a:p>
            <a:endParaRPr/>
          </a:p>
        </p:txBody>
      </p:sp>
      <p:sp>
        <p:nvSpPr>
          <p:cNvPr id="118" name="Google Shape;118;p54"/>
          <p:cNvSpPr txBox="1">
            <a:spLocks noGrp="1"/>
          </p:cNvSpPr>
          <p:nvPr>
            <p:ph type="body" idx="2"/>
          </p:nvPr>
        </p:nvSpPr>
        <p:spPr>
          <a:xfrm>
            <a:off x="469496" y="4049523"/>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19" name="Google Shape;119;p54"/>
          <p:cNvSpPr txBox="1">
            <a:spLocks noGrp="1"/>
          </p:cNvSpPr>
          <p:nvPr>
            <p:ph type="body" idx="3"/>
          </p:nvPr>
        </p:nvSpPr>
        <p:spPr>
          <a:xfrm>
            <a:off x="469496" y="4289520"/>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grpSp>
        <p:nvGrpSpPr>
          <p:cNvPr id="120" name="Google Shape;120;p54"/>
          <p:cNvGrpSpPr/>
          <p:nvPr/>
        </p:nvGrpSpPr>
        <p:grpSpPr>
          <a:xfrm>
            <a:off x="492125" y="395288"/>
            <a:ext cx="796924" cy="423863"/>
            <a:chOff x="310" y="249"/>
            <a:chExt cx="502" cy="267"/>
          </a:xfrm>
        </p:grpSpPr>
        <p:sp>
          <p:nvSpPr>
            <p:cNvPr id="121" name="Google Shape;121;p54"/>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2" name="Google Shape;122;p54"/>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3" name="Google Shape;123;p54"/>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4" name="Google Shape;124;p54"/>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5" name="Google Shape;125;p54"/>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6" name="Google Shape;126;p54"/>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7" name="Google Shape;127;p54"/>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8" name="Google Shape;128;p54"/>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9" name="Google Shape;129;p54"/>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0" name="Google Shape;130;p54"/>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1" name="Google Shape;131;p54"/>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2" name="Google Shape;132;p54"/>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3" name="Google Shape;133;p54"/>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4" name="Google Shape;134;p54"/>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35" name="Google Shape;135;p54"/>
          <p:cNvSpPr txBox="1">
            <a:spLocks noGrp="1"/>
          </p:cNvSpPr>
          <p:nvPr>
            <p:ph type="body" idx="4"/>
          </p:nvPr>
        </p:nvSpPr>
        <p:spPr>
          <a:xfrm>
            <a:off x="463292" y="2872236"/>
            <a:ext cx="5925246" cy="29900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lt2"/>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5000"/>
              </a:lnSpc>
              <a:spcBef>
                <a:spcPts val="625"/>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36" name="Google Shape;136;p54"/>
          <p:cNvSpPr txBox="1">
            <a:spLocks noGrp="1"/>
          </p:cNvSpPr>
          <p:nvPr>
            <p:ph type="ctrTitle"/>
          </p:nvPr>
        </p:nvSpPr>
        <p:spPr>
          <a:xfrm>
            <a:off x="425765" y="2300750"/>
            <a:ext cx="5955513" cy="644730"/>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rgbClr val="38C6F4"/>
              </a:buClr>
              <a:buSzPts val="3600"/>
              <a:buFont typeface="Arial"/>
              <a:buNone/>
              <a:defRPr sz="3600" b="0" i="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137"/>
        <p:cNvGrpSpPr/>
        <p:nvPr/>
      </p:nvGrpSpPr>
      <p:grpSpPr>
        <a:xfrm>
          <a:off x="0" y="0"/>
          <a:ext cx="0" cy="0"/>
          <a:chOff x="0" y="0"/>
          <a:chExt cx="0" cy="0"/>
        </a:xfrm>
      </p:grpSpPr>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_Circled_Bullets">
  <p:cSld name="2_Circled_Bullets">
    <p:spTree>
      <p:nvGrpSpPr>
        <p:cNvPr id="1" name="Shape 138"/>
        <p:cNvGrpSpPr/>
        <p:nvPr/>
      </p:nvGrpSpPr>
      <p:grpSpPr>
        <a:xfrm>
          <a:off x="0" y="0"/>
          <a:ext cx="0" cy="0"/>
          <a:chOff x="0" y="0"/>
          <a:chExt cx="0" cy="0"/>
        </a:xfrm>
      </p:grpSpPr>
      <p:sp>
        <p:nvSpPr>
          <p:cNvPr id="139" name="Google Shape;139;p56"/>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140" name="Google Shape;140;p56"/>
          <p:cNvSpPr/>
          <p:nvPr/>
        </p:nvSpPr>
        <p:spPr>
          <a:xfrm>
            <a:off x="575610" y="2552550"/>
            <a:ext cx="698624" cy="698624"/>
          </a:xfrm>
          <a:prstGeom prst="ellipse">
            <a:avLst/>
          </a:prstGeom>
          <a:solidFill>
            <a:schemeClr val="lt2"/>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rgbClr val="FFFFFF"/>
              </a:solidFill>
              <a:latin typeface="Arial"/>
              <a:ea typeface="Arial"/>
              <a:cs typeface="Arial"/>
              <a:sym typeface="Arial"/>
            </a:endParaRPr>
          </a:p>
        </p:txBody>
      </p:sp>
      <p:sp>
        <p:nvSpPr>
          <p:cNvPr id="141" name="Google Shape;141;p56"/>
          <p:cNvSpPr/>
          <p:nvPr/>
        </p:nvSpPr>
        <p:spPr>
          <a:xfrm>
            <a:off x="575610" y="1426607"/>
            <a:ext cx="698624" cy="698624"/>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lt1"/>
              </a:solidFill>
              <a:latin typeface="Arial"/>
              <a:ea typeface="Arial"/>
              <a:cs typeface="Arial"/>
              <a:sym typeface="Arial"/>
            </a:endParaRPr>
          </a:p>
        </p:txBody>
      </p:sp>
      <p:sp>
        <p:nvSpPr>
          <p:cNvPr id="142" name="Google Shape;142;p56"/>
          <p:cNvSpPr/>
          <p:nvPr/>
        </p:nvSpPr>
        <p:spPr>
          <a:xfrm>
            <a:off x="575610" y="3653093"/>
            <a:ext cx="698624" cy="698624"/>
          </a:xfrm>
          <a:prstGeom prst="ellipse">
            <a:avLst/>
          </a:prstGeom>
          <a:solidFill>
            <a:schemeClr val="accent5"/>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rgbClr val="049FD9"/>
              </a:solidFill>
              <a:latin typeface="Arial"/>
              <a:ea typeface="Arial"/>
              <a:cs typeface="Arial"/>
              <a:sym typeface="Arial"/>
            </a:endParaRPr>
          </a:p>
        </p:txBody>
      </p:sp>
      <p:sp>
        <p:nvSpPr>
          <p:cNvPr id="143" name="Google Shape;143;p56"/>
          <p:cNvSpPr txBox="1">
            <a:spLocks noGrp="1"/>
          </p:cNvSpPr>
          <p:nvPr>
            <p:ph type="body" idx="1"/>
          </p:nvPr>
        </p:nvSpPr>
        <p:spPr>
          <a:xfrm>
            <a:off x="1365250" y="1432522"/>
            <a:ext cx="5473700" cy="693381"/>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44" name="Google Shape;144;p56"/>
          <p:cNvSpPr txBox="1">
            <a:spLocks noGrp="1"/>
          </p:cNvSpPr>
          <p:nvPr>
            <p:ph type="body" idx="2"/>
          </p:nvPr>
        </p:nvSpPr>
        <p:spPr>
          <a:xfrm>
            <a:off x="1365250" y="2557793"/>
            <a:ext cx="5473700" cy="693381"/>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45" name="Google Shape;145;p56"/>
          <p:cNvSpPr txBox="1">
            <a:spLocks noGrp="1"/>
          </p:cNvSpPr>
          <p:nvPr>
            <p:ph type="body" idx="3"/>
          </p:nvPr>
        </p:nvSpPr>
        <p:spPr>
          <a:xfrm>
            <a:off x="1365250" y="3653093"/>
            <a:ext cx="5473700" cy="693381"/>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46" name="Google Shape;146;p56"/>
          <p:cNvSpPr txBox="1">
            <a:spLocks noGrp="1"/>
          </p:cNvSpPr>
          <p:nvPr>
            <p:ph type="body" idx="4"/>
          </p:nvPr>
        </p:nvSpPr>
        <p:spPr>
          <a:xfrm>
            <a:off x="575610" y="2552550"/>
            <a:ext cx="698624" cy="693381"/>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3600"/>
              <a:buFont typeface="Arial"/>
              <a:buNone/>
              <a:defRPr sz="4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47" name="Google Shape;147;p56"/>
          <p:cNvSpPr txBox="1">
            <a:spLocks noGrp="1"/>
          </p:cNvSpPr>
          <p:nvPr>
            <p:ph type="body" idx="5"/>
          </p:nvPr>
        </p:nvSpPr>
        <p:spPr>
          <a:xfrm>
            <a:off x="575611" y="3651140"/>
            <a:ext cx="698624" cy="693381"/>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3600"/>
              <a:buFont typeface="Arial"/>
              <a:buNone/>
              <a:defRPr sz="4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48" name="Google Shape;148;p56"/>
          <p:cNvSpPr txBox="1">
            <a:spLocks noGrp="1"/>
          </p:cNvSpPr>
          <p:nvPr>
            <p:ph type="body" idx="6"/>
          </p:nvPr>
        </p:nvSpPr>
        <p:spPr>
          <a:xfrm>
            <a:off x="575610" y="1427248"/>
            <a:ext cx="698624" cy="693381"/>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3600"/>
              <a:buFont typeface="Arial"/>
              <a:buNone/>
              <a:defRPr sz="4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5_Circled_Bullets">
  <p:cSld name="5_Circled_Bullets">
    <p:spTree>
      <p:nvGrpSpPr>
        <p:cNvPr id="1" name="Shape 149"/>
        <p:cNvGrpSpPr/>
        <p:nvPr/>
      </p:nvGrpSpPr>
      <p:grpSpPr>
        <a:xfrm>
          <a:off x="0" y="0"/>
          <a:ext cx="0" cy="0"/>
          <a:chOff x="0" y="0"/>
          <a:chExt cx="0" cy="0"/>
        </a:xfrm>
      </p:grpSpPr>
      <p:sp>
        <p:nvSpPr>
          <p:cNvPr id="150" name="Google Shape;150;p57"/>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151" name="Google Shape;151;p57"/>
          <p:cNvSpPr/>
          <p:nvPr/>
        </p:nvSpPr>
        <p:spPr>
          <a:xfrm>
            <a:off x="575611" y="1979318"/>
            <a:ext cx="464815" cy="464815"/>
          </a:xfrm>
          <a:prstGeom prst="ellipse">
            <a:avLst/>
          </a:prstGeom>
          <a:solidFill>
            <a:srgbClr val="38C6F4"/>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accent5"/>
              </a:solidFill>
              <a:latin typeface="Arial"/>
              <a:ea typeface="Arial"/>
              <a:cs typeface="Arial"/>
              <a:sym typeface="Arial"/>
            </a:endParaRPr>
          </a:p>
        </p:txBody>
      </p:sp>
      <p:sp>
        <p:nvSpPr>
          <p:cNvPr id="152" name="Google Shape;152;p57"/>
          <p:cNvSpPr/>
          <p:nvPr/>
        </p:nvSpPr>
        <p:spPr>
          <a:xfrm>
            <a:off x="575610" y="1328927"/>
            <a:ext cx="464815" cy="464815"/>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accent5"/>
              </a:solidFill>
              <a:latin typeface="Arial"/>
              <a:ea typeface="Arial"/>
              <a:cs typeface="Arial"/>
              <a:sym typeface="Arial"/>
            </a:endParaRPr>
          </a:p>
        </p:txBody>
      </p:sp>
      <p:sp>
        <p:nvSpPr>
          <p:cNvPr id="153" name="Google Shape;153;p57"/>
          <p:cNvSpPr/>
          <p:nvPr/>
        </p:nvSpPr>
        <p:spPr>
          <a:xfrm>
            <a:off x="575611" y="2627446"/>
            <a:ext cx="464815" cy="464815"/>
          </a:xfrm>
          <a:prstGeom prst="ellipse">
            <a:avLst/>
          </a:prstGeom>
          <a:solidFill>
            <a:schemeClr val="lt2"/>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accent5"/>
              </a:solidFill>
              <a:latin typeface="Arial"/>
              <a:ea typeface="Arial"/>
              <a:cs typeface="Arial"/>
              <a:sym typeface="Arial"/>
            </a:endParaRPr>
          </a:p>
        </p:txBody>
      </p:sp>
      <p:sp>
        <p:nvSpPr>
          <p:cNvPr id="154" name="Google Shape;154;p57"/>
          <p:cNvSpPr txBox="1">
            <a:spLocks noGrp="1"/>
          </p:cNvSpPr>
          <p:nvPr>
            <p:ph type="body" idx="1"/>
          </p:nvPr>
        </p:nvSpPr>
        <p:spPr>
          <a:xfrm>
            <a:off x="1172384" y="1334842"/>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55" name="Google Shape;155;p57"/>
          <p:cNvSpPr txBox="1">
            <a:spLocks noGrp="1"/>
          </p:cNvSpPr>
          <p:nvPr>
            <p:ph type="body" idx="2"/>
          </p:nvPr>
        </p:nvSpPr>
        <p:spPr>
          <a:xfrm>
            <a:off x="1172385" y="1984561"/>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56" name="Google Shape;156;p57"/>
          <p:cNvSpPr txBox="1">
            <a:spLocks noGrp="1"/>
          </p:cNvSpPr>
          <p:nvPr>
            <p:ph type="body" idx="3"/>
          </p:nvPr>
        </p:nvSpPr>
        <p:spPr>
          <a:xfrm>
            <a:off x="1172385" y="2627446"/>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57" name="Google Shape;157;p57"/>
          <p:cNvSpPr txBox="1">
            <a:spLocks noGrp="1"/>
          </p:cNvSpPr>
          <p:nvPr>
            <p:ph type="body" idx="4"/>
          </p:nvPr>
        </p:nvSpPr>
        <p:spPr>
          <a:xfrm>
            <a:off x="575611" y="1327521"/>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58" name="Google Shape;158;p57"/>
          <p:cNvSpPr txBox="1">
            <a:spLocks noGrp="1"/>
          </p:cNvSpPr>
          <p:nvPr>
            <p:ph type="body" idx="5"/>
          </p:nvPr>
        </p:nvSpPr>
        <p:spPr>
          <a:xfrm>
            <a:off x="575611" y="1979318"/>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59" name="Google Shape;159;p57"/>
          <p:cNvSpPr txBox="1">
            <a:spLocks noGrp="1"/>
          </p:cNvSpPr>
          <p:nvPr>
            <p:ph type="body" idx="6"/>
          </p:nvPr>
        </p:nvSpPr>
        <p:spPr>
          <a:xfrm>
            <a:off x="575612" y="2625493"/>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60" name="Google Shape;160;p57"/>
          <p:cNvSpPr/>
          <p:nvPr/>
        </p:nvSpPr>
        <p:spPr>
          <a:xfrm>
            <a:off x="575612" y="3274581"/>
            <a:ext cx="464815" cy="464815"/>
          </a:xfrm>
          <a:prstGeom prst="ellipse">
            <a:avLst/>
          </a:prstGeom>
          <a:solidFill>
            <a:schemeClr val="accent6"/>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accent5"/>
              </a:solidFill>
              <a:latin typeface="Arial"/>
              <a:ea typeface="Arial"/>
              <a:cs typeface="Arial"/>
              <a:sym typeface="Arial"/>
            </a:endParaRPr>
          </a:p>
        </p:txBody>
      </p:sp>
      <p:sp>
        <p:nvSpPr>
          <p:cNvPr id="161" name="Google Shape;161;p57"/>
          <p:cNvSpPr txBox="1">
            <a:spLocks noGrp="1"/>
          </p:cNvSpPr>
          <p:nvPr>
            <p:ph type="body" idx="7"/>
          </p:nvPr>
        </p:nvSpPr>
        <p:spPr>
          <a:xfrm>
            <a:off x="1172386" y="3274581"/>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62" name="Google Shape;162;p57"/>
          <p:cNvSpPr txBox="1">
            <a:spLocks noGrp="1"/>
          </p:cNvSpPr>
          <p:nvPr>
            <p:ph type="body" idx="8"/>
          </p:nvPr>
        </p:nvSpPr>
        <p:spPr>
          <a:xfrm>
            <a:off x="575613" y="3272628"/>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63" name="Google Shape;163;p57"/>
          <p:cNvSpPr/>
          <p:nvPr/>
        </p:nvSpPr>
        <p:spPr>
          <a:xfrm>
            <a:off x="575613" y="3921716"/>
            <a:ext cx="464815" cy="464815"/>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accent5"/>
              </a:solidFill>
              <a:latin typeface="Arial"/>
              <a:ea typeface="Arial"/>
              <a:cs typeface="Arial"/>
              <a:sym typeface="Arial"/>
            </a:endParaRPr>
          </a:p>
        </p:txBody>
      </p:sp>
      <p:sp>
        <p:nvSpPr>
          <p:cNvPr id="164" name="Google Shape;164;p57"/>
          <p:cNvSpPr txBox="1">
            <a:spLocks noGrp="1"/>
          </p:cNvSpPr>
          <p:nvPr>
            <p:ph type="body" idx="9"/>
          </p:nvPr>
        </p:nvSpPr>
        <p:spPr>
          <a:xfrm>
            <a:off x="1172387" y="3921716"/>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65" name="Google Shape;165;p57"/>
          <p:cNvSpPr txBox="1">
            <a:spLocks noGrp="1"/>
          </p:cNvSpPr>
          <p:nvPr>
            <p:ph type="body" idx="13"/>
          </p:nvPr>
        </p:nvSpPr>
        <p:spPr>
          <a:xfrm>
            <a:off x="575614" y="3919763"/>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6_Circled_Bullets">
  <p:cSld name="6_Circled_Bullets">
    <p:spTree>
      <p:nvGrpSpPr>
        <p:cNvPr id="1" name="Shape 166"/>
        <p:cNvGrpSpPr/>
        <p:nvPr/>
      </p:nvGrpSpPr>
      <p:grpSpPr>
        <a:xfrm>
          <a:off x="0" y="0"/>
          <a:ext cx="0" cy="0"/>
          <a:chOff x="0" y="0"/>
          <a:chExt cx="0" cy="0"/>
        </a:xfrm>
      </p:grpSpPr>
      <p:sp>
        <p:nvSpPr>
          <p:cNvPr id="167" name="Google Shape;167;p58"/>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168" name="Google Shape;168;p58"/>
          <p:cNvSpPr/>
          <p:nvPr/>
        </p:nvSpPr>
        <p:spPr>
          <a:xfrm>
            <a:off x="575611" y="1979318"/>
            <a:ext cx="464815" cy="464815"/>
          </a:xfrm>
          <a:prstGeom prst="ellipse">
            <a:avLst/>
          </a:prstGeom>
          <a:solidFill>
            <a:srgbClr val="38C6F4"/>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69" name="Google Shape;169;p58"/>
          <p:cNvSpPr/>
          <p:nvPr/>
        </p:nvSpPr>
        <p:spPr>
          <a:xfrm>
            <a:off x="575610" y="1328927"/>
            <a:ext cx="464815" cy="464815"/>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170" name="Google Shape;170;p58"/>
          <p:cNvSpPr/>
          <p:nvPr/>
        </p:nvSpPr>
        <p:spPr>
          <a:xfrm>
            <a:off x="575611" y="2627446"/>
            <a:ext cx="464815" cy="464815"/>
          </a:xfrm>
          <a:prstGeom prst="ellipse">
            <a:avLst/>
          </a:prstGeom>
          <a:solidFill>
            <a:schemeClr val="lt2"/>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71" name="Google Shape;171;p58"/>
          <p:cNvSpPr txBox="1">
            <a:spLocks noGrp="1"/>
          </p:cNvSpPr>
          <p:nvPr>
            <p:ph type="body" idx="1"/>
          </p:nvPr>
        </p:nvSpPr>
        <p:spPr>
          <a:xfrm>
            <a:off x="1172384" y="1334842"/>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2" name="Google Shape;172;p58"/>
          <p:cNvSpPr txBox="1">
            <a:spLocks noGrp="1"/>
          </p:cNvSpPr>
          <p:nvPr>
            <p:ph type="body" idx="2"/>
          </p:nvPr>
        </p:nvSpPr>
        <p:spPr>
          <a:xfrm>
            <a:off x="1172385" y="1984561"/>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3" name="Google Shape;173;p58"/>
          <p:cNvSpPr txBox="1">
            <a:spLocks noGrp="1"/>
          </p:cNvSpPr>
          <p:nvPr>
            <p:ph type="body" idx="3"/>
          </p:nvPr>
        </p:nvSpPr>
        <p:spPr>
          <a:xfrm>
            <a:off x="1172385" y="2627446"/>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4" name="Google Shape;174;p58"/>
          <p:cNvSpPr txBox="1">
            <a:spLocks noGrp="1"/>
          </p:cNvSpPr>
          <p:nvPr>
            <p:ph type="body" idx="4"/>
          </p:nvPr>
        </p:nvSpPr>
        <p:spPr>
          <a:xfrm>
            <a:off x="575611" y="1327521"/>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5" name="Google Shape;175;p58"/>
          <p:cNvSpPr txBox="1">
            <a:spLocks noGrp="1"/>
          </p:cNvSpPr>
          <p:nvPr>
            <p:ph type="body" idx="5"/>
          </p:nvPr>
        </p:nvSpPr>
        <p:spPr>
          <a:xfrm>
            <a:off x="575611" y="1979318"/>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6" name="Google Shape;176;p58"/>
          <p:cNvSpPr txBox="1">
            <a:spLocks noGrp="1"/>
          </p:cNvSpPr>
          <p:nvPr>
            <p:ph type="body" idx="6"/>
          </p:nvPr>
        </p:nvSpPr>
        <p:spPr>
          <a:xfrm>
            <a:off x="575612" y="2625493"/>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7" name="Google Shape;177;p58"/>
          <p:cNvSpPr/>
          <p:nvPr/>
        </p:nvSpPr>
        <p:spPr>
          <a:xfrm>
            <a:off x="575612" y="3274581"/>
            <a:ext cx="464815" cy="464815"/>
          </a:xfrm>
          <a:prstGeom prst="ellipse">
            <a:avLst/>
          </a:prstGeom>
          <a:solidFill>
            <a:schemeClr val="accent6"/>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78" name="Google Shape;178;p58"/>
          <p:cNvSpPr txBox="1">
            <a:spLocks noGrp="1"/>
          </p:cNvSpPr>
          <p:nvPr>
            <p:ph type="body" idx="7"/>
          </p:nvPr>
        </p:nvSpPr>
        <p:spPr>
          <a:xfrm>
            <a:off x="1172386" y="3274581"/>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9" name="Google Shape;179;p58"/>
          <p:cNvSpPr txBox="1">
            <a:spLocks noGrp="1"/>
          </p:cNvSpPr>
          <p:nvPr>
            <p:ph type="body" idx="8"/>
          </p:nvPr>
        </p:nvSpPr>
        <p:spPr>
          <a:xfrm>
            <a:off x="575613" y="3272628"/>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80" name="Google Shape;180;p58"/>
          <p:cNvSpPr/>
          <p:nvPr/>
        </p:nvSpPr>
        <p:spPr>
          <a:xfrm>
            <a:off x="575613" y="3921716"/>
            <a:ext cx="464815" cy="464815"/>
          </a:xfrm>
          <a:prstGeom prst="ellipse">
            <a:avLst/>
          </a:prstGeom>
          <a:solidFill>
            <a:srgbClr val="00384E"/>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81" name="Google Shape;181;p58"/>
          <p:cNvSpPr txBox="1">
            <a:spLocks noGrp="1"/>
          </p:cNvSpPr>
          <p:nvPr>
            <p:ph type="body" idx="9"/>
          </p:nvPr>
        </p:nvSpPr>
        <p:spPr>
          <a:xfrm>
            <a:off x="1172387" y="3921716"/>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82" name="Google Shape;182;p58"/>
          <p:cNvSpPr txBox="1">
            <a:spLocks noGrp="1"/>
          </p:cNvSpPr>
          <p:nvPr>
            <p:ph type="body" idx="13"/>
          </p:nvPr>
        </p:nvSpPr>
        <p:spPr>
          <a:xfrm>
            <a:off x="575614" y="3919763"/>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83" name="Google Shape;183;p58"/>
          <p:cNvSpPr/>
          <p:nvPr/>
        </p:nvSpPr>
        <p:spPr>
          <a:xfrm>
            <a:off x="4414576" y="1983084"/>
            <a:ext cx="464815" cy="464815"/>
          </a:xfrm>
          <a:prstGeom prst="ellipse">
            <a:avLst/>
          </a:prstGeom>
          <a:solidFill>
            <a:schemeClr val="accent6"/>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84" name="Google Shape;184;p58"/>
          <p:cNvSpPr/>
          <p:nvPr/>
        </p:nvSpPr>
        <p:spPr>
          <a:xfrm>
            <a:off x="4414575" y="1332693"/>
            <a:ext cx="464815" cy="464815"/>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85" name="Google Shape;185;p58"/>
          <p:cNvSpPr/>
          <p:nvPr/>
        </p:nvSpPr>
        <p:spPr>
          <a:xfrm>
            <a:off x="4414576" y="2631212"/>
            <a:ext cx="464815" cy="464815"/>
          </a:xfrm>
          <a:prstGeom prst="ellipse">
            <a:avLst/>
          </a:prstGeom>
          <a:solidFill>
            <a:schemeClr val="accent5"/>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86" name="Google Shape;186;p58"/>
          <p:cNvSpPr txBox="1">
            <a:spLocks noGrp="1"/>
          </p:cNvSpPr>
          <p:nvPr>
            <p:ph type="body" idx="14"/>
          </p:nvPr>
        </p:nvSpPr>
        <p:spPr>
          <a:xfrm>
            <a:off x="5011349" y="1338608"/>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87" name="Google Shape;187;p58"/>
          <p:cNvSpPr txBox="1">
            <a:spLocks noGrp="1"/>
          </p:cNvSpPr>
          <p:nvPr>
            <p:ph type="body" idx="15"/>
          </p:nvPr>
        </p:nvSpPr>
        <p:spPr>
          <a:xfrm>
            <a:off x="5011350" y="1988327"/>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88" name="Google Shape;188;p58"/>
          <p:cNvSpPr txBox="1">
            <a:spLocks noGrp="1"/>
          </p:cNvSpPr>
          <p:nvPr>
            <p:ph type="body" idx="16"/>
          </p:nvPr>
        </p:nvSpPr>
        <p:spPr>
          <a:xfrm>
            <a:off x="5011350" y="2631212"/>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89" name="Google Shape;189;p58"/>
          <p:cNvSpPr txBox="1">
            <a:spLocks noGrp="1"/>
          </p:cNvSpPr>
          <p:nvPr>
            <p:ph type="body" idx="17"/>
          </p:nvPr>
        </p:nvSpPr>
        <p:spPr>
          <a:xfrm>
            <a:off x="4414576" y="1331287"/>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90" name="Google Shape;190;p58"/>
          <p:cNvSpPr txBox="1">
            <a:spLocks noGrp="1"/>
          </p:cNvSpPr>
          <p:nvPr>
            <p:ph type="body" idx="18"/>
          </p:nvPr>
        </p:nvSpPr>
        <p:spPr>
          <a:xfrm>
            <a:off x="4414576" y="1983084"/>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91" name="Google Shape;191;p58"/>
          <p:cNvSpPr txBox="1">
            <a:spLocks noGrp="1"/>
          </p:cNvSpPr>
          <p:nvPr>
            <p:ph type="body" idx="19"/>
          </p:nvPr>
        </p:nvSpPr>
        <p:spPr>
          <a:xfrm>
            <a:off x="4414577" y="2629259"/>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92" name="Google Shape;192;p58"/>
          <p:cNvSpPr/>
          <p:nvPr/>
        </p:nvSpPr>
        <p:spPr>
          <a:xfrm>
            <a:off x="4414577" y="3278347"/>
            <a:ext cx="464815" cy="464815"/>
          </a:xfrm>
          <a:prstGeom prst="ellipse">
            <a:avLst/>
          </a:prstGeom>
          <a:solidFill>
            <a:schemeClr val="lt2"/>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93" name="Google Shape;193;p58"/>
          <p:cNvSpPr txBox="1">
            <a:spLocks noGrp="1"/>
          </p:cNvSpPr>
          <p:nvPr>
            <p:ph type="body" idx="20"/>
          </p:nvPr>
        </p:nvSpPr>
        <p:spPr>
          <a:xfrm>
            <a:off x="5011351" y="3278347"/>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94" name="Google Shape;194;p58"/>
          <p:cNvSpPr txBox="1">
            <a:spLocks noGrp="1"/>
          </p:cNvSpPr>
          <p:nvPr>
            <p:ph type="body" idx="21"/>
          </p:nvPr>
        </p:nvSpPr>
        <p:spPr>
          <a:xfrm>
            <a:off x="4414578" y="3276394"/>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95" name="Google Shape;195;p58"/>
          <p:cNvSpPr/>
          <p:nvPr/>
        </p:nvSpPr>
        <p:spPr>
          <a:xfrm>
            <a:off x="4414578" y="3925482"/>
            <a:ext cx="464815" cy="464815"/>
          </a:xfrm>
          <a:prstGeom prst="ellipse">
            <a:avLst/>
          </a:prstGeom>
          <a:solidFill>
            <a:srgbClr val="00384E"/>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96" name="Google Shape;196;p58"/>
          <p:cNvSpPr txBox="1">
            <a:spLocks noGrp="1"/>
          </p:cNvSpPr>
          <p:nvPr>
            <p:ph type="body" idx="22"/>
          </p:nvPr>
        </p:nvSpPr>
        <p:spPr>
          <a:xfrm>
            <a:off x="5011352" y="3925482"/>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97" name="Google Shape;197;p58"/>
          <p:cNvSpPr txBox="1">
            <a:spLocks noGrp="1"/>
          </p:cNvSpPr>
          <p:nvPr>
            <p:ph type="body" idx="23"/>
          </p:nvPr>
        </p:nvSpPr>
        <p:spPr>
          <a:xfrm>
            <a:off x="4414579" y="3923529"/>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Closing Slide">
  <p:cSld name="Closing Slide">
    <p:bg>
      <p:bgPr>
        <a:solidFill>
          <a:schemeClr val="accent5"/>
        </a:solidFill>
        <a:effectLst/>
      </p:bgPr>
    </p:bg>
    <p:spTree>
      <p:nvGrpSpPr>
        <p:cNvPr id="1" name="Shape 198"/>
        <p:cNvGrpSpPr/>
        <p:nvPr/>
      </p:nvGrpSpPr>
      <p:grpSpPr>
        <a:xfrm>
          <a:off x="0" y="0"/>
          <a:ext cx="0" cy="0"/>
          <a:chOff x="0" y="0"/>
          <a:chExt cx="0" cy="0"/>
        </a:xfrm>
      </p:grpSpPr>
      <p:sp>
        <p:nvSpPr>
          <p:cNvPr id="199" name="Google Shape;199;p59"/>
          <p:cNvSpPr/>
          <p:nvPr/>
        </p:nvSpPr>
        <p:spPr>
          <a:xfrm>
            <a:off x="0" y="0"/>
            <a:ext cx="9144000" cy="5143500"/>
          </a:xfrm>
          <a:prstGeom prst="rect">
            <a:avLst/>
          </a:prstGeom>
          <a:solidFill>
            <a:srgbClr val="00394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200" name="Google Shape;200;p59"/>
          <p:cNvGrpSpPr/>
          <p:nvPr/>
        </p:nvGrpSpPr>
        <p:grpSpPr>
          <a:xfrm>
            <a:off x="3746294" y="2129856"/>
            <a:ext cx="1617944" cy="860542"/>
            <a:chOff x="310" y="249"/>
            <a:chExt cx="502" cy="267"/>
          </a:xfrm>
        </p:grpSpPr>
        <p:sp>
          <p:nvSpPr>
            <p:cNvPr id="201" name="Google Shape;201;p59"/>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2" name="Google Shape;202;p59"/>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3" name="Google Shape;203;p59"/>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4" name="Google Shape;204;p59"/>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5" name="Google Shape;205;p59"/>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6" name="Google Shape;206;p59"/>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7" name="Google Shape;207;p59"/>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8" name="Google Shape;208;p59"/>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9" name="Google Shape;209;p59"/>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0" name="Google Shape;210;p59"/>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1" name="Google Shape;211;p59"/>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2" name="Google Shape;212;p59"/>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3" name="Google Shape;213;p59"/>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4" name="Google Shape;214;p59"/>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3_Closing Slide">
  <p:cSld name="3_Closing Slide">
    <p:bg>
      <p:bgPr>
        <a:solidFill>
          <a:schemeClr val="accent5"/>
        </a:solidFill>
        <a:effectLst/>
      </p:bgPr>
    </p:bg>
    <p:spTree>
      <p:nvGrpSpPr>
        <p:cNvPr id="1" name="Shape 215"/>
        <p:cNvGrpSpPr/>
        <p:nvPr/>
      </p:nvGrpSpPr>
      <p:grpSpPr>
        <a:xfrm>
          <a:off x="0" y="0"/>
          <a:ext cx="0" cy="0"/>
          <a:chOff x="0" y="0"/>
          <a:chExt cx="0" cy="0"/>
        </a:xfrm>
      </p:grpSpPr>
      <p:grpSp>
        <p:nvGrpSpPr>
          <p:cNvPr id="216" name="Google Shape;216;p60"/>
          <p:cNvGrpSpPr/>
          <p:nvPr/>
        </p:nvGrpSpPr>
        <p:grpSpPr>
          <a:xfrm>
            <a:off x="3746294" y="2129856"/>
            <a:ext cx="1617944" cy="860542"/>
            <a:chOff x="310" y="249"/>
            <a:chExt cx="502" cy="267"/>
          </a:xfrm>
        </p:grpSpPr>
        <p:sp>
          <p:nvSpPr>
            <p:cNvPr id="217" name="Google Shape;217;p60"/>
            <p:cNvSpPr/>
            <p:nvPr/>
          </p:nvSpPr>
          <p:spPr>
            <a:xfrm>
              <a:off x="452" y="426"/>
              <a:ext cx="22" cy="88"/>
            </a:xfrm>
            <a:prstGeom prst="rect">
              <a:avLst/>
            </a:pr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8" name="Google Shape;218;p60"/>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9" name="Google Shape;219;p60"/>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0" name="Google Shape;220;p60"/>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1" name="Google Shape;221;p60"/>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2" name="Google Shape;222;p60"/>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3" name="Google Shape;223;p60"/>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4" name="Google Shape;224;p60"/>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5" name="Google Shape;225;p60"/>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6" name="Google Shape;226;p60"/>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7" name="Google Shape;227;p60"/>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8" name="Google Shape;228;p60"/>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9" name="Google Shape;229;p60"/>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0" name="Google Shape;230;p60"/>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1"/>
        <p:cNvGrpSpPr/>
        <p:nvPr/>
      </p:nvGrpSpPr>
      <p:grpSpPr>
        <a:xfrm>
          <a:off x="0" y="0"/>
          <a:ext cx="0" cy="0"/>
          <a:chOff x="0" y="0"/>
          <a:chExt cx="0" cy="0"/>
        </a:xfrm>
      </p:grpSpPr>
      <p:sp>
        <p:nvSpPr>
          <p:cNvPr id="232" name="Google Shape;232;p61"/>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7"/>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marR="0" lvl="0" algn="l" rtl="0">
              <a:lnSpc>
                <a:spcPct val="80000"/>
              </a:lnSpc>
              <a:spcBef>
                <a:spcPts val="0"/>
              </a:spcBef>
              <a:spcAft>
                <a:spcPts val="0"/>
              </a:spcAft>
              <a:buSzPts val="1400"/>
              <a:buNone/>
              <a:defRPr sz="3200" b="0" i="0" u="none" strike="noStrike" cap="none">
                <a:solidFill>
                  <a:schemeClr val="accent4"/>
                </a:solidFill>
                <a:latin typeface="Arial"/>
                <a:ea typeface="Arial"/>
                <a:cs typeface="Arial"/>
                <a:sym typeface="Arial"/>
              </a:defRPr>
            </a:lvl1pPr>
            <a:lvl2pPr marR="0" lvl="1"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2pPr>
            <a:lvl3pPr marR="0" lvl="2"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3pPr>
            <a:lvl4pPr marR="0" lvl="3"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4pPr>
            <a:lvl5pPr marR="0" lvl="4"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5pPr>
            <a:lvl6pPr marR="0" lvl="5"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6pPr>
            <a:lvl7pPr marR="0" lvl="6"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7pPr>
            <a:lvl8pPr marR="0" lvl="7"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8pPr>
            <a:lvl9pPr marR="0" lvl="8"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9pPr>
          </a:lstStyle>
          <a:p>
            <a:endParaRPr/>
          </a:p>
        </p:txBody>
      </p:sp>
      <p:sp>
        <p:nvSpPr>
          <p:cNvPr id="11" name="Google Shape;11;p47"/>
          <p:cNvSpPr/>
          <p:nvPr/>
        </p:nvSpPr>
        <p:spPr>
          <a:xfrm>
            <a:off x="8515707" y="4742907"/>
            <a:ext cx="218414" cy="154518"/>
          </a:xfrm>
          <a:prstGeom prst="rect">
            <a:avLst/>
          </a:prstGeom>
          <a:noFill/>
          <a:ln>
            <a:noFill/>
          </a:ln>
        </p:spPr>
        <p:txBody>
          <a:bodyPr spcFirstLastPara="1" wrap="square" lIns="61575" tIns="30775" rIns="61575" bIns="30775" anchor="b" anchorCtr="0">
            <a:spAutoFit/>
          </a:bodyPr>
          <a:lstStyle/>
          <a:p>
            <a:pPr marL="0" marR="0" lvl="0" indent="0" algn="r" rtl="0">
              <a:spcBef>
                <a:spcPts val="0"/>
              </a:spcBef>
              <a:spcAft>
                <a:spcPts val="0"/>
              </a:spcAft>
              <a:buNone/>
            </a:pPr>
            <a:fld id="{00000000-1234-1234-1234-123412341234}" type="slidenum">
              <a:rPr lang="en-US" sz="600" b="0" i="0" u="none" strike="noStrike" cap="none">
                <a:solidFill>
                  <a:srgbClr val="D8D8D8"/>
                </a:solidFill>
                <a:latin typeface="Arial"/>
                <a:ea typeface="Arial"/>
                <a:cs typeface="Arial"/>
                <a:sym typeface="Arial"/>
              </a:rPr>
              <a:t>‹#›</a:t>
            </a:fld>
            <a:endParaRPr sz="600" b="0" i="0" u="none" strike="noStrike" cap="none">
              <a:solidFill>
                <a:srgbClr val="D8D8D8"/>
              </a:solidFill>
              <a:latin typeface="Arial"/>
              <a:ea typeface="Arial"/>
              <a:cs typeface="Arial"/>
              <a:sym typeface="Arial"/>
            </a:endParaRPr>
          </a:p>
        </p:txBody>
      </p:sp>
      <p:sp>
        <p:nvSpPr>
          <p:cNvPr id="12" name="Google Shape;12;p47"/>
          <p:cNvSpPr/>
          <p:nvPr/>
        </p:nvSpPr>
        <p:spPr>
          <a:xfrm>
            <a:off x="5867508" y="4741653"/>
            <a:ext cx="2658018" cy="154518"/>
          </a:xfrm>
          <a:prstGeom prst="rect">
            <a:avLst/>
          </a:prstGeom>
          <a:noFill/>
          <a:ln>
            <a:noFill/>
          </a:ln>
        </p:spPr>
        <p:txBody>
          <a:bodyPr spcFirstLastPara="1" wrap="square" lIns="61575" tIns="30775" rIns="61575" bIns="30775" anchor="b" anchorCtr="0">
            <a:spAutoFit/>
          </a:bodyPr>
          <a:lstStyle/>
          <a:p>
            <a:pPr marL="0" marR="0" lvl="0" indent="0" algn="l" rtl="0">
              <a:spcBef>
                <a:spcPts val="0"/>
              </a:spcBef>
              <a:spcAft>
                <a:spcPts val="0"/>
              </a:spcAft>
              <a:buNone/>
            </a:pPr>
            <a:r>
              <a:rPr lang="en-US" sz="600" b="0" i="0" u="none" strike="noStrike" cap="none">
                <a:solidFill>
                  <a:srgbClr val="D8D8D8"/>
                </a:solidFill>
                <a:latin typeface="Arial"/>
                <a:ea typeface="Arial"/>
                <a:cs typeface="Arial"/>
                <a:sym typeface="Arial"/>
              </a:rPr>
              <a:t>© 2016  Cisco and/or its affiliates. All rights reserved.   Cisco Confidential</a:t>
            </a:r>
            <a:endParaRPr/>
          </a:p>
        </p:txBody>
      </p:sp>
      <p:grpSp>
        <p:nvGrpSpPr>
          <p:cNvPr id="13" name="Google Shape;13;p47"/>
          <p:cNvGrpSpPr/>
          <p:nvPr/>
        </p:nvGrpSpPr>
        <p:grpSpPr>
          <a:xfrm>
            <a:off x="508039" y="4715197"/>
            <a:ext cx="340257" cy="180974"/>
            <a:chOff x="310" y="249"/>
            <a:chExt cx="502" cy="267"/>
          </a:xfrm>
        </p:grpSpPr>
        <p:sp>
          <p:nvSpPr>
            <p:cNvPr id="14" name="Google Shape;14;p47"/>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 name="Google Shape;15;p47"/>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 name="Google Shape;16;p47"/>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 name="Google Shape;17;p47"/>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 name="Google Shape;18;p47"/>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 name="Google Shape;19;p47"/>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 name="Google Shape;20;p47"/>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 name="Google Shape;21;p47"/>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 name="Google Shape;22;p47"/>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 name="Google Shape;23;p47"/>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 name="Google Shape;24;p47"/>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 name="Google Shape;25;p47"/>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 name="Google Shape;26;p47"/>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 name="Google Shape;27;p47"/>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
          <p:cNvSpPr txBox="1">
            <a:spLocks noGrp="1"/>
          </p:cNvSpPr>
          <p:nvPr>
            <p:ph type="subTitle" idx="1"/>
          </p:nvPr>
        </p:nvSpPr>
        <p:spPr>
          <a:xfrm>
            <a:off x="469496" y="3809526"/>
            <a:ext cx="3613405" cy="902174"/>
          </a:xfrm>
          <a:prstGeom prst="rect">
            <a:avLst/>
          </a:prstGeom>
          <a:noFill/>
          <a:ln>
            <a:noFill/>
          </a:ln>
        </p:spPr>
        <p:txBody>
          <a:bodyPr spcFirstLastPara="1" wrap="square" lIns="91400" tIns="45700" rIns="91400" bIns="45700" anchor="b" anchorCtr="0">
            <a:noAutofit/>
          </a:bodyPr>
          <a:lstStyle/>
          <a:p>
            <a:pPr marL="0" lvl="0" indent="0" algn="l" rtl="0">
              <a:lnSpc>
                <a:spcPct val="95000"/>
              </a:lnSpc>
              <a:spcBef>
                <a:spcPts val="0"/>
              </a:spcBef>
              <a:spcAft>
                <a:spcPts val="0"/>
              </a:spcAft>
              <a:buSzPts val="1080"/>
              <a:buNone/>
            </a:pPr>
            <a:r>
              <a:rPr lang="en-US">
                <a:solidFill>
                  <a:srgbClr val="AEE8FA"/>
                </a:solidFill>
              </a:rPr>
              <a:t>Switching, Routing, and Wireless Essentials v7.0 (SRWE)</a:t>
            </a:r>
            <a:endParaRPr/>
          </a:p>
          <a:p>
            <a:pPr marL="0" lvl="0" indent="0" algn="l" rtl="0">
              <a:lnSpc>
                <a:spcPct val="95000"/>
              </a:lnSpc>
              <a:spcBef>
                <a:spcPts val="1075"/>
              </a:spcBef>
              <a:spcAft>
                <a:spcPts val="0"/>
              </a:spcAft>
              <a:buSzPts val="1080"/>
              <a:buNone/>
            </a:pPr>
            <a:endParaRPr/>
          </a:p>
        </p:txBody>
      </p:sp>
      <p:sp>
        <p:nvSpPr>
          <p:cNvPr id="239" name="Google Shape;239;p1"/>
          <p:cNvSpPr txBox="1">
            <a:spLocks noGrp="1"/>
          </p:cNvSpPr>
          <p:nvPr>
            <p:ph type="ctrTitle"/>
          </p:nvPr>
        </p:nvSpPr>
        <p:spPr>
          <a:xfrm>
            <a:off x="469497" y="2316480"/>
            <a:ext cx="6672708" cy="1080143"/>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3600"/>
              <a:buFont typeface="Arial"/>
              <a:buNone/>
            </a:pPr>
            <a:r>
              <a:rPr lang="en-US">
                <a:solidFill>
                  <a:srgbClr val="AEE8FA"/>
                </a:solidFill>
              </a:rPr>
              <a:t>Chapter 1 Part 1 </a:t>
            </a:r>
            <a:br>
              <a:rPr lang="en-US">
                <a:solidFill>
                  <a:srgbClr val="AEE8FA"/>
                </a:solidFill>
              </a:rPr>
            </a:br>
            <a:r>
              <a:rPr lang="en-US">
                <a:solidFill>
                  <a:srgbClr val="AEE8FA"/>
                </a:solidFill>
              </a:rPr>
              <a:t>Module 15: IP Static Routing</a:t>
            </a:r>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
          <p:cNvSpPr txBox="1">
            <a:spLocks noGrp="1"/>
          </p:cNvSpPr>
          <p:nvPr>
            <p:ph type="title"/>
          </p:nvPr>
        </p:nvSpPr>
        <p:spPr>
          <a:xfrm>
            <a:off x="1" y="41393"/>
            <a:ext cx="9144000" cy="75755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n-US"/>
              <a:t>Module Objectives</a:t>
            </a:r>
            <a:endParaRPr/>
          </a:p>
        </p:txBody>
      </p:sp>
      <p:sp>
        <p:nvSpPr>
          <p:cNvPr id="246" name="Google Shape;246;p2"/>
          <p:cNvSpPr txBox="1">
            <a:spLocks noGrp="1"/>
          </p:cNvSpPr>
          <p:nvPr>
            <p:ph type="body" idx="1"/>
          </p:nvPr>
        </p:nvSpPr>
        <p:spPr>
          <a:xfrm>
            <a:off x="145357" y="673109"/>
            <a:ext cx="8853286" cy="757551"/>
          </a:xfrm>
          <a:prstGeom prst="rect">
            <a:avLst/>
          </a:prstGeom>
          <a:noFill/>
          <a:ln>
            <a:noFill/>
          </a:ln>
        </p:spPr>
        <p:txBody>
          <a:bodyPr spcFirstLastPara="1" wrap="square" lIns="91425" tIns="45700" rIns="182875" bIns="45700" anchor="t" anchorCtr="0">
            <a:noAutofit/>
          </a:bodyPr>
          <a:lstStyle/>
          <a:p>
            <a:pPr marL="0" lvl="0" indent="0" algn="l" rtl="0">
              <a:lnSpc>
                <a:spcPct val="100000"/>
              </a:lnSpc>
              <a:spcBef>
                <a:spcPts val="0"/>
              </a:spcBef>
              <a:spcAft>
                <a:spcPts val="0"/>
              </a:spcAft>
              <a:buClr>
                <a:schemeClr val="dk1"/>
              </a:buClr>
              <a:buSzPts val="1600"/>
              <a:buNone/>
            </a:pPr>
            <a:r>
              <a:rPr lang="en-US" sz="1600" b="1">
                <a:solidFill>
                  <a:schemeClr val="dk1"/>
                </a:solidFill>
              </a:rPr>
              <a:t>Module Title: </a:t>
            </a:r>
            <a:r>
              <a:rPr lang="en-US" sz="1600"/>
              <a:t>IP Static Routing</a:t>
            </a:r>
            <a:endParaRPr/>
          </a:p>
          <a:p>
            <a:pPr marL="0" lvl="0" indent="0" algn="l" rtl="0">
              <a:lnSpc>
                <a:spcPct val="100000"/>
              </a:lnSpc>
              <a:spcBef>
                <a:spcPts val="0"/>
              </a:spcBef>
              <a:spcAft>
                <a:spcPts val="0"/>
              </a:spcAft>
              <a:buClr>
                <a:srgbClr val="000000"/>
              </a:buClr>
              <a:buSzPts val="1600"/>
              <a:buNone/>
            </a:pPr>
            <a:endParaRPr sz="1600">
              <a:solidFill>
                <a:schemeClr val="dk1"/>
              </a:solidFill>
            </a:endParaRPr>
          </a:p>
          <a:p>
            <a:pPr marL="0" lvl="0" indent="0" algn="l" rtl="0">
              <a:lnSpc>
                <a:spcPct val="100000"/>
              </a:lnSpc>
              <a:spcBef>
                <a:spcPts val="0"/>
              </a:spcBef>
              <a:spcAft>
                <a:spcPts val="0"/>
              </a:spcAft>
              <a:buClr>
                <a:schemeClr val="dk1"/>
              </a:buClr>
              <a:buSzPts val="1600"/>
              <a:buNone/>
            </a:pPr>
            <a:r>
              <a:rPr lang="en-US" sz="1600" b="1">
                <a:solidFill>
                  <a:schemeClr val="dk1"/>
                </a:solidFill>
              </a:rPr>
              <a:t>Module Objective</a:t>
            </a:r>
            <a:r>
              <a:rPr lang="en-US" sz="1600">
                <a:solidFill>
                  <a:schemeClr val="dk1"/>
                </a:solidFill>
              </a:rPr>
              <a:t>: </a:t>
            </a:r>
            <a:r>
              <a:rPr lang="en-US" sz="1600"/>
              <a:t>Configure IPv4 and IPv6 static routes.</a:t>
            </a:r>
            <a:endParaRPr/>
          </a:p>
        </p:txBody>
      </p:sp>
      <p:graphicFrame>
        <p:nvGraphicFramePr>
          <p:cNvPr id="247" name="Google Shape;247;p2"/>
          <p:cNvGraphicFramePr/>
          <p:nvPr/>
        </p:nvGraphicFramePr>
        <p:xfrm>
          <a:off x="323274" y="1556495"/>
          <a:ext cx="7896850" cy="2678460"/>
        </p:xfrm>
        <a:graphic>
          <a:graphicData uri="http://schemas.openxmlformats.org/drawingml/2006/table">
            <a:tbl>
              <a:tblPr firstRow="1" bandRow="1">
                <a:noFill/>
                <a:tableStyleId>{1FCC90D9-844F-4021-B7A0-B0AEDD6D6780}</a:tableStyleId>
              </a:tblPr>
              <a:tblGrid>
                <a:gridCol w="2595425">
                  <a:extLst>
                    <a:ext uri="{9D8B030D-6E8A-4147-A177-3AD203B41FA5}">
                      <a16:colId xmlns:a16="http://schemas.microsoft.com/office/drawing/2014/main" val="20000"/>
                    </a:ext>
                  </a:extLst>
                </a:gridCol>
                <a:gridCol w="53014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1400" b="1" u="none" strike="noStrike" cap="none"/>
                        <a:t>Topic Title</a:t>
                      </a:r>
                      <a:endParaRPr sz="1400" u="none" strike="noStrike" cap="none"/>
                    </a:p>
                  </a:txBody>
                  <a:tcPr marL="47625" marR="47625" marT="47625" marB="47625" anchor="ctr"/>
                </a:tc>
                <a:tc>
                  <a:txBody>
                    <a:bodyPr/>
                    <a:lstStyle/>
                    <a:p>
                      <a:pPr marL="0" marR="0" lvl="0" indent="0" algn="l" rtl="0">
                        <a:spcBef>
                          <a:spcPts val="0"/>
                        </a:spcBef>
                        <a:spcAft>
                          <a:spcPts val="0"/>
                        </a:spcAft>
                        <a:buNone/>
                      </a:pPr>
                      <a:r>
                        <a:rPr lang="en-US" sz="1400" b="1" u="none" strike="noStrike" cap="none"/>
                        <a:t>Topic Objective</a:t>
                      </a:r>
                      <a:endParaRPr sz="1400" u="none" strike="noStrike" cap="none"/>
                    </a:p>
                  </a:txBody>
                  <a:tcPr marL="47625" marR="47625" marT="47625" marB="47625" anchor="ct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400" b="1" u="none" strike="noStrike" cap="none">
                          <a:solidFill>
                            <a:schemeClr val="lt1"/>
                          </a:solidFill>
                        </a:rPr>
                        <a:t>Static Routes</a:t>
                      </a:r>
                      <a:endParaRPr sz="1400" b="0" u="none" strike="noStrike" cap="none">
                        <a:solidFill>
                          <a:schemeClr val="lt1"/>
                        </a:solidFill>
                      </a:endParaRPr>
                    </a:p>
                  </a:txBody>
                  <a:tcPr marL="47625" marR="47625" marT="47625" marB="47625" anchor="ctr">
                    <a:solidFill>
                      <a:schemeClr val="accent1"/>
                    </a:solidFill>
                  </a:tcPr>
                </a:tc>
                <a:tc>
                  <a:txBody>
                    <a:bodyPr/>
                    <a:lstStyle/>
                    <a:p>
                      <a:pPr marL="0" marR="0" lvl="0" indent="0" algn="l" rtl="0">
                        <a:spcBef>
                          <a:spcPts val="0"/>
                        </a:spcBef>
                        <a:spcAft>
                          <a:spcPts val="0"/>
                        </a:spcAft>
                        <a:buNone/>
                      </a:pPr>
                      <a:r>
                        <a:rPr lang="en-US" sz="1400" b="0" u="none" strike="noStrike" cap="none">
                          <a:solidFill>
                            <a:srgbClr val="000000"/>
                          </a:solidFill>
                        </a:rPr>
                        <a:t>Describe the command syntax for static routes.</a:t>
                      </a:r>
                      <a:endParaRPr/>
                    </a:p>
                  </a:txBody>
                  <a:tcPr marL="47625" marR="47625" marT="47625" marB="47625" anchor="ct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400" b="1" u="none" strike="noStrike" cap="none">
                          <a:solidFill>
                            <a:schemeClr val="lt1"/>
                          </a:solidFill>
                        </a:rPr>
                        <a:t>Configure IP Static Routes</a:t>
                      </a:r>
                      <a:endParaRPr sz="1400" b="0" u="none" strike="noStrike" cap="none">
                        <a:solidFill>
                          <a:schemeClr val="lt1"/>
                        </a:solidFill>
                      </a:endParaRPr>
                    </a:p>
                  </a:txBody>
                  <a:tcPr marL="47625" marR="47625" marT="47625" marB="47625" anchor="ctr">
                    <a:solidFill>
                      <a:schemeClr val="accent1"/>
                    </a:solidFill>
                  </a:tcPr>
                </a:tc>
                <a:tc>
                  <a:txBody>
                    <a:bodyPr/>
                    <a:lstStyle/>
                    <a:p>
                      <a:pPr marL="0" marR="0" lvl="0" indent="0" algn="l" rtl="0">
                        <a:spcBef>
                          <a:spcPts val="0"/>
                        </a:spcBef>
                        <a:spcAft>
                          <a:spcPts val="0"/>
                        </a:spcAft>
                        <a:buNone/>
                      </a:pPr>
                      <a:r>
                        <a:rPr lang="en-US" sz="1400" b="0" u="none" strike="noStrike" cap="none">
                          <a:solidFill>
                            <a:srgbClr val="000000"/>
                          </a:solidFill>
                        </a:rPr>
                        <a:t>Configure IPv4 and IPv6 static routes.</a:t>
                      </a:r>
                      <a:endParaRPr/>
                    </a:p>
                  </a:txBody>
                  <a:tcPr marL="47625" marR="47625" marT="47625" marB="47625" anchor="ctr"/>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400" b="1" u="none" strike="noStrike" cap="none">
                          <a:solidFill>
                            <a:schemeClr val="lt1"/>
                          </a:solidFill>
                        </a:rPr>
                        <a:t>Configure IP Default Static Routes</a:t>
                      </a:r>
                      <a:endParaRPr sz="1400" b="0" u="none" strike="noStrike" cap="none">
                        <a:solidFill>
                          <a:schemeClr val="lt1"/>
                        </a:solidFill>
                      </a:endParaRPr>
                    </a:p>
                  </a:txBody>
                  <a:tcPr marL="47625" marR="47625" marT="47625" marB="47625" anchor="ctr">
                    <a:solidFill>
                      <a:schemeClr val="accent1"/>
                    </a:solidFill>
                  </a:tcPr>
                </a:tc>
                <a:tc>
                  <a:txBody>
                    <a:bodyPr/>
                    <a:lstStyle/>
                    <a:p>
                      <a:pPr marL="0" marR="0" lvl="0" indent="0" algn="l" rtl="0">
                        <a:spcBef>
                          <a:spcPts val="0"/>
                        </a:spcBef>
                        <a:spcAft>
                          <a:spcPts val="0"/>
                        </a:spcAft>
                        <a:buNone/>
                      </a:pPr>
                      <a:r>
                        <a:rPr lang="en-US" sz="1400" b="0" u="none" strike="noStrike" cap="none">
                          <a:solidFill>
                            <a:srgbClr val="000000"/>
                          </a:solidFill>
                        </a:rPr>
                        <a:t>Configure IPv4 and IPv6 default static routes.</a:t>
                      </a:r>
                      <a:endParaRPr/>
                    </a:p>
                  </a:txBody>
                  <a:tcPr marL="47625" marR="47625" marT="47625" marB="47625" anchor="ctr"/>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400" b="1" u="none" strike="noStrike" cap="none">
                          <a:solidFill>
                            <a:schemeClr val="lt1"/>
                          </a:solidFill>
                        </a:rPr>
                        <a:t>Configure Floating Static Routes</a:t>
                      </a:r>
                      <a:endParaRPr sz="1400" b="0" u="none" strike="noStrike" cap="none">
                        <a:solidFill>
                          <a:schemeClr val="lt1"/>
                        </a:solidFill>
                      </a:endParaRPr>
                    </a:p>
                  </a:txBody>
                  <a:tcPr marL="47625" marR="47625" marT="47625" marB="47625" anchor="ctr">
                    <a:solidFill>
                      <a:schemeClr val="accent1"/>
                    </a:solidFill>
                  </a:tcPr>
                </a:tc>
                <a:tc>
                  <a:txBody>
                    <a:bodyPr/>
                    <a:lstStyle/>
                    <a:p>
                      <a:pPr marL="0" marR="0" lvl="0" indent="0" algn="l" rtl="0">
                        <a:spcBef>
                          <a:spcPts val="0"/>
                        </a:spcBef>
                        <a:spcAft>
                          <a:spcPts val="0"/>
                        </a:spcAft>
                        <a:buNone/>
                      </a:pPr>
                      <a:r>
                        <a:rPr lang="en-US" sz="1400" b="0" u="none" strike="noStrike" cap="none">
                          <a:solidFill>
                            <a:srgbClr val="000000"/>
                          </a:solidFill>
                        </a:rPr>
                        <a:t>Configure a floating static route to provide a backup connection.</a:t>
                      </a:r>
                      <a:endParaRPr/>
                    </a:p>
                  </a:txBody>
                  <a:tcPr marL="47625" marR="47625" marT="47625" marB="47625" anchor="ctr"/>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400" b="1" u="none" strike="noStrike" cap="none">
                          <a:solidFill>
                            <a:schemeClr val="lt1"/>
                          </a:solidFill>
                        </a:rPr>
                        <a:t>Configure Static Host Routes</a:t>
                      </a:r>
                      <a:endParaRPr sz="1400" b="0" u="none" strike="noStrike" cap="none">
                        <a:solidFill>
                          <a:schemeClr val="lt1"/>
                        </a:solidFill>
                      </a:endParaRPr>
                    </a:p>
                  </a:txBody>
                  <a:tcPr marL="47625" marR="47625" marT="47625" marB="47625" anchor="ctr">
                    <a:solidFill>
                      <a:schemeClr val="accent1"/>
                    </a:solidFill>
                  </a:tcPr>
                </a:tc>
                <a:tc>
                  <a:txBody>
                    <a:bodyPr/>
                    <a:lstStyle/>
                    <a:p>
                      <a:pPr marL="0" marR="0" lvl="0" indent="0" algn="l" rtl="0">
                        <a:spcBef>
                          <a:spcPts val="0"/>
                        </a:spcBef>
                        <a:spcAft>
                          <a:spcPts val="0"/>
                        </a:spcAft>
                        <a:buNone/>
                      </a:pPr>
                      <a:r>
                        <a:rPr lang="en-US" sz="1400" b="0" u="none" strike="noStrike" cap="none">
                          <a:solidFill>
                            <a:srgbClr val="000000"/>
                          </a:solidFill>
                        </a:rPr>
                        <a:t>Configure IPv4 and IPv6 static host routes that direct traffic to a specific host.</a:t>
                      </a:r>
                      <a:endParaRPr/>
                    </a:p>
                  </a:txBody>
                  <a:tcPr marL="47625" marR="47625" marT="47625" marB="47625" anchor="ctr"/>
                </a:tc>
                <a:extLst>
                  <a:ext uri="{0D108BD9-81ED-4DB2-BD59-A6C34878D82A}">
                    <a16:rowId xmlns:a16="http://schemas.microsoft.com/office/drawing/2014/main" val="10005"/>
                  </a:ext>
                </a:extLst>
              </a:tr>
            </a:tbl>
          </a:graphicData>
        </a:graphic>
      </p:graphicFrame>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
          <p:cNvSpPr txBox="1">
            <a:spLocks noGrp="1"/>
          </p:cNvSpPr>
          <p:nvPr>
            <p:ph type="ctrTitle"/>
          </p:nvPr>
        </p:nvSpPr>
        <p:spPr>
          <a:xfrm>
            <a:off x="416425" y="1788160"/>
            <a:ext cx="7598042" cy="929640"/>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4600"/>
              <a:buFont typeface="Arial"/>
              <a:buNone/>
            </a:pPr>
            <a:r>
              <a:rPr lang="en-US">
                <a:solidFill>
                  <a:srgbClr val="AEE8FA"/>
                </a:solidFill>
              </a:rPr>
              <a:t>15.1 Static Routes</a:t>
            </a:r>
            <a:endParaRP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4"/>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Static Routes</a:t>
            </a:r>
            <a:br>
              <a:rPr lang="en-US"/>
            </a:br>
            <a:r>
              <a:rPr lang="en-US" sz="2400"/>
              <a:t>Types of Static Routes</a:t>
            </a:r>
            <a:endParaRPr/>
          </a:p>
        </p:txBody>
      </p:sp>
      <p:sp>
        <p:nvSpPr>
          <p:cNvPr id="260" name="Google Shape;260;p4"/>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dirty="0">
                <a:solidFill>
                  <a:srgbClr val="000000"/>
                </a:solidFill>
              </a:rPr>
              <a:t>Static routes are commonly implemented on a network. This is true even when there is a dynamic routing protocol configured. </a:t>
            </a:r>
            <a:endParaRPr dirty="0"/>
          </a:p>
          <a:p>
            <a:pPr marL="0" lvl="0" indent="0" algn="l" rtl="0">
              <a:lnSpc>
                <a:spcPct val="100000"/>
              </a:lnSpc>
              <a:spcBef>
                <a:spcPts val="320"/>
              </a:spcBef>
              <a:spcAft>
                <a:spcPts val="0"/>
              </a:spcAft>
              <a:buSzPts val="1600"/>
              <a:buNone/>
            </a:pPr>
            <a:endParaRPr sz="1600" dirty="0">
              <a:solidFill>
                <a:srgbClr val="000000"/>
              </a:solidFill>
            </a:endParaRPr>
          </a:p>
          <a:p>
            <a:pPr marL="0" lvl="0" indent="0" algn="l" rtl="0">
              <a:lnSpc>
                <a:spcPct val="100000"/>
              </a:lnSpc>
              <a:spcBef>
                <a:spcPts val="320"/>
              </a:spcBef>
              <a:spcAft>
                <a:spcPts val="0"/>
              </a:spcAft>
              <a:buSzPts val="1600"/>
              <a:buNone/>
            </a:pPr>
            <a:r>
              <a:rPr lang="en-US" sz="1600" dirty="0">
                <a:solidFill>
                  <a:srgbClr val="000000"/>
                </a:solidFill>
              </a:rPr>
              <a:t>Static routes can be configured for IPv4 and IPv6. Both protocols support the following types of static routes:</a:t>
            </a:r>
            <a:endParaRPr dirty="0"/>
          </a:p>
          <a:p>
            <a:pPr marL="415984" lvl="1" indent="-342899" algn="l" rtl="0">
              <a:lnSpc>
                <a:spcPct val="95000"/>
              </a:lnSpc>
              <a:spcBef>
                <a:spcPts val="600"/>
              </a:spcBef>
              <a:spcAft>
                <a:spcPts val="0"/>
              </a:spcAft>
              <a:buSzPts val="1600"/>
              <a:buFont typeface="Arial"/>
              <a:buChar char="•"/>
            </a:pPr>
            <a:r>
              <a:rPr lang="en-US" sz="1600" dirty="0">
                <a:solidFill>
                  <a:srgbClr val="FF0000"/>
                </a:solidFill>
              </a:rPr>
              <a:t>Standard static route</a:t>
            </a:r>
            <a:endParaRPr dirty="0"/>
          </a:p>
          <a:p>
            <a:pPr marL="415984" lvl="1" indent="-342899" algn="l" rtl="0">
              <a:lnSpc>
                <a:spcPct val="95000"/>
              </a:lnSpc>
              <a:spcBef>
                <a:spcPts val="600"/>
              </a:spcBef>
              <a:spcAft>
                <a:spcPts val="0"/>
              </a:spcAft>
              <a:buSzPts val="1600"/>
              <a:buFont typeface="Arial"/>
              <a:buChar char="•"/>
            </a:pPr>
            <a:r>
              <a:rPr lang="en-US" sz="1600" dirty="0">
                <a:solidFill>
                  <a:srgbClr val="FF0000"/>
                </a:solidFill>
              </a:rPr>
              <a:t>Default static route</a:t>
            </a:r>
            <a:endParaRPr dirty="0"/>
          </a:p>
          <a:p>
            <a:pPr marL="415984" lvl="1" indent="-342899" algn="l" rtl="0">
              <a:lnSpc>
                <a:spcPct val="95000"/>
              </a:lnSpc>
              <a:spcBef>
                <a:spcPts val="600"/>
              </a:spcBef>
              <a:spcAft>
                <a:spcPts val="0"/>
              </a:spcAft>
              <a:buSzPts val="1600"/>
              <a:buFont typeface="Arial"/>
              <a:buChar char="•"/>
            </a:pPr>
            <a:r>
              <a:rPr lang="en-US" sz="1600" dirty="0">
                <a:solidFill>
                  <a:srgbClr val="FF0000"/>
                </a:solidFill>
              </a:rPr>
              <a:t>Floating static route</a:t>
            </a:r>
            <a:endParaRPr dirty="0"/>
          </a:p>
          <a:p>
            <a:pPr marL="415984" lvl="1" indent="-342899" algn="l" rtl="0">
              <a:lnSpc>
                <a:spcPct val="95000"/>
              </a:lnSpc>
              <a:spcBef>
                <a:spcPts val="600"/>
              </a:spcBef>
              <a:spcAft>
                <a:spcPts val="0"/>
              </a:spcAft>
              <a:buSzPts val="1600"/>
              <a:buFont typeface="Arial"/>
              <a:buChar char="•"/>
            </a:pPr>
            <a:r>
              <a:rPr lang="en-US" sz="1600" dirty="0">
                <a:solidFill>
                  <a:srgbClr val="FF0000"/>
                </a:solidFill>
              </a:rPr>
              <a:t>Summary static route</a:t>
            </a:r>
            <a:endParaRPr dirty="0"/>
          </a:p>
          <a:p>
            <a:pPr marL="0" lvl="0" indent="0" algn="l" rtl="0">
              <a:lnSpc>
                <a:spcPct val="100000"/>
              </a:lnSpc>
              <a:spcBef>
                <a:spcPts val="320"/>
              </a:spcBef>
              <a:spcAft>
                <a:spcPts val="0"/>
              </a:spcAft>
              <a:buSzPts val="1600"/>
              <a:buNone/>
            </a:pPr>
            <a:endParaRPr sz="1600" dirty="0">
              <a:solidFill>
                <a:srgbClr val="000000"/>
              </a:solidFill>
            </a:endParaRPr>
          </a:p>
          <a:p>
            <a:pPr marL="0" lvl="0" indent="0" algn="l" rtl="0">
              <a:lnSpc>
                <a:spcPct val="100000"/>
              </a:lnSpc>
              <a:spcBef>
                <a:spcPts val="320"/>
              </a:spcBef>
              <a:spcAft>
                <a:spcPts val="0"/>
              </a:spcAft>
              <a:buSzPts val="1600"/>
              <a:buNone/>
            </a:pPr>
            <a:r>
              <a:rPr lang="en-US" sz="1600" dirty="0">
                <a:solidFill>
                  <a:srgbClr val="000000"/>
                </a:solidFill>
              </a:rPr>
              <a:t>Static routes are configured using the </a:t>
            </a:r>
            <a:r>
              <a:rPr lang="en-US" sz="1600" b="1" dirty="0" err="1">
                <a:solidFill>
                  <a:srgbClr val="FF0000"/>
                </a:solidFill>
              </a:rPr>
              <a:t>ip</a:t>
            </a:r>
            <a:r>
              <a:rPr lang="en-US" sz="1600" b="1" dirty="0">
                <a:solidFill>
                  <a:srgbClr val="FF0000"/>
                </a:solidFill>
              </a:rPr>
              <a:t> route</a:t>
            </a:r>
            <a:r>
              <a:rPr lang="en-US" sz="1600" dirty="0">
                <a:solidFill>
                  <a:srgbClr val="000000"/>
                </a:solidFill>
              </a:rPr>
              <a:t> and </a:t>
            </a:r>
            <a:r>
              <a:rPr lang="en-US" sz="1600" b="1" dirty="0">
                <a:solidFill>
                  <a:srgbClr val="FF0000"/>
                </a:solidFill>
              </a:rPr>
              <a:t>ipv6 route</a:t>
            </a:r>
            <a:r>
              <a:rPr lang="en-US" sz="1600" dirty="0">
                <a:solidFill>
                  <a:srgbClr val="000000"/>
                </a:solidFill>
              </a:rPr>
              <a:t> global configuration commands.</a:t>
            </a:r>
            <a:endParaRPr dirty="0"/>
          </a:p>
          <a:p>
            <a:pPr marL="342900" lvl="0" indent="-241300" algn="l" rtl="0">
              <a:lnSpc>
                <a:spcPct val="100000"/>
              </a:lnSpc>
              <a:spcBef>
                <a:spcPts val="320"/>
              </a:spcBef>
              <a:spcAft>
                <a:spcPts val="0"/>
              </a:spcAft>
              <a:buSzPts val="1600"/>
              <a:buFont typeface="Arial"/>
              <a:buNone/>
            </a:pPr>
            <a:endParaRPr sz="1600" dirty="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5"/>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Static Routes</a:t>
            </a:r>
            <a:br>
              <a:rPr lang="en-US"/>
            </a:br>
            <a:r>
              <a:rPr lang="en-US" sz="2400"/>
              <a:t>Next-Hop Options</a:t>
            </a:r>
            <a:endParaRPr/>
          </a:p>
        </p:txBody>
      </p:sp>
      <p:sp>
        <p:nvSpPr>
          <p:cNvPr id="267" name="Google Shape;267;p5"/>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dirty="0">
                <a:solidFill>
                  <a:srgbClr val="000000"/>
                </a:solidFill>
              </a:rPr>
              <a:t>When configuring a static route, the next hop can be identified by an </a:t>
            </a:r>
            <a:r>
              <a:rPr lang="en-US" sz="1600" dirty="0">
                <a:solidFill>
                  <a:srgbClr val="FF0000"/>
                </a:solidFill>
              </a:rPr>
              <a:t>IP address</a:t>
            </a:r>
            <a:r>
              <a:rPr lang="en-US" sz="1600" dirty="0">
                <a:solidFill>
                  <a:srgbClr val="000000"/>
                </a:solidFill>
              </a:rPr>
              <a:t>, </a:t>
            </a:r>
            <a:r>
              <a:rPr lang="en-US" sz="1600" dirty="0">
                <a:solidFill>
                  <a:srgbClr val="FF0000"/>
                </a:solidFill>
              </a:rPr>
              <a:t>exit interface, or both</a:t>
            </a:r>
            <a:r>
              <a:rPr lang="en-US" sz="1600" dirty="0">
                <a:solidFill>
                  <a:srgbClr val="000000"/>
                </a:solidFill>
              </a:rPr>
              <a:t>. How the destination is specified creates one of the three following types of static route:</a:t>
            </a:r>
            <a:endParaRPr dirty="0"/>
          </a:p>
          <a:p>
            <a:pPr marL="415984" lvl="1" indent="-342899" algn="l" rtl="0">
              <a:lnSpc>
                <a:spcPct val="95000"/>
              </a:lnSpc>
              <a:spcBef>
                <a:spcPts val="600"/>
              </a:spcBef>
              <a:spcAft>
                <a:spcPts val="0"/>
              </a:spcAft>
              <a:buSzPts val="1600"/>
              <a:buFont typeface="Arial"/>
              <a:buChar char="•"/>
            </a:pPr>
            <a:r>
              <a:rPr lang="en-US" sz="1600" b="1" dirty="0">
                <a:solidFill>
                  <a:srgbClr val="000000"/>
                </a:solidFill>
              </a:rPr>
              <a:t>Next-hop static route</a:t>
            </a:r>
            <a:r>
              <a:rPr lang="en-US" sz="1600" dirty="0">
                <a:solidFill>
                  <a:srgbClr val="000000"/>
                </a:solidFill>
              </a:rPr>
              <a:t> - Only the </a:t>
            </a:r>
            <a:r>
              <a:rPr lang="en-US" sz="1600" dirty="0">
                <a:solidFill>
                  <a:srgbClr val="FF0000"/>
                </a:solidFill>
              </a:rPr>
              <a:t>next-hop IP address </a:t>
            </a:r>
            <a:r>
              <a:rPr lang="en-US" sz="1600" dirty="0">
                <a:solidFill>
                  <a:srgbClr val="000000"/>
                </a:solidFill>
              </a:rPr>
              <a:t>is specified</a:t>
            </a:r>
            <a:endParaRPr dirty="0"/>
          </a:p>
          <a:p>
            <a:pPr marL="415984" lvl="1" indent="-342899" algn="l" rtl="0">
              <a:lnSpc>
                <a:spcPct val="95000"/>
              </a:lnSpc>
              <a:spcBef>
                <a:spcPts val="600"/>
              </a:spcBef>
              <a:spcAft>
                <a:spcPts val="0"/>
              </a:spcAft>
              <a:buSzPts val="1600"/>
              <a:buFont typeface="Arial"/>
              <a:buChar char="•"/>
            </a:pPr>
            <a:r>
              <a:rPr lang="en-US" sz="1600" b="1" dirty="0">
                <a:solidFill>
                  <a:srgbClr val="000000"/>
                </a:solidFill>
              </a:rPr>
              <a:t>Directly connected static route</a:t>
            </a:r>
            <a:r>
              <a:rPr lang="en-US" sz="1600" dirty="0">
                <a:solidFill>
                  <a:srgbClr val="000000"/>
                </a:solidFill>
              </a:rPr>
              <a:t> - Only the router </a:t>
            </a:r>
            <a:r>
              <a:rPr lang="en-US" sz="1600" dirty="0">
                <a:solidFill>
                  <a:srgbClr val="FF0000"/>
                </a:solidFill>
              </a:rPr>
              <a:t>exit interface </a:t>
            </a:r>
            <a:r>
              <a:rPr lang="en-US" sz="1600" dirty="0">
                <a:solidFill>
                  <a:srgbClr val="000000"/>
                </a:solidFill>
              </a:rPr>
              <a:t>is specified</a:t>
            </a:r>
            <a:endParaRPr dirty="0"/>
          </a:p>
          <a:p>
            <a:pPr marL="415984" lvl="1" indent="-342899" algn="l" rtl="0">
              <a:lnSpc>
                <a:spcPct val="95000"/>
              </a:lnSpc>
              <a:spcBef>
                <a:spcPts val="600"/>
              </a:spcBef>
              <a:spcAft>
                <a:spcPts val="0"/>
              </a:spcAft>
              <a:buSzPts val="1600"/>
              <a:buFont typeface="Arial"/>
              <a:buChar char="•"/>
            </a:pPr>
            <a:r>
              <a:rPr lang="en-US" sz="1600" b="1" dirty="0">
                <a:solidFill>
                  <a:srgbClr val="000000"/>
                </a:solidFill>
              </a:rPr>
              <a:t>Fully specified static route</a:t>
            </a:r>
            <a:r>
              <a:rPr lang="en-US" sz="1600" dirty="0">
                <a:solidFill>
                  <a:srgbClr val="000000"/>
                </a:solidFill>
              </a:rPr>
              <a:t> - The </a:t>
            </a:r>
            <a:r>
              <a:rPr lang="en-US" sz="1600" dirty="0">
                <a:solidFill>
                  <a:srgbClr val="FF0000"/>
                </a:solidFill>
              </a:rPr>
              <a:t>next-hop IP address </a:t>
            </a:r>
            <a:r>
              <a:rPr lang="en-US" sz="1600" dirty="0">
                <a:solidFill>
                  <a:srgbClr val="000000"/>
                </a:solidFill>
              </a:rPr>
              <a:t>and </a:t>
            </a:r>
            <a:r>
              <a:rPr lang="en-US" sz="1600" dirty="0">
                <a:solidFill>
                  <a:srgbClr val="FF0000"/>
                </a:solidFill>
              </a:rPr>
              <a:t>exit interface </a:t>
            </a:r>
            <a:r>
              <a:rPr lang="en-US" sz="1600" dirty="0">
                <a:solidFill>
                  <a:srgbClr val="000000"/>
                </a:solidFill>
              </a:rPr>
              <a:t>are specified</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6"/>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Static Routes</a:t>
            </a:r>
            <a:br>
              <a:rPr lang="en-US"/>
            </a:br>
            <a:r>
              <a:rPr lang="en-US" sz="2400"/>
              <a:t>IPv4 Static Route Command</a:t>
            </a:r>
            <a:endParaRPr/>
          </a:p>
        </p:txBody>
      </p:sp>
      <p:sp>
        <p:nvSpPr>
          <p:cNvPr id="274" name="Google Shape;274;p6"/>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IPv4 static routes are configured using the following global configuration command:</a:t>
            </a:r>
            <a:endParaRPr/>
          </a:p>
          <a:p>
            <a:pPr marL="0" lvl="0" indent="0" algn="l" rtl="0">
              <a:lnSpc>
                <a:spcPct val="100000"/>
              </a:lnSpc>
              <a:spcBef>
                <a:spcPts val="320"/>
              </a:spcBef>
              <a:spcAft>
                <a:spcPts val="0"/>
              </a:spcAft>
              <a:buSzPts val="1600"/>
              <a:buNone/>
            </a:pPr>
            <a:endParaRPr sz="1600">
              <a:solidFill>
                <a:srgbClr val="000000"/>
              </a:solidFill>
            </a:endParaRPr>
          </a:p>
          <a:p>
            <a:pPr marL="0" lvl="0" indent="0" algn="l" rtl="0">
              <a:lnSpc>
                <a:spcPct val="100000"/>
              </a:lnSpc>
              <a:spcBef>
                <a:spcPts val="320"/>
              </a:spcBef>
              <a:spcAft>
                <a:spcPts val="0"/>
              </a:spcAft>
              <a:buSzPts val="1600"/>
              <a:buNone/>
            </a:pPr>
            <a:r>
              <a:rPr lang="en-US" sz="1600" b="1">
                <a:solidFill>
                  <a:srgbClr val="000000"/>
                </a:solidFill>
                <a:latin typeface="Courier New"/>
                <a:ea typeface="Courier New"/>
                <a:cs typeface="Courier New"/>
                <a:sym typeface="Courier New"/>
              </a:rPr>
              <a:t>Router(config)# </a:t>
            </a:r>
            <a:r>
              <a:rPr lang="en-US" sz="1600" b="1">
                <a:solidFill>
                  <a:srgbClr val="FF0000"/>
                </a:solidFill>
                <a:latin typeface="Courier New"/>
                <a:ea typeface="Courier New"/>
                <a:cs typeface="Courier New"/>
                <a:sym typeface="Courier New"/>
              </a:rPr>
              <a:t>ip route </a:t>
            </a:r>
            <a:r>
              <a:rPr lang="en-US" sz="1600" i="1">
                <a:solidFill>
                  <a:srgbClr val="FF0000"/>
                </a:solidFill>
                <a:latin typeface="Courier New"/>
                <a:ea typeface="Courier New"/>
                <a:cs typeface="Courier New"/>
                <a:sym typeface="Courier New"/>
              </a:rPr>
              <a:t>network-address subnet-mask </a:t>
            </a:r>
            <a:r>
              <a:rPr lang="en-US" sz="1600">
                <a:solidFill>
                  <a:srgbClr val="FF0000"/>
                </a:solidFill>
                <a:latin typeface="Courier New"/>
                <a:ea typeface="Courier New"/>
                <a:cs typeface="Courier New"/>
                <a:sym typeface="Courier New"/>
              </a:rPr>
              <a:t>{ </a:t>
            </a:r>
            <a:r>
              <a:rPr lang="en-US" sz="1600" i="1">
                <a:solidFill>
                  <a:srgbClr val="FF0000"/>
                </a:solidFill>
                <a:latin typeface="Courier New"/>
                <a:ea typeface="Courier New"/>
                <a:cs typeface="Courier New"/>
                <a:sym typeface="Courier New"/>
              </a:rPr>
              <a:t>ip-address </a:t>
            </a:r>
            <a:r>
              <a:rPr lang="en-US" sz="1600">
                <a:solidFill>
                  <a:srgbClr val="FF0000"/>
                </a:solidFill>
                <a:latin typeface="Courier New"/>
                <a:ea typeface="Courier New"/>
                <a:cs typeface="Courier New"/>
                <a:sym typeface="Courier New"/>
              </a:rPr>
              <a:t>| </a:t>
            </a:r>
            <a:r>
              <a:rPr lang="en-US" sz="1600" i="1">
                <a:solidFill>
                  <a:srgbClr val="FF0000"/>
                </a:solidFill>
                <a:latin typeface="Courier New"/>
                <a:ea typeface="Courier New"/>
                <a:cs typeface="Courier New"/>
                <a:sym typeface="Courier New"/>
              </a:rPr>
              <a:t>exit-intf</a:t>
            </a:r>
            <a:r>
              <a:rPr lang="en-US" sz="1600">
                <a:solidFill>
                  <a:srgbClr val="FF0000"/>
                </a:solidFill>
                <a:latin typeface="Courier New"/>
                <a:ea typeface="Courier New"/>
                <a:cs typeface="Courier New"/>
                <a:sym typeface="Courier New"/>
              </a:rPr>
              <a:t> [</a:t>
            </a:r>
            <a:r>
              <a:rPr lang="en-US" sz="1600" i="1">
                <a:solidFill>
                  <a:srgbClr val="FF0000"/>
                </a:solidFill>
                <a:latin typeface="Courier New"/>
                <a:ea typeface="Courier New"/>
                <a:cs typeface="Courier New"/>
                <a:sym typeface="Courier New"/>
              </a:rPr>
              <a:t>ip-address</a:t>
            </a:r>
            <a:r>
              <a:rPr lang="en-US" sz="1600">
                <a:solidFill>
                  <a:srgbClr val="FF0000"/>
                </a:solidFill>
                <a:latin typeface="Courier New"/>
                <a:ea typeface="Courier New"/>
                <a:cs typeface="Courier New"/>
                <a:sym typeface="Courier New"/>
              </a:rPr>
              <a:t>]} [distance]</a:t>
            </a:r>
            <a:endParaRPr sz="1600">
              <a:solidFill>
                <a:srgbClr val="FF0000"/>
              </a:solidFill>
            </a:endParaRPr>
          </a:p>
          <a:p>
            <a:pPr marL="0" lvl="0" indent="0" algn="l" rtl="0">
              <a:lnSpc>
                <a:spcPct val="100000"/>
              </a:lnSpc>
              <a:spcBef>
                <a:spcPts val="320"/>
              </a:spcBef>
              <a:spcAft>
                <a:spcPts val="0"/>
              </a:spcAft>
              <a:buSzPts val="1600"/>
              <a:buNone/>
            </a:pPr>
            <a:endParaRPr sz="1600" b="1">
              <a:solidFill>
                <a:srgbClr val="000000"/>
              </a:solidFill>
            </a:endParaRPr>
          </a:p>
          <a:p>
            <a:pPr marL="0" lvl="0" indent="0" algn="l" rtl="0">
              <a:lnSpc>
                <a:spcPct val="100000"/>
              </a:lnSpc>
              <a:spcBef>
                <a:spcPts val="320"/>
              </a:spcBef>
              <a:spcAft>
                <a:spcPts val="0"/>
              </a:spcAft>
              <a:buSzPts val="1600"/>
              <a:buNone/>
            </a:pPr>
            <a:r>
              <a:rPr lang="en-US" sz="1600" b="1">
                <a:solidFill>
                  <a:srgbClr val="000000"/>
                </a:solidFill>
              </a:rPr>
              <a:t>Note:</a:t>
            </a:r>
            <a:r>
              <a:rPr lang="en-US" sz="1600">
                <a:solidFill>
                  <a:srgbClr val="000000"/>
                </a:solidFill>
              </a:rPr>
              <a:t> Either the </a:t>
            </a:r>
            <a:r>
              <a:rPr lang="en-US" sz="1600" i="1">
                <a:solidFill>
                  <a:srgbClr val="000000"/>
                </a:solidFill>
              </a:rPr>
              <a:t>ip-address</a:t>
            </a:r>
            <a:r>
              <a:rPr lang="en-US" sz="1600">
                <a:solidFill>
                  <a:srgbClr val="000000"/>
                </a:solidFill>
              </a:rPr>
              <a:t>, </a:t>
            </a:r>
            <a:r>
              <a:rPr lang="en-US" sz="1600" i="1">
                <a:solidFill>
                  <a:srgbClr val="000000"/>
                </a:solidFill>
              </a:rPr>
              <a:t>exit-intf,</a:t>
            </a:r>
            <a:r>
              <a:rPr lang="en-US" sz="1600">
                <a:solidFill>
                  <a:srgbClr val="000000"/>
                </a:solidFill>
              </a:rPr>
              <a:t> or the </a:t>
            </a:r>
            <a:r>
              <a:rPr lang="en-US" sz="1600" i="1">
                <a:solidFill>
                  <a:srgbClr val="000000"/>
                </a:solidFill>
              </a:rPr>
              <a:t>ip-address</a:t>
            </a:r>
            <a:r>
              <a:rPr lang="en-US" sz="1600">
                <a:solidFill>
                  <a:srgbClr val="000000"/>
                </a:solidFill>
              </a:rPr>
              <a:t> and </a:t>
            </a:r>
            <a:r>
              <a:rPr lang="en-US" sz="1600" i="1">
                <a:solidFill>
                  <a:srgbClr val="000000"/>
                </a:solidFill>
              </a:rPr>
              <a:t>exit-intf</a:t>
            </a:r>
            <a:r>
              <a:rPr lang="en-US" sz="1600">
                <a:solidFill>
                  <a:srgbClr val="000000"/>
                </a:solidFill>
              </a:rPr>
              <a:t> parameters must be configured.</a:t>
            </a:r>
            <a:endParaRPr/>
          </a:p>
          <a:p>
            <a:pPr marL="0" lvl="0" indent="0" algn="l" rtl="0">
              <a:lnSpc>
                <a:spcPct val="100000"/>
              </a:lnSpc>
              <a:spcBef>
                <a:spcPts val="320"/>
              </a:spcBef>
              <a:spcAft>
                <a:spcPts val="0"/>
              </a:spcAft>
              <a:buSzPts val="1600"/>
              <a:buNone/>
            </a:pPr>
            <a:endParaRPr sz="16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7"/>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Static Routes</a:t>
            </a:r>
            <a:br>
              <a:rPr lang="en-US"/>
            </a:br>
            <a:r>
              <a:rPr lang="en-US" sz="2400"/>
              <a:t>IPv6 Static Route Command</a:t>
            </a:r>
            <a:endParaRPr/>
          </a:p>
        </p:txBody>
      </p:sp>
      <p:sp>
        <p:nvSpPr>
          <p:cNvPr id="281" name="Google Shape;281;p7"/>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IPv6 static routes are configured using the following global configuration command:</a:t>
            </a:r>
            <a:endParaRPr/>
          </a:p>
          <a:p>
            <a:pPr marL="0" lvl="0" indent="0" algn="l" rtl="0">
              <a:lnSpc>
                <a:spcPct val="100000"/>
              </a:lnSpc>
              <a:spcBef>
                <a:spcPts val="320"/>
              </a:spcBef>
              <a:spcAft>
                <a:spcPts val="0"/>
              </a:spcAft>
              <a:buSzPts val="1600"/>
              <a:buNone/>
            </a:pPr>
            <a:endParaRPr sz="1600">
              <a:solidFill>
                <a:srgbClr val="000000"/>
              </a:solidFill>
            </a:endParaRPr>
          </a:p>
          <a:p>
            <a:pPr marL="0" lvl="0" indent="0" algn="l" rtl="0">
              <a:lnSpc>
                <a:spcPct val="100000"/>
              </a:lnSpc>
              <a:spcBef>
                <a:spcPts val="320"/>
              </a:spcBef>
              <a:spcAft>
                <a:spcPts val="0"/>
              </a:spcAft>
              <a:buSzPts val="1600"/>
              <a:buNone/>
            </a:pPr>
            <a:r>
              <a:rPr lang="en-US" sz="1600" b="1">
                <a:solidFill>
                  <a:srgbClr val="000000"/>
                </a:solidFill>
                <a:latin typeface="Courier New"/>
                <a:ea typeface="Courier New"/>
                <a:cs typeface="Courier New"/>
                <a:sym typeface="Courier New"/>
              </a:rPr>
              <a:t>Router(config)# </a:t>
            </a:r>
            <a:r>
              <a:rPr lang="en-US" sz="1600" b="1">
                <a:solidFill>
                  <a:srgbClr val="FF0000"/>
                </a:solidFill>
                <a:latin typeface="Courier New"/>
                <a:ea typeface="Courier New"/>
                <a:cs typeface="Courier New"/>
                <a:sym typeface="Courier New"/>
              </a:rPr>
              <a:t>ipv6 route </a:t>
            </a:r>
            <a:r>
              <a:rPr lang="en-US" sz="1600" i="1">
                <a:solidFill>
                  <a:srgbClr val="FF0000"/>
                </a:solidFill>
                <a:latin typeface="Courier New"/>
                <a:ea typeface="Courier New"/>
                <a:cs typeface="Courier New"/>
                <a:sym typeface="Courier New"/>
              </a:rPr>
              <a:t>ipv6-prefix/prefix-length </a:t>
            </a:r>
            <a:r>
              <a:rPr lang="en-US" sz="1600">
                <a:solidFill>
                  <a:srgbClr val="FF0000"/>
                </a:solidFill>
                <a:latin typeface="Courier New"/>
                <a:ea typeface="Courier New"/>
                <a:cs typeface="Courier New"/>
                <a:sym typeface="Courier New"/>
              </a:rPr>
              <a:t>{</a:t>
            </a:r>
            <a:r>
              <a:rPr lang="en-US" sz="1600" i="1">
                <a:solidFill>
                  <a:srgbClr val="FF0000"/>
                </a:solidFill>
                <a:latin typeface="Courier New"/>
                <a:ea typeface="Courier New"/>
                <a:cs typeface="Courier New"/>
                <a:sym typeface="Courier New"/>
              </a:rPr>
              <a:t>ipv6-address </a:t>
            </a:r>
            <a:r>
              <a:rPr lang="en-US" sz="1600">
                <a:solidFill>
                  <a:srgbClr val="FF0000"/>
                </a:solidFill>
                <a:latin typeface="Courier New"/>
                <a:ea typeface="Courier New"/>
                <a:cs typeface="Courier New"/>
                <a:sym typeface="Courier New"/>
              </a:rPr>
              <a:t>| </a:t>
            </a:r>
            <a:r>
              <a:rPr lang="en-US" sz="1600" i="1">
                <a:solidFill>
                  <a:srgbClr val="FF0000"/>
                </a:solidFill>
                <a:latin typeface="Courier New"/>
                <a:ea typeface="Courier New"/>
                <a:cs typeface="Courier New"/>
                <a:sym typeface="Courier New"/>
              </a:rPr>
              <a:t>exit-intf</a:t>
            </a:r>
            <a:r>
              <a:rPr lang="en-US" sz="1600">
                <a:solidFill>
                  <a:srgbClr val="FF0000"/>
                </a:solidFill>
                <a:latin typeface="Courier New"/>
                <a:ea typeface="Courier New"/>
                <a:cs typeface="Courier New"/>
                <a:sym typeface="Courier New"/>
              </a:rPr>
              <a:t> [</a:t>
            </a:r>
            <a:r>
              <a:rPr lang="en-US" sz="1600" i="1">
                <a:solidFill>
                  <a:srgbClr val="FF0000"/>
                </a:solidFill>
                <a:latin typeface="Courier New"/>
                <a:ea typeface="Courier New"/>
                <a:cs typeface="Courier New"/>
                <a:sym typeface="Courier New"/>
              </a:rPr>
              <a:t>ipv6-address</a:t>
            </a:r>
            <a:r>
              <a:rPr lang="en-US" sz="1600">
                <a:solidFill>
                  <a:srgbClr val="FF0000"/>
                </a:solidFill>
                <a:latin typeface="Courier New"/>
                <a:ea typeface="Courier New"/>
                <a:cs typeface="Courier New"/>
                <a:sym typeface="Courier New"/>
              </a:rPr>
              <a:t>]} [</a:t>
            </a:r>
            <a:r>
              <a:rPr lang="en-US" sz="1600" i="1">
                <a:solidFill>
                  <a:srgbClr val="FF0000"/>
                </a:solidFill>
                <a:latin typeface="Courier New"/>
                <a:ea typeface="Courier New"/>
                <a:cs typeface="Courier New"/>
                <a:sym typeface="Courier New"/>
              </a:rPr>
              <a:t>distance</a:t>
            </a:r>
            <a:r>
              <a:rPr lang="en-US" sz="1600">
                <a:solidFill>
                  <a:srgbClr val="FF0000"/>
                </a:solidFill>
                <a:latin typeface="Courier New"/>
                <a:ea typeface="Courier New"/>
                <a:cs typeface="Courier New"/>
                <a:sym typeface="Courier New"/>
              </a:rPr>
              <a:t>]</a:t>
            </a:r>
            <a:endParaRPr/>
          </a:p>
          <a:p>
            <a:pPr marL="0" lvl="0" indent="0" algn="l" rtl="0">
              <a:lnSpc>
                <a:spcPct val="100000"/>
              </a:lnSpc>
              <a:spcBef>
                <a:spcPts val="320"/>
              </a:spcBef>
              <a:spcAft>
                <a:spcPts val="0"/>
              </a:spcAft>
              <a:buSzPts val="1600"/>
              <a:buNone/>
            </a:pPr>
            <a:endParaRPr sz="1600">
              <a:solidFill>
                <a:srgbClr val="000000"/>
              </a:solidFill>
            </a:endParaRPr>
          </a:p>
          <a:p>
            <a:pPr marL="0" lvl="0" indent="0" algn="l" rtl="0">
              <a:lnSpc>
                <a:spcPct val="100000"/>
              </a:lnSpc>
              <a:spcBef>
                <a:spcPts val="320"/>
              </a:spcBef>
              <a:spcAft>
                <a:spcPts val="0"/>
              </a:spcAft>
              <a:buSzPts val="1600"/>
              <a:buNone/>
            </a:pPr>
            <a:r>
              <a:rPr lang="en-US" sz="1600">
                <a:solidFill>
                  <a:srgbClr val="000000"/>
                </a:solidFill>
              </a:rPr>
              <a:t>Most of parameters are identical to the IPv4 version of the command.</a:t>
            </a:r>
            <a:endParaRPr/>
          </a:p>
          <a:p>
            <a:pPr marL="0" lvl="0" indent="0" algn="l" rtl="0">
              <a:lnSpc>
                <a:spcPct val="100000"/>
              </a:lnSpc>
              <a:spcBef>
                <a:spcPts val="320"/>
              </a:spcBef>
              <a:spcAft>
                <a:spcPts val="0"/>
              </a:spcAft>
              <a:buSzPts val="1600"/>
              <a:buNone/>
            </a:pPr>
            <a:endParaRPr sz="16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8"/>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Static Routes</a:t>
            </a:r>
            <a:br>
              <a:rPr lang="en-US"/>
            </a:br>
            <a:r>
              <a:rPr lang="en-US" sz="2400"/>
              <a:t>Dual-Stack Topology</a:t>
            </a:r>
            <a:endParaRPr/>
          </a:p>
        </p:txBody>
      </p:sp>
      <p:sp>
        <p:nvSpPr>
          <p:cNvPr id="288" name="Google Shape;288;p8"/>
          <p:cNvSpPr txBox="1">
            <a:spLocks noGrp="1"/>
          </p:cNvSpPr>
          <p:nvPr>
            <p:ph type="body" idx="1"/>
          </p:nvPr>
        </p:nvSpPr>
        <p:spPr>
          <a:xfrm>
            <a:off x="474662" y="731838"/>
            <a:ext cx="8280057" cy="669124"/>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The figure shows a dual-stack network topology. Currently, no static routes are configured for either IPv4 or IPv6.</a:t>
            </a:r>
            <a:endParaRPr/>
          </a:p>
        </p:txBody>
      </p:sp>
      <p:pic>
        <p:nvPicPr>
          <p:cNvPr id="289" name="Google Shape;289;p8"/>
          <p:cNvPicPr preferRelativeResize="0"/>
          <p:nvPr/>
        </p:nvPicPr>
        <p:blipFill rotWithShape="1">
          <a:blip r:embed="rId3">
            <a:alphaModFix/>
          </a:blip>
          <a:srcRect/>
          <a:stretch/>
        </p:blipFill>
        <p:spPr>
          <a:xfrm>
            <a:off x="1566931" y="1281150"/>
            <a:ext cx="6010137" cy="343970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9"/>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Static Routes</a:t>
            </a:r>
            <a:br>
              <a:rPr lang="en-US"/>
            </a:br>
            <a:r>
              <a:rPr lang="en-US" sz="2400"/>
              <a:t>IPv4 Starting Routing Tables</a:t>
            </a:r>
            <a:endParaRPr/>
          </a:p>
        </p:txBody>
      </p:sp>
      <p:sp>
        <p:nvSpPr>
          <p:cNvPr id="296" name="Google Shape;296;p9"/>
          <p:cNvSpPr txBox="1">
            <a:spLocks noGrp="1"/>
          </p:cNvSpPr>
          <p:nvPr>
            <p:ph type="body" idx="1"/>
          </p:nvPr>
        </p:nvSpPr>
        <p:spPr>
          <a:xfrm>
            <a:off x="474662" y="731837"/>
            <a:ext cx="8280057" cy="995363"/>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600"/>
              <a:buFont typeface="Arial"/>
              <a:buChar char="•"/>
            </a:pPr>
            <a:r>
              <a:rPr lang="en-US" sz="1600">
                <a:solidFill>
                  <a:srgbClr val="000000"/>
                </a:solidFill>
              </a:rPr>
              <a:t>Each router has entries only for directly connected networks and associated local addresses.</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R1 can ping R2, but cannot ping the R3 LAN</a:t>
            </a:r>
            <a:endParaRPr/>
          </a:p>
        </p:txBody>
      </p:sp>
      <p:sp>
        <p:nvSpPr>
          <p:cNvPr id="297" name="Google Shape;297;p9"/>
          <p:cNvSpPr txBox="1"/>
          <p:nvPr/>
        </p:nvSpPr>
        <p:spPr>
          <a:xfrm>
            <a:off x="308665" y="1850065"/>
            <a:ext cx="8446054" cy="2677656"/>
          </a:xfrm>
          <a:prstGeom prst="rect">
            <a:avLst/>
          </a:prstGeom>
          <a:solidFill>
            <a:srgbClr val="00000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lt1"/>
                </a:solidFill>
                <a:latin typeface="Courier New"/>
                <a:ea typeface="Courier New"/>
                <a:cs typeface="Courier New"/>
                <a:sym typeface="Courier New"/>
              </a:rPr>
              <a:t>R1# </a:t>
            </a:r>
            <a:r>
              <a:rPr lang="en-US" sz="1050" b="1">
                <a:solidFill>
                  <a:srgbClr val="FFFF00"/>
                </a:solidFill>
                <a:latin typeface="Courier New"/>
                <a:ea typeface="Courier New"/>
                <a:cs typeface="Courier New"/>
                <a:sym typeface="Courier New"/>
              </a:rPr>
              <a:t>show ip route | begin Gateway </a:t>
            </a:r>
            <a:endParaRPr/>
          </a:p>
          <a:p>
            <a:pPr marL="0" marR="0" lvl="0" indent="0" algn="l" rtl="0">
              <a:spcBef>
                <a:spcPts val="0"/>
              </a:spcBef>
              <a:spcAft>
                <a:spcPts val="0"/>
              </a:spcAft>
              <a:buNone/>
            </a:pPr>
            <a:r>
              <a:rPr lang="en-US" sz="1050">
                <a:solidFill>
                  <a:schemeClr val="lt1"/>
                </a:solidFill>
                <a:latin typeface="Courier New"/>
                <a:ea typeface="Courier New"/>
                <a:cs typeface="Courier New"/>
                <a:sym typeface="Courier New"/>
              </a:rPr>
              <a:t>Gateway of last resort is not set </a:t>
            </a:r>
            <a:endParaRPr/>
          </a:p>
          <a:p>
            <a:pPr marL="0" marR="0" lvl="0" indent="0" algn="l" rtl="0">
              <a:spcBef>
                <a:spcPts val="0"/>
              </a:spcBef>
              <a:spcAft>
                <a:spcPts val="0"/>
              </a:spcAft>
              <a:buNone/>
            </a:pPr>
            <a:r>
              <a:rPr lang="en-US" sz="1050">
                <a:solidFill>
                  <a:schemeClr val="lt1"/>
                </a:solidFill>
                <a:latin typeface="Courier New"/>
                <a:ea typeface="Courier New"/>
                <a:cs typeface="Courier New"/>
                <a:sym typeface="Courier New"/>
              </a:rPr>
              <a:t>    172.16.0.0/16 is variably subnetted, 4 subnets, 2 masks </a:t>
            </a:r>
            <a:endParaRPr/>
          </a:p>
          <a:p>
            <a:pPr marL="0" marR="0" lvl="0" indent="0" algn="l" rtl="0">
              <a:spcBef>
                <a:spcPts val="0"/>
              </a:spcBef>
              <a:spcAft>
                <a:spcPts val="0"/>
              </a:spcAft>
              <a:buNone/>
            </a:pPr>
            <a:r>
              <a:rPr lang="en-US" sz="1050">
                <a:solidFill>
                  <a:schemeClr val="lt1"/>
                </a:solidFill>
                <a:latin typeface="Courier New"/>
                <a:ea typeface="Courier New"/>
                <a:cs typeface="Courier New"/>
                <a:sym typeface="Courier New"/>
              </a:rPr>
              <a:t>C 	172.16.2.0/24 is directly connected, Serial0/1/0 </a:t>
            </a:r>
            <a:endParaRPr/>
          </a:p>
          <a:p>
            <a:pPr marL="0" marR="0" lvl="0" indent="0" algn="l" rtl="0">
              <a:spcBef>
                <a:spcPts val="0"/>
              </a:spcBef>
              <a:spcAft>
                <a:spcPts val="0"/>
              </a:spcAft>
              <a:buNone/>
            </a:pPr>
            <a:r>
              <a:rPr lang="en-US" sz="1050">
                <a:solidFill>
                  <a:schemeClr val="lt1"/>
                </a:solidFill>
                <a:latin typeface="Courier New"/>
                <a:ea typeface="Courier New"/>
                <a:cs typeface="Courier New"/>
                <a:sym typeface="Courier New"/>
              </a:rPr>
              <a:t>L 	172.16.2.1/32 is directly connected, Serial0/1/0 </a:t>
            </a:r>
            <a:endParaRPr/>
          </a:p>
          <a:p>
            <a:pPr marL="0" marR="0" lvl="0" indent="0" algn="l" rtl="0">
              <a:spcBef>
                <a:spcPts val="0"/>
              </a:spcBef>
              <a:spcAft>
                <a:spcPts val="0"/>
              </a:spcAft>
              <a:buNone/>
            </a:pPr>
            <a:r>
              <a:rPr lang="en-US" sz="1050">
                <a:solidFill>
                  <a:schemeClr val="lt1"/>
                </a:solidFill>
                <a:latin typeface="Courier New"/>
                <a:ea typeface="Courier New"/>
                <a:cs typeface="Courier New"/>
                <a:sym typeface="Courier New"/>
              </a:rPr>
              <a:t>C 	172.16.3.0/24 is directly connected, GigabitEthernet0/0/0 </a:t>
            </a:r>
            <a:endParaRPr/>
          </a:p>
          <a:p>
            <a:pPr marL="0" marR="0" lvl="0" indent="0" algn="l" rtl="0">
              <a:spcBef>
                <a:spcPts val="0"/>
              </a:spcBef>
              <a:spcAft>
                <a:spcPts val="0"/>
              </a:spcAft>
              <a:buNone/>
            </a:pPr>
            <a:r>
              <a:rPr lang="en-US" sz="1050">
                <a:solidFill>
                  <a:schemeClr val="lt1"/>
                </a:solidFill>
                <a:latin typeface="Courier New"/>
                <a:ea typeface="Courier New"/>
                <a:cs typeface="Courier New"/>
                <a:sym typeface="Courier New"/>
              </a:rPr>
              <a:t>L 	172.16.3.1/32 is directly connected, GigabitEthernet0/0/0 </a:t>
            </a:r>
            <a:endParaRPr/>
          </a:p>
          <a:p>
            <a:pPr marL="0" marR="0" lvl="0" indent="0" algn="l" rtl="0">
              <a:spcBef>
                <a:spcPts val="0"/>
              </a:spcBef>
              <a:spcAft>
                <a:spcPts val="0"/>
              </a:spcAft>
              <a:buNone/>
            </a:pPr>
            <a:r>
              <a:rPr lang="en-US" sz="1050">
                <a:solidFill>
                  <a:schemeClr val="lt1"/>
                </a:solidFill>
                <a:latin typeface="Courier New"/>
                <a:ea typeface="Courier New"/>
                <a:cs typeface="Courier New"/>
                <a:sym typeface="Courier New"/>
              </a:rPr>
              <a:t>R1#</a:t>
            </a:r>
            <a:endParaRPr/>
          </a:p>
          <a:p>
            <a:pPr marL="0" marR="0" lvl="0" indent="0" algn="l" rtl="0">
              <a:spcBef>
                <a:spcPts val="0"/>
              </a:spcBef>
              <a:spcAft>
                <a:spcPts val="0"/>
              </a:spcAft>
              <a:buNone/>
            </a:pPr>
            <a:r>
              <a:rPr lang="en-US" sz="1050">
                <a:solidFill>
                  <a:schemeClr val="lt1"/>
                </a:solidFill>
                <a:latin typeface="Courier New"/>
                <a:ea typeface="Courier New"/>
                <a:cs typeface="Courier New"/>
                <a:sym typeface="Courier New"/>
              </a:rPr>
              <a:t>R1# </a:t>
            </a:r>
            <a:r>
              <a:rPr lang="en-US" sz="1050" b="1">
                <a:solidFill>
                  <a:srgbClr val="FFFF00"/>
                </a:solidFill>
                <a:latin typeface="Courier New"/>
                <a:ea typeface="Courier New"/>
                <a:cs typeface="Courier New"/>
                <a:sym typeface="Courier New"/>
              </a:rPr>
              <a:t>ping 172.16.2.2 </a:t>
            </a:r>
            <a:endParaRPr/>
          </a:p>
          <a:p>
            <a:pPr marL="0" marR="0" lvl="0" indent="0" algn="l" rtl="0">
              <a:spcBef>
                <a:spcPts val="0"/>
              </a:spcBef>
              <a:spcAft>
                <a:spcPts val="0"/>
              </a:spcAft>
              <a:buNone/>
            </a:pPr>
            <a:r>
              <a:rPr lang="en-US" sz="1050">
                <a:solidFill>
                  <a:schemeClr val="lt1"/>
                </a:solidFill>
                <a:latin typeface="Courier New"/>
                <a:ea typeface="Courier New"/>
                <a:cs typeface="Courier New"/>
                <a:sym typeface="Courier New"/>
              </a:rPr>
              <a:t>Type escape sequence to abort. Sending 5, 100-byte ICMP Echos to 172.16.2.2, timeout is 2 seconds: </a:t>
            </a:r>
            <a:endParaRPr/>
          </a:p>
          <a:p>
            <a:pPr marL="0" marR="0" lvl="0" indent="0" algn="l" rtl="0">
              <a:spcBef>
                <a:spcPts val="0"/>
              </a:spcBef>
              <a:spcAft>
                <a:spcPts val="0"/>
              </a:spcAft>
              <a:buNone/>
            </a:pPr>
            <a:r>
              <a:rPr lang="en-US" sz="1050">
                <a:solidFill>
                  <a:schemeClr val="lt1"/>
                </a:solidFill>
                <a:latin typeface="Courier New"/>
                <a:ea typeface="Courier New"/>
                <a:cs typeface="Courier New"/>
                <a:sym typeface="Courier New"/>
              </a:rPr>
              <a:t>!!!!!</a:t>
            </a:r>
            <a:endParaRPr/>
          </a:p>
          <a:p>
            <a:pPr marL="0" marR="0" lvl="0" indent="0" algn="l" rtl="0">
              <a:spcBef>
                <a:spcPts val="0"/>
              </a:spcBef>
              <a:spcAft>
                <a:spcPts val="0"/>
              </a:spcAft>
              <a:buNone/>
            </a:pPr>
            <a:r>
              <a:rPr lang="en-US" sz="1050">
                <a:solidFill>
                  <a:schemeClr val="lt1"/>
                </a:solidFill>
                <a:latin typeface="Courier New"/>
                <a:ea typeface="Courier New"/>
                <a:cs typeface="Courier New"/>
                <a:sym typeface="Courier New"/>
              </a:rPr>
              <a:t>Success rate is 100 percent (5/5)</a:t>
            </a:r>
            <a:endParaRPr/>
          </a:p>
          <a:p>
            <a:pPr marL="0" marR="0" lvl="0" indent="0" algn="l" rtl="0">
              <a:spcBef>
                <a:spcPts val="0"/>
              </a:spcBef>
              <a:spcAft>
                <a:spcPts val="0"/>
              </a:spcAft>
              <a:buNone/>
            </a:pPr>
            <a:r>
              <a:rPr lang="en-US" sz="1050">
                <a:solidFill>
                  <a:schemeClr val="lt1"/>
                </a:solidFill>
                <a:latin typeface="Courier New"/>
                <a:ea typeface="Courier New"/>
                <a:cs typeface="Courier New"/>
                <a:sym typeface="Courier New"/>
              </a:rPr>
              <a:t>R1# </a:t>
            </a:r>
            <a:r>
              <a:rPr lang="en-US" sz="1050" b="1">
                <a:solidFill>
                  <a:srgbClr val="FFFF00"/>
                </a:solidFill>
                <a:latin typeface="Courier New"/>
                <a:ea typeface="Courier New"/>
                <a:cs typeface="Courier New"/>
                <a:sym typeface="Courier New"/>
              </a:rPr>
              <a:t>ping 192.168.2.1 </a:t>
            </a:r>
            <a:endParaRPr/>
          </a:p>
          <a:p>
            <a:pPr marL="0" marR="0" lvl="0" indent="0" algn="l" rtl="0">
              <a:spcBef>
                <a:spcPts val="0"/>
              </a:spcBef>
              <a:spcAft>
                <a:spcPts val="0"/>
              </a:spcAft>
              <a:buNone/>
            </a:pPr>
            <a:r>
              <a:rPr lang="en-US" sz="1050">
                <a:solidFill>
                  <a:schemeClr val="lt1"/>
                </a:solidFill>
                <a:latin typeface="Courier New"/>
                <a:ea typeface="Courier New"/>
                <a:cs typeface="Courier New"/>
                <a:sym typeface="Courier New"/>
              </a:rPr>
              <a:t>Type escape sequence to abort. Sending 5, 100-byte ICMP Echos to 192.168.2.1, timeout is 2 seconds: ..... </a:t>
            </a:r>
            <a:endParaRPr/>
          </a:p>
          <a:p>
            <a:pPr marL="0" marR="0" lvl="0" indent="0" algn="l" rtl="0">
              <a:spcBef>
                <a:spcPts val="0"/>
              </a:spcBef>
              <a:spcAft>
                <a:spcPts val="0"/>
              </a:spcAft>
              <a:buNone/>
            </a:pPr>
            <a:r>
              <a:rPr lang="en-US" sz="1050">
                <a:solidFill>
                  <a:schemeClr val="lt1"/>
                </a:solidFill>
                <a:latin typeface="Courier New"/>
                <a:ea typeface="Courier New"/>
                <a:cs typeface="Courier New"/>
                <a:sym typeface="Courier New"/>
              </a:rPr>
              <a:t>Success rate is 0 percent (0/5)</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0"/>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Static Routes</a:t>
            </a:r>
            <a:br>
              <a:rPr lang="en-US"/>
            </a:br>
            <a:r>
              <a:rPr lang="en-US" sz="2400"/>
              <a:t>IPv6 Starting Routing Tables</a:t>
            </a:r>
            <a:endParaRPr/>
          </a:p>
        </p:txBody>
      </p:sp>
      <p:sp>
        <p:nvSpPr>
          <p:cNvPr id="304" name="Google Shape;304;p10"/>
          <p:cNvSpPr txBox="1">
            <a:spLocks noGrp="1"/>
          </p:cNvSpPr>
          <p:nvPr>
            <p:ph type="body" idx="1"/>
          </p:nvPr>
        </p:nvSpPr>
        <p:spPr>
          <a:xfrm>
            <a:off x="474662" y="731837"/>
            <a:ext cx="8280057" cy="500063"/>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400"/>
              <a:buFont typeface="Arial"/>
              <a:buChar char="•"/>
            </a:pPr>
            <a:r>
              <a:rPr lang="en-US" sz="1400">
                <a:solidFill>
                  <a:srgbClr val="000000"/>
                </a:solidFill>
              </a:rPr>
              <a:t>Each router has entries only for directly connected networks and associated local addresses.</a:t>
            </a:r>
            <a:endParaRPr/>
          </a:p>
          <a:p>
            <a:pPr marL="342900" lvl="0" indent="-342900" algn="l" rtl="0">
              <a:lnSpc>
                <a:spcPct val="100000"/>
              </a:lnSpc>
              <a:spcBef>
                <a:spcPts val="280"/>
              </a:spcBef>
              <a:spcAft>
                <a:spcPts val="0"/>
              </a:spcAft>
              <a:buSzPts val="1400"/>
              <a:buFont typeface="Arial"/>
              <a:buChar char="•"/>
            </a:pPr>
            <a:r>
              <a:rPr lang="en-US" sz="1400">
                <a:solidFill>
                  <a:srgbClr val="000000"/>
                </a:solidFill>
              </a:rPr>
              <a:t>R1 can ping R2, but cannot ping the R3 LAN.</a:t>
            </a:r>
            <a:endParaRPr/>
          </a:p>
        </p:txBody>
      </p:sp>
      <p:sp>
        <p:nvSpPr>
          <p:cNvPr id="305" name="Google Shape;305;p10"/>
          <p:cNvSpPr txBox="1"/>
          <p:nvPr/>
        </p:nvSpPr>
        <p:spPr>
          <a:xfrm>
            <a:off x="391663" y="1346715"/>
            <a:ext cx="8446054" cy="3477875"/>
          </a:xfrm>
          <a:prstGeom prst="rect">
            <a:avLst/>
          </a:prstGeom>
          <a:solidFill>
            <a:srgbClr val="00000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chemeClr val="lt1"/>
                </a:solidFill>
                <a:latin typeface="Courier New"/>
                <a:ea typeface="Courier New"/>
                <a:cs typeface="Courier New"/>
                <a:sym typeface="Courier New"/>
              </a:rPr>
              <a:t>R1# </a:t>
            </a:r>
            <a:r>
              <a:rPr lang="en-US" sz="1000" b="1">
                <a:solidFill>
                  <a:srgbClr val="FFFF00"/>
                </a:solidFill>
                <a:latin typeface="Courier New"/>
                <a:ea typeface="Courier New"/>
                <a:cs typeface="Courier New"/>
                <a:sym typeface="Courier New"/>
              </a:rPr>
              <a:t>show ipv6 route | begin C </a:t>
            </a:r>
            <a:endParaRPr/>
          </a:p>
          <a:p>
            <a:pPr marL="0" marR="0" lvl="0" indent="0" algn="l" rtl="0">
              <a:spcBef>
                <a:spcPts val="0"/>
              </a:spcBef>
              <a:spcAft>
                <a:spcPts val="0"/>
              </a:spcAft>
              <a:buNone/>
            </a:pPr>
            <a:r>
              <a:rPr lang="en-US" sz="1000">
                <a:solidFill>
                  <a:schemeClr val="lt1"/>
                </a:solidFill>
                <a:latin typeface="Courier New"/>
                <a:ea typeface="Courier New"/>
                <a:cs typeface="Courier New"/>
                <a:sym typeface="Courier New"/>
              </a:rPr>
              <a:t>C 2001:DB8:ACAD:2::/64 [0/0] </a:t>
            </a:r>
            <a:endParaRPr/>
          </a:p>
          <a:p>
            <a:pPr marL="0" marR="0" lvl="0" indent="0" algn="l" rtl="0">
              <a:spcBef>
                <a:spcPts val="0"/>
              </a:spcBef>
              <a:spcAft>
                <a:spcPts val="0"/>
              </a:spcAft>
              <a:buNone/>
            </a:pPr>
            <a:r>
              <a:rPr lang="en-US" sz="1000">
                <a:solidFill>
                  <a:schemeClr val="lt1"/>
                </a:solidFill>
                <a:latin typeface="Courier New"/>
                <a:ea typeface="Courier New"/>
                <a:cs typeface="Courier New"/>
                <a:sym typeface="Courier New"/>
              </a:rPr>
              <a:t>	via Serial0/1/0, directly connected </a:t>
            </a:r>
            <a:endParaRPr/>
          </a:p>
          <a:p>
            <a:pPr marL="0" marR="0" lvl="0" indent="0" algn="l" rtl="0">
              <a:spcBef>
                <a:spcPts val="0"/>
              </a:spcBef>
              <a:spcAft>
                <a:spcPts val="0"/>
              </a:spcAft>
              <a:buNone/>
            </a:pPr>
            <a:r>
              <a:rPr lang="en-US" sz="1000">
                <a:solidFill>
                  <a:schemeClr val="lt1"/>
                </a:solidFill>
                <a:latin typeface="Courier New"/>
                <a:ea typeface="Courier New"/>
                <a:cs typeface="Courier New"/>
                <a:sym typeface="Courier New"/>
              </a:rPr>
              <a:t>L 2001:DB8:ACAD:2::1/128 [0/0] </a:t>
            </a:r>
            <a:endParaRPr/>
          </a:p>
          <a:p>
            <a:pPr marL="0" marR="0" lvl="0" indent="0" algn="l" rtl="0">
              <a:spcBef>
                <a:spcPts val="0"/>
              </a:spcBef>
              <a:spcAft>
                <a:spcPts val="0"/>
              </a:spcAft>
              <a:buNone/>
            </a:pPr>
            <a:r>
              <a:rPr lang="en-US" sz="1000">
                <a:solidFill>
                  <a:schemeClr val="lt1"/>
                </a:solidFill>
                <a:latin typeface="Courier New"/>
                <a:ea typeface="Courier New"/>
                <a:cs typeface="Courier New"/>
                <a:sym typeface="Courier New"/>
              </a:rPr>
              <a:t>	via Serial0/1/0, receive </a:t>
            </a:r>
            <a:endParaRPr/>
          </a:p>
          <a:p>
            <a:pPr marL="0" marR="0" lvl="0" indent="0" algn="l" rtl="0">
              <a:spcBef>
                <a:spcPts val="0"/>
              </a:spcBef>
              <a:spcAft>
                <a:spcPts val="0"/>
              </a:spcAft>
              <a:buNone/>
            </a:pPr>
            <a:r>
              <a:rPr lang="en-US" sz="1000">
                <a:solidFill>
                  <a:schemeClr val="lt1"/>
                </a:solidFill>
                <a:latin typeface="Courier New"/>
                <a:ea typeface="Courier New"/>
                <a:cs typeface="Courier New"/>
                <a:sym typeface="Courier New"/>
              </a:rPr>
              <a:t>C 2001:DB8:ACAD:3::/64 [0/0] </a:t>
            </a:r>
            <a:endParaRPr/>
          </a:p>
          <a:p>
            <a:pPr marL="0" marR="0" lvl="0" indent="0" algn="l" rtl="0">
              <a:spcBef>
                <a:spcPts val="0"/>
              </a:spcBef>
              <a:spcAft>
                <a:spcPts val="0"/>
              </a:spcAft>
              <a:buNone/>
            </a:pPr>
            <a:r>
              <a:rPr lang="en-US" sz="1000">
                <a:solidFill>
                  <a:schemeClr val="lt1"/>
                </a:solidFill>
                <a:latin typeface="Courier New"/>
                <a:ea typeface="Courier New"/>
                <a:cs typeface="Courier New"/>
                <a:sym typeface="Courier New"/>
              </a:rPr>
              <a:t>	via GigabitEthernet0/0/0, directly connected </a:t>
            </a:r>
            <a:endParaRPr/>
          </a:p>
          <a:p>
            <a:pPr marL="0" marR="0" lvl="0" indent="0" algn="l" rtl="0">
              <a:spcBef>
                <a:spcPts val="0"/>
              </a:spcBef>
              <a:spcAft>
                <a:spcPts val="0"/>
              </a:spcAft>
              <a:buNone/>
            </a:pPr>
            <a:r>
              <a:rPr lang="en-US" sz="1000">
                <a:solidFill>
                  <a:schemeClr val="lt1"/>
                </a:solidFill>
                <a:latin typeface="Courier New"/>
                <a:ea typeface="Courier New"/>
                <a:cs typeface="Courier New"/>
                <a:sym typeface="Courier New"/>
              </a:rPr>
              <a:t>L 2001:DB8:ACAD:3::1/128 [0/0] </a:t>
            </a:r>
            <a:endParaRPr/>
          </a:p>
          <a:p>
            <a:pPr marL="0" marR="0" lvl="0" indent="0" algn="l" rtl="0">
              <a:spcBef>
                <a:spcPts val="0"/>
              </a:spcBef>
              <a:spcAft>
                <a:spcPts val="0"/>
              </a:spcAft>
              <a:buNone/>
            </a:pPr>
            <a:r>
              <a:rPr lang="en-US" sz="1000">
                <a:solidFill>
                  <a:schemeClr val="lt1"/>
                </a:solidFill>
                <a:latin typeface="Courier New"/>
                <a:ea typeface="Courier New"/>
                <a:cs typeface="Courier New"/>
                <a:sym typeface="Courier New"/>
              </a:rPr>
              <a:t>	via GigabitEthernet0/0/0, receive </a:t>
            </a:r>
            <a:endParaRPr/>
          </a:p>
          <a:p>
            <a:pPr marL="0" marR="0" lvl="0" indent="0" algn="l" rtl="0">
              <a:spcBef>
                <a:spcPts val="0"/>
              </a:spcBef>
              <a:spcAft>
                <a:spcPts val="0"/>
              </a:spcAft>
              <a:buNone/>
            </a:pPr>
            <a:r>
              <a:rPr lang="en-US" sz="1000">
                <a:solidFill>
                  <a:schemeClr val="lt1"/>
                </a:solidFill>
                <a:latin typeface="Courier New"/>
                <a:ea typeface="Courier New"/>
                <a:cs typeface="Courier New"/>
                <a:sym typeface="Courier New"/>
              </a:rPr>
              <a:t>L FF00::/8 [0/0] </a:t>
            </a:r>
            <a:endParaRPr/>
          </a:p>
          <a:p>
            <a:pPr marL="0" marR="0" lvl="0" indent="0" algn="l" rtl="0">
              <a:spcBef>
                <a:spcPts val="0"/>
              </a:spcBef>
              <a:spcAft>
                <a:spcPts val="0"/>
              </a:spcAft>
              <a:buNone/>
            </a:pPr>
            <a:r>
              <a:rPr lang="en-US" sz="1000">
                <a:solidFill>
                  <a:schemeClr val="lt1"/>
                </a:solidFill>
                <a:latin typeface="Courier New"/>
                <a:ea typeface="Courier New"/>
                <a:cs typeface="Courier New"/>
                <a:sym typeface="Courier New"/>
              </a:rPr>
              <a:t>	via Null0, receive </a:t>
            </a:r>
            <a:endParaRPr/>
          </a:p>
          <a:p>
            <a:pPr marL="0" marR="0" lvl="0" indent="0" algn="l" rtl="0">
              <a:spcBef>
                <a:spcPts val="0"/>
              </a:spcBef>
              <a:spcAft>
                <a:spcPts val="0"/>
              </a:spcAft>
              <a:buNone/>
            </a:pPr>
            <a:r>
              <a:rPr lang="en-US" sz="1000">
                <a:solidFill>
                  <a:schemeClr val="lt1"/>
                </a:solidFill>
                <a:latin typeface="Courier New"/>
                <a:ea typeface="Courier New"/>
                <a:cs typeface="Courier New"/>
                <a:sym typeface="Courier New"/>
              </a:rPr>
              <a:t>R1#</a:t>
            </a:r>
            <a:endParaRPr/>
          </a:p>
          <a:p>
            <a:pPr marL="0" marR="0" lvl="0" indent="0" algn="l" rtl="0">
              <a:spcBef>
                <a:spcPts val="0"/>
              </a:spcBef>
              <a:spcAft>
                <a:spcPts val="0"/>
              </a:spcAft>
              <a:buNone/>
            </a:pPr>
            <a:r>
              <a:rPr lang="en-US" sz="1000">
                <a:solidFill>
                  <a:schemeClr val="lt1"/>
                </a:solidFill>
                <a:latin typeface="Courier New"/>
                <a:ea typeface="Courier New"/>
                <a:cs typeface="Courier New"/>
                <a:sym typeface="Courier New"/>
              </a:rPr>
              <a:t>R1# </a:t>
            </a:r>
            <a:r>
              <a:rPr lang="en-US" sz="1000" b="1">
                <a:solidFill>
                  <a:srgbClr val="FFFF00"/>
                </a:solidFill>
                <a:latin typeface="Courier New"/>
                <a:ea typeface="Courier New"/>
                <a:cs typeface="Courier New"/>
                <a:sym typeface="Courier New"/>
              </a:rPr>
              <a:t>ping 2001:db8:acad:2::2 </a:t>
            </a:r>
            <a:endParaRPr/>
          </a:p>
          <a:p>
            <a:pPr marL="0" marR="0" lvl="0" indent="0" algn="l" rtl="0">
              <a:spcBef>
                <a:spcPts val="0"/>
              </a:spcBef>
              <a:spcAft>
                <a:spcPts val="0"/>
              </a:spcAft>
              <a:buNone/>
            </a:pPr>
            <a:r>
              <a:rPr lang="en-US" sz="1000">
                <a:solidFill>
                  <a:schemeClr val="lt1"/>
                </a:solidFill>
                <a:latin typeface="Courier New"/>
                <a:ea typeface="Courier New"/>
                <a:cs typeface="Courier New"/>
                <a:sym typeface="Courier New"/>
              </a:rPr>
              <a:t>Type escape sequence to abort. </a:t>
            </a:r>
            <a:endParaRPr/>
          </a:p>
          <a:p>
            <a:pPr marL="0" marR="0" lvl="0" indent="0" algn="l" rtl="0">
              <a:spcBef>
                <a:spcPts val="0"/>
              </a:spcBef>
              <a:spcAft>
                <a:spcPts val="0"/>
              </a:spcAft>
              <a:buNone/>
            </a:pPr>
            <a:r>
              <a:rPr lang="en-US" sz="1000">
                <a:solidFill>
                  <a:schemeClr val="lt1"/>
                </a:solidFill>
                <a:latin typeface="Courier New"/>
                <a:ea typeface="Courier New"/>
                <a:cs typeface="Courier New"/>
                <a:sym typeface="Courier New"/>
              </a:rPr>
              <a:t>Sending 5, 100-byte ICMP Echos to 2001:DB8:ACAD:2::2, timeout is 2 seconds: </a:t>
            </a:r>
            <a:endParaRPr/>
          </a:p>
          <a:p>
            <a:pPr marL="0" marR="0" lvl="0" indent="0" algn="l" rtl="0">
              <a:spcBef>
                <a:spcPts val="0"/>
              </a:spcBef>
              <a:spcAft>
                <a:spcPts val="0"/>
              </a:spcAft>
              <a:buNone/>
            </a:pPr>
            <a:r>
              <a:rPr lang="en-US" sz="1000">
                <a:solidFill>
                  <a:schemeClr val="lt1"/>
                </a:solidFill>
                <a:latin typeface="Courier New"/>
                <a:ea typeface="Courier New"/>
                <a:cs typeface="Courier New"/>
                <a:sym typeface="Courier New"/>
              </a:rPr>
              <a:t>!!!!! </a:t>
            </a:r>
            <a:endParaRPr/>
          </a:p>
          <a:p>
            <a:pPr marL="0" marR="0" lvl="0" indent="0" algn="l" rtl="0">
              <a:spcBef>
                <a:spcPts val="0"/>
              </a:spcBef>
              <a:spcAft>
                <a:spcPts val="0"/>
              </a:spcAft>
              <a:buNone/>
            </a:pPr>
            <a:r>
              <a:rPr lang="en-US" sz="1000">
                <a:solidFill>
                  <a:schemeClr val="lt1"/>
                </a:solidFill>
                <a:latin typeface="Courier New"/>
                <a:ea typeface="Courier New"/>
                <a:cs typeface="Courier New"/>
                <a:sym typeface="Courier New"/>
              </a:rPr>
              <a:t>Success rate is 100 percent (5/5), round-trip min/avg/max = 2/2/3 ms)</a:t>
            </a:r>
            <a:endParaRPr/>
          </a:p>
          <a:p>
            <a:pPr marL="0" marR="0" lvl="0" indent="0" algn="l" rtl="0">
              <a:spcBef>
                <a:spcPts val="0"/>
              </a:spcBef>
              <a:spcAft>
                <a:spcPts val="0"/>
              </a:spcAft>
              <a:buNone/>
            </a:pPr>
            <a:r>
              <a:rPr lang="en-US" sz="1000">
                <a:solidFill>
                  <a:schemeClr val="lt1"/>
                </a:solidFill>
                <a:latin typeface="Courier New"/>
                <a:ea typeface="Courier New"/>
                <a:cs typeface="Courier New"/>
                <a:sym typeface="Courier New"/>
              </a:rPr>
              <a:t>R1# </a:t>
            </a:r>
            <a:r>
              <a:rPr lang="en-US" sz="1000" b="1">
                <a:solidFill>
                  <a:srgbClr val="FFFF00"/>
                </a:solidFill>
                <a:latin typeface="Courier New"/>
                <a:ea typeface="Courier New"/>
                <a:cs typeface="Courier New"/>
                <a:sym typeface="Courier New"/>
              </a:rPr>
              <a:t>ping 2001:DB8:cafe:2::1 </a:t>
            </a:r>
            <a:endParaRPr/>
          </a:p>
          <a:p>
            <a:pPr marL="0" marR="0" lvl="0" indent="0" algn="l" rtl="0">
              <a:spcBef>
                <a:spcPts val="0"/>
              </a:spcBef>
              <a:spcAft>
                <a:spcPts val="0"/>
              </a:spcAft>
              <a:buNone/>
            </a:pPr>
            <a:r>
              <a:rPr lang="en-US" sz="1000">
                <a:solidFill>
                  <a:schemeClr val="lt1"/>
                </a:solidFill>
                <a:latin typeface="Courier New"/>
                <a:ea typeface="Courier New"/>
                <a:cs typeface="Courier New"/>
                <a:sym typeface="Courier New"/>
              </a:rPr>
              <a:t>Type escape sequence to abort. </a:t>
            </a:r>
            <a:endParaRPr/>
          </a:p>
          <a:p>
            <a:pPr marL="0" marR="0" lvl="0" indent="0" algn="l" rtl="0">
              <a:spcBef>
                <a:spcPts val="0"/>
              </a:spcBef>
              <a:spcAft>
                <a:spcPts val="0"/>
              </a:spcAft>
              <a:buNone/>
            </a:pPr>
            <a:r>
              <a:rPr lang="en-US" sz="1000">
                <a:solidFill>
                  <a:schemeClr val="lt1"/>
                </a:solidFill>
                <a:latin typeface="Courier New"/>
                <a:ea typeface="Courier New"/>
                <a:cs typeface="Courier New"/>
                <a:sym typeface="Courier New"/>
              </a:rPr>
              <a:t>Sending 5, 100-byte ICMP Echos to 2001:DB8:CAFE:2::1, timeout is 2 seconds: </a:t>
            </a:r>
            <a:endParaRPr/>
          </a:p>
          <a:p>
            <a:pPr marL="0" marR="0" lvl="0" indent="0" algn="l" rtl="0">
              <a:spcBef>
                <a:spcPts val="0"/>
              </a:spcBef>
              <a:spcAft>
                <a:spcPts val="0"/>
              </a:spcAft>
              <a:buNone/>
            </a:pPr>
            <a:r>
              <a:rPr lang="en-US" sz="1000">
                <a:solidFill>
                  <a:schemeClr val="lt1"/>
                </a:solidFill>
                <a:latin typeface="Courier New"/>
                <a:ea typeface="Courier New"/>
                <a:cs typeface="Courier New"/>
                <a:sym typeface="Courier New"/>
              </a:rPr>
              <a:t>% No valid route for destination </a:t>
            </a:r>
            <a:endParaRPr/>
          </a:p>
          <a:p>
            <a:pPr marL="0" marR="0" lvl="0" indent="0" algn="l" rtl="0">
              <a:spcBef>
                <a:spcPts val="0"/>
              </a:spcBef>
              <a:spcAft>
                <a:spcPts val="0"/>
              </a:spcAft>
              <a:buNone/>
            </a:pPr>
            <a:r>
              <a:rPr lang="en-US" sz="1000">
                <a:solidFill>
                  <a:schemeClr val="lt1"/>
                </a:solidFill>
                <a:latin typeface="Courier New"/>
                <a:ea typeface="Courier New"/>
                <a:cs typeface="Courier New"/>
                <a:sym typeface="Courier New"/>
              </a:rPr>
              <a:t>Success rate is 0 percent (0/1)</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11"/>
          <p:cNvSpPr txBox="1">
            <a:spLocks noGrp="1"/>
          </p:cNvSpPr>
          <p:nvPr>
            <p:ph type="ctrTitle"/>
          </p:nvPr>
        </p:nvSpPr>
        <p:spPr>
          <a:xfrm>
            <a:off x="416425" y="1788160"/>
            <a:ext cx="7848344" cy="929640"/>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4600"/>
              <a:buFont typeface="Arial"/>
              <a:buNone/>
            </a:pPr>
            <a:r>
              <a:rPr lang="en-US">
                <a:solidFill>
                  <a:srgbClr val="AEE8FA"/>
                </a:solidFill>
              </a:rPr>
              <a:t>15.2 Configure IP Static Routes</a:t>
            </a:r>
            <a:endParaRPr/>
          </a:p>
        </p:txBody>
      </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12"/>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IP Static Routes</a:t>
            </a:r>
            <a:br>
              <a:rPr lang="en-US"/>
            </a:br>
            <a:r>
              <a:rPr lang="en-US" sz="2400"/>
              <a:t>IPv4 Next-Hop Static Route</a:t>
            </a:r>
            <a:endParaRPr/>
          </a:p>
        </p:txBody>
      </p:sp>
      <p:sp>
        <p:nvSpPr>
          <p:cNvPr id="318" name="Google Shape;318;p12"/>
          <p:cNvSpPr txBox="1">
            <a:spLocks noGrp="1"/>
          </p:cNvSpPr>
          <p:nvPr>
            <p:ph type="body" idx="1"/>
          </p:nvPr>
        </p:nvSpPr>
        <p:spPr>
          <a:xfrm>
            <a:off x="474662" y="731838"/>
            <a:ext cx="8280057" cy="1947568"/>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In a next-hop static route, only the next-hop IP address is specified. The exit interface is derived from the next hop. For example, three next-hop IPv4 static routes are configured on R1 using the IP address of the next hop, R2.</a:t>
            </a:r>
            <a:endParaRPr/>
          </a:p>
          <a:p>
            <a:pPr marL="217548" lvl="3" indent="0" algn="l" rtl="0">
              <a:lnSpc>
                <a:spcPct val="95000"/>
              </a:lnSpc>
              <a:spcBef>
                <a:spcPts val="625"/>
              </a:spcBef>
              <a:spcAft>
                <a:spcPts val="0"/>
              </a:spcAft>
              <a:buClr>
                <a:srgbClr val="000000"/>
              </a:buClr>
              <a:buSzPts val="1400"/>
              <a:buNone/>
            </a:pPr>
            <a:r>
              <a:rPr lang="en-US" sz="1400">
                <a:solidFill>
                  <a:srgbClr val="000000"/>
                </a:solidFill>
                <a:latin typeface="Courier New"/>
                <a:ea typeface="Courier New"/>
                <a:cs typeface="Courier New"/>
                <a:sym typeface="Courier New"/>
              </a:rPr>
              <a:t>R1(config)# </a:t>
            </a:r>
            <a:r>
              <a:rPr lang="en-US" sz="1400" b="1">
                <a:solidFill>
                  <a:srgbClr val="FF0000"/>
                </a:solidFill>
                <a:latin typeface="Courier New"/>
                <a:ea typeface="Courier New"/>
                <a:cs typeface="Courier New"/>
                <a:sym typeface="Courier New"/>
              </a:rPr>
              <a:t>ip route 172.16.1.0 255.255.255.0 172.16.2.2 </a:t>
            </a:r>
            <a:endParaRPr/>
          </a:p>
          <a:p>
            <a:pPr marL="217548" lvl="3" indent="0" algn="l" rtl="0">
              <a:lnSpc>
                <a:spcPct val="95000"/>
              </a:lnSpc>
              <a:spcBef>
                <a:spcPts val="625"/>
              </a:spcBef>
              <a:spcAft>
                <a:spcPts val="0"/>
              </a:spcAft>
              <a:buClr>
                <a:srgbClr val="000000"/>
              </a:buClr>
              <a:buSzPts val="1400"/>
              <a:buNone/>
            </a:pPr>
            <a:r>
              <a:rPr lang="en-US" sz="1400">
                <a:solidFill>
                  <a:srgbClr val="000000"/>
                </a:solidFill>
                <a:latin typeface="Courier New"/>
                <a:ea typeface="Courier New"/>
                <a:cs typeface="Courier New"/>
                <a:sym typeface="Courier New"/>
              </a:rPr>
              <a:t>R1(config)# </a:t>
            </a:r>
            <a:r>
              <a:rPr lang="en-US" sz="1400" b="1">
                <a:solidFill>
                  <a:srgbClr val="FF0000"/>
                </a:solidFill>
                <a:latin typeface="Courier New"/>
                <a:ea typeface="Courier New"/>
                <a:cs typeface="Courier New"/>
                <a:sym typeface="Courier New"/>
              </a:rPr>
              <a:t>ip route 192.168.1.0 255.255.255.0 172.16.2.2 </a:t>
            </a:r>
            <a:endParaRPr/>
          </a:p>
          <a:p>
            <a:pPr marL="217548" lvl="3" indent="0" algn="l" rtl="0">
              <a:lnSpc>
                <a:spcPct val="95000"/>
              </a:lnSpc>
              <a:spcBef>
                <a:spcPts val="625"/>
              </a:spcBef>
              <a:spcAft>
                <a:spcPts val="0"/>
              </a:spcAft>
              <a:buClr>
                <a:srgbClr val="000000"/>
              </a:buClr>
              <a:buSzPts val="1400"/>
              <a:buNone/>
            </a:pPr>
            <a:r>
              <a:rPr lang="en-US" sz="1400">
                <a:solidFill>
                  <a:srgbClr val="000000"/>
                </a:solidFill>
                <a:latin typeface="Courier New"/>
                <a:ea typeface="Courier New"/>
                <a:cs typeface="Courier New"/>
                <a:sym typeface="Courier New"/>
              </a:rPr>
              <a:t>R1(config)# </a:t>
            </a:r>
            <a:r>
              <a:rPr lang="en-US" sz="1400" b="1">
                <a:solidFill>
                  <a:srgbClr val="FF0000"/>
                </a:solidFill>
                <a:latin typeface="Courier New"/>
                <a:ea typeface="Courier New"/>
                <a:cs typeface="Courier New"/>
                <a:sym typeface="Courier New"/>
              </a:rPr>
              <a:t>ip route 192.168.2.0 255.255.255.0 172.16.2.2</a:t>
            </a:r>
            <a:endParaRPr sz="1600" b="1">
              <a:solidFill>
                <a:srgbClr val="FF0000"/>
              </a:solidFill>
            </a:endParaRPr>
          </a:p>
          <a:p>
            <a:pPr marL="0" lvl="0" indent="0" algn="l" rtl="0">
              <a:lnSpc>
                <a:spcPct val="100000"/>
              </a:lnSpc>
              <a:spcBef>
                <a:spcPts val="320"/>
              </a:spcBef>
              <a:spcAft>
                <a:spcPts val="0"/>
              </a:spcAft>
              <a:buSzPts val="1600"/>
              <a:buNone/>
            </a:pPr>
            <a:r>
              <a:rPr lang="en-US" sz="1600">
                <a:solidFill>
                  <a:srgbClr val="000000"/>
                </a:solidFill>
              </a:rPr>
              <a:t>The resulting routing table entries on R1:</a:t>
            </a:r>
            <a:endParaRPr/>
          </a:p>
          <a:p>
            <a:pPr marL="0" lvl="0" indent="0" algn="l" rtl="0">
              <a:lnSpc>
                <a:spcPct val="100000"/>
              </a:lnSpc>
              <a:spcBef>
                <a:spcPts val="320"/>
              </a:spcBef>
              <a:spcAft>
                <a:spcPts val="0"/>
              </a:spcAft>
              <a:buSzPts val="1600"/>
              <a:buNone/>
            </a:pPr>
            <a:endParaRPr sz="1600">
              <a:solidFill>
                <a:srgbClr val="000000"/>
              </a:solidFill>
            </a:endParaRPr>
          </a:p>
        </p:txBody>
      </p:sp>
      <p:pic>
        <p:nvPicPr>
          <p:cNvPr id="319" name="Google Shape;319;p12"/>
          <p:cNvPicPr preferRelativeResize="0"/>
          <p:nvPr/>
        </p:nvPicPr>
        <p:blipFill rotWithShape="1">
          <a:blip r:embed="rId3">
            <a:alphaModFix/>
          </a:blip>
          <a:srcRect/>
          <a:stretch/>
        </p:blipFill>
        <p:spPr>
          <a:xfrm>
            <a:off x="1701006" y="2679406"/>
            <a:ext cx="4943475" cy="19431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13"/>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IP Static Routes</a:t>
            </a:r>
            <a:br>
              <a:rPr lang="en-US"/>
            </a:br>
            <a:r>
              <a:rPr lang="en-US" sz="2400"/>
              <a:t>IPv6 Next-Hop Static Route</a:t>
            </a:r>
            <a:endParaRPr/>
          </a:p>
        </p:txBody>
      </p:sp>
      <p:sp>
        <p:nvSpPr>
          <p:cNvPr id="326" name="Google Shape;326;p13"/>
          <p:cNvSpPr txBox="1">
            <a:spLocks noGrp="1"/>
          </p:cNvSpPr>
          <p:nvPr>
            <p:ph type="body" idx="1"/>
          </p:nvPr>
        </p:nvSpPr>
        <p:spPr>
          <a:xfrm>
            <a:off x="174813" y="731837"/>
            <a:ext cx="4751148" cy="3102743"/>
          </a:xfrm>
          <a:prstGeom prst="rect">
            <a:avLst/>
          </a:prstGeom>
          <a:noFill/>
          <a:ln>
            <a:noFill/>
          </a:ln>
        </p:spPr>
        <p:txBody>
          <a:bodyPr spcFirstLastPara="1" wrap="square" lIns="91400" tIns="45700" rIns="91400" bIns="45700" anchor="t" anchorCtr="0">
            <a:noAutofit/>
          </a:bodyPr>
          <a:lstStyle/>
          <a:p>
            <a:pPr marL="285690" lvl="0" indent="-285690" algn="l" rtl="0">
              <a:lnSpc>
                <a:spcPct val="100000"/>
              </a:lnSpc>
              <a:spcBef>
                <a:spcPts val="0"/>
              </a:spcBef>
              <a:spcAft>
                <a:spcPts val="0"/>
              </a:spcAft>
              <a:buSzPts val="1200"/>
              <a:buNone/>
            </a:pPr>
            <a:r>
              <a:rPr lang="en-US" sz="1200">
                <a:solidFill>
                  <a:srgbClr val="000000"/>
                </a:solidFill>
              </a:rPr>
              <a:t>The commands to configure R1 with the IPv6 static routes to the three remote networks are as follows:</a:t>
            </a:r>
            <a:endParaRPr/>
          </a:p>
          <a:p>
            <a:pPr marL="261936" lvl="2" indent="0" algn="l" rtl="0">
              <a:lnSpc>
                <a:spcPct val="95000"/>
              </a:lnSpc>
              <a:spcBef>
                <a:spcPts val="0"/>
              </a:spcBef>
              <a:spcAft>
                <a:spcPts val="0"/>
              </a:spcAft>
              <a:buClr>
                <a:schemeClr val="dk1"/>
              </a:buClr>
              <a:buSzPts val="1200"/>
              <a:buNone/>
            </a:pPr>
            <a:endParaRPr>
              <a:solidFill>
                <a:srgbClr val="000000"/>
              </a:solidFill>
              <a:latin typeface="Courier New"/>
              <a:ea typeface="Courier New"/>
              <a:cs typeface="Courier New"/>
              <a:sym typeface="Courier New"/>
            </a:endParaRPr>
          </a:p>
          <a:p>
            <a:pPr marL="261936" lvl="2" indent="0" algn="l" rtl="0">
              <a:lnSpc>
                <a:spcPct val="95000"/>
              </a:lnSpc>
              <a:spcBef>
                <a:spcPts val="0"/>
              </a:spcBef>
              <a:spcAft>
                <a:spcPts val="0"/>
              </a:spcAft>
              <a:buClr>
                <a:srgbClr val="000000"/>
              </a:buClr>
              <a:buSzPts val="1200"/>
              <a:buNone/>
            </a:pPr>
            <a:r>
              <a:rPr lang="en-US">
                <a:solidFill>
                  <a:srgbClr val="000000"/>
                </a:solidFill>
                <a:latin typeface="Courier New"/>
                <a:ea typeface="Courier New"/>
                <a:cs typeface="Courier New"/>
                <a:sym typeface="Courier New"/>
              </a:rPr>
              <a:t>R1(config)# </a:t>
            </a:r>
            <a:r>
              <a:rPr lang="en-US" b="1">
                <a:solidFill>
                  <a:srgbClr val="FF0000"/>
                </a:solidFill>
                <a:latin typeface="Courier New"/>
                <a:ea typeface="Courier New"/>
                <a:cs typeface="Courier New"/>
                <a:sym typeface="Courier New"/>
              </a:rPr>
              <a:t>ipv6 unicast-routing </a:t>
            </a:r>
            <a:endParaRPr/>
          </a:p>
          <a:p>
            <a:pPr marL="261936" lvl="2" indent="0" algn="l" rtl="0">
              <a:lnSpc>
                <a:spcPct val="95000"/>
              </a:lnSpc>
              <a:spcBef>
                <a:spcPts val="0"/>
              </a:spcBef>
              <a:spcAft>
                <a:spcPts val="0"/>
              </a:spcAft>
              <a:buClr>
                <a:schemeClr val="dk1"/>
              </a:buClr>
              <a:buSzPts val="1200"/>
              <a:buNone/>
            </a:pPr>
            <a:endParaRPr>
              <a:solidFill>
                <a:srgbClr val="000000"/>
              </a:solidFill>
              <a:latin typeface="Courier New"/>
              <a:ea typeface="Courier New"/>
              <a:cs typeface="Courier New"/>
              <a:sym typeface="Courier New"/>
            </a:endParaRPr>
          </a:p>
          <a:p>
            <a:pPr marL="261936" lvl="2" indent="0" algn="l" rtl="0">
              <a:lnSpc>
                <a:spcPct val="95000"/>
              </a:lnSpc>
              <a:spcBef>
                <a:spcPts val="0"/>
              </a:spcBef>
              <a:spcAft>
                <a:spcPts val="0"/>
              </a:spcAft>
              <a:buClr>
                <a:srgbClr val="000000"/>
              </a:buClr>
              <a:buSzPts val="1200"/>
              <a:buNone/>
            </a:pPr>
            <a:r>
              <a:rPr lang="en-US">
                <a:solidFill>
                  <a:srgbClr val="000000"/>
                </a:solidFill>
                <a:latin typeface="Courier New"/>
                <a:ea typeface="Courier New"/>
                <a:cs typeface="Courier New"/>
                <a:sym typeface="Courier New"/>
              </a:rPr>
              <a:t>R1(config)# </a:t>
            </a:r>
            <a:r>
              <a:rPr lang="en-US" b="1">
                <a:solidFill>
                  <a:srgbClr val="FF0000"/>
                </a:solidFill>
                <a:latin typeface="Courier New"/>
                <a:ea typeface="Courier New"/>
                <a:cs typeface="Courier New"/>
                <a:sym typeface="Courier New"/>
              </a:rPr>
              <a:t>ipv6 route 2001:db8:acad:1::/64 2001:db8:acad:2::2 </a:t>
            </a:r>
            <a:endParaRPr/>
          </a:p>
          <a:p>
            <a:pPr marL="261936" lvl="2" indent="0" algn="l" rtl="0">
              <a:lnSpc>
                <a:spcPct val="95000"/>
              </a:lnSpc>
              <a:spcBef>
                <a:spcPts val="0"/>
              </a:spcBef>
              <a:spcAft>
                <a:spcPts val="0"/>
              </a:spcAft>
              <a:buClr>
                <a:schemeClr val="dk1"/>
              </a:buClr>
              <a:buSzPts val="1200"/>
              <a:buNone/>
            </a:pPr>
            <a:endParaRPr>
              <a:solidFill>
                <a:srgbClr val="000000"/>
              </a:solidFill>
              <a:latin typeface="Courier New"/>
              <a:ea typeface="Courier New"/>
              <a:cs typeface="Courier New"/>
              <a:sym typeface="Courier New"/>
            </a:endParaRPr>
          </a:p>
          <a:p>
            <a:pPr marL="261936" lvl="2" indent="0" algn="l" rtl="0">
              <a:lnSpc>
                <a:spcPct val="95000"/>
              </a:lnSpc>
              <a:spcBef>
                <a:spcPts val="0"/>
              </a:spcBef>
              <a:spcAft>
                <a:spcPts val="0"/>
              </a:spcAft>
              <a:buClr>
                <a:srgbClr val="000000"/>
              </a:buClr>
              <a:buSzPts val="1200"/>
              <a:buNone/>
            </a:pPr>
            <a:r>
              <a:rPr lang="en-US">
                <a:solidFill>
                  <a:srgbClr val="000000"/>
                </a:solidFill>
                <a:latin typeface="Courier New"/>
                <a:ea typeface="Courier New"/>
                <a:cs typeface="Courier New"/>
                <a:sym typeface="Courier New"/>
              </a:rPr>
              <a:t>R1(config)# </a:t>
            </a:r>
            <a:r>
              <a:rPr lang="en-US" b="1">
                <a:solidFill>
                  <a:srgbClr val="FF0000"/>
                </a:solidFill>
                <a:latin typeface="Courier New"/>
                <a:ea typeface="Courier New"/>
                <a:cs typeface="Courier New"/>
                <a:sym typeface="Courier New"/>
              </a:rPr>
              <a:t>ipv6 route 2001:db8:cafe:1::/64 2001:db8:acad:2::2 </a:t>
            </a:r>
            <a:endParaRPr/>
          </a:p>
          <a:p>
            <a:pPr marL="261936" lvl="2" indent="0" algn="l" rtl="0">
              <a:lnSpc>
                <a:spcPct val="95000"/>
              </a:lnSpc>
              <a:spcBef>
                <a:spcPts val="0"/>
              </a:spcBef>
              <a:spcAft>
                <a:spcPts val="0"/>
              </a:spcAft>
              <a:buClr>
                <a:schemeClr val="dk1"/>
              </a:buClr>
              <a:buSzPts val="1200"/>
              <a:buNone/>
            </a:pPr>
            <a:endParaRPr>
              <a:solidFill>
                <a:srgbClr val="000000"/>
              </a:solidFill>
              <a:latin typeface="Courier New"/>
              <a:ea typeface="Courier New"/>
              <a:cs typeface="Courier New"/>
              <a:sym typeface="Courier New"/>
            </a:endParaRPr>
          </a:p>
          <a:p>
            <a:pPr marL="261936" lvl="2" indent="0" algn="l" rtl="0">
              <a:lnSpc>
                <a:spcPct val="95000"/>
              </a:lnSpc>
              <a:spcBef>
                <a:spcPts val="0"/>
              </a:spcBef>
              <a:spcAft>
                <a:spcPts val="0"/>
              </a:spcAft>
              <a:buClr>
                <a:srgbClr val="000000"/>
              </a:buClr>
              <a:buSzPts val="1200"/>
              <a:buNone/>
            </a:pPr>
            <a:r>
              <a:rPr lang="en-US">
                <a:solidFill>
                  <a:srgbClr val="000000"/>
                </a:solidFill>
                <a:latin typeface="Courier New"/>
                <a:ea typeface="Courier New"/>
                <a:cs typeface="Courier New"/>
                <a:sym typeface="Courier New"/>
              </a:rPr>
              <a:t>R1(config)# </a:t>
            </a:r>
            <a:r>
              <a:rPr lang="en-US" b="1">
                <a:solidFill>
                  <a:srgbClr val="FF0000"/>
                </a:solidFill>
                <a:latin typeface="Courier New"/>
                <a:ea typeface="Courier New"/>
                <a:cs typeface="Courier New"/>
                <a:sym typeface="Courier New"/>
              </a:rPr>
              <a:t>ipv6 route 2001:db8:cafe:2::/64 2001:db8:acad:2::2</a:t>
            </a:r>
            <a:endParaRPr/>
          </a:p>
          <a:p>
            <a:pPr marL="285690" lvl="0" indent="-285690" algn="l" rtl="0">
              <a:lnSpc>
                <a:spcPct val="100000"/>
              </a:lnSpc>
              <a:spcBef>
                <a:spcPts val="240"/>
              </a:spcBef>
              <a:spcAft>
                <a:spcPts val="0"/>
              </a:spcAft>
              <a:buSzPts val="1200"/>
              <a:buNone/>
            </a:pPr>
            <a:endParaRPr sz="1200">
              <a:solidFill>
                <a:srgbClr val="000000"/>
              </a:solidFill>
            </a:endParaRPr>
          </a:p>
          <a:p>
            <a:pPr marL="285690" lvl="0" indent="-285690" algn="l" rtl="0">
              <a:lnSpc>
                <a:spcPct val="100000"/>
              </a:lnSpc>
              <a:spcBef>
                <a:spcPts val="240"/>
              </a:spcBef>
              <a:spcAft>
                <a:spcPts val="0"/>
              </a:spcAft>
              <a:buSzPts val="1200"/>
              <a:buNone/>
            </a:pPr>
            <a:r>
              <a:rPr lang="en-US" sz="1200">
                <a:solidFill>
                  <a:srgbClr val="000000"/>
                </a:solidFill>
              </a:rPr>
              <a:t>The routing table for R1 now has routes to the three remote IPv6 networks.</a:t>
            </a:r>
            <a:endParaRPr/>
          </a:p>
          <a:p>
            <a:pPr marL="0" lvl="0" indent="0" algn="l" rtl="0">
              <a:lnSpc>
                <a:spcPct val="100000"/>
              </a:lnSpc>
              <a:spcBef>
                <a:spcPts val="240"/>
              </a:spcBef>
              <a:spcAft>
                <a:spcPts val="0"/>
              </a:spcAft>
              <a:buSzPts val="1200"/>
              <a:buNone/>
            </a:pPr>
            <a:endParaRPr sz="1200">
              <a:solidFill>
                <a:srgbClr val="000000"/>
              </a:solidFill>
            </a:endParaRPr>
          </a:p>
        </p:txBody>
      </p:sp>
      <p:pic>
        <p:nvPicPr>
          <p:cNvPr id="327" name="Google Shape;327;p13"/>
          <p:cNvPicPr preferRelativeResize="0"/>
          <p:nvPr/>
        </p:nvPicPr>
        <p:blipFill rotWithShape="1">
          <a:blip r:embed="rId3">
            <a:alphaModFix/>
          </a:blip>
          <a:srcRect/>
          <a:stretch/>
        </p:blipFill>
        <p:spPr>
          <a:xfrm>
            <a:off x="4925961" y="906809"/>
            <a:ext cx="4043226" cy="354519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14"/>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IP Static Routes</a:t>
            </a:r>
            <a:br>
              <a:rPr lang="en-US"/>
            </a:br>
            <a:r>
              <a:rPr lang="en-US" sz="2400"/>
              <a:t>IPv4 Directly Connected Static Route</a:t>
            </a:r>
            <a:endParaRPr/>
          </a:p>
        </p:txBody>
      </p:sp>
      <p:sp>
        <p:nvSpPr>
          <p:cNvPr id="334" name="Google Shape;334;p14"/>
          <p:cNvSpPr txBox="1">
            <a:spLocks noGrp="1"/>
          </p:cNvSpPr>
          <p:nvPr>
            <p:ph type="body" idx="1"/>
          </p:nvPr>
        </p:nvSpPr>
        <p:spPr>
          <a:xfrm>
            <a:off x="474662" y="731837"/>
            <a:ext cx="8280057" cy="2170983"/>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dirty="0">
                <a:solidFill>
                  <a:srgbClr val="000000"/>
                </a:solidFill>
              </a:rPr>
              <a:t>When configuring a static route, another option is to use the exit interface to specify the next-hop address.  Three directly connected IPv4 static routes are configured on R1 using the exit interface.</a:t>
            </a:r>
            <a:endParaRPr dirty="0"/>
          </a:p>
          <a:p>
            <a:pPr marL="73085" lvl="1" indent="0" algn="l" rtl="0">
              <a:lnSpc>
                <a:spcPct val="95000"/>
              </a:lnSpc>
              <a:spcBef>
                <a:spcPts val="600"/>
              </a:spcBef>
              <a:spcAft>
                <a:spcPts val="0"/>
              </a:spcAft>
              <a:buSzPts val="1400"/>
              <a:buNone/>
            </a:pPr>
            <a:r>
              <a:rPr lang="en-US" b="1" dirty="0">
                <a:solidFill>
                  <a:srgbClr val="000000"/>
                </a:solidFill>
              </a:rPr>
              <a:t>Note</a:t>
            </a:r>
            <a:r>
              <a:rPr lang="en-US" dirty="0">
                <a:solidFill>
                  <a:srgbClr val="000000"/>
                </a:solidFill>
              </a:rPr>
              <a:t>: </a:t>
            </a:r>
            <a:r>
              <a:rPr lang="en-US" dirty="0">
                <a:solidFill>
                  <a:srgbClr val="000000"/>
                </a:solidFill>
                <a:highlight>
                  <a:srgbClr val="FFFF00"/>
                </a:highlight>
              </a:rPr>
              <a:t>Using a next-hop address is generally recommended.</a:t>
            </a:r>
            <a:r>
              <a:rPr lang="en-US" dirty="0">
                <a:solidFill>
                  <a:srgbClr val="000000"/>
                </a:solidFill>
              </a:rPr>
              <a:t> </a:t>
            </a:r>
            <a:r>
              <a:rPr lang="en-US" dirty="0">
                <a:solidFill>
                  <a:srgbClr val="FF0000"/>
                </a:solidFill>
              </a:rPr>
              <a:t>Directly connected static routes should only be used with point-to-point serial interfaces.  </a:t>
            </a:r>
            <a:endParaRPr dirty="0">
              <a:solidFill>
                <a:srgbClr val="FF0000"/>
              </a:solidFill>
            </a:endParaRPr>
          </a:p>
          <a:p>
            <a:pPr marL="73085" lvl="1" indent="0" algn="l" rtl="0">
              <a:lnSpc>
                <a:spcPct val="95000"/>
              </a:lnSpc>
              <a:spcBef>
                <a:spcPts val="600"/>
              </a:spcBef>
              <a:spcAft>
                <a:spcPts val="0"/>
              </a:spcAft>
              <a:buSzPts val="1400"/>
              <a:buNone/>
            </a:pPr>
            <a:r>
              <a:rPr lang="en-US" b="1" dirty="0">
                <a:solidFill>
                  <a:srgbClr val="000000"/>
                </a:solidFill>
                <a:latin typeface="Courier New"/>
                <a:ea typeface="Courier New"/>
                <a:cs typeface="Courier New"/>
                <a:sym typeface="Courier New"/>
              </a:rPr>
              <a:t>R1(config)# </a:t>
            </a:r>
            <a:r>
              <a:rPr lang="en-US" b="1" dirty="0" err="1">
                <a:solidFill>
                  <a:srgbClr val="FF0000"/>
                </a:solidFill>
                <a:latin typeface="Courier New"/>
                <a:ea typeface="Courier New"/>
                <a:cs typeface="Courier New"/>
                <a:sym typeface="Courier New"/>
              </a:rPr>
              <a:t>ip</a:t>
            </a:r>
            <a:r>
              <a:rPr lang="en-US" b="1" dirty="0">
                <a:solidFill>
                  <a:srgbClr val="FF0000"/>
                </a:solidFill>
                <a:latin typeface="Courier New"/>
                <a:ea typeface="Courier New"/>
                <a:cs typeface="Courier New"/>
                <a:sym typeface="Courier New"/>
              </a:rPr>
              <a:t> route 172.16.1.0 255.255.255.0 s0/1/0 </a:t>
            </a:r>
            <a:endParaRPr dirty="0"/>
          </a:p>
          <a:p>
            <a:pPr marL="73085" lvl="1" indent="0" algn="l" rtl="0">
              <a:lnSpc>
                <a:spcPct val="95000"/>
              </a:lnSpc>
              <a:spcBef>
                <a:spcPts val="600"/>
              </a:spcBef>
              <a:spcAft>
                <a:spcPts val="0"/>
              </a:spcAft>
              <a:buSzPts val="1400"/>
              <a:buNone/>
            </a:pPr>
            <a:r>
              <a:rPr lang="en-US" b="1" dirty="0">
                <a:solidFill>
                  <a:srgbClr val="000000"/>
                </a:solidFill>
                <a:latin typeface="Courier New"/>
                <a:ea typeface="Courier New"/>
                <a:cs typeface="Courier New"/>
                <a:sym typeface="Courier New"/>
              </a:rPr>
              <a:t>R1(config)# </a:t>
            </a:r>
            <a:r>
              <a:rPr lang="en-US" b="1" dirty="0" err="1">
                <a:solidFill>
                  <a:srgbClr val="FF0000"/>
                </a:solidFill>
                <a:latin typeface="Courier New"/>
                <a:ea typeface="Courier New"/>
                <a:cs typeface="Courier New"/>
                <a:sym typeface="Courier New"/>
              </a:rPr>
              <a:t>ip</a:t>
            </a:r>
            <a:r>
              <a:rPr lang="en-US" b="1" dirty="0">
                <a:solidFill>
                  <a:srgbClr val="FF0000"/>
                </a:solidFill>
                <a:latin typeface="Courier New"/>
                <a:ea typeface="Courier New"/>
                <a:cs typeface="Courier New"/>
                <a:sym typeface="Courier New"/>
              </a:rPr>
              <a:t> route 192.168.1.0 255.255.255.0 s0/1/0 </a:t>
            </a:r>
            <a:endParaRPr dirty="0"/>
          </a:p>
          <a:p>
            <a:pPr marL="73085" lvl="1" indent="0" algn="l" rtl="0">
              <a:lnSpc>
                <a:spcPct val="95000"/>
              </a:lnSpc>
              <a:spcBef>
                <a:spcPts val="600"/>
              </a:spcBef>
              <a:spcAft>
                <a:spcPts val="0"/>
              </a:spcAft>
              <a:buSzPts val="1400"/>
              <a:buNone/>
            </a:pPr>
            <a:r>
              <a:rPr lang="en-US" b="1" dirty="0">
                <a:solidFill>
                  <a:srgbClr val="000000"/>
                </a:solidFill>
                <a:latin typeface="Courier New"/>
                <a:ea typeface="Courier New"/>
                <a:cs typeface="Courier New"/>
                <a:sym typeface="Courier New"/>
              </a:rPr>
              <a:t>R1(config)# </a:t>
            </a:r>
            <a:r>
              <a:rPr lang="en-US" b="1" dirty="0" err="1">
                <a:solidFill>
                  <a:srgbClr val="FF0000"/>
                </a:solidFill>
                <a:latin typeface="Courier New"/>
                <a:ea typeface="Courier New"/>
                <a:cs typeface="Courier New"/>
                <a:sym typeface="Courier New"/>
              </a:rPr>
              <a:t>ip</a:t>
            </a:r>
            <a:r>
              <a:rPr lang="en-US" b="1" dirty="0">
                <a:solidFill>
                  <a:srgbClr val="FF0000"/>
                </a:solidFill>
                <a:latin typeface="Courier New"/>
                <a:ea typeface="Courier New"/>
                <a:cs typeface="Courier New"/>
                <a:sym typeface="Courier New"/>
              </a:rPr>
              <a:t> route 192.168.2.0 255.255.255.0 s0/1/0</a:t>
            </a:r>
            <a:endParaRPr dirty="0"/>
          </a:p>
        </p:txBody>
      </p:sp>
      <p:pic>
        <p:nvPicPr>
          <p:cNvPr id="335" name="Google Shape;335;p14"/>
          <p:cNvPicPr preferRelativeResize="0"/>
          <p:nvPr/>
        </p:nvPicPr>
        <p:blipFill rotWithShape="1">
          <a:blip r:embed="rId3">
            <a:alphaModFix/>
          </a:blip>
          <a:srcRect/>
          <a:stretch/>
        </p:blipFill>
        <p:spPr>
          <a:xfrm>
            <a:off x="1710531" y="2902820"/>
            <a:ext cx="4924425" cy="19335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15"/>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IP Static Routes</a:t>
            </a:r>
            <a:br>
              <a:rPr lang="en-US"/>
            </a:br>
            <a:r>
              <a:rPr lang="en-US" sz="2400"/>
              <a:t>IPv6 Directly Connected Static Route</a:t>
            </a:r>
            <a:endParaRPr/>
          </a:p>
        </p:txBody>
      </p:sp>
      <p:sp>
        <p:nvSpPr>
          <p:cNvPr id="342" name="Google Shape;342;p15"/>
          <p:cNvSpPr txBox="1">
            <a:spLocks noGrp="1"/>
          </p:cNvSpPr>
          <p:nvPr>
            <p:ph type="body" idx="1"/>
          </p:nvPr>
        </p:nvSpPr>
        <p:spPr>
          <a:xfrm>
            <a:off x="474662" y="731837"/>
            <a:ext cx="4195661"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200"/>
              <a:buNone/>
            </a:pPr>
            <a:r>
              <a:rPr lang="en-US" sz="1200">
                <a:solidFill>
                  <a:srgbClr val="000000"/>
                </a:solidFill>
              </a:rPr>
              <a:t>In the example, three directly connected IPv6 static routes are configured on R1 using the exit interface.</a:t>
            </a:r>
            <a:endParaRPr/>
          </a:p>
          <a:p>
            <a:pPr marL="73085" lvl="1" indent="0" algn="l" rtl="0">
              <a:lnSpc>
                <a:spcPct val="95000"/>
              </a:lnSpc>
              <a:spcBef>
                <a:spcPts val="600"/>
              </a:spcBef>
              <a:spcAft>
                <a:spcPts val="0"/>
              </a:spcAft>
              <a:buSzPts val="1200"/>
              <a:buNone/>
            </a:pPr>
            <a:r>
              <a:rPr lang="en-US" sz="1200" b="1">
                <a:solidFill>
                  <a:srgbClr val="000000"/>
                </a:solidFill>
              </a:rPr>
              <a:t>Note</a:t>
            </a:r>
            <a:r>
              <a:rPr lang="en-US" sz="1200">
                <a:solidFill>
                  <a:srgbClr val="000000"/>
                </a:solidFill>
              </a:rPr>
              <a:t>: Using a next-hop address is generally recommended. Directly connected static routes should only be used with point-to-point serial interfaces. </a:t>
            </a:r>
            <a:endParaRPr/>
          </a:p>
          <a:p>
            <a:pPr marL="0" lvl="0" indent="0" algn="l" rtl="0">
              <a:lnSpc>
                <a:spcPct val="100000"/>
              </a:lnSpc>
              <a:spcBef>
                <a:spcPts val="240"/>
              </a:spcBef>
              <a:spcAft>
                <a:spcPts val="0"/>
              </a:spcAft>
              <a:buSzPts val="1200"/>
              <a:buNone/>
            </a:pPr>
            <a:endParaRPr sz="1200" b="1">
              <a:solidFill>
                <a:srgbClr val="000000"/>
              </a:solidFill>
              <a:latin typeface="Courier New"/>
              <a:ea typeface="Courier New"/>
              <a:cs typeface="Courier New"/>
              <a:sym typeface="Courier New"/>
            </a:endParaRPr>
          </a:p>
          <a:p>
            <a:pPr marL="0" lvl="0" indent="0" algn="l" rtl="0">
              <a:lnSpc>
                <a:spcPct val="100000"/>
              </a:lnSpc>
              <a:spcBef>
                <a:spcPts val="240"/>
              </a:spcBef>
              <a:spcAft>
                <a:spcPts val="0"/>
              </a:spcAft>
              <a:buSzPts val="1200"/>
              <a:buNone/>
            </a:pPr>
            <a:r>
              <a:rPr lang="en-US" sz="1200" b="1">
                <a:solidFill>
                  <a:srgbClr val="000000"/>
                </a:solidFill>
                <a:latin typeface="Courier New"/>
                <a:ea typeface="Courier New"/>
                <a:cs typeface="Courier New"/>
                <a:sym typeface="Courier New"/>
              </a:rPr>
              <a:t>R1(config)# </a:t>
            </a:r>
            <a:r>
              <a:rPr lang="en-US" sz="1200" b="1">
                <a:solidFill>
                  <a:srgbClr val="FF0000"/>
                </a:solidFill>
                <a:latin typeface="Courier New"/>
                <a:ea typeface="Courier New"/>
                <a:cs typeface="Courier New"/>
                <a:sym typeface="Courier New"/>
              </a:rPr>
              <a:t>ipv6 route 2001:db8:acad:1::/64 s0/1/0 </a:t>
            </a:r>
            <a:endParaRPr/>
          </a:p>
          <a:p>
            <a:pPr marL="0" lvl="0" indent="0" algn="l" rtl="0">
              <a:lnSpc>
                <a:spcPct val="100000"/>
              </a:lnSpc>
              <a:spcBef>
                <a:spcPts val="240"/>
              </a:spcBef>
              <a:spcAft>
                <a:spcPts val="0"/>
              </a:spcAft>
              <a:buSzPts val="1200"/>
              <a:buNone/>
            </a:pPr>
            <a:endParaRPr sz="1200" b="1">
              <a:solidFill>
                <a:srgbClr val="000000"/>
              </a:solidFill>
              <a:latin typeface="Courier New"/>
              <a:ea typeface="Courier New"/>
              <a:cs typeface="Courier New"/>
              <a:sym typeface="Courier New"/>
            </a:endParaRPr>
          </a:p>
          <a:p>
            <a:pPr marL="0" lvl="0" indent="0" algn="l" rtl="0">
              <a:lnSpc>
                <a:spcPct val="100000"/>
              </a:lnSpc>
              <a:spcBef>
                <a:spcPts val="240"/>
              </a:spcBef>
              <a:spcAft>
                <a:spcPts val="0"/>
              </a:spcAft>
              <a:buSzPts val="1200"/>
              <a:buNone/>
            </a:pPr>
            <a:r>
              <a:rPr lang="en-US" sz="1200" b="1">
                <a:solidFill>
                  <a:srgbClr val="000000"/>
                </a:solidFill>
                <a:latin typeface="Courier New"/>
                <a:ea typeface="Courier New"/>
                <a:cs typeface="Courier New"/>
                <a:sym typeface="Courier New"/>
              </a:rPr>
              <a:t>R1(config)# </a:t>
            </a:r>
            <a:r>
              <a:rPr lang="en-US" sz="1200" b="1">
                <a:solidFill>
                  <a:srgbClr val="FF0000"/>
                </a:solidFill>
                <a:latin typeface="Courier New"/>
                <a:ea typeface="Courier New"/>
                <a:cs typeface="Courier New"/>
                <a:sym typeface="Courier New"/>
              </a:rPr>
              <a:t>ipv6 route 2001:db8:cafe:1::/64 s0/1/0 </a:t>
            </a:r>
            <a:endParaRPr/>
          </a:p>
          <a:p>
            <a:pPr marL="0" lvl="0" indent="0" algn="l" rtl="0">
              <a:lnSpc>
                <a:spcPct val="100000"/>
              </a:lnSpc>
              <a:spcBef>
                <a:spcPts val="240"/>
              </a:spcBef>
              <a:spcAft>
                <a:spcPts val="0"/>
              </a:spcAft>
              <a:buSzPts val="1200"/>
              <a:buNone/>
            </a:pPr>
            <a:endParaRPr sz="1200" b="1">
              <a:solidFill>
                <a:srgbClr val="000000"/>
              </a:solidFill>
              <a:latin typeface="Courier New"/>
              <a:ea typeface="Courier New"/>
              <a:cs typeface="Courier New"/>
              <a:sym typeface="Courier New"/>
            </a:endParaRPr>
          </a:p>
          <a:p>
            <a:pPr marL="0" lvl="0" indent="0" algn="l" rtl="0">
              <a:lnSpc>
                <a:spcPct val="100000"/>
              </a:lnSpc>
              <a:spcBef>
                <a:spcPts val="240"/>
              </a:spcBef>
              <a:spcAft>
                <a:spcPts val="0"/>
              </a:spcAft>
              <a:buSzPts val="1200"/>
              <a:buNone/>
            </a:pPr>
            <a:r>
              <a:rPr lang="en-US" sz="1200" b="1">
                <a:solidFill>
                  <a:srgbClr val="000000"/>
                </a:solidFill>
                <a:latin typeface="Courier New"/>
                <a:ea typeface="Courier New"/>
                <a:cs typeface="Courier New"/>
                <a:sym typeface="Courier New"/>
              </a:rPr>
              <a:t>R1(config)# </a:t>
            </a:r>
            <a:r>
              <a:rPr lang="en-US" sz="1200" b="1">
                <a:solidFill>
                  <a:srgbClr val="FF0000"/>
                </a:solidFill>
                <a:latin typeface="Courier New"/>
                <a:ea typeface="Courier New"/>
                <a:cs typeface="Courier New"/>
                <a:sym typeface="Courier New"/>
              </a:rPr>
              <a:t>ipv6 route 2001:db8:cafe:2::/64 s0/1/0</a:t>
            </a:r>
            <a:endParaRPr/>
          </a:p>
        </p:txBody>
      </p:sp>
      <p:pic>
        <p:nvPicPr>
          <p:cNvPr id="343" name="Google Shape;343;p15"/>
          <p:cNvPicPr preferRelativeResize="0"/>
          <p:nvPr/>
        </p:nvPicPr>
        <p:blipFill rotWithShape="1">
          <a:blip r:embed="rId3">
            <a:alphaModFix/>
          </a:blip>
          <a:srcRect/>
          <a:stretch/>
        </p:blipFill>
        <p:spPr>
          <a:xfrm>
            <a:off x="4832340" y="814506"/>
            <a:ext cx="4072749" cy="368989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16"/>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2800"/>
              <a:t>IPv4 Fully Specified Static Route</a:t>
            </a:r>
            <a:endParaRPr sz="2800"/>
          </a:p>
        </p:txBody>
      </p:sp>
      <p:pic>
        <p:nvPicPr>
          <p:cNvPr id="350" name="Google Shape;350;p16"/>
          <p:cNvPicPr preferRelativeResize="0"/>
          <p:nvPr/>
        </p:nvPicPr>
        <p:blipFill rotWithShape="1">
          <a:blip r:embed="rId3">
            <a:alphaModFix/>
          </a:blip>
          <a:srcRect/>
          <a:stretch/>
        </p:blipFill>
        <p:spPr>
          <a:xfrm>
            <a:off x="571500" y="834013"/>
            <a:ext cx="8001000" cy="40856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17"/>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IP Static Routes</a:t>
            </a:r>
            <a:br>
              <a:rPr lang="en-US"/>
            </a:br>
            <a:r>
              <a:rPr lang="en-US" sz="2400"/>
              <a:t>IPv4 Fully Specified Static Route</a:t>
            </a:r>
            <a:endParaRPr/>
          </a:p>
        </p:txBody>
      </p:sp>
      <p:sp>
        <p:nvSpPr>
          <p:cNvPr id="357" name="Google Shape;357;p17"/>
          <p:cNvSpPr txBox="1">
            <a:spLocks noGrp="1"/>
          </p:cNvSpPr>
          <p:nvPr>
            <p:ph type="body" idx="1"/>
          </p:nvPr>
        </p:nvSpPr>
        <p:spPr>
          <a:xfrm>
            <a:off x="474662" y="731837"/>
            <a:ext cx="3507403" cy="3689897"/>
          </a:xfrm>
          <a:prstGeom prst="rect">
            <a:avLst/>
          </a:prstGeom>
          <a:noFill/>
          <a:ln>
            <a:noFill/>
          </a:ln>
        </p:spPr>
        <p:txBody>
          <a:bodyPr spcFirstLastPara="1" wrap="square" lIns="91400" tIns="45700" rIns="91400" bIns="45700" anchor="t" anchorCtr="0">
            <a:noAutofit/>
          </a:bodyPr>
          <a:lstStyle/>
          <a:p>
            <a:pPr marL="285750" lvl="0" indent="-285750" algn="l" rtl="0">
              <a:lnSpc>
                <a:spcPct val="100000"/>
              </a:lnSpc>
              <a:spcBef>
                <a:spcPts val="0"/>
              </a:spcBef>
              <a:spcAft>
                <a:spcPts val="0"/>
              </a:spcAft>
              <a:buSzPts val="1400"/>
              <a:buFont typeface="Arial"/>
              <a:buChar char="•"/>
            </a:pPr>
            <a:r>
              <a:rPr lang="en-US" sz="1400">
                <a:solidFill>
                  <a:srgbClr val="000000"/>
                </a:solidFill>
              </a:rPr>
              <a:t>In a fully specified static route, </a:t>
            </a:r>
            <a:r>
              <a:rPr lang="en-US" sz="1400">
                <a:solidFill>
                  <a:srgbClr val="FF0000"/>
                </a:solidFill>
              </a:rPr>
              <a:t>both the exit interface and the next-hop IP address are specified</a:t>
            </a:r>
            <a:r>
              <a:rPr lang="en-US" sz="1400">
                <a:solidFill>
                  <a:srgbClr val="000000"/>
                </a:solidFill>
              </a:rPr>
              <a:t>. This form of static route is used when the </a:t>
            </a:r>
            <a:r>
              <a:rPr lang="en-US" sz="1400">
                <a:solidFill>
                  <a:srgbClr val="FF0000"/>
                </a:solidFill>
              </a:rPr>
              <a:t>exit interface is a multi-access interface </a:t>
            </a:r>
            <a:r>
              <a:rPr lang="en-US" sz="1400">
                <a:solidFill>
                  <a:srgbClr val="000000"/>
                </a:solidFill>
              </a:rPr>
              <a:t>and it is necessary to explicitly identify the next hop. The next hop must be directly connected to the specified exit interface. Using an exit interface is optional, however it is necessary to use a next-hop address.</a:t>
            </a:r>
            <a:endParaRPr/>
          </a:p>
          <a:p>
            <a:pPr marL="285750" lvl="0" indent="-285750" algn="l" rtl="0">
              <a:lnSpc>
                <a:spcPct val="100000"/>
              </a:lnSpc>
              <a:spcBef>
                <a:spcPts val="280"/>
              </a:spcBef>
              <a:spcAft>
                <a:spcPts val="0"/>
              </a:spcAft>
              <a:buSzPts val="1400"/>
              <a:buFont typeface="Arial"/>
              <a:buChar char="•"/>
            </a:pPr>
            <a:r>
              <a:rPr lang="en-US" sz="1400">
                <a:solidFill>
                  <a:srgbClr val="000000"/>
                </a:solidFill>
              </a:rPr>
              <a:t>It is recommended that when the exit interface is an </a:t>
            </a:r>
            <a:r>
              <a:rPr lang="en-US" sz="1400">
                <a:solidFill>
                  <a:srgbClr val="FF0000"/>
                </a:solidFill>
              </a:rPr>
              <a:t>Ethernet network</a:t>
            </a:r>
            <a:r>
              <a:rPr lang="en-US" sz="1400">
                <a:solidFill>
                  <a:srgbClr val="000000"/>
                </a:solidFill>
              </a:rPr>
              <a:t>, that the static route includes a next-hop address. You can also use a fully specified static route that includes both the exit interface and the next-hop address.</a:t>
            </a:r>
            <a:endParaRPr/>
          </a:p>
        </p:txBody>
      </p:sp>
      <p:pic>
        <p:nvPicPr>
          <p:cNvPr id="358" name="Google Shape;358;p17"/>
          <p:cNvPicPr preferRelativeResize="0"/>
          <p:nvPr/>
        </p:nvPicPr>
        <p:blipFill rotWithShape="1">
          <a:blip r:embed="rId3">
            <a:alphaModFix/>
          </a:blip>
          <a:srcRect/>
          <a:stretch/>
        </p:blipFill>
        <p:spPr>
          <a:xfrm>
            <a:off x="3957791" y="1316451"/>
            <a:ext cx="4909676" cy="492556"/>
          </a:xfrm>
          <a:prstGeom prst="rect">
            <a:avLst/>
          </a:prstGeom>
          <a:noFill/>
          <a:ln>
            <a:noFill/>
          </a:ln>
        </p:spPr>
      </p:pic>
      <p:pic>
        <p:nvPicPr>
          <p:cNvPr id="359" name="Google Shape;359;p17"/>
          <p:cNvPicPr preferRelativeResize="0"/>
          <p:nvPr/>
        </p:nvPicPr>
        <p:blipFill rotWithShape="1">
          <a:blip r:embed="rId4">
            <a:alphaModFix/>
          </a:blip>
          <a:srcRect/>
          <a:stretch/>
        </p:blipFill>
        <p:spPr>
          <a:xfrm>
            <a:off x="3957791" y="2174925"/>
            <a:ext cx="4933950" cy="19145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18"/>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IP Static Routes</a:t>
            </a:r>
            <a:br>
              <a:rPr lang="en-US"/>
            </a:br>
            <a:r>
              <a:rPr lang="en-US" sz="2400"/>
              <a:t>IPv6 Fully Specified Static Route</a:t>
            </a:r>
            <a:endParaRPr/>
          </a:p>
        </p:txBody>
      </p:sp>
      <p:sp>
        <p:nvSpPr>
          <p:cNvPr id="366" name="Google Shape;366;p18"/>
          <p:cNvSpPr txBox="1">
            <a:spLocks noGrp="1"/>
          </p:cNvSpPr>
          <p:nvPr>
            <p:ph type="body" idx="1"/>
          </p:nvPr>
        </p:nvSpPr>
        <p:spPr>
          <a:xfrm>
            <a:off x="155448" y="731837"/>
            <a:ext cx="8599271" cy="1545019"/>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500"/>
              <a:buNone/>
            </a:pPr>
            <a:r>
              <a:rPr lang="en-US" sz="1500">
                <a:solidFill>
                  <a:srgbClr val="000000"/>
                </a:solidFill>
              </a:rPr>
              <a:t>In a fully specified static route, </a:t>
            </a:r>
            <a:r>
              <a:rPr lang="en-US" sz="1500">
                <a:solidFill>
                  <a:srgbClr val="FF0000"/>
                </a:solidFill>
              </a:rPr>
              <a:t>both the exit interface and the next-hop IPV6 address </a:t>
            </a:r>
            <a:r>
              <a:rPr lang="en-US" sz="1500">
                <a:solidFill>
                  <a:srgbClr val="000000"/>
                </a:solidFill>
              </a:rPr>
              <a:t>are specified. </a:t>
            </a:r>
            <a:endParaRPr/>
          </a:p>
          <a:p>
            <a:pPr marL="0" lvl="0" indent="0" algn="l" rtl="0">
              <a:lnSpc>
                <a:spcPct val="100000"/>
              </a:lnSpc>
              <a:spcBef>
                <a:spcPts val="300"/>
              </a:spcBef>
              <a:spcAft>
                <a:spcPts val="0"/>
              </a:spcAft>
              <a:buSzPts val="1500"/>
              <a:buNone/>
            </a:pPr>
            <a:r>
              <a:rPr lang="en-US" sz="1500">
                <a:solidFill>
                  <a:srgbClr val="000000"/>
                </a:solidFill>
              </a:rPr>
              <a:t>There is a situation in IPv6 when a fully specified static route </a:t>
            </a:r>
            <a:r>
              <a:rPr lang="en-US" sz="1500">
                <a:solidFill>
                  <a:srgbClr val="FF0000"/>
                </a:solidFill>
              </a:rPr>
              <a:t>must</a:t>
            </a:r>
            <a:r>
              <a:rPr lang="en-US" sz="1500">
                <a:solidFill>
                  <a:srgbClr val="000000"/>
                </a:solidFill>
              </a:rPr>
              <a:t> be used. If the IPv6 static route uses an </a:t>
            </a:r>
            <a:r>
              <a:rPr lang="en-US" sz="1500">
                <a:solidFill>
                  <a:srgbClr val="FF0000"/>
                </a:solidFill>
              </a:rPr>
              <a:t>IPv6 link-local address </a:t>
            </a:r>
            <a:r>
              <a:rPr lang="en-US" sz="1500">
                <a:solidFill>
                  <a:srgbClr val="000000"/>
                </a:solidFill>
              </a:rPr>
              <a:t>as the </a:t>
            </a:r>
            <a:r>
              <a:rPr lang="en-US" sz="1500">
                <a:solidFill>
                  <a:srgbClr val="FF0000"/>
                </a:solidFill>
              </a:rPr>
              <a:t>next-hop address</a:t>
            </a:r>
            <a:r>
              <a:rPr lang="en-US" sz="1500">
                <a:solidFill>
                  <a:srgbClr val="000000"/>
                </a:solidFill>
              </a:rPr>
              <a:t>, use </a:t>
            </a:r>
            <a:r>
              <a:rPr lang="en-US" sz="1500">
                <a:solidFill>
                  <a:srgbClr val="FF0000"/>
                </a:solidFill>
              </a:rPr>
              <a:t>a fully specified static route</a:t>
            </a:r>
            <a:r>
              <a:rPr lang="en-US" sz="1500">
                <a:solidFill>
                  <a:srgbClr val="000000"/>
                </a:solidFill>
              </a:rPr>
              <a:t>. The figure shows an example of a fully specified IPv6 static route using an IPv6 link-local address as the next-hop address.</a:t>
            </a:r>
            <a:endParaRPr/>
          </a:p>
        </p:txBody>
      </p:sp>
      <p:pic>
        <p:nvPicPr>
          <p:cNvPr id="367" name="Google Shape;367;p18"/>
          <p:cNvPicPr preferRelativeResize="0"/>
          <p:nvPr/>
        </p:nvPicPr>
        <p:blipFill rotWithShape="1">
          <a:blip r:embed="rId3">
            <a:alphaModFix/>
          </a:blip>
          <a:srcRect/>
          <a:stretch/>
        </p:blipFill>
        <p:spPr>
          <a:xfrm>
            <a:off x="496111" y="2052536"/>
            <a:ext cx="8511702" cy="2928026"/>
          </a:xfrm>
          <a:prstGeom prst="rect">
            <a:avLst/>
          </a:prstGeom>
          <a:noFill/>
          <a:ln>
            <a:noFill/>
          </a:ln>
        </p:spPr>
      </p:pic>
      <p:cxnSp>
        <p:nvCxnSpPr>
          <p:cNvPr id="368" name="Google Shape;368;p18"/>
          <p:cNvCxnSpPr/>
          <p:nvPr/>
        </p:nvCxnSpPr>
        <p:spPr>
          <a:xfrm rot="10800000">
            <a:off x="3385226" y="2694562"/>
            <a:ext cx="1254868" cy="1955259"/>
          </a:xfrm>
          <a:prstGeom prst="straightConnector1">
            <a:avLst/>
          </a:prstGeom>
          <a:noFill/>
          <a:ln w="25400" cap="flat" cmpd="sng">
            <a:solidFill>
              <a:srgbClr val="004B68"/>
            </a:solidFill>
            <a:prstDash val="solid"/>
            <a:round/>
            <a:headEnd type="none" w="sm" len="sm"/>
            <a:tailEnd type="stealth" w="med" len="med"/>
          </a:ln>
        </p:spPr>
      </p:cxnSp>
      <p:cxnSp>
        <p:nvCxnSpPr>
          <p:cNvPr id="369" name="Google Shape;369;p18"/>
          <p:cNvCxnSpPr/>
          <p:nvPr/>
        </p:nvCxnSpPr>
        <p:spPr>
          <a:xfrm rot="10800000" flipH="1">
            <a:off x="5573949" y="3326860"/>
            <a:ext cx="953311" cy="1332689"/>
          </a:xfrm>
          <a:prstGeom prst="straightConnector1">
            <a:avLst/>
          </a:prstGeom>
          <a:noFill/>
          <a:ln w="25400" cap="flat" cmpd="sng">
            <a:solidFill>
              <a:srgbClr val="004B68"/>
            </a:solidFill>
            <a:prstDash val="solid"/>
            <a:round/>
            <a:headEnd type="none" w="sm" len="sm"/>
            <a:tailEnd type="stealth" w="med" len="med"/>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19"/>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IP Static Routes</a:t>
            </a:r>
            <a:br>
              <a:rPr lang="en-US"/>
            </a:br>
            <a:r>
              <a:rPr lang="en-US" sz="2400"/>
              <a:t>IPv6 Fully Specified Static Route (Cont.)</a:t>
            </a:r>
            <a:endParaRPr/>
          </a:p>
        </p:txBody>
      </p:sp>
      <p:sp>
        <p:nvSpPr>
          <p:cNvPr id="376" name="Google Shape;376;p19"/>
          <p:cNvSpPr txBox="1">
            <a:spLocks noGrp="1"/>
          </p:cNvSpPr>
          <p:nvPr>
            <p:ph type="body" idx="1"/>
          </p:nvPr>
        </p:nvSpPr>
        <p:spPr>
          <a:xfrm>
            <a:off x="474662" y="731837"/>
            <a:ext cx="8280057" cy="1839913"/>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dirty="0">
                <a:solidFill>
                  <a:srgbClr val="000000"/>
                </a:solidFill>
              </a:rPr>
              <a:t>The reason a fully specified static route must be used is because </a:t>
            </a:r>
            <a:r>
              <a:rPr lang="en-US" sz="1600" dirty="0">
                <a:solidFill>
                  <a:srgbClr val="FF0000"/>
                </a:solidFill>
              </a:rPr>
              <a:t>IPv6 link-local addresses </a:t>
            </a:r>
            <a:r>
              <a:rPr lang="en-US" sz="1600" dirty="0">
                <a:solidFill>
                  <a:srgbClr val="000000"/>
                </a:solidFill>
              </a:rPr>
              <a:t>are </a:t>
            </a:r>
            <a:r>
              <a:rPr lang="en-US" sz="1600" dirty="0">
                <a:solidFill>
                  <a:srgbClr val="FF0000"/>
                </a:solidFill>
              </a:rPr>
              <a:t>not contained in the IPv6 routing table</a:t>
            </a:r>
            <a:r>
              <a:rPr lang="en-US" sz="1600" dirty="0">
                <a:solidFill>
                  <a:srgbClr val="000000"/>
                </a:solidFill>
              </a:rPr>
              <a:t>. Link-local addresses are only unique on a given link or network. The next-hop link-local address may be a valid address on multiple networks connected to the router. Therefore, it is necessary that the exit interface be included.</a:t>
            </a:r>
            <a:endParaRPr dirty="0"/>
          </a:p>
          <a:p>
            <a:pPr marL="0" lvl="0" indent="0" algn="l" rtl="0">
              <a:lnSpc>
                <a:spcPct val="100000"/>
              </a:lnSpc>
              <a:spcBef>
                <a:spcPts val="320"/>
              </a:spcBef>
              <a:spcAft>
                <a:spcPts val="0"/>
              </a:spcAft>
              <a:buSzPts val="1600"/>
              <a:buNone/>
            </a:pPr>
            <a:r>
              <a:rPr lang="en-US" sz="1600" dirty="0">
                <a:solidFill>
                  <a:srgbClr val="000000"/>
                </a:solidFill>
              </a:rPr>
              <a:t>The following example shows the IPv6 routing table entry for this route. Notice that both the </a:t>
            </a:r>
            <a:r>
              <a:rPr lang="en-US" sz="1600" dirty="0">
                <a:solidFill>
                  <a:srgbClr val="FF0000"/>
                </a:solidFill>
              </a:rPr>
              <a:t>next-hop link-local address </a:t>
            </a:r>
            <a:r>
              <a:rPr lang="en-US" sz="1600" dirty="0">
                <a:solidFill>
                  <a:srgbClr val="000000"/>
                </a:solidFill>
              </a:rPr>
              <a:t>and </a:t>
            </a:r>
            <a:r>
              <a:rPr lang="en-US" sz="1600" dirty="0">
                <a:solidFill>
                  <a:srgbClr val="FF0000"/>
                </a:solidFill>
              </a:rPr>
              <a:t>the exit interface </a:t>
            </a:r>
            <a:r>
              <a:rPr lang="en-US" sz="1600" dirty="0">
                <a:solidFill>
                  <a:srgbClr val="000000"/>
                </a:solidFill>
              </a:rPr>
              <a:t>are included.</a:t>
            </a:r>
            <a:endParaRPr dirty="0"/>
          </a:p>
        </p:txBody>
      </p:sp>
      <p:pic>
        <p:nvPicPr>
          <p:cNvPr id="377" name="Google Shape;377;p19"/>
          <p:cNvPicPr preferRelativeResize="0"/>
          <p:nvPr/>
        </p:nvPicPr>
        <p:blipFill rotWithShape="1">
          <a:blip r:embed="rId3">
            <a:alphaModFix/>
          </a:blip>
          <a:srcRect/>
          <a:stretch/>
        </p:blipFill>
        <p:spPr>
          <a:xfrm>
            <a:off x="1223194" y="2827380"/>
            <a:ext cx="6697612" cy="95241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20"/>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IP Static Routes</a:t>
            </a:r>
            <a:br>
              <a:rPr lang="en-US"/>
            </a:br>
            <a:r>
              <a:rPr lang="en-US" sz="2400"/>
              <a:t>Verify a Static Route</a:t>
            </a:r>
            <a:endParaRPr/>
          </a:p>
        </p:txBody>
      </p:sp>
      <p:sp>
        <p:nvSpPr>
          <p:cNvPr id="384" name="Google Shape;384;p20"/>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Along with </a:t>
            </a:r>
            <a:r>
              <a:rPr lang="en-US" sz="1600" b="1">
                <a:solidFill>
                  <a:srgbClr val="000000"/>
                </a:solidFill>
              </a:rPr>
              <a:t>show ip route</a:t>
            </a:r>
            <a:r>
              <a:rPr lang="en-US" sz="1600">
                <a:solidFill>
                  <a:srgbClr val="000000"/>
                </a:solidFill>
              </a:rPr>
              <a:t>, </a:t>
            </a:r>
            <a:r>
              <a:rPr lang="en-US" sz="1600" b="1">
                <a:solidFill>
                  <a:srgbClr val="000000"/>
                </a:solidFill>
              </a:rPr>
              <a:t>show ipv6 route</a:t>
            </a:r>
            <a:r>
              <a:rPr lang="en-US" sz="1600">
                <a:solidFill>
                  <a:srgbClr val="000000"/>
                </a:solidFill>
              </a:rPr>
              <a:t>, </a:t>
            </a:r>
            <a:r>
              <a:rPr lang="en-US" sz="1600" b="1">
                <a:solidFill>
                  <a:srgbClr val="000000"/>
                </a:solidFill>
              </a:rPr>
              <a:t>ping</a:t>
            </a:r>
            <a:r>
              <a:rPr lang="en-US" sz="1600">
                <a:solidFill>
                  <a:srgbClr val="000000"/>
                </a:solidFill>
              </a:rPr>
              <a:t> and </a:t>
            </a:r>
            <a:r>
              <a:rPr lang="en-US" sz="1600" b="1">
                <a:solidFill>
                  <a:srgbClr val="000000"/>
                </a:solidFill>
              </a:rPr>
              <a:t>traceroute</a:t>
            </a:r>
            <a:r>
              <a:rPr lang="en-US" sz="1600">
                <a:solidFill>
                  <a:srgbClr val="000000"/>
                </a:solidFill>
              </a:rPr>
              <a:t>, other useful commands to verify static routes include the following:</a:t>
            </a:r>
            <a:endParaRPr/>
          </a:p>
          <a:p>
            <a:pPr marL="342900" lvl="0" indent="-342900" algn="l" rtl="0">
              <a:lnSpc>
                <a:spcPct val="100000"/>
              </a:lnSpc>
              <a:spcBef>
                <a:spcPts val="320"/>
              </a:spcBef>
              <a:spcAft>
                <a:spcPts val="0"/>
              </a:spcAft>
              <a:buSzPts val="1600"/>
              <a:buFont typeface="Arial"/>
              <a:buChar char="•"/>
            </a:pPr>
            <a:r>
              <a:rPr lang="en-US" sz="1600" b="1">
                <a:solidFill>
                  <a:srgbClr val="FF0000"/>
                </a:solidFill>
              </a:rPr>
              <a:t>show ip route static</a:t>
            </a:r>
            <a:endParaRPr sz="1600">
              <a:solidFill>
                <a:srgbClr val="FF0000"/>
              </a:solidFill>
            </a:endParaRPr>
          </a:p>
          <a:p>
            <a:pPr marL="342900" lvl="0" indent="-342900" algn="l" rtl="0">
              <a:lnSpc>
                <a:spcPct val="100000"/>
              </a:lnSpc>
              <a:spcBef>
                <a:spcPts val="320"/>
              </a:spcBef>
              <a:spcAft>
                <a:spcPts val="0"/>
              </a:spcAft>
              <a:buSzPts val="1600"/>
              <a:buFont typeface="Arial"/>
              <a:buChar char="•"/>
            </a:pPr>
            <a:r>
              <a:rPr lang="en-US" sz="1600" b="1">
                <a:solidFill>
                  <a:srgbClr val="FF0000"/>
                </a:solidFill>
              </a:rPr>
              <a:t>show ip route</a:t>
            </a:r>
            <a:r>
              <a:rPr lang="en-US" sz="1600">
                <a:solidFill>
                  <a:srgbClr val="FF0000"/>
                </a:solidFill>
              </a:rPr>
              <a:t> </a:t>
            </a:r>
            <a:r>
              <a:rPr lang="en-US" sz="1600" i="1">
                <a:solidFill>
                  <a:srgbClr val="000000"/>
                </a:solidFill>
              </a:rPr>
              <a:t>network</a:t>
            </a:r>
            <a:endParaRPr sz="1600">
              <a:solidFill>
                <a:srgbClr val="000000"/>
              </a:solidFill>
            </a:endParaRPr>
          </a:p>
          <a:p>
            <a:pPr marL="342900" lvl="0" indent="-342900" algn="l" rtl="0">
              <a:lnSpc>
                <a:spcPct val="100000"/>
              </a:lnSpc>
              <a:spcBef>
                <a:spcPts val="320"/>
              </a:spcBef>
              <a:spcAft>
                <a:spcPts val="0"/>
              </a:spcAft>
              <a:buSzPts val="1600"/>
              <a:buFont typeface="Arial"/>
              <a:buChar char="•"/>
            </a:pPr>
            <a:r>
              <a:rPr lang="en-US" sz="1600" b="1">
                <a:solidFill>
                  <a:srgbClr val="FF0000"/>
                </a:solidFill>
              </a:rPr>
              <a:t>show running-config | section ip route</a:t>
            </a:r>
            <a:endParaRPr sz="1600">
              <a:solidFill>
                <a:srgbClr val="FF0000"/>
              </a:solidFill>
            </a:endParaRPr>
          </a:p>
          <a:p>
            <a:pPr marL="0" lvl="0" indent="0" algn="l" rtl="0">
              <a:lnSpc>
                <a:spcPct val="100000"/>
              </a:lnSpc>
              <a:spcBef>
                <a:spcPts val="320"/>
              </a:spcBef>
              <a:spcAft>
                <a:spcPts val="0"/>
              </a:spcAft>
              <a:buSzPts val="1600"/>
              <a:buNone/>
            </a:pPr>
            <a:r>
              <a:rPr lang="en-US" sz="1600">
                <a:solidFill>
                  <a:srgbClr val="000000"/>
                </a:solidFill>
              </a:rPr>
              <a:t>Replace </a:t>
            </a:r>
            <a:r>
              <a:rPr lang="en-US" sz="1600" b="1">
                <a:solidFill>
                  <a:srgbClr val="000000"/>
                </a:solidFill>
              </a:rPr>
              <a:t>ip</a:t>
            </a:r>
            <a:r>
              <a:rPr lang="en-US" sz="1600">
                <a:solidFill>
                  <a:srgbClr val="000000"/>
                </a:solidFill>
              </a:rPr>
              <a:t> with </a:t>
            </a:r>
            <a:r>
              <a:rPr lang="en-US" sz="1600" b="1">
                <a:solidFill>
                  <a:srgbClr val="000000"/>
                </a:solidFill>
              </a:rPr>
              <a:t>ipv6</a:t>
            </a:r>
            <a:r>
              <a:rPr lang="en-US" sz="1600">
                <a:solidFill>
                  <a:srgbClr val="000000"/>
                </a:solidFill>
              </a:rPr>
              <a:t> for the IPv6 versions of the command.</a:t>
            </a:r>
            <a:endParaRPr/>
          </a:p>
          <a:p>
            <a:pPr marL="342900" lvl="0" indent="-241300" algn="l" rtl="0">
              <a:lnSpc>
                <a:spcPct val="100000"/>
              </a:lnSpc>
              <a:spcBef>
                <a:spcPts val="320"/>
              </a:spcBef>
              <a:spcAft>
                <a:spcPts val="0"/>
              </a:spcAft>
              <a:buSzPts val="1600"/>
              <a:buFont typeface="Arial"/>
              <a:buNone/>
            </a:pPr>
            <a:endParaRPr sz="16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21"/>
          <p:cNvSpPr txBox="1">
            <a:spLocks noGrp="1"/>
          </p:cNvSpPr>
          <p:nvPr>
            <p:ph type="ctrTitle"/>
          </p:nvPr>
        </p:nvSpPr>
        <p:spPr>
          <a:xfrm>
            <a:off x="416425" y="1788160"/>
            <a:ext cx="7848344" cy="929640"/>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4600"/>
              <a:buFont typeface="Arial"/>
              <a:buNone/>
            </a:pPr>
            <a:r>
              <a:rPr lang="en-US">
                <a:solidFill>
                  <a:srgbClr val="AEE8FA"/>
                </a:solidFill>
              </a:rPr>
              <a:t>15.3 Configure IP Default Static Routes</a:t>
            </a:r>
            <a:endParaRPr/>
          </a:p>
        </p:txBody>
      </p:sp>
    </p:spTree>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22"/>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IP Default Static Routes</a:t>
            </a:r>
            <a:br>
              <a:rPr lang="en-US"/>
            </a:br>
            <a:r>
              <a:rPr lang="en-US" sz="2400"/>
              <a:t>Default Static Route</a:t>
            </a:r>
            <a:endParaRPr/>
          </a:p>
        </p:txBody>
      </p:sp>
      <p:sp>
        <p:nvSpPr>
          <p:cNvPr id="397" name="Google Shape;397;p22"/>
          <p:cNvSpPr txBox="1">
            <a:spLocks noGrp="1"/>
          </p:cNvSpPr>
          <p:nvPr>
            <p:ph type="body" idx="1"/>
          </p:nvPr>
        </p:nvSpPr>
        <p:spPr>
          <a:xfrm>
            <a:off x="173736" y="731837"/>
            <a:ext cx="4242621" cy="3689897"/>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600"/>
              <a:buFont typeface="Arial"/>
              <a:buChar char="•"/>
            </a:pPr>
            <a:r>
              <a:rPr lang="en-US" sz="1600">
                <a:solidFill>
                  <a:srgbClr val="000000"/>
                </a:solidFill>
              </a:rPr>
              <a:t>A </a:t>
            </a:r>
            <a:r>
              <a:rPr lang="en-US" sz="1600">
                <a:solidFill>
                  <a:srgbClr val="FF0000"/>
                </a:solidFill>
              </a:rPr>
              <a:t>default route </a:t>
            </a:r>
            <a:r>
              <a:rPr lang="en-US" sz="1600">
                <a:solidFill>
                  <a:srgbClr val="000000"/>
                </a:solidFill>
              </a:rPr>
              <a:t>is a static route that </a:t>
            </a:r>
            <a:r>
              <a:rPr lang="en-US" sz="1600">
                <a:solidFill>
                  <a:srgbClr val="FF0000"/>
                </a:solidFill>
              </a:rPr>
              <a:t>matches all </a:t>
            </a:r>
            <a:r>
              <a:rPr lang="en-US" sz="1600">
                <a:solidFill>
                  <a:srgbClr val="000000"/>
                </a:solidFill>
              </a:rPr>
              <a:t>packets. A single default route represents </a:t>
            </a:r>
            <a:r>
              <a:rPr lang="en-US" sz="1600">
                <a:solidFill>
                  <a:srgbClr val="FF0000"/>
                </a:solidFill>
              </a:rPr>
              <a:t>any network </a:t>
            </a:r>
            <a:r>
              <a:rPr lang="en-US" sz="1600">
                <a:solidFill>
                  <a:srgbClr val="000000"/>
                </a:solidFill>
              </a:rPr>
              <a:t>that is not in the routing table.</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Routers commonly use default routes that are either configured locally or learned from another router. The default route is used as the </a:t>
            </a:r>
            <a:r>
              <a:rPr lang="en-US" sz="1600">
                <a:solidFill>
                  <a:srgbClr val="FF0000"/>
                </a:solidFill>
              </a:rPr>
              <a:t>Gateway of Last Resort.</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Default static routes are commonly used when connecting an </a:t>
            </a:r>
            <a:r>
              <a:rPr lang="en-US" sz="1600">
                <a:solidFill>
                  <a:srgbClr val="FF0000"/>
                </a:solidFill>
              </a:rPr>
              <a:t>edge router </a:t>
            </a:r>
            <a:r>
              <a:rPr lang="en-US" sz="1600">
                <a:solidFill>
                  <a:srgbClr val="000000"/>
                </a:solidFill>
              </a:rPr>
              <a:t>to a service provider network, or a stub router (a router with only one upstream neighbor router).</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The figure shows a typical default static route scenario.</a:t>
            </a:r>
            <a:endParaRPr/>
          </a:p>
          <a:p>
            <a:pPr marL="342900" lvl="0" indent="-254000" algn="l" rtl="0">
              <a:lnSpc>
                <a:spcPct val="100000"/>
              </a:lnSpc>
              <a:spcBef>
                <a:spcPts val="280"/>
              </a:spcBef>
              <a:spcAft>
                <a:spcPts val="0"/>
              </a:spcAft>
              <a:buSzPts val="1400"/>
              <a:buFont typeface="Arial"/>
              <a:buNone/>
            </a:pPr>
            <a:endParaRPr sz="1400">
              <a:solidFill>
                <a:srgbClr val="000000"/>
              </a:solidFill>
            </a:endParaRPr>
          </a:p>
        </p:txBody>
      </p:sp>
      <p:pic>
        <p:nvPicPr>
          <p:cNvPr id="398" name="Google Shape;398;p22"/>
          <p:cNvPicPr preferRelativeResize="0"/>
          <p:nvPr/>
        </p:nvPicPr>
        <p:blipFill rotWithShape="1">
          <a:blip r:embed="rId3">
            <a:alphaModFix/>
          </a:blip>
          <a:srcRect/>
          <a:stretch/>
        </p:blipFill>
        <p:spPr>
          <a:xfrm>
            <a:off x="4348264" y="184826"/>
            <a:ext cx="4622000" cy="456227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23"/>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IP Default Static Routes</a:t>
            </a:r>
            <a:br>
              <a:rPr lang="en-US"/>
            </a:br>
            <a:r>
              <a:rPr lang="en-US" sz="2400"/>
              <a:t>Default Static Route (Cont.)</a:t>
            </a:r>
            <a:endParaRPr/>
          </a:p>
        </p:txBody>
      </p:sp>
      <p:sp>
        <p:nvSpPr>
          <p:cNvPr id="405" name="Google Shape;405;p23"/>
          <p:cNvSpPr txBox="1">
            <a:spLocks noGrp="1"/>
          </p:cNvSpPr>
          <p:nvPr>
            <p:ph type="body" idx="1"/>
          </p:nvPr>
        </p:nvSpPr>
        <p:spPr>
          <a:xfrm>
            <a:off x="73152" y="731837"/>
            <a:ext cx="9006840"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b="1" dirty="0">
                <a:solidFill>
                  <a:srgbClr val="FF0000"/>
                </a:solidFill>
              </a:rPr>
              <a:t>IPv4 Default Static Route</a:t>
            </a:r>
            <a:r>
              <a:rPr lang="en-US" sz="1600" b="1" dirty="0">
                <a:solidFill>
                  <a:srgbClr val="000000"/>
                </a:solidFill>
              </a:rPr>
              <a:t>: </a:t>
            </a:r>
            <a:r>
              <a:rPr lang="en-US" sz="1600" dirty="0">
                <a:solidFill>
                  <a:srgbClr val="000000"/>
                </a:solidFill>
              </a:rPr>
              <a:t>The command syntax for an IPv4 default static route is similar to any other IPv4 static route, except that the </a:t>
            </a:r>
            <a:r>
              <a:rPr lang="en-US" sz="1600" dirty="0">
                <a:solidFill>
                  <a:srgbClr val="FF0000"/>
                </a:solidFill>
              </a:rPr>
              <a:t>network address is </a:t>
            </a:r>
            <a:r>
              <a:rPr lang="en-US" sz="1600" b="1" dirty="0">
                <a:solidFill>
                  <a:srgbClr val="FF0000"/>
                </a:solidFill>
              </a:rPr>
              <a:t>0.0.0.0</a:t>
            </a:r>
            <a:r>
              <a:rPr lang="en-US" sz="1600" dirty="0">
                <a:solidFill>
                  <a:srgbClr val="FF0000"/>
                </a:solidFill>
              </a:rPr>
              <a:t> </a:t>
            </a:r>
            <a:r>
              <a:rPr lang="en-US" sz="1600" dirty="0">
                <a:solidFill>
                  <a:srgbClr val="000000"/>
                </a:solidFill>
              </a:rPr>
              <a:t>and the </a:t>
            </a:r>
            <a:r>
              <a:rPr lang="en-US" sz="1600" dirty="0">
                <a:solidFill>
                  <a:srgbClr val="FF0000"/>
                </a:solidFill>
              </a:rPr>
              <a:t>subnet mask is </a:t>
            </a:r>
            <a:r>
              <a:rPr lang="en-US" sz="1600" b="1" dirty="0">
                <a:solidFill>
                  <a:srgbClr val="FF0000"/>
                </a:solidFill>
              </a:rPr>
              <a:t>0.0.0.0</a:t>
            </a:r>
            <a:r>
              <a:rPr lang="en-US" sz="1600" dirty="0">
                <a:solidFill>
                  <a:srgbClr val="000000"/>
                </a:solidFill>
              </a:rPr>
              <a:t>. The 0.0.0.0 0.0.0.0 in the route will match any network address.</a:t>
            </a:r>
            <a:endParaRPr dirty="0"/>
          </a:p>
          <a:p>
            <a:pPr marL="0" lvl="0" indent="0" algn="l" rtl="0">
              <a:lnSpc>
                <a:spcPct val="100000"/>
              </a:lnSpc>
              <a:spcBef>
                <a:spcPts val="320"/>
              </a:spcBef>
              <a:spcAft>
                <a:spcPts val="0"/>
              </a:spcAft>
              <a:buSzPts val="1600"/>
              <a:buNone/>
            </a:pPr>
            <a:endParaRPr sz="1600" dirty="0">
              <a:solidFill>
                <a:srgbClr val="000000"/>
              </a:solidFill>
            </a:endParaRPr>
          </a:p>
          <a:p>
            <a:pPr marL="0" lvl="0" indent="0" algn="l" rtl="0">
              <a:lnSpc>
                <a:spcPct val="100000"/>
              </a:lnSpc>
              <a:spcBef>
                <a:spcPts val="320"/>
              </a:spcBef>
              <a:spcAft>
                <a:spcPts val="0"/>
              </a:spcAft>
              <a:buSzPts val="1600"/>
              <a:buNone/>
            </a:pPr>
            <a:r>
              <a:rPr lang="en-US" sz="1600" b="1" dirty="0">
                <a:solidFill>
                  <a:srgbClr val="000000"/>
                </a:solidFill>
              </a:rPr>
              <a:t>Note</a:t>
            </a:r>
            <a:r>
              <a:rPr lang="en-US" sz="1600" dirty="0">
                <a:solidFill>
                  <a:srgbClr val="000000"/>
                </a:solidFill>
              </a:rPr>
              <a:t>: An IPv4 default static route is commonly referred to as a quad-zero route.</a:t>
            </a:r>
            <a:endParaRPr dirty="0"/>
          </a:p>
          <a:p>
            <a:pPr marL="0" lvl="0" indent="0" algn="l" rtl="0">
              <a:lnSpc>
                <a:spcPct val="100000"/>
              </a:lnSpc>
              <a:spcBef>
                <a:spcPts val="320"/>
              </a:spcBef>
              <a:spcAft>
                <a:spcPts val="0"/>
              </a:spcAft>
              <a:buSzPts val="1600"/>
              <a:buNone/>
            </a:pPr>
            <a:endParaRPr sz="1600" dirty="0">
              <a:solidFill>
                <a:srgbClr val="000000"/>
              </a:solidFill>
            </a:endParaRPr>
          </a:p>
          <a:p>
            <a:pPr marL="0" lvl="0" indent="0" algn="l" rtl="0">
              <a:lnSpc>
                <a:spcPct val="100000"/>
              </a:lnSpc>
              <a:spcBef>
                <a:spcPts val="320"/>
              </a:spcBef>
              <a:spcAft>
                <a:spcPts val="0"/>
              </a:spcAft>
              <a:buSzPts val="1600"/>
              <a:buNone/>
            </a:pPr>
            <a:r>
              <a:rPr lang="en-US" sz="1600" dirty="0">
                <a:solidFill>
                  <a:srgbClr val="000000"/>
                </a:solidFill>
              </a:rPr>
              <a:t>The basic command syntax for an IPv4 default static route is as follows:</a:t>
            </a:r>
            <a:endParaRPr dirty="0"/>
          </a:p>
          <a:p>
            <a:pPr marL="0" lvl="0" indent="0" algn="l" rtl="0">
              <a:lnSpc>
                <a:spcPct val="100000"/>
              </a:lnSpc>
              <a:spcBef>
                <a:spcPts val="320"/>
              </a:spcBef>
              <a:spcAft>
                <a:spcPts val="0"/>
              </a:spcAft>
              <a:buSzPts val="1600"/>
              <a:buNone/>
            </a:pPr>
            <a:r>
              <a:rPr lang="en-US" sz="1600" dirty="0">
                <a:solidFill>
                  <a:srgbClr val="000000"/>
                </a:solidFill>
                <a:latin typeface="Courier New"/>
                <a:ea typeface="Courier New"/>
                <a:cs typeface="Courier New"/>
                <a:sym typeface="Courier New"/>
              </a:rPr>
              <a:t>Router(config)# </a:t>
            </a:r>
            <a:r>
              <a:rPr lang="en-US" sz="1600" b="1" dirty="0" err="1">
                <a:solidFill>
                  <a:srgbClr val="FF0000"/>
                </a:solidFill>
                <a:latin typeface="Courier New"/>
                <a:ea typeface="Courier New"/>
                <a:cs typeface="Courier New"/>
                <a:sym typeface="Courier New"/>
              </a:rPr>
              <a:t>ip</a:t>
            </a:r>
            <a:r>
              <a:rPr lang="en-US" sz="1600" b="1" dirty="0">
                <a:solidFill>
                  <a:srgbClr val="FF0000"/>
                </a:solidFill>
                <a:latin typeface="Courier New"/>
                <a:ea typeface="Courier New"/>
                <a:cs typeface="Courier New"/>
                <a:sym typeface="Courier New"/>
              </a:rPr>
              <a:t> route 0.0.0.0 0.0.0.0 {</a:t>
            </a:r>
            <a:r>
              <a:rPr lang="en-US" sz="1600" b="1" dirty="0" err="1">
                <a:solidFill>
                  <a:srgbClr val="FF0000"/>
                </a:solidFill>
                <a:latin typeface="Courier New"/>
                <a:ea typeface="Courier New"/>
                <a:cs typeface="Courier New"/>
                <a:sym typeface="Courier New"/>
              </a:rPr>
              <a:t>ip</a:t>
            </a:r>
            <a:r>
              <a:rPr lang="en-US" sz="1600" b="1" dirty="0">
                <a:solidFill>
                  <a:srgbClr val="FF0000"/>
                </a:solidFill>
                <a:latin typeface="Courier New"/>
                <a:ea typeface="Courier New"/>
                <a:cs typeface="Courier New"/>
                <a:sym typeface="Courier New"/>
              </a:rPr>
              <a:t>-address | exit-</a:t>
            </a:r>
            <a:r>
              <a:rPr lang="en-US" sz="1600" b="1" dirty="0" err="1">
                <a:solidFill>
                  <a:srgbClr val="FF0000"/>
                </a:solidFill>
                <a:latin typeface="Courier New"/>
                <a:ea typeface="Courier New"/>
                <a:cs typeface="Courier New"/>
                <a:sym typeface="Courier New"/>
              </a:rPr>
              <a:t>intf</a:t>
            </a:r>
            <a:r>
              <a:rPr lang="en-US" sz="1600" b="1" dirty="0">
                <a:solidFill>
                  <a:srgbClr val="FF0000"/>
                </a:solidFill>
                <a:latin typeface="Courier New"/>
                <a:ea typeface="Courier New"/>
                <a:cs typeface="Courier New"/>
                <a:sym typeface="Courier New"/>
              </a:rPr>
              <a:t>}</a:t>
            </a:r>
            <a:endParaRPr dirty="0"/>
          </a:p>
          <a:p>
            <a:pPr marL="0" lvl="0" indent="0" algn="l" rtl="0">
              <a:lnSpc>
                <a:spcPct val="100000"/>
              </a:lnSpc>
              <a:spcBef>
                <a:spcPts val="320"/>
              </a:spcBef>
              <a:spcAft>
                <a:spcPts val="0"/>
              </a:spcAft>
              <a:buSzPts val="1600"/>
              <a:buNone/>
            </a:pPr>
            <a:endParaRPr sz="1600" b="1" dirty="0">
              <a:solidFill>
                <a:srgbClr val="000000"/>
              </a:solidFill>
            </a:endParaRPr>
          </a:p>
          <a:p>
            <a:pPr marL="0" lvl="0" indent="0" algn="l" rtl="0">
              <a:lnSpc>
                <a:spcPct val="100000"/>
              </a:lnSpc>
              <a:spcBef>
                <a:spcPts val="320"/>
              </a:spcBef>
              <a:spcAft>
                <a:spcPts val="0"/>
              </a:spcAft>
              <a:buSzPts val="1600"/>
              <a:buNone/>
            </a:pPr>
            <a:r>
              <a:rPr lang="en-US" sz="1600" b="1" dirty="0">
                <a:solidFill>
                  <a:srgbClr val="FF0000"/>
                </a:solidFill>
              </a:rPr>
              <a:t>IPv6 Default Static Route</a:t>
            </a:r>
            <a:r>
              <a:rPr lang="en-US" sz="1600" b="1" dirty="0">
                <a:solidFill>
                  <a:srgbClr val="000000"/>
                </a:solidFill>
              </a:rPr>
              <a:t>: </a:t>
            </a:r>
            <a:r>
              <a:rPr lang="en-US" sz="1600" dirty="0">
                <a:solidFill>
                  <a:srgbClr val="000000"/>
                </a:solidFill>
              </a:rPr>
              <a:t>The command syntax for an IPv6 default static route is similar to any other IPv6 static route, except that the ipv6-prefix/prefix-length is </a:t>
            </a:r>
            <a:r>
              <a:rPr lang="en-US" sz="1600" b="1" dirty="0">
                <a:solidFill>
                  <a:srgbClr val="000000"/>
                </a:solidFill>
              </a:rPr>
              <a:t>::/0</a:t>
            </a:r>
            <a:r>
              <a:rPr lang="en-US" sz="1600" dirty="0">
                <a:solidFill>
                  <a:srgbClr val="000000"/>
                </a:solidFill>
              </a:rPr>
              <a:t>, which matches all routes.</a:t>
            </a:r>
            <a:endParaRPr dirty="0"/>
          </a:p>
          <a:p>
            <a:pPr marL="0" lvl="0" indent="0" algn="l" rtl="0">
              <a:lnSpc>
                <a:spcPct val="100000"/>
              </a:lnSpc>
              <a:spcBef>
                <a:spcPts val="320"/>
              </a:spcBef>
              <a:spcAft>
                <a:spcPts val="0"/>
              </a:spcAft>
              <a:buSzPts val="1600"/>
              <a:buNone/>
            </a:pPr>
            <a:endParaRPr sz="1600" dirty="0">
              <a:solidFill>
                <a:srgbClr val="000000"/>
              </a:solidFill>
            </a:endParaRPr>
          </a:p>
          <a:p>
            <a:pPr marL="0" lvl="0" indent="0" algn="l" rtl="0">
              <a:lnSpc>
                <a:spcPct val="100000"/>
              </a:lnSpc>
              <a:spcBef>
                <a:spcPts val="320"/>
              </a:spcBef>
              <a:spcAft>
                <a:spcPts val="0"/>
              </a:spcAft>
              <a:buSzPts val="1600"/>
              <a:buNone/>
            </a:pPr>
            <a:r>
              <a:rPr lang="en-US" sz="1600" dirty="0">
                <a:solidFill>
                  <a:srgbClr val="000000"/>
                </a:solidFill>
              </a:rPr>
              <a:t>The basic command syntax for an IPv6 default static route is as follows:</a:t>
            </a:r>
            <a:endParaRPr dirty="0"/>
          </a:p>
          <a:p>
            <a:pPr marL="0" lvl="0" indent="0" algn="l" rtl="0">
              <a:lnSpc>
                <a:spcPct val="100000"/>
              </a:lnSpc>
              <a:spcBef>
                <a:spcPts val="320"/>
              </a:spcBef>
              <a:spcAft>
                <a:spcPts val="0"/>
              </a:spcAft>
              <a:buSzPts val="1600"/>
              <a:buNone/>
            </a:pPr>
            <a:r>
              <a:rPr lang="en-US" sz="1600" dirty="0">
                <a:solidFill>
                  <a:srgbClr val="000000"/>
                </a:solidFill>
                <a:latin typeface="Courier New"/>
                <a:ea typeface="Courier New"/>
                <a:cs typeface="Courier New"/>
                <a:sym typeface="Courier New"/>
              </a:rPr>
              <a:t>Router(config)# </a:t>
            </a:r>
            <a:r>
              <a:rPr lang="en-US" sz="1600" b="1" dirty="0">
                <a:solidFill>
                  <a:srgbClr val="FF0000"/>
                </a:solidFill>
                <a:latin typeface="Courier New"/>
                <a:ea typeface="Courier New"/>
                <a:cs typeface="Courier New"/>
                <a:sym typeface="Courier New"/>
              </a:rPr>
              <a:t>ipv6 route ::/0 {ipv6-address | exit-</a:t>
            </a:r>
            <a:r>
              <a:rPr lang="en-US" sz="1600" b="1" dirty="0" err="1">
                <a:solidFill>
                  <a:srgbClr val="FF0000"/>
                </a:solidFill>
                <a:latin typeface="Courier New"/>
                <a:ea typeface="Courier New"/>
                <a:cs typeface="Courier New"/>
                <a:sym typeface="Courier New"/>
              </a:rPr>
              <a:t>intf</a:t>
            </a:r>
            <a:r>
              <a:rPr lang="en-US" sz="1600" b="1" dirty="0">
                <a:solidFill>
                  <a:srgbClr val="FF0000"/>
                </a:solidFill>
                <a:latin typeface="Courier New"/>
                <a:ea typeface="Courier New"/>
                <a:cs typeface="Courier New"/>
                <a:sym typeface="Courier New"/>
              </a:rPr>
              <a:t>}</a:t>
            </a:r>
            <a:endParaRPr dirty="0"/>
          </a:p>
          <a:p>
            <a:pPr marL="0" lvl="0" indent="0" algn="l" rtl="0">
              <a:lnSpc>
                <a:spcPct val="100000"/>
              </a:lnSpc>
              <a:spcBef>
                <a:spcPts val="320"/>
              </a:spcBef>
              <a:spcAft>
                <a:spcPts val="0"/>
              </a:spcAft>
              <a:buSzPts val="1600"/>
              <a:buNone/>
            </a:pPr>
            <a:endParaRPr sz="1600" dirty="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24"/>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IP Default Static Routes</a:t>
            </a:r>
            <a:br>
              <a:rPr lang="en-US"/>
            </a:br>
            <a:r>
              <a:rPr lang="en-US" sz="2400"/>
              <a:t>Configure a Default Static Route</a:t>
            </a:r>
            <a:endParaRPr/>
          </a:p>
        </p:txBody>
      </p:sp>
      <p:sp>
        <p:nvSpPr>
          <p:cNvPr id="412" name="Google Shape;412;p24"/>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The example shows an IPv4 default static route configured on R1. With the configuration shown in the example, any packets not matching more specific route entries are forwarded to R2 at 172.16.2.2.</a:t>
            </a:r>
            <a:endParaRPr/>
          </a:p>
          <a:p>
            <a:pPr marL="0" lvl="0" indent="0" algn="l" rtl="0">
              <a:lnSpc>
                <a:spcPct val="100000"/>
              </a:lnSpc>
              <a:spcBef>
                <a:spcPts val="320"/>
              </a:spcBef>
              <a:spcAft>
                <a:spcPts val="0"/>
              </a:spcAft>
              <a:buSzPts val="1600"/>
              <a:buNone/>
            </a:pPr>
            <a:endParaRPr sz="1600">
              <a:solidFill>
                <a:srgbClr val="000000"/>
              </a:solidFill>
            </a:endParaRPr>
          </a:p>
          <a:p>
            <a:pPr marL="0" lvl="0" indent="0" algn="l" rtl="0">
              <a:lnSpc>
                <a:spcPct val="100000"/>
              </a:lnSpc>
              <a:spcBef>
                <a:spcPts val="320"/>
              </a:spcBef>
              <a:spcAft>
                <a:spcPts val="0"/>
              </a:spcAft>
              <a:buSzPts val="1600"/>
              <a:buNone/>
            </a:pPr>
            <a:r>
              <a:rPr lang="en-US" sz="1600">
                <a:solidFill>
                  <a:srgbClr val="000000"/>
                </a:solidFill>
                <a:latin typeface="Courier New"/>
                <a:ea typeface="Courier New"/>
                <a:cs typeface="Courier New"/>
                <a:sym typeface="Courier New"/>
              </a:rPr>
              <a:t>R1(config)# </a:t>
            </a:r>
            <a:r>
              <a:rPr lang="en-US" sz="1600" b="1">
                <a:solidFill>
                  <a:srgbClr val="FF0000"/>
                </a:solidFill>
                <a:latin typeface="Courier New"/>
                <a:ea typeface="Courier New"/>
                <a:cs typeface="Courier New"/>
                <a:sym typeface="Courier New"/>
              </a:rPr>
              <a:t>ip route 0.0.0.0 0.0.0.0 172.16.2.2</a:t>
            </a:r>
            <a:endParaRPr/>
          </a:p>
          <a:p>
            <a:pPr marL="0" lvl="0" indent="0" algn="l" rtl="0">
              <a:lnSpc>
                <a:spcPct val="100000"/>
              </a:lnSpc>
              <a:spcBef>
                <a:spcPts val="320"/>
              </a:spcBef>
              <a:spcAft>
                <a:spcPts val="0"/>
              </a:spcAft>
              <a:buSzPts val="1600"/>
              <a:buNone/>
            </a:pPr>
            <a:endParaRPr sz="1600">
              <a:solidFill>
                <a:srgbClr val="000000"/>
              </a:solidFill>
            </a:endParaRPr>
          </a:p>
          <a:p>
            <a:pPr marL="0" lvl="0" indent="0" algn="l" rtl="0">
              <a:lnSpc>
                <a:spcPct val="100000"/>
              </a:lnSpc>
              <a:spcBef>
                <a:spcPts val="320"/>
              </a:spcBef>
              <a:spcAft>
                <a:spcPts val="0"/>
              </a:spcAft>
              <a:buSzPts val="1600"/>
              <a:buNone/>
            </a:pPr>
            <a:r>
              <a:rPr lang="en-US" sz="1600">
                <a:solidFill>
                  <a:srgbClr val="000000"/>
                </a:solidFill>
              </a:rPr>
              <a:t>An IPv6 default static route is configured in similar fashion. With this configuration any packets not matching more specific IPv6 route entries are forwarded to R2 at 2001:db8:acad:2::2</a:t>
            </a:r>
            <a:endParaRPr/>
          </a:p>
          <a:p>
            <a:pPr marL="0" lvl="0" indent="0" algn="l" rtl="0">
              <a:lnSpc>
                <a:spcPct val="100000"/>
              </a:lnSpc>
              <a:spcBef>
                <a:spcPts val="320"/>
              </a:spcBef>
              <a:spcAft>
                <a:spcPts val="0"/>
              </a:spcAft>
              <a:buSzPts val="1600"/>
              <a:buNone/>
            </a:pPr>
            <a:endParaRPr sz="1600">
              <a:solidFill>
                <a:srgbClr val="000000"/>
              </a:solidFill>
            </a:endParaRPr>
          </a:p>
          <a:p>
            <a:pPr marL="0" lvl="0" indent="0" algn="l" rtl="0">
              <a:lnSpc>
                <a:spcPct val="100000"/>
              </a:lnSpc>
              <a:spcBef>
                <a:spcPts val="320"/>
              </a:spcBef>
              <a:spcAft>
                <a:spcPts val="0"/>
              </a:spcAft>
              <a:buSzPts val="1600"/>
              <a:buNone/>
            </a:pPr>
            <a:r>
              <a:rPr lang="en-US" sz="1600">
                <a:solidFill>
                  <a:srgbClr val="000000"/>
                </a:solidFill>
                <a:latin typeface="Courier New"/>
                <a:ea typeface="Courier New"/>
                <a:cs typeface="Courier New"/>
                <a:sym typeface="Courier New"/>
              </a:rPr>
              <a:t>R1(config)# </a:t>
            </a:r>
            <a:r>
              <a:rPr lang="en-US" sz="1600" b="1">
                <a:solidFill>
                  <a:srgbClr val="FF0000"/>
                </a:solidFill>
                <a:latin typeface="Courier New"/>
                <a:ea typeface="Courier New"/>
                <a:cs typeface="Courier New"/>
                <a:sym typeface="Courier New"/>
              </a:rPr>
              <a:t>ipv6 route ::/0 2001:db8:acad:2::2</a:t>
            </a:r>
            <a:endParaRPr/>
          </a:p>
          <a:p>
            <a:pPr marL="0" lvl="0" indent="0" algn="l" rtl="0">
              <a:lnSpc>
                <a:spcPct val="100000"/>
              </a:lnSpc>
              <a:spcBef>
                <a:spcPts val="320"/>
              </a:spcBef>
              <a:spcAft>
                <a:spcPts val="0"/>
              </a:spcAft>
              <a:buSzPts val="1600"/>
              <a:buNone/>
            </a:pPr>
            <a:endParaRPr sz="16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25"/>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IP Default Static Routes</a:t>
            </a:r>
            <a:br>
              <a:rPr lang="en-US"/>
            </a:br>
            <a:r>
              <a:rPr lang="en-US" sz="2400"/>
              <a:t>Verify a Default Static Route</a:t>
            </a:r>
            <a:endParaRPr/>
          </a:p>
        </p:txBody>
      </p:sp>
      <p:sp>
        <p:nvSpPr>
          <p:cNvPr id="419" name="Google Shape;419;p25"/>
          <p:cNvSpPr txBox="1">
            <a:spLocks noGrp="1"/>
          </p:cNvSpPr>
          <p:nvPr>
            <p:ph type="body" idx="1"/>
          </p:nvPr>
        </p:nvSpPr>
        <p:spPr>
          <a:xfrm>
            <a:off x="0" y="585533"/>
            <a:ext cx="9144000" cy="1901952"/>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400"/>
              <a:buNone/>
            </a:pPr>
            <a:r>
              <a:rPr lang="en-US" sz="1400">
                <a:solidFill>
                  <a:srgbClr val="000000"/>
                </a:solidFill>
              </a:rPr>
              <a:t>The </a:t>
            </a:r>
            <a:r>
              <a:rPr lang="en-US" sz="1400" b="1">
                <a:solidFill>
                  <a:srgbClr val="FF0000"/>
                </a:solidFill>
              </a:rPr>
              <a:t>show ip route static</a:t>
            </a:r>
            <a:r>
              <a:rPr lang="en-US" sz="1400">
                <a:solidFill>
                  <a:srgbClr val="000000"/>
                </a:solidFill>
              </a:rPr>
              <a:t> command output from R1 displays the contents of the static routes in the routing table. Note the asterisk (</a:t>
            </a:r>
            <a:r>
              <a:rPr lang="en-US" sz="1400">
                <a:solidFill>
                  <a:srgbClr val="FF0000"/>
                </a:solidFill>
              </a:rPr>
              <a:t>*</a:t>
            </a:r>
            <a:r>
              <a:rPr lang="en-US" sz="1400">
                <a:solidFill>
                  <a:srgbClr val="000000"/>
                </a:solidFill>
              </a:rPr>
              <a:t>) next to the route with code ‘</a:t>
            </a:r>
            <a:r>
              <a:rPr lang="en-US" sz="1400">
                <a:solidFill>
                  <a:srgbClr val="FF0000"/>
                </a:solidFill>
              </a:rPr>
              <a:t>S</a:t>
            </a:r>
            <a:r>
              <a:rPr lang="en-US" sz="1400">
                <a:solidFill>
                  <a:srgbClr val="000000"/>
                </a:solidFill>
              </a:rPr>
              <a:t>’. The asterisk indicates that this static route is a </a:t>
            </a:r>
            <a:r>
              <a:rPr lang="en-US" sz="1400">
                <a:solidFill>
                  <a:srgbClr val="FF0000"/>
                </a:solidFill>
              </a:rPr>
              <a:t>candidate default route</a:t>
            </a:r>
            <a:r>
              <a:rPr lang="en-US" sz="1400">
                <a:solidFill>
                  <a:srgbClr val="000000"/>
                </a:solidFill>
              </a:rPr>
              <a:t>, which is why it is selected as the </a:t>
            </a:r>
            <a:r>
              <a:rPr lang="en-US" sz="1400">
                <a:solidFill>
                  <a:srgbClr val="FF0000"/>
                </a:solidFill>
              </a:rPr>
              <a:t>Gateway of Last Resort</a:t>
            </a:r>
            <a:r>
              <a:rPr lang="en-US" sz="1400">
                <a:solidFill>
                  <a:srgbClr val="000000"/>
                </a:solidFill>
              </a:rPr>
              <a:t>.</a:t>
            </a:r>
            <a:endParaRPr/>
          </a:p>
          <a:p>
            <a:pPr marL="0" lvl="0" indent="0" algn="l" rtl="0">
              <a:lnSpc>
                <a:spcPct val="100000"/>
              </a:lnSpc>
              <a:spcBef>
                <a:spcPts val="280"/>
              </a:spcBef>
              <a:spcAft>
                <a:spcPts val="0"/>
              </a:spcAft>
              <a:buSzPts val="1400"/>
              <a:buNone/>
            </a:pPr>
            <a:endParaRPr sz="1400">
              <a:solidFill>
                <a:srgbClr val="000000"/>
              </a:solidFill>
            </a:endParaRPr>
          </a:p>
          <a:p>
            <a:pPr marL="0" lvl="0" indent="0" algn="l" rtl="0">
              <a:lnSpc>
                <a:spcPct val="100000"/>
              </a:lnSpc>
              <a:spcBef>
                <a:spcPts val="280"/>
              </a:spcBef>
              <a:spcAft>
                <a:spcPts val="0"/>
              </a:spcAft>
              <a:buSzPts val="1400"/>
              <a:buNone/>
            </a:pPr>
            <a:r>
              <a:rPr lang="en-US" sz="1400">
                <a:solidFill>
                  <a:srgbClr val="000000"/>
                </a:solidFill>
              </a:rPr>
              <a:t>Notice that the static default route configuration uses the </a:t>
            </a:r>
            <a:r>
              <a:rPr lang="en-US" sz="1400">
                <a:solidFill>
                  <a:srgbClr val="FF0000"/>
                </a:solidFill>
              </a:rPr>
              <a:t>/0 mask </a:t>
            </a:r>
            <a:r>
              <a:rPr lang="en-US" sz="1400">
                <a:solidFill>
                  <a:srgbClr val="000000"/>
                </a:solidFill>
              </a:rPr>
              <a:t>for IPv4 default routes. Remember that the IPv4 subnet mask in a routing table determines how many bits must match between the destination IP address of the packet and the route in the routing table. </a:t>
            </a:r>
            <a:r>
              <a:rPr lang="en-US" sz="1400">
                <a:solidFill>
                  <a:srgbClr val="FF0000"/>
                </a:solidFill>
              </a:rPr>
              <a:t>A /0 mask indicates that none of the bits are required to match</a:t>
            </a:r>
            <a:r>
              <a:rPr lang="en-US" sz="1400">
                <a:solidFill>
                  <a:srgbClr val="000000"/>
                </a:solidFill>
              </a:rPr>
              <a:t>. As long as a more specific match does not exist, the default static route matches all packets.</a:t>
            </a:r>
            <a:endParaRPr/>
          </a:p>
          <a:p>
            <a:pPr marL="285750" lvl="0" indent="-209550" algn="l" rtl="0">
              <a:lnSpc>
                <a:spcPct val="100000"/>
              </a:lnSpc>
              <a:spcBef>
                <a:spcPts val="240"/>
              </a:spcBef>
              <a:spcAft>
                <a:spcPts val="0"/>
              </a:spcAft>
              <a:buSzPts val="1200"/>
              <a:buFont typeface="Arial"/>
              <a:buNone/>
            </a:pPr>
            <a:endParaRPr sz="1200">
              <a:solidFill>
                <a:srgbClr val="000000"/>
              </a:solidFill>
            </a:endParaRPr>
          </a:p>
        </p:txBody>
      </p:sp>
      <p:pic>
        <p:nvPicPr>
          <p:cNvPr id="420" name="Google Shape;420;p25"/>
          <p:cNvPicPr preferRelativeResize="0"/>
          <p:nvPr/>
        </p:nvPicPr>
        <p:blipFill rotWithShape="1">
          <a:blip r:embed="rId3">
            <a:alphaModFix/>
          </a:blip>
          <a:srcRect/>
          <a:stretch/>
        </p:blipFill>
        <p:spPr>
          <a:xfrm>
            <a:off x="321012" y="2487485"/>
            <a:ext cx="8599251" cy="251253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26"/>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IP Default Static Routes</a:t>
            </a:r>
            <a:br>
              <a:rPr lang="en-US"/>
            </a:br>
            <a:r>
              <a:rPr lang="en-US" sz="2400"/>
              <a:t>Verify a Default Static Route (Cont.)</a:t>
            </a:r>
            <a:endParaRPr/>
          </a:p>
        </p:txBody>
      </p:sp>
      <p:sp>
        <p:nvSpPr>
          <p:cNvPr id="427" name="Google Shape;427;p26"/>
          <p:cNvSpPr txBox="1">
            <a:spLocks noGrp="1"/>
          </p:cNvSpPr>
          <p:nvPr>
            <p:ph type="body" idx="1"/>
          </p:nvPr>
        </p:nvSpPr>
        <p:spPr>
          <a:xfrm>
            <a:off x="91440" y="731837"/>
            <a:ext cx="8663279" cy="1839913"/>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500"/>
              <a:buNone/>
            </a:pPr>
            <a:r>
              <a:rPr lang="en-US" sz="1500">
                <a:solidFill>
                  <a:srgbClr val="000000"/>
                </a:solidFill>
              </a:rPr>
              <a:t>This example shows the </a:t>
            </a:r>
            <a:r>
              <a:rPr lang="en-US" sz="1500" b="1">
                <a:solidFill>
                  <a:srgbClr val="FF0000"/>
                </a:solidFill>
              </a:rPr>
              <a:t>show ipv6 route static</a:t>
            </a:r>
            <a:r>
              <a:rPr lang="en-US" sz="1500">
                <a:solidFill>
                  <a:srgbClr val="FF0000"/>
                </a:solidFill>
              </a:rPr>
              <a:t> </a:t>
            </a:r>
            <a:r>
              <a:rPr lang="en-US" sz="1500">
                <a:solidFill>
                  <a:srgbClr val="000000"/>
                </a:solidFill>
              </a:rPr>
              <a:t>command output to display the contents of the routing table.</a:t>
            </a:r>
            <a:endParaRPr/>
          </a:p>
          <a:p>
            <a:pPr marL="0" lvl="0" indent="0" algn="l" rtl="0">
              <a:lnSpc>
                <a:spcPct val="100000"/>
              </a:lnSpc>
              <a:spcBef>
                <a:spcPts val="300"/>
              </a:spcBef>
              <a:spcAft>
                <a:spcPts val="0"/>
              </a:spcAft>
              <a:buSzPts val="1500"/>
              <a:buNone/>
            </a:pPr>
            <a:endParaRPr sz="1500">
              <a:solidFill>
                <a:srgbClr val="000000"/>
              </a:solidFill>
            </a:endParaRPr>
          </a:p>
          <a:p>
            <a:pPr marL="0" lvl="0" indent="0" algn="l" rtl="0">
              <a:lnSpc>
                <a:spcPct val="100000"/>
              </a:lnSpc>
              <a:spcBef>
                <a:spcPts val="300"/>
              </a:spcBef>
              <a:spcAft>
                <a:spcPts val="0"/>
              </a:spcAft>
              <a:buSzPts val="1500"/>
              <a:buNone/>
            </a:pPr>
            <a:r>
              <a:rPr lang="en-US" sz="1500">
                <a:solidFill>
                  <a:srgbClr val="000000"/>
                </a:solidFill>
              </a:rPr>
              <a:t>Notice that the static default route configuration uses the </a:t>
            </a:r>
            <a:r>
              <a:rPr lang="en-US" sz="1500">
                <a:solidFill>
                  <a:srgbClr val="FF0000"/>
                </a:solidFill>
              </a:rPr>
              <a:t>::/0 </a:t>
            </a:r>
            <a:r>
              <a:rPr lang="en-US" sz="1500">
                <a:solidFill>
                  <a:srgbClr val="000000"/>
                </a:solidFill>
              </a:rPr>
              <a:t>prefix for IPv6 default routes. Remember that the IPv6 prefix-length in a routing table determines how many bits must match between the destination IP address of the packet and the route in the routing table. A ::/0 prefix indicates that none of the bits are required to match. As long as a more specific match does not exist, the default static route matches all packets.</a:t>
            </a:r>
            <a:endParaRPr/>
          </a:p>
        </p:txBody>
      </p:sp>
      <p:pic>
        <p:nvPicPr>
          <p:cNvPr id="428" name="Google Shape;428;p26"/>
          <p:cNvPicPr preferRelativeResize="0"/>
          <p:nvPr/>
        </p:nvPicPr>
        <p:blipFill rotWithShape="1">
          <a:blip r:embed="rId3">
            <a:alphaModFix/>
          </a:blip>
          <a:srcRect/>
          <a:stretch/>
        </p:blipFill>
        <p:spPr>
          <a:xfrm>
            <a:off x="165369" y="2800350"/>
            <a:ext cx="8764621" cy="215974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27"/>
          <p:cNvSpPr txBox="1">
            <a:spLocks noGrp="1"/>
          </p:cNvSpPr>
          <p:nvPr>
            <p:ph type="ctrTitle"/>
          </p:nvPr>
        </p:nvSpPr>
        <p:spPr>
          <a:xfrm>
            <a:off x="416425" y="1788160"/>
            <a:ext cx="7848344" cy="929640"/>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4600"/>
              <a:buFont typeface="Arial"/>
              <a:buNone/>
            </a:pPr>
            <a:r>
              <a:rPr lang="en-US">
                <a:solidFill>
                  <a:srgbClr val="AEE8FA"/>
                </a:solidFill>
              </a:rPr>
              <a:t>15.4 Configure Floating Static Routes</a:t>
            </a:r>
            <a:endParaRPr/>
          </a:p>
        </p:txBody>
      </p:sp>
    </p:spTree>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28"/>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Floating Static Routes</a:t>
            </a:r>
            <a:br>
              <a:rPr lang="en-US"/>
            </a:br>
            <a:r>
              <a:rPr lang="en-US" sz="2400"/>
              <a:t>Floating Static Routes</a:t>
            </a:r>
            <a:endParaRPr/>
          </a:p>
        </p:txBody>
      </p:sp>
      <p:sp>
        <p:nvSpPr>
          <p:cNvPr id="441" name="Google Shape;441;p28"/>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600"/>
              <a:buFont typeface="Arial"/>
              <a:buChar char="•"/>
            </a:pPr>
            <a:r>
              <a:rPr lang="en-US" sz="1600">
                <a:solidFill>
                  <a:srgbClr val="000000"/>
                </a:solidFill>
              </a:rPr>
              <a:t>Another type of static route is a </a:t>
            </a:r>
            <a:r>
              <a:rPr lang="en-US" sz="1600">
                <a:solidFill>
                  <a:srgbClr val="FF0000"/>
                </a:solidFill>
              </a:rPr>
              <a:t>floating static route</a:t>
            </a:r>
            <a:r>
              <a:rPr lang="en-US" sz="1600">
                <a:solidFill>
                  <a:srgbClr val="000000"/>
                </a:solidFill>
              </a:rPr>
              <a:t>. Floating static routes are static routes that are used to provide </a:t>
            </a:r>
            <a:r>
              <a:rPr lang="en-US" sz="1600">
                <a:solidFill>
                  <a:srgbClr val="FF0000"/>
                </a:solidFill>
              </a:rPr>
              <a:t>a backup path </a:t>
            </a:r>
            <a:r>
              <a:rPr lang="en-US" sz="1600">
                <a:solidFill>
                  <a:srgbClr val="000000"/>
                </a:solidFill>
              </a:rPr>
              <a:t>to a </a:t>
            </a:r>
            <a:r>
              <a:rPr lang="en-US" sz="1600">
                <a:solidFill>
                  <a:srgbClr val="FF0000"/>
                </a:solidFill>
              </a:rPr>
              <a:t>primary static or dynamic route</a:t>
            </a:r>
            <a:r>
              <a:rPr lang="en-US" sz="1600">
                <a:solidFill>
                  <a:srgbClr val="000000"/>
                </a:solidFill>
              </a:rPr>
              <a:t>. The floating static route is only used when the primary route is not available.</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To accomplish this, the floating static route is configured with a </a:t>
            </a:r>
            <a:r>
              <a:rPr lang="en-US" sz="1600">
                <a:solidFill>
                  <a:srgbClr val="FF0000"/>
                </a:solidFill>
              </a:rPr>
              <a:t>higher administrative distance</a:t>
            </a:r>
            <a:r>
              <a:rPr lang="en-US" sz="1600">
                <a:solidFill>
                  <a:srgbClr val="000000"/>
                </a:solidFill>
              </a:rPr>
              <a:t> than the </a:t>
            </a:r>
            <a:r>
              <a:rPr lang="en-US" sz="1600">
                <a:solidFill>
                  <a:srgbClr val="FF0000"/>
                </a:solidFill>
              </a:rPr>
              <a:t>primary route</a:t>
            </a:r>
            <a:r>
              <a:rPr lang="en-US" sz="1600">
                <a:solidFill>
                  <a:srgbClr val="000000"/>
                </a:solidFill>
              </a:rPr>
              <a:t>. The administrative distance represents the trustworthiness of a route. If </a:t>
            </a:r>
            <a:r>
              <a:rPr lang="en-US" sz="1600">
                <a:solidFill>
                  <a:srgbClr val="FF0000"/>
                </a:solidFill>
              </a:rPr>
              <a:t>multiple paths </a:t>
            </a:r>
            <a:r>
              <a:rPr lang="en-US" sz="1600">
                <a:solidFill>
                  <a:srgbClr val="000000"/>
                </a:solidFill>
              </a:rPr>
              <a:t>to the destination exist, the router will choose the path with the </a:t>
            </a:r>
            <a:r>
              <a:rPr lang="en-US" sz="1600">
                <a:solidFill>
                  <a:srgbClr val="FF0000"/>
                </a:solidFill>
              </a:rPr>
              <a:t>lowest administrative distance</a:t>
            </a:r>
            <a:r>
              <a:rPr lang="en-US" sz="1600">
                <a:solidFill>
                  <a:srgbClr val="000000"/>
                </a:solidFill>
              </a:rPr>
              <a:t>.</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By default, static routes have an administrative distance of </a:t>
            </a:r>
            <a:r>
              <a:rPr lang="en-US" sz="1600">
                <a:solidFill>
                  <a:srgbClr val="FF0000"/>
                </a:solidFill>
              </a:rPr>
              <a:t>1</a:t>
            </a:r>
            <a:r>
              <a:rPr lang="en-US" sz="1600">
                <a:solidFill>
                  <a:srgbClr val="000000"/>
                </a:solidFill>
              </a:rPr>
              <a:t>, making them preferable to routes learned from dynamic routing protocols. </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The administrative distance of a static route can be increased to make the route less desirable than that of another static route or a route learned through a dynamic routing protocol. In this way, the static route “</a:t>
            </a:r>
            <a:r>
              <a:rPr lang="en-US" sz="1600">
                <a:solidFill>
                  <a:srgbClr val="FF0000"/>
                </a:solidFill>
              </a:rPr>
              <a:t>floats</a:t>
            </a:r>
            <a:r>
              <a:rPr lang="en-US" sz="1600">
                <a:solidFill>
                  <a:srgbClr val="000000"/>
                </a:solidFill>
              </a:rPr>
              <a:t>” and </a:t>
            </a:r>
            <a:r>
              <a:rPr lang="en-US" sz="1600">
                <a:solidFill>
                  <a:srgbClr val="FF0000"/>
                </a:solidFill>
              </a:rPr>
              <a:t>is not used </a:t>
            </a:r>
            <a:r>
              <a:rPr lang="en-US" sz="1600">
                <a:solidFill>
                  <a:srgbClr val="000000"/>
                </a:solidFill>
              </a:rPr>
              <a:t>when the route with the better administrative distance is active. </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29"/>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Floating Static Routes</a:t>
            </a:r>
            <a:br>
              <a:rPr lang="en-US"/>
            </a:br>
            <a:r>
              <a:rPr lang="en-US" sz="2400"/>
              <a:t>Configure IPv4 and IPv6 Floating Static Routes</a:t>
            </a:r>
            <a:endParaRPr/>
          </a:p>
        </p:txBody>
      </p:sp>
      <p:sp>
        <p:nvSpPr>
          <p:cNvPr id="448" name="Google Shape;448;p29"/>
          <p:cNvSpPr txBox="1">
            <a:spLocks noGrp="1"/>
          </p:cNvSpPr>
          <p:nvPr>
            <p:ph type="body" idx="1"/>
          </p:nvPr>
        </p:nvSpPr>
        <p:spPr>
          <a:xfrm>
            <a:off x="474662" y="731837"/>
            <a:ext cx="8280057" cy="1839913"/>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400"/>
              <a:buNone/>
            </a:pPr>
            <a:r>
              <a:rPr lang="en-US" sz="1400">
                <a:solidFill>
                  <a:srgbClr val="000000"/>
                </a:solidFill>
              </a:rPr>
              <a:t>The commands to configure default and floating IP default routes are as follows:</a:t>
            </a:r>
            <a:endParaRPr/>
          </a:p>
          <a:p>
            <a:pPr marL="342900" lvl="0" indent="-254000" algn="l" rtl="0">
              <a:lnSpc>
                <a:spcPct val="100000"/>
              </a:lnSpc>
              <a:spcBef>
                <a:spcPts val="280"/>
              </a:spcBef>
              <a:spcAft>
                <a:spcPts val="0"/>
              </a:spcAft>
              <a:buSzPts val="1400"/>
              <a:buFont typeface="Arial"/>
              <a:buNone/>
            </a:pPr>
            <a:endParaRPr sz="1400">
              <a:solidFill>
                <a:srgbClr val="000000"/>
              </a:solidFill>
            </a:endParaRPr>
          </a:p>
          <a:p>
            <a:pPr marL="342900" lvl="0" indent="-254000" algn="l" rtl="0">
              <a:lnSpc>
                <a:spcPct val="100000"/>
              </a:lnSpc>
              <a:spcBef>
                <a:spcPts val="280"/>
              </a:spcBef>
              <a:spcAft>
                <a:spcPts val="0"/>
              </a:spcAft>
              <a:buSzPts val="1400"/>
              <a:buFont typeface="Arial"/>
              <a:buNone/>
            </a:pPr>
            <a:endParaRPr sz="1400">
              <a:solidFill>
                <a:srgbClr val="000000"/>
              </a:solidFill>
            </a:endParaRPr>
          </a:p>
          <a:p>
            <a:pPr marL="342900" lvl="0" indent="-254000" algn="l" rtl="0">
              <a:lnSpc>
                <a:spcPct val="100000"/>
              </a:lnSpc>
              <a:spcBef>
                <a:spcPts val="280"/>
              </a:spcBef>
              <a:spcAft>
                <a:spcPts val="0"/>
              </a:spcAft>
              <a:buSzPts val="1400"/>
              <a:buFont typeface="Arial"/>
              <a:buNone/>
            </a:pPr>
            <a:endParaRPr sz="1400">
              <a:solidFill>
                <a:srgbClr val="000000"/>
              </a:solidFill>
            </a:endParaRPr>
          </a:p>
          <a:p>
            <a:pPr marL="342900" lvl="0" indent="-254000" algn="l" rtl="0">
              <a:lnSpc>
                <a:spcPct val="100000"/>
              </a:lnSpc>
              <a:spcBef>
                <a:spcPts val="280"/>
              </a:spcBef>
              <a:spcAft>
                <a:spcPts val="0"/>
              </a:spcAft>
              <a:buSzPts val="1400"/>
              <a:buFont typeface="Arial"/>
              <a:buNone/>
            </a:pPr>
            <a:endParaRPr sz="1400">
              <a:solidFill>
                <a:srgbClr val="000000"/>
              </a:solidFill>
            </a:endParaRPr>
          </a:p>
          <a:p>
            <a:pPr marL="0" lvl="0" indent="0" algn="l" rtl="0">
              <a:lnSpc>
                <a:spcPct val="100000"/>
              </a:lnSpc>
              <a:spcBef>
                <a:spcPts val="280"/>
              </a:spcBef>
              <a:spcAft>
                <a:spcPts val="0"/>
              </a:spcAft>
              <a:buSzPts val="1400"/>
              <a:buNone/>
            </a:pPr>
            <a:r>
              <a:rPr lang="en-US" sz="1400">
                <a:solidFill>
                  <a:srgbClr val="000000"/>
                </a:solidFill>
              </a:rPr>
              <a:t>The </a:t>
            </a:r>
            <a:r>
              <a:rPr lang="en-US" sz="1400" b="1">
                <a:solidFill>
                  <a:srgbClr val="000000"/>
                </a:solidFill>
              </a:rPr>
              <a:t>show ip route</a:t>
            </a:r>
            <a:r>
              <a:rPr lang="en-US" sz="1400">
                <a:solidFill>
                  <a:srgbClr val="000000"/>
                </a:solidFill>
              </a:rPr>
              <a:t> and </a:t>
            </a:r>
            <a:r>
              <a:rPr lang="en-US" sz="1400" b="1">
                <a:solidFill>
                  <a:srgbClr val="000000"/>
                </a:solidFill>
              </a:rPr>
              <a:t>show ipv6 route</a:t>
            </a:r>
            <a:r>
              <a:rPr lang="en-US" sz="1400">
                <a:solidFill>
                  <a:srgbClr val="000000"/>
                </a:solidFill>
              </a:rPr>
              <a:t> output verifies that the default routes to R2 are installed in the routing table. Note that the IPv4 floating static route to R3 is not present in the routing table.</a:t>
            </a:r>
            <a:br>
              <a:rPr lang="en-US" sz="1400">
                <a:solidFill>
                  <a:srgbClr val="000000"/>
                </a:solidFill>
              </a:rPr>
            </a:br>
            <a:endParaRPr sz="1400">
              <a:solidFill>
                <a:srgbClr val="000000"/>
              </a:solidFill>
            </a:endParaRPr>
          </a:p>
          <a:p>
            <a:pPr marL="342900" lvl="0" indent="-254000" algn="l" rtl="0">
              <a:lnSpc>
                <a:spcPct val="100000"/>
              </a:lnSpc>
              <a:spcBef>
                <a:spcPts val="280"/>
              </a:spcBef>
              <a:spcAft>
                <a:spcPts val="0"/>
              </a:spcAft>
              <a:buSzPts val="1400"/>
              <a:buFont typeface="Arial"/>
              <a:buNone/>
            </a:pPr>
            <a:endParaRPr sz="1400">
              <a:solidFill>
                <a:srgbClr val="000000"/>
              </a:solidFill>
            </a:endParaRPr>
          </a:p>
        </p:txBody>
      </p:sp>
      <p:sp>
        <p:nvSpPr>
          <p:cNvPr id="449" name="Google Shape;449;p29"/>
          <p:cNvSpPr/>
          <p:nvPr/>
        </p:nvSpPr>
        <p:spPr>
          <a:xfrm>
            <a:off x="1478995" y="986620"/>
            <a:ext cx="5602288"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0000"/>
                </a:solidFill>
                <a:latin typeface="Courier New"/>
                <a:ea typeface="Courier New"/>
                <a:cs typeface="Courier New"/>
                <a:sym typeface="Courier New"/>
              </a:rPr>
              <a:t>R1(config)# </a:t>
            </a:r>
            <a:r>
              <a:rPr lang="en-US" sz="1400" b="1">
                <a:solidFill>
                  <a:srgbClr val="000000"/>
                </a:solidFill>
                <a:latin typeface="Courier New"/>
                <a:ea typeface="Courier New"/>
                <a:cs typeface="Courier New"/>
                <a:sym typeface="Courier New"/>
              </a:rPr>
              <a:t>ip route 0.0.0.0 0.0.0.0 172.16.2.2 </a:t>
            </a:r>
            <a:endParaRPr/>
          </a:p>
          <a:p>
            <a:pPr marL="0" marR="0" lvl="0" indent="0" algn="l" rtl="0">
              <a:spcBef>
                <a:spcPts val="0"/>
              </a:spcBef>
              <a:spcAft>
                <a:spcPts val="0"/>
              </a:spcAft>
              <a:buNone/>
            </a:pPr>
            <a:r>
              <a:rPr lang="en-US" sz="1400">
                <a:solidFill>
                  <a:srgbClr val="000000"/>
                </a:solidFill>
                <a:latin typeface="Courier New"/>
                <a:ea typeface="Courier New"/>
                <a:cs typeface="Courier New"/>
                <a:sym typeface="Courier New"/>
              </a:rPr>
              <a:t>R1(config)# </a:t>
            </a:r>
            <a:r>
              <a:rPr lang="en-US" sz="1400" b="1">
                <a:solidFill>
                  <a:srgbClr val="000000"/>
                </a:solidFill>
                <a:latin typeface="Courier New"/>
                <a:ea typeface="Courier New"/>
                <a:cs typeface="Courier New"/>
                <a:sym typeface="Courier New"/>
              </a:rPr>
              <a:t>ip route 0.0.0.0 0.0.0.0 10.10.10.2 </a:t>
            </a:r>
            <a:r>
              <a:rPr lang="en-US" sz="1400" b="1">
                <a:solidFill>
                  <a:srgbClr val="FF0000"/>
                </a:solidFill>
                <a:latin typeface="Courier New"/>
                <a:ea typeface="Courier New"/>
                <a:cs typeface="Courier New"/>
                <a:sym typeface="Courier New"/>
              </a:rPr>
              <a:t>5 </a:t>
            </a:r>
            <a:endParaRPr/>
          </a:p>
          <a:p>
            <a:pPr marL="0" marR="0" lvl="0" indent="0" algn="l" rtl="0">
              <a:spcBef>
                <a:spcPts val="0"/>
              </a:spcBef>
              <a:spcAft>
                <a:spcPts val="0"/>
              </a:spcAft>
              <a:buNone/>
            </a:pPr>
            <a:r>
              <a:rPr lang="en-US" sz="1400">
                <a:solidFill>
                  <a:srgbClr val="000000"/>
                </a:solidFill>
                <a:latin typeface="Courier New"/>
                <a:ea typeface="Courier New"/>
                <a:cs typeface="Courier New"/>
                <a:sym typeface="Courier New"/>
              </a:rPr>
              <a:t>R1(config)# </a:t>
            </a:r>
            <a:r>
              <a:rPr lang="en-US" sz="1400" b="1">
                <a:solidFill>
                  <a:srgbClr val="000000"/>
                </a:solidFill>
                <a:latin typeface="Courier New"/>
                <a:ea typeface="Courier New"/>
                <a:cs typeface="Courier New"/>
                <a:sym typeface="Courier New"/>
              </a:rPr>
              <a:t>ipv6 route ::/0 2001:db8:acad:2::2 </a:t>
            </a:r>
            <a:endParaRPr/>
          </a:p>
          <a:p>
            <a:pPr marL="0" marR="0" lvl="0" indent="0" algn="l" rtl="0">
              <a:spcBef>
                <a:spcPts val="0"/>
              </a:spcBef>
              <a:spcAft>
                <a:spcPts val="0"/>
              </a:spcAft>
              <a:buNone/>
            </a:pPr>
            <a:r>
              <a:rPr lang="en-US" sz="1400">
                <a:solidFill>
                  <a:srgbClr val="000000"/>
                </a:solidFill>
                <a:latin typeface="Courier New"/>
                <a:ea typeface="Courier New"/>
                <a:cs typeface="Courier New"/>
                <a:sym typeface="Courier New"/>
              </a:rPr>
              <a:t>R1(config)# </a:t>
            </a:r>
            <a:r>
              <a:rPr lang="en-US" sz="1400" b="1">
                <a:solidFill>
                  <a:srgbClr val="000000"/>
                </a:solidFill>
                <a:latin typeface="Courier New"/>
                <a:ea typeface="Courier New"/>
                <a:cs typeface="Courier New"/>
                <a:sym typeface="Courier New"/>
              </a:rPr>
              <a:t>ipv6 route ::/0 2001:db8:feed:10::2 </a:t>
            </a:r>
            <a:r>
              <a:rPr lang="en-US" sz="1400" b="1">
                <a:solidFill>
                  <a:srgbClr val="FF0000"/>
                </a:solidFill>
                <a:latin typeface="Courier New"/>
                <a:ea typeface="Courier New"/>
                <a:cs typeface="Courier New"/>
                <a:sym typeface="Courier New"/>
              </a:rPr>
              <a:t>5</a:t>
            </a:r>
            <a:endParaRPr/>
          </a:p>
        </p:txBody>
      </p:sp>
      <p:pic>
        <p:nvPicPr>
          <p:cNvPr id="450" name="Google Shape;450;p29"/>
          <p:cNvPicPr preferRelativeResize="0"/>
          <p:nvPr/>
        </p:nvPicPr>
        <p:blipFill rotWithShape="1">
          <a:blip r:embed="rId3">
            <a:alphaModFix/>
          </a:blip>
          <a:srcRect/>
          <a:stretch/>
        </p:blipFill>
        <p:spPr>
          <a:xfrm>
            <a:off x="437745" y="2673197"/>
            <a:ext cx="8171234" cy="1846004"/>
          </a:xfrm>
          <a:prstGeom prst="rect">
            <a:avLst/>
          </a:prstGeom>
          <a:noFill/>
          <a:ln>
            <a:noFill/>
          </a:ln>
        </p:spPr>
      </p:pic>
      <p:cxnSp>
        <p:nvCxnSpPr>
          <p:cNvPr id="451" name="Google Shape;451;p29"/>
          <p:cNvCxnSpPr/>
          <p:nvPr/>
        </p:nvCxnSpPr>
        <p:spPr>
          <a:xfrm flipH="1">
            <a:off x="6867729" y="690664"/>
            <a:ext cx="894943" cy="632298"/>
          </a:xfrm>
          <a:prstGeom prst="straightConnector1">
            <a:avLst/>
          </a:prstGeom>
          <a:noFill/>
          <a:ln w="9525" cap="flat" cmpd="sng">
            <a:solidFill>
              <a:srgbClr val="004B68"/>
            </a:solidFill>
            <a:prstDash val="solid"/>
            <a:round/>
            <a:headEnd type="none" w="sm" len="sm"/>
            <a:tailEnd type="stealth" w="med" len="med"/>
          </a:ln>
        </p:spPr>
      </p:cxnSp>
      <p:sp>
        <p:nvSpPr>
          <p:cNvPr id="452" name="Google Shape;452;p29"/>
          <p:cNvSpPr txBox="1"/>
          <p:nvPr/>
        </p:nvSpPr>
        <p:spPr>
          <a:xfrm>
            <a:off x="7636213" y="350195"/>
            <a:ext cx="50526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Arial"/>
                <a:ea typeface="Arial"/>
                <a:cs typeface="Arial"/>
                <a:sym typeface="Arial"/>
              </a:rPr>
              <a:t>AD</a:t>
            </a:r>
            <a:endParaRPr sz="1800">
              <a:solidFill>
                <a:srgbClr val="FF0000"/>
              </a:solidFill>
              <a:latin typeface="Arial"/>
              <a:ea typeface="Arial"/>
              <a:cs typeface="Arial"/>
              <a:sym typeface="Arial"/>
            </a:endParaRPr>
          </a:p>
        </p:txBody>
      </p:sp>
      <p:cxnSp>
        <p:nvCxnSpPr>
          <p:cNvPr id="453" name="Google Shape;453;p29"/>
          <p:cNvCxnSpPr/>
          <p:nvPr/>
        </p:nvCxnSpPr>
        <p:spPr>
          <a:xfrm flipH="1">
            <a:off x="6916366" y="710119"/>
            <a:ext cx="836579" cy="1060315"/>
          </a:xfrm>
          <a:prstGeom prst="straightConnector1">
            <a:avLst/>
          </a:prstGeom>
          <a:noFill/>
          <a:ln w="9525" cap="flat" cmpd="sng">
            <a:solidFill>
              <a:srgbClr val="004B68"/>
            </a:solidFill>
            <a:prstDash val="solid"/>
            <a:round/>
            <a:headEnd type="none" w="sm" len="sm"/>
            <a:tailEnd type="stealth" w="med" len="med"/>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30"/>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Floating Static Routes</a:t>
            </a:r>
            <a:br>
              <a:rPr lang="en-US"/>
            </a:br>
            <a:r>
              <a:rPr lang="en-US" sz="2400"/>
              <a:t>Test the Floating Static Routes</a:t>
            </a:r>
            <a:endParaRPr/>
          </a:p>
        </p:txBody>
      </p:sp>
      <p:sp>
        <p:nvSpPr>
          <p:cNvPr id="460" name="Google Shape;460;p30"/>
          <p:cNvSpPr txBox="1"/>
          <p:nvPr/>
        </p:nvSpPr>
        <p:spPr>
          <a:xfrm>
            <a:off x="323757" y="845862"/>
            <a:ext cx="4079215" cy="1815882"/>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What would happen if R2 failed? To simulate this, R2 </a:t>
            </a:r>
            <a:r>
              <a:rPr lang="en-US" sz="1600">
                <a:solidFill>
                  <a:srgbClr val="FF0000"/>
                </a:solidFill>
                <a:latin typeface="Arial"/>
                <a:ea typeface="Arial"/>
                <a:cs typeface="Arial"/>
                <a:sym typeface="Arial"/>
              </a:rPr>
              <a:t>shuts down </a:t>
            </a:r>
            <a:r>
              <a:rPr lang="en-US" sz="1600">
                <a:solidFill>
                  <a:schemeClr val="dk1"/>
                </a:solidFill>
                <a:latin typeface="Arial"/>
                <a:ea typeface="Arial"/>
                <a:cs typeface="Arial"/>
                <a:sym typeface="Arial"/>
              </a:rPr>
              <a:t>both of its </a:t>
            </a:r>
            <a:r>
              <a:rPr lang="en-US" sz="1600">
                <a:solidFill>
                  <a:srgbClr val="FF0000"/>
                </a:solidFill>
                <a:latin typeface="Arial"/>
                <a:ea typeface="Arial"/>
                <a:cs typeface="Arial"/>
                <a:sym typeface="Arial"/>
              </a:rPr>
              <a:t>serial interfaces</a:t>
            </a:r>
            <a:r>
              <a:rPr lang="en-US" sz="1600">
                <a:solidFill>
                  <a:schemeClr val="dk1"/>
                </a:solidFill>
                <a:latin typeface="Arial"/>
                <a:ea typeface="Arial"/>
                <a:cs typeface="Arial"/>
                <a:sym typeface="Arial"/>
              </a:rPr>
              <a:t>.</a:t>
            </a:r>
            <a:endParaRPr/>
          </a:p>
          <a:p>
            <a:pPr marL="285750" marR="0" lvl="0" indent="-285750" algn="l" rtl="0">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R1 automatically generates syslog messages for the link going down.</a:t>
            </a:r>
            <a:endParaRPr/>
          </a:p>
          <a:p>
            <a:pPr marL="285750" marR="0" lvl="0" indent="-285750" algn="l" rtl="0">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A look at R1’s routing table would show </a:t>
            </a:r>
            <a:r>
              <a:rPr lang="en-US" sz="1600">
                <a:solidFill>
                  <a:srgbClr val="FF0000"/>
                </a:solidFill>
                <a:latin typeface="Arial"/>
                <a:ea typeface="Arial"/>
                <a:cs typeface="Arial"/>
                <a:sym typeface="Arial"/>
              </a:rPr>
              <a:t>the secondary route </a:t>
            </a:r>
            <a:r>
              <a:rPr lang="en-US" sz="1600">
                <a:solidFill>
                  <a:schemeClr val="dk1"/>
                </a:solidFill>
                <a:latin typeface="Arial"/>
                <a:ea typeface="Arial"/>
                <a:cs typeface="Arial"/>
                <a:sym typeface="Arial"/>
              </a:rPr>
              <a:t>being used.</a:t>
            </a:r>
            <a:endParaRPr/>
          </a:p>
        </p:txBody>
      </p:sp>
      <p:pic>
        <p:nvPicPr>
          <p:cNvPr id="461" name="Google Shape;461;p30"/>
          <p:cNvPicPr preferRelativeResize="0">
            <a:picLocks noGrp="1"/>
          </p:cNvPicPr>
          <p:nvPr>
            <p:ph type="body" idx="1"/>
          </p:nvPr>
        </p:nvPicPr>
        <p:blipFill rotWithShape="1">
          <a:blip r:embed="rId3">
            <a:alphaModFix/>
          </a:blip>
          <a:srcRect/>
          <a:stretch/>
        </p:blipFill>
        <p:spPr>
          <a:xfrm>
            <a:off x="4572000" y="396032"/>
            <a:ext cx="4158073" cy="2379737"/>
          </a:xfrm>
          <a:prstGeom prst="rect">
            <a:avLst/>
          </a:prstGeom>
          <a:noFill/>
          <a:ln>
            <a:noFill/>
          </a:ln>
        </p:spPr>
      </p:pic>
      <p:pic>
        <p:nvPicPr>
          <p:cNvPr id="462" name="Google Shape;462;p30"/>
          <p:cNvPicPr preferRelativeResize="0"/>
          <p:nvPr/>
        </p:nvPicPr>
        <p:blipFill rotWithShape="1">
          <a:blip r:embed="rId4">
            <a:alphaModFix/>
          </a:blip>
          <a:srcRect/>
          <a:stretch/>
        </p:blipFill>
        <p:spPr>
          <a:xfrm>
            <a:off x="875489" y="2980029"/>
            <a:ext cx="7247107" cy="1683473"/>
          </a:xfrm>
          <a:prstGeom prst="rect">
            <a:avLst/>
          </a:prstGeom>
          <a:noFill/>
          <a:ln>
            <a:noFill/>
          </a:ln>
        </p:spPr>
      </p:pic>
      <p:sp>
        <p:nvSpPr>
          <p:cNvPr id="463" name="Google Shape;463;p30"/>
          <p:cNvSpPr/>
          <p:nvPr/>
        </p:nvSpPr>
        <p:spPr>
          <a:xfrm>
            <a:off x="865765" y="3424136"/>
            <a:ext cx="5000018" cy="262647"/>
          </a:xfrm>
          <a:prstGeom prst="rect">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64" name="Google Shape;464;p30"/>
          <p:cNvSpPr/>
          <p:nvPr/>
        </p:nvSpPr>
        <p:spPr>
          <a:xfrm>
            <a:off x="4183738" y="0"/>
            <a:ext cx="4960262"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000000"/>
                </a:solidFill>
                <a:latin typeface="Courier New"/>
                <a:ea typeface="Courier New"/>
                <a:cs typeface="Courier New"/>
                <a:sym typeface="Courier New"/>
              </a:rPr>
              <a:t>R1(config)# </a:t>
            </a:r>
            <a:r>
              <a:rPr lang="en-US" sz="1200" b="1">
                <a:solidFill>
                  <a:srgbClr val="000000"/>
                </a:solidFill>
                <a:latin typeface="Courier New"/>
                <a:ea typeface="Courier New"/>
                <a:cs typeface="Courier New"/>
                <a:sym typeface="Courier New"/>
              </a:rPr>
              <a:t>ip route 0.0.0.0 0.0.0.0 172.16.2.2 </a:t>
            </a:r>
            <a:endParaRPr/>
          </a:p>
          <a:p>
            <a:pPr marL="0" marR="0" lvl="0" indent="0" algn="l" rtl="0">
              <a:spcBef>
                <a:spcPts val="0"/>
              </a:spcBef>
              <a:spcAft>
                <a:spcPts val="0"/>
              </a:spcAft>
              <a:buNone/>
            </a:pPr>
            <a:r>
              <a:rPr lang="en-US" sz="1200">
                <a:solidFill>
                  <a:srgbClr val="000000"/>
                </a:solidFill>
                <a:latin typeface="Courier New"/>
                <a:ea typeface="Courier New"/>
                <a:cs typeface="Courier New"/>
                <a:sym typeface="Courier New"/>
              </a:rPr>
              <a:t>R1(config)# </a:t>
            </a:r>
            <a:r>
              <a:rPr lang="en-US" sz="1200" b="1">
                <a:solidFill>
                  <a:srgbClr val="000000"/>
                </a:solidFill>
                <a:latin typeface="Courier New"/>
                <a:ea typeface="Courier New"/>
                <a:cs typeface="Courier New"/>
                <a:sym typeface="Courier New"/>
              </a:rPr>
              <a:t>ip route 0.0.0.0 0.0.0.0 10.10.10.2 </a:t>
            </a:r>
            <a:r>
              <a:rPr lang="en-US" sz="1200" b="1">
                <a:solidFill>
                  <a:srgbClr val="FF0000"/>
                </a:solidFill>
                <a:latin typeface="Courier New"/>
                <a:ea typeface="Courier New"/>
                <a:cs typeface="Courier New"/>
                <a:sym typeface="Courier New"/>
              </a:rPr>
              <a:t>5 </a:t>
            </a:r>
            <a:endParaRPr/>
          </a:p>
          <a:p>
            <a:pPr marL="0" marR="0" lvl="0" indent="0" algn="l" rtl="0">
              <a:spcBef>
                <a:spcPts val="0"/>
              </a:spcBef>
              <a:spcAft>
                <a:spcPts val="0"/>
              </a:spcAft>
              <a:buNone/>
            </a:pPr>
            <a:r>
              <a:rPr lang="en-US" sz="1200">
                <a:solidFill>
                  <a:srgbClr val="000000"/>
                </a:solidFill>
                <a:latin typeface="Courier New"/>
                <a:ea typeface="Courier New"/>
                <a:cs typeface="Courier New"/>
                <a:sym typeface="Courier New"/>
              </a:rPr>
              <a:t>R1(config)# </a:t>
            </a:r>
            <a:r>
              <a:rPr lang="en-US" sz="1200" b="1">
                <a:solidFill>
                  <a:srgbClr val="000000"/>
                </a:solidFill>
                <a:latin typeface="Courier New"/>
                <a:ea typeface="Courier New"/>
                <a:cs typeface="Courier New"/>
                <a:sym typeface="Courier New"/>
              </a:rPr>
              <a:t>ipv6 route ::/0 2001:db8:acad:2::2 </a:t>
            </a:r>
            <a:endParaRPr/>
          </a:p>
          <a:p>
            <a:pPr marL="0" marR="0" lvl="0" indent="0" algn="l" rtl="0">
              <a:spcBef>
                <a:spcPts val="0"/>
              </a:spcBef>
              <a:spcAft>
                <a:spcPts val="0"/>
              </a:spcAft>
              <a:buNone/>
            </a:pPr>
            <a:r>
              <a:rPr lang="en-US" sz="1200">
                <a:solidFill>
                  <a:srgbClr val="000000"/>
                </a:solidFill>
                <a:latin typeface="Courier New"/>
                <a:ea typeface="Courier New"/>
                <a:cs typeface="Courier New"/>
                <a:sym typeface="Courier New"/>
              </a:rPr>
              <a:t>R1(config)# </a:t>
            </a:r>
            <a:r>
              <a:rPr lang="en-US" sz="1200" b="1">
                <a:solidFill>
                  <a:srgbClr val="000000"/>
                </a:solidFill>
                <a:latin typeface="Courier New"/>
                <a:ea typeface="Courier New"/>
                <a:cs typeface="Courier New"/>
                <a:sym typeface="Courier New"/>
              </a:rPr>
              <a:t>ipv6 route ::/0 2001:db8:feed:10::2 </a:t>
            </a:r>
            <a:r>
              <a:rPr lang="en-US" sz="1200" b="1">
                <a:solidFill>
                  <a:srgbClr val="FF0000"/>
                </a:solidFill>
                <a:latin typeface="Courier New"/>
                <a:ea typeface="Courier New"/>
                <a:cs typeface="Courier New"/>
                <a:sym typeface="Courier New"/>
              </a:rPr>
              <a:t>5</a:t>
            </a:r>
            <a:endParaRPr/>
          </a:p>
        </p:txBody>
      </p:sp>
      <p:sp>
        <p:nvSpPr>
          <p:cNvPr id="465" name="Google Shape;465;p30"/>
          <p:cNvSpPr/>
          <p:nvPr/>
        </p:nvSpPr>
        <p:spPr>
          <a:xfrm>
            <a:off x="862523" y="3936458"/>
            <a:ext cx="5000018" cy="431259"/>
          </a:xfrm>
          <a:prstGeom prst="rect">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7A49D3-1569-AD98-01AE-C2EAA8CDB1FA}"/>
              </a:ext>
            </a:extLst>
          </p:cNvPr>
          <p:cNvSpPr>
            <a:spLocks noGrp="1"/>
          </p:cNvSpPr>
          <p:nvPr>
            <p:ph type="title"/>
          </p:nvPr>
        </p:nvSpPr>
        <p:spPr>
          <a:xfrm>
            <a:off x="437766" y="112713"/>
            <a:ext cx="8345488" cy="731837"/>
          </a:xfrm>
        </p:spPr>
        <p:txBody>
          <a:bodyPr/>
          <a:lstStyle/>
          <a:p>
            <a:r>
              <a:rPr lang="en-US" sz="3200" dirty="0">
                <a:solidFill>
                  <a:srgbClr val="FF0000"/>
                </a:solidFill>
              </a:rPr>
              <a:t>Summary static route</a:t>
            </a:r>
            <a:br>
              <a:rPr lang="en-US" dirty="0"/>
            </a:br>
            <a:endParaRPr lang="en-MY" dirty="0"/>
          </a:p>
        </p:txBody>
      </p:sp>
      <p:sp>
        <p:nvSpPr>
          <p:cNvPr id="5" name="TextBox 4">
            <a:extLst>
              <a:ext uri="{FF2B5EF4-FFF2-40B4-BE49-F238E27FC236}">
                <a16:creationId xmlns:a16="http://schemas.microsoft.com/office/drawing/2014/main" id="{3015FCAD-65EA-0335-17B7-42EF318C88BE}"/>
              </a:ext>
            </a:extLst>
          </p:cNvPr>
          <p:cNvSpPr txBox="1"/>
          <p:nvPr/>
        </p:nvSpPr>
        <p:spPr>
          <a:xfrm>
            <a:off x="360745" y="718700"/>
            <a:ext cx="8345487" cy="2462213"/>
          </a:xfrm>
          <a:prstGeom prst="rect">
            <a:avLst/>
          </a:prstGeom>
          <a:noFill/>
        </p:spPr>
        <p:txBody>
          <a:bodyPr wrap="square">
            <a:spAutoFit/>
          </a:bodyPr>
          <a:lstStyle/>
          <a:p>
            <a:r>
              <a:rPr lang="en-MY" dirty="0"/>
              <a:t>Summarization helps to reduce the number of routes in the routing table, minimizing route updates, reduces memory and CPU utilization, and faster routing table lookups.</a:t>
            </a:r>
          </a:p>
          <a:p>
            <a:endParaRPr lang="en-MY" dirty="0"/>
          </a:p>
          <a:p>
            <a:pPr algn="l"/>
            <a:r>
              <a:rPr lang="en-US" b="0" i="0" dirty="0">
                <a:solidFill>
                  <a:srgbClr val="000000"/>
                </a:solidFill>
                <a:effectLst/>
                <a:highlight>
                  <a:srgbClr val="FFFFFF"/>
                </a:highlight>
                <a:latin typeface="Arial" panose="020B0604020202020204" pitchFamily="34" charset="0"/>
              </a:rPr>
              <a:t>Multiple static routes can be summarized into a single static route if the following conditions are met:</a:t>
            </a:r>
          </a:p>
          <a:p>
            <a:pPr algn="l">
              <a:buFont typeface="Arial" panose="020B0604020202020204" pitchFamily="34" charset="0"/>
              <a:buChar char="•"/>
            </a:pPr>
            <a:r>
              <a:rPr lang="en-US" b="0" i="0" dirty="0">
                <a:solidFill>
                  <a:srgbClr val="000000"/>
                </a:solidFill>
                <a:effectLst/>
                <a:highlight>
                  <a:srgbClr val="FFFFFF"/>
                </a:highlight>
                <a:latin typeface="Arial" panose="020B0604020202020204" pitchFamily="34" charset="0"/>
              </a:rPr>
              <a:t>The destination networks are in a continuous of networks and can be summarized into a single network address.</a:t>
            </a:r>
          </a:p>
          <a:p>
            <a:pPr algn="l">
              <a:buFont typeface="Arial" panose="020B0604020202020204" pitchFamily="34" charset="0"/>
              <a:buChar char="•"/>
            </a:pPr>
            <a:endParaRPr lang="en-US" b="0" i="0" dirty="0">
              <a:solidFill>
                <a:srgbClr val="000000"/>
              </a:solidFill>
              <a:effectLst/>
              <a:highlight>
                <a:srgbClr val="FFFFFF"/>
              </a:highlight>
              <a:latin typeface="Arial" panose="020B0604020202020204" pitchFamily="34" charset="0"/>
            </a:endParaRPr>
          </a:p>
          <a:p>
            <a:pPr algn="l">
              <a:buFont typeface="Arial" panose="020B0604020202020204" pitchFamily="34" charset="0"/>
              <a:buChar char="•"/>
            </a:pPr>
            <a:r>
              <a:rPr lang="en-US" b="0" i="0" dirty="0">
                <a:solidFill>
                  <a:srgbClr val="000000"/>
                </a:solidFill>
                <a:effectLst/>
                <a:highlight>
                  <a:srgbClr val="FFFFFF"/>
                </a:highlight>
                <a:latin typeface="Arial" panose="020B0604020202020204" pitchFamily="34" charset="0"/>
              </a:rPr>
              <a:t>All of the multiple static routes use the same exit interface or next-hop IP address.</a:t>
            </a:r>
          </a:p>
          <a:p>
            <a:pPr algn="l">
              <a:buFont typeface="Arial" panose="020B0604020202020204" pitchFamily="34" charset="0"/>
              <a:buChar char="•"/>
            </a:pPr>
            <a:endParaRPr lang="en-US" dirty="0">
              <a:highlight>
                <a:srgbClr val="FFFFFF"/>
              </a:highlight>
              <a:latin typeface="Arial" panose="020B0604020202020204" pitchFamily="34" charset="0"/>
            </a:endParaRPr>
          </a:p>
          <a:p>
            <a:pPr algn="l">
              <a:buFont typeface="Arial" panose="020B0604020202020204" pitchFamily="34" charset="0"/>
              <a:buChar char="•"/>
            </a:pPr>
            <a:r>
              <a:rPr lang="en-US" dirty="0">
                <a:highlight>
                  <a:srgbClr val="FFFFFF"/>
                </a:highlight>
                <a:latin typeface="Arial" panose="020B0604020202020204" pitchFamily="34" charset="0"/>
              </a:rPr>
              <a:t>Example to calculate </a:t>
            </a:r>
            <a:r>
              <a:rPr lang="en-US" b="0" i="0" dirty="0">
                <a:solidFill>
                  <a:srgbClr val="000000"/>
                </a:solidFill>
                <a:effectLst/>
                <a:highlight>
                  <a:srgbClr val="FFFFFF"/>
                </a:highlight>
                <a:latin typeface="Arial" panose="020B0604020202020204" pitchFamily="34" charset="0"/>
              </a:rPr>
              <a:t>route summarization for the following networks:</a:t>
            </a:r>
          </a:p>
          <a:p>
            <a:endParaRPr lang="en-MY" dirty="0"/>
          </a:p>
        </p:txBody>
      </p:sp>
      <p:sp>
        <p:nvSpPr>
          <p:cNvPr id="8" name="Rectangle 2">
            <a:extLst>
              <a:ext uri="{FF2B5EF4-FFF2-40B4-BE49-F238E27FC236}">
                <a16:creationId xmlns:a16="http://schemas.microsoft.com/office/drawing/2014/main" id="{CDACC7E7-7EFB-F0DD-0505-43B2882EBE3A}"/>
              </a:ext>
            </a:extLst>
          </p:cNvPr>
          <p:cNvSpPr>
            <a:spLocks noChangeArrowheads="1"/>
          </p:cNvSpPr>
          <p:nvPr/>
        </p:nvSpPr>
        <p:spPr bwMode="auto">
          <a:xfrm>
            <a:off x="564982" y="3036054"/>
            <a:ext cx="6556603" cy="1133942"/>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7141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ourier 10 pitch"/>
              </a:rPr>
              <a:t>R1# show </a:t>
            </a:r>
            <a:r>
              <a:rPr kumimoji="0" lang="en-US" altLang="en-US" sz="1100" b="0" i="0" u="none" strike="noStrike" cap="none" normalizeH="0" baseline="0" dirty="0" err="1">
                <a:ln>
                  <a:noFill/>
                </a:ln>
                <a:solidFill>
                  <a:srgbClr val="000000"/>
                </a:solidFill>
                <a:effectLst/>
                <a:latin typeface="courier 10 pitch"/>
              </a:rPr>
              <a:t>ip</a:t>
            </a:r>
            <a:r>
              <a:rPr kumimoji="0" lang="en-US" altLang="en-US" sz="1100" b="0" i="0" u="none" strike="noStrike" cap="none" normalizeH="0" baseline="0" dirty="0">
                <a:ln>
                  <a:noFill/>
                </a:ln>
                <a:solidFill>
                  <a:srgbClr val="000000"/>
                </a:solidFill>
                <a:effectLst/>
                <a:latin typeface="courier 10 pitch"/>
              </a:rPr>
              <a:t> route static | begin Gateway </a:t>
            </a:r>
            <a:r>
              <a:rPr kumimoji="0" lang="en-US" altLang="en-US" sz="1100" b="0" i="0" u="none" strike="noStrike" cap="none" normalizeH="0" baseline="0" dirty="0" err="1">
                <a:ln>
                  <a:noFill/>
                </a:ln>
                <a:solidFill>
                  <a:srgbClr val="000000"/>
                </a:solidFill>
                <a:effectLst/>
                <a:latin typeface="courier 10 pitch"/>
              </a:rPr>
              <a:t>Gateway</a:t>
            </a:r>
            <a:r>
              <a:rPr kumimoji="0" lang="en-US" altLang="en-US" sz="1100" b="0" i="0" u="none" strike="noStrike" cap="none" normalizeH="0" baseline="0" dirty="0">
                <a:ln>
                  <a:noFill/>
                </a:ln>
                <a:solidFill>
                  <a:srgbClr val="000000"/>
                </a:solidFill>
                <a:effectLst/>
                <a:latin typeface="courier 10 pitch"/>
              </a:rPr>
              <a:t> of last resort is not set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ourier 10 pitch"/>
              </a:rPr>
              <a:t>192.168.0.0/24 is </a:t>
            </a:r>
            <a:r>
              <a:rPr kumimoji="0" lang="en-US" altLang="en-US" sz="1100" b="0" i="0" u="none" strike="noStrike" cap="none" normalizeH="0" baseline="0" dirty="0" err="1">
                <a:ln>
                  <a:noFill/>
                </a:ln>
                <a:solidFill>
                  <a:srgbClr val="000000"/>
                </a:solidFill>
                <a:effectLst/>
                <a:latin typeface="courier 10 pitch"/>
              </a:rPr>
              <a:t>subnetted</a:t>
            </a:r>
            <a:r>
              <a:rPr kumimoji="0" lang="en-US" altLang="en-US" sz="1100" b="0" i="0" u="none" strike="noStrike" cap="none" normalizeH="0" baseline="0" dirty="0">
                <a:ln>
                  <a:noFill/>
                </a:ln>
                <a:solidFill>
                  <a:srgbClr val="000000"/>
                </a:solidFill>
                <a:effectLst/>
                <a:latin typeface="courier 10 pitch"/>
              </a:rPr>
              <a:t>, 3 subnets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rgbClr val="000000"/>
              </a:solidFill>
              <a:effectLst/>
              <a:latin typeface="courier 10 pitch"/>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ourier 10 pitch"/>
              </a:rPr>
              <a:t>S 192.168.1.0 is directly connected, Serial0/2/1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ourier 10 pitch"/>
              </a:rPr>
              <a:t>S 192.168.2.0 is directly connected, Serial0/2/1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ourier 10 pitch"/>
              </a:rPr>
              <a:t>S 192.168.3.0 is directly connected, Serial0/2/1</a:t>
            </a:r>
            <a:r>
              <a:rPr kumimoji="0" lang="en-US" altLang="en-US" sz="6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06722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C922A5-E930-C380-A113-A0901A133E5C}"/>
              </a:ext>
            </a:extLst>
          </p:cNvPr>
          <p:cNvSpPr>
            <a:spLocks noGrp="1"/>
          </p:cNvSpPr>
          <p:nvPr>
            <p:ph type="body" idx="1"/>
          </p:nvPr>
        </p:nvSpPr>
        <p:spPr>
          <a:xfrm>
            <a:off x="-76200" y="352022"/>
            <a:ext cx="9220200" cy="3073946"/>
          </a:xfrm>
        </p:spPr>
        <p:txBody>
          <a:bodyPr/>
          <a:lstStyle/>
          <a:p>
            <a:pPr algn="l"/>
            <a:r>
              <a:rPr lang="en-US" sz="1400" dirty="0">
                <a:solidFill>
                  <a:srgbClr val="000000"/>
                </a:solidFill>
                <a:highlight>
                  <a:srgbClr val="FFFFFF"/>
                </a:highlight>
                <a:latin typeface="Arial" panose="020B0604020202020204" pitchFamily="34" charset="0"/>
              </a:rPr>
              <a:t>S</a:t>
            </a:r>
            <a:r>
              <a:rPr lang="en-US" sz="1400" b="0" i="0" dirty="0">
                <a:solidFill>
                  <a:srgbClr val="000000"/>
                </a:solidFill>
                <a:effectLst/>
                <a:highlight>
                  <a:srgbClr val="FFFFFF"/>
                </a:highlight>
                <a:latin typeface="Arial" panose="020B0604020202020204" pitchFamily="34" charset="0"/>
              </a:rPr>
              <a:t>teps to calculate the networks for route summarization:</a:t>
            </a:r>
          </a:p>
          <a:p>
            <a:pPr marL="228600" indent="0" algn="l"/>
            <a:r>
              <a:rPr lang="en-US" sz="1400" b="0" i="0" dirty="0">
                <a:solidFill>
                  <a:srgbClr val="000000"/>
                </a:solidFill>
                <a:effectLst/>
                <a:highlight>
                  <a:srgbClr val="FFFFFF"/>
                </a:highlight>
                <a:latin typeface="Arial" panose="020B0604020202020204" pitchFamily="34" charset="0"/>
              </a:rPr>
              <a:t>1. Write out the network addresses(192.168.1.0, 192.168.2.0, 192.168.3.0)  to be summarized in binary.</a:t>
            </a:r>
          </a:p>
          <a:p>
            <a:pPr marL="228600" indent="0" algn="l"/>
            <a:r>
              <a:rPr lang="en-US" sz="1400" b="0" i="0" dirty="0">
                <a:solidFill>
                  <a:srgbClr val="000000"/>
                </a:solidFill>
                <a:effectLst/>
                <a:highlight>
                  <a:srgbClr val="FFFFFF"/>
                </a:highlight>
                <a:latin typeface="Arial" panose="020B0604020202020204" pitchFamily="34" charset="0"/>
              </a:rPr>
              <a:t>2. Find the </a:t>
            </a:r>
            <a:r>
              <a:rPr lang="en-US" sz="1400" b="0" i="0" dirty="0">
                <a:solidFill>
                  <a:srgbClr val="FF0000"/>
                </a:solidFill>
                <a:effectLst/>
                <a:highlight>
                  <a:srgbClr val="FFFFFF"/>
                </a:highlight>
                <a:latin typeface="Arial" panose="020B0604020202020204" pitchFamily="34" charset="0"/>
              </a:rPr>
              <a:t>subnet mask for summarization</a:t>
            </a:r>
            <a:r>
              <a:rPr lang="en-US" sz="1400" b="0" i="0" dirty="0">
                <a:solidFill>
                  <a:srgbClr val="000000"/>
                </a:solidFill>
                <a:effectLst/>
                <a:highlight>
                  <a:srgbClr val="FFFFFF"/>
                </a:highlight>
                <a:latin typeface="Arial" panose="020B0604020202020204" pitchFamily="34" charset="0"/>
              </a:rPr>
              <a:t>. Start with the far left bit, going to the right, finding all the bits that match until we reach the unmatching column. This signifies the summary boundary.</a:t>
            </a:r>
          </a:p>
          <a:p>
            <a:pPr marL="228600" indent="0" algn="l"/>
            <a:r>
              <a:rPr lang="en-US" sz="1400" b="0" i="0" dirty="0">
                <a:solidFill>
                  <a:srgbClr val="000000"/>
                </a:solidFill>
                <a:effectLst/>
                <a:highlight>
                  <a:srgbClr val="FFFFFF"/>
                </a:highlight>
                <a:latin typeface="Arial" panose="020B0604020202020204" pitchFamily="34" charset="0"/>
              </a:rPr>
              <a:t>3. Count the number of far-left matching bits. In this example, it is 22. This number identifies the subnet mask, in slash notation, for the summarized route.</a:t>
            </a:r>
            <a:r>
              <a:rPr lang="en-US" sz="1400" b="0" i="0" dirty="0">
                <a:solidFill>
                  <a:srgbClr val="FF0000"/>
                </a:solidFill>
                <a:effectLst/>
                <a:highlight>
                  <a:srgbClr val="FFFFFF"/>
                </a:highlight>
                <a:latin typeface="Arial" panose="020B0604020202020204" pitchFamily="34" charset="0"/>
              </a:rPr>
              <a:t> Subnet mask is /22 or a 255.255.252.0 </a:t>
            </a:r>
            <a:r>
              <a:rPr lang="en-US" sz="1400" b="0" i="0" dirty="0">
                <a:solidFill>
                  <a:srgbClr val="000000"/>
                </a:solidFill>
                <a:effectLst/>
                <a:highlight>
                  <a:srgbClr val="FFFFFF"/>
                </a:highlight>
                <a:latin typeface="Arial" panose="020B0604020202020204" pitchFamily="34" charset="0"/>
              </a:rPr>
              <a:t>in dotted decimal form.</a:t>
            </a:r>
          </a:p>
          <a:p>
            <a:pPr marL="228600" indent="0" algn="l">
              <a:spcBef>
                <a:spcPts val="0"/>
              </a:spcBef>
            </a:pPr>
            <a:r>
              <a:rPr lang="en-US" sz="1400" b="0" i="0" dirty="0">
                <a:solidFill>
                  <a:srgbClr val="000000"/>
                </a:solidFill>
                <a:effectLst/>
                <a:highlight>
                  <a:srgbClr val="FFFFFF"/>
                </a:highlight>
                <a:latin typeface="Arial" panose="020B0604020202020204" pitchFamily="34" charset="0"/>
              </a:rPr>
              <a:t>4. To find the </a:t>
            </a:r>
            <a:r>
              <a:rPr lang="en-US" sz="1400" b="0" i="0" dirty="0">
                <a:solidFill>
                  <a:srgbClr val="FF0000"/>
                </a:solidFill>
                <a:effectLst/>
                <a:highlight>
                  <a:srgbClr val="FFFFFF"/>
                </a:highlight>
                <a:latin typeface="Arial" panose="020B0604020202020204" pitchFamily="34" charset="0"/>
              </a:rPr>
              <a:t>network address for summarization</a:t>
            </a:r>
            <a:r>
              <a:rPr lang="en-US" sz="1400" b="0" i="0" dirty="0">
                <a:solidFill>
                  <a:srgbClr val="000000"/>
                </a:solidFill>
                <a:effectLst/>
                <a:highlight>
                  <a:srgbClr val="FFFFFF"/>
                </a:highlight>
                <a:latin typeface="Arial" panose="020B0604020202020204" pitchFamily="34" charset="0"/>
              </a:rPr>
              <a:t>, copy the matching 22 bits and add all 0 bits to the end to make 32 bits. </a:t>
            </a:r>
            <a:r>
              <a:rPr lang="en-US" sz="1400" b="0" i="0" dirty="0">
                <a:solidFill>
                  <a:srgbClr val="FF0000"/>
                </a:solidFill>
                <a:effectLst/>
                <a:highlight>
                  <a:srgbClr val="FFFFFF"/>
                </a:highlight>
                <a:latin typeface="Arial" panose="020B0604020202020204" pitchFamily="34" charset="0"/>
              </a:rPr>
              <a:t>Network address is 192.168.0.0</a:t>
            </a:r>
            <a:r>
              <a:rPr lang="en-US" sz="1400" b="0" i="0" dirty="0">
                <a:solidFill>
                  <a:srgbClr val="000000"/>
                </a:solidFill>
                <a:effectLst/>
                <a:highlight>
                  <a:srgbClr val="FFFFFF"/>
                </a:highlight>
                <a:latin typeface="Arial" panose="020B0604020202020204" pitchFamily="34" charset="0"/>
              </a:rPr>
              <a:t>.</a:t>
            </a:r>
            <a:r>
              <a:rPr kumimoji="0" lang="en-US" altLang="en-US" sz="1400" b="0" i="0" u="none" strike="noStrike" cap="none" normalizeH="0" baseline="0" dirty="0">
                <a:ln>
                  <a:noFill/>
                </a:ln>
                <a:solidFill>
                  <a:srgbClr val="000000"/>
                </a:solidFill>
                <a:effectLst/>
                <a:latin typeface="courier 10 pitch"/>
              </a:rPr>
              <a:t> </a:t>
            </a:r>
            <a:r>
              <a:rPr lang="en-US" altLang="en-US" sz="2400" dirty="0">
                <a:latin typeface="courier 10 pitch"/>
              </a:rPr>
              <a:t>s0/3/1</a:t>
            </a:r>
            <a:endParaRPr lang="en-US" sz="1400" b="0" i="0" dirty="0">
              <a:solidFill>
                <a:srgbClr val="000000"/>
              </a:solidFill>
              <a:effectLst/>
              <a:highlight>
                <a:srgbClr val="FFFFFF"/>
              </a:highlight>
              <a:latin typeface="Arial" panose="020B0604020202020204" pitchFamily="34" charset="0"/>
            </a:endParaRPr>
          </a:p>
          <a:p>
            <a:endParaRPr lang="en-MY" sz="1400" dirty="0"/>
          </a:p>
        </p:txBody>
      </p:sp>
      <p:sp>
        <p:nvSpPr>
          <p:cNvPr id="3" name="Title 2">
            <a:extLst>
              <a:ext uri="{FF2B5EF4-FFF2-40B4-BE49-F238E27FC236}">
                <a16:creationId xmlns:a16="http://schemas.microsoft.com/office/drawing/2014/main" id="{667A49D3-1569-AD98-01AE-C2EAA8CDB1FA}"/>
              </a:ext>
            </a:extLst>
          </p:cNvPr>
          <p:cNvSpPr>
            <a:spLocks noGrp="1"/>
          </p:cNvSpPr>
          <p:nvPr>
            <p:ph type="title"/>
          </p:nvPr>
        </p:nvSpPr>
        <p:spPr>
          <a:xfrm>
            <a:off x="437766" y="112713"/>
            <a:ext cx="8345488" cy="731837"/>
          </a:xfrm>
        </p:spPr>
        <p:txBody>
          <a:bodyPr/>
          <a:lstStyle/>
          <a:p>
            <a:r>
              <a:rPr lang="en-US" sz="3200" dirty="0">
                <a:solidFill>
                  <a:srgbClr val="FF0000"/>
                </a:solidFill>
              </a:rPr>
              <a:t>Summary static route</a:t>
            </a:r>
            <a:br>
              <a:rPr lang="en-US" dirty="0"/>
            </a:br>
            <a:endParaRPr lang="en-MY" dirty="0"/>
          </a:p>
        </p:txBody>
      </p:sp>
      <p:pic>
        <p:nvPicPr>
          <p:cNvPr id="1026" name="Picture 2">
            <a:extLst>
              <a:ext uri="{FF2B5EF4-FFF2-40B4-BE49-F238E27FC236}">
                <a16:creationId xmlns:a16="http://schemas.microsoft.com/office/drawing/2014/main" id="{9289510F-CEC3-FDAA-1DE8-F184C6FCCA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767" y="2784904"/>
            <a:ext cx="7977572" cy="235859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6F7A875-E58D-271A-9EDC-9662FA396513}"/>
              </a:ext>
            </a:extLst>
          </p:cNvPr>
          <p:cNvSpPr txBox="1"/>
          <p:nvPr/>
        </p:nvSpPr>
        <p:spPr>
          <a:xfrm>
            <a:off x="138545" y="2477127"/>
            <a:ext cx="8871812" cy="307777"/>
          </a:xfrm>
          <a:prstGeom prst="rect">
            <a:avLst/>
          </a:prstGeom>
          <a:noFill/>
        </p:spPr>
        <p:txBody>
          <a:bodyPr wrap="square">
            <a:spAutoFit/>
          </a:bodyPr>
          <a:lstStyle/>
          <a:p>
            <a:r>
              <a:rPr kumimoji="0" lang="en-US" altLang="en-US" sz="1400" b="0" i="0" u="none" strike="noStrike" cap="none" normalizeH="0" baseline="0" dirty="0">
                <a:ln>
                  <a:noFill/>
                </a:ln>
                <a:solidFill>
                  <a:srgbClr val="000000"/>
                </a:solidFill>
                <a:effectLst/>
                <a:latin typeface="+mj-lt"/>
              </a:rPr>
              <a:t>5. Summary static route is </a:t>
            </a:r>
            <a:r>
              <a:rPr kumimoji="0" lang="en-US" altLang="en-US" sz="1400" b="0" i="0" u="none" strike="noStrike" cap="none" normalizeH="0" baseline="0" dirty="0" err="1">
                <a:ln>
                  <a:noFill/>
                </a:ln>
                <a:solidFill>
                  <a:srgbClr val="000000"/>
                </a:solidFill>
                <a:effectLst/>
                <a:latin typeface="+mj-lt"/>
              </a:rPr>
              <a:t>ip</a:t>
            </a:r>
            <a:r>
              <a:rPr kumimoji="0" lang="en-US" altLang="en-US" sz="1400" b="0" i="0" u="none" strike="noStrike" cap="none" normalizeH="0" baseline="0" dirty="0">
                <a:ln>
                  <a:noFill/>
                </a:ln>
                <a:solidFill>
                  <a:srgbClr val="000000"/>
                </a:solidFill>
                <a:effectLst/>
                <a:latin typeface="+mj-lt"/>
              </a:rPr>
              <a:t> route 192.168.0.0 255.255.252.0 s0/2/1</a:t>
            </a:r>
            <a:endParaRPr lang="en-MY" dirty="0">
              <a:latin typeface="+mj-lt"/>
            </a:endParaRPr>
          </a:p>
        </p:txBody>
      </p:sp>
    </p:spTree>
    <p:extLst>
      <p:ext uri="{BB962C8B-B14F-4D97-AF65-F5344CB8AC3E}">
        <p14:creationId xmlns:p14="http://schemas.microsoft.com/office/powerpoint/2010/main" val="2591022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31"/>
          <p:cNvSpPr txBox="1">
            <a:spLocks noGrp="1"/>
          </p:cNvSpPr>
          <p:nvPr>
            <p:ph type="ctrTitle"/>
          </p:nvPr>
        </p:nvSpPr>
        <p:spPr>
          <a:xfrm>
            <a:off x="416425" y="1788160"/>
            <a:ext cx="7848344" cy="929640"/>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4600"/>
              <a:buFont typeface="Arial"/>
              <a:buNone/>
            </a:pPr>
            <a:r>
              <a:rPr lang="en-US">
                <a:solidFill>
                  <a:srgbClr val="AEE8FA"/>
                </a:solidFill>
              </a:rPr>
              <a:t>15.5 Configure Static Host Routes</a:t>
            </a:r>
            <a:endParaRPr/>
          </a:p>
        </p:txBody>
      </p:sp>
    </p:spTree>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32"/>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Static Host Routes</a:t>
            </a:r>
            <a:br>
              <a:rPr lang="en-US"/>
            </a:br>
            <a:r>
              <a:rPr lang="en-US" sz="2400"/>
              <a:t>Host Routes</a:t>
            </a:r>
            <a:endParaRPr/>
          </a:p>
        </p:txBody>
      </p:sp>
      <p:sp>
        <p:nvSpPr>
          <p:cNvPr id="478" name="Google Shape;478;p32"/>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dirty="0">
                <a:solidFill>
                  <a:srgbClr val="000000"/>
                </a:solidFill>
              </a:rPr>
              <a:t>A </a:t>
            </a:r>
            <a:r>
              <a:rPr lang="en-US" sz="1600" dirty="0">
                <a:solidFill>
                  <a:srgbClr val="FF0000"/>
                </a:solidFill>
              </a:rPr>
              <a:t>host route </a:t>
            </a:r>
            <a:r>
              <a:rPr lang="en-US" sz="1600" dirty="0">
                <a:solidFill>
                  <a:srgbClr val="000000"/>
                </a:solidFill>
              </a:rPr>
              <a:t>is an IPv4 address with </a:t>
            </a:r>
            <a:r>
              <a:rPr lang="en-US" sz="1600" dirty="0">
                <a:solidFill>
                  <a:srgbClr val="FF0000"/>
                </a:solidFill>
              </a:rPr>
              <a:t>a 32-bit mask</a:t>
            </a:r>
            <a:r>
              <a:rPr lang="en-US" sz="1600" dirty="0">
                <a:solidFill>
                  <a:srgbClr val="000000"/>
                </a:solidFill>
              </a:rPr>
              <a:t>, or an IPv6 address with a </a:t>
            </a:r>
            <a:r>
              <a:rPr lang="en-US" sz="1600" dirty="0">
                <a:solidFill>
                  <a:srgbClr val="FF0000"/>
                </a:solidFill>
              </a:rPr>
              <a:t>128-bit mask</a:t>
            </a:r>
            <a:r>
              <a:rPr lang="en-US" sz="1600" dirty="0">
                <a:solidFill>
                  <a:srgbClr val="000000"/>
                </a:solidFill>
              </a:rPr>
              <a:t>. The following shows the three ways a host route can be added to the routing table:</a:t>
            </a:r>
            <a:endParaRPr dirty="0"/>
          </a:p>
          <a:p>
            <a:pPr marL="342900" lvl="0" indent="-342900" algn="l" rtl="0">
              <a:lnSpc>
                <a:spcPct val="100000"/>
              </a:lnSpc>
              <a:spcBef>
                <a:spcPts val="320"/>
              </a:spcBef>
              <a:spcAft>
                <a:spcPts val="0"/>
              </a:spcAft>
              <a:buSzPts val="1600"/>
              <a:buFont typeface="+mj-lt"/>
              <a:buAutoNum type="arabicPeriod"/>
            </a:pPr>
            <a:r>
              <a:rPr lang="en-US" sz="1600" dirty="0">
                <a:solidFill>
                  <a:srgbClr val="FF0000"/>
                </a:solidFill>
              </a:rPr>
              <a:t>a) Automatically</a:t>
            </a:r>
            <a:r>
              <a:rPr lang="en-US" sz="1600" dirty="0">
                <a:solidFill>
                  <a:srgbClr val="000000"/>
                </a:solidFill>
              </a:rPr>
              <a:t> installed when an IP address is configured on the router</a:t>
            </a:r>
          </a:p>
          <a:p>
            <a:pPr marL="342900" lvl="0" indent="-342900" algn="l" rtl="0">
              <a:lnSpc>
                <a:spcPct val="100000"/>
              </a:lnSpc>
              <a:spcBef>
                <a:spcPts val="320"/>
              </a:spcBef>
              <a:spcAft>
                <a:spcPts val="0"/>
              </a:spcAft>
              <a:buSzPts val="1600"/>
              <a:buFont typeface="+mj-lt"/>
              <a:buAutoNum type="arabicPeriod"/>
            </a:pPr>
            <a:r>
              <a:rPr lang="en-US" sz="1600" dirty="0">
                <a:solidFill>
                  <a:srgbClr val="000000"/>
                </a:solidFill>
              </a:rPr>
              <a:t>b) Configured as </a:t>
            </a:r>
            <a:r>
              <a:rPr lang="en-US" sz="1600" dirty="0">
                <a:solidFill>
                  <a:srgbClr val="FF0000"/>
                </a:solidFill>
              </a:rPr>
              <a:t>a static host route</a:t>
            </a:r>
          </a:p>
          <a:p>
            <a:pPr marL="342900" lvl="0" indent="-342900" algn="l" rtl="0">
              <a:lnSpc>
                <a:spcPct val="100000"/>
              </a:lnSpc>
              <a:spcBef>
                <a:spcPts val="320"/>
              </a:spcBef>
              <a:spcAft>
                <a:spcPts val="0"/>
              </a:spcAft>
              <a:buSzPts val="1600"/>
              <a:buFont typeface="+mj-lt"/>
              <a:buAutoNum type="arabicPeriod"/>
            </a:pPr>
            <a:r>
              <a:rPr lang="en-US" sz="1600" dirty="0">
                <a:solidFill>
                  <a:srgbClr val="FF0000"/>
                </a:solidFill>
              </a:rPr>
              <a:t>c) </a:t>
            </a:r>
            <a:r>
              <a:rPr lang="en-US" sz="1600" dirty="0">
                <a:solidFill>
                  <a:srgbClr val="000000"/>
                </a:solidFill>
              </a:rPr>
              <a:t>Host route automatically obtained through other methods (discussed in later courses)</a:t>
            </a:r>
            <a:endParaRPr dirty="0"/>
          </a:p>
          <a:p>
            <a:pPr marL="342900" lvl="0" indent="-241300" algn="l" rtl="0">
              <a:lnSpc>
                <a:spcPct val="100000"/>
              </a:lnSpc>
              <a:spcBef>
                <a:spcPts val="320"/>
              </a:spcBef>
              <a:spcAft>
                <a:spcPts val="0"/>
              </a:spcAft>
              <a:buSzPts val="1600"/>
              <a:buFont typeface="Arial"/>
              <a:buNone/>
            </a:pPr>
            <a:endParaRPr sz="1600" dirty="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33"/>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Static Host Routes</a:t>
            </a:r>
            <a:br>
              <a:rPr lang="en-US" sz="1600"/>
            </a:br>
            <a:r>
              <a:rPr lang="en-US" sz="2400"/>
              <a:t>Automatically Installed Host Routes</a:t>
            </a:r>
            <a:endParaRPr/>
          </a:p>
        </p:txBody>
      </p:sp>
      <p:sp>
        <p:nvSpPr>
          <p:cNvPr id="485" name="Google Shape;485;p33"/>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600"/>
              <a:buFont typeface="Arial"/>
              <a:buChar char="•"/>
            </a:pPr>
            <a:r>
              <a:rPr lang="en-US" sz="1600">
                <a:solidFill>
                  <a:srgbClr val="000000"/>
                </a:solidFill>
              </a:rPr>
              <a:t>Cisco IOS </a:t>
            </a:r>
            <a:r>
              <a:rPr lang="en-US" sz="1600">
                <a:solidFill>
                  <a:srgbClr val="FF0000"/>
                </a:solidFill>
              </a:rPr>
              <a:t>automatically</a:t>
            </a:r>
            <a:r>
              <a:rPr lang="en-US" sz="1600">
                <a:solidFill>
                  <a:srgbClr val="000000"/>
                </a:solidFill>
              </a:rPr>
              <a:t> installs a </a:t>
            </a:r>
            <a:r>
              <a:rPr lang="en-US" sz="1600">
                <a:solidFill>
                  <a:srgbClr val="FF0000"/>
                </a:solidFill>
              </a:rPr>
              <a:t>host route</a:t>
            </a:r>
            <a:r>
              <a:rPr lang="en-US" sz="1600">
                <a:solidFill>
                  <a:srgbClr val="000000"/>
                </a:solidFill>
              </a:rPr>
              <a:t>, also known as </a:t>
            </a:r>
            <a:r>
              <a:rPr lang="en-US" sz="1600">
                <a:solidFill>
                  <a:srgbClr val="FF0000"/>
                </a:solidFill>
              </a:rPr>
              <a:t>a local host route</a:t>
            </a:r>
            <a:r>
              <a:rPr lang="en-US" sz="1600">
                <a:solidFill>
                  <a:srgbClr val="000000"/>
                </a:solidFill>
              </a:rPr>
              <a:t>, when an </a:t>
            </a:r>
            <a:r>
              <a:rPr lang="en-US" sz="1600">
                <a:solidFill>
                  <a:srgbClr val="FF0000"/>
                </a:solidFill>
              </a:rPr>
              <a:t>interface address </a:t>
            </a:r>
            <a:r>
              <a:rPr lang="en-US" sz="1600">
                <a:solidFill>
                  <a:srgbClr val="000000"/>
                </a:solidFill>
              </a:rPr>
              <a:t>is configured on the router. A host route allows for a more efficient process for packets that are directed to the router itself, rather than for packet forwarding. </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This is in addition to the connected route, designated with a </a:t>
            </a:r>
            <a:r>
              <a:rPr lang="en-US" sz="1600" b="1">
                <a:solidFill>
                  <a:srgbClr val="FF0000"/>
                </a:solidFill>
              </a:rPr>
              <a:t>C</a:t>
            </a:r>
            <a:r>
              <a:rPr lang="en-US" sz="1600">
                <a:solidFill>
                  <a:srgbClr val="000000"/>
                </a:solidFill>
              </a:rPr>
              <a:t> in the routing table for the network address of the interface.</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The </a:t>
            </a:r>
            <a:r>
              <a:rPr lang="en-US" sz="1600">
                <a:solidFill>
                  <a:srgbClr val="FF0000"/>
                </a:solidFill>
              </a:rPr>
              <a:t>local routes </a:t>
            </a:r>
            <a:r>
              <a:rPr lang="en-US" sz="1600">
                <a:solidFill>
                  <a:srgbClr val="000000"/>
                </a:solidFill>
              </a:rPr>
              <a:t>are marked with </a:t>
            </a:r>
            <a:r>
              <a:rPr lang="en-US" sz="1600" b="1">
                <a:solidFill>
                  <a:srgbClr val="FF0000"/>
                </a:solidFill>
              </a:rPr>
              <a:t>L</a:t>
            </a:r>
            <a:r>
              <a:rPr lang="en-US" sz="1600">
                <a:solidFill>
                  <a:srgbClr val="000000"/>
                </a:solidFill>
              </a:rPr>
              <a:t> in the output of the routing table.</a:t>
            </a:r>
            <a:endParaRPr/>
          </a:p>
          <a:p>
            <a:pPr marL="342900" lvl="0" indent="-241300" algn="l" rtl="0">
              <a:lnSpc>
                <a:spcPct val="100000"/>
              </a:lnSpc>
              <a:spcBef>
                <a:spcPts val="320"/>
              </a:spcBef>
              <a:spcAft>
                <a:spcPts val="0"/>
              </a:spcAft>
              <a:buSzPts val="1600"/>
              <a:buFont typeface="Arial"/>
              <a:buNone/>
            </a:pPr>
            <a:endParaRPr sz="16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34"/>
          <p:cNvSpPr txBox="1">
            <a:spLocks noGrp="1"/>
          </p:cNvSpPr>
          <p:nvPr>
            <p:ph type="title"/>
          </p:nvPr>
        </p:nvSpPr>
        <p:spPr>
          <a:xfrm>
            <a:off x="437766" y="341313"/>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endParaRPr/>
          </a:p>
        </p:txBody>
      </p:sp>
      <p:pic>
        <p:nvPicPr>
          <p:cNvPr id="491" name="Google Shape;491;p34"/>
          <p:cNvPicPr preferRelativeResize="0">
            <a:picLocks noGrp="1"/>
          </p:cNvPicPr>
          <p:nvPr>
            <p:ph type="body" idx="1"/>
          </p:nvPr>
        </p:nvPicPr>
        <p:blipFill rotWithShape="1">
          <a:blip r:embed="rId3">
            <a:alphaModFix/>
          </a:blip>
          <a:srcRect/>
          <a:stretch/>
        </p:blipFill>
        <p:spPr>
          <a:xfrm>
            <a:off x="492536" y="170741"/>
            <a:ext cx="7875004" cy="2523821"/>
          </a:xfrm>
          <a:prstGeom prst="rect">
            <a:avLst/>
          </a:prstGeom>
          <a:noFill/>
          <a:ln>
            <a:noFill/>
          </a:ln>
        </p:spPr>
      </p:pic>
      <p:pic>
        <p:nvPicPr>
          <p:cNvPr id="492" name="Google Shape;492;p34"/>
          <p:cNvPicPr preferRelativeResize="0"/>
          <p:nvPr/>
        </p:nvPicPr>
        <p:blipFill rotWithShape="1">
          <a:blip r:embed="rId4">
            <a:alphaModFix/>
          </a:blip>
          <a:srcRect/>
          <a:stretch/>
        </p:blipFill>
        <p:spPr>
          <a:xfrm>
            <a:off x="459936" y="2481973"/>
            <a:ext cx="8029575" cy="2533650"/>
          </a:xfrm>
          <a:prstGeom prst="rect">
            <a:avLst/>
          </a:prstGeom>
          <a:noFill/>
          <a:ln>
            <a:noFill/>
          </a:ln>
        </p:spPr>
      </p:pic>
      <p:sp>
        <p:nvSpPr>
          <p:cNvPr id="493" name="Google Shape;493;p34"/>
          <p:cNvSpPr/>
          <p:nvPr/>
        </p:nvSpPr>
        <p:spPr>
          <a:xfrm>
            <a:off x="5749049" y="3307404"/>
            <a:ext cx="1955258" cy="923330"/>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00"/>
                </a:solidFill>
                <a:latin typeface="Arial"/>
                <a:ea typeface="Arial"/>
                <a:cs typeface="Arial"/>
                <a:sym typeface="Arial"/>
              </a:rPr>
              <a:t>a </a:t>
            </a:r>
            <a:r>
              <a:rPr lang="en-US" sz="1800">
                <a:solidFill>
                  <a:srgbClr val="FF0000"/>
                </a:solidFill>
                <a:latin typeface="Arial"/>
                <a:ea typeface="Arial"/>
                <a:cs typeface="Arial"/>
                <a:sym typeface="Arial"/>
              </a:rPr>
              <a:t>host route</a:t>
            </a:r>
            <a:r>
              <a:rPr lang="en-US" sz="1800">
                <a:solidFill>
                  <a:srgbClr val="000000"/>
                </a:solidFill>
                <a:latin typeface="Arial"/>
                <a:ea typeface="Arial"/>
                <a:cs typeface="Arial"/>
                <a:sym typeface="Arial"/>
              </a:rPr>
              <a:t>, also known as </a:t>
            </a:r>
            <a:r>
              <a:rPr lang="en-US" sz="1800">
                <a:solidFill>
                  <a:srgbClr val="FF0000"/>
                </a:solidFill>
                <a:latin typeface="Arial"/>
                <a:ea typeface="Arial"/>
                <a:cs typeface="Arial"/>
                <a:sym typeface="Arial"/>
              </a:rPr>
              <a:t>a local host route</a:t>
            </a:r>
            <a:endParaRPr sz="1800">
              <a:solidFill>
                <a:schemeClr val="dk1"/>
              </a:solidFill>
              <a:latin typeface="Arial"/>
              <a:ea typeface="Arial"/>
              <a:cs typeface="Arial"/>
              <a:sym typeface="Arial"/>
            </a:endParaRPr>
          </a:p>
        </p:txBody>
      </p:sp>
      <p:cxnSp>
        <p:nvCxnSpPr>
          <p:cNvPr id="494" name="Google Shape;494;p34"/>
          <p:cNvCxnSpPr/>
          <p:nvPr/>
        </p:nvCxnSpPr>
        <p:spPr>
          <a:xfrm flipH="1">
            <a:off x="2996120" y="3822970"/>
            <a:ext cx="2655650" cy="535021"/>
          </a:xfrm>
          <a:prstGeom prst="straightConnector1">
            <a:avLst/>
          </a:prstGeom>
          <a:noFill/>
          <a:ln w="25400" cap="flat" cmpd="sng">
            <a:solidFill>
              <a:schemeClr val="lt1"/>
            </a:solidFill>
            <a:prstDash val="solid"/>
            <a:round/>
            <a:headEnd type="none" w="sm" len="sm"/>
            <a:tailEnd type="stealth" w="med" len="med"/>
          </a:ln>
        </p:spPr>
      </p:cxnSp>
      <p:cxnSp>
        <p:nvCxnSpPr>
          <p:cNvPr id="495" name="Google Shape;495;p34"/>
          <p:cNvCxnSpPr/>
          <p:nvPr/>
        </p:nvCxnSpPr>
        <p:spPr>
          <a:xfrm rot="10800000">
            <a:off x="5009746" y="3463049"/>
            <a:ext cx="632297" cy="243189"/>
          </a:xfrm>
          <a:prstGeom prst="straightConnector1">
            <a:avLst/>
          </a:prstGeom>
          <a:noFill/>
          <a:ln w="25400" cap="flat" cmpd="sng">
            <a:solidFill>
              <a:schemeClr val="lt1"/>
            </a:solidFill>
            <a:prstDash val="solid"/>
            <a:round/>
            <a:headEnd type="none" w="sm" len="sm"/>
            <a:tailEnd type="stealth" w="med" len="med"/>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35"/>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dirty="0"/>
              <a:t>Configure Static Host Routes</a:t>
            </a:r>
            <a:br>
              <a:rPr lang="en-US" sz="1600" dirty="0"/>
            </a:br>
            <a:r>
              <a:rPr lang="en-US" sz="2400" dirty="0"/>
              <a:t>Static Host Routes</a:t>
            </a:r>
            <a:endParaRPr dirty="0"/>
          </a:p>
        </p:txBody>
      </p:sp>
      <p:sp>
        <p:nvSpPr>
          <p:cNvPr id="502" name="Google Shape;502;p35"/>
          <p:cNvSpPr txBox="1">
            <a:spLocks noGrp="1"/>
          </p:cNvSpPr>
          <p:nvPr>
            <p:ph type="body" idx="1"/>
          </p:nvPr>
        </p:nvSpPr>
        <p:spPr>
          <a:xfrm>
            <a:off x="474662" y="731837"/>
            <a:ext cx="8280057" cy="1115251"/>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dirty="0">
                <a:solidFill>
                  <a:srgbClr val="000000"/>
                </a:solidFill>
              </a:rPr>
              <a:t>A host route can be a </a:t>
            </a:r>
            <a:r>
              <a:rPr lang="en-US" sz="1600" dirty="0">
                <a:solidFill>
                  <a:srgbClr val="FF0000"/>
                </a:solidFill>
              </a:rPr>
              <a:t>manually configured </a:t>
            </a:r>
            <a:r>
              <a:rPr lang="en-US" sz="1600" dirty="0">
                <a:solidFill>
                  <a:srgbClr val="000000"/>
                </a:solidFill>
              </a:rPr>
              <a:t>static route to direct traffic to a specific destination device, such as the </a:t>
            </a:r>
            <a:r>
              <a:rPr lang="en-US" sz="1600" dirty="0">
                <a:solidFill>
                  <a:srgbClr val="FF0000"/>
                </a:solidFill>
              </a:rPr>
              <a:t>server</a:t>
            </a:r>
            <a:r>
              <a:rPr lang="en-US" sz="1600" dirty="0">
                <a:solidFill>
                  <a:srgbClr val="000000"/>
                </a:solidFill>
              </a:rPr>
              <a:t> shown in the figure. The static route uses a </a:t>
            </a:r>
            <a:r>
              <a:rPr lang="en-US" sz="1600" dirty="0">
                <a:solidFill>
                  <a:srgbClr val="FF0000"/>
                </a:solidFill>
              </a:rPr>
              <a:t>destination IP address </a:t>
            </a:r>
            <a:r>
              <a:rPr lang="en-US" sz="1600" dirty="0">
                <a:solidFill>
                  <a:srgbClr val="000000"/>
                </a:solidFill>
              </a:rPr>
              <a:t>and a </a:t>
            </a:r>
            <a:r>
              <a:rPr lang="en-US" sz="1600" dirty="0">
                <a:solidFill>
                  <a:srgbClr val="FF0000"/>
                </a:solidFill>
              </a:rPr>
              <a:t>255.255.255.255</a:t>
            </a:r>
            <a:r>
              <a:rPr lang="en-US" sz="1600" dirty="0">
                <a:solidFill>
                  <a:srgbClr val="000000"/>
                </a:solidFill>
              </a:rPr>
              <a:t> (/32) mask for IPv4 host routes, and a /128 prefix length for IPv6 host routes.</a:t>
            </a:r>
            <a:endParaRPr dirty="0"/>
          </a:p>
        </p:txBody>
      </p:sp>
      <p:pic>
        <p:nvPicPr>
          <p:cNvPr id="503" name="Google Shape;503;p35"/>
          <p:cNvPicPr preferRelativeResize="0"/>
          <p:nvPr/>
        </p:nvPicPr>
        <p:blipFill rotWithShape="1">
          <a:blip r:embed="rId3">
            <a:alphaModFix/>
          </a:blip>
          <a:srcRect/>
          <a:stretch/>
        </p:blipFill>
        <p:spPr>
          <a:xfrm>
            <a:off x="408561" y="1828366"/>
            <a:ext cx="8278238" cy="2354527"/>
          </a:xfrm>
          <a:prstGeom prst="rect">
            <a:avLst/>
          </a:prstGeom>
          <a:noFill/>
          <a:ln>
            <a:noFill/>
          </a:ln>
        </p:spPr>
      </p:pic>
      <p:sp>
        <p:nvSpPr>
          <p:cNvPr id="504" name="Google Shape;504;p35"/>
          <p:cNvSpPr txBox="1"/>
          <p:nvPr/>
        </p:nvSpPr>
        <p:spPr>
          <a:xfrm>
            <a:off x="1085223" y="4134725"/>
            <a:ext cx="8058778" cy="116955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rgbClr val="000000"/>
                </a:solidFill>
                <a:latin typeface="Courier New"/>
                <a:ea typeface="Courier New"/>
                <a:cs typeface="Courier New"/>
                <a:sym typeface="Courier New"/>
              </a:rPr>
              <a:t>Branch(config)# </a:t>
            </a:r>
            <a:r>
              <a:rPr lang="en-US" sz="1400" b="1" dirty="0" err="1">
                <a:solidFill>
                  <a:srgbClr val="FF0000"/>
                </a:solidFill>
                <a:latin typeface="Courier New"/>
                <a:ea typeface="Courier New"/>
                <a:cs typeface="Courier New"/>
                <a:sym typeface="Courier New"/>
              </a:rPr>
              <a:t>ip</a:t>
            </a:r>
            <a:r>
              <a:rPr lang="en-US" sz="1400" b="1" dirty="0">
                <a:solidFill>
                  <a:srgbClr val="FF0000"/>
                </a:solidFill>
                <a:latin typeface="Courier New"/>
                <a:ea typeface="Courier New"/>
                <a:cs typeface="Courier New"/>
                <a:sym typeface="Courier New"/>
              </a:rPr>
              <a:t> route 209.165.200.238 255.255.255.255 198.51.100.2</a:t>
            </a:r>
            <a:endParaRPr dirty="0"/>
          </a:p>
          <a:p>
            <a:pPr marL="0" marR="0" lvl="0" indent="0" algn="l" rtl="0">
              <a:spcBef>
                <a:spcPts val="0"/>
              </a:spcBef>
              <a:spcAft>
                <a:spcPts val="0"/>
              </a:spcAft>
              <a:buNone/>
            </a:pPr>
            <a:r>
              <a:rPr lang="en-US" sz="1400" dirty="0">
                <a:solidFill>
                  <a:srgbClr val="000000"/>
                </a:solidFill>
                <a:latin typeface="Courier New"/>
                <a:ea typeface="Courier New"/>
                <a:cs typeface="Courier New"/>
                <a:sym typeface="Courier New"/>
              </a:rPr>
              <a:t>Branch(config)# </a:t>
            </a:r>
            <a:r>
              <a:rPr lang="en-US" sz="1400" b="1" dirty="0">
                <a:solidFill>
                  <a:srgbClr val="FF0000"/>
                </a:solidFill>
                <a:latin typeface="Courier New"/>
                <a:ea typeface="Courier New"/>
                <a:cs typeface="Courier New"/>
                <a:sym typeface="Courier New"/>
              </a:rPr>
              <a:t>ipv6 route 2001:db8:acad:2::238/128 2001:db8:acad:1::2</a:t>
            </a:r>
            <a:endParaRPr dirty="0"/>
          </a:p>
          <a:p>
            <a:pPr marL="0" marR="0" lvl="0" indent="0" algn="l" rtl="0">
              <a:spcBef>
                <a:spcPts val="0"/>
              </a:spcBef>
              <a:spcAft>
                <a:spcPts val="0"/>
              </a:spcAft>
              <a:buNone/>
            </a:pPr>
            <a:r>
              <a:rPr lang="en-US" sz="1400" dirty="0">
                <a:solidFill>
                  <a:srgbClr val="000000"/>
                </a:solidFill>
                <a:latin typeface="Courier New"/>
                <a:ea typeface="Courier New"/>
                <a:cs typeface="Courier New"/>
                <a:sym typeface="Courier New"/>
              </a:rPr>
              <a:t>Branch(config)# </a:t>
            </a:r>
            <a:r>
              <a:rPr lang="en-US" sz="1400" b="1" dirty="0">
                <a:solidFill>
                  <a:srgbClr val="FF0000"/>
                </a:solidFill>
                <a:latin typeface="Courier New"/>
                <a:ea typeface="Courier New"/>
                <a:cs typeface="Courier New"/>
                <a:sym typeface="Courier New"/>
              </a:rPr>
              <a:t>exit </a:t>
            </a:r>
            <a:endParaRPr dirty="0"/>
          </a:p>
          <a:p>
            <a:pPr marL="0" marR="0" lvl="0" indent="0" algn="l" rtl="0">
              <a:spcBef>
                <a:spcPts val="0"/>
              </a:spcBef>
              <a:spcAft>
                <a:spcPts val="0"/>
              </a:spcAft>
              <a:buNone/>
            </a:pPr>
            <a:r>
              <a:rPr lang="en-US" sz="1400" dirty="0">
                <a:solidFill>
                  <a:srgbClr val="000000"/>
                </a:solidFill>
                <a:latin typeface="Courier New"/>
                <a:ea typeface="Courier New"/>
                <a:cs typeface="Courier New"/>
                <a:sym typeface="Courier New"/>
              </a:rPr>
              <a:t>Branch#</a:t>
            </a:r>
            <a:endParaRPr dirty="0"/>
          </a:p>
          <a:p>
            <a:pPr marL="0" marR="0" lvl="0" indent="0" algn="l" rtl="0">
              <a:spcBef>
                <a:spcPts val="0"/>
              </a:spcBef>
              <a:spcAft>
                <a:spcPts val="0"/>
              </a:spcAft>
              <a:buNone/>
            </a:pPr>
            <a:endParaRPr sz="1400" dirty="0">
              <a:solidFill>
                <a:schemeClr val="dk1"/>
              </a:solidFill>
              <a:latin typeface="Arial"/>
              <a:ea typeface="Arial"/>
              <a:cs typeface="Arial"/>
              <a:sym typeface="Arial"/>
            </a:endParaRPr>
          </a:p>
        </p:txBody>
      </p:sp>
      <p:cxnSp>
        <p:nvCxnSpPr>
          <p:cNvPr id="505" name="Google Shape;505;p35"/>
          <p:cNvCxnSpPr>
            <a:stCxn id="504" idx="0"/>
          </p:cNvCxnSpPr>
          <p:nvPr/>
        </p:nvCxnSpPr>
        <p:spPr>
          <a:xfrm rot="10800000">
            <a:off x="2276312" y="3881225"/>
            <a:ext cx="2838300" cy="253500"/>
          </a:xfrm>
          <a:prstGeom prst="straightConnector1">
            <a:avLst/>
          </a:prstGeom>
          <a:noFill/>
          <a:ln w="9525" cap="flat" cmpd="sng">
            <a:solidFill>
              <a:srgbClr val="004B68"/>
            </a:solidFill>
            <a:prstDash val="solid"/>
            <a:round/>
            <a:headEnd type="none" w="sm" len="sm"/>
            <a:tailEnd type="stealth" w="med" len="med"/>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36"/>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Static Host Routes</a:t>
            </a:r>
            <a:br>
              <a:rPr lang="en-US" sz="1600"/>
            </a:br>
            <a:r>
              <a:rPr lang="en-US" sz="2400"/>
              <a:t>Configure Static Host Routes</a:t>
            </a:r>
            <a:endParaRPr/>
          </a:p>
        </p:txBody>
      </p:sp>
      <p:sp>
        <p:nvSpPr>
          <p:cNvPr id="512" name="Google Shape;512;p36"/>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The example shows the IPv4 and IPv6 static host route configuration on the Branch router to access the server.</a:t>
            </a:r>
            <a:endParaRPr/>
          </a:p>
          <a:p>
            <a:pPr marL="0" lvl="0" indent="0" algn="l" rtl="0">
              <a:lnSpc>
                <a:spcPct val="100000"/>
              </a:lnSpc>
              <a:spcBef>
                <a:spcPts val="320"/>
              </a:spcBef>
              <a:spcAft>
                <a:spcPts val="0"/>
              </a:spcAft>
              <a:buSzPts val="1600"/>
              <a:buNone/>
            </a:pPr>
            <a:endParaRPr sz="1600">
              <a:solidFill>
                <a:srgbClr val="000000"/>
              </a:solidFill>
            </a:endParaRPr>
          </a:p>
          <a:p>
            <a:pPr marL="0" lvl="0" indent="0" algn="l" rtl="0">
              <a:lnSpc>
                <a:spcPct val="100000"/>
              </a:lnSpc>
              <a:spcBef>
                <a:spcPts val="0"/>
              </a:spcBef>
              <a:spcAft>
                <a:spcPts val="0"/>
              </a:spcAft>
              <a:buSzPts val="1400"/>
              <a:buNone/>
            </a:pPr>
            <a:r>
              <a:rPr lang="en-US" sz="1400">
                <a:solidFill>
                  <a:srgbClr val="000000"/>
                </a:solidFill>
                <a:latin typeface="Courier New"/>
                <a:ea typeface="Courier New"/>
                <a:cs typeface="Courier New"/>
                <a:sym typeface="Courier New"/>
              </a:rPr>
              <a:t>Branch(config)# </a:t>
            </a:r>
            <a:r>
              <a:rPr lang="en-US" sz="1400" b="1">
                <a:solidFill>
                  <a:srgbClr val="FF0000"/>
                </a:solidFill>
                <a:latin typeface="Courier New"/>
                <a:ea typeface="Courier New"/>
                <a:cs typeface="Courier New"/>
                <a:sym typeface="Courier New"/>
              </a:rPr>
              <a:t>ip route 209.165.200.238 255.255.255.255 198.51.100.2</a:t>
            </a:r>
            <a:endParaRPr/>
          </a:p>
          <a:p>
            <a:pPr marL="0" lvl="0" indent="0" algn="l" rtl="0">
              <a:lnSpc>
                <a:spcPct val="100000"/>
              </a:lnSpc>
              <a:spcBef>
                <a:spcPts val="0"/>
              </a:spcBef>
              <a:spcAft>
                <a:spcPts val="0"/>
              </a:spcAft>
              <a:buSzPts val="1400"/>
              <a:buNone/>
            </a:pPr>
            <a:r>
              <a:rPr lang="en-US" sz="1400">
                <a:solidFill>
                  <a:srgbClr val="000000"/>
                </a:solidFill>
                <a:latin typeface="Courier New"/>
                <a:ea typeface="Courier New"/>
                <a:cs typeface="Courier New"/>
                <a:sym typeface="Courier New"/>
              </a:rPr>
              <a:t>Branch(config)# </a:t>
            </a:r>
            <a:r>
              <a:rPr lang="en-US" sz="1400" b="1">
                <a:solidFill>
                  <a:srgbClr val="FF0000"/>
                </a:solidFill>
                <a:latin typeface="Courier New"/>
                <a:ea typeface="Courier New"/>
                <a:cs typeface="Courier New"/>
                <a:sym typeface="Courier New"/>
              </a:rPr>
              <a:t>ipv6 route 2001:db8:acad:2::238/128 2001:db8:acad:1::2</a:t>
            </a:r>
            <a:endParaRPr/>
          </a:p>
          <a:p>
            <a:pPr marL="0" lvl="0" indent="0" algn="l" rtl="0">
              <a:lnSpc>
                <a:spcPct val="100000"/>
              </a:lnSpc>
              <a:spcBef>
                <a:spcPts val="0"/>
              </a:spcBef>
              <a:spcAft>
                <a:spcPts val="0"/>
              </a:spcAft>
              <a:buSzPts val="1400"/>
              <a:buNone/>
            </a:pPr>
            <a:r>
              <a:rPr lang="en-US" sz="1400">
                <a:solidFill>
                  <a:srgbClr val="000000"/>
                </a:solidFill>
                <a:latin typeface="Courier New"/>
                <a:ea typeface="Courier New"/>
                <a:cs typeface="Courier New"/>
                <a:sym typeface="Courier New"/>
              </a:rPr>
              <a:t>Branch(config)# </a:t>
            </a:r>
            <a:r>
              <a:rPr lang="en-US" sz="1400" b="1">
                <a:solidFill>
                  <a:srgbClr val="FF0000"/>
                </a:solidFill>
                <a:latin typeface="Courier New"/>
                <a:ea typeface="Courier New"/>
                <a:cs typeface="Courier New"/>
                <a:sym typeface="Courier New"/>
              </a:rPr>
              <a:t>exit </a:t>
            </a:r>
            <a:endParaRPr/>
          </a:p>
          <a:p>
            <a:pPr marL="0" lvl="0" indent="0" algn="l" rtl="0">
              <a:lnSpc>
                <a:spcPct val="100000"/>
              </a:lnSpc>
              <a:spcBef>
                <a:spcPts val="0"/>
              </a:spcBef>
              <a:spcAft>
                <a:spcPts val="0"/>
              </a:spcAft>
              <a:buSzPts val="1400"/>
              <a:buNone/>
            </a:pPr>
            <a:r>
              <a:rPr lang="en-US" sz="1400">
                <a:solidFill>
                  <a:srgbClr val="000000"/>
                </a:solidFill>
                <a:latin typeface="Courier New"/>
                <a:ea typeface="Courier New"/>
                <a:cs typeface="Courier New"/>
                <a:sym typeface="Courier New"/>
              </a:rPr>
              <a:t>Branch#</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37"/>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Static Host Routes</a:t>
            </a:r>
            <a:br>
              <a:rPr lang="en-US" sz="1600"/>
            </a:br>
            <a:r>
              <a:rPr lang="en-US" sz="2400"/>
              <a:t>Verify Static Host Routes</a:t>
            </a:r>
            <a:endParaRPr/>
          </a:p>
        </p:txBody>
      </p:sp>
      <p:sp>
        <p:nvSpPr>
          <p:cNvPr id="519" name="Google Shape;519;p37"/>
          <p:cNvSpPr txBox="1">
            <a:spLocks noGrp="1"/>
          </p:cNvSpPr>
          <p:nvPr>
            <p:ph type="body" idx="1"/>
          </p:nvPr>
        </p:nvSpPr>
        <p:spPr>
          <a:xfrm>
            <a:off x="474662" y="731837"/>
            <a:ext cx="8280057" cy="322263"/>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A review of both the IPv4 and IPv6 route tables verifies that the routes are active.</a:t>
            </a:r>
            <a:endParaRPr sz="1600" b="1">
              <a:solidFill>
                <a:srgbClr val="000000"/>
              </a:solidFill>
              <a:latin typeface="Courier New"/>
              <a:ea typeface="Courier New"/>
              <a:cs typeface="Courier New"/>
              <a:sym typeface="Courier New"/>
            </a:endParaRPr>
          </a:p>
        </p:txBody>
      </p:sp>
      <p:pic>
        <p:nvPicPr>
          <p:cNvPr id="520" name="Google Shape;520;p37"/>
          <p:cNvPicPr preferRelativeResize="0"/>
          <p:nvPr/>
        </p:nvPicPr>
        <p:blipFill rotWithShape="1">
          <a:blip r:embed="rId3">
            <a:alphaModFix/>
          </a:blip>
          <a:srcRect/>
          <a:stretch/>
        </p:blipFill>
        <p:spPr>
          <a:xfrm>
            <a:off x="710119" y="1156519"/>
            <a:ext cx="7714034" cy="341733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38"/>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Static Host Routes</a:t>
            </a:r>
            <a:br>
              <a:rPr lang="en-US" sz="1600"/>
            </a:br>
            <a:r>
              <a:rPr lang="en-US" sz="2400"/>
              <a:t>Configure IPv6 Static Host Route with Link-Local Next-Hop</a:t>
            </a:r>
            <a:endParaRPr/>
          </a:p>
        </p:txBody>
      </p:sp>
      <p:sp>
        <p:nvSpPr>
          <p:cNvPr id="527" name="Google Shape;527;p38"/>
          <p:cNvSpPr txBox="1">
            <a:spLocks noGrp="1"/>
          </p:cNvSpPr>
          <p:nvPr>
            <p:ph type="body" idx="1"/>
          </p:nvPr>
        </p:nvSpPr>
        <p:spPr>
          <a:xfrm>
            <a:off x="474662" y="731838"/>
            <a:ext cx="8280057" cy="1325562"/>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For IPv6 static routes, the </a:t>
            </a:r>
            <a:r>
              <a:rPr lang="en-US" sz="1600">
                <a:solidFill>
                  <a:srgbClr val="FF0000"/>
                </a:solidFill>
              </a:rPr>
              <a:t>next-hop address </a:t>
            </a:r>
            <a:r>
              <a:rPr lang="en-US" sz="1600">
                <a:solidFill>
                  <a:srgbClr val="000000"/>
                </a:solidFill>
              </a:rPr>
              <a:t>can be the </a:t>
            </a:r>
            <a:r>
              <a:rPr lang="en-US" sz="1600">
                <a:solidFill>
                  <a:srgbClr val="FF0000"/>
                </a:solidFill>
              </a:rPr>
              <a:t>link-local address </a:t>
            </a:r>
            <a:r>
              <a:rPr lang="en-US" sz="1600">
                <a:solidFill>
                  <a:srgbClr val="000000"/>
                </a:solidFill>
              </a:rPr>
              <a:t>of the adjacent router. However, you must specify an </a:t>
            </a:r>
            <a:r>
              <a:rPr lang="en-US" sz="1600">
                <a:solidFill>
                  <a:srgbClr val="FF0000"/>
                </a:solidFill>
              </a:rPr>
              <a:t>interface type </a:t>
            </a:r>
            <a:r>
              <a:rPr lang="en-US" sz="1600">
                <a:solidFill>
                  <a:srgbClr val="000000"/>
                </a:solidFill>
              </a:rPr>
              <a:t>and </a:t>
            </a:r>
            <a:r>
              <a:rPr lang="en-US" sz="1600">
                <a:solidFill>
                  <a:srgbClr val="FF0000"/>
                </a:solidFill>
              </a:rPr>
              <a:t>an interface number </a:t>
            </a:r>
            <a:r>
              <a:rPr lang="en-US" sz="1600">
                <a:solidFill>
                  <a:srgbClr val="000000"/>
                </a:solidFill>
              </a:rPr>
              <a:t>when using a </a:t>
            </a:r>
            <a:r>
              <a:rPr lang="en-US" sz="1600">
                <a:solidFill>
                  <a:srgbClr val="FF0000"/>
                </a:solidFill>
              </a:rPr>
              <a:t>link-local address </a:t>
            </a:r>
            <a:r>
              <a:rPr lang="en-US" sz="1600">
                <a:solidFill>
                  <a:srgbClr val="000000"/>
                </a:solidFill>
              </a:rPr>
              <a:t>as the next hop, as shown in the example. </a:t>
            </a:r>
            <a:endParaRPr sz="1600">
              <a:solidFill>
                <a:srgbClr val="000000"/>
              </a:solidFill>
            </a:endParaRPr>
          </a:p>
          <a:p>
            <a:pPr marL="0" lvl="0" indent="0" algn="l" rtl="0">
              <a:lnSpc>
                <a:spcPct val="100000"/>
              </a:lnSpc>
              <a:spcBef>
                <a:spcPts val="320"/>
              </a:spcBef>
              <a:spcAft>
                <a:spcPts val="0"/>
              </a:spcAft>
              <a:buSzPts val="1600"/>
              <a:buNone/>
            </a:pPr>
            <a:r>
              <a:rPr lang="en-US" sz="1600">
                <a:solidFill>
                  <a:srgbClr val="000000"/>
                </a:solidFill>
              </a:rPr>
              <a:t>First, the original IPv6 static host route is </a:t>
            </a:r>
            <a:r>
              <a:rPr lang="en-US" sz="1600">
                <a:solidFill>
                  <a:srgbClr val="FF0000"/>
                </a:solidFill>
              </a:rPr>
              <a:t>removed</a:t>
            </a:r>
            <a:r>
              <a:rPr lang="en-US" sz="1600">
                <a:solidFill>
                  <a:srgbClr val="000000"/>
                </a:solidFill>
              </a:rPr>
              <a:t>, then a fully specified route configured with the IPv6 address of the server and the IPv6 link-local address of the ISP router.</a:t>
            </a:r>
            <a:endParaRPr sz="1600" b="1">
              <a:solidFill>
                <a:srgbClr val="000000"/>
              </a:solidFill>
              <a:latin typeface="Courier New"/>
              <a:ea typeface="Courier New"/>
              <a:cs typeface="Courier New"/>
              <a:sym typeface="Courier New"/>
            </a:endParaRPr>
          </a:p>
        </p:txBody>
      </p:sp>
      <p:pic>
        <p:nvPicPr>
          <p:cNvPr id="528" name="Google Shape;528;p38"/>
          <p:cNvPicPr preferRelativeResize="0"/>
          <p:nvPr/>
        </p:nvPicPr>
        <p:blipFill rotWithShape="1">
          <a:blip r:embed="rId3">
            <a:alphaModFix/>
          </a:blip>
          <a:srcRect/>
          <a:stretch/>
        </p:blipFill>
        <p:spPr>
          <a:xfrm>
            <a:off x="466928" y="2150431"/>
            <a:ext cx="8249055" cy="2271303"/>
          </a:xfrm>
          <a:prstGeom prst="rect">
            <a:avLst/>
          </a:prstGeom>
          <a:noFill/>
          <a:ln>
            <a:noFill/>
          </a:ln>
        </p:spPr>
      </p:pic>
      <p:sp>
        <p:nvSpPr>
          <p:cNvPr id="529" name="Google Shape;529;p38"/>
          <p:cNvSpPr/>
          <p:nvPr/>
        </p:nvSpPr>
        <p:spPr>
          <a:xfrm>
            <a:off x="2227634" y="2110902"/>
            <a:ext cx="321013" cy="252919"/>
          </a:xfrm>
          <a:prstGeom prst="rect">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30" name="Google Shape;530;p38"/>
          <p:cNvSpPr/>
          <p:nvPr/>
        </p:nvSpPr>
        <p:spPr>
          <a:xfrm>
            <a:off x="2188724" y="2393004"/>
            <a:ext cx="6517532" cy="214009"/>
          </a:xfrm>
          <a:prstGeom prst="rect">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31" name="Google Shape;531;p38"/>
          <p:cNvSpPr/>
          <p:nvPr/>
        </p:nvSpPr>
        <p:spPr>
          <a:xfrm>
            <a:off x="5235363" y="3554403"/>
            <a:ext cx="375776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Arial"/>
                <a:ea typeface="Arial"/>
                <a:cs typeface="Arial"/>
                <a:sym typeface="Arial"/>
              </a:rPr>
              <a:t>interface type and</a:t>
            </a:r>
            <a:r>
              <a:rPr lang="en-US" sz="1600">
                <a:solidFill>
                  <a:srgbClr val="000000"/>
                </a:solidFill>
                <a:latin typeface="Arial"/>
                <a:ea typeface="Arial"/>
                <a:cs typeface="Arial"/>
                <a:sym typeface="Arial"/>
              </a:rPr>
              <a:t> </a:t>
            </a:r>
            <a:r>
              <a:rPr lang="en-US" sz="1600">
                <a:solidFill>
                  <a:srgbClr val="FF0000"/>
                </a:solidFill>
                <a:latin typeface="Arial"/>
                <a:ea typeface="Arial"/>
                <a:cs typeface="Arial"/>
                <a:sym typeface="Arial"/>
              </a:rPr>
              <a:t>an interface number </a:t>
            </a:r>
            <a:endParaRPr sz="1600">
              <a:solidFill>
                <a:schemeClr val="dk1"/>
              </a:solidFill>
              <a:latin typeface="Arial"/>
              <a:ea typeface="Arial"/>
              <a:cs typeface="Arial"/>
              <a:sym typeface="Arial"/>
            </a:endParaRPr>
          </a:p>
        </p:txBody>
      </p:sp>
      <p:cxnSp>
        <p:nvCxnSpPr>
          <p:cNvPr id="532" name="Google Shape;532;p38"/>
          <p:cNvCxnSpPr/>
          <p:nvPr/>
        </p:nvCxnSpPr>
        <p:spPr>
          <a:xfrm rot="10800000">
            <a:off x="6877455" y="2645923"/>
            <a:ext cx="9728" cy="963039"/>
          </a:xfrm>
          <a:prstGeom prst="straightConnector1">
            <a:avLst/>
          </a:prstGeom>
          <a:noFill/>
          <a:ln w="25400" cap="flat" cmpd="sng">
            <a:solidFill>
              <a:schemeClr val="lt1"/>
            </a:solidFill>
            <a:prstDash val="solid"/>
            <a:round/>
            <a:headEnd type="none" w="sm" len="sm"/>
            <a:tailEnd type="stealth" w="med" len="med"/>
          </a:ln>
        </p:spPr>
      </p:cxnSp>
      <p:cxnSp>
        <p:nvCxnSpPr>
          <p:cNvPr id="533" name="Google Shape;533;p38"/>
          <p:cNvCxnSpPr/>
          <p:nvPr/>
        </p:nvCxnSpPr>
        <p:spPr>
          <a:xfrm rot="10800000" flipH="1">
            <a:off x="8054502" y="2594042"/>
            <a:ext cx="16212" cy="353439"/>
          </a:xfrm>
          <a:prstGeom prst="straightConnector1">
            <a:avLst/>
          </a:prstGeom>
          <a:noFill/>
          <a:ln w="25400" cap="flat" cmpd="sng">
            <a:solidFill>
              <a:schemeClr val="lt1"/>
            </a:solidFill>
            <a:prstDash val="solid"/>
            <a:round/>
            <a:headEnd type="none" w="sm" len="sm"/>
            <a:tailEnd type="stealth" w="med" len="med"/>
          </a:ln>
        </p:spPr>
      </p:cxnSp>
      <p:sp>
        <p:nvSpPr>
          <p:cNvPr id="534" name="Google Shape;534;p38"/>
          <p:cNvSpPr/>
          <p:nvPr/>
        </p:nvSpPr>
        <p:spPr>
          <a:xfrm>
            <a:off x="6970746" y="3038837"/>
            <a:ext cx="203132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Arial"/>
                <a:ea typeface="Arial"/>
                <a:cs typeface="Arial"/>
                <a:sym typeface="Arial"/>
              </a:rPr>
              <a:t>link-local address </a:t>
            </a: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39"/>
          <p:cNvSpPr txBox="1">
            <a:spLocks noGrp="1"/>
          </p:cNvSpPr>
          <p:nvPr>
            <p:ph type="ctrTitle"/>
          </p:nvPr>
        </p:nvSpPr>
        <p:spPr>
          <a:xfrm>
            <a:off x="416425" y="1747520"/>
            <a:ext cx="8280314" cy="970280"/>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4600"/>
              <a:buFont typeface="Arial"/>
              <a:buNone/>
            </a:pPr>
            <a:r>
              <a:rPr lang="en-US">
                <a:solidFill>
                  <a:srgbClr val="AEE8FA"/>
                </a:solidFill>
              </a:rPr>
              <a:t>15.6 Module Practice and Quiz</a:t>
            </a:r>
            <a:endParaRPr/>
          </a:p>
        </p:txBody>
      </p:sp>
    </p:spTree>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40"/>
          <p:cNvSpPr txBox="1">
            <a:spLocks noGrp="1"/>
          </p:cNvSpPr>
          <p:nvPr>
            <p:ph type="title"/>
          </p:nvPr>
        </p:nvSpPr>
        <p:spPr>
          <a:xfrm>
            <a:off x="0" y="95693"/>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Module Practice and Quiz</a:t>
            </a:r>
            <a:br>
              <a:rPr lang="en-US" sz="1600"/>
            </a:br>
            <a:r>
              <a:rPr lang="en-US" sz="2400"/>
              <a:t>Packet Tracer – Configure IPv4 and IPv6 Static and Default Routes</a:t>
            </a:r>
            <a:endParaRPr/>
          </a:p>
        </p:txBody>
      </p:sp>
      <p:sp>
        <p:nvSpPr>
          <p:cNvPr id="547" name="Google Shape;547;p40"/>
          <p:cNvSpPr txBox="1">
            <a:spLocks noGrp="1"/>
          </p:cNvSpPr>
          <p:nvPr>
            <p:ph type="body" idx="1"/>
          </p:nvPr>
        </p:nvSpPr>
        <p:spPr>
          <a:xfrm>
            <a:off x="474662" y="946298"/>
            <a:ext cx="8280057" cy="3475436"/>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800"/>
              <a:buNone/>
            </a:pPr>
            <a:r>
              <a:rPr lang="en-US" sz="1800">
                <a:solidFill>
                  <a:srgbClr val="000000"/>
                </a:solidFill>
              </a:rPr>
              <a:t>In this Packet Tracer, you will do the following:</a:t>
            </a:r>
            <a:endParaRPr/>
          </a:p>
          <a:p>
            <a:pPr marL="0" lvl="0" indent="0" algn="l" rtl="0">
              <a:lnSpc>
                <a:spcPct val="100000"/>
              </a:lnSpc>
              <a:spcBef>
                <a:spcPts val="360"/>
              </a:spcBef>
              <a:spcAft>
                <a:spcPts val="0"/>
              </a:spcAft>
              <a:buSzPts val="1800"/>
              <a:buNone/>
            </a:pPr>
            <a:endParaRPr sz="1800">
              <a:solidFill>
                <a:srgbClr val="000000"/>
              </a:solidFill>
            </a:endParaRPr>
          </a:p>
          <a:p>
            <a:pPr marL="342900" lvl="0" indent="-342900" algn="l" rtl="0">
              <a:lnSpc>
                <a:spcPct val="100000"/>
              </a:lnSpc>
              <a:spcBef>
                <a:spcPts val="360"/>
              </a:spcBef>
              <a:spcAft>
                <a:spcPts val="0"/>
              </a:spcAft>
              <a:buSzPts val="1800"/>
              <a:buFont typeface="Arial"/>
              <a:buChar char="•"/>
            </a:pPr>
            <a:r>
              <a:rPr lang="en-US" sz="1800">
                <a:solidFill>
                  <a:srgbClr val="000000"/>
                </a:solidFill>
              </a:rPr>
              <a:t>Configure IPv4 Static and floating static default routers</a:t>
            </a:r>
            <a:endParaRPr/>
          </a:p>
          <a:p>
            <a:pPr marL="342900" lvl="0" indent="-342900" algn="l" rtl="0">
              <a:lnSpc>
                <a:spcPct val="100000"/>
              </a:lnSpc>
              <a:spcBef>
                <a:spcPts val="360"/>
              </a:spcBef>
              <a:spcAft>
                <a:spcPts val="0"/>
              </a:spcAft>
              <a:buSzPts val="1800"/>
              <a:buFont typeface="Arial"/>
              <a:buChar char="•"/>
            </a:pPr>
            <a:r>
              <a:rPr lang="en-US" sz="1800">
                <a:solidFill>
                  <a:srgbClr val="000000"/>
                </a:solidFill>
              </a:rPr>
              <a:t>Configure IPv6 static and floating static default routes</a:t>
            </a:r>
            <a:endParaRPr/>
          </a:p>
          <a:p>
            <a:pPr marL="342900" lvl="0" indent="-342900" algn="l" rtl="0">
              <a:lnSpc>
                <a:spcPct val="100000"/>
              </a:lnSpc>
              <a:spcBef>
                <a:spcPts val="360"/>
              </a:spcBef>
              <a:spcAft>
                <a:spcPts val="0"/>
              </a:spcAft>
              <a:buSzPts val="1800"/>
              <a:buFont typeface="Arial"/>
              <a:buChar char="•"/>
            </a:pPr>
            <a:r>
              <a:rPr lang="en-US" sz="1800">
                <a:solidFill>
                  <a:srgbClr val="000000"/>
                </a:solidFill>
              </a:rPr>
              <a:t>ConfigureIPv4 static and floating static routes to internal LANs</a:t>
            </a:r>
            <a:endParaRPr/>
          </a:p>
          <a:p>
            <a:pPr marL="342900" lvl="0" indent="-342900" algn="l" rtl="0">
              <a:lnSpc>
                <a:spcPct val="100000"/>
              </a:lnSpc>
              <a:spcBef>
                <a:spcPts val="360"/>
              </a:spcBef>
              <a:spcAft>
                <a:spcPts val="0"/>
              </a:spcAft>
              <a:buSzPts val="1800"/>
              <a:buFont typeface="Arial"/>
              <a:buChar char="•"/>
            </a:pPr>
            <a:r>
              <a:rPr lang="en-US" sz="1800">
                <a:solidFill>
                  <a:srgbClr val="000000"/>
                </a:solidFill>
              </a:rPr>
              <a:t>Configure IPv6 static and floating static routes to the internal LANS</a:t>
            </a:r>
            <a:endParaRPr/>
          </a:p>
          <a:p>
            <a:pPr marL="342900" lvl="0" indent="-342900" algn="l" rtl="0">
              <a:lnSpc>
                <a:spcPct val="100000"/>
              </a:lnSpc>
              <a:spcBef>
                <a:spcPts val="360"/>
              </a:spcBef>
              <a:spcAft>
                <a:spcPts val="0"/>
              </a:spcAft>
              <a:buSzPts val="1800"/>
              <a:buFont typeface="Arial"/>
              <a:buChar char="•"/>
            </a:pPr>
            <a:r>
              <a:rPr lang="en-US" sz="1800">
                <a:solidFill>
                  <a:srgbClr val="000000"/>
                </a:solidFill>
              </a:rPr>
              <a:t>Configure IPv4 host routes</a:t>
            </a:r>
            <a:endParaRPr/>
          </a:p>
          <a:p>
            <a:pPr marL="342900" lvl="0" indent="-342900" algn="l" rtl="0">
              <a:lnSpc>
                <a:spcPct val="100000"/>
              </a:lnSpc>
              <a:spcBef>
                <a:spcPts val="360"/>
              </a:spcBef>
              <a:spcAft>
                <a:spcPts val="0"/>
              </a:spcAft>
              <a:buSzPts val="1800"/>
              <a:buFont typeface="Arial"/>
              <a:buChar char="•"/>
            </a:pPr>
            <a:r>
              <a:rPr lang="en-US" sz="1800">
                <a:solidFill>
                  <a:srgbClr val="000000"/>
                </a:solidFill>
              </a:rPr>
              <a:t>Configure IPv6 host routes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41"/>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Module Practice and Quiz</a:t>
            </a:r>
            <a:br>
              <a:rPr lang="en-US" sz="1600"/>
            </a:br>
            <a:r>
              <a:rPr lang="en-US" sz="2400"/>
              <a:t>Lab - Configure IPv4 and IPv6 Static and Default Routes</a:t>
            </a:r>
            <a:endParaRPr/>
          </a:p>
        </p:txBody>
      </p:sp>
      <p:sp>
        <p:nvSpPr>
          <p:cNvPr id="554" name="Google Shape;554;p41"/>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800"/>
              <a:buNone/>
            </a:pPr>
            <a:r>
              <a:rPr lang="en-US" sz="1800">
                <a:solidFill>
                  <a:srgbClr val="000000"/>
                </a:solidFill>
              </a:rPr>
              <a:t>In this lab, you will complete the following objectives:</a:t>
            </a:r>
            <a:endParaRPr/>
          </a:p>
          <a:p>
            <a:pPr marL="342900" lvl="0" indent="-342900" algn="l" rtl="0">
              <a:lnSpc>
                <a:spcPct val="100000"/>
              </a:lnSpc>
              <a:spcBef>
                <a:spcPts val="360"/>
              </a:spcBef>
              <a:spcAft>
                <a:spcPts val="0"/>
              </a:spcAft>
              <a:buSzPts val="1800"/>
              <a:buFont typeface="Arial"/>
              <a:buChar char="•"/>
            </a:pPr>
            <a:r>
              <a:rPr lang="en-US" sz="1800">
                <a:solidFill>
                  <a:srgbClr val="000000"/>
                </a:solidFill>
              </a:rPr>
              <a:t>Build the Network and Configure Basic Device Settings</a:t>
            </a:r>
            <a:endParaRPr/>
          </a:p>
          <a:p>
            <a:pPr marL="342900" lvl="0" indent="-342900" algn="l" rtl="0">
              <a:lnSpc>
                <a:spcPct val="100000"/>
              </a:lnSpc>
              <a:spcBef>
                <a:spcPts val="360"/>
              </a:spcBef>
              <a:spcAft>
                <a:spcPts val="0"/>
              </a:spcAft>
              <a:buSzPts val="1800"/>
              <a:buFont typeface="Arial"/>
              <a:buChar char="•"/>
            </a:pPr>
            <a:r>
              <a:rPr lang="en-US" sz="1800">
                <a:solidFill>
                  <a:srgbClr val="000000"/>
                </a:solidFill>
              </a:rPr>
              <a:t>Configure and Verify IP and IPv6 Addressing on R1 and R2</a:t>
            </a:r>
            <a:endParaRPr/>
          </a:p>
          <a:p>
            <a:pPr marL="342900" lvl="0" indent="-342900" algn="l" rtl="0">
              <a:lnSpc>
                <a:spcPct val="100000"/>
              </a:lnSpc>
              <a:spcBef>
                <a:spcPts val="360"/>
              </a:spcBef>
              <a:spcAft>
                <a:spcPts val="0"/>
              </a:spcAft>
              <a:buSzPts val="1800"/>
              <a:buFont typeface="Arial"/>
              <a:buChar char="•"/>
            </a:pPr>
            <a:r>
              <a:rPr lang="en-US" sz="1800">
                <a:solidFill>
                  <a:srgbClr val="000000"/>
                </a:solidFill>
              </a:rPr>
              <a:t>Configure and Verify Static and Default Routing for IPv4 on R1 and R2</a:t>
            </a:r>
            <a:endParaRPr/>
          </a:p>
          <a:p>
            <a:pPr marL="342900" lvl="0" indent="-342900" algn="l" rtl="0">
              <a:lnSpc>
                <a:spcPct val="100000"/>
              </a:lnSpc>
              <a:spcBef>
                <a:spcPts val="360"/>
              </a:spcBef>
              <a:spcAft>
                <a:spcPts val="0"/>
              </a:spcAft>
              <a:buSzPts val="1800"/>
              <a:buFont typeface="Arial"/>
              <a:buChar char="•"/>
            </a:pPr>
            <a:r>
              <a:rPr lang="en-US" sz="1800">
                <a:solidFill>
                  <a:srgbClr val="000000"/>
                </a:solidFill>
              </a:rPr>
              <a:t>Configure and Verify Static and Default Routing for IPv6 on R1 and R2</a:t>
            </a:r>
            <a:br>
              <a:rPr lang="en-US" sz="1600">
                <a:solidFill>
                  <a:srgbClr val="000000"/>
                </a:solidFill>
              </a:rPr>
            </a:br>
            <a:endParaRPr sz="16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42"/>
          <p:cNvSpPr txBox="1">
            <a:spLocks noGrp="1"/>
          </p:cNvSpPr>
          <p:nvPr>
            <p:ph type="title"/>
          </p:nvPr>
        </p:nvSpPr>
        <p:spPr>
          <a:xfrm>
            <a:off x="1" y="41393"/>
            <a:ext cx="9144000" cy="75755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a:t>
            </a:r>
            <a:endParaRPr/>
          </a:p>
        </p:txBody>
      </p:sp>
      <p:sp>
        <p:nvSpPr>
          <p:cNvPr id="561" name="Google Shape;561;p42"/>
          <p:cNvSpPr txBox="1">
            <a:spLocks noGrp="1"/>
          </p:cNvSpPr>
          <p:nvPr>
            <p:ph type="body" idx="1"/>
          </p:nvPr>
        </p:nvSpPr>
        <p:spPr>
          <a:xfrm>
            <a:off x="144065" y="798944"/>
            <a:ext cx="8853286" cy="4155319"/>
          </a:xfrm>
          <a:prstGeom prst="rect">
            <a:avLst/>
          </a:prstGeom>
          <a:noFill/>
          <a:ln>
            <a:noFill/>
          </a:ln>
        </p:spPr>
        <p:txBody>
          <a:bodyPr spcFirstLastPara="1" wrap="square" lIns="91425" tIns="45700" rIns="182875" bIns="45700" anchor="t" anchorCtr="0">
            <a:noAutofit/>
          </a:bodyPr>
          <a:lstStyle/>
          <a:p>
            <a:pPr marL="169863" lvl="0" indent="-169863" algn="l" rtl="0">
              <a:lnSpc>
                <a:spcPct val="100000"/>
              </a:lnSpc>
              <a:spcBef>
                <a:spcPts val="0"/>
              </a:spcBef>
              <a:spcAft>
                <a:spcPts val="0"/>
              </a:spcAft>
              <a:buSzPts val="1260"/>
              <a:buFont typeface="Arial"/>
              <a:buChar char="•"/>
            </a:pPr>
            <a:r>
              <a:rPr lang="en-US" sz="1400"/>
              <a:t>Static routes can be configured for IPv4 and IPv6. Both protocols support the following types of static routes: standard static route, default static route, floating static route, and summary static route. </a:t>
            </a:r>
            <a:endParaRPr/>
          </a:p>
          <a:p>
            <a:pPr marL="169863" lvl="0" indent="-169863" algn="l" rtl="0">
              <a:lnSpc>
                <a:spcPct val="100000"/>
              </a:lnSpc>
              <a:spcBef>
                <a:spcPts val="0"/>
              </a:spcBef>
              <a:spcAft>
                <a:spcPts val="0"/>
              </a:spcAft>
              <a:buSzPts val="1260"/>
              <a:buFont typeface="Arial"/>
              <a:buChar char="•"/>
            </a:pPr>
            <a:r>
              <a:rPr lang="en-US" sz="1400"/>
              <a:t>When configuring a static route, the next hop can be identified by an IP address, exit interface, or both. How the destination is specified creates one of the three following types of static route: next-hop, directly connected, and fully specified. </a:t>
            </a:r>
            <a:endParaRPr/>
          </a:p>
          <a:p>
            <a:pPr marL="169863" lvl="0" indent="-169863" algn="l" rtl="0">
              <a:lnSpc>
                <a:spcPct val="100000"/>
              </a:lnSpc>
              <a:spcBef>
                <a:spcPts val="0"/>
              </a:spcBef>
              <a:spcAft>
                <a:spcPts val="0"/>
              </a:spcAft>
              <a:buSzPts val="1260"/>
              <a:buFont typeface="Arial"/>
              <a:buChar char="•"/>
            </a:pPr>
            <a:r>
              <a:rPr lang="en-US" sz="1400"/>
              <a:t>IPv4 static routes are configured using the following global configuration command: ip route network-address subnet-mask { ip-address | exit-intf [ip=address] } [distance]. </a:t>
            </a:r>
            <a:endParaRPr/>
          </a:p>
          <a:p>
            <a:pPr marL="169863" lvl="0" indent="-169863" algn="l" rtl="0">
              <a:lnSpc>
                <a:spcPct val="100000"/>
              </a:lnSpc>
              <a:spcBef>
                <a:spcPts val="0"/>
              </a:spcBef>
              <a:spcAft>
                <a:spcPts val="0"/>
              </a:spcAft>
              <a:buSzPts val="1260"/>
              <a:buFont typeface="Arial"/>
              <a:buChar char="•"/>
            </a:pPr>
            <a:r>
              <a:rPr lang="en-US" sz="1400"/>
              <a:t>IPv6 static routes are configured using the following global configuration command: ipv6 route ipv6-prefix/prefix-length { ipv6-address | exit-intf [ipv6-address]} [distance]. </a:t>
            </a:r>
            <a:endParaRPr/>
          </a:p>
          <a:p>
            <a:pPr marL="169863" lvl="0" indent="-169863" algn="l" rtl="0">
              <a:lnSpc>
                <a:spcPct val="100000"/>
              </a:lnSpc>
              <a:spcBef>
                <a:spcPts val="0"/>
              </a:spcBef>
              <a:spcAft>
                <a:spcPts val="0"/>
              </a:spcAft>
              <a:buSzPts val="1260"/>
              <a:buFont typeface="Arial"/>
              <a:buChar char="•"/>
            </a:pPr>
            <a:r>
              <a:rPr lang="en-US" sz="1400"/>
              <a:t>In a next-hop static route, only the next-hop IP address is specified. The exit interface is derived from the next hop. </a:t>
            </a:r>
            <a:endParaRPr/>
          </a:p>
          <a:p>
            <a:pPr marL="169863" lvl="0" indent="-169863" algn="l" rtl="0">
              <a:lnSpc>
                <a:spcPct val="100000"/>
              </a:lnSpc>
              <a:spcBef>
                <a:spcPts val="0"/>
              </a:spcBef>
              <a:spcAft>
                <a:spcPts val="0"/>
              </a:spcAft>
              <a:buSzPts val="1260"/>
              <a:buFont typeface="Arial"/>
              <a:buChar char="•"/>
            </a:pPr>
            <a:r>
              <a:rPr lang="en-US" sz="1400"/>
              <a:t>When configuring a static route, another option is to use the exit interface to specify the next-hop address. Directly connected static routes should only be used with point-to-point serial interfaces. </a:t>
            </a:r>
            <a:endParaRPr/>
          </a:p>
          <a:p>
            <a:pPr marL="169863" lvl="0" indent="-169863" algn="l" rtl="0">
              <a:lnSpc>
                <a:spcPct val="100000"/>
              </a:lnSpc>
              <a:spcBef>
                <a:spcPts val="0"/>
              </a:spcBef>
              <a:spcAft>
                <a:spcPts val="0"/>
              </a:spcAft>
              <a:buSzPts val="1260"/>
              <a:buFont typeface="Arial"/>
              <a:buChar char="•"/>
            </a:pPr>
            <a:r>
              <a:rPr lang="en-US" sz="1400"/>
              <a:t>In a fully specified static route, both the exit interface and the next-hop IP address are specified. This form of static route is used when the exit interface is a multi-access interface and it is necessary to explicitly identify the next hop. The next hop must be directly connected to the specified exit interface. </a:t>
            </a:r>
            <a:endParaRPr/>
          </a:p>
          <a:p>
            <a:pPr marL="169863" lvl="0" indent="-169863" algn="l" rtl="0">
              <a:lnSpc>
                <a:spcPct val="100000"/>
              </a:lnSpc>
              <a:spcBef>
                <a:spcPts val="0"/>
              </a:spcBef>
              <a:spcAft>
                <a:spcPts val="0"/>
              </a:spcAft>
              <a:buSzPts val="1260"/>
              <a:buFont typeface="Arial"/>
              <a:buChar char="•"/>
            </a:pPr>
            <a:r>
              <a:rPr lang="en-US" sz="1400"/>
              <a:t>In a fully specified IPv6 static route, both the exit interface and the next-hop IPv6 address are specified.</a:t>
            </a:r>
            <a:endParaRPr/>
          </a:p>
        </p:txBody>
      </p:sp>
    </p:spTree>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43"/>
          <p:cNvSpPr txBox="1">
            <a:spLocks noGrp="1"/>
          </p:cNvSpPr>
          <p:nvPr>
            <p:ph type="title"/>
          </p:nvPr>
        </p:nvSpPr>
        <p:spPr>
          <a:xfrm>
            <a:off x="1" y="41393"/>
            <a:ext cx="9144000" cy="75755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 (Cont.)</a:t>
            </a:r>
            <a:endParaRPr/>
          </a:p>
        </p:txBody>
      </p:sp>
      <p:sp>
        <p:nvSpPr>
          <p:cNvPr id="568" name="Google Shape;568;p43"/>
          <p:cNvSpPr txBox="1">
            <a:spLocks noGrp="1"/>
          </p:cNvSpPr>
          <p:nvPr>
            <p:ph type="body" idx="1"/>
          </p:nvPr>
        </p:nvSpPr>
        <p:spPr>
          <a:xfrm>
            <a:off x="144065" y="798944"/>
            <a:ext cx="8853286" cy="4155319"/>
          </a:xfrm>
          <a:prstGeom prst="rect">
            <a:avLst/>
          </a:prstGeom>
          <a:noFill/>
          <a:ln>
            <a:noFill/>
          </a:ln>
        </p:spPr>
        <p:txBody>
          <a:bodyPr spcFirstLastPara="1" wrap="square" lIns="91425" tIns="45700" rIns="182875" bIns="45700" anchor="t" anchorCtr="0">
            <a:noAutofit/>
          </a:bodyPr>
          <a:lstStyle/>
          <a:p>
            <a:pPr marL="169863" lvl="0" indent="-169863" algn="l" rtl="0">
              <a:lnSpc>
                <a:spcPct val="100000"/>
              </a:lnSpc>
              <a:spcBef>
                <a:spcPts val="0"/>
              </a:spcBef>
              <a:spcAft>
                <a:spcPts val="0"/>
              </a:spcAft>
              <a:buSzPts val="1260"/>
              <a:buFont typeface="Arial"/>
              <a:buChar char="•"/>
            </a:pPr>
            <a:r>
              <a:rPr lang="en-US" sz="1400"/>
              <a:t>A default route is a static route that matches all packets. </a:t>
            </a:r>
            <a:endParaRPr/>
          </a:p>
          <a:p>
            <a:pPr marL="169863" lvl="0" indent="-169863" algn="l" rtl="0">
              <a:lnSpc>
                <a:spcPct val="100000"/>
              </a:lnSpc>
              <a:spcBef>
                <a:spcPts val="0"/>
              </a:spcBef>
              <a:spcAft>
                <a:spcPts val="0"/>
              </a:spcAft>
              <a:buSzPts val="1260"/>
              <a:buFont typeface="Arial"/>
              <a:buChar char="•"/>
            </a:pPr>
            <a:r>
              <a:rPr lang="en-US" sz="1400"/>
              <a:t>Default static routes are commonly used when connecting an edge router to a service provider network, and a stub router.</a:t>
            </a:r>
            <a:endParaRPr/>
          </a:p>
          <a:p>
            <a:pPr marL="169863" lvl="0" indent="-169863" algn="l" rtl="0">
              <a:lnSpc>
                <a:spcPct val="100000"/>
              </a:lnSpc>
              <a:spcBef>
                <a:spcPts val="0"/>
              </a:spcBef>
              <a:spcAft>
                <a:spcPts val="0"/>
              </a:spcAft>
              <a:buSzPts val="1260"/>
              <a:buFont typeface="Arial"/>
              <a:buChar char="•"/>
            </a:pPr>
            <a:r>
              <a:rPr lang="en-US" sz="1400"/>
              <a:t>The command syntax for an IPv4 default static route is similar to any other IPv4 static route, except that the network address is 0.0.0.0 and the subnet mask is 0.0.0.0. </a:t>
            </a:r>
            <a:endParaRPr/>
          </a:p>
          <a:p>
            <a:pPr marL="169863" lvl="0" indent="-169863" algn="l" rtl="0">
              <a:lnSpc>
                <a:spcPct val="100000"/>
              </a:lnSpc>
              <a:spcBef>
                <a:spcPts val="0"/>
              </a:spcBef>
              <a:spcAft>
                <a:spcPts val="0"/>
              </a:spcAft>
              <a:buSzPts val="1260"/>
              <a:buFont typeface="Arial"/>
              <a:buChar char="•"/>
            </a:pPr>
            <a:r>
              <a:rPr lang="en-US" sz="1400"/>
              <a:t>The command syntax for an IPv6 default static route is similar to any other IPv6 static route, except that the ipv6-prefix/prefix-length is ::/0, which matches all routes. </a:t>
            </a:r>
            <a:endParaRPr/>
          </a:p>
          <a:p>
            <a:pPr marL="169863" lvl="0" indent="-169863" algn="l" rtl="0">
              <a:lnSpc>
                <a:spcPct val="100000"/>
              </a:lnSpc>
              <a:spcBef>
                <a:spcPts val="0"/>
              </a:spcBef>
              <a:spcAft>
                <a:spcPts val="0"/>
              </a:spcAft>
              <a:buSzPts val="1260"/>
              <a:buFont typeface="Arial"/>
              <a:buChar char="•"/>
            </a:pPr>
            <a:r>
              <a:rPr lang="en-US" sz="1400"/>
              <a:t>Floating static routes are static routes that are used to provide a backup path to a primary static or dynamic route in the event of a link failure. </a:t>
            </a:r>
            <a:endParaRPr/>
          </a:p>
          <a:p>
            <a:pPr marL="169863" lvl="0" indent="-169863" algn="l" rtl="0">
              <a:lnSpc>
                <a:spcPct val="100000"/>
              </a:lnSpc>
              <a:spcBef>
                <a:spcPts val="0"/>
              </a:spcBef>
              <a:spcAft>
                <a:spcPts val="0"/>
              </a:spcAft>
              <a:buSzPts val="1260"/>
              <a:buFont typeface="Arial"/>
              <a:buChar char="•"/>
            </a:pPr>
            <a:r>
              <a:rPr lang="en-US" sz="1400"/>
              <a:t>The floating static route is configured with a higher administrative distance than the primary route. By default, static routes have an administrative distance of 1, making them preferable to routes learned from dynamic routing protocols. </a:t>
            </a:r>
            <a:endParaRPr/>
          </a:p>
          <a:p>
            <a:pPr marL="169863" lvl="0" indent="-169863" algn="l" rtl="0">
              <a:lnSpc>
                <a:spcPct val="100000"/>
              </a:lnSpc>
              <a:spcBef>
                <a:spcPts val="0"/>
              </a:spcBef>
              <a:spcAft>
                <a:spcPts val="0"/>
              </a:spcAft>
              <a:buSzPts val="1260"/>
              <a:buFont typeface="Arial"/>
              <a:buChar char="•"/>
            </a:pPr>
            <a:r>
              <a:rPr lang="en-US" sz="1400"/>
              <a:t>IP floating static routes are configured by using the distance argument to specify an administrative distance. </a:t>
            </a:r>
            <a:endParaRPr/>
          </a:p>
          <a:p>
            <a:pPr marL="169863" lvl="0" indent="-169863" algn="l" rtl="0">
              <a:lnSpc>
                <a:spcPct val="100000"/>
              </a:lnSpc>
              <a:spcBef>
                <a:spcPts val="0"/>
              </a:spcBef>
              <a:spcAft>
                <a:spcPts val="0"/>
              </a:spcAft>
              <a:buSzPts val="1260"/>
              <a:buFont typeface="Arial"/>
              <a:buChar char="•"/>
            </a:pPr>
            <a:r>
              <a:rPr lang="en-US" sz="1400"/>
              <a:t>A host route is an IPv4 address with a 32-bit mask or an IPv6 address with a 128-bit mask. </a:t>
            </a:r>
            <a:endParaRPr/>
          </a:p>
          <a:p>
            <a:pPr marL="169863" lvl="0" indent="-89852" algn="l" rtl="0">
              <a:lnSpc>
                <a:spcPct val="100000"/>
              </a:lnSpc>
              <a:spcBef>
                <a:spcPts val="0"/>
              </a:spcBef>
              <a:spcAft>
                <a:spcPts val="0"/>
              </a:spcAft>
              <a:buSzPts val="1260"/>
              <a:buNone/>
            </a:pPr>
            <a:endParaRPr sz="1400"/>
          </a:p>
        </p:txBody>
      </p:sp>
    </p:spTree>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44"/>
          <p:cNvSpPr txBox="1">
            <a:spLocks noGrp="1"/>
          </p:cNvSpPr>
          <p:nvPr>
            <p:ph type="title"/>
          </p:nvPr>
        </p:nvSpPr>
        <p:spPr>
          <a:xfrm>
            <a:off x="1" y="41393"/>
            <a:ext cx="9144000" cy="75755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 (Cont.)</a:t>
            </a:r>
            <a:endParaRPr/>
          </a:p>
        </p:txBody>
      </p:sp>
      <p:sp>
        <p:nvSpPr>
          <p:cNvPr id="575" name="Google Shape;575;p44"/>
          <p:cNvSpPr txBox="1">
            <a:spLocks noGrp="1"/>
          </p:cNvSpPr>
          <p:nvPr>
            <p:ph type="body" idx="1"/>
          </p:nvPr>
        </p:nvSpPr>
        <p:spPr>
          <a:xfrm>
            <a:off x="144065" y="798944"/>
            <a:ext cx="8853286" cy="4155319"/>
          </a:xfrm>
          <a:prstGeom prst="rect">
            <a:avLst/>
          </a:prstGeom>
          <a:noFill/>
          <a:ln>
            <a:noFill/>
          </a:ln>
        </p:spPr>
        <p:txBody>
          <a:bodyPr spcFirstLastPara="1" wrap="square" lIns="91425" tIns="45700" rIns="182875" bIns="45700" anchor="t" anchorCtr="0">
            <a:noAutofit/>
          </a:bodyPr>
          <a:lstStyle/>
          <a:p>
            <a:pPr marL="169863" lvl="0" indent="-169863" algn="l" rtl="0">
              <a:lnSpc>
                <a:spcPct val="100000"/>
              </a:lnSpc>
              <a:spcBef>
                <a:spcPts val="0"/>
              </a:spcBef>
              <a:spcAft>
                <a:spcPts val="0"/>
              </a:spcAft>
              <a:buSzPts val="1260"/>
              <a:buFont typeface="Arial"/>
              <a:buChar char="•"/>
            </a:pPr>
            <a:r>
              <a:rPr lang="en-US" sz="1400"/>
              <a:t>There are three ways a host route can be added to the routing table: automatically installed when an IP address is configured on the router, configured as a static host route, or automatically obtained through other methods not covered in this module. </a:t>
            </a:r>
            <a:endParaRPr/>
          </a:p>
          <a:p>
            <a:pPr marL="169863" lvl="0" indent="-169863" algn="l" rtl="0">
              <a:lnSpc>
                <a:spcPct val="100000"/>
              </a:lnSpc>
              <a:spcBef>
                <a:spcPts val="0"/>
              </a:spcBef>
              <a:spcAft>
                <a:spcPts val="0"/>
              </a:spcAft>
              <a:buSzPts val="1260"/>
              <a:buFont typeface="Arial"/>
              <a:buChar char="•"/>
            </a:pPr>
            <a:r>
              <a:rPr lang="en-US" sz="1400"/>
              <a:t>Cisco IOS automatically installs a host route, also known as a local host route, when an interface address is configured on the router. </a:t>
            </a:r>
            <a:endParaRPr/>
          </a:p>
          <a:p>
            <a:pPr marL="169863" lvl="0" indent="-169863" algn="l" rtl="0">
              <a:lnSpc>
                <a:spcPct val="100000"/>
              </a:lnSpc>
              <a:spcBef>
                <a:spcPts val="0"/>
              </a:spcBef>
              <a:spcAft>
                <a:spcPts val="0"/>
              </a:spcAft>
              <a:buSzPts val="1260"/>
              <a:buFont typeface="Arial"/>
              <a:buChar char="•"/>
            </a:pPr>
            <a:r>
              <a:rPr lang="en-US" sz="1400"/>
              <a:t>A host route can be a manually configured static route to direct traffic to a specific destination device. </a:t>
            </a:r>
            <a:endParaRPr/>
          </a:p>
          <a:p>
            <a:pPr marL="169863" lvl="0" indent="-169863" algn="l" rtl="0">
              <a:lnSpc>
                <a:spcPct val="100000"/>
              </a:lnSpc>
              <a:spcBef>
                <a:spcPts val="0"/>
              </a:spcBef>
              <a:spcAft>
                <a:spcPts val="0"/>
              </a:spcAft>
              <a:buSzPts val="1260"/>
              <a:buFont typeface="Arial"/>
              <a:buChar char="•"/>
            </a:pPr>
            <a:r>
              <a:rPr lang="en-US" sz="1400"/>
              <a:t>For IPv6 static routes, the next-hop address can be the link-local address of the adjacent router; however, you must specify an interface type and an interface number when using a link-local address as the next hop. To do this, the original IPv6 static host route is removed, then a fully specified route is configured with the IPv6 address of the server and the IPv6 link-local address of the ISP router.</a:t>
            </a:r>
            <a:endParaRPr/>
          </a:p>
          <a:p>
            <a:pPr marL="169863" lvl="0" indent="-89852" algn="l" rtl="0">
              <a:lnSpc>
                <a:spcPct val="100000"/>
              </a:lnSpc>
              <a:spcBef>
                <a:spcPts val="0"/>
              </a:spcBef>
              <a:spcAft>
                <a:spcPts val="0"/>
              </a:spcAft>
              <a:buSzPts val="1260"/>
              <a:buNone/>
            </a:pPr>
            <a:endParaRPr sz="1400"/>
          </a:p>
        </p:txBody>
      </p:sp>
    </p:spTree>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Shape 580"/>
        <p:cNvGrpSpPr/>
        <p:nvPr/>
      </p:nvGrpSpPr>
      <p:grpSpPr>
        <a:xfrm>
          <a:off x="0" y="0"/>
          <a:ext cx="0" cy="0"/>
          <a:chOff x="0" y="0"/>
          <a:chExt cx="0" cy="0"/>
        </a:xfrm>
      </p:grpSpPr>
      <p:sp>
        <p:nvSpPr>
          <p:cNvPr id="581" name="Google Shape;581;p45"/>
          <p:cNvSpPr txBox="1">
            <a:spLocks noGrp="1"/>
          </p:cNvSpPr>
          <p:nvPr>
            <p:ph type="title"/>
          </p:nvPr>
        </p:nvSpPr>
        <p:spPr>
          <a:xfrm>
            <a:off x="1" y="41394"/>
            <a:ext cx="9144000" cy="60905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n-US" sz="1400">
                <a:latin typeface="Arial"/>
                <a:ea typeface="Arial"/>
                <a:cs typeface="Arial"/>
                <a:sym typeface="Arial"/>
              </a:rPr>
              <a:t>Module 15: IP Static Routing</a:t>
            </a:r>
            <a:br>
              <a:rPr lang="en-US">
                <a:latin typeface="Arial"/>
                <a:ea typeface="Arial"/>
                <a:cs typeface="Arial"/>
                <a:sym typeface="Arial"/>
              </a:rPr>
            </a:br>
            <a:r>
              <a:rPr lang="en-US">
                <a:latin typeface="Arial"/>
                <a:ea typeface="Arial"/>
                <a:cs typeface="Arial"/>
                <a:sym typeface="Arial"/>
              </a:rPr>
              <a:t>New Terms and Commands</a:t>
            </a:r>
            <a:endParaRPr/>
          </a:p>
        </p:txBody>
      </p:sp>
      <p:sp>
        <p:nvSpPr>
          <p:cNvPr id="582" name="Google Shape;582;p45"/>
          <p:cNvSpPr txBox="1">
            <a:spLocks noGrp="1"/>
          </p:cNvSpPr>
          <p:nvPr>
            <p:ph type="body" idx="1"/>
          </p:nvPr>
        </p:nvSpPr>
        <p:spPr>
          <a:xfrm>
            <a:off x="144065" y="798944"/>
            <a:ext cx="8853286" cy="4155319"/>
          </a:xfrm>
          <a:prstGeom prst="rect">
            <a:avLst/>
          </a:prstGeom>
          <a:noFill/>
          <a:ln>
            <a:noFill/>
          </a:ln>
        </p:spPr>
        <p:txBody>
          <a:bodyPr spcFirstLastPara="1" wrap="square" lIns="91425" tIns="45700" rIns="182875" bIns="45700" anchor="t" anchorCtr="0">
            <a:noAutofit/>
          </a:bodyPr>
          <a:lstStyle/>
          <a:p>
            <a:pPr marL="169863" lvl="0" indent="-169863" algn="l" rtl="0">
              <a:lnSpc>
                <a:spcPct val="100000"/>
              </a:lnSpc>
              <a:spcBef>
                <a:spcPts val="0"/>
              </a:spcBef>
              <a:spcAft>
                <a:spcPts val="0"/>
              </a:spcAft>
              <a:buSzPts val="1080"/>
              <a:buChar char="▪"/>
            </a:pPr>
            <a:r>
              <a:rPr lang="en-US" sz="1200"/>
              <a:t>static route</a:t>
            </a:r>
            <a:endParaRPr/>
          </a:p>
          <a:p>
            <a:pPr marL="169863" lvl="0" indent="-169863" algn="l" rtl="0">
              <a:lnSpc>
                <a:spcPct val="100000"/>
              </a:lnSpc>
              <a:spcBef>
                <a:spcPts val="0"/>
              </a:spcBef>
              <a:spcAft>
                <a:spcPts val="0"/>
              </a:spcAft>
              <a:buSzPts val="1080"/>
              <a:buChar char="▪"/>
            </a:pPr>
            <a:r>
              <a:rPr lang="en-US" sz="1200"/>
              <a:t>default static route</a:t>
            </a:r>
            <a:endParaRPr/>
          </a:p>
          <a:p>
            <a:pPr marL="169863" lvl="0" indent="-169863" algn="l" rtl="0">
              <a:lnSpc>
                <a:spcPct val="100000"/>
              </a:lnSpc>
              <a:spcBef>
                <a:spcPts val="0"/>
              </a:spcBef>
              <a:spcAft>
                <a:spcPts val="0"/>
              </a:spcAft>
              <a:buSzPts val="1080"/>
              <a:buChar char="▪"/>
            </a:pPr>
            <a:r>
              <a:rPr lang="en-US" sz="1200"/>
              <a:t>floating static route</a:t>
            </a:r>
            <a:endParaRPr/>
          </a:p>
          <a:p>
            <a:pPr marL="169863" lvl="0" indent="-169863" algn="l" rtl="0">
              <a:lnSpc>
                <a:spcPct val="100000"/>
              </a:lnSpc>
              <a:spcBef>
                <a:spcPts val="0"/>
              </a:spcBef>
              <a:spcAft>
                <a:spcPts val="0"/>
              </a:spcAft>
              <a:buSzPts val="1080"/>
              <a:buChar char="▪"/>
            </a:pPr>
            <a:r>
              <a:rPr lang="en-US" sz="1200"/>
              <a:t>summary static route</a:t>
            </a:r>
            <a:endParaRPr/>
          </a:p>
          <a:p>
            <a:pPr marL="169863" lvl="0" indent="-169863" algn="l" rtl="0">
              <a:lnSpc>
                <a:spcPct val="100000"/>
              </a:lnSpc>
              <a:spcBef>
                <a:spcPts val="0"/>
              </a:spcBef>
              <a:spcAft>
                <a:spcPts val="0"/>
              </a:spcAft>
              <a:buSzPts val="1080"/>
              <a:buChar char="▪"/>
            </a:pPr>
            <a:r>
              <a:rPr lang="en-US" sz="1200"/>
              <a:t>next-hop route</a:t>
            </a:r>
            <a:endParaRPr/>
          </a:p>
          <a:p>
            <a:pPr marL="169863" lvl="0" indent="-169863" algn="l" rtl="0">
              <a:lnSpc>
                <a:spcPct val="100000"/>
              </a:lnSpc>
              <a:spcBef>
                <a:spcPts val="0"/>
              </a:spcBef>
              <a:spcAft>
                <a:spcPts val="0"/>
              </a:spcAft>
              <a:buSzPts val="1080"/>
              <a:buChar char="▪"/>
            </a:pPr>
            <a:r>
              <a:rPr lang="en-US" sz="1200"/>
              <a:t>directly connected static route</a:t>
            </a:r>
            <a:endParaRPr/>
          </a:p>
          <a:p>
            <a:pPr marL="169863" lvl="0" indent="-169863" algn="l" rtl="0">
              <a:lnSpc>
                <a:spcPct val="100000"/>
              </a:lnSpc>
              <a:spcBef>
                <a:spcPts val="0"/>
              </a:spcBef>
              <a:spcAft>
                <a:spcPts val="0"/>
              </a:spcAft>
              <a:buSzPts val="1080"/>
              <a:buChar char="▪"/>
            </a:pPr>
            <a:r>
              <a:rPr lang="en-US" sz="1200"/>
              <a:t>Fully specified static route</a:t>
            </a:r>
            <a:endParaRPr/>
          </a:p>
          <a:p>
            <a:pPr marL="169863" lvl="0" indent="-169863" algn="l" rtl="0">
              <a:lnSpc>
                <a:spcPct val="100000"/>
              </a:lnSpc>
              <a:spcBef>
                <a:spcPts val="0"/>
              </a:spcBef>
              <a:spcAft>
                <a:spcPts val="0"/>
              </a:spcAft>
              <a:buSzPts val="1080"/>
              <a:buChar char="▪"/>
            </a:pPr>
            <a:r>
              <a:rPr lang="en-US" sz="1200" b="1">
                <a:latin typeface="Courier New"/>
                <a:ea typeface="Courier New"/>
                <a:cs typeface="Courier New"/>
                <a:sym typeface="Courier New"/>
              </a:rPr>
              <a:t>ip route network-address subnet-mask { ip-address | exit-intf [ip-address]} [distance]</a:t>
            </a:r>
            <a:endParaRPr/>
          </a:p>
          <a:p>
            <a:pPr marL="169863" lvl="0" indent="-169863" algn="l" rtl="0">
              <a:lnSpc>
                <a:spcPct val="100000"/>
              </a:lnSpc>
              <a:spcBef>
                <a:spcPts val="0"/>
              </a:spcBef>
              <a:spcAft>
                <a:spcPts val="0"/>
              </a:spcAft>
              <a:buSzPts val="1080"/>
              <a:buChar char="▪"/>
            </a:pPr>
            <a:r>
              <a:rPr lang="en-US" sz="1200" b="1">
                <a:latin typeface="Courier New"/>
                <a:ea typeface="Courier New"/>
                <a:cs typeface="Courier New"/>
                <a:sym typeface="Courier New"/>
              </a:rPr>
              <a:t>ipv6 route ipv6-prefix/prefix-length {ipv6-address | exit-intf [ipv6-address]} [distance]</a:t>
            </a:r>
            <a:endParaRPr/>
          </a:p>
          <a:p>
            <a:pPr marL="169863" lvl="0" indent="-169863" algn="l" rtl="0">
              <a:lnSpc>
                <a:spcPct val="100000"/>
              </a:lnSpc>
              <a:spcBef>
                <a:spcPts val="0"/>
              </a:spcBef>
              <a:spcAft>
                <a:spcPts val="0"/>
              </a:spcAft>
              <a:buSzPts val="1080"/>
              <a:buChar char="▪"/>
            </a:pPr>
            <a:r>
              <a:rPr lang="en-US" sz="1200" b="1">
                <a:latin typeface="Courier New"/>
                <a:ea typeface="Courier New"/>
                <a:cs typeface="Courier New"/>
                <a:sym typeface="Courier New"/>
              </a:rPr>
              <a:t>show ip route static</a:t>
            </a:r>
            <a:endParaRPr/>
          </a:p>
          <a:p>
            <a:pPr marL="169863" lvl="0" indent="-169863" algn="l" rtl="0">
              <a:lnSpc>
                <a:spcPct val="100000"/>
              </a:lnSpc>
              <a:spcBef>
                <a:spcPts val="0"/>
              </a:spcBef>
              <a:spcAft>
                <a:spcPts val="0"/>
              </a:spcAft>
              <a:buSzPts val="1080"/>
              <a:buChar char="▪"/>
            </a:pPr>
            <a:r>
              <a:rPr lang="en-US" sz="1200" b="1">
                <a:latin typeface="Courier New"/>
                <a:ea typeface="Courier New"/>
                <a:cs typeface="Courier New"/>
                <a:sym typeface="Courier New"/>
              </a:rPr>
              <a:t>show ipv6 route static</a:t>
            </a:r>
            <a:endParaRPr/>
          </a:p>
          <a:p>
            <a:pPr marL="169863" lvl="0" indent="-169863" algn="l" rtl="0">
              <a:lnSpc>
                <a:spcPct val="100000"/>
              </a:lnSpc>
              <a:spcBef>
                <a:spcPts val="0"/>
              </a:spcBef>
              <a:spcAft>
                <a:spcPts val="0"/>
              </a:spcAft>
              <a:buSzPts val="1080"/>
              <a:buChar char="▪"/>
            </a:pPr>
            <a:r>
              <a:rPr lang="en-US" sz="1200"/>
              <a:t>quad-zero route</a:t>
            </a:r>
            <a:endParaRPr/>
          </a:p>
          <a:p>
            <a:pPr marL="169863" lvl="0" indent="-169863" algn="l" rtl="0">
              <a:lnSpc>
                <a:spcPct val="100000"/>
              </a:lnSpc>
              <a:spcBef>
                <a:spcPts val="0"/>
              </a:spcBef>
              <a:spcAft>
                <a:spcPts val="0"/>
              </a:spcAft>
              <a:buSzPts val="1080"/>
              <a:buChar char="▪"/>
            </a:pPr>
            <a:r>
              <a:rPr lang="en-US" sz="1200" b="1">
                <a:latin typeface="Courier New"/>
                <a:ea typeface="Courier New"/>
                <a:cs typeface="Courier New"/>
                <a:sym typeface="Courier New"/>
              </a:rPr>
              <a:t>ip route 0.0.0.0 0.0.0.0 {ip-address | exit-intf}</a:t>
            </a:r>
            <a:endParaRPr/>
          </a:p>
          <a:p>
            <a:pPr marL="169863" lvl="0" indent="-169863" algn="l" rtl="0">
              <a:lnSpc>
                <a:spcPct val="100000"/>
              </a:lnSpc>
              <a:spcBef>
                <a:spcPts val="0"/>
              </a:spcBef>
              <a:spcAft>
                <a:spcPts val="0"/>
              </a:spcAft>
              <a:buSzPts val="1080"/>
              <a:buChar char="▪"/>
            </a:pPr>
            <a:r>
              <a:rPr lang="en-US" sz="1200" b="1">
                <a:latin typeface="Courier New"/>
                <a:ea typeface="Courier New"/>
                <a:cs typeface="Courier New"/>
                <a:sym typeface="Courier New"/>
              </a:rPr>
              <a:t>ipv6 route ::/0 {ipv6-address | exit-intf}</a:t>
            </a:r>
            <a:endParaRPr/>
          </a:p>
          <a:p>
            <a:pPr marL="169863" lvl="0" indent="-169863" algn="l" rtl="0">
              <a:lnSpc>
                <a:spcPct val="100000"/>
              </a:lnSpc>
              <a:spcBef>
                <a:spcPts val="0"/>
              </a:spcBef>
              <a:spcAft>
                <a:spcPts val="0"/>
              </a:spcAft>
              <a:buSzPts val="1080"/>
              <a:buChar char="▪"/>
            </a:pPr>
            <a:r>
              <a:rPr lang="en-US" sz="1200"/>
              <a:t>host route</a:t>
            </a:r>
            <a:endParaRPr/>
          </a:p>
          <a:p>
            <a:pPr marL="169863" lvl="0" indent="-169863" algn="l" rtl="0">
              <a:lnSpc>
                <a:spcPct val="100000"/>
              </a:lnSpc>
              <a:spcBef>
                <a:spcPts val="0"/>
              </a:spcBef>
              <a:spcAft>
                <a:spcPts val="0"/>
              </a:spcAft>
              <a:buSzPts val="1080"/>
              <a:buChar char="▪"/>
            </a:pPr>
            <a:r>
              <a:rPr lang="en-US" sz="1200"/>
              <a:t>local host route</a:t>
            </a:r>
            <a:endParaRPr/>
          </a:p>
          <a:p>
            <a:pPr marL="169863" lvl="0" indent="-169863" algn="l" rtl="0">
              <a:lnSpc>
                <a:spcPct val="100000"/>
              </a:lnSpc>
              <a:spcBef>
                <a:spcPts val="0"/>
              </a:spcBef>
              <a:spcAft>
                <a:spcPts val="0"/>
              </a:spcAft>
              <a:buSzPts val="1080"/>
              <a:buChar char="▪"/>
            </a:pPr>
            <a:r>
              <a:rPr lang="en-US" sz="1200"/>
              <a:t>static host route</a:t>
            </a:r>
            <a:endParaRPr/>
          </a:p>
          <a:p>
            <a:pPr marL="169863" lvl="0" indent="-101282" algn="l" rtl="0">
              <a:lnSpc>
                <a:spcPct val="100000"/>
              </a:lnSpc>
              <a:spcBef>
                <a:spcPts val="0"/>
              </a:spcBef>
              <a:spcAft>
                <a:spcPts val="0"/>
              </a:spcAft>
              <a:buSzPts val="1080"/>
              <a:buNone/>
            </a:pPr>
            <a:endParaRPr sz="1200"/>
          </a:p>
        </p:txBody>
      </p:sp>
    </p:spTree>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Tree>
  </p:cSld>
  <p:clrMapOvr>
    <a:masterClrMapping/>
  </p:clrMapOvr>
  <p:transition spd="slow">
    <p:wipe/>
  </p:transition>
</p:sld>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758</TotalTime>
  <Words>5249</Words>
  <Application>Microsoft Office PowerPoint</Application>
  <PresentationFormat>On-screen Show (16:9)</PresentationFormat>
  <Paragraphs>487</Paragraphs>
  <Slides>48</Slides>
  <Notes>48</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Arial</vt:lpstr>
      <vt:lpstr>Calibri</vt:lpstr>
      <vt:lpstr>courier 10 pitch</vt:lpstr>
      <vt:lpstr>Courier New</vt:lpstr>
      <vt:lpstr>Noto Sans Symbols</vt:lpstr>
      <vt:lpstr>Default Theme</vt:lpstr>
      <vt:lpstr>Chapter 1 Part 1  Module 15: IP Static Routing</vt:lpstr>
      <vt:lpstr>Module Objectives</vt:lpstr>
      <vt:lpstr>15.1 Static Routes</vt:lpstr>
      <vt:lpstr>Static Routes Types of Static Routes</vt:lpstr>
      <vt:lpstr>Static Routes Next-Hop Options</vt:lpstr>
      <vt:lpstr>Static Routes IPv4 Static Route Command</vt:lpstr>
      <vt:lpstr>Static Routes IPv6 Static Route Command</vt:lpstr>
      <vt:lpstr>Static Routes Dual-Stack Topology</vt:lpstr>
      <vt:lpstr>Static Routes IPv4 Starting Routing Tables</vt:lpstr>
      <vt:lpstr>Static Routes IPv6 Starting Routing Tables</vt:lpstr>
      <vt:lpstr>15.2 Configure IP Static Routes</vt:lpstr>
      <vt:lpstr>Configure IP Static Routes IPv4 Next-Hop Static Route</vt:lpstr>
      <vt:lpstr>Configure IP Static Routes IPv6 Next-Hop Static Route</vt:lpstr>
      <vt:lpstr>Configure IP Static Routes IPv4 Directly Connected Static Route</vt:lpstr>
      <vt:lpstr>Configure IP Static Routes IPv6 Directly Connected Static Route</vt:lpstr>
      <vt:lpstr>IPv4 Fully Specified Static Route</vt:lpstr>
      <vt:lpstr>Configure IP Static Routes IPv4 Fully Specified Static Route</vt:lpstr>
      <vt:lpstr>Configure IP Static Routes IPv6 Fully Specified Static Route</vt:lpstr>
      <vt:lpstr>Configure IP Static Routes IPv6 Fully Specified Static Route (Cont.)</vt:lpstr>
      <vt:lpstr>Configure IP Static Routes Verify a Static Route</vt:lpstr>
      <vt:lpstr>15.3 Configure IP Default Static Routes</vt:lpstr>
      <vt:lpstr>Configure IP Default Static Routes Default Static Route</vt:lpstr>
      <vt:lpstr>Configure IP Default Static Routes Default Static Route (Cont.)</vt:lpstr>
      <vt:lpstr>Configure IP Default Static Routes Configure a Default Static Route</vt:lpstr>
      <vt:lpstr>Configure IP Default Static Routes Verify a Default Static Route</vt:lpstr>
      <vt:lpstr>Configure IP Default Static Routes Verify a Default Static Route (Cont.)</vt:lpstr>
      <vt:lpstr>15.4 Configure Floating Static Routes</vt:lpstr>
      <vt:lpstr>Configure Floating Static Routes Floating Static Routes</vt:lpstr>
      <vt:lpstr>Configure Floating Static Routes Configure IPv4 and IPv6 Floating Static Routes</vt:lpstr>
      <vt:lpstr>Configure Floating Static Routes Test the Floating Static Routes</vt:lpstr>
      <vt:lpstr>Summary static route </vt:lpstr>
      <vt:lpstr>Summary static route </vt:lpstr>
      <vt:lpstr>15.5 Configure Static Host Routes</vt:lpstr>
      <vt:lpstr>Configure Static Host Routes Host Routes</vt:lpstr>
      <vt:lpstr>Configure Static Host Routes Automatically Installed Host Routes</vt:lpstr>
      <vt:lpstr>PowerPoint Presentation</vt:lpstr>
      <vt:lpstr>Configure Static Host Routes Static Host Routes</vt:lpstr>
      <vt:lpstr>Configure Static Host Routes Configure Static Host Routes</vt:lpstr>
      <vt:lpstr>Configure Static Host Routes Verify Static Host Routes</vt:lpstr>
      <vt:lpstr>Configure Static Host Routes Configure IPv6 Static Host Route with Link-Local Next-Hop</vt:lpstr>
      <vt:lpstr>15.6 Module Practice and Quiz</vt:lpstr>
      <vt:lpstr>Module Practice and Quiz Packet Tracer – Configure IPv4 and IPv6 Static and Default Routes</vt:lpstr>
      <vt:lpstr>Module Practice and Quiz Lab - Configure IPv4 and IPv6 Static and Default Routes</vt:lpstr>
      <vt:lpstr>Module Practice and Quiz What Did I Learn In This Module?</vt:lpstr>
      <vt:lpstr>Module Practice and Quiz What Did I Learn In This Module? (Cont.)</vt:lpstr>
      <vt:lpstr>Module Practice and Quiz What Did I Learn In This Module? (Cont.)</vt:lpstr>
      <vt:lpstr>Module 15: IP Static Routing New Terms and Commands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Part 1  Module 15: IP Static Routing</dc:title>
  <dc:creator>Stephanie Harvey</dc:creator>
  <cp:lastModifiedBy>JESSIE TEOH</cp:lastModifiedBy>
  <cp:revision>27</cp:revision>
  <dcterms:created xsi:type="dcterms:W3CDTF">2019-10-18T06:21:22Z</dcterms:created>
  <dcterms:modified xsi:type="dcterms:W3CDTF">2024-07-02T01:08:13Z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