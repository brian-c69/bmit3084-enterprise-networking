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336">
          <p15:clr>
            <a:srgbClr val="A4A3A4"/>
          </p15:clr>
        </p15:guide>
      </p15:sldGuideLst>
    </p:ext>
    <p:ext uri="GoogleSlidesCustomDataVersion2">
      <go:slidesCustomData xmlns:go="http://customooxmlschemas.google.com/" r:id="rId44" roundtripDataSignature="AMtx7mhLOgY4pwkkDgRBrMfrJUW07ZGM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8A345D-260B-4E79-A705-3A2211E9E459}">
  <a:tblStyle styleId="{028A345D-260B-4E79-A705-3A2211E9E459}"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A"/>
          </a:solidFill>
        </a:fill>
      </a:tcStyle>
    </a:wholeTbl>
    <a:band1H>
      <a:tcTxStyle b="off" i="off"/>
      <a:tcStyle>
        <a:fill>
          <a:solidFill>
            <a:srgbClr val="CACED3"/>
          </a:solidFill>
        </a:fill>
      </a:tcStyle>
    </a:band1H>
    <a:band2H>
      <a:tcTxStyle b="off" i="off"/>
    </a:band2H>
    <a:band1V>
      <a:tcTxStyle b="off" i="off"/>
      <a:tcStyle>
        <a:fill>
          <a:solidFill>
            <a:srgbClr val="CACED3"/>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3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customschemas.google.com/relationships/presentationmetadata" Target="metadata"/><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rPr b="0" lang="en-US"/>
              <a:t>Cisco Networking Academy Program</a:t>
            </a:r>
            <a:endParaRPr/>
          </a:p>
          <a:p>
            <a:pPr indent="0" lvl="0" marL="0" rtl="0" algn="l">
              <a:lnSpc>
                <a:spcPct val="100000"/>
              </a:lnSpc>
              <a:spcBef>
                <a:spcPts val="0"/>
              </a:spcBef>
              <a:spcAft>
                <a:spcPts val="0"/>
              </a:spcAft>
              <a:buSzPts val="1400"/>
              <a:buNone/>
            </a:pPr>
            <a:r>
              <a:rPr lang="en-US">
                <a:solidFill>
                  <a:srgbClr val="B6DDE7"/>
                </a:solidFill>
              </a:rPr>
              <a:t>Enterprise Networking, Security, and Automationv7.0 (ENSA)</a:t>
            </a:r>
            <a:endParaRPr/>
          </a:p>
          <a:p>
            <a:pPr indent="0" lvl="0" marL="0" rtl="0" algn="l">
              <a:lnSpc>
                <a:spcPct val="100000"/>
              </a:lnSpc>
              <a:spcBef>
                <a:spcPts val="0"/>
              </a:spcBef>
              <a:spcAft>
                <a:spcPts val="0"/>
              </a:spcAft>
              <a:buSzPts val="1400"/>
              <a:buNone/>
            </a:pPr>
            <a:r>
              <a:rPr lang="en-US">
                <a:solidFill>
                  <a:srgbClr val="B6DDE7"/>
                </a:solidFill>
              </a:rPr>
              <a:t>Module 4: ACL Concepts</a:t>
            </a:r>
            <a:endParaRPr/>
          </a:p>
          <a:p>
            <a:pPr indent="0" lvl="0" marL="0" rtl="0" algn="l">
              <a:lnSpc>
                <a:spcPct val="100000"/>
              </a:lnSpc>
              <a:spcBef>
                <a:spcPts val="0"/>
              </a:spcBef>
              <a:spcAft>
                <a:spcPts val="0"/>
              </a:spcAft>
              <a:buSzPts val="1400"/>
              <a:buNone/>
            </a:pPr>
            <a:r>
              <a:t/>
            </a:r>
            <a:endParaRPr/>
          </a:p>
        </p:txBody>
      </p:sp>
      <p:sp>
        <p:nvSpPr>
          <p:cNvPr id="236" name="Google Shape;23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notes"/>
          <p:cNvSpPr txBox="1"/>
          <p:nvPr/>
        </p:nvSpPr>
        <p:spPr>
          <a:xfrm>
            <a:off x="5929313" y="8680450"/>
            <a:ext cx="812800" cy="287338"/>
          </a:xfrm>
          <a:prstGeom prst="rect">
            <a:avLst/>
          </a:prstGeom>
          <a:noFill/>
          <a:ln>
            <a:noFill/>
          </a:ln>
        </p:spPr>
        <p:txBody>
          <a:bodyPr anchorCtr="0" anchor="b" bIns="0" lIns="18800" spcFirstLastPara="1" rIns="18800" wrap="square" tIns="0">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US" sz="800" u="none" cap="none" strike="noStrike">
                <a:solidFill>
                  <a:srgbClr val="000000"/>
                </a:solidFill>
                <a:latin typeface="Arial"/>
                <a:ea typeface="Arial"/>
                <a:cs typeface="Arial"/>
                <a:sym typeface="Arial"/>
              </a:rPr>
              <a:t>‹#›</a:t>
            </a:fld>
            <a:endParaRPr b="0" i="0" sz="800" u="none" cap="none" strike="noStrike">
              <a:solidFill>
                <a:srgbClr val="000000"/>
              </a:solidFill>
              <a:latin typeface="Arial"/>
              <a:ea typeface="Arial"/>
              <a:cs typeface="Arial"/>
              <a:sym typeface="Arial"/>
            </a:endParaRPr>
          </a:p>
        </p:txBody>
      </p:sp>
      <p:sp>
        <p:nvSpPr>
          <p:cNvPr id="242" name="Google Shape;24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4.1 - Purpose of ACLs</a:t>
            </a:r>
            <a:endParaRPr/>
          </a:p>
        </p:txBody>
      </p:sp>
      <p:sp>
        <p:nvSpPr>
          <p:cNvPr id="251" name="Google Shape;25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4.1 - Purpose of ACLs</a:t>
            </a:r>
            <a:endParaRPr/>
          </a:p>
          <a:p>
            <a:pPr indent="0" lvl="0" marL="0" rtl="0" algn="l">
              <a:lnSpc>
                <a:spcPct val="100000"/>
              </a:lnSpc>
              <a:spcBef>
                <a:spcPts val="0"/>
              </a:spcBef>
              <a:spcAft>
                <a:spcPts val="0"/>
              </a:spcAft>
              <a:buSzPts val="1400"/>
              <a:buNone/>
            </a:pPr>
            <a:r>
              <a:rPr lang="en-US"/>
              <a:t>4.1.1 - What is an ACL?</a:t>
            </a:r>
            <a:endParaRPr/>
          </a:p>
        </p:txBody>
      </p:sp>
      <p:sp>
        <p:nvSpPr>
          <p:cNvPr id="257" name="Google Shape;25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4.1 - Purpose of ACLs</a:t>
            </a:r>
            <a:endParaRPr/>
          </a:p>
          <a:p>
            <a:pPr indent="0" lvl="0" marL="0" rtl="0" algn="l">
              <a:lnSpc>
                <a:spcPct val="100000"/>
              </a:lnSpc>
              <a:spcBef>
                <a:spcPts val="0"/>
              </a:spcBef>
              <a:spcAft>
                <a:spcPts val="0"/>
              </a:spcAft>
              <a:buSzPts val="1400"/>
              <a:buNone/>
            </a:pPr>
            <a:r>
              <a:rPr lang="en-US"/>
              <a:t>4.1.1 - What is an ACL? (Cont.)</a:t>
            </a:r>
            <a:endParaRPr/>
          </a:p>
        </p:txBody>
      </p:sp>
      <p:sp>
        <p:nvSpPr>
          <p:cNvPr id="264" name="Google Shape;26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71" name="Google Shape;271;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4.1 - Purpose of ACLs</a:t>
            </a:r>
            <a:endParaRPr/>
          </a:p>
          <a:p>
            <a:pPr indent="0" lvl="0" marL="0" rtl="0" algn="l">
              <a:lnSpc>
                <a:spcPct val="100000"/>
              </a:lnSpc>
              <a:spcBef>
                <a:spcPts val="0"/>
              </a:spcBef>
              <a:spcAft>
                <a:spcPts val="0"/>
              </a:spcAft>
              <a:buSzPts val="1400"/>
              <a:buNone/>
            </a:pPr>
            <a:r>
              <a:rPr lang="en-US"/>
              <a:t>4.1.2 - Packet Filtering</a:t>
            </a:r>
            <a:endParaRPr/>
          </a:p>
        </p:txBody>
      </p:sp>
      <p:sp>
        <p:nvSpPr>
          <p:cNvPr id="277" name="Google Shape;277;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4.1 - Purpose of ACLs</a:t>
            </a:r>
            <a:endParaRPr/>
          </a:p>
          <a:p>
            <a:pPr indent="0" lvl="0" marL="0" rtl="0" algn="l">
              <a:lnSpc>
                <a:spcPct val="100000"/>
              </a:lnSpc>
              <a:spcBef>
                <a:spcPts val="0"/>
              </a:spcBef>
              <a:spcAft>
                <a:spcPts val="0"/>
              </a:spcAft>
              <a:buSzPts val="1400"/>
              <a:buNone/>
            </a:pPr>
            <a:r>
              <a:rPr lang="en-US"/>
              <a:t>4.1.3 - ACL Operation</a:t>
            </a:r>
            <a:endParaRPr/>
          </a:p>
        </p:txBody>
      </p:sp>
      <p:sp>
        <p:nvSpPr>
          <p:cNvPr id="285" name="Google Shape;285;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4.1 - Purpose of ACLs</a:t>
            </a:r>
            <a:endParaRPr/>
          </a:p>
          <a:p>
            <a:pPr indent="0" lvl="0" marL="0" rtl="0" algn="l">
              <a:lnSpc>
                <a:spcPct val="100000"/>
              </a:lnSpc>
              <a:spcBef>
                <a:spcPts val="0"/>
              </a:spcBef>
              <a:spcAft>
                <a:spcPts val="0"/>
              </a:spcAft>
              <a:buSzPts val="1400"/>
              <a:buNone/>
            </a:pPr>
            <a:r>
              <a:rPr lang="en-US"/>
              <a:t>4.1.3 - ACL Operation (Cont.)</a:t>
            </a:r>
            <a:endParaRPr/>
          </a:p>
        </p:txBody>
      </p:sp>
      <p:sp>
        <p:nvSpPr>
          <p:cNvPr id="293" name="Google Shape;293;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4.1 - Purpose of ACLs</a:t>
            </a:r>
            <a:endParaRPr/>
          </a:p>
          <a:p>
            <a:pPr indent="0" lvl="0" marL="0" rtl="0" algn="l">
              <a:lnSpc>
                <a:spcPct val="100000"/>
              </a:lnSpc>
              <a:spcBef>
                <a:spcPts val="0"/>
              </a:spcBef>
              <a:spcAft>
                <a:spcPts val="0"/>
              </a:spcAft>
              <a:buSzPts val="1400"/>
              <a:buNone/>
            </a:pPr>
            <a:r>
              <a:rPr lang="en-US"/>
              <a:t>4.1.4 - Packet Tracer - ACL Demonstration</a:t>
            </a:r>
            <a:endParaRPr/>
          </a:p>
          <a:p>
            <a:pPr indent="0" lvl="0" marL="0" rtl="0" algn="l">
              <a:lnSpc>
                <a:spcPct val="100000"/>
              </a:lnSpc>
              <a:spcBef>
                <a:spcPts val="0"/>
              </a:spcBef>
              <a:spcAft>
                <a:spcPts val="0"/>
              </a:spcAft>
              <a:buSzPts val="1400"/>
              <a:buNone/>
            </a:pPr>
            <a:r>
              <a:rPr lang="en-US"/>
              <a:t>4.1.5 - Check Your Understanding - Purpose of ACLs</a:t>
            </a:r>
            <a:endParaRPr/>
          </a:p>
        </p:txBody>
      </p:sp>
      <p:sp>
        <p:nvSpPr>
          <p:cNvPr id="300" name="Google Shape;300;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4.2 - Wildcard Masks in ACLs</a:t>
            </a:r>
            <a:endParaRPr/>
          </a:p>
        </p:txBody>
      </p:sp>
      <p:sp>
        <p:nvSpPr>
          <p:cNvPr id="307" name="Google Shape;307;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4.2 - Wildcard Masks in ACLs</a:t>
            </a:r>
            <a:endParaRPr/>
          </a:p>
          <a:p>
            <a:pPr indent="0" lvl="0" marL="0" rtl="0" algn="l">
              <a:lnSpc>
                <a:spcPct val="100000"/>
              </a:lnSpc>
              <a:spcBef>
                <a:spcPts val="0"/>
              </a:spcBef>
              <a:spcAft>
                <a:spcPts val="0"/>
              </a:spcAft>
              <a:buSzPts val="1400"/>
              <a:buNone/>
            </a:pPr>
            <a:r>
              <a:rPr lang="en-US"/>
              <a:t>4.2.1 - Wildcard Mask Overview</a:t>
            </a:r>
            <a:endParaRPr/>
          </a:p>
        </p:txBody>
      </p:sp>
      <p:sp>
        <p:nvSpPr>
          <p:cNvPr id="313" name="Google Shape;313;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4.2 - Wildcard Masks in ACLs</a:t>
            </a:r>
            <a:endParaRPr/>
          </a:p>
          <a:p>
            <a:pPr indent="0" lvl="0" marL="0" rtl="0" algn="l">
              <a:lnSpc>
                <a:spcPct val="100000"/>
              </a:lnSpc>
              <a:spcBef>
                <a:spcPts val="0"/>
              </a:spcBef>
              <a:spcAft>
                <a:spcPts val="0"/>
              </a:spcAft>
              <a:buSzPts val="1400"/>
              <a:buNone/>
            </a:pPr>
            <a:r>
              <a:rPr lang="en-US"/>
              <a:t>4.2.1 - Wildcard Mask Overview (Cont.)</a:t>
            </a:r>
            <a:endParaRPr/>
          </a:p>
        </p:txBody>
      </p:sp>
      <p:sp>
        <p:nvSpPr>
          <p:cNvPr id="320" name="Google Shape;320;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4.2 - Wildcard Masks in ACLs</a:t>
            </a:r>
            <a:endParaRPr/>
          </a:p>
          <a:p>
            <a:pPr indent="0" lvl="0" marL="0" rtl="0" algn="l">
              <a:lnSpc>
                <a:spcPct val="100000"/>
              </a:lnSpc>
              <a:spcBef>
                <a:spcPts val="0"/>
              </a:spcBef>
              <a:spcAft>
                <a:spcPts val="0"/>
              </a:spcAft>
              <a:buSzPts val="1400"/>
              <a:buNone/>
            </a:pPr>
            <a:r>
              <a:rPr lang="en-US"/>
              <a:t>4.2.2 - Wildcard Mask Types</a:t>
            </a:r>
            <a:endParaRPr/>
          </a:p>
        </p:txBody>
      </p:sp>
      <p:sp>
        <p:nvSpPr>
          <p:cNvPr id="327" name="Google Shape;327;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4.2 - Wildcard Masks in ACLs</a:t>
            </a:r>
            <a:endParaRPr/>
          </a:p>
          <a:p>
            <a:pPr indent="0" lvl="0" marL="0" rtl="0" algn="l">
              <a:lnSpc>
                <a:spcPct val="100000"/>
              </a:lnSpc>
              <a:spcBef>
                <a:spcPts val="0"/>
              </a:spcBef>
              <a:spcAft>
                <a:spcPts val="0"/>
              </a:spcAft>
              <a:buSzPts val="1400"/>
              <a:buNone/>
            </a:pPr>
            <a:r>
              <a:rPr lang="en-US"/>
              <a:t>4.2.2 - Wildcard Mask Types (Cont.)</a:t>
            </a:r>
            <a:endParaRPr/>
          </a:p>
        </p:txBody>
      </p:sp>
      <p:sp>
        <p:nvSpPr>
          <p:cNvPr id="335" name="Google Shape;335;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4.2 - Wildcard Masks in ACLs</a:t>
            </a:r>
            <a:endParaRPr/>
          </a:p>
          <a:p>
            <a:pPr indent="0" lvl="0" marL="0" rtl="0" algn="l">
              <a:lnSpc>
                <a:spcPct val="100000"/>
              </a:lnSpc>
              <a:spcBef>
                <a:spcPts val="0"/>
              </a:spcBef>
              <a:spcAft>
                <a:spcPts val="0"/>
              </a:spcAft>
              <a:buSzPts val="1400"/>
              <a:buNone/>
            </a:pPr>
            <a:r>
              <a:rPr lang="en-US"/>
              <a:t>4.2.2 - Wildcard Mask Types (Cont.)</a:t>
            </a:r>
            <a:endParaRPr/>
          </a:p>
        </p:txBody>
      </p:sp>
      <p:sp>
        <p:nvSpPr>
          <p:cNvPr id="343" name="Google Shape;343;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4.2 - Wildcard Masks in ACLs</a:t>
            </a:r>
            <a:endParaRPr/>
          </a:p>
          <a:p>
            <a:pPr indent="0" lvl="0" marL="0" rtl="0" algn="l">
              <a:lnSpc>
                <a:spcPct val="100000"/>
              </a:lnSpc>
              <a:spcBef>
                <a:spcPts val="0"/>
              </a:spcBef>
              <a:spcAft>
                <a:spcPts val="0"/>
              </a:spcAft>
              <a:buSzPts val="1400"/>
              <a:buNone/>
            </a:pPr>
            <a:r>
              <a:rPr lang="en-US"/>
              <a:t>4.2.3 - Wildcard Mask Calculation</a:t>
            </a:r>
            <a:endParaRPr/>
          </a:p>
        </p:txBody>
      </p:sp>
      <p:sp>
        <p:nvSpPr>
          <p:cNvPr id="351" name="Google Shape;351;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4.2 - Wildcard Masks in ACLs</a:t>
            </a:r>
            <a:endParaRPr/>
          </a:p>
          <a:p>
            <a:pPr indent="0" lvl="0" marL="0" rtl="0" algn="l">
              <a:lnSpc>
                <a:spcPct val="100000"/>
              </a:lnSpc>
              <a:spcBef>
                <a:spcPts val="0"/>
              </a:spcBef>
              <a:spcAft>
                <a:spcPts val="0"/>
              </a:spcAft>
              <a:buSzPts val="1400"/>
              <a:buNone/>
            </a:pPr>
            <a:r>
              <a:rPr lang="en-US"/>
              <a:t>4.2.4 - Wildcard Mask Keywords</a:t>
            </a:r>
            <a:endParaRPr/>
          </a:p>
          <a:p>
            <a:pPr indent="0" lvl="0" marL="0" rtl="0" algn="l">
              <a:lnSpc>
                <a:spcPct val="100000"/>
              </a:lnSpc>
              <a:spcBef>
                <a:spcPts val="0"/>
              </a:spcBef>
              <a:spcAft>
                <a:spcPts val="0"/>
              </a:spcAft>
              <a:buSzPts val="1400"/>
              <a:buNone/>
            </a:pPr>
            <a:r>
              <a:rPr lang="en-US"/>
              <a:t>4.2.5 - Check Your Understanding - Wildcard Masks in ACLs</a:t>
            </a:r>
            <a:endParaRPr/>
          </a:p>
        </p:txBody>
      </p:sp>
      <p:sp>
        <p:nvSpPr>
          <p:cNvPr id="358" name="Google Shape;358;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4.3 - Guidelines for ACLs</a:t>
            </a:r>
            <a:endParaRPr/>
          </a:p>
        </p:txBody>
      </p:sp>
      <p:sp>
        <p:nvSpPr>
          <p:cNvPr id="365" name="Google Shape;365;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4.3 - Guidelines for ACLs</a:t>
            </a:r>
            <a:endParaRPr/>
          </a:p>
          <a:p>
            <a:pPr indent="0" lvl="0" marL="0" rtl="0" algn="l">
              <a:lnSpc>
                <a:spcPct val="100000"/>
              </a:lnSpc>
              <a:spcBef>
                <a:spcPts val="0"/>
              </a:spcBef>
              <a:spcAft>
                <a:spcPts val="0"/>
              </a:spcAft>
              <a:buSzPts val="1400"/>
              <a:buNone/>
            </a:pPr>
            <a:r>
              <a:rPr lang="en-US"/>
              <a:t>4.3.1 - Limited Number of ACLs per Interface</a:t>
            </a:r>
            <a:endParaRPr/>
          </a:p>
        </p:txBody>
      </p:sp>
      <p:sp>
        <p:nvSpPr>
          <p:cNvPr id="371" name="Google Shape;371;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4.3 - Guidelines for ACLs</a:t>
            </a:r>
            <a:endParaRPr/>
          </a:p>
          <a:p>
            <a:pPr indent="0" lvl="0" marL="0" rtl="0" algn="l">
              <a:lnSpc>
                <a:spcPct val="100000"/>
              </a:lnSpc>
              <a:spcBef>
                <a:spcPts val="0"/>
              </a:spcBef>
              <a:spcAft>
                <a:spcPts val="0"/>
              </a:spcAft>
              <a:buSzPts val="1400"/>
              <a:buNone/>
            </a:pPr>
            <a:r>
              <a:rPr lang="en-US"/>
              <a:t>4.3.1 - Limited Number of ACLs per Interface</a:t>
            </a:r>
            <a:endParaRPr/>
          </a:p>
          <a:p>
            <a:pPr indent="0" lvl="0" marL="0" rtl="0" algn="l">
              <a:lnSpc>
                <a:spcPct val="100000"/>
              </a:lnSpc>
              <a:spcBef>
                <a:spcPts val="0"/>
              </a:spcBef>
              <a:spcAft>
                <a:spcPts val="0"/>
              </a:spcAft>
              <a:buSzPts val="1400"/>
              <a:buNone/>
            </a:pPr>
            <a:r>
              <a:rPr lang="en-US"/>
              <a:t>4.3.2 - Check Your Understanding - Guidelines for ACL Creation</a:t>
            </a:r>
            <a:endParaRPr/>
          </a:p>
        </p:txBody>
      </p:sp>
      <p:sp>
        <p:nvSpPr>
          <p:cNvPr id="380" name="Google Shape;380;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4.4 - Types of IPv4 ACLs</a:t>
            </a:r>
            <a:endParaRPr/>
          </a:p>
        </p:txBody>
      </p:sp>
      <p:sp>
        <p:nvSpPr>
          <p:cNvPr id="388" name="Google Shape;388;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4.4 - Types of IPv4 ACLs</a:t>
            </a:r>
            <a:endParaRPr/>
          </a:p>
          <a:p>
            <a:pPr indent="0" lvl="0" marL="0" rtl="0" algn="l">
              <a:lnSpc>
                <a:spcPct val="100000"/>
              </a:lnSpc>
              <a:spcBef>
                <a:spcPts val="0"/>
              </a:spcBef>
              <a:spcAft>
                <a:spcPts val="0"/>
              </a:spcAft>
              <a:buSzPts val="1400"/>
              <a:buNone/>
            </a:pPr>
            <a:r>
              <a:rPr lang="en-US"/>
              <a:t>4.4.1 - Standard and Extended ACLs</a:t>
            </a:r>
            <a:endParaRPr/>
          </a:p>
        </p:txBody>
      </p:sp>
      <p:sp>
        <p:nvSpPr>
          <p:cNvPr id="394" name="Google Shape;394;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4.4 - Types of IPv4 ACLs</a:t>
            </a:r>
            <a:endParaRPr/>
          </a:p>
          <a:p>
            <a:pPr indent="0" lvl="0" marL="0" rtl="0" algn="l">
              <a:lnSpc>
                <a:spcPct val="100000"/>
              </a:lnSpc>
              <a:spcBef>
                <a:spcPts val="0"/>
              </a:spcBef>
              <a:spcAft>
                <a:spcPts val="0"/>
              </a:spcAft>
              <a:buSzPts val="1400"/>
              <a:buNone/>
            </a:pPr>
            <a:r>
              <a:rPr lang="en-US"/>
              <a:t>4.4.2 - Numbered and Named ACLs</a:t>
            </a:r>
            <a:endParaRPr/>
          </a:p>
        </p:txBody>
      </p:sp>
      <p:sp>
        <p:nvSpPr>
          <p:cNvPr id="401" name="Google Shape;401;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4.4 - Types of IPv4 ACLs</a:t>
            </a:r>
            <a:endParaRPr/>
          </a:p>
          <a:p>
            <a:pPr indent="0" lvl="0" marL="0" rtl="0" algn="l">
              <a:lnSpc>
                <a:spcPct val="100000"/>
              </a:lnSpc>
              <a:spcBef>
                <a:spcPts val="0"/>
              </a:spcBef>
              <a:spcAft>
                <a:spcPts val="0"/>
              </a:spcAft>
              <a:buSzPts val="1400"/>
              <a:buNone/>
            </a:pPr>
            <a:r>
              <a:rPr lang="en-US"/>
              <a:t>4.4.2 - Numbered and Named ACLs (Cont.)</a:t>
            </a:r>
            <a:endParaRPr/>
          </a:p>
        </p:txBody>
      </p:sp>
      <p:sp>
        <p:nvSpPr>
          <p:cNvPr id="409" name="Google Shape;409;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4.4 - Types of IPv4 ACLs</a:t>
            </a:r>
            <a:endParaRPr/>
          </a:p>
          <a:p>
            <a:pPr indent="0" lvl="0" marL="0" rtl="0" algn="l">
              <a:lnSpc>
                <a:spcPct val="100000"/>
              </a:lnSpc>
              <a:spcBef>
                <a:spcPts val="0"/>
              </a:spcBef>
              <a:spcAft>
                <a:spcPts val="0"/>
              </a:spcAft>
              <a:buSzPts val="1400"/>
              <a:buNone/>
            </a:pPr>
            <a:r>
              <a:rPr lang="en-US"/>
              <a:t>4.4.3 - Where to Place ACLs</a:t>
            </a:r>
            <a:endParaRPr/>
          </a:p>
        </p:txBody>
      </p:sp>
      <p:sp>
        <p:nvSpPr>
          <p:cNvPr id="417" name="Google Shape;417;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4.4 - Types of IPv4 ACLs</a:t>
            </a:r>
            <a:endParaRPr/>
          </a:p>
          <a:p>
            <a:pPr indent="0" lvl="0" marL="0" rtl="0" algn="l">
              <a:lnSpc>
                <a:spcPct val="100000"/>
              </a:lnSpc>
              <a:spcBef>
                <a:spcPts val="0"/>
              </a:spcBef>
              <a:spcAft>
                <a:spcPts val="0"/>
              </a:spcAft>
              <a:buSzPts val="1400"/>
              <a:buNone/>
            </a:pPr>
            <a:r>
              <a:rPr lang="en-US"/>
              <a:t>4.4.3 - Where to Place ACLs (Cont.)</a:t>
            </a:r>
            <a:endParaRPr/>
          </a:p>
        </p:txBody>
      </p:sp>
      <p:sp>
        <p:nvSpPr>
          <p:cNvPr id="425" name="Google Shape;425;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4.4 - Types of IPv4 ACLs</a:t>
            </a:r>
            <a:endParaRPr/>
          </a:p>
          <a:p>
            <a:pPr indent="0" lvl="0" marL="0" rtl="0" algn="l">
              <a:lnSpc>
                <a:spcPct val="100000"/>
              </a:lnSpc>
              <a:spcBef>
                <a:spcPts val="0"/>
              </a:spcBef>
              <a:spcAft>
                <a:spcPts val="0"/>
              </a:spcAft>
              <a:buSzPts val="1400"/>
              <a:buNone/>
            </a:pPr>
            <a:r>
              <a:rPr lang="en-US"/>
              <a:t>4.4.4 - Standard ACL Placement Example</a:t>
            </a:r>
            <a:endParaRPr/>
          </a:p>
        </p:txBody>
      </p:sp>
      <p:sp>
        <p:nvSpPr>
          <p:cNvPr id="432" name="Google Shape;432;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4.4 - Types of IPv4 ACLs</a:t>
            </a:r>
            <a:endParaRPr/>
          </a:p>
          <a:p>
            <a:pPr indent="0" lvl="0" marL="0" marR="0" rtl="0" algn="l">
              <a:lnSpc>
                <a:spcPct val="100000"/>
              </a:lnSpc>
              <a:spcBef>
                <a:spcPts val="0"/>
              </a:spcBef>
              <a:spcAft>
                <a:spcPts val="0"/>
              </a:spcAft>
              <a:buClr>
                <a:schemeClr val="dk1"/>
              </a:buClr>
              <a:buSzPts val="1200"/>
              <a:buFont typeface="Calibri"/>
              <a:buNone/>
            </a:pPr>
            <a:r>
              <a:rPr lang="en-US"/>
              <a:t>4.4.4 - Standard ACL Placement Example (Cont.)</a:t>
            </a:r>
            <a:endParaRPr/>
          </a:p>
        </p:txBody>
      </p:sp>
      <p:sp>
        <p:nvSpPr>
          <p:cNvPr id="440" name="Google Shape;440;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4.4 - Types of IPv4 ACLs</a:t>
            </a:r>
            <a:endParaRPr/>
          </a:p>
          <a:p>
            <a:pPr indent="0" lvl="0" marL="0" marR="0" rtl="0" algn="l">
              <a:lnSpc>
                <a:spcPct val="100000"/>
              </a:lnSpc>
              <a:spcBef>
                <a:spcPts val="0"/>
              </a:spcBef>
              <a:spcAft>
                <a:spcPts val="0"/>
              </a:spcAft>
              <a:buClr>
                <a:schemeClr val="dk1"/>
              </a:buClr>
              <a:buSzPts val="1200"/>
              <a:buFont typeface="Calibri"/>
              <a:buNone/>
            </a:pPr>
            <a:r>
              <a:rPr lang="en-US"/>
              <a:t>4.4.5 - Extended ACL Placement Example </a:t>
            </a:r>
            <a:endParaRPr/>
          </a:p>
        </p:txBody>
      </p:sp>
      <p:sp>
        <p:nvSpPr>
          <p:cNvPr id="448" name="Google Shape;448;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4.4 - Types of IPv4 ACLs</a:t>
            </a:r>
            <a:endParaRPr/>
          </a:p>
          <a:p>
            <a:pPr indent="0" lvl="0" marL="0" marR="0" rtl="0" algn="l">
              <a:lnSpc>
                <a:spcPct val="100000"/>
              </a:lnSpc>
              <a:spcBef>
                <a:spcPts val="0"/>
              </a:spcBef>
              <a:spcAft>
                <a:spcPts val="0"/>
              </a:spcAft>
              <a:buClr>
                <a:schemeClr val="dk1"/>
              </a:buClr>
              <a:buSzPts val="1200"/>
              <a:buFont typeface="Calibri"/>
              <a:buNone/>
            </a:pPr>
            <a:r>
              <a:rPr lang="en-US"/>
              <a:t>4.4.5 - Extended ACL Placement Example (Cont.)</a:t>
            </a:r>
            <a:endParaRPr/>
          </a:p>
          <a:p>
            <a:pPr indent="0" lvl="0" marL="0" marR="0" rtl="0" algn="l">
              <a:lnSpc>
                <a:spcPct val="100000"/>
              </a:lnSpc>
              <a:spcBef>
                <a:spcPts val="0"/>
              </a:spcBef>
              <a:spcAft>
                <a:spcPts val="0"/>
              </a:spcAft>
              <a:buClr>
                <a:schemeClr val="dk1"/>
              </a:buClr>
              <a:buSzPts val="1200"/>
              <a:buFont typeface="Calibri"/>
              <a:buNone/>
            </a:pPr>
            <a:r>
              <a:rPr lang="en-US"/>
              <a:t>4.4.5 - Check Your Understanding - Guidelines for ACL Placement</a:t>
            </a:r>
            <a:endParaRPr/>
          </a:p>
        </p:txBody>
      </p:sp>
      <p:sp>
        <p:nvSpPr>
          <p:cNvPr id="456" name="Google Shape;456;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4.5 - Module Practice and Quiz</a:t>
            </a:r>
            <a:endParaRPr/>
          </a:p>
          <a:p>
            <a:pPr indent="0" lvl="0" marL="0" rtl="0" algn="l">
              <a:lnSpc>
                <a:spcPct val="100000"/>
              </a:lnSpc>
              <a:spcBef>
                <a:spcPts val="0"/>
              </a:spcBef>
              <a:spcAft>
                <a:spcPts val="0"/>
              </a:spcAft>
              <a:buClr>
                <a:schemeClr val="dk1"/>
              </a:buClr>
              <a:buSzPts val="1200"/>
              <a:buFont typeface="Calibri"/>
              <a:buNone/>
            </a:pPr>
            <a:r>
              <a:t/>
            </a:r>
            <a:endParaRPr/>
          </a:p>
        </p:txBody>
      </p:sp>
      <p:sp>
        <p:nvSpPr>
          <p:cNvPr id="464" name="Google Shape;464;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469" name="Google Shape;469;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4.5 - Module Practice and Quiz</a:t>
            </a:r>
            <a:endParaRPr/>
          </a:p>
          <a:p>
            <a:pPr indent="0" lvl="0" marL="0" rtl="0" algn="l">
              <a:lnSpc>
                <a:spcPct val="100000"/>
              </a:lnSpc>
              <a:spcBef>
                <a:spcPts val="0"/>
              </a:spcBef>
              <a:spcAft>
                <a:spcPts val="0"/>
              </a:spcAft>
              <a:buSzPts val="1400"/>
              <a:buNone/>
            </a:pPr>
            <a:r>
              <a:rPr lang="en-US"/>
              <a:t>4.5.1 - What Did I Learn In This Module?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476" name="Google Shape;476;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4.5 - Module Practice and Quiz</a:t>
            </a:r>
            <a:endParaRPr/>
          </a:p>
          <a:p>
            <a:pPr indent="0" lvl="0" marL="0" rtl="0" algn="l">
              <a:lnSpc>
                <a:spcPct val="100000"/>
              </a:lnSpc>
              <a:spcBef>
                <a:spcPts val="0"/>
              </a:spcBef>
              <a:spcAft>
                <a:spcPts val="0"/>
              </a:spcAft>
              <a:buSzPts val="1400"/>
              <a:buNone/>
            </a:pPr>
            <a:r>
              <a:rPr lang="en-US"/>
              <a:t>4.5.1 - What Did I Learn In This Module? (Cont.)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483" name="Google Shape;48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4 - ACL Concepts</a:t>
            </a:r>
            <a:endParaRPr/>
          </a:p>
          <a:p>
            <a:pPr indent="0" lvl="0" marL="0" rtl="0" algn="l">
              <a:lnSpc>
                <a:spcPct val="100000"/>
              </a:lnSpc>
              <a:spcBef>
                <a:spcPts val="0"/>
              </a:spcBef>
              <a:spcAft>
                <a:spcPts val="0"/>
              </a:spcAft>
              <a:buSzPts val="1400"/>
              <a:buNone/>
            </a:pPr>
            <a:r>
              <a:rPr lang="en-US"/>
              <a:t>4.5 - Module Practice and Quiz</a:t>
            </a:r>
            <a:endParaRPr/>
          </a:p>
          <a:p>
            <a:pPr indent="0" lvl="0" marL="0" rtl="0" algn="l">
              <a:lnSpc>
                <a:spcPct val="100000"/>
              </a:lnSpc>
              <a:spcBef>
                <a:spcPts val="0"/>
              </a:spcBef>
              <a:spcAft>
                <a:spcPts val="0"/>
              </a:spcAft>
              <a:buSzPts val="1400"/>
              <a:buNone/>
            </a:pPr>
            <a:r>
              <a:rPr lang="en-US"/>
              <a:t>4.5.1 - What Did I Learn In This Module? (Cont.)</a:t>
            </a:r>
            <a:endParaRPr/>
          </a:p>
          <a:p>
            <a:pPr indent="0" lvl="0" marL="0" rtl="0" algn="l">
              <a:lnSpc>
                <a:spcPct val="100000"/>
              </a:lnSpc>
              <a:spcBef>
                <a:spcPts val="0"/>
              </a:spcBef>
              <a:spcAft>
                <a:spcPts val="0"/>
              </a:spcAft>
              <a:buSzPts val="1400"/>
              <a:buNone/>
            </a:pPr>
            <a:r>
              <a:rPr lang="en-US"/>
              <a:t>4.5.2 - Module Quiz - ACL Concepts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490" name="Google Shape;49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8" name="Google Shape;498;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showMasterSp="0">
  <p:cSld name="3_Title Slide-animated gradient">
    <p:bg>
      <p:bgPr>
        <a:solidFill>
          <a:schemeClr val="accent5"/>
        </a:solidFill>
      </p:bgPr>
    </p:bg>
    <p:spTree>
      <p:nvGrpSpPr>
        <p:cNvPr id="28" name="Shape 28"/>
        <p:cNvGrpSpPr/>
        <p:nvPr/>
      </p:nvGrpSpPr>
      <p:grpSpPr>
        <a:xfrm>
          <a:off x="0" y="0"/>
          <a:ext cx="0" cy="0"/>
          <a:chOff x="0" y="0"/>
          <a:chExt cx="0" cy="0"/>
        </a:xfrm>
      </p:grpSpPr>
      <p:pic>
        <p:nvPicPr>
          <p:cNvPr id="29" name="Google Shape;29;p38"/>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0" name="Google Shape;30;p38"/>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31" name="Google Shape;31;p38"/>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2" name="Google Shape;32;p38"/>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3" name="Google Shape;33;p38"/>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 name="Google Shape;34;p38"/>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35" name="Google Shape;35;p38"/>
          <p:cNvGrpSpPr/>
          <p:nvPr/>
        </p:nvGrpSpPr>
        <p:grpSpPr>
          <a:xfrm>
            <a:off x="492125" y="395288"/>
            <a:ext cx="796924" cy="423863"/>
            <a:chOff x="310" y="249"/>
            <a:chExt cx="502" cy="267"/>
          </a:xfrm>
        </p:grpSpPr>
        <p:sp>
          <p:nvSpPr>
            <p:cNvPr id="36" name="Google Shape;36;p38"/>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 name="Google Shape;37;p38"/>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 name="Google Shape;38;p38"/>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 name="Google Shape;39;p38"/>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 name="Google Shape;40;p38"/>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 name="Google Shape;41;p38"/>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 name="Google Shape;42;p38"/>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 name="Google Shape;43;p38"/>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 name="Google Shape;44;p38"/>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 name="Google Shape;45;p38"/>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 name="Google Shape;46;p38"/>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 name="Google Shape;47;p38"/>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 name="Google Shape;48;p38"/>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 name="Google Shape;49;p38"/>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39"/>
          <p:cNvSpPr txBox="1"/>
          <p:nvPr>
            <p:ph idx="12" type="sldNum"/>
          </p:nvPr>
        </p:nvSpPr>
        <p:spPr>
          <a:xfrm>
            <a:off x="8473441" y="4954263"/>
            <a:ext cx="676910" cy="189238"/>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39"/>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lvl1pPr indent="-314325" lvl="0" marL="457200" marR="0" rtl="0" algn="l">
              <a:lnSpc>
                <a:spcPct val="100000"/>
              </a:lnSpc>
              <a:spcBef>
                <a:spcPts val="600"/>
              </a:spcBef>
              <a:spcAft>
                <a:spcPts val="0"/>
              </a:spcAft>
              <a:buClr>
                <a:schemeClr val="dk2"/>
              </a:buClr>
              <a:buSzPts val="1350"/>
              <a:buFont typeface="Noto Sans Symbols"/>
              <a:buChar char="▪"/>
              <a:defRPr b="0" i="0" sz="1500" u="none" cap="none" strike="noStrike">
                <a:solidFill>
                  <a:srgbClr val="000000"/>
                </a:solidFill>
                <a:latin typeface="Arial"/>
                <a:ea typeface="Arial"/>
                <a:cs typeface="Arial"/>
                <a:sym typeface="Arial"/>
              </a:defRPr>
            </a:lvl1pPr>
            <a:lvl2pPr indent="-317500" lvl="1" marL="914400" marR="0" rtl="0" algn="l">
              <a:lnSpc>
                <a:spcPct val="100000"/>
              </a:lnSpc>
              <a:spcBef>
                <a:spcPts val="600"/>
              </a:spcBef>
              <a:spcAft>
                <a:spcPts val="0"/>
              </a:spcAft>
              <a:buClr>
                <a:schemeClr val="dk2"/>
              </a:buClr>
              <a:buSzPts val="1400"/>
              <a:buFont typeface="Arial"/>
              <a:buChar char="•"/>
              <a:defRPr b="0" i="0" sz="1400" u="none" cap="none" strike="noStrike">
                <a:solidFill>
                  <a:srgbClr val="000000"/>
                </a:solidFill>
                <a:latin typeface="Arial"/>
                <a:ea typeface="Arial"/>
                <a:cs typeface="Arial"/>
                <a:sym typeface="Arial"/>
              </a:defRPr>
            </a:lvl2pPr>
            <a:lvl3pPr indent="-304800" lvl="2" marL="1371600" marR="0" rtl="0" algn="l">
              <a:lnSpc>
                <a:spcPct val="100000"/>
              </a:lnSpc>
              <a:spcBef>
                <a:spcPts val="3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298450" lvl="3" marL="1828800" marR="0" rtl="0" algn="l">
              <a:lnSpc>
                <a:spcPct val="100000"/>
              </a:lnSpc>
              <a:spcBef>
                <a:spcPts val="30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3" name="Google Shape;53;p39"/>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2400"/>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lt1"/>
        </a:solidFill>
      </p:bgPr>
    </p:bg>
    <p:spTree>
      <p:nvGrpSpPr>
        <p:cNvPr id="54" name="Shape 54"/>
        <p:cNvGrpSpPr/>
        <p:nvPr/>
      </p:nvGrpSpPr>
      <p:grpSpPr>
        <a:xfrm>
          <a:off x="0" y="0"/>
          <a:ext cx="0" cy="0"/>
          <a:chOff x="0" y="0"/>
          <a:chExt cx="0" cy="0"/>
        </a:xfrm>
      </p:grpSpPr>
      <p:sp>
        <p:nvSpPr>
          <p:cNvPr id="55" name="Google Shape;55;p40"/>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6" name="Google Shape;56;p40"/>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57" name="Google Shape;57;p40"/>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rgbClr val="076D8E"/>
                </a:solidFill>
                <a:latin typeface="Arial"/>
                <a:ea typeface="Arial"/>
                <a:cs typeface="Arial"/>
                <a:sym typeface="Arial"/>
              </a:rPr>
              <a:t>‹#›</a:t>
            </a:fld>
            <a:endParaRPr b="0" i="0" sz="600" u="none" cap="none" strike="noStrike">
              <a:solidFill>
                <a:srgbClr val="076D8E"/>
              </a:solidFill>
              <a:latin typeface="Arial"/>
              <a:ea typeface="Arial"/>
              <a:cs typeface="Arial"/>
              <a:sym typeface="Arial"/>
            </a:endParaRPr>
          </a:p>
        </p:txBody>
      </p:sp>
      <p:sp>
        <p:nvSpPr>
          <p:cNvPr id="58" name="Google Shape;58;p40"/>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076D8E"/>
                </a:solidFill>
                <a:latin typeface="Arial"/>
                <a:ea typeface="Arial"/>
                <a:cs typeface="Arial"/>
                <a:sym typeface="Arial"/>
              </a:rPr>
              <a:t>© 2016  Cisco and/or its affiliates. All rights reserved.   Cisco Confidential</a:t>
            </a:r>
            <a:endParaRPr b="0" i="0" sz="1400" u="none" cap="none" strike="noStrike">
              <a:solidFill>
                <a:srgbClr val="000000"/>
              </a:solidFill>
              <a:latin typeface="Arial"/>
              <a:ea typeface="Arial"/>
              <a:cs typeface="Arial"/>
              <a:sym typeface="Arial"/>
            </a:endParaRPr>
          </a:p>
        </p:txBody>
      </p:sp>
      <p:grpSp>
        <p:nvGrpSpPr>
          <p:cNvPr id="59" name="Google Shape;59;p40"/>
          <p:cNvGrpSpPr/>
          <p:nvPr/>
        </p:nvGrpSpPr>
        <p:grpSpPr>
          <a:xfrm>
            <a:off x="508039" y="4715197"/>
            <a:ext cx="340257" cy="180974"/>
            <a:chOff x="310" y="249"/>
            <a:chExt cx="502" cy="267"/>
          </a:xfrm>
        </p:grpSpPr>
        <p:sp>
          <p:nvSpPr>
            <p:cNvPr id="60" name="Google Shape;60;p40"/>
            <p:cNvSpPr/>
            <p:nvPr/>
          </p:nvSpPr>
          <p:spPr>
            <a:xfrm>
              <a:off x="452" y="426"/>
              <a:ext cx="22" cy="88"/>
            </a:xfrm>
            <a:prstGeom prst="rect">
              <a:avLst/>
            </a:pr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 name="Google Shape;61;p40"/>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 name="Google Shape;62;p40"/>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 name="Google Shape;63;p40"/>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 name="Google Shape;64;p40"/>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 name="Google Shape;65;p40"/>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 name="Google Shape;66;p40"/>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 name="Google Shape;67;p40"/>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8" name="Google Shape;68;p40"/>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9" name="Google Shape;69;p40"/>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 name="Google Shape;70;p40"/>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1" name="Google Shape;71;p40"/>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 name="Google Shape;72;p40"/>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 name="Google Shape;73;p40"/>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74" name="Shape 74"/>
        <p:cNvGrpSpPr/>
        <p:nvPr/>
      </p:nvGrpSpPr>
      <p:grpSpPr>
        <a:xfrm>
          <a:off x="0" y="0"/>
          <a:ext cx="0" cy="0"/>
          <a:chOff x="0" y="0"/>
          <a:chExt cx="0" cy="0"/>
        </a:xfrm>
      </p:grpSpPr>
      <p:sp>
        <p:nvSpPr>
          <p:cNvPr id="75" name="Google Shape;75;p41"/>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6" name="Google Shape;76;p41"/>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showMasterSp="0">
  <p:cSld name="1_Closing Slide">
    <p:bg>
      <p:bgPr>
        <a:solidFill>
          <a:schemeClr val="accent5"/>
        </a:solidFill>
      </p:bgPr>
    </p:bg>
    <p:spTree>
      <p:nvGrpSpPr>
        <p:cNvPr id="77" name="Shape 77"/>
        <p:cNvGrpSpPr/>
        <p:nvPr/>
      </p:nvGrpSpPr>
      <p:grpSpPr>
        <a:xfrm>
          <a:off x="0" y="0"/>
          <a:ext cx="0" cy="0"/>
          <a:chOff x="0" y="0"/>
          <a:chExt cx="0" cy="0"/>
        </a:xfrm>
      </p:grpSpPr>
      <p:pic>
        <p:nvPicPr>
          <p:cNvPr id="78" name="Google Shape;78;p42"/>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79" name="Google Shape;79;p42"/>
          <p:cNvGrpSpPr/>
          <p:nvPr/>
        </p:nvGrpSpPr>
        <p:grpSpPr>
          <a:xfrm>
            <a:off x="3746294" y="2129856"/>
            <a:ext cx="1617944" cy="860542"/>
            <a:chOff x="310" y="249"/>
            <a:chExt cx="502" cy="267"/>
          </a:xfrm>
        </p:grpSpPr>
        <p:sp>
          <p:nvSpPr>
            <p:cNvPr id="80" name="Google Shape;80;p42"/>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 name="Google Shape;81;p42"/>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2" name="Google Shape;82;p42"/>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3" name="Google Shape;83;p42"/>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4" name="Google Shape;84;p42"/>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 name="Google Shape;85;p42"/>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6" name="Google Shape;86;p42"/>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7" name="Google Shape;87;p42"/>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8" name="Google Shape;88;p42"/>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9" name="Google Shape;89;p42"/>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0" name="Google Shape;90;p42"/>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 name="Google Shape;91;p42"/>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 name="Google Shape;92;p42"/>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 name="Google Shape;93;p42"/>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showMasterSp="0">
  <p:cSld name="5_Title Slide-animated gradient">
    <p:bg>
      <p:bgPr>
        <a:solidFill>
          <a:schemeClr val="accent5"/>
        </a:solidFill>
      </p:bgPr>
    </p:bg>
    <p:spTree>
      <p:nvGrpSpPr>
        <p:cNvPr id="94" name="Shape 94"/>
        <p:cNvGrpSpPr/>
        <p:nvPr/>
      </p:nvGrpSpPr>
      <p:grpSpPr>
        <a:xfrm>
          <a:off x="0" y="0"/>
          <a:ext cx="0" cy="0"/>
          <a:chOff x="0" y="0"/>
          <a:chExt cx="0" cy="0"/>
        </a:xfrm>
      </p:grpSpPr>
      <p:sp>
        <p:nvSpPr>
          <p:cNvPr id="95" name="Google Shape;95;p43"/>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96" name="Google Shape;96;p43"/>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7" name="Google Shape;97;p43"/>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98" name="Google Shape;98;p43"/>
          <p:cNvGrpSpPr/>
          <p:nvPr/>
        </p:nvGrpSpPr>
        <p:grpSpPr>
          <a:xfrm>
            <a:off x="492125" y="395288"/>
            <a:ext cx="796924" cy="423863"/>
            <a:chOff x="310" y="249"/>
            <a:chExt cx="502" cy="267"/>
          </a:xfrm>
        </p:grpSpPr>
        <p:sp>
          <p:nvSpPr>
            <p:cNvPr id="99" name="Google Shape;99;p43"/>
            <p:cNvSpPr/>
            <p:nvPr/>
          </p:nvSpPr>
          <p:spPr>
            <a:xfrm>
              <a:off x="452" y="426"/>
              <a:ext cx="22" cy="88"/>
            </a:xfrm>
            <a:prstGeom prst="rect">
              <a:avLst/>
            </a:pr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0" name="Google Shape;100;p43"/>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1" name="Google Shape;101;p43"/>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 name="Google Shape;102;p43"/>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3" name="Google Shape;103;p43"/>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 name="Google Shape;104;p43"/>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 name="Google Shape;105;p43"/>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6" name="Google Shape;106;p43"/>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7" name="Google Shape;107;p43"/>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8" name="Google Shape;108;p43"/>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 name="Google Shape;109;p43"/>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0" name="Google Shape;110;p43"/>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 name="Google Shape;111;p43"/>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2" name="Google Shape;112;p43"/>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13" name="Google Shape;113;p43"/>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4" name="Google Shape;114;p43"/>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showMasterSp="0">
  <p:cSld name="6_Title Slide-animated gradient">
    <p:bg>
      <p:bgPr>
        <a:solidFill>
          <a:schemeClr val="accent5"/>
        </a:solidFill>
      </p:bgPr>
    </p:bg>
    <p:spTree>
      <p:nvGrpSpPr>
        <p:cNvPr id="115" name="Shape 115"/>
        <p:cNvGrpSpPr/>
        <p:nvPr/>
      </p:nvGrpSpPr>
      <p:grpSpPr>
        <a:xfrm>
          <a:off x="0" y="0"/>
          <a:ext cx="0" cy="0"/>
          <a:chOff x="0" y="0"/>
          <a:chExt cx="0" cy="0"/>
        </a:xfrm>
      </p:grpSpPr>
      <p:sp>
        <p:nvSpPr>
          <p:cNvPr id="116" name="Google Shape;116;p44"/>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7" name="Google Shape;117;p44"/>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118" name="Google Shape;118;p44"/>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9" name="Google Shape;119;p44"/>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120" name="Google Shape;120;p44"/>
          <p:cNvGrpSpPr/>
          <p:nvPr/>
        </p:nvGrpSpPr>
        <p:grpSpPr>
          <a:xfrm>
            <a:off x="492125" y="395288"/>
            <a:ext cx="796924" cy="423863"/>
            <a:chOff x="310" y="249"/>
            <a:chExt cx="502" cy="267"/>
          </a:xfrm>
        </p:grpSpPr>
        <p:sp>
          <p:nvSpPr>
            <p:cNvPr id="121" name="Google Shape;121;p44"/>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 name="Google Shape;122;p44"/>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3" name="Google Shape;123;p44"/>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4" name="Google Shape;124;p44"/>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5" name="Google Shape;125;p44"/>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p44"/>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 name="Google Shape;127;p44"/>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 name="Google Shape;128;p44"/>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9" name="Google Shape;129;p44"/>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 name="Google Shape;130;p44"/>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1" name="Google Shape;131;p44"/>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2" name="Google Shape;132;p44"/>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3" name="Google Shape;133;p44"/>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4" name="Google Shape;134;p44"/>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35" name="Google Shape;135;p44"/>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6" name="Google Shape;136;p44"/>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137" name="Shape 137"/>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138" name="Shape 138"/>
        <p:cNvGrpSpPr/>
        <p:nvPr/>
      </p:nvGrpSpPr>
      <p:grpSpPr>
        <a:xfrm>
          <a:off x="0" y="0"/>
          <a:ext cx="0" cy="0"/>
          <a:chOff x="0" y="0"/>
          <a:chExt cx="0" cy="0"/>
        </a:xfrm>
      </p:grpSpPr>
      <p:sp>
        <p:nvSpPr>
          <p:cNvPr id="139" name="Google Shape;139;p46"/>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40" name="Google Shape;140;p46"/>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FFFFFF"/>
              </a:solidFill>
              <a:latin typeface="Arial"/>
              <a:ea typeface="Arial"/>
              <a:cs typeface="Arial"/>
              <a:sym typeface="Arial"/>
            </a:endParaRPr>
          </a:p>
        </p:txBody>
      </p:sp>
      <p:sp>
        <p:nvSpPr>
          <p:cNvPr id="141" name="Google Shape;141;p46"/>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a:ea typeface="Arial"/>
              <a:cs typeface="Arial"/>
              <a:sym typeface="Arial"/>
            </a:endParaRPr>
          </a:p>
        </p:txBody>
      </p:sp>
      <p:sp>
        <p:nvSpPr>
          <p:cNvPr id="142" name="Google Shape;142;p46"/>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049FD9"/>
              </a:solidFill>
              <a:latin typeface="Arial"/>
              <a:ea typeface="Arial"/>
              <a:cs typeface="Arial"/>
              <a:sym typeface="Arial"/>
            </a:endParaRPr>
          </a:p>
        </p:txBody>
      </p:sp>
      <p:sp>
        <p:nvSpPr>
          <p:cNvPr id="143" name="Google Shape;143;p46"/>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4" name="Google Shape;144;p46"/>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5" name="Google Shape;145;p46"/>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6" name="Google Shape;146;p46"/>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7" name="Google Shape;147;p46"/>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8" name="Google Shape;148;p46"/>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149" name="Shape 149"/>
        <p:cNvGrpSpPr/>
        <p:nvPr/>
      </p:nvGrpSpPr>
      <p:grpSpPr>
        <a:xfrm>
          <a:off x="0" y="0"/>
          <a:ext cx="0" cy="0"/>
          <a:chOff x="0" y="0"/>
          <a:chExt cx="0" cy="0"/>
        </a:xfrm>
      </p:grpSpPr>
      <p:sp>
        <p:nvSpPr>
          <p:cNvPr id="150" name="Google Shape;150;p47"/>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51" name="Google Shape;151;p47"/>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52" name="Google Shape;152;p47"/>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53" name="Google Shape;153;p47"/>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54" name="Google Shape;154;p47"/>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5" name="Google Shape;155;p47"/>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6" name="Google Shape;156;p47"/>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7" name="Google Shape;157;p47"/>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8" name="Google Shape;158;p47"/>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9" name="Google Shape;159;p47"/>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0" name="Google Shape;160;p47"/>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61" name="Google Shape;161;p47"/>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2" name="Google Shape;162;p47"/>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3" name="Google Shape;163;p47"/>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64" name="Google Shape;164;p47"/>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5" name="Google Shape;165;p47"/>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166" name="Shape 166"/>
        <p:cNvGrpSpPr/>
        <p:nvPr/>
      </p:nvGrpSpPr>
      <p:grpSpPr>
        <a:xfrm>
          <a:off x="0" y="0"/>
          <a:ext cx="0" cy="0"/>
          <a:chOff x="0" y="0"/>
          <a:chExt cx="0" cy="0"/>
        </a:xfrm>
      </p:grpSpPr>
      <p:sp>
        <p:nvSpPr>
          <p:cNvPr id="167" name="Google Shape;167;p48"/>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68" name="Google Shape;168;p48"/>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69" name="Google Shape;169;p48"/>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70" name="Google Shape;170;p48"/>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71" name="Google Shape;171;p48"/>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2" name="Google Shape;172;p48"/>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3" name="Google Shape;173;p48"/>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4" name="Google Shape;174;p48"/>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5" name="Google Shape;175;p48"/>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6" name="Google Shape;176;p48"/>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7" name="Google Shape;177;p48"/>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78" name="Google Shape;178;p48"/>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9" name="Google Shape;179;p48"/>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0" name="Google Shape;180;p48"/>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81" name="Google Shape;181;p48"/>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2" name="Google Shape;182;p48"/>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3" name="Google Shape;183;p48"/>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84" name="Google Shape;184;p48"/>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85" name="Google Shape;185;p48"/>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86" name="Google Shape;186;p48"/>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7" name="Google Shape;187;p48"/>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8" name="Google Shape;188;p48"/>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9" name="Google Shape;189;p48"/>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0" name="Google Shape;190;p48"/>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1" name="Google Shape;191;p48"/>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2" name="Google Shape;192;p48"/>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93" name="Google Shape;193;p48"/>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4" name="Google Shape;194;p48"/>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5" name="Google Shape;195;p48"/>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96" name="Google Shape;196;p48"/>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7" name="Google Shape;197;p48"/>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accent5"/>
        </a:solidFill>
      </p:bgPr>
    </p:bg>
    <p:spTree>
      <p:nvGrpSpPr>
        <p:cNvPr id="198" name="Shape 198"/>
        <p:cNvGrpSpPr/>
        <p:nvPr/>
      </p:nvGrpSpPr>
      <p:grpSpPr>
        <a:xfrm>
          <a:off x="0" y="0"/>
          <a:ext cx="0" cy="0"/>
          <a:chOff x="0" y="0"/>
          <a:chExt cx="0" cy="0"/>
        </a:xfrm>
      </p:grpSpPr>
      <p:sp>
        <p:nvSpPr>
          <p:cNvPr id="199" name="Google Shape;199;p49"/>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200" name="Google Shape;200;p49"/>
          <p:cNvGrpSpPr/>
          <p:nvPr/>
        </p:nvGrpSpPr>
        <p:grpSpPr>
          <a:xfrm>
            <a:off x="3746294" y="2129856"/>
            <a:ext cx="1617944" cy="860542"/>
            <a:chOff x="310" y="249"/>
            <a:chExt cx="502" cy="267"/>
          </a:xfrm>
        </p:grpSpPr>
        <p:sp>
          <p:nvSpPr>
            <p:cNvPr id="201" name="Google Shape;201;p49"/>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2" name="Google Shape;202;p49"/>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3" name="Google Shape;203;p49"/>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4" name="Google Shape;204;p49"/>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5" name="Google Shape;205;p49"/>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6" name="Google Shape;206;p49"/>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7" name="Google Shape;207;p49"/>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8" name="Google Shape;208;p49"/>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9" name="Google Shape;209;p49"/>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0" name="Google Shape;210;p49"/>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1" name="Google Shape;211;p49"/>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2" name="Google Shape;212;p49"/>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3" name="Google Shape;213;p49"/>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4" name="Google Shape;214;p49"/>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showMasterSp="0">
  <p:cSld name="3_Closing Slide">
    <p:bg>
      <p:bgPr>
        <a:solidFill>
          <a:schemeClr val="accent5"/>
        </a:solidFill>
      </p:bgPr>
    </p:bg>
    <p:spTree>
      <p:nvGrpSpPr>
        <p:cNvPr id="215" name="Shape 215"/>
        <p:cNvGrpSpPr/>
        <p:nvPr/>
      </p:nvGrpSpPr>
      <p:grpSpPr>
        <a:xfrm>
          <a:off x="0" y="0"/>
          <a:ext cx="0" cy="0"/>
          <a:chOff x="0" y="0"/>
          <a:chExt cx="0" cy="0"/>
        </a:xfrm>
      </p:grpSpPr>
      <p:grpSp>
        <p:nvGrpSpPr>
          <p:cNvPr id="216" name="Google Shape;216;p50"/>
          <p:cNvGrpSpPr/>
          <p:nvPr/>
        </p:nvGrpSpPr>
        <p:grpSpPr>
          <a:xfrm>
            <a:off x="3746294" y="2129856"/>
            <a:ext cx="1617944" cy="860542"/>
            <a:chOff x="310" y="249"/>
            <a:chExt cx="502" cy="267"/>
          </a:xfrm>
        </p:grpSpPr>
        <p:sp>
          <p:nvSpPr>
            <p:cNvPr id="217" name="Google Shape;217;p50"/>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8" name="Google Shape;218;p50"/>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9" name="Google Shape;219;p50"/>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0" name="Google Shape;220;p50"/>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1" name="Google Shape;221;p50"/>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2" name="Google Shape;222;p50"/>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3" name="Google Shape;223;p50"/>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4" name="Google Shape;224;p50"/>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5" name="Google Shape;225;p50"/>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6" name="Google Shape;226;p50"/>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7" name="Google Shape;227;p50"/>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8" name="Google Shape;228;p50"/>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9" name="Google Shape;229;p50"/>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0" name="Google Shape;230;p50"/>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1" name="Shape 231"/>
        <p:cNvGrpSpPr/>
        <p:nvPr/>
      </p:nvGrpSpPr>
      <p:grpSpPr>
        <a:xfrm>
          <a:off x="0" y="0"/>
          <a:ext cx="0" cy="0"/>
          <a:chOff x="0" y="0"/>
          <a:chExt cx="0" cy="0"/>
        </a:xfrm>
      </p:grpSpPr>
      <p:sp>
        <p:nvSpPr>
          <p:cNvPr id="232" name="Google Shape;232;p51"/>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7"/>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Clr>
                <a:srgbClr val="000000"/>
              </a:buClr>
              <a:buSzPts val="1400"/>
              <a:buFont typeface="Arial"/>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9pPr>
          </a:lstStyle>
          <a:p/>
        </p:txBody>
      </p:sp>
      <p:sp>
        <p:nvSpPr>
          <p:cNvPr id="11" name="Google Shape;11;p37"/>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
        <p:nvSpPr>
          <p:cNvPr id="12" name="Google Shape;12;p37"/>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D8D8D8"/>
                </a:solidFill>
                <a:latin typeface="Arial"/>
                <a:ea typeface="Arial"/>
                <a:cs typeface="Arial"/>
                <a:sym typeface="Arial"/>
              </a:rPr>
              <a:t>© 2019  Cisco and/or its affiliates. All rights reserved.   Cisco Confidential</a:t>
            </a:r>
            <a:endParaRPr b="0" i="0" sz="1400" u="none" cap="none" strike="noStrike">
              <a:solidFill>
                <a:srgbClr val="000000"/>
              </a:solidFill>
              <a:latin typeface="Arial"/>
              <a:ea typeface="Arial"/>
              <a:cs typeface="Arial"/>
              <a:sym typeface="Arial"/>
            </a:endParaRPr>
          </a:p>
        </p:txBody>
      </p:sp>
      <p:grpSp>
        <p:nvGrpSpPr>
          <p:cNvPr id="13" name="Google Shape;13;p37"/>
          <p:cNvGrpSpPr/>
          <p:nvPr/>
        </p:nvGrpSpPr>
        <p:grpSpPr>
          <a:xfrm>
            <a:off x="508039" y="4715197"/>
            <a:ext cx="340257" cy="180974"/>
            <a:chOff x="310" y="249"/>
            <a:chExt cx="502" cy="267"/>
          </a:xfrm>
        </p:grpSpPr>
        <p:sp>
          <p:nvSpPr>
            <p:cNvPr id="14" name="Google Shape;14;p37"/>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37"/>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 name="Google Shape;16;p37"/>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 name="Google Shape;17;p37"/>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 name="Google Shape;18;p37"/>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 name="Google Shape;19;p37"/>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 name="Google Shape;20;p37"/>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 name="Google Shape;21;p37"/>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 name="Google Shape;22;p37"/>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 name="Google Shape;23;p37"/>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 name="Google Shape;24;p37"/>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 name="Google Shape;25;p37"/>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 name="Google Shape;26;p37"/>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 name="Google Shape;27;p37"/>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
          <p:cNvSpPr txBox="1"/>
          <p:nvPr>
            <p:ph type="ctrTitle"/>
          </p:nvPr>
        </p:nvSpPr>
        <p:spPr>
          <a:xfrm>
            <a:off x="469497" y="2316480"/>
            <a:ext cx="6672708" cy="1080143"/>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3600"/>
              <a:buFont typeface="Arial"/>
              <a:buNone/>
            </a:pPr>
            <a:r>
              <a:rPr lang="en-US">
                <a:solidFill>
                  <a:srgbClr val="AEE8FA"/>
                </a:solidFill>
              </a:rPr>
              <a:t>Module 4: ACL Concepts</a:t>
            </a:r>
            <a:endParaRPr/>
          </a:p>
        </p:txBody>
      </p:sp>
      <p:sp>
        <p:nvSpPr>
          <p:cNvPr id="239" name="Google Shape;239;p1"/>
          <p:cNvSpPr txBox="1"/>
          <p:nvPr>
            <p:ph idx="1" type="subTitle"/>
          </p:nvPr>
        </p:nvSpPr>
        <p:spPr>
          <a:xfrm>
            <a:off x="469496" y="3809526"/>
            <a:ext cx="3804791" cy="902174"/>
          </a:xfrm>
          <a:prstGeom prst="rect">
            <a:avLst/>
          </a:prstGeom>
          <a:noFill/>
          <a:ln>
            <a:noFill/>
          </a:ln>
        </p:spPr>
        <p:txBody>
          <a:bodyPr anchorCtr="0" anchor="b" bIns="45700" lIns="91400" spcFirstLastPara="1" rIns="91400" wrap="square" tIns="45700">
            <a:noAutofit/>
          </a:bodyPr>
          <a:lstStyle/>
          <a:p>
            <a:pPr indent="0" lvl="0" marL="0" rtl="0" algn="l">
              <a:lnSpc>
                <a:spcPct val="95000"/>
              </a:lnSpc>
              <a:spcBef>
                <a:spcPts val="0"/>
              </a:spcBef>
              <a:spcAft>
                <a:spcPts val="0"/>
              </a:spcAft>
              <a:buSzPts val="1080"/>
              <a:buNone/>
            </a:pPr>
            <a:r>
              <a:rPr lang="en-US">
                <a:solidFill>
                  <a:srgbClr val="AEE8FA"/>
                </a:solidFill>
              </a:rPr>
              <a:t>Enterprise Networking, Security, and Automation v7.0</a:t>
            </a:r>
            <a:endParaRPr/>
          </a:p>
          <a:p>
            <a:pPr indent="0" lvl="0" marL="0" rtl="0" algn="l">
              <a:lnSpc>
                <a:spcPct val="95000"/>
              </a:lnSpc>
              <a:spcBef>
                <a:spcPts val="0"/>
              </a:spcBef>
              <a:spcAft>
                <a:spcPts val="0"/>
              </a:spcAft>
              <a:buSzPts val="1080"/>
              <a:buNone/>
            </a:pPr>
            <a:r>
              <a:rPr lang="en-US">
                <a:solidFill>
                  <a:srgbClr val="AEE8FA"/>
                </a:solidFill>
              </a:rPr>
              <a:t>(ENSA)</a:t>
            </a:r>
            <a:endParaRPr/>
          </a:p>
          <a:p>
            <a:pPr indent="0" lvl="0" marL="0" rtl="0" algn="l">
              <a:lnSpc>
                <a:spcPct val="95000"/>
              </a:lnSpc>
              <a:spcBef>
                <a:spcPts val="1075"/>
              </a:spcBef>
              <a:spcAft>
                <a:spcPts val="0"/>
              </a:spcAft>
              <a:buSzPts val="1080"/>
              <a:buNone/>
            </a:pPr>
            <a:r>
              <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Module Objectives</a:t>
            </a:r>
            <a:endParaRPr/>
          </a:p>
        </p:txBody>
      </p:sp>
      <p:sp>
        <p:nvSpPr>
          <p:cNvPr id="246" name="Google Shape;246;p2"/>
          <p:cNvSpPr txBox="1"/>
          <p:nvPr>
            <p:ph idx="1" type="body"/>
          </p:nvPr>
        </p:nvSpPr>
        <p:spPr>
          <a:xfrm>
            <a:off x="144065" y="798944"/>
            <a:ext cx="8853286" cy="757551"/>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Clr>
                <a:schemeClr val="dk1"/>
              </a:buClr>
              <a:buSzPts val="1400"/>
              <a:buNone/>
            </a:pPr>
            <a:r>
              <a:rPr b="1" lang="en-US" sz="1400">
                <a:solidFill>
                  <a:schemeClr val="dk1"/>
                </a:solidFill>
              </a:rPr>
              <a:t>Module Title: </a:t>
            </a:r>
            <a:r>
              <a:rPr lang="en-US" sz="1400">
                <a:solidFill>
                  <a:schemeClr val="dk1"/>
                </a:solidFill>
              </a:rPr>
              <a:t>ACL Concepts</a:t>
            </a:r>
            <a:endParaRPr/>
          </a:p>
          <a:p>
            <a:pPr indent="0" lvl="0" marL="0" rtl="0" algn="l">
              <a:lnSpc>
                <a:spcPct val="100000"/>
              </a:lnSpc>
              <a:spcBef>
                <a:spcPts val="0"/>
              </a:spcBef>
              <a:spcAft>
                <a:spcPts val="0"/>
              </a:spcAft>
              <a:buClr>
                <a:srgbClr val="000000"/>
              </a:buClr>
              <a:buSzPts val="1400"/>
              <a:buNone/>
            </a:pPr>
            <a:r>
              <a:t/>
            </a:r>
            <a:endParaRPr sz="1400">
              <a:solidFill>
                <a:schemeClr val="dk1"/>
              </a:solidFill>
            </a:endParaRPr>
          </a:p>
          <a:p>
            <a:pPr indent="0" lvl="0" marL="0" rtl="0" algn="l">
              <a:lnSpc>
                <a:spcPct val="100000"/>
              </a:lnSpc>
              <a:spcBef>
                <a:spcPts val="0"/>
              </a:spcBef>
              <a:spcAft>
                <a:spcPts val="0"/>
              </a:spcAft>
              <a:buClr>
                <a:schemeClr val="dk1"/>
              </a:buClr>
              <a:buSzPts val="1400"/>
              <a:buNone/>
            </a:pPr>
            <a:r>
              <a:rPr b="1" lang="en-US" sz="1400">
                <a:solidFill>
                  <a:schemeClr val="dk1"/>
                </a:solidFill>
              </a:rPr>
              <a:t>Module Objective</a:t>
            </a:r>
            <a:r>
              <a:rPr lang="en-US" sz="1400">
                <a:solidFill>
                  <a:schemeClr val="dk1"/>
                </a:solidFill>
              </a:rPr>
              <a:t>: </a:t>
            </a:r>
            <a:r>
              <a:rPr lang="en-US"/>
              <a:t>Explain how ACLs are used as part of a network security policy.</a:t>
            </a:r>
            <a:endParaRPr/>
          </a:p>
        </p:txBody>
      </p:sp>
      <p:graphicFrame>
        <p:nvGraphicFramePr>
          <p:cNvPr id="247" name="Google Shape;247;p2"/>
          <p:cNvGraphicFramePr/>
          <p:nvPr/>
        </p:nvGraphicFramePr>
        <p:xfrm>
          <a:off x="450866" y="1832941"/>
          <a:ext cx="3000000" cy="3000000"/>
        </p:xfrm>
        <a:graphic>
          <a:graphicData uri="http://schemas.openxmlformats.org/drawingml/2006/table">
            <a:tbl>
              <a:tblPr bandRow="1" firstRow="1">
                <a:noFill/>
                <a:tableStyleId>{028A345D-260B-4E79-A705-3A2211E9E459}</a:tableStyleId>
              </a:tblPr>
              <a:tblGrid>
                <a:gridCol w="3014825"/>
                <a:gridCol w="4882000"/>
              </a:tblGrid>
              <a:tr h="27285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Topic Title</a:t>
                      </a:r>
                      <a:endParaRPr sz="16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Topic Objective</a:t>
                      </a:r>
                      <a:endParaRPr sz="1600" u="none" cap="none" strike="noStrike"/>
                    </a:p>
                  </a:txBody>
                  <a:tcPr marT="47625" marB="47625" marR="47625" marL="47625" anchor="ctr"/>
                </a:tc>
              </a:tr>
              <a:tr h="27285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chemeClr val="lt1"/>
                          </a:solidFill>
                        </a:rPr>
                        <a:t>Purpose of ACLs</a:t>
                      </a:r>
                      <a:endParaRPr b="0" sz="16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lang="en-US" sz="1600" u="none" cap="none" strike="noStrike"/>
                        <a:t>Explain how ACLs filter traffic.</a:t>
                      </a:r>
                      <a:endParaRPr sz="1400" u="none" cap="none" strike="noStrike"/>
                    </a:p>
                  </a:txBody>
                  <a:tcPr marT="47625" marB="47625" marR="47625" marL="47625" anchor="ctr"/>
                </a:tc>
              </a:tr>
              <a:tr h="27285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chemeClr val="lt1"/>
                          </a:solidFill>
                        </a:rPr>
                        <a:t>Wildcard Masks in ACLs</a:t>
                      </a:r>
                      <a:endParaRPr b="0" sz="16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lang="en-US" sz="1600" u="none" cap="none" strike="noStrike"/>
                        <a:t>Explain how ACLs use wildcard masks.</a:t>
                      </a:r>
                      <a:endParaRPr sz="1400" u="none" cap="none" strike="noStrike"/>
                    </a:p>
                  </a:txBody>
                  <a:tcPr marT="47625" marB="47625" marR="47625" marL="47625" anchor="ctr"/>
                </a:tc>
              </a:tr>
              <a:tr h="27285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chemeClr val="lt1"/>
                          </a:solidFill>
                        </a:rPr>
                        <a:t>Guidelines for ACL Creation</a:t>
                      </a:r>
                      <a:endParaRPr b="0" sz="16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lang="en-US" sz="1600" u="none" cap="none" strike="noStrike"/>
                        <a:t>Explain how to create ACLs.</a:t>
                      </a:r>
                      <a:endParaRPr sz="1400" u="none" cap="none" strike="noStrike"/>
                    </a:p>
                  </a:txBody>
                  <a:tcPr marT="47625" marB="47625" marR="47625" marL="47625" anchor="ctr"/>
                </a:tc>
              </a:tr>
              <a:tr h="27285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chemeClr val="lt1"/>
                          </a:solidFill>
                        </a:rPr>
                        <a:t>Types of IPv4 ACLs</a:t>
                      </a:r>
                      <a:endParaRPr b="0" sz="16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lang="en-US" sz="1600" u="none" cap="none" strike="noStrike"/>
                        <a:t>Compare standard and extended IPv4 ACLs.</a:t>
                      </a:r>
                      <a:endParaRPr sz="1400" u="none" cap="none" strike="noStrike"/>
                    </a:p>
                  </a:txBody>
                  <a:tcPr marT="47625" marB="47625" marR="47625" marL="47625" anchor="ctr"/>
                </a:tc>
              </a:tr>
            </a:tbl>
          </a:graphicData>
        </a:graphic>
      </p:graphicFrame>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4.1 Purpose of ACLs</a:t>
            </a:r>
            <a:endParaRPr/>
          </a:p>
        </p:txBody>
      </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Purpose of ACLs</a:t>
            </a:r>
            <a:br>
              <a:rPr lang="en-US"/>
            </a:br>
            <a:r>
              <a:rPr lang="en-US" sz="2400"/>
              <a:t>What is an ACL?</a:t>
            </a:r>
            <a:endParaRPr/>
          </a:p>
        </p:txBody>
      </p:sp>
      <p:sp>
        <p:nvSpPr>
          <p:cNvPr id="260" name="Google Shape;260;p4"/>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An ACL is a series of IOS commands that are used to filter packets based on information found in the packet header. By default, a router does not have any ACLs configured. When an ACL is applied to an interface, the router performs the additional task of evaluating all network packets as they pass through the interface to determine if the packet can be forwarded.</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An ACL uses a sequential list of permit or deny statements, known as access control entries (ACEs).</a:t>
            </a:r>
            <a:endParaRPr/>
          </a:p>
          <a:p>
            <a:pPr indent="0" lvl="0" marL="0" rtl="0" algn="l">
              <a:lnSpc>
                <a:spcPct val="100000"/>
              </a:lnSpc>
              <a:spcBef>
                <a:spcPts val="320"/>
              </a:spcBef>
              <a:spcAft>
                <a:spcPts val="0"/>
              </a:spcAft>
              <a:buSzPts val="1600"/>
              <a:buNone/>
            </a:pPr>
            <a:r>
              <a:rPr b="1" lang="en-US" sz="1600">
                <a:solidFill>
                  <a:srgbClr val="000000"/>
                </a:solidFill>
              </a:rPr>
              <a:t>Note:</a:t>
            </a:r>
            <a:r>
              <a:rPr lang="en-US" sz="1600">
                <a:solidFill>
                  <a:srgbClr val="000000"/>
                </a:solidFill>
              </a:rPr>
              <a:t> ACEs are also commonly called ACL statements.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When network traffic passes through an interface configured with an ACL, the router compares the information within the packet against each ACE, in sequential order, to determine if the packet matches one of the ACEs. This process is called packet filtering.</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Purpose of ACLs</a:t>
            </a:r>
            <a:br>
              <a:rPr lang="en-US"/>
            </a:br>
            <a:r>
              <a:rPr lang="en-US" sz="2400"/>
              <a:t>What is an ACL? (Cont.)</a:t>
            </a:r>
            <a:endParaRPr/>
          </a:p>
        </p:txBody>
      </p:sp>
      <p:sp>
        <p:nvSpPr>
          <p:cNvPr id="267" name="Google Shape;267;p5"/>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2000"/>
              <a:buNone/>
            </a:pPr>
            <a:r>
              <a:rPr lang="en-US">
                <a:solidFill>
                  <a:srgbClr val="000000"/>
                </a:solidFill>
              </a:rPr>
              <a:t>Several tasks performed by routers require the use of ACLs to identify traffic:</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Limit network traffic to increase network performance</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Provide traffic flow control</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Provide a basic level of security for network access</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Filter traffic based on traffic type</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Screen hosts to permit or deny access to network services</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Provide priority to certain classes of network traffic</a:t>
            </a:r>
            <a:endParaRPr/>
          </a:p>
          <a:p>
            <a:pPr indent="-215900" lvl="0" marL="342900" rtl="0" algn="l">
              <a:lnSpc>
                <a:spcPct val="100000"/>
              </a:lnSpc>
              <a:spcBef>
                <a:spcPts val="400"/>
              </a:spcBef>
              <a:spcAft>
                <a:spcPts val="0"/>
              </a:spcAft>
              <a:buSzPts val="2000"/>
              <a:buFont typeface="Arial"/>
              <a:buNone/>
            </a:pPr>
            <a:r>
              <a:t/>
            </a:r>
            <a:endParaRPr>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graphicFrame>
        <p:nvGraphicFramePr>
          <p:cNvPr id="273" name="Google Shape;273;p52"/>
          <p:cNvGraphicFramePr/>
          <p:nvPr/>
        </p:nvGraphicFramePr>
        <p:xfrm>
          <a:off x="418289" y="177800"/>
          <a:ext cx="3000000" cy="3000000"/>
        </p:xfrm>
        <a:graphic>
          <a:graphicData uri="http://schemas.openxmlformats.org/drawingml/2006/table">
            <a:tbl>
              <a:tblPr bandRow="1" firstRow="1">
                <a:noFill/>
                <a:tableStyleId>{028A345D-260B-4E79-A705-3A2211E9E459}</a:tableStyleId>
              </a:tblPr>
              <a:tblGrid>
                <a:gridCol w="3106575"/>
                <a:gridCol w="5200850"/>
              </a:tblGrid>
              <a:tr h="370850">
                <a:tc>
                  <a:txBody>
                    <a:bodyPr/>
                    <a:lstStyle/>
                    <a:p>
                      <a:pPr indent="0" lvl="0" marL="0" marR="0" rtl="0" algn="l">
                        <a:lnSpc>
                          <a:spcPct val="100000"/>
                        </a:lnSpc>
                        <a:spcBef>
                          <a:spcPts val="0"/>
                        </a:spcBef>
                        <a:spcAft>
                          <a:spcPts val="0"/>
                        </a:spcAft>
                        <a:buNone/>
                      </a:pPr>
                      <a:r>
                        <a:rPr lang="en-US" sz="1400" u="none" cap="none" strike="noStrike"/>
                        <a:t>Application of ACL on router</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Example</a:t>
                      </a:r>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rPr>
                        <a:t>Limit network traffic to increase network performance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 policy can be enforced using ACL to block video traffic to reduce network load.</a:t>
                      </a:r>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rPr>
                        <a:t>Provide traffic flow control</a:t>
                      </a:r>
                      <a:endParaRPr sz="1400" u="none" cap="none" strike="noStrike"/>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A policy can be implemented using ACLS to restrict the delivery of routing updates to only those that come from a known source.</a:t>
                      </a:r>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rPr>
                        <a:t>Provide a basic level of security for network access</a:t>
                      </a:r>
                      <a:endParaRPr sz="1400" u="none" cap="none" strike="noStrike"/>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A policy can be enforced using ACLS to limit access to specified networks such as Human Resources for authorized users only.</a:t>
                      </a:r>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rPr>
                        <a:t>Filter traffic based on traffic type</a:t>
                      </a:r>
                      <a:endParaRPr sz="1400" u="none" cap="none" strike="noStrike"/>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A policy can be implemented using ACL to filter traffic by type (email traffic be permitted into a network but Telnet access be denied)</a:t>
                      </a:r>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rPr>
                        <a:t>Screen hosts to permit or deny access to network services</a:t>
                      </a:r>
                      <a:endParaRPr sz="1400" u="none" cap="none" strike="noStrike"/>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ACL to filter user access to services. Example FTP or HTTP be limited to user groups</a:t>
                      </a:r>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rPr>
                        <a:t>Provide priority to certain classes of network traffic</a:t>
                      </a:r>
                      <a:endParaRPr sz="1400" u="none" cap="none" strike="noStrike"/>
                    </a:p>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t>Use ACL and QoS services to identify voice traffic and process it immediately to avoid any interruptions</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Purpose of ACLs</a:t>
            </a:r>
            <a:br>
              <a:rPr lang="en-US"/>
            </a:br>
            <a:r>
              <a:rPr lang="en-US" sz="2400"/>
              <a:t>Packet Filtering</a:t>
            </a:r>
            <a:endParaRPr/>
          </a:p>
        </p:txBody>
      </p:sp>
      <p:sp>
        <p:nvSpPr>
          <p:cNvPr id="280" name="Google Shape;280;p6"/>
          <p:cNvSpPr txBox="1"/>
          <p:nvPr>
            <p:ph idx="1" type="body"/>
          </p:nvPr>
        </p:nvSpPr>
        <p:spPr>
          <a:xfrm>
            <a:off x="474663" y="731837"/>
            <a:ext cx="4413426"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Packet filtering controls access to a network by analyzing the incoming and/or outgoing packets and forwarding them or discarding them based on given criteria. </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Packet filtering can occur at Layer 3 or Layer 4.</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Cisco routers support two types of ACLs:</a:t>
            </a:r>
            <a:endParaRPr/>
          </a:p>
          <a:p>
            <a:pPr indent="-342899" lvl="1" marL="415984" rtl="0" algn="l">
              <a:lnSpc>
                <a:spcPct val="95000"/>
              </a:lnSpc>
              <a:spcBef>
                <a:spcPts val="600"/>
              </a:spcBef>
              <a:spcAft>
                <a:spcPts val="0"/>
              </a:spcAft>
              <a:buSzPts val="1400"/>
              <a:buFont typeface="Arial"/>
              <a:buChar char="•"/>
            </a:pPr>
            <a:r>
              <a:rPr b="1" lang="en-US">
                <a:solidFill>
                  <a:srgbClr val="000000"/>
                </a:solidFill>
              </a:rPr>
              <a:t>Standard ACLs</a:t>
            </a:r>
            <a:r>
              <a:rPr lang="en-US">
                <a:solidFill>
                  <a:srgbClr val="000000"/>
                </a:solidFill>
              </a:rPr>
              <a:t> - ACLs only filter at Layer 3 using the source IPv4 address only.</a:t>
            </a:r>
            <a:endParaRPr/>
          </a:p>
          <a:p>
            <a:pPr indent="-342899" lvl="1" marL="415984" rtl="0" algn="l">
              <a:lnSpc>
                <a:spcPct val="95000"/>
              </a:lnSpc>
              <a:spcBef>
                <a:spcPts val="600"/>
              </a:spcBef>
              <a:spcAft>
                <a:spcPts val="0"/>
              </a:spcAft>
              <a:buSzPts val="1400"/>
              <a:buFont typeface="Arial"/>
              <a:buChar char="•"/>
            </a:pPr>
            <a:r>
              <a:rPr b="1" lang="en-US">
                <a:solidFill>
                  <a:srgbClr val="000000"/>
                </a:solidFill>
              </a:rPr>
              <a:t>Extended ACLs</a:t>
            </a:r>
            <a:r>
              <a:rPr lang="en-US">
                <a:solidFill>
                  <a:srgbClr val="000000"/>
                </a:solidFill>
              </a:rPr>
              <a:t> - ACLs filter at Layer 3 using the source and / or destination IPv4 address. They can also filter at Layer 4 using TCP, UDP ports, and optional protocol type information for finer control.</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281" name="Google Shape;281;p6"/>
          <p:cNvPicPr preferRelativeResize="0"/>
          <p:nvPr/>
        </p:nvPicPr>
        <p:blipFill rotWithShape="1">
          <a:blip r:embed="rId3">
            <a:alphaModFix/>
          </a:blip>
          <a:srcRect b="0" l="0" r="0" t="0"/>
          <a:stretch/>
        </p:blipFill>
        <p:spPr>
          <a:xfrm>
            <a:off x="4868199" y="1154561"/>
            <a:ext cx="4121802" cy="299861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Purpose of ACLs</a:t>
            </a:r>
            <a:br>
              <a:rPr lang="en-US"/>
            </a:br>
            <a:r>
              <a:rPr lang="en-US" sz="2400"/>
              <a:t>ACL Operation</a:t>
            </a:r>
            <a:endParaRPr/>
          </a:p>
        </p:txBody>
      </p:sp>
      <p:sp>
        <p:nvSpPr>
          <p:cNvPr id="288" name="Google Shape;288;p7"/>
          <p:cNvSpPr txBox="1"/>
          <p:nvPr>
            <p:ph idx="1" type="body"/>
          </p:nvPr>
        </p:nvSpPr>
        <p:spPr>
          <a:xfrm>
            <a:off x="474662" y="731837"/>
            <a:ext cx="8280057" cy="278787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ACLs define the set of rules that give added control for packets that enter inbound interfaces, packets that relay through the router, and packets that exit outbound interfaces of the router.</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ACLs can be configured to apply to inbound traffic and outbound traffic.</a:t>
            </a:r>
            <a:endParaRPr/>
          </a:p>
          <a:p>
            <a:pPr indent="0" lvl="0" marL="0" rtl="0" algn="l">
              <a:lnSpc>
                <a:spcPct val="100000"/>
              </a:lnSpc>
              <a:spcBef>
                <a:spcPts val="320"/>
              </a:spcBef>
              <a:spcAft>
                <a:spcPts val="0"/>
              </a:spcAft>
              <a:buSzPts val="1600"/>
              <a:buNone/>
            </a:pPr>
            <a:r>
              <a:rPr b="1" lang="en-US" sz="1600">
                <a:solidFill>
                  <a:srgbClr val="000000"/>
                </a:solidFill>
              </a:rPr>
              <a:t>Note</a:t>
            </a:r>
            <a:r>
              <a:rPr lang="en-US" sz="1600">
                <a:solidFill>
                  <a:srgbClr val="000000"/>
                </a:solidFill>
              </a:rPr>
              <a:t>: ACLs do not act on packets that originate from the router itself.</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An inbound ACL filters packets before they are routed to the outbound interface. An inbound ACL is efficient because it saves the overhead of routing lookups if the packet is discarded.</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An outbound ACL filters packets after being routed, regardless of the inbound interface.</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289" name="Google Shape;289;p7"/>
          <p:cNvPicPr preferRelativeResize="0"/>
          <p:nvPr/>
        </p:nvPicPr>
        <p:blipFill rotWithShape="1">
          <a:blip r:embed="rId3">
            <a:alphaModFix/>
          </a:blip>
          <a:srcRect b="0" l="0" r="0" t="0"/>
          <a:stretch/>
        </p:blipFill>
        <p:spPr>
          <a:xfrm>
            <a:off x="1021291" y="3663491"/>
            <a:ext cx="7101417" cy="11053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Purpose of ACLs</a:t>
            </a:r>
            <a:br>
              <a:rPr lang="en-US"/>
            </a:br>
            <a:r>
              <a:rPr lang="en-US" sz="2400"/>
              <a:t>ACL Operation (Cont.)</a:t>
            </a:r>
            <a:endParaRPr/>
          </a:p>
        </p:txBody>
      </p:sp>
      <p:sp>
        <p:nvSpPr>
          <p:cNvPr id="296" name="Google Shape;296;p8"/>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When an ACL is applied to an interface, it follows a specific operating procedure. Here are the operational steps used when traffic has entered a router interface with an inbound standard IPv4 ACL configured:</a:t>
            </a:r>
            <a:endParaRPr/>
          </a:p>
          <a:p>
            <a:pPr indent="-342899" lvl="1" marL="415984" rtl="0" algn="l">
              <a:lnSpc>
                <a:spcPct val="95000"/>
              </a:lnSpc>
              <a:spcBef>
                <a:spcPts val="600"/>
              </a:spcBef>
              <a:spcAft>
                <a:spcPts val="0"/>
              </a:spcAft>
              <a:buSzPts val="1400"/>
              <a:buFont typeface="Arial"/>
              <a:buAutoNum type="arabicPeriod"/>
            </a:pPr>
            <a:r>
              <a:rPr lang="en-US">
                <a:solidFill>
                  <a:srgbClr val="000000"/>
                </a:solidFill>
              </a:rPr>
              <a:t>The router extracts the source IPv4 address from the packet header.</a:t>
            </a:r>
            <a:endParaRPr/>
          </a:p>
          <a:p>
            <a:pPr indent="-342899" lvl="1" marL="415984" rtl="0" algn="l">
              <a:lnSpc>
                <a:spcPct val="95000"/>
              </a:lnSpc>
              <a:spcBef>
                <a:spcPts val="600"/>
              </a:spcBef>
              <a:spcAft>
                <a:spcPts val="0"/>
              </a:spcAft>
              <a:buSzPts val="1400"/>
              <a:buFont typeface="Arial"/>
              <a:buAutoNum type="arabicPeriod"/>
            </a:pPr>
            <a:r>
              <a:rPr lang="en-US">
                <a:solidFill>
                  <a:srgbClr val="000000"/>
                </a:solidFill>
              </a:rPr>
              <a:t>The router starts at the top of the ACL and compares the source IPv4 address to each ACE in a sequential order.</a:t>
            </a:r>
            <a:endParaRPr/>
          </a:p>
          <a:p>
            <a:pPr indent="-342899" lvl="1" marL="415984" rtl="0" algn="l">
              <a:lnSpc>
                <a:spcPct val="95000"/>
              </a:lnSpc>
              <a:spcBef>
                <a:spcPts val="600"/>
              </a:spcBef>
              <a:spcAft>
                <a:spcPts val="0"/>
              </a:spcAft>
              <a:buSzPts val="1400"/>
              <a:buFont typeface="Arial"/>
              <a:buAutoNum type="arabicPeriod"/>
            </a:pPr>
            <a:r>
              <a:rPr lang="en-US">
                <a:solidFill>
                  <a:srgbClr val="000000"/>
                </a:solidFill>
              </a:rPr>
              <a:t>When a match is made, the router carries out the instruction, either permitting or denying the packet, and the remaining ACEs in the ACL, if any, are not analyzed.</a:t>
            </a:r>
            <a:endParaRPr/>
          </a:p>
          <a:p>
            <a:pPr indent="-342899" lvl="1" marL="415984" rtl="0" algn="l">
              <a:lnSpc>
                <a:spcPct val="95000"/>
              </a:lnSpc>
              <a:spcBef>
                <a:spcPts val="600"/>
              </a:spcBef>
              <a:spcAft>
                <a:spcPts val="0"/>
              </a:spcAft>
              <a:buSzPts val="1400"/>
              <a:buFont typeface="Arial"/>
              <a:buAutoNum type="arabicPeriod"/>
            </a:pPr>
            <a:r>
              <a:rPr lang="en-US">
                <a:solidFill>
                  <a:srgbClr val="000000"/>
                </a:solidFill>
              </a:rPr>
              <a:t>If the source IPv4 address does not match any ACEs in the ACL, the packet is discarded because there is an implicit deny ACE automatically applied to all ACLs.</a:t>
            </a:r>
            <a:endParaRPr/>
          </a:p>
          <a:p>
            <a:pPr indent="0" lvl="0" marL="0" rtl="0" algn="l">
              <a:lnSpc>
                <a:spcPct val="100000"/>
              </a:lnSpc>
              <a:spcBef>
                <a:spcPts val="320"/>
              </a:spcBef>
              <a:spcAft>
                <a:spcPts val="0"/>
              </a:spcAft>
              <a:buSzPts val="1600"/>
              <a:buNone/>
            </a:pPr>
            <a:r>
              <a:rPr lang="en-US" sz="1600">
                <a:solidFill>
                  <a:srgbClr val="000000"/>
                </a:solidFill>
              </a:rPr>
              <a:t>The last ACE statement of an ACL is always an implicit deny that blocks all traffic. It is hidden and not displayed in the configuration.</a:t>
            </a:r>
            <a:endParaRPr/>
          </a:p>
          <a:p>
            <a:pPr indent="0" lvl="1" marL="73085" rtl="0" algn="l">
              <a:lnSpc>
                <a:spcPct val="95000"/>
              </a:lnSpc>
              <a:spcBef>
                <a:spcPts val="600"/>
              </a:spcBef>
              <a:spcAft>
                <a:spcPts val="0"/>
              </a:spcAft>
              <a:buSzPts val="1400"/>
              <a:buNone/>
            </a:pPr>
            <a:r>
              <a:rPr b="1" lang="en-US">
                <a:solidFill>
                  <a:srgbClr val="000000"/>
                </a:solidFill>
              </a:rPr>
              <a:t>Note</a:t>
            </a:r>
            <a:r>
              <a:rPr lang="en-US">
                <a:solidFill>
                  <a:srgbClr val="000000"/>
                </a:solidFill>
              </a:rPr>
              <a:t>: An ACL must have at least one permit statement otherwise all traffic will be denied due to the implicit deny ACE statement.</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Purpose of ACLs</a:t>
            </a:r>
            <a:br>
              <a:rPr lang="en-US"/>
            </a:br>
            <a:r>
              <a:rPr lang="en-US" sz="2400"/>
              <a:t>Packet Tracer - ACL Demonstration</a:t>
            </a:r>
            <a:endParaRPr/>
          </a:p>
        </p:txBody>
      </p:sp>
      <p:sp>
        <p:nvSpPr>
          <p:cNvPr id="303" name="Google Shape;303;p9"/>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In this Packet Tracer, you will complete the following objectives:</a:t>
            </a:r>
            <a:endParaRPr/>
          </a:p>
          <a:p>
            <a:pPr indent="0" lvl="0" marL="0" rtl="0" algn="l">
              <a:lnSpc>
                <a:spcPct val="100000"/>
              </a:lnSpc>
              <a:spcBef>
                <a:spcPts val="320"/>
              </a:spcBef>
              <a:spcAft>
                <a:spcPts val="0"/>
              </a:spcAft>
              <a:buSzPts val="1600"/>
              <a:buNone/>
            </a:pPr>
            <a:r>
              <a:t/>
            </a:r>
            <a:endParaRPr sz="1600">
              <a:solidFill>
                <a:srgbClr val="000000"/>
              </a:solidFill>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Part 1: Verify Local Connectivity and Test Access Control List </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Part 2: Remove Access Control List and Repeat Test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0"/>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4.2 Wildcard Masks in ACLs</a:t>
            </a:r>
            <a:endParaRPr/>
          </a:p>
        </p:txBody>
      </p:sp>
    </p:spTree>
  </p:cSld>
  <p:clrMapOvr>
    <a:masterClrMapping/>
  </p:clrMapOvr>
  <p:transition spd="slow">
    <p:wipe dir="l"/>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Wildcard Masks in ACLs</a:t>
            </a:r>
            <a:br>
              <a:rPr lang="en-US"/>
            </a:br>
            <a:r>
              <a:rPr lang="en-US" sz="2400"/>
              <a:t>Wildcard Mask Overview</a:t>
            </a:r>
            <a:endParaRPr/>
          </a:p>
        </p:txBody>
      </p:sp>
      <p:sp>
        <p:nvSpPr>
          <p:cNvPr id="316" name="Google Shape;316;p11"/>
          <p:cNvSpPr txBox="1"/>
          <p:nvPr>
            <p:ph idx="1" type="body"/>
          </p:nvPr>
        </p:nvSpPr>
        <p:spPr>
          <a:xfrm>
            <a:off x="431971"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 wildcard mask is similar to a subnet mask in that it uses the ANDing process to identify which bits in an IPv4 address to match. Unlike a subnet mask, in which binary 1 is equal to a match and binary 0 is not a match, in a wildcard mask, the reverse is true.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An IPv4 ACE uses a 32-bit wildcard mask to determine which bits of the address to examine for a match.</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Wildcard masks use the following rules to match binary 1s and 0s:</a:t>
            </a:r>
            <a:endParaRPr/>
          </a:p>
          <a:p>
            <a:pPr indent="-342899" lvl="1" marL="415984" rtl="0" algn="l">
              <a:lnSpc>
                <a:spcPct val="95000"/>
              </a:lnSpc>
              <a:spcBef>
                <a:spcPts val="600"/>
              </a:spcBef>
              <a:spcAft>
                <a:spcPts val="0"/>
              </a:spcAft>
              <a:buSzPts val="1600"/>
              <a:buFont typeface="Arial"/>
              <a:buChar char="•"/>
            </a:pPr>
            <a:r>
              <a:rPr b="1" lang="en-US" sz="1600">
                <a:solidFill>
                  <a:srgbClr val="000000"/>
                </a:solidFill>
              </a:rPr>
              <a:t>Wildcard mask bit 0</a:t>
            </a:r>
            <a:r>
              <a:rPr lang="en-US" sz="1600">
                <a:solidFill>
                  <a:srgbClr val="000000"/>
                </a:solidFill>
              </a:rPr>
              <a:t> - Match the corresponding bit value in the address</a:t>
            </a:r>
            <a:endParaRPr/>
          </a:p>
          <a:p>
            <a:pPr indent="-342899" lvl="1" marL="415984" rtl="0" algn="l">
              <a:lnSpc>
                <a:spcPct val="95000"/>
              </a:lnSpc>
              <a:spcBef>
                <a:spcPts val="600"/>
              </a:spcBef>
              <a:spcAft>
                <a:spcPts val="0"/>
              </a:spcAft>
              <a:buSzPts val="1600"/>
              <a:buFont typeface="Arial"/>
              <a:buChar char="•"/>
            </a:pPr>
            <a:r>
              <a:rPr b="1" lang="en-US" sz="1600">
                <a:solidFill>
                  <a:srgbClr val="000000"/>
                </a:solidFill>
              </a:rPr>
              <a:t>Wildcard mask bit 1</a:t>
            </a:r>
            <a:r>
              <a:rPr lang="en-US" sz="1600">
                <a:solidFill>
                  <a:srgbClr val="000000"/>
                </a:solidFill>
              </a:rPr>
              <a:t> - Ignore the corresponding bit value in the address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Wildcard Masks in ACLs</a:t>
            </a:r>
            <a:br>
              <a:rPr lang="en-US"/>
            </a:br>
            <a:r>
              <a:rPr lang="en-US" sz="2400"/>
              <a:t>Wildcard Mask Overview (Cont.)</a:t>
            </a:r>
            <a:endParaRPr/>
          </a:p>
        </p:txBody>
      </p:sp>
      <p:graphicFrame>
        <p:nvGraphicFramePr>
          <p:cNvPr id="323" name="Google Shape;323;p12"/>
          <p:cNvGraphicFramePr/>
          <p:nvPr/>
        </p:nvGraphicFramePr>
        <p:xfrm>
          <a:off x="474663" y="731838"/>
          <a:ext cx="3000000" cy="3000000"/>
        </p:xfrm>
        <a:graphic>
          <a:graphicData uri="http://schemas.openxmlformats.org/drawingml/2006/table">
            <a:tbl>
              <a:tblPr bandRow="1" firstRow="1">
                <a:noFill/>
                <a:tableStyleId>{028A345D-260B-4E79-A705-3A2211E9E459}</a:tableStyleId>
              </a:tblPr>
              <a:tblGrid>
                <a:gridCol w="1760525"/>
                <a:gridCol w="2009425"/>
                <a:gridCol w="4510450"/>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Wildcard Mask</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Last Octet (in Binary)</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Meaning (0 - match, 1 - ignore)</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0.0.0.0</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00000000</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Match all octets.</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0.0.0.63</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00111111</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400"/>
                        <a:buFont typeface="Arial"/>
                        <a:buChar char="•"/>
                      </a:pPr>
                      <a:r>
                        <a:rPr b="0" lang="en-US" sz="1400" u="none" cap="none" strike="noStrike"/>
                        <a:t>Match the first three octets</a:t>
                      </a:r>
                      <a:endParaRPr sz="1400" u="none" cap="none" strike="noStrike"/>
                    </a:p>
                    <a:p>
                      <a:pPr indent="0" lvl="0" marL="0" marR="0" rtl="0" algn="l">
                        <a:lnSpc>
                          <a:spcPct val="100000"/>
                        </a:lnSpc>
                        <a:spcBef>
                          <a:spcPts val="0"/>
                        </a:spcBef>
                        <a:spcAft>
                          <a:spcPts val="0"/>
                        </a:spcAft>
                        <a:buClr>
                          <a:schemeClr val="dk1"/>
                        </a:buClr>
                        <a:buSzPts val="1400"/>
                        <a:buFont typeface="Arial"/>
                        <a:buChar char="•"/>
                      </a:pPr>
                      <a:r>
                        <a:rPr b="0" lang="en-US" sz="1400" u="none" cap="none" strike="noStrike"/>
                        <a:t>Match the two left most bits of the last octet</a:t>
                      </a:r>
                      <a:endParaRPr sz="1400" u="none" cap="none" strike="noStrike"/>
                    </a:p>
                    <a:p>
                      <a:pPr indent="0" lvl="0" marL="0" marR="0" rtl="0" algn="l">
                        <a:lnSpc>
                          <a:spcPct val="100000"/>
                        </a:lnSpc>
                        <a:spcBef>
                          <a:spcPts val="0"/>
                        </a:spcBef>
                        <a:spcAft>
                          <a:spcPts val="0"/>
                        </a:spcAft>
                        <a:buClr>
                          <a:schemeClr val="dk1"/>
                        </a:buClr>
                        <a:buSzPts val="1400"/>
                        <a:buFont typeface="Arial"/>
                        <a:buChar char="•"/>
                      </a:pPr>
                      <a:r>
                        <a:rPr b="0" lang="en-US" sz="1400" u="none" cap="none" strike="noStrike"/>
                        <a:t>Ignore the last 6 bits</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0.0.0.15</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00001111</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400"/>
                        <a:buFont typeface="Arial"/>
                        <a:buChar char="•"/>
                      </a:pPr>
                      <a:r>
                        <a:rPr b="0" lang="en-US" sz="1400" u="none" cap="none" strike="noStrike"/>
                        <a:t>Match the first three octets</a:t>
                      </a:r>
                      <a:endParaRPr sz="1400" u="none" cap="none" strike="noStrike"/>
                    </a:p>
                    <a:p>
                      <a:pPr indent="0" lvl="0" marL="0" marR="0" rtl="0" algn="l">
                        <a:lnSpc>
                          <a:spcPct val="100000"/>
                        </a:lnSpc>
                        <a:spcBef>
                          <a:spcPts val="0"/>
                        </a:spcBef>
                        <a:spcAft>
                          <a:spcPts val="0"/>
                        </a:spcAft>
                        <a:buClr>
                          <a:schemeClr val="dk1"/>
                        </a:buClr>
                        <a:buSzPts val="1400"/>
                        <a:buFont typeface="Arial"/>
                        <a:buChar char="•"/>
                      </a:pPr>
                      <a:r>
                        <a:rPr b="0" lang="en-US" sz="1400" u="none" cap="none" strike="noStrike"/>
                        <a:t>Match the four left most bits of the last octet</a:t>
                      </a:r>
                      <a:endParaRPr sz="1400" u="none" cap="none" strike="noStrike"/>
                    </a:p>
                    <a:p>
                      <a:pPr indent="0" lvl="0" marL="0" marR="0" rtl="0" algn="l">
                        <a:lnSpc>
                          <a:spcPct val="100000"/>
                        </a:lnSpc>
                        <a:spcBef>
                          <a:spcPts val="0"/>
                        </a:spcBef>
                        <a:spcAft>
                          <a:spcPts val="0"/>
                        </a:spcAft>
                        <a:buClr>
                          <a:schemeClr val="dk1"/>
                        </a:buClr>
                        <a:buSzPts val="1400"/>
                        <a:buFont typeface="Arial"/>
                        <a:buChar char="•"/>
                      </a:pPr>
                      <a:r>
                        <a:rPr b="0" lang="en-US" sz="1400" u="none" cap="none" strike="noStrike"/>
                        <a:t>Ignore the last 4 bits of the last octet</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0.0.0.248</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11111100</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400"/>
                        <a:buFont typeface="Arial"/>
                        <a:buChar char="•"/>
                      </a:pPr>
                      <a:r>
                        <a:rPr b="0" lang="en-US" sz="1400" u="none" cap="none" strike="noStrike"/>
                        <a:t>Match the first three octets</a:t>
                      </a:r>
                      <a:endParaRPr sz="1400" u="none" cap="none" strike="noStrike"/>
                    </a:p>
                    <a:p>
                      <a:pPr indent="0" lvl="0" marL="0" marR="0" rtl="0" algn="l">
                        <a:lnSpc>
                          <a:spcPct val="100000"/>
                        </a:lnSpc>
                        <a:spcBef>
                          <a:spcPts val="0"/>
                        </a:spcBef>
                        <a:spcAft>
                          <a:spcPts val="0"/>
                        </a:spcAft>
                        <a:buClr>
                          <a:schemeClr val="dk1"/>
                        </a:buClr>
                        <a:buSzPts val="1400"/>
                        <a:buFont typeface="Arial"/>
                        <a:buChar char="•"/>
                      </a:pPr>
                      <a:r>
                        <a:rPr b="0" lang="en-US" sz="1400" u="none" cap="none" strike="noStrike"/>
                        <a:t>Ignore the six left most bits of the last octet</a:t>
                      </a:r>
                      <a:endParaRPr sz="1400" u="none" cap="none" strike="noStrike"/>
                    </a:p>
                    <a:p>
                      <a:pPr indent="0" lvl="0" marL="0" marR="0" rtl="0" algn="l">
                        <a:lnSpc>
                          <a:spcPct val="100000"/>
                        </a:lnSpc>
                        <a:spcBef>
                          <a:spcPts val="0"/>
                        </a:spcBef>
                        <a:spcAft>
                          <a:spcPts val="0"/>
                        </a:spcAft>
                        <a:buClr>
                          <a:schemeClr val="dk1"/>
                        </a:buClr>
                        <a:buSzPts val="1400"/>
                        <a:buFont typeface="Arial"/>
                        <a:buChar char="•"/>
                      </a:pPr>
                      <a:r>
                        <a:rPr b="0" lang="en-US" sz="1400" u="none" cap="none" strike="noStrike"/>
                        <a:t>Match the last two bits</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0.0.0.255</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11111111</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400"/>
                        <a:buFont typeface="Arial"/>
                        <a:buChar char="•"/>
                      </a:pPr>
                      <a:r>
                        <a:rPr b="0" lang="en-US" sz="1400" u="none" cap="none" strike="noStrike"/>
                        <a:t>Match the first three octet</a:t>
                      </a:r>
                      <a:endParaRPr sz="1400" u="none" cap="none" strike="noStrike"/>
                    </a:p>
                    <a:p>
                      <a:pPr indent="0" lvl="0" marL="0" marR="0" rtl="0" algn="l">
                        <a:lnSpc>
                          <a:spcPct val="100000"/>
                        </a:lnSpc>
                        <a:spcBef>
                          <a:spcPts val="0"/>
                        </a:spcBef>
                        <a:spcAft>
                          <a:spcPts val="0"/>
                        </a:spcAft>
                        <a:buClr>
                          <a:schemeClr val="dk1"/>
                        </a:buClr>
                        <a:buSzPts val="1400"/>
                        <a:buFont typeface="Arial"/>
                        <a:buChar char="•"/>
                      </a:pPr>
                      <a:r>
                        <a:rPr b="0" lang="en-US" sz="1400" u="none" cap="none" strike="noStrike"/>
                        <a:t>Ignore the last octet</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Wildcard Masks in ACLs</a:t>
            </a:r>
            <a:br>
              <a:rPr lang="en-US"/>
            </a:br>
            <a:r>
              <a:rPr lang="en-US" sz="2400"/>
              <a:t>Wildcard Mask Types</a:t>
            </a:r>
            <a:endParaRPr/>
          </a:p>
        </p:txBody>
      </p:sp>
      <p:sp>
        <p:nvSpPr>
          <p:cNvPr id="330" name="Google Shape;330;p13"/>
          <p:cNvSpPr txBox="1"/>
          <p:nvPr>
            <p:ph idx="1" type="body"/>
          </p:nvPr>
        </p:nvSpPr>
        <p:spPr>
          <a:xfrm>
            <a:off x="474662" y="731838"/>
            <a:ext cx="8280057" cy="181542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Wildcard to Match a Host:</a:t>
            </a:r>
            <a:r>
              <a:rPr lang="en-US" sz="1600">
                <a:solidFill>
                  <a:srgbClr val="000000"/>
                </a:solidFill>
              </a:rPr>
              <a:t> </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Assume ACL 10 needs an ACE that only permits the host with IPv4 address 192.168.1.1. Recall that “0” equals a match and “1” equals ignore. To match a specific host IPv4 address, a wildcard mask consisting of all zeroes (i.e., 0.0.0.0) is required.</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When the ACE is processed, the wildcard mask will permit only the 192.168.1.1 address. The resulting ACE in ACL 10 would be </a:t>
            </a:r>
            <a:r>
              <a:rPr b="1" lang="en-US" sz="1600">
                <a:solidFill>
                  <a:srgbClr val="000000"/>
                </a:solidFill>
              </a:rPr>
              <a:t>access-list 10 permit 192.168.1.1 0.0.0.0.</a:t>
            </a:r>
            <a:endParaRPr b="1" sz="1600">
              <a:solidFill>
                <a:srgbClr val="000000"/>
              </a:solidFill>
            </a:endParaRPr>
          </a:p>
          <a:p>
            <a:pPr indent="-342900" lvl="0" marL="342900" rtl="0" algn="l">
              <a:lnSpc>
                <a:spcPct val="100000"/>
              </a:lnSpc>
              <a:spcBef>
                <a:spcPts val="320"/>
              </a:spcBef>
              <a:spcAft>
                <a:spcPts val="0"/>
              </a:spcAft>
              <a:buClr>
                <a:srgbClr val="3D85C6"/>
              </a:buClr>
              <a:buSzPts val="1600"/>
              <a:buChar char="•"/>
            </a:pPr>
            <a:r>
              <a:rPr b="1" lang="en-US" sz="1600">
                <a:solidFill>
                  <a:srgbClr val="3D85C6"/>
                </a:solidFill>
              </a:rPr>
              <a:t>“A wildcard of 0.0.0.0 means only this one specific IP address is permitted”</a:t>
            </a:r>
            <a:endParaRPr b="1" sz="1600">
              <a:solidFill>
                <a:srgbClr val="3D85C6"/>
              </a:solidFill>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graphicFrame>
        <p:nvGraphicFramePr>
          <p:cNvPr id="331" name="Google Shape;331;p13"/>
          <p:cNvGraphicFramePr/>
          <p:nvPr/>
        </p:nvGraphicFramePr>
        <p:xfrm>
          <a:off x="636322" y="2954659"/>
          <a:ext cx="3000000" cy="3000000"/>
        </p:xfrm>
        <a:graphic>
          <a:graphicData uri="http://schemas.openxmlformats.org/drawingml/2006/table">
            <a:tbl>
              <a:tblPr bandRow="1" firstRow="1">
                <a:noFill/>
                <a:tableStyleId>{028A345D-260B-4E79-A705-3A2211E9E459}</a:tableStyleId>
              </a:tblPr>
              <a:tblGrid>
                <a:gridCol w="1704625"/>
                <a:gridCol w="1399825"/>
                <a:gridCol w="4766900"/>
              </a:tblGrid>
              <a:tr h="370850">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Decimal</a:t>
                      </a:r>
                      <a:endParaRPr sz="16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600"/>
                        <a:buFont typeface="Arial"/>
                        <a:buNone/>
                      </a:pPr>
                      <a:r>
                        <a:rPr b="1" lang="en-US" sz="1600" u="none" cap="none" strike="noStrike"/>
                        <a:t>Binary</a:t>
                      </a:r>
                      <a:endParaRPr sz="1600" u="none" cap="none" strike="noStrike"/>
                    </a:p>
                  </a:txBody>
                  <a:tcPr marT="45725" marB="45725" marR="91450" marL="91450"/>
                </a:tc>
              </a:tr>
              <a:tr h="370850">
                <a:tc>
                  <a:txBody>
                    <a:bodyPr/>
                    <a:lstStyle/>
                    <a:p>
                      <a:pPr indent="0" lvl="0" marL="0" marR="0" rtl="0" algn="r">
                        <a:lnSpc>
                          <a:spcPct val="100000"/>
                        </a:lnSpc>
                        <a:spcBef>
                          <a:spcPts val="0"/>
                        </a:spcBef>
                        <a:spcAft>
                          <a:spcPts val="0"/>
                        </a:spcAft>
                        <a:buClr>
                          <a:srgbClr val="000000"/>
                        </a:buClr>
                        <a:buSzPts val="1600"/>
                        <a:buFont typeface="Arial"/>
                        <a:buNone/>
                      </a:pPr>
                      <a:r>
                        <a:rPr b="0" lang="en-US" sz="1600" u="none" cap="none" strike="noStrike"/>
                        <a:t>IPv4 address</a:t>
                      </a:r>
                      <a:endParaRPr sz="1400" u="none" cap="none" strike="noStrike"/>
                    </a:p>
                  </a:txBody>
                  <a:tcPr marT="47625" marB="47625" marR="47625" marL="47625" anchor="ctr"/>
                </a:tc>
                <a:tc>
                  <a:txBody>
                    <a:bodyPr/>
                    <a:lstStyle/>
                    <a:p>
                      <a:pPr indent="0" lvl="0" marL="0" marR="0" rtl="0" algn="r">
                        <a:lnSpc>
                          <a:spcPct val="100000"/>
                        </a:lnSpc>
                        <a:spcBef>
                          <a:spcPts val="0"/>
                        </a:spcBef>
                        <a:spcAft>
                          <a:spcPts val="0"/>
                        </a:spcAft>
                        <a:buClr>
                          <a:srgbClr val="000000"/>
                        </a:buClr>
                        <a:buSzPts val="1600"/>
                        <a:buFont typeface="Arial"/>
                        <a:buNone/>
                      </a:pPr>
                      <a:r>
                        <a:rPr b="0" lang="en-US" sz="1600" u="none" cap="none" strike="noStrike"/>
                        <a:t>192.168.1.1</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latin typeface="Courier New"/>
                          <a:ea typeface="Courier New"/>
                          <a:cs typeface="Courier New"/>
                          <a:sym typeface="Courier New"/>
                        </a:rPr>
                        <a:t>11000000.10101000.00000001.00000001</a:t>
                      </a:r>
                      <a:endParaRPr sz="1400" u="none" cap="none" strike="noStrike"/>
                    </a:p>
                  </a:txBody>
                  <a:tcPr marT="47625" marB="47625" marR="47625" marL="47625" anchor="ctr"/>
                </a:tc>
              </a:tr>
              <a:tr h="370850">
                <a:tc>
                  <a:txBody>
                    <a:bodyPr/>
                    <a:lstStyle/>
                    <a:p>
                      <a:pPr indent="0" lvl="0" marL="0" marR="0" rtl="0" algn="r">
                        <a:lnSpc>
                          <a:spcPct val="100000"/>
                        </a:lnSpc>
                        <a:spcBef>
                          <a:spcPts val="0"/>
                        </a:spcBef>
                        <a:spcAft>
                          <a:spcPts val="0"/>
                        </a:spcAft>
                        <a:buClr>
                          <a:srgbClr val="000000"/>
                        </a:buClr>
                        <a:buSzPts val="1600"/>
                        <a:buFont typeface="Arial"/>
                        <a:buNone/>
                      </a:pPr>
                      <a:r>
                        <a:rPr b="0" lang="en-US" sz="1600" u="none" cap="none" strike="noStrike"/>
                        <a:t>Wildcard Mask</a:t>
                      </a:r>
                      <a:endParaRPr sz="1400" u="none" cap="none" strike="noStrike"/>
                    </a:p>
                  </a:txBody>
                  <a:tcPr marT="47625" marB="47625" marR="47625" marL="47625" anchor="ctr"/>
                </a:tc>
                <a:tc>
                  <a:txBody>
                    <a:bodyPr/>
                    <a:lstStyle/>
                    <a:p>
                      <a:pPr indent="0" lvl="0" marL="0" marR="0" rtl="0" algn="r">
                        <a:lnSpc>
                          <a:spcPct val="100000"/>
                        </a:lnSpc>
                        <a:spcBef>
                          <a:spcPts val="0"/>
                        </a:spcBef>
                        <a:spcAft>
                          <a:spcPts val="0"/>
                        </a:spcAft>
                        <a:buClr>
                          <a:srgbClr val="000000"/>
                        </a:buClr>
                        <a:buSzPts val="1600"/>
                        <a:buFont typeface="Arial"/>
                        <a:buNone/>
                      </a:pPr>
                      <a:r>
                        <a:rPr b="0" lang="en-US" sz="1600" u="none" cap="none" strike="noStrike"/>
                        <a:t>0.0.0.0</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latin typeface="Courier New"/>
                          <a:ea typeface="Courier New"/>
                          <a:cs typeface="Courier New"/>
                          <a:sym typeface="Courier New"/>
                        </a:rPr>
                        <a:t>00000000.00000000.00000000.00000000</a:t>
                      </a:r>
                      <a:endParaRPr sz="1400" u="none" cap="none" strike="noStrike"/>
                    </a:p>
                  </a:txBody>
                  <a:tcPr marT="47625" marB="47625" marR="47625" marL="47625" anchor="ctr"/>
                </a:tc>
              </a:tr>
              <a:tr h="370850">
                <a:tc>
                  <a:txBody>
                    <a:bodyPr/>
                    <a:lstStyle/>
                    <a:p>
                      <a:pPr indent="0" lvl="0" marL="0" marR="0" rtl="0" algn="r">
                        <a:lnSpc>
                          <a:spcPct val="100000"/>
                        </a:lnSpc>
                        <a:spcBef>
                          <a:spcPts val="0"/>
                        </a:spcBef>
                        <a:spcAft>
                          <a:spcPts val="0"/>
                        </a:spcAft>
                        <a:buClr>
                          <a:srgbClr val="000000"/>
                        </a:buClr>
                        <a:buSzPts val="1600"/>
                        <a:buFont typeface="Arial"/>
                        <a:buNone/>
                      </a:pPr>
                      <a:r>
                        <a:rPr b="1" lang="en-US" sz="1600" u="none" cap="none" strike="noStrike"/>
                        <a:t>Permitted IPv4 Address</a:t>
                      </a:r>
                      <a:endParaRPr b="0" sz="1600" u="none" cap="none" strike="noStrike"/>
                    </a:p>
                  </a:txBody>
                  <a:tcPr marT="47625" marB="47625" marR="47625" marL="47625" anchor="ctr"/>
                </a:tc>
                <a:tc>
                  <a:txBody>
                    <a:bodyPr/>
                    <a:lstStyle/>
                    <a:p>
                      <a:pPr indent="0" lvl="0" marL="0" marR="0" rtl="0" algn="r">
                        <a:lnSpc>
                          <a:spcPct val="100000"/>
                        </a:lnSpc>
                        <a:spcBef>
                          <a:spcPts val="0"/>
                        </a:spcBef>
                        <a:spcAft>
                          <a:spcPts val="0"/>
                        </a:spcAft>
                        <a:buClr>
                          <a:srgbClr val="000000"/>
                        </a:buClr>
                        <a:buSzPts val="1600"/>
                        <a:buFont typeface="Arial"/>
                        <a:buNone/>
                      </a:pPr>
                      <a:r>
                        <a:rPr b="1" lang="en-US" sz="1600" u="none" cap="none" strike="noStrike"/>
                        <a:t>192.168.1.1</a:t>
                      </a:r>
                      <a:endParaRPr b="0" sz="16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latin typeface="Courier New"/>
                          <a:ea typeface="Courier New"/>
                          <a:cs typeface="Courier New"/>
                          <a:sym typeface="Courier New"/>
                        </a:rPr>
                        <a:t>11000000.10101000.00000001.00000001</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Wildcard Masks in ACLs</a:t>
            </a:r>
            <a:br>
              <a:rPr lang="en-US"/>
            </a:br>
            <a:r>
              <a:rPr lang="en-US" sz="2400"/>
              <a:t>Wildcard Mask Types (Cont.)</a:t>
            </a:r>
            <a:endParaRPr/>
          </a:p>
        </p:txBody>
      </p:sp>
      <p:sp>
        <p:nvSpPr>
          <p:cNvPr id="338" name="Google Shape;338;p14"/>
          <p:cNvSpPr txBox="1"/>
          <p:nvPr>
            <p:ph idx="1" type="body"/>
          </p:nvPr>
        </p:nvSpPr>
        <p:spPr>
          <a:xfrm>
            <a:off x="474662" y="731838"/>
            <a:ext cx="8280057" cy="188073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Wildcard Mask to Match an IPv4 Subnet</a:t>
            </a:r>
            <a:endParaRPr sz="1600">
              <a:solidFill>
                <a:srgbClr val="000000"/>
              </a:solidFill>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ACL 10 needs an ACE that permits all hosts in the 192.168.1.0/24 network. The wildcard mask 0.0.0.255 stipulates that the very first three octets must match exactly but the fourth octet does not.</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When processed, the wildcard mask 0.0.0.255 permits all hosts in the 192.168.1.0/24 network. The resulting ACE in ACL 10 would be </a:t>
            </a:r>
            <a:r>
              <a:rPr b="1" lang="en-US" sz="1600">
                <a:solidFill>
                  <a:srgbClr val="000000"/>
                </a:solidFill>
              </a:rPr>
              <a:t>access-list 10 permit 192.168.1.0 0.0.0.255.</a:t>
            </a:r>
            <a:endParaRPr sz="1600">
              <a:solidFill>
                <a:srgbClr val="000000"/>
              </a:solidFill>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graphicFrame>
        <p:nvGraphicFramePr>
          <p:cNvPr id="339" name="Google Shape;339;p14"/>
          <p:cNvGraphicFramePr/>
          <p:nvPr/>
        </p:nvGraphicFramePr>
        <p:xfrm>
          <a:off x="679012" y="2726284"/>
          <a:ext cx="3000000" cy="3000000"/>
        </p:xfrm>
        <a:graphic>
          <a:graphicData uri="http://schemas.openxmlformats.org/drawingml/2006/table">
            <a:tbl>
              <a:tblPr bandRow="1" firstRow="1">
                <a:noFill/>
                <a:tableStyleId>{028A345D-260B-4E79-A705-3A2211E9E459}</a:tableStyleId>
              </a:tblPr>
              <a:tblGrid>
                <a:gridCol w="1704625"/>
                <a:gridCol w="1738475"/>
                <a:gridCol w="4428250"/>
              </a:tblGrid>
              <a:tr h="370850">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Decimal</a:t>
                      </a:r>
                      <a:endParaRPr sz="16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600"/>
                        <a:buFont typeface="Arial"/>
                        <a:buNone/>
                      </a:pPr>
                      <a:r>
                        <a:rPr b="1" lang="en-US" sz="1600" u="none" cap="none" strike="noStrike"/>
                        <a:t>Binary</a:t>
                      </a:r>
                      <a:endParaRPr sz="1600" u="none" cap="none" strike="noStrike"/>
                    </a:p>
                  </a:txBody>
                  <a:tcPr marT="45725" marB="45725" marR="91450" marL="91450"/>
                </a:tc>
              </a:tr>
              <a:tr h="370850">
                <a:tc>
                  <a:txBody>
                    <a:bodyPr/>
                    <a:lstStyle/>
                    <a:p>
                      <a:pPr indent="0" lvl="0" marL="0" marR="0" rtl="0" algn="r">
                        <a:lnSpc>
                          <a:spcPct val="100000"/>
                        </a:lnSpc>
                        <a:spcBef>
                          <a:spcPts val="0"/>
                        </a:spcBef>
                        <a:spcAft>
                          <a:spcPts val="0"/>
                        </a:spcAft>
                        <a:buClr>
                          <a:srgbClr val="000000"/>
                        </a:buClr>
                        <a:buSzPts val="1600"/>
                        <a:buFont typeface="Arial"/>
                        <a:buNone/>
                      </a:pPr>
                      <a:r>
                        <a:rPr b="0" lang="en-US" sz="1600" u="none" cap="none" strike="noStrike"/>
                        <a:t>IPv4 address</a:t>
                      </a:r>
                      <a:endParaRPr sz="1400" u="none" cap="none" strike="noStrike"/>
                    </a:p>
                  </a:txBody>
                  <a:tcPr marT="47625" marB="47625" marR="47625" marL="47625" anchor="ctr"/>
                </a:tc>
                <a:tc>
                  <a:txBody>
                    <a:bodyPr/>
                    <a:lstStyle/>
                    <a:p>
                      <a:pPr indent="0" lvl="0" marL="0" marR="0" rtl="0" algn="r">
                        <a:lnSpc>
                          <a:spcPct val="100000"/>
                        </a:lnSpc>
                        <a:spcBef>
                          <a:spcPts val="0"/>
                        </a:spcBef>
                        <a:spcAft>
                          <a:spcPts val="0"/>
                        </a:spcAft>
                        <a:buClr>
                          <a:srgbClr val="000000"/>
                        </a:buClr>
                        <a:buSzPts val="1600"/>
                        <a:buFont typeface="Arial"/>
                        <a:buNone/>
                      </a:pPr>
                      <a:r>
                        <a:rPr b="0" lang="en-US" sz="1600" u="none" cap="none" strike="noStrike"/>
                        <a:t>192.168.1.1</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latin typeface="Courier New"/>
                          <a:ea typeface="Courier New"/>
                          <a:cs typeface="Courier New"/>
                          <a:sym typeface="Courier New"/>
                        </a:rPr>
                        <a:t>11000000.10101000.00000001.00000001</a:t>
                      </a:r>
                      <a:endParaRPr sz="1400" u="none" cap="none" strike="noStrike"/>
                    </a:p>
                  </a:txBody>
                  <a:tcPr marT="47625" marB="47625" marR="47625" marL="47625" anchor="ctr"/>
                </a:tc>
              </a:tr>
              <a:tr h="370850">
                <a:tc>
                  <a:txBody>
                    <a:bodyPr/>
                    <a:lstStyle/>
                    <a:p>
                      <a:pPr indent="0" lvl="0" marL="0" marR="0" rtl="0" algn="r">
                        <a:lnSpc>
                          <a:spcPct val="100000"/>
                        </a:lnSpc>
                        <a:spcBef>
                          <a:spcPts val="0"/>
                        </a:spcBef>
                        <a:spcAft>
                          <a:spcPts val="0"/>
                        </a:spcAft>
                        <a:buClr>
                          <a:srgbClr val="000000"/>
                        </a:buClr>
                        <a:buSzPts val="1600"/>
                        <a:buFont typeface="Arial"/>
                        <a:buNone/>
                      </a:pPr>
                      <a:r>
                        <a:rPr b="0" lang="en-US" sz="1600" u="none" cap="none" strike="noStrike"/>
                        <a:t>Wildcard Mask</a:t>
                      </a:r>
                      <a:endParaRPr sz="1400" u="none" cap="none" strike="noStrike"/>
                    </a:p>
                  </a:txBody>
                  <a:tcPr marT="47625" marB="47625" marR="47625" marL="47625" anchor="ctr"/>
                </a:tc>
                <a:tc>
                  <a:txBody>
                    <a:bodyPr/>
                    <a:lstStyle/>
                    <a:p>
                      <a:pPr indent="0" lvl="0" marL="0" marR="0" rtl="0" algn="r">
                        <a:lnSpc>
                          <a:spcPct val="100000"/>
                        </a:lnSpc>
                        <a:spcBef>
                          <a:spcPts val="0"/>
                        </a:spcBef>
                        <a:spcAft>
                          <a:spcPts val="0"/>
                        </a:spcAft>
                        <a:buClr>
                          <a:srgbClr val="000000"/>
                        </a:buClr>
                        <a:buSzPts val="1600"/>
                        <a:buFont typeface="Arial"/>
                        <a:buNone/>
                      </a:pPr>
                      <a:r>
                        <a:rPr b="0" lang="en-US" sz="1600" u="none" cap="none" strike="noStrike"/>
                        <a:t>0.0.0.255</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latin typeface="Courier New"/>
                          <a:ea typeface="Courier New"/>
                          <a:cs typeface="Courier New"/>
                          <a:sym typeface="Courier New"/>
                        </a:rPr>
                        <a:t>00000000.00000000.00000000.11111111</a:t>
                      </a:r>
                      <a:endParaRPr sz="1400" u="none" cap="none" strike="noStrike"/>
                    </a:p>
                  </a:txBody>
                  <a:tcPr marT="47625" marB="47625" marR="47625" marL="47625" anchor="ctr"/>
                </a:tc>
              </a:tr>
              <a:tr h="370850">
                <a:tc>
                  <a:txBody>
                    <a:bodyPr/>
                    <a:lstStyle/>
                    <a:p>
                      <a:pPr indent="0" lvl="0" marL="0" marR="0" rtl="0" algn="r">
                        <a:lnSpc>
                          <a:spcPct val="100000"/>
                        </a:lnSpc>
                        <a:spcBef>
                          <a:spcPts val="0"/>
                        </a:spcBef>
                        <a:spcAft>
                          <a:spcPts val="0"/>
                        </a:spcAft>
                        <a:buClr>
                          <a:srgbClr val="000000"/>
                        </a:buClr>
                        <a:buSzPts val="1600"/>
                        <a:buFont typeface="Arial"/>
                        <a:buNone/>
                      </a:pPr>
                      <a:r>
                        <a:rPr b="1" lang="en-US" sz="1600" u="none" cap="none" strike="noStrike"/>
                        <a:t>Permitted IPv4 Address</a:t>
                      </a:r>
                      <a:endParaRPr b="0" sz="1600" u="none" cap="none" strike="noStrike"/>
                    </a:p>
                  </a:txBody>
                  <a:tcPr marT="47625" marB="47625" marR="47625" marL="47625" anchor="ctr"/>
                </a:tc>
                <a:tc>
                  <a:txBody>
                    <a:bodyPr/>
                    <a:lstStyle/>
                    <a:p>
                      <a:pPr indent="0" lvl="0" marL="0" marR="0" rtl="0" algn="r">
                        <a:lnSpc>
                          <a:spcPct val="100000"/>
                        </a:lnSpc>
                        <a:spcBef>
                          <a:spcPts val="0"/>
                        </a:spcBef>
                        <a:spcAft>
                          <a:spcPts val="0"/>
                        </a:spcAft>
                        <a:buClr>
                          <a:srgbClr val="000000"/>
                        </a:buClr>
                        <a:buSzPts val="1600"/>
                        <a:buFont typeface="Arial"/>
                        <a:buNone/>
                      </a:pPr>
                      <a:r>
                        <a:rPr b="1" lang="en-US" sz="1600" u="none" cap="none" strike="noStrike"/>
                        <a:t>192.168.1.0/24</a:t>
                      </a:r>
                      <a:endParaRPr b="0" sz="16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latin typeface="Courier New"/>
                          <a:ea typeface="Courier New"/>
                          <a:cs typeface="Courier New"/>
                          <a:sym typeface="Courier New"/>
                        </a:rPr>
                        <a:t>11000000.10101000.00000001.00000000</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Wildcard Masks in ACLs</a:t>
            </a:r>
            <a:br>
              <a:rPr lang="en-US"/>
            </a:br>
            <a:r>
              <a:rPr lang="en-US" sz="2400"/>
              <a:t>Wildcard Mask Types (Cont.)</a:t>
            </a:r>
            <a:endParaRPr/>
          </a:p>
        </p:txBody>
      </p:sp>
      <p:sp>
        <p:nvSpPr>
          <p:cNvPr id="346" name="Google Shape;346;p15"/>
          <p:cNvSpPr txBox="1"/>
          <p:nvPr>
            <p:ph idx="1" type="body"/>
          </p:nvPr>
        </p:nvSpPr>
        <p:spPr>
          <a:xfrm>
            <a:off x="474662" y="731837"/>
            <a:ext cx="8280057" cy="172107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Wildcard Mask to Match an IPv4 Address Range</a:t>
            </a:r>
            <a:endParaRPr sz="1600">
              <a:solidFill>
                <a:srgbClr val="000000"/>
              </a:solidFill>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ACL 10 needs an ACE that permits all hosts in the 192.168.16.0/24, 192.168.17.0/24, …, 192.168.31.0/24 networks. </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When processed, the wildcard mask 0.0.15.255 permits all hosts in the 192.168.16.0/24 to 192.168.31.0/24 networks. The resulting ACE in ACL 10 would be </a:t>
            </a:r>
            <a:r>
              <a:rPr b="1" lang="en-US" sz="1600">
                <a:solidFill>
                  <a:srgbClr val="000000"/>
                </a:solidFill>
              </a:rPr>
              <a:t>access-list 10 permit 192.168.16.0 0.0.15.255.</a:t>
            </a:r>
            <a:endParaRPr sz="1600">
              <a:solidFill>
                <a:srgbClr val="000000"/>
              </a:solidFill>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graphicFrame>
        <p:nvGraphicFramePr>
          <p:cNvPr id="347" name="Google Shape;347;p15"/>
          <p:cNvGraphicFramePr/>
          <p:nvPr/>
        </p:nvGraphicFramePr>
        <p:xfrm>
          <a:off x="636322" y="2573884"/>
          <a:ext cx="3000000" cy="3000000"/>
        </p:xfrm>
        <a:graphic>
          <a:graphicData uri="http://schemas.openxmlformats.org/drawingml/2006/table">
            <a:tbl>
              <a:tblPr bandRow="1" firstRow="1">
                <a:noFill/>
                <a:tableStyleId>{028A345D-260B-4E79-A705-3A2211E9E459}</a:tableStyleId>
              </a:tblPr>
              <a:tblGrid>
                <a:gridCol w="1704625"/>
                <a:gridCol w="1738475"/>
                <a:gridCol w="4428250"/>
              </a:tblGrid>
              <a:tr h="370850">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Decimal</a:t>
                      </a:r>
                      <a:endParaRPr sz="16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600"/>
                        <a:buFont typeface="Arial"/>
                        <a:buNone/>
                      </a:pPr>
                      <a:r>
                        <a:rPr b="1" lang="en-US" sz="1600" u="none" cap="none" strike="noStrike"/>
                        <a:t>Binary</a:t>
                      </a:r>
                      <a:endParaRPr sz="1600" u="none" cap="none" strike="noStrike"/>
                    </a:p>
                  </a:txBody>
                  <a:tcPr marT="45725" marB="45725" marR="91450" marL="91450"/>
                </a:tc>
              </a:tr>
              <a:tr h="370850">
                <a:tc>
                  <a:txBody>
                    <a:bodyPr/>
                    <a:lstStyle/>
                    <a:p>
                      <a:pPr indent="0" lvl="0" marL="0" marR="0" rtl="0" algn="r">
                        <a:lnSpc>
                          <a:spcPct val="100000"/>
                        </a:lnSpc>
                        <a:spcBef>
                          <a:spcPts val="0"/>
                        </a:spcBef>
                        <a:spcAft>
                          <a:spcPts val="0"/>
                        </a:spcAft>
                        <a:buClr>
                          <a:srgbClr val="000000"/>
                        </a:buClr>
                        <a:buSzPts val="1400"/>
                        <a:buFont typeface="Arial"/>
                        <a:buNone/>
                      </a:pPr>
                      <a:r>
                        <a:rPr b="0" lang="en-US" sz="1400" u="none" cap="none" strike="noStrike"/>
                        <a:t>IPv4 address</a:t>
                      </a:r>
                      <a:endParaRPr sz="1400" u="none" cap="none" strike="noStrike"/>
                    </a:p>
                  </a:txBody>
                  <a:tcPr marT="47625" marB="47625" marR="47625" marL="47625"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US" sz="1400" u="none" cap="none" strike="noStrike"/>
                        <a:t>192.168.16.0</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latin typeface="Courier New"/>
                          <a:ea typeface="Courier New"/>
                          <a:cs typeface="Courier New"/>
                          <a:sym typeface="Courier New"/>
                        </a:rPr>
                        <a:t>11000000.10101000.00010000.00000000</a:t>
                      </a:r>
                      <a:endParaRPr sz="1400" u="none" cap="none" strike="noStrike"/>
                    </a:p>
                  </a:txBody>
                  <a:tcPr marT="47625" marB="47625" marR="47625" marL="47625" anchor="ctr"/>
                </a:tc>
              </a:tr>
              <a:tr h="370850">
                <a:tc>
                  <a:txBody>
                    <a:bodyPr/>
                    <a:lstStyle/>
                    <a:p>
                      <a:pPr indent="0" lvl="0" marL="0" marR="0" rtl="0" algn="r">
                        <a:lnSpc>
                          <a:spcPct val="100000"/>
                        </a:lnSpc>
                        <a:spcBef>
                          <a:spcPts val="0"/>
                        </a:spcBef>
                        <a:spcAft>
                          <a:spcPts val="0"/>
                        </a:spcAft>
                        <a:buClr>
                          <a:srgbClr val="000000"/>
                        </a:buClr>
                        <a:buSzPts val="1400"/>
                        <a:buFont typeface="Arial"/>
                        <a:buNone/>
                      </a:pPr>
                      <a:r>
                        <a:rPr b="0" lang="en-US" sz="1400" u="none" cap="none" strike="noStrike"/>
                        <a:t>Wildcard Mask</a:t>
                      </a:r>
                      <a:endParaRPr sz="1400" u="none" cap="none" strike="noStrike"/>
                    </a:p>
                  </a:txBody>
                  <a:tcPr marT="47625" marB="47625" marR="47625" marL="47625"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US" sz="1400" u="none" cap="none" strike="noStrike"/>
                        <a:t>0.0.15.255</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latin typeface="Courier New"/>
                          <a:ea typeface="Courier New"/>
                          <a:cs typeface="Courier New"/>
                          <a:sym typeface="Courier New"/>
                        </a:rPr>
                        <a:t>00000000.00000000.00001111.11111111</a:t>
                      </a:r>
                      <a:endParaRPr sz="1400" u="none" cap="none" strike="noStrike"/>
                    </a:p>
                  </a:txBody>
                  <a:tcPr marT="47625" marB="47625" marR="47625" marL="47625" anchor="ctr"/>
                </a:tc>
              </a:tr>
              <a:tr h="370850">
                <a:tc>
                  <a:txBody>
                    <a:bodyPr/>
                    <a:lstStyle/>
                    <a:p>
                      <a:pPr indent="0" lvl="0" marL="0" marR="0" rtl="0" algn="r">
                        <a:lnSpc>
                          <a:spcPct val="100000"/>
                        </a:lnSpc>
                        <a:spcBef>
                          <a:spcPts val="0"/>
                        </a:spcBef>
                        <a:spcAft>
                          <a:spcPts val="0"/>
                        </a:spcAft>
                        <a:buClr>
                          <a:srgbClr val="000000"/>
                        </a:buClr>
                        <a:buSzPts val="1400"/>
                        <a:buFont typeface="Arial"/>
                        <a:buNone/>
                      </a:pPr>
                      <a:r>
                        <a:rPr b="1" lang="en-US" sz="1400" u="none" cap="none" strike="noStrike"/>
                        <a:t>Permitted IPv4 Address</a:t>
                      </a:r>
                      <a:endParaRPr b="0" sz="1400" u="none" cap="none" strike="noStrike"/>
                    </a:p>
                  </a:txBody>
                  <a:tcPr marT="47625" marB="47625" marR="47625" marL="47625" anchor="ctr"/>
                </a:tc>
                <a:tc>
                  <a:txBody>
                    <a:bodyPr/>
                    <a:lstStyle/>
                    <a:p>
                      <a:pPr indent="0" lvl="0" marL="0" marR="0" rtl="0" algn="r">
                        <a:lnSpc>
                          <a:spcPct val="100000"/>
                        </a:lnSpc>
                        <a:spcBef>
                          <a:spcPts val="0"/>
                        </a:spcBef>
                        <a:spcAft>
                          <a:spcPts val="0"/>
                        </a:spcAft>
                        <a:buClr>
                          <a:srgbClr val="000000"/>
                        </a:buClr>
                        <a:buSzPts val="1400"/>
                        <a:buFont typeface="Arial"/>
                        <a:buNone/>
                      </a:pPr>
                      <a:r>
                        <a:rPr b="1" lang="en-US" sz="1400" u="none" cap="none" strike="noStrike"/>
                        <a:t>192.168.16.0/24</a:t>
                      </a:r>
                      <a:br>
                        <a:rPr b="1" lang="en-US" sz="1400" u="none" cap="none" strike="noStrike"/>
                      </a:br>
                      <a:r>
                        <a:rPr b="1" lang="en-US" sz="1400" u="none" cap="none" strike="noStrike"/>
                        <a:t>to</a:t>
                      </a:r>
                      <a:br>
                        <a:rPr b="1" lang="en-US" sz="1400" u="none" cap="none" strike="noStrike"/>
                      </a:br>
                      <a:r>
                        <a:rPr b="1" lang="en-US" sz="1400" u="none" cap="none" strike="noStrike"/>
                        <a:t>192.168.31.0/24</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latin typeface="Courier New"/>
                          <a:ea typeface="Courier New"/>
                          <a:cs typeface="Courier New"/>
                          <a:sym typeface="Courier New"/>
                        </a:rPr>
                        <a:t>11000000.10101000.00010000.00000000 </a:t>
                      </a:r>
                      <a:br>
                        <a:rPr b="1" i="0" lang="en-US" sz="1400" u="none" cap="none" strike="noStrike">
                          <a:latin typeface="Courier New"/>
                          <a:ea typeface="Courier New"/>
                          <a:cs typeface="Courier New"/>
                          <a:sym typeface="Courier New"/>
                        </a:rPr>
                      </a:br>
                      <a:br>
                        <a:rPr b="1" i="0" lang="en-US" sz="1400" u="none" cap="none" strike="noStrike">
                          <a:latin typeface="Courier New"/>
                          <a:ea typeface="Courier New"/>
                          <a:cs typeface="Courier New"/>
                          <a:sym typeface="Courier New"/>
                        </a:rPr>
                      </a:br>
                      <a:r>
                        <a:rPr b="1" i="0" lang="en-US" sz="1400" u="none" cap="none" strike="noStrike">
                          <a:latin typeface="Courier New"/>
                          <a:ea typeface="Courier New"/>
                          <a:cs typeface="Courier New"/>
                          <a:sym typeface="Courier New"/>
                        </a:rPr>
                        <a:t>11000000.10101000.00011111.00000000</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Wildcard Masks in ACLs</a:t>
            </a:r>
            <a:br>
              <a:rPr lang="en-US"/>
            </a:br>
            <a:r>
              <a:rPr lang="en-US" sz="2400"/>
              <a:t>Wildcard Mask Calculation</a:t>
            </a:r>
            <a:endParaRPr/>
          </a:p>
        </p:txBody>
      </p:sp>
      <p:sp>
        <p:nvSpPr>
          <p:cNvPr id="354" name="Google Shape;354;p16"/>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Calculating wildcard masks can be challenging. One shortcut method is to subtract the subnet mask from 255.255.255.255. Some examples: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Assume you wanted an ACE in ACL 10 to permit access to all users in the 192.168.3.0/24 network. To calculate the wildcard mask, subtract the subnet mask (255.255.255.0) from 255.255.255.255. This produces the wildcard mask 0.0.0.255. The ACE would be </a:t>
            </a:r>
            <a:r>
              <a:rPr b="1" lang="en-US" sz="1600">
                <a:solidFill>
                  <a:srgbClr val="000000"/>
                </a:solidFill>
              </a:rPr>
              <a:t>access-list 10 permit 192.168.3.0 0.0.0.255.</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Assume you wanted an ACE in ACL 10 to permit network access for the 14 users in the subnet 192.168.3.32/28. Subtract the subnet (i.e., 255.255.255.240) from 255.255.255.255. This produces the wildcard mask 0.0.0.15. The ACE would be </a:t>
            </a:r>
            <a:r>
              <a:rPr b="1" lang="en-US" sz="1600">
                <a:solidFill>
                  <a:srgbClr val="000000"/>
                </a:solidFill>
              </a:rPr>
              <a:t>access-list 10 permit 192.168.3.32 0.0.0.15.</a:t>
            </a:r>
            <a:endParaRPr sz="1600">
              <a:solidFill>
                <a:srgbClr val="000000"/>
              </a:solidFill>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Assume you needed an ACE in ACL 10 to permit only networks 192.168.10.0 and 192.168.11.0. These two networks could be summarized as 192.168.10.0/23 which is a subnet mask of 255.255.254.0. Subtract 255.255.254.0 subnet mask from 255.255.255.255. This produces the wildcard mask 0.0.1.255. The ACE would be </a:t>
            </a:r>
            <a:r>
              <a:rPr b="1" lang="en-US" sz="1600">
                <a:solidFill>
                  <a:srgbClr val="000000"/>
                </a:solidFill>
              </a:rPr>
              <a:t>access-list 10 permit 192.168.10.0 0.0.1.255.</a:t>
            </a:r>
            <a:endParaRPr sz="1600">
              <a:solidFill>
                <a:srgbClr val="000000"/>
              </a:solidFill>
            </a:endParaRPr>
          </a:p>
          <a:p>
            <a:pPr indent="-228600" lvl="0" marL="342900" rtl="0" algn="l">
              <a:lnSpc>
                <a:spcPct val="100000"/>
              </a:lnSpc>
              <a:spcBef>
                <a:spcPts val="360"/>
              </a:spcBef>
              <a:spcAft>
                <a:spcPts val="0"/>
              </a:spcAft>
              <a:buSzPts val="1800"/>
              <a:buFont typeface="Arial"/>
              <a:buNone/>
            </a:pPr>
            <a:r>
              <a:t/>
            </a:r>
            <a:endParaRPr sz="1800">
              <a:solidFill>
                <a:srgbClr val="000000"/>
              </a:solidFill>
            </a:endParaRPr>
          </a:p>
          <a:p>
            <a:pPr indent="-228600" lvl="0" marL="342900" rtl="0" algn="l">
              <a:lnSpc>
                <a:spcPct val="100000"/>
              </a:lnSpc>
              <a:spcBef>
                <a:spcPts val="360"/>
              </a:spcBef>
              <a:spcAft>
                <a:spcPts val="0"/>
              </a:spcAft>
              <a:buSzPts val="1800"/>
              <a:buFont typeface="Arial"/>
              <a:buNone/>
            </a:pPr>
            <a:r>
              <a:t/>
            </a:r>
            <a:endParaRPr sz="18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1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Wildcard Masks in ACLs</a:t>
            </a:r>
            <a:br>
              <a:rPr lang="en-US"/>
            </a:br>
            <a:r>
              <a:rPr lang="en-US" sz="2400"/>
              <a:t>Wildcard Mask Keywords</a:t>
            </a:r>
            <a:endParaRPr/>
          </a:p>
        </p:txBody>
      </p:sp>
      <p:sp>
        <p:nvSpPr>
          <p:cNvPr id="361" name="Google Shape;361;p17"/>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Cisco IOS provides two keywords to identify the most common uses of wildcard masking. The two keywords are:</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host</a:t>
            </a:r>
            <a:r>
              <a:rPr lang="en-US" sz="1600">
                <a:solidFill>
                  <a:srgbClr val="000000"/>
                </a:solidFill>
              </a:rPr>
              <a:t> - This keyword substitutes for the 0.0.0.0 mask. This mask states that all IPv4 address bits must match to filter just one host address.</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any</a:t>
            </a:r>
            <a:r>
              <a:rPr lang="en-US" sz="1600">
                <a:solidFill>
                  <a:srgbClr val="000000"/>
                </a:solidFill>
              </a:rPr>
              <a:t> - This keyword substitutes for the 255.255.255.255 mask. This mask says to ignore the entire IPv4 address or to accept any addresses.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18"/>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4.3 Guidelines for ACL Creation</a:t>
            </a:r>
            <a:endParaRPr/>
          </a:p>
        </p:txBody>
      </p:sp>
    </p:spTree>
  </p:cSld>
  <p:clrMapOvr>
    <a:masterClrMapping/>
  </p:clrMapOvr>
  <p:transition spd="slow">
    <p:wipe dir="l"/>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1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Guidelines for ACL Creation</a:t>
            </a:r>
            <a:br>
              <a:rPr lang="en-US"/>
            </a:br>
            <a:r>
              <a:rPr lang="en-US" sz="2400"/>
              <a:t>Limited Number of ACLs per Interface</a:t>
            </a:r>
            <a:endParaRPr/>
          </a:p>
        </p:txBody>
      </p:sp>
      <p:sp>
        <p:nvSpPr>
          <p:cNvPr id="374" name="Google Shape;374;p19"/>
          <p:cNvSpPr txBox="1"/>
          <p:nvPr>
            <p:ph idx="1" type="body"/>
          </p:nvPr>
        </p:nvSpPr>
        <p:spPr>
          <a:xfrm>
            <a:off x="474662" y="731838"/>
            <a:ext cx="8280057" cy="110422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There is a limit on the number of ACLs that can be applied on a router interface. For example, a dual-stacked (i.e, IPv4 and IPv6) router interface can have up to four ACLs applied, as shown in the figure.</a:t>
            </a:r>
            <a:r>
              <a:rPr b="1" lang="en-US" sz="1600">
                <a:solidFill>
                  <a:srgbClr val="000000"/>
                </a:solidFill>
              </a:rPr>
              <a:t> </a:t>
            </a:r>
            <a:endParaRPr/>
          </a:p>
          <a:p>
            <a:pPr indent="0" lvl="0" marL="0" rtl="0" algn="l">
              <a:lnSpc>
                <a:spcPct val="100000"/>
              </a:lnSpc>
              <a:spcBef>
                <a:spcPts val="320"/>
              </a:spcBef>
              <a:spcAft>
                <a:spcPts val="0"/>
              </a:spcAft>
              <a:buSzPts val="1600"/>
              <a:buNone/>
            </a:pPr>
            <a:r>
              <a:rPr lang="en-US" sz="1600">
                <a:solidFill>
                  <a:srgbClr val="000000"/>
                </a:solidFill>
              </a:rPr>
              <a:t>Specifically, a router interface can have:</a:t>
            </a:r>
            <a:endParaRPr/>
          </a:p>
          <a:p>
            <a:pPr indent="-254000" lvl="0" marL="342900" rtl="0" algn="l">
              <a:lnSpc>
                <a:spcPct val="100000"/>
              </a:lnSpc>
              <a:spcBef>
                <a:spcPts val="280"/>
              </a:spcBef>
              <a:spcAft>
                <a:spcPts val="0"/>
              </a:spcAft>
              <a:buSzPts val="1400"/>
              <a:buFont typeface="Arial"/>
              <a:buNone/>
            </a:pPr>
            <a:r>
              <a:t/>
            </a:r>
            <a:endParaRPr sz="1400">
              <a:solidFill>
                <a:srgbClr val="000000"/>
              </a:solidFill>
            </a:endParaRPr>
          </a:p>
          <a:p>
            <a:pPr indent="0" lvl="0" marL="0" rtl="0" algn="l">
              <a:lnSpc>
                <a:spcPct val="100000"/>
              </a:lnSpc>
              <a:spcBef>
                <a:spcPts val="320"/>
              </a:spcBef>
              <a:spcAft>
                <a:spcPts val="0"/>
              </a:spcAft>
              <a:buSzPts val="1600"/>
              <a:buNone/>
            </a:pPr>
            <a:r>
              <a:t/>
            </a:r>
            <a:endParaRPr sz="1600">
              <a:solidFill>
                <a:srgbClr val="000000"/>
              </a:solidFill>
            </a:endParaRPr>
          </a:p>
        </p:txBody>
      </p:sp>
      <p:sp>
        <p:nvSpPr>
          <p:cNvPr id="375" name="Google Shape;375;p19"/>
          <p:cNvSpPr/>
          <p:nvPr/>
        </p:nvSpPr>
        <p:spPr>
          <a:xfrm>
            <a:off x="474662" y="1868036"/>
            <a:ext cx="3931996" cy="236988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One outbound IPv4 ACL.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One inbound IPv4 ACL.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One inbound IPv6 ACL.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One outbound IPv6 ACL.</a:t>
            </a:r>
            <a:endParaRPr b="0" i="0" sz="1400" u="none" cap="none" strike="noStrike">
              <a:solidFill>
                <a:srgbClr val="000000"/>
              </a:solidFill>
              <a:latin typeface="Arial"/>
              <a:ea typeface="Arial"/>
              <a:cs typeface="Arial"/>
              <a:sym typeface="Arial"/>
            </a:endParaRPr>
          </a:p>
          <a:p>
            <a:pPr indent="-266700" lvl="0" marL="34290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Arial"/>
              <a:ea typeface="Arial"/>
              <a:cs typeface="Arial"/>
              <a:sym typeface="Arial"/>
            </a:endParaRPr>
          </a:p>
          <a:p>
            <a:pPr indent="-266700" lvl="0" marL="34290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Arial"/>
              <a:ea typeface="Arial"/>
              <a:cs typeface="Arial"/>
              <a:sym typeface="Arial"/>
            </a:endParaRPr>
          </a:p>
          <a:p>
            <a:pPr indent="-266700" lvl="0" marL="34290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Note</a:t>
            </a:r>
            <a:r>
              <a:rPr b="0" i="0" lang="en-US" sz="1200" u="none" cap="none" strike="noStrike">
                <a:solidFill>
                  <a:srgbClr val="000000"/>
                </a:solidFill>
                <a:latin typeface="Arial"/>
                <a:ea typeface="Arial"/>
                <a:cs typeface="Arial"/>
                <a:sym typeface="Arial"/>
              </a:rPr>
              <a:t>: ACLs do not have to be configured in both directions. The number of ACLs and their direction applied to the interface will depend on the security policy of the organization.</a:t>
            </a:r>
            <a:endParaRPr b="0" i="0" sz="1400" u="none" cap="none" strike="noStrike">
              <a:solidFill>
                <a:srgbClr val="000000"/>
              </a:solidFill>
              <a:latin typeface="Arial"/>
              <a:ea typeface="Arial"/>
              <a:cs typeface="Arial"/>
              <a:sym typeface="Arial"/>
            </a:endParaRPr>
          </a:p>
        </p:txBody>
      </p:sp>
      <p:pic>
        <p:nvPicPr>
          <p:cNvPr id="376" name="Google Shape;376;p19"/>
          <p:cNvPicPr preferRelativeResize="0"/>
          <p:nvPr/>
        </p:nvPicPr>
        <p:blipFill rotWithShape="1">
          <a:blip r:embed="rId3">
            <a:alphaModFix/>
          </a:blip>
          <a:srcRect b="0" l="0" r="0" t="0"/>
          <a:stretch/>
        </p:blipFill>
        <p:spPr>
          <a:xfrm>
            <a:off x="4572000" y="2054578"/>
            <a:ext cx="3686009" cy="276623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Guidelines for ACL Creation</a:t>
            </a:r>
            <a:br>
              <a:rPr lang="en-US"/>
            </a:br>
            <a:r>
              <a:rPr lang="en-US" sz="2400"/>
              <a:t>ACL Best Practices</a:t>
            </a:r>
            <a:endParaRPr/>
          </a:p>
        </p:txBody>
      </p:sp>
      <p:sp>
        <p:nvSpPr>
          <p:cNvPr id="383" name="Google Shape;383;p20"/>
          <p:cNvSpPr txBox="1"/>
          <p:nvPr>
            <p:ph idx="1" type="body"/>
          </p:nvPr>
        </p:nvSpPr>
        <p:spPr>
          <a:xfrm>
            <a:off x="474662" y="731837"/>
            <a:ext cx="8280057" cy="89376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Using ACLs requires attention to detail and great care. Mistakes can be costly in terms of downtime, troubleshooting efforts, and poor network service. Basic planning is required before configuring an ACL.</a:t>
            </a:r>
            <a:endParaRPr/>
          </a:p>
        </p:txBody>
      </p:sp>
      <p:graphicFrame>
        <p:nvGraphicFramePr>
          <p:cNvPr id="384" name="Google Shape;384;p20"/>
          <p:cNvGraphicFramePr/>
          <p:nvPr/>
        </p:nvGraphicFramePr>
        <p:xfrm>
          <a:off x="587022" y="1625600"/>
          <a:ext cx="3000000" cy="3000000"/>
        </p:xfrm>
        <a:graphic>
          <a:graphicData uri="http://schemas.openxmlformats.org/drawingml/2006/table">
            <a:tbl>
              <a:tblPr bandRow="1" firstRow="1">
                <a:noFill/>
                <a:tableStyleId>{028A345D-260B-4E79-A705-3A2211E9E459}</a:tableStyleId>
              </a:tblPr>
              <a:tblGrid>
                <a:gridCol w="3879225"/>
                <a:gridCol w="387922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Guideline</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Benefit</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Base ACLs on the organizational security policies.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This will ensure you implement organizational security guidelines.</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Write out what you want the ACL to do.</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This will help you avoid inadvertently creating potential access problems.</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Use a text editor to create, edit, and save all of your ACLs.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This will help you create a library of reusable ACLs.</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Document the ACLs using the </a:t>
                      </a:r>
                      <a:r>
                        <a:rPr b="1" lang="en-US" sz="1400" u="none" cap="none" strike="noStrike"/>
                        <a:t>remark </a:t>
                      </a:r>
                      <a:r>
                        <a:rPr b="0" lang="en-US" sz="1400" u="none" cap="none" strike="noStrike"/>
                        <a:t>command.</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This will help you (and others) understand the purpose of an ACE.</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Test the ACLs on a development network before implementing them on a production network.</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This will help you avoid costly errors.</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1"/>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4.4 Types of IPv4 ACLs</a:t>
            </a:r>
            <a:endParaRPr/>
          </a:p>
        </p:txBody>
      </p:sp>
    </p:spTree>
  </p:cSld>
  <p:clrMapOvr>
    <a:masterClrMapping/>
  </p:clrMapOvr>
  <p:transition spd="slow">
    <p:wipe dir="l"/>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IPv4 ACLs</a:t>
            </a:r>
            <a:br>
              <a:rPr lang="en-US"/>
            </a:br>
            <a:r>
              <a:rPr lang="en-US" sz="2400"/>
              <a:t>Standard and Extended ACLs</a:t>
            </a:r>
            <a:endParaRPr/>
          </a:p>
        </p:txBody>
      </p:sp>
      <p:sp>
        <p:nvSpPr>
          <p:cNvPr id="397" name="Google Shape;397;p22"/>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There are two types of IPv4 ACLs:</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Standard ACLs</a:t>
            </a:r>
            <a:r>
              <a:rPr lang="en-US" sz="1600">
                <a:solidFill>
                  <a:srgbClr val="000000"/>
                </a:solidFill>
              </a:rPr>
              <a:t> - These permit or deny packets based only on the source IPv4 address.</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Extended ACLs</a:t>
            </a:r>
            <a:r>
              <a:rPr lang="en-US" sz="1600">
                <a:solidFill>
                  <a:srgbClr val="000000"/>
                </a:solidFill>
              </a:rPr>
              <a:t> - These permit or deny packets based on the source IPv4 address and destination IPv4 address, protocol type, source and destination TCP or UDP ports and more.</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IPv4 ACLs</a:t>
            </a:r>
            <a:br>
              <a:rPr lang="en-US"/>
            </a:br>
            <a:r>
              <a:rPr lang="en-US" sz="2400"/>
              <a:t>Numbered and Named ACLs</a:t>
            </a:r>
            <a:endParaRPr/>
          </a:p>
        </p:txBody>
      </p:sp>
      <p:sp>
        <p:nvSpPr>
          <p:cNvPr id="404" name="Google Shape;404;p23"/>
          <p:cNvSpPr txBox="1"/>
          <p:nvPr>
            <p:ph idx="1" type="body"/>
          </p:nvPr>
        </p:nvSpPr>
        <p:spPr>
          <a:xfrm>
            <a:off x="431971" y="731838"/>
            <a:ext cx="8280057" cy="105342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Numbered ACLs</a:t>
            </a:r>
            <a:endParaRPr sz="1600">
              <a:solidFill>
                <a:srgbClr val="000000"/>
              </a:solidFill>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ACLs numbered 1-99, or 1300-1999 are standard ACLs, while ACLs numbered 100-199, or 2000-2699 are extended ACLs.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
        <p:nvSpPr>
          <p:cNvPr id="405" name="Google Shape;405;p23"/>
          <p:cNvSpPr/>
          <p:nvPr/>
        </p:nvSpPr>
        <p:spPr>
          <a:xfrm>
            <a:off x="720400" y="2061130"/>
            <a:ext cx="7329488" cy="2123658"/>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FDFDF"/>
                </a:solidFill>
                <a:latin typeface="Courier New"/>
                <a:ea typeface="Courier New"/>
                <a:cs typeface="Courier New"/>
                <a:sym typeface="Courier New"/>
              </a:rPr>
              <a:t>R1(config)# </a:t>
            </a:r>
            <a:r>
              <a:rPr b="1" i="0" lang="en-US" sz="1200" u="none" cap="none" strike="noStrike">
                <a:solidFill>
                  <a:srgbClr val="FFFFFF"/>
                </a:solidFill>
                <a:latin typeface="Courier New"/>
                <a:ea typeface="Courier New"/>
                <a:cs typeface="Courier New"/>
                <a:sym typeface="Courier New"/>
              </a:rPr>
              <a:t>access-list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FDFDF"/>
                </a:solidFill>
                <a:latin typeface="Courier New"/>
                <a:ea typeface="Courier New"/>
                <a:cs typeface="Courier New"/>
                <a:sym typeface="Courier New"/>
              </a:rPr>
              <a:t> &lt;1-99&gt; IP standard access list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FDFDF"/>
                </a:solidFill>
                <a:latin typeface="Courier New"/>
                <a:ea typeface="Courier New"/>
                <a:cs typeface="Courier New"/>
                <a:sym typeface="Courier New"/>
              </a:rPr>
              <a:t> &lt;100-199&gt; IP extended access list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FDFDF"/>
                </a:solidFill>
                <a:latin typeface="Courier New"/>
                <a:ea typeface="Courier New"/>
                <a:cs typeface="Courier New"/>
                <a:sym typeface="Courier New"/>
              </a:rPr>
              <a:t> &lt;1100-1199&gt; Extended 48-bit MAC address access list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FDFDF"/>
                </a:solidFill>
                <a:latin typeface="Courier New"/>
                <a:ea typeface="Courier New"/>
                <a:cs typeface="Courier New"/>
                <a:sym typeface="Courier New"/>
              </a:rPr>
              <a:t> &lt;1300-1999&gt; IP standard access list (expanded range)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FDFDF"/>
                </a:solidFill>
                <a:latin typeface="Courier New"/>
                <a:ea typeface="Courier New"/>
                <a:cs typeface="Courier New"/>
                <a:sym typeface="Courier New"/>
              </a:rPr>
              <a:t> &lt;200-299&gt; Protocol type-code access list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FDFDF"/>
                </a:solidFill>
                <a:latin typeface="Courier New"/>
                <a:ea typeface="Courier New"/>
                <a:cs typeface="Courier New"/>
                <a:sym typeface="Courier New"/>
              </a:rPr>
              <a:t> &lt;2000-2699&gt; IP extended access list (expanded range)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FDFDF"/>
                </a:solidFill>
                <a:latin typeface="Courier New"/>
                <a:ea typeface="Courier New"/>
                <a:cs typeface="Courier New"/>
                <a:sym typeface="Courier New"/>
              </a:rPr>
              <a:t> &lt;700-799&gt; 48-bit MAC address access list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FDFDF"/>
                </a:solidFill>
                <a:latin typeface="Courier New"/>
                <a:ea typeface="Courier New"/>
                <a:cs typeface="Courier New"/>
                <a:sym typeface="Courier New"/>
              </a:rPr>
              <a:t> rate-limit Simple rate-limit specific access list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FDFDF"/>
                </a:solidFill>
                <a:latin typeface="Courier New"/>
                <a:ea typeface="Courier New"/>
                <a:cs typeface="Courier New"/>
                <a:sym typeface="Courier New"/>
              </a:rPr>
              <a:t> template Enable IP template acls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DFDFDF"/>
                </a:solidFill>
                <a:latin typeface="Courier New"/>
                <a:ea typeface="Courier New"/>
                <a:cs typeface="Courier New"/>
                <a:sym typeface="Courier New"/>
              </a:rPr>
              <a:t>Router(config)# </a:t>
            </a:r>
            <a:r>
              <a:rPr b="1" i="0" lang="en-US" sz="1200" u="none" cap="none" strike="noStrike">
                <a:solidFill>
                  <a:srgbClr val="FFFFFF"/>
                </a:solidFill>
                <a:latin typeface="Courier New"/>
                <a:ea typeface="Courier New"/>
                <a:cs typeface="Courier New"/>
                <a:sym typeface="Courier New"/>
              </a:rPr>
              <a:t>access-list  </a:t>
            </a:r>
            <a:endParaRPr b="0" i="0" sz="12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IPv4 ACLs</a:t>
            </a:r>
            <a:br>
              <a:rPr lang="en-US"/>
            </a:br>
            <a:r>
              <a:rPr lang="en-US" sz="2400"/>
              <a:t>Numbered and Named ACLs (Cont.)</a:t>
            </a:r>
            <a:endParaRPr/>
          </a:p>
        </p:txBody>
      </p:sp>
      <p:sp>
        <p:nvSpPr>
          <p:cNvPr id="412" name="Google Shape;412;p24"/>
          <p:cNvSpPr txBox="1"/>
          <p:nvPr>
            <p:ph idx="1" type="body"/>
          </p:nvPr>
        </p:nvSpPr>
        <p:spPr>
          <a:xfrm>
            <a:off x="431971" y="731838"/>
            <a:ext cx="8280057" cy="193879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Named ACLs</a:t>
            </a:r>
            <a:endParaRPr sz="1600">
              <a:solidFill>
                <a:srgbClr val="000000"/>
              </a:solidFill>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Named ACLs are the preferred method to use when configuring ACLs. Specifically, standard and extended ACLs can be named to provide information about the purpose of the ACL. For example, naming an extended ACL FTP-FILTER is far better than having a numbered ACL 100.</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The </a:t>
            </a:r>
            <a:r>
              <a:rPr b="1" lang="en-US" sz="1600">
                <a:solidFill>
                  <a:srgbClr val="000000"/>
                </a:solidFill>
              </a:rPr>
              <a:t>ip</a:t>
            </a:r>
            <a:r>
              <a:rPr lang="en-US" sz="1600">
                <a:solidFill>
                  <a:srgbClr val="000000"/>
                </a:solidFill>
              </a:rPr>
              <a:t> </a:t>
            </a:r>
            <a:r>
              <a:rPr b="1" lang="en-US" sz="1600">
                <a:solidFill>
                  <a:srgbClr val="000000"/>
                </a:solidFill>
              </a:rPr>
              <a:t>access-list</a:t>
            </a:r>
            <a:r>
              <a:rPr lang="en-US" sz="1600">
                <a:solidFill>
                  <a:srgbClr val="000000"/>
                </a:solidFill>
              </a:rPr>
              <a:t> global configuration command is used to create a named ACL, as shown in the following example.</a:t>
            </a:r>
            <a:endParaRPr sz="1600">
              <a:solidFill>
                <a:srgbClr val="000000"/>
              </a:solidFill>
            </a:endParaRPr>
          </a:p>
          <a:p>
            <a:pPr indent="-342900" lvl="0" marL="342900" rtl="0" algn="l">
              <a:lnSpc>
                <a:spcPct val="100000"/>
              </a:lnSpc>
              <a:spcBef>
                <a:spcPts val="320"/>
              </a:spcBef>
              <a:spcAft>
                <a:spcPts val="0"/>
              </a:spcAft>
              <a:buClr>
                <a:srgbClr val="1155CC"/>
              </a:buClr>
              <a:buSzPts val="1600"/>
              <a:buChar char="•"/>
            </a:pPr>
            <a:r>
              <a:rPr lang="en-US" sz="1600">
                <a:solidFill>
                  <a:srgbClr val="1155CC"/>
                </a:solidFill>
              </a:rPr>
              <a:t>“Allow TCP traffic from any host in 192.168.10.0/24 going to any destination IP, but only if the destination port is FTP (port 21)”</a:t>
            </a:r>
            <a:endParaRPr sz="1600">
              <a:solidFill>
                <a:srgbClr val="1155CC"/>
              </a:solidFill>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
        <p:nvSpPr>
          <p:cNvPr id="413" name="Google Shape;413;p24"/>
          <p:cNvSpPr/>
          <p:nvPr/>
        </p:nvSpPr>
        <p:spPr>
          <a:xfrm>
            <a:off x="593015" y="3329007"/>
            <a:ext cx="7752600" cy="954000"/>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Courier New"/>
                <a:ea typeface="Courier New"/>
                <a:cs typeface="Courier New"/>
                <a:sym typeface="Courier New"/>
              </a:rPr>
              <a:t>R1(config)# </a:t>
            </a:r>
            <a:r>
              <a:rPr b="1" i="0" lang="en-US" sz="1400" u="none" cap="none" strike="noStrike">
                <a:solidFill>
                  <a:schemeClr val="lt1"/>
                </a:solidFill>
                <a:latin typeface="Courier New"/>
                <a:ea typeface="Courier New"/>
                <a:cs typeface="Courier New"/>
                <a:sym typeface="Courier New"/>
              </a:rPr>
              <a:t>ip access-list extended FTP-FILTER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Courier New"/>
                <a:ea typeface="Courier New"/>
                <a:cs typeface="Courier New"/>
                <a:sym typeface="Courier New"/>
              </a:rPr>
              <a:t>R1(config-ext-nacl)# </a:t>
            </a:r>
            <a:r>
              <a:rPr b="1" i="0" lang="en-US" sz="1400" u="none" cap="none" strike="noStrike">
                <a:solidFill>
                  <a:schemeClr val="lt1"/>
                </a:solidFill>
                <a:latin typeface="Courier New"/>
                <a:ea typeface="Courier New"/>
                <a:cs typeface="Courier New"/>
                <a:sym typeface="Courier New"/>
              </a:rPr>
              <a:t>permit tcp 192.168.10.0 0.0.0.255 any eq ftp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Courier New"/>
                <a:ea typeface="Courier New"/>
                <a:cs typeface="Courier New"/>
                <a:sym typeface="Courier New"/>
              </a:rPr>
              <a:t>R1(config-ext-nacl)# </a:t>
            </a:r>
            <a:r>
              <a:rPr b="1" i="0" lang="en-US" sz="1400" u="none" cap="none" strike="noStrike">
                <a:solidFill>
                  <a:schemeClr val="lt1"/>
                </a:solidFill>
                <a:latin typeface="Courier New"/>
                <a:ea typeface="Courier New"/>
                <a:cs typeface="Courier New"/>
                <a:sym typeface="Courier New"/>
              </a:rPr>
              <a:t>permit tcp 192.168.10.0 0.0.0.255 any eq ftp-data </a:t>
            </a:r>
            <a:r>
              <a:rPr b="0" i="0" lang="en-US" sz="1400" u="none" cap="none" strike="noStrike">
                <a:solidFill>
                  <a:schemeClr val="lt1"/>
                </a:solidFill>
                <a:latin typeface="Courier New"/>
                <a:ea typeface="Courier New"/>
                <a:cs typeface="Courier New"/>
                <a:sym typeface="Courier New"/>
              </a:rPr>
              <a:t>R1(config-ext-nacl)#</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2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IPv4 ACLs</a:t>
            </a:r>
            <a:br>
              <a:rPr lang="en-US"/>
            </a:br>
            <a:r>
              <a:rPr lang="en-US" sz="2400"/>
              <a:t>Where to Place ACLs</a:t>
            </a:r>
            <a:endParaRPr/>
          </a:p>
        </p:txBody>
      </p:sp>
      <p:sp>
        <p:nvSpPr>
          <p:cNvPr id="420" name="Google Shape;420;p25"/>
          <p:cNvSpPr txBox="1"/>
          <p:nvPr>
            <p:ph idx="1" type="body"/>
          </p:nvPr>
        </p:nvSpPr>
        <p:spPr>
          <a:xfrm>
            <a:off x="474663" y="731837"/>
            <a:ext cx="3950582"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Every ACL should be placed where it has the greatest impact on efficiency.</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Extended ACLs should be located as close as possible to the source of the traffic to be filtered.</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Standard ACLs should be located as close to the destination as possible. </a:t>
            </a:r>
            <a:endParaRPr/>
          </a:p>
        </p:txBody>
      </p:sp>
      <p:pic>
        <p:nvPicPr>
          <p:cNvPr id="421" name="Google Shape;421;p25"/>
          <p:cNvPicPr preferRelativeResize="0"/>
          <p:nvPr/>
        </p:nvPicPr>
        <p:blipFill rotWithShape="1">
          <a:blip r:embed="rId3">
            <a:alphaModFix/>
          </a:blip>
          <a:srcRect b="0" l="0" r="0" t="0"/>
          <a:stretch/>
        </p:blipFill>
        <p:spPr>
          <a:xfrm>
            <a:off x="4572000" y="1054902"/>
            <a:ext cx="4445168" cy="304376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IPv4 ACLs</a:t>
            </a:r>
            <a:br>
              <a:rPr lang="en-US"/>
            </a:br>
            <a:r>
              <a:rPr lang="en-US" sz="2400"/>
              <a:t>Where to Place ACLs (Cont.)</a:t>
            </a:r>
            <a:endParaRPr/>
          </a:p>
        </p:txBody>
      </p:sp>
      <p:graphicFrame>
        <p:nvGraphicFramePr>
          <p:cNvPr id="428" name="Google Shape;428;p26"/>
          <p:cNvGraphicFramePr/>
          <p:nvPr/>
        </p:nvGraphicFramePr>
        <p:xfrm>
          <a:off x="431800" y="1240657"/>
          <a:ext cx="3000000" cy="3000000"/>
        </p:xfrm>
        <a:graphic>
          <a:graphicData uri="http://schemas.openxmlformats.org/drawingml/2006/table">
            <a:tbl>
              <a:tblPr bandRow="1" firstRow="1">
                <a:noFill/>
                <a:tableStyleId>{028A345D-260B-4E79-A705-3A2211E9E459}</a:tableStyleId>
              </a:tblPr>
              <a:tblGrid>
                <a:gridCol w="3620900"/>
                <a:gridCol w="4659500"/>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Factors Influencing ACL Placement</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Explanation</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The extent of organizational control</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Placement of the ACL can depend on whether or not the organization has control of both the source and destination networks.</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Bandwidth of the networks involved</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It may be desirable to filter unwanted traffic at the source to prevent transmission of bandwidth-consuming traffic.</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Ease of configuration</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400"/>
                        <a:buFont typeface="Arial"/>
                        <a:buChar char="•"/>
                      </a:pPr>
                      <a:r>
                        <a:rPr b="0" lang="en-US" sz="1400" u="none" cap="none" strike="noStrike"/>
                        <a:t>It may be easier to implement an ACL at the destination, but traffic will use bandwidth unnecessarily.</a:t>
                      </a:r>
                      <a:endParaRPr sz="1400" u="none" cap="none" strike="noStrike"/>
                    </a:p>
                    <a:p>
                      <a:pPr indent="0" lvl="0" marL="0" marR="0" rtl="0" algn="l">
                        <a:lnSpc>
                          <a:spcPct val="100000"/>
                        </a:lnSpc>
                        <a:spcBef>
                          <a:spcPts val="0"/>
                        </a:spcBef>
                        <a:spcAft>
                          <a:spcPts val="0"/>
                        </a:spcAft>
                        <a:buClr>
                          <a:schemeClr val="dk1"/>
                        </a:buClr>
                        <a:buSzPts val="1400"/>
                        <a:buFont typeface="Arial"/>
                        <a:buChar char="•"/>
                      </a:pPr>
                      <a:r>
                        <a:rPr b="0" lang="en-US" sz="1400" u="none" cap="none" strike="noStrike"/>
                        <a:t>An extended ACL could be used on each router where the traffic originated. This would save bandwidth by filtering the traffic at the source, but it would require creating extended ACLs on multiple routers.</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IPv4 ACLs</a:t>
            </a:r>
            <a:br>
              <a:rPr lang="en-US"/>
            </a:br>
            <a:r>
              <a:rPr lang="en-US" sz="2400"/>
              <a:t>Standard ACL Placement Example</a:t>
            </a:r>
            <a:endParaRPr/>
          </a:p>
        </p:txBody>
      </p:sp>
      <p:sp>
        <p:nvSpPr>
          <p:cNvPr id="435" name="Google Shape;435;p27"/>
          <p:cNvSpPr txBox="1"/>
          <p:nvPr>
            <p:ph idx="1" type="body"/>
          </p:nvPr>
        </p:nvSpPr>
        <p:spPr>
          <a:xfrm>
            <a:off x="474662" y="731837"/>
            <a:ext cx="3465160"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In the figure, the administrator wants to prevent traffic originating in the 192.168.10.0/24 network from reaching the 192.168.30.0/24 network.</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Following the basic placement guidelines, the administrator would place a standard ACL on router R3. </a:t>
            </a:r>
            <a:endParaRPr/>
          </a:p>
        </p:txBody>
      </p:sp>
      <p:pic>
        <p:nvPicPr>
          <p:cNvPr id="436" name="Google Shape;436;p27"/>
          <p:cNvPicPr preferRelativeResize="0"/>
          <p:nvPr/>
        </p:nvPicPr>
        <p:blipFill rotWithShape="1">
          <a:blip r:embed="rId3">
            <a:alphaModFix/>
          </a:blip>
          <a:srcRect b="0" l="0" r="0" t="0"/>
          <a:stretch/>
        </p:blipFill>
        <p:spPr>
          <a:xfrm>
            <a:off x="3939822" y="947296"/>
            <a:ext cx="4823027" cy="325897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IPv4 ACLs</a:t>
            </a:r>
            <a:br>
              <a:rPr lang="en-US"/>
            </a:br>
            <a:r>
              <a:rPr lang="en-US" sz="2400"/>
              <a:t>Standard ACL Placement Example (Cont.)</a:t>
            </a:r>
            <a:endParaRPr/>
          </a:p>
        </p:txBody>
      </p:sp>
      <p:sp>
        <p:nvSpPr>
          <p:cNvPr id="443" name="Google Shape;443;p28"/>
          <p:cNvSpPr txBox="1"/>
          <p:nvPr>
            <p:ph idx="1" type="body"/>
          </p:nvPr>
        </p:nvSpPr>
        <p:spPr>
          <a:xfrm>
            <a:off x="474663" y="731837"/>
            <a:ext cx="4097338"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There are two possible interfaces on R3 to apply the standard ACL:</a:t>
            </a:r>
            <a:endParaRPr/>
          </a:p>
          <a:p>
            <a:pPr indent="-342900" lvl="0" marL="342900" rtl="0" algn="l">
              <a:lnSpc>
                <a:spcPct val="100000"/>
              </a:lnSpc>
              <a:spcBef>
                <a:spcPts val="280"/>
              </a:spcBef>
              <a:spcAft>
                <a:spcPts val="0"/>
              </a:spcAft>
              <a:buSzPts val="1400"/>
              <a:buFont typeface="Arial"/>
              <a:buChar char="•"/>
            </a:pPr>
            <a:r>
              <a:rPr b="1" lang="en-US" sz="1400">
                <a:solidFill>
                  <a:srgbClr val="000000"/>
                </a:solidFill>
              </a:rPr>
              <a:t>R3 S0/1/1 interface</a:t>
            </a:r>
            <a:r>
              <a:rPr lang="en-US" sz="1400">
                <a:solidFill>
                  <a:srgbClr val="000000"/>
                </a:solidFill>
              </a:rPr>
              <a:t> </a:t>
            </a:r>
            <a:r>
              <a:rPr b="1" lang="en-US" sz="1400">
                <a:solidFill>
                  <a:srgbClr val="000000"/>
                </a:solidFill>
              </a:rPr>
              <a:t>(inbound)</a:t>
            </a:r>
            <a:r>
              <a:rPr lang="en-US" sz="1400">
                <a:solidFill>
                  <a:srgbClr val="000000"/>
                </a:solidFill>
              </a:rPr>
              <a:t> - The standard ACL can be applied inbound on the R3 S0/1/1 interface to deny traffic from .10 network. However, it would also filter .10 traffic to the 192.168.31.0/24 (.31 in this example) network. Therefore, the standard ACL should not be applied to this interface.</a:t>
            </a:r>
            <a:endParaRPr/>
          </a:p>
          <a:p>
            <a:pPr indent="-342900" lvl="0" marL="342900" rtl="0" algn="l">
              <a:lnSpc>
                <a:spcPct val="100000"/>
              </a:lnSpc>
              <a:spcBef>
                <a:spcPts val="280"/>
              </a:spcBef>
              <a:spcAft>
                <a:spcPts val="0"/>
              </a:spcAft>
              <a:buSzPts val="1400"/>
              <a:buFont typeface="Arial"/>
              <a:buChar char="•"/>
            </a:pPr>
            <a:r>
              <a:rPr b="1" lang="en-US" sz="1400">
                <a:solidFill>
                  <a:srgbClr val="000000"/>
                </a:solidFill>
              </a:rPr>
              <a:t>R3 G0/0 interface</a:t>
            </a:r>
            <a:r>
              <a:rPr lang="en-US" sz="1400">
                <a:solidFill>
                  <a:srgbClr val="000000"/>
                </a:solidFill>
              </a:rPr>
              <a:t> </a:t>
            </a:r>
            <a:r>
              <a:rPr b="1" lang="en-US" sz="1400">
                <a:solidFill>
                  <a:srgbClr val="000000"/>
                </a:solidFill>
              </a:rPr>
              <a:t>(outbound)</a:t>
            </a:r>
            <a:r>
              <a:rPr lang="en-US" sz="1400">
                <a:solidFill>
                  <a:srgbClr val="000000"/>
                </a:solidFill>
              </a:rPr>
              <a:t> - The standard ACL can be applied outbound on the R3 G0/0/0 interface. This will not affect other networks that are reachable by R3. Packets from .10 network will still be able to reach the .31 network. This is the best interface to place the standard ACL to meet the traffic requirements.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444" name="Google Shape;444;p28"/>
          <p:cNvPicPr preferRelativeResize="0"/>
          <p:nvPr/>
        </p:nvPicPr>
        <p:blipFill rotWithShape="1">
          <a:blip r:embed="rId3">
            <a:alphaModFix/>
          </a:blip>
          <a:srcRect b="0" l="0" r="0" t="0"/>
          <a:stretch/>
        </p:blipFill>
        <p:spPr>
          <a:xfrm>
            <a:off x="4572000" y="1253612"/>
            <a:ext cx="4196507" cy="283834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IPv4 ACLs</a:t>
            </a:r>
            <a:br>
              <a:rPr lang="en-US"/>
            </a:br>
            <a:r>
              <a:rPr lang="en-US" sz="2400"/>
              <a:t>Extended ACL Placement Example</a:t>
            </a:r>
            <a:endParaRPr/>
          </a:p>
        </p:txBody>
      </p:sp>
      <p:sp>
        <p:nvSpPr>
          <p:cNvPr id="451" name="Google Shape;451;p29"/>
          <p:cNvSpPr txBox="1"/>
          <p:nvPr>
            <p:ph idx="1" type="body"/>
          </p:nvPr>
        </p:nvSpPr>
        <p:spPr>
          <a:xfrm>
            <a:off x="282349" y="731837"/>
            <a:ext cx="4391251"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Extended ACLs should be located as close to the source as possible.</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However, the organization can only place ACLs on devices that they control. Therefore, the extended ACL placement must be determined in the context of where organizational control extends.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In the figure, for example, Company A wants to deny Telnet and FTP traffic to Company B’s 192.168.30.0/24 network from their 192.168.11.0/24 network, while permitting all other traffic.</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452" name="Google Shape;452;p29"/>
          <p:cNvPicPr preferRelativeResize="0"/>
          <p:nvPr/>
        </p:nvPicPr>
        <p:blipFill rotWithShape="1">
          <a:blip r:embed="rId3">
            <a:alphaModFix/>
          </a:blip>
          <a:srcRect b="0" l="0" r="0" t="0"/>
          <a:stretch/>
        </p:blipFill>
        <p:spPr>
          <a:xfrm>
            <a:off x="4572000" y="1049257"/>
            <a:ext cx="4391251" cy="30550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Types of IPv4 ACLs</a:t>
            </a:r>
            <a:br>
              <a:rPr lang="en-US"/>
            </a:br>
            <a:r>
              <a:rPr lang="en-US" sz="2400"/>
              <a:t>Extended ACL Placement Example (Cont.)</a:t>
            </a:r>
            <a:endParaRPr/>
          </a:p>
        </p:txBody>
      </p:sp>
      <p:sp>
        <p:nvSpPr>
          <p:cNvPr id="459" name="Google Shape;459;p30"/>
          <p:cNvSpPr txBox="1"/>
          <p:nvPr>
            <p:ph idx="1" type="body"/>
          </p:nvPr>
        </p:nvSpPr>
        <p:spPr>
          <a:xfrm>
            <a:off x="245709" y="731837"/>
            <a:ext cx="4525394"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An extended ACL on R3 would accomplish the task, but the administrator does not control R3. In addition, this solution allows unwanted traffic to cross the entire network, only to be blocked at the destination.</a:t>
            </a:r>
            <a:endParaRPr/>
          </a:p>
          <a:p>
            <a:pPr indent="0" lvl="0" marL="0" rtl="0" algn="l">
              <a:lnSpc>
                <a:spcPct val="100000"/>
              </a:lnSpc>
              <a:spcBef>
                <a:spcPts val="280"/>
              </a:spcBef>
              <a:spcAft>
                <a:spcPts val="0"/>
              </a:spcAft>
              <a:buSzPts val="1400"/>
              <a:buNone/>
            </a:pPr>
            <a:r>
              <a:rPr lang="en-US" sz="1400">
                <a:solidFill>
                  <a:srgbClr val="000000"/>
                </a:solidFill>
              </a:rPr>
              <a:t>The solution is to place an extended ACL on R1 that specifies both source and destination addresses.</a:t>
            </a:r>
            <a:endParaRPr/>
          </a:p>
          <a:p>
            <a:pPr indent="0" lvl="0" marL="0" rtl="0" algn="l">
              <a:lnSpc>
                <a:spcPct val="100000"/>
              </a:lnSpc>
              <a:spcBef>
                <a:spcPts val="280"/>
              </a:spcBef>
              <a:spcAft>
                <a:spcPts val="0"/>
              </a:spcAft>
              <a:buSzPts val="1400"/>
              <a:buNone/>
            </a:pPr>
            <a:r>
              <a:rPr lang="en-US" sz="1400">
                <a:solidFill>
                  <a:srgbClr val="000000"/>
                </a:solidFill>
              </a:rPr>
              <a:t>There are two possible interfaces on R1 to apply the extended ACL:</a:t>
            </a:r>
            <a:endParaRPr/>
          </a:p>
          <a:p>
            <a:pPr indent="-171450" lvl="0" marL="171450" rtl="0" algn="l">
              <a:lnSpc>
                <a:spcPct val="100000"/>
              </a:lnSpc>
              <a:spcBef>
                <a:spcPts val="240"/>
              </a:spcBef>
              <a:spcAft>
                <a:spcPts val="0"/>
              </a:spcAft>
              <a:buSzPts val="1200"/>
              <a:buFont typeface="Arial"/>
              <a:buChar char="•"/>
            </a:pPr>
            <a:r>
              <a:rPr b="1" lang="en-US" sz="1200">
                <a:solidFill>
                  <a:srgbClr val="000000"/>
                </a:solidFill>
              </a:rPr>
              <a:t>R1 S0/1/0 interface (outbound)</a:t>
            </a:r>
            <a:r>
              <a:rPr lang="en-US" sz="1200">
                <a:solidFill>
                  <a:srgbClr val="000000"/>
                </a:solidFill>
              </a:rPr>
              <a:t> - The extended ACL can be applied outbound on the S0/1/0 interface. This solution will process all packets leaving R1 including packets from 192.168.10.0/24.</a:t>
            </a:r>
            <a:endParaRPr/>
          </a:p>
          <a:p>
            <a:pPr indent="-171450" lvl="0" marL="171450" rtl="0" algn="l">
              <a:lnSpc>
                <a:spcPct val="100000"/>
              </a:lnSpc>
              <a:spcBef>
                <a:spcPts val="240"/>
              </a:spcBef>
              <a:spcAft>
                <a:spcPts val="0"/>
              </a:spcAft>
              <a:buSzPts val="1200"/>
              <a:buFont typeface="Arial"/>
              <a:buChar char="•"/>
            </a:pPr>
            <a:r>
              <a:rPr b="1" lang="en-US" sz="1200">
                <a:solidFill>
                  <a:srgbClr val="000000"/>
                </a:solidFill>
              </a:rPr>
              <a:t>R1 G0/0/1 interface (inbound)</a:t>
            </a:r>
            <a:r>
              <a:rPr lang="en-US" sz="1200">
                <a:solidFill>
                  <a:srgbClr val="000000"/>
                </a:solidFill>
              </a:rPr>
              <a:t> - The extended ACL can be applied inbound on the G0/0/1 and only packets from the 192.168.11.0/24 network are subject to ACL processing on R1. Because the filter is to be limited to only those packets leaving the 192.168.11.0/24 network, applying the extended ACL to G0/1 is the best solution.</a:t>
            </a:r>
            <a:endParaRPr/>
          </a:p>
          <a:p>
            <a:pPr indent="-254000" lvl="0" marL="342900" rtl="0" algn="l">
              <a:lnSpc>
                <a:spcPct val="100000"/>
              </a:lnSpc>
              <a:spcBef>
                <a:spcPts val="280"/>
              </a:spcBef>
              <a:spcAft>
                <a:spcPts val="0"/>
              </a:spcAft>
              <a:buSzPts val="1400"/>
              <a:buFont typeface="Arial"/>
              <a:buNone/>
            </a:pPr>
            <a:r>
              <a:t/>
            </a:r>
            <a:endParaRPr sz="1400">
              <a:solidFill>
                <a:srgbClr val="000000"/>
              </a:solidFill>
            </a:endParaRPr>
          </a:p>
        </p:txBody>
      </p:sp>
      <p:pic>
        <p:nvPicPr>
          <p:cNvPr id="460" name="Google Shape;460;p30"/>
          <p:cNvPicPr preferRelativeResize="0"/>
          <p:nvPr/>
        </p:nvPicPr>
        <p:blipFill rotWithShape="1">
          <a:blip r:embed="rId3">
            <a:alphaModFix/>
          </a:blip>
          <a:srcRect b="0" l="0" r="0" t="0"/>
          <a:stretch/>
        </p:blipFill>
        <p:spPr>
          <a:xfrm>
            <a:off x="4915739" y="1156465"/>
            <a:ext cx="4067883" cy="283056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1"/>
          <p:cNvSpPr txBox="1"/>
          <p:nvPr>
            <p:ph type="ctrTitle"/>
          </p:nvPr>
        </p:nvSpPr>
        <p:spPr>
          <a:xfrm>
            <a:off x="416425" y="1747520"/>
            <a:ext cx="8280314" cy="97028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4.5 Module Practice and Quiz</a:t>
            </a:r>
            <a:endParaRPr/>
          </a:p>
        </p:txBody>
      </p:sp>
    </p:spTree>
  </p:cSld>
  <p:clrMapOvr>
    <a:masterClrMapping/>
  </p:clrMapOvr>
  <p:transition spd="slow">
    <p:wipe dir="l"/>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2"/>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473" name="Google Shape;473;p32"/>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260"/>
              <a:buFont typeface="Arial"/>
              <a:buChar char="•"/>
            </a:pPr>
            <a:r>
              <a:rPr lang="en-US" sz="1400"/>
              <a:t>An ACL is a series of IOS commands that are used to filter packets based on information found in the packet header. </a:t>
            </a:r>
            <a:endParaRPr/>
          </a:p>
          <a:p>
            <a:pPr indent="-169863" lvl="0" marL="169863" rtl="0" algn="l">
              <a:lnSpc>
                <a:spcPct val="100000"/>
              </a:lnSpc>
              <a:spcBef>
                <a:spcPts val="0"/>
              </a:spcBef>
              <a:spcAft>
                <a:spcPts val="0"/>
              </a:spcAft>
              <a:buSzPts val="1260"/>
              <a:buFont typeface="Arial"/>
              <a:buChar char="•"/>
            </a:pPr>
            <a:r>
              <a:rPr lang="en-US" sz="1400"/>
              <a:t>A router does not have any ACLs configured by default. </a:t>
            </a:r>
            <a:endParaRPr/>
          </a:p>
          <a:p>
            <a:pPr indent="-169863" lvl="0" marL="169863" rtl="0" algn="l">
              <a:lnSpc>
                <a:spcPct val="100000"/>
              </a:lnSpc>
              <a:spcBef>
                <a:spcPts val="0"/>
              </a:spcBef>
              <a:spcAft>
                <a:spcPts val="0"/>
              </a:spcAft>
              <a:buSzPts val="1260"/>
              <a:buFont typeface="Arial"/>
              <a:buChar char="•"/>
            </a:pPr>
            <a:r>
              <a:rPr lang="en-US" sz="1400"/>
              <a:t>When an ACL is applied to an interface, the router performs the additional task of evaluating all network packets as they pass through the interface to determine if the packet can be forwarded. </a:t>
            </a:r>
            <a:endParaRPr/>
          </a:p>
          <a:p>
            <a:pPr indent="-169863" lvl="0" marL="169863" rtl="0" algn="l">
              <a:lnSpc>
                <a:spcPct val="100000"/>
              </a:lnSpc>
              <a:spcBef>
                <a:spcPts val="0"/>
              </a:spcBef>
              <a:spcAft>
                <a:spcPts val="0"/>
              </a:spcAft>
              <a:buSzPts val="1260"/>
              <a:buFont typeface="Arial"/>
              <a:buChar char="•"/>
            </a:pPr>
            <a:r>
              <a:rPr lang="en-US" sz="1400"/>
              <a:t>An ACL uses a sequential list of permit or deny statements, known as ACEs. </a:t>
            </a:r>
            <a:endParaRPr/>
          </a:p>
          <a:p>
            <a:pPr indent="-169863" lvl="0" marL="169863" rtl="0" algn="l">
              <a:lnSpc>
                <a:spcPct val="100000"/>
              </a:lnSpc>
              <a:spcBef>
                <a:spcPts val="0"/>
              </a:spcBef>
              <a:spcAft>
                <a:spcPts val="0"/>
              </a:spcAft>
              <a:buSzPts val="1260"/>
              <a:buFont typeface="Arial"/>
              <a:buChar char="•"/>
            </a:pPr>
            <a:r>
              <a:rPr lang="en-US" sz="1400"/>
              <a:t>Cisco routers support two types of ACLs: standard ACLs and extended ACLs. </a:t>
            </a:r>
            <a:endParaRPr/>
          </a:p>
          <a:p>
            <a:pPr indent="-169863" lvl="0" marL="169863" rtl="0" algn="l">
              <a:lnSpc>
                <a:spcPct val="100000"/>
              </a:lnSpc>
              <a:spcBef>
                <a:spcPts val="0"/>
              </a:spcBef>
              <a:spcAft>
                <a:spcPts val="0"/>
              </a:spcAft>
              <a:buSzPts val="1260"/>
              <a:buFont typeface="Arial"/>
              <a:buChar char="•"/>
            </a:pPr>
            <a:r>
              <a:rPr lang="en-US" sz="1400"/>
              <a:t>An inbound ACL filters packets before they are routed to the outbound interface. If the packet is permitted by the ACL, it is then processed for routing. </a:t>
            </a:r>
            <a:endParaRPr/>
          </a:p>
          <a:p>
            <a:pPr indent="-169863" lvl="0" marL="169863" rtl="0" algn="l">
              <a:lnSpc>
                <a:spcPct val="100000"/>
              </a:lnSpc>
              <a:spcBef>
                <a:spcPts val="0"/>
              </a:spcBef>
              <a:spcAft>
                <a:spcPts val="0"/>
              </a:spcAft>
              <a:buSzPts val="1260"/>
              <a:buFont typeface="Arial"/>
              <a:buChar char="•"/>
            </a:pPr>
            <a:r>
              <a:rPr lang="en-US" sz="1400"/>
              <a:t>An outbound ACL filters packets after being routed, regardless of the inbound interface. </a:t>
            </a:r>
            <a:endParaRPr/>
          </a:p>
          <a:p>
            <a:pPr indent="-169863" lvl="0" marL="169863" rtl="0" algn="l">
              <a:lnSpc>
                <a:spcPct val="100000"/>
              </a:lnSpc>
              <a:spcBef>
                <a:spcPts val="0"/>
              </a:spcBef>
              <a:spcAft>
                <a:spcPts val="0"/>
              </a:spcAft>
              <a:buSzPts val="1260"/>
              <a:buFont typeface="Arial"/>
              <a:buChar char="•"/>
            </a:pPr>
            <a:r>
              <a:rPr lang="en-US" sz="1400"/>
              <a:t>An IPv4 ACE uses a 32-bit wildcard mask to determine which bits of the address to examine for a match. </a:t>
            </a:r>
            <a:endParaRPr/>
          </a:p>
          <a:p>
            <a:pPr indent="-169863" lvl="0" marL="169863" rtl="0" algn="l">
              <a:lnSpc>
                <a:spcPct val="100000"/>
              </a:lnSpc>
              <a:spcBef>
                <a:spcPts val="0"/>
              </a:spcBef>
              <a:spcAft>
                <a:spcPts val="0"/>
              </a:spcAft>
              <a:buSzPts val="1260"/>
              <a:buFont typeface="Arial"/>
              <a:buChar char="•"/>
            </a:pPr>
            <a:r>
              <a:rPr lang="en-US" sz="1400"/>
              <a:t>A wildcard mask is similar to a subnet mask in that it uses the ANDing process to identify which bits in an IPv4 address to match. However, they differ in the way they match binary 1s and 0s. Wildcard mask bit 0 matches the corresponding bit value in the address. Wildcard mask bit 1 ignores the corresponding bit value in the address. </a:t>
            </a:r>
            <a:endParaRPr/>
          </a:p>
          <a:p>
            <a:pPr indent="-84138" lvl="0" marL="169863" rtl="0" algn="l">
              <a:lnSpc>
                <a:spcPct val="100000"/>
              </a:lnSpc>
              <a:spcBef>
                <a:spcPts val="0"/>
              </a:spcBef>
              <a:spcAft>
                <a:spcPts val="0"/>
              </a:spcAft>
              <a:buSzPts val="1350"/>
              <a:buNone/>
            </a:pPr>
            <a:r>
              <a:t/>
            </a:r>
            <a:endParaRPr/>
          </a:p>
        </p:txBody>
      </p:sp>
    </p:spTree>
  </p:cSld>
  <p:clrMapOvr>
    <a:masterClrMapping/>
  </p:clrMapOvr>
  <p:transition spd="slow">
    <p:wipe dir="l"/>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33"/>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480" name="Google Shape;480;p33"/>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260"/>
              <a:buFont typeface="Arial"/>
              <a:buChar char="•"/>
            </a:pPr>
            <a:r>
              <a:rPr lang="en-US" sz="1400"/>
              <a:t>A shortcut to calculating a wildcard mask is to subtract the subnet mask from 255.255.255.255. </a:t>
            </a:r>
            <a:endParaRPr/>
          </a:p>
          <a:p>
            <a:pPr indent="-169863" lvl="0" marL="169863" rtl="0" algn="l">
              <a:lnSpc>
                <a:spcPct val="100000"/>
              </a:lnSpc>
              <a:spcBef>
                <a:spcPts val="0"/>
              </a:spcBef>
              <a:spcAft>
                <a:spcPts val="0"/>
              </a:spcAft>
              <a:buSzPts val="1260"/>
              <a:buFont typeface="Arial"/>
              <a:buChar char="•"/>
            </a:pPr>
            <a:r>
              <a:rPr lang="en-US" sz="1400"/>
              <a:t>Working with decimal representations of binary wildcard mask bits can be simplified by using the Cisco IOS keywords </a:t>
            </a:r>
            <a:r>
              <a:rPr b="1" lang="en-US" sz="1400"/>
              <a:t>host</a:t>
            </a:r>
            <a:r>
              <a:rPr lang="en-US" sz="1400"/>
              <a:t> and </a:t>
            </a:r>
            <a:r>
              <a:rPr b="1" lang="en-US" sz="1400"/>
              <a:t>any</a:t>
            </a:r>
            <a:r>
              <a:rPr lang="en-US" sz="1400"/>
              <a:t> to identify the most common uses of wildcard masking. </a:t>
            </a:r>
            <a:endParaRPr/>
          </a:p>
          <a:p>
            <a:pPr indent="-169863" lvl="0" marL="169863" rtl="0" algn="l">
              <a:lnSpc>
                <a:spcPct val="100000"/>
              </a:lnSpc>
              <a:spcBef>
                <a:spcPts val="0"/>
              </a:spcBef>
              <a:spcAft>
                <a:spcPts val="0"/>
              </a:spcAft>
              <a:buSzPts val="1260"/>
              <a:buFont typeface="Arial"/>
              <a:buChar char="•"/>
            </a:pPr>
            <a:r>
              <a:rPr lang="en-US" sz="1400"/>
              <a:t>There is a limit on the number of ACLs that can be applied on a router interface. </a:t>
            </a:r>
            <a:endParaRPr/>
          </a:p>
          <a:p>
            <a:pPr indent="-169863" lvl="0" marL="169863" rtl="0" algn="l">
              <a:lnSpc>
                <a:spcPct val="100000"/>
              </a:lnSpc>
              <a:spcBef>
                <a:spcPts val="0"/>
              </a:spcBef>
              <a:spcAft>
                <a:spcPts val="0"/>
              </a:spcAft>
              <a:buSzPts val="1260"/>
              <a:buFont typeface="Arial"/>
              <a:buChar char="•"/>
            </a:pPr>
            <a:r>
              <a:rPr lang="en-US" sz="1400"/>
              <a:t>ACLs do not have to be configured in both directions. The number of ACLs and their direction applied to the interface will depend on the security policy of the organization. </a:t>
            </a:r>
            <a:endParaRPr/>
          </a:p>
          <a:p>
            <a:pPr indent="-169863" lvl="0" marL="169863" rtl="0" algn="l">
              <a:lnSpc>
                <a:spcPct val="100000"/>
              </a:lnSpc>
              <a:spcBef>
                <a:spcPts val="0"/>
              </a:spcBef>
              <a:spcAft>
                <a:spcPts val="0"/>
              </a:spcAft>
              <a:buSzPts val="1260"/>
              <a:buFont typeface="Arial"/>
              <a:buChar char="•"/>
            </a:pPr>
            <a:r>
              <a:rPr lang="en-US" sz="1400"/>
              <a:t>Standard ACLs permit or deny packets based only on the source IPv4 address. </a:t>
            </a:r>
            <a:endParaRPr/>
          </a:p>
          <a:p>
            <a:pPr indent="-169863" lvl="0" marL="169863" rtl="0" algn="l">
              <a:lnSpc>
                <a:spcPct val="100000"/>
              </a:lnSpc>
              <a:spcBef>
                <a:spcPts val="0"/>
              </a:spcBef>
              <a:spcAft>
                <a:spcPts val="0"/>
              </a:spcAft>
              <a:buSzPts val="1260"/>
              <a:buFont typeface="Arial"/>
              <a:buChar char="•"/>
            </a:pPr>
            <a:r>
              <a:rPr lang="en-US" sz="1400"/>
              <a:t>Extended ACLs permit or deny packets based on the source IPv4 address and destination IPv4 address, protocol type, source and destination TCP or UDP ports and more. </a:t>
            </a:r>
            <a:endParaRPr/>
          </a:p>
          <a:p>
            <a:pPr indent="-169863" lvl="0" marL="169863" rtl="0" algn="l">
              <a:lnSpc>
                <a:spcPct val="100000"/>
              </a:lnSpc>
              <a:spcBef>
                <a:spcPts val="0"/>
              </a:spcBef>
              <a:spcAft>
                <a:spcPts val="0"/>
              </a:spcAft>
              <a:buSzPts val="1260"/>
              <a:buFont typeface="Arial"/>
              <a:buChar char="•"/>
            </a:pPr>
            <a:r>
              <a:rPr lang="en-US" sz="1400"/>
              <a:t>ACLs numbered 1-99, or 1300-1999, are standard ACLs. ACLs numbered 100-199, or 2000-2699, are extended ACLs. </a:t>
            </a:r>
            <a:endParaRPr/>
          </a:p>
          <a:p>
            <a:pPr indent="-169863" lvl="0" marL="169863" rtl="0" algn="l">
              <a:lnSpc>
                <a:spcPct val="100000"/>
              </a:lnSpc>
              <a:spcBef>
                <a:spcPts val="0"/>
              </a:spcBef>
              <a:spcAft>
                <a:spcPts val="0"/>
              </a:spcAft>
              <a:buSzPts val="1260"/>
              <a:buFont typeface="Arial"/>
              <a:buChar char="•"/>
            </a:pPr>
            <a:r>
              <a:rPr lang="en-US" sz="1400"/>
              <a:t>Named ACLs is the preferred method to use when configuring ACLs. </a:t>
            </a:r>
            <a:endParaRPr/>
          </a:p>
          <a:p>
            <a:pPr indent="-169863" lvl="0" marL="169863" rtl="0" algn="l">
              <a:lnSpc>
                <a:spcPct val="100000"/>
              </a:lnSpc>
              <a:spcBef>
                <a:spcPts val="0"/>
              </a:spcBef>
              <a:spcAft>
                <a:spcPts val="0"/>
              </a:spcAft>
              <a:buSzPts val="1260"/>
              <a:buFont typeface="Arial"/>
              <a:buChar char="•"/>
            </a:pPr>
            <a:r>
              <a:rPr lang="en-US" sz="1400"/>
              <a:t>Specifically, standard and extended ACLs can be named to provide information about the purpose of the ACL.</a:t>
            </a:r>
            <a:endParaRPr/>
          </a:p>
          <a:p>
            <a:pPr indent="-169863" lvl="0" marL="169863" rtl="0" algn="l">
              <a:lnSpc>
                <a:spcPct val="100000"/>
              </a:lnSpc>
              <a:spcBef>
                <a:spcPts val="0"/>
              </a:spcBef>
              <a:spcAft>
                <a:spcPts val="0"/>
              </a:spcAft>
              <a:buSzPts val="1260"/>
              <a:buFont typeface="Arial"/>
              <a:buChar char="•"/>
            </a:pPr>
            <a:r>
              <a:rPr lang="en-US" sz="1400"/>
              <a:t>Every ACL should be placed where it has the greatest impact on efficiency. </a:t>
            </a:r>
            <a:endParaRPr/>
          </a:p>
          <a:p>
            <a:pPr indent="-84138" lvl="0" marL="169863" rtl="0" algn="l">
              <a:lnSpc>
                <a:spcPct val="100000"/>
              </a:lnSpc>
              <a:spcBef>
                <a:spcPts val="0"/>
              </a:spcBef>
              <a:spcAft>
                <a:spcPts val="0"/>
              </a:spcAft>
              <a:buSzPts val="1350"/>
              <a:buNone/>
            </a:pPr>
            <a:r>
              <a:t/>
            </a:r>
            <a:endParaRPr/>
          </a:p>
        </p:txBody>
      </p:sp>
    </p:spTree>
  </p:cSld>
  <p:clrMapOvr>
    <a:masterClrMapping/>
  </p:clrMapOvr>
  <p:transition spd="slow">
    <p:wipe dir="l"/>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4"/>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487" name="Google Shape;487;p34"/>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260"/>
              <a:buFont typeface="Arial"/>
              <a:buChar char="•"/>
            </a:pPr>
            <a:r>
              <a:rPr lang="en-US" sz="1400"/>
              <a:t>Extended ACLs should be located as close as possible to the source of the traffic to be filtered. This way, undesirable traffic is denied close to the source network without crossing the network infrastructure. </a:t>
            </a:r>
            <a:endParaRPr/>
          </a:p>
          <a:p>
            <a:pPr indent="-169863" lvl="0" marL="169863" rtl="0" algn="l">
              <a:lnSpc>
                <a:spcPct val="100000"/>
              </a:lnSpc>
              <a:spcBef>
                <a:spcPts val="0"/>
              </a:spcBef>
              <a:spcAft>
                <a:spcPts val="0"/>
              </a:spcAft>
              <a:buSzPts val="1260"/>
              <a:buFont typeface="Arial"/>
              <a:buChar char="•"/>
            </a:pPr>
            <a:r>
              <a:rPr lang="en-US" sz="1400"/>
              <a:t>Standard ACLs should be located as close to the destination as possible. If a standard ACL was placed at the source of the traffic, the "permit" or "deny" will occur based on the given source address no matter where the traffic is destined. </a:t>
            </a:r>
            <a:endParaRPr/>
          </a:p>
          <a:p>
            <a:pPr indent="-169863" lvl="0" marL="169863" rtl="0" algn="l">
              <a:lnSpc>
                <a:spcPct val="100000"/>
              </a:lnSpc>
              <a:spcBef>
                <a:spcPts val="0"/>
              </a:spcBef>
              <a:spcAft>
                <a:spcPts val="0"/>
              </a:spcAft>
              <a:buSzPts val="1260"/>
              <a:buFont typeface="Arial"/>
              <a:buChar char="•"/>
            </a:pPr>
            <a:r>
              <a:rPr lang="en-US" sz="1400"/>
              <a:t>Placement of the ACL may depend on the extent of organizational control, bandwidth of the networks, and ease of configuration.</a:t>
            </a:r>
            <a:endParaRPr/>
          </a:p>
          <a:p>
            <a:pPr indent="-84138" lvl="0" marL="169863" rtl="0" algn="l">
              <a:lnSpc>
                <a:spcPct val="100000"/>
              </a:lnSpc>
              <a:spcBef>
                <a:spcPts val="0"/>
              </a:spcBef>
              <a:spcAft>
                <a:spcPts val="0"/>
              </a:spcAft>
              <a:buSzPts val="1350"/>
              <a:buNone/>
            </a:pPr>
            <a:r>
              <a:t/>
            </a:r>
            <a:endParaRPr/>
          </a:p>
        </p:txBody>
      </p:sp>
    </p:spTree>
  </p:cSld>
  <p:clrMapOvr>
    <a:masterClrMapping/>
  </p:clrMapOvr>
  <p:transition spd="slow">
    <p:wipe dir="l"/>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2" name="Shape 492"/>
        <p:cNvGrpSpPr/>
        <p:nvPr/>
      </p:nvGrpSpPr>
      <p:grpSpPr>
        <a:xfrm>
          <a:off x="0" y="0"/>
          <a:ext cx="0" cy="0"/>
          <a:chOff x="0" y="0"/>
          <a:chExt cx="0" cy="0"/>
        </a:xfrm>
      </p:grpSpPr>
      <p:sp>
        <p:nvSpPr>
          <p:cNvPr id="493" name="Google Shape;493;p35"/>
          <p:cNvSpPr txBox="1"/>
          <p:nvPr>
            <p:ph type="title"/>
          </p:nvPr>
        </p:nvSpPr>
        <p:spPr>
          <a:xfrm>
            <a:off x="1" y="41394"/>
            <a:ext cx="9144000" cy="60905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400">
                <a:latin typeface="Arial"/>
                <a:ea typeface="Arial"/>
                <a:cs typeface="Arial"/>
                <a:sym typeface="Arial"/>
              </a:rPr>
              <a:t>Module 4 : Network Automation</a:t>
            </a:r>
            <a:br>
              <a:rPr lang="en-US">
                <a:latin typeface="Arial"/>
                <a:ea typeface="Arial"/>
                <a:cs typeface="Arial"/>
                <a:sym typeface="Arial"/>
              </a:rPr>
            </a:br>
            <a:r>
              <a:rPr lang="en-US">
                <a:latin typeface="Arial"/>
                <a:ea typeface="Arial"/>
                <a:cs typeface="Arial"/>
                <a:sym typeface="Arial"/>
              </a:rPr>
              <a:t>New Terms and Commands</a:t>
            </a:r>
            <a:endParaRPr/>
          </a:p>
        </p:txBody>
      </p:sp>
      <p:sp>
        <p:nvSpPr>
          <p:cNvPr id="494" name="Google Shape;494;p35"/>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350"/>
              <a:buFont typeface="Arial"/>
              <a:buChar char="•"/>
            </a:pPr>
            <a:r>
              <a:rPr lang="en-US"/>
              <a:t>access control list (ACL)</a:t>
            </a:r>
            <a:endParaRPr/>
          </a:p>
          <a:p>
            <a:pPr indent="-169863" lvl="0" marL="169863" rtl="0" algn="l">
              <a:lnSpc>
                <a:spcPct val="100000"/>
              </a:lnSpc>
              <a:spcBef>
                <a:spcPts val="0"/>
              </a:spcBef>
              <a:spcAft>
                <a:spcPts val="0"/>
              </a:spcAft>
              <a:buSzPts val="1350"/>
              <a:buFont typeface="Arial"/>
              <a:buChar char="•"/>
            </a:pPr>
            <a:r>
              <a:rPr lang="en-US"/>
              <a:t>access control element (ACE)</a:t>
            </a:r>
            <a:endParaRPr/>
          </a:p>
          <a:p>
            <a:pPr indent="-169863" lvl="0" marL="169863" rtl="0" algn="l">
              <a:lnSpc>
                <a:spcPct val="100000"/>
              </a:lnSpc>
              <a:spcBef>
                <a:spcPts val="0"/>
              </a:spcBef>
              <a:spcAft>
                <a:spcPts val="0"/>
              </a:spcAft>
              <a:buSzPts val="1350"/>
              <a:buFont typeface="Arial"/>
              <a:buChar char="•"/>
            </a:pPr>
            <a:r>
              <a:rPr lang="en-US"/>
              <a:t>packet filtering</a:t>
            </a:r>
            <a:endParaRPr/>
          </a:p>
          <a:p>
            <a:pPr indent="-169863" lvl="0" marL="169863" rtl="0" algn="l">
              <a:lnSpc>
                <a:spcPct val="100000"/>
              </a:lnSpc>
              <a:spcBef>
                <a:spcPts val="0"/>
              </a:spcBef>
              <a:spcAft>
                <a:spcPts val="0"/>
              </a:spcAft>
              <a:buSzPts val="1350"/>
              <a:buFont typeface="Arial"/>
              <a:buChar char="•"/>
            </a:pPr>
            <a:r>
              <a:rPr lang="en-US"/>
              <a:t>standard ACLs</a:t>
            </a:r>
            <a:endParaRPr/>
          </a:p>
          <a:p>
            <a:pPr indent="-169863" lvl="0" marL="169863" rtl="0" algn="l">
              <a:lnSpc>
                <a:spcPct val="100000"/>
              </a:lnSpc>
              <a:spcBef>
                <a:spcPts val="0"/>
              </a:spcBef>
              <a:spcAft>
                <a:spcPts val="0"/>
              </a:spcAft>
              <a:buSzPts val="1350"/>
              <a:buFont typeface="Arial"/>
              <a:buChar char="•"/>
            </a:pPr>
            <a:r>
              <a:rPr lang="en-US"/>
              <a:t>extended ACLs</a:t>
            </a:r>
            <a:endParaRPr/>
          </a:p>
          <a:p>
            <a:pPr indent="-169863" lvl="0" marL="169863" rtl="0" algn="l">
              <a:lnSpc>
                <a:spcPct val="100000"/>
              </a:lnSpc>
              <a:spcBef>
                <a:spcPts val="0"/>
              </a:spcBef>
              <a:spcAft>
                <a:spcPts val="0"/>
              </a:spcAft>
              <a:buSzPts val="1350"/>
              <a:buFont typeface="Arial"/>
              <a:buChar char="•"/>
            </a:pPr>
            <a:r>
              <a:rPr lang="en-US"/>
              <a:t>wildcard mask</a:t>
            </a:r>
            <a:endParaRPr/>
          </a:p>
          <a:p>
            <a:pPr indent="-169863" lvl="0" marL="169863" rtl="0" algn="l">
              <a:lnSpc>
                <a:spcPct val="100000"/>
              </a:lnSpc>
              <a:spcBef>
                <a:spcPts val="0"/>
              </a:spcBef>
              <a:spcAft>
                <a:spcPts val="0"/>
              </a:spcAft>
              <a:buSzPts val="1350"/>
              <a:buFont typeface="Arial"/>
              <a:buChar char="•"/>
            </a:pPr>
            <a:r>
              <a:rPr b="1" lang="en-US"/>
              <a:t>host</a:t>
            </a:r>
            <a:r>
              <a:rPr lang="en-US"/>
              <a:t> keyword</a:t>
            </a:r>
            <a:endParaRPr/>
          </a:p>
          <a:p>
            <a:pPr indent="-169863" lvl="0" marL="169863" rtl="0" algn="l">
              <a:lnSpc>
                <a:spcPct val="100000"/>
              </a:lnSpc>
              <a:spcBef>
                <a:spcPts val="0"/>
              </a:spcBef>
              <a:spcAft>
                <a:spcPts val="0"/>
              </a:spcAft>
              <a:buSzPts val="1350"/>
              <a:buFont typeface="Arial"/>
              <a:buChar char="•"/>
            </a:pPr>
            <a:r>
              <a:rPr b="1" lang="en-US"/>
              <a:t>any</a:t>
            </a:r>
            <a:r>
              <a:rPr lang="en-US"/>
              <a:t> keyword</a:t>
            </a:r>
            <a:endParaRPr/>
          </a:p>
          <a:p>
            <a:pPr indent="-169863" lvl="0" marL="169863" rtl="0" algn="l">
              <a:lnSpc>
                <a:spcPct val="100000"/>
              </a:lnSpc>
              <a:spcBef>
                <a:spcPts val="0"/>
              </a:spcBef>
              <a:spcAft>
                <a:spcPts val="0"/>
              </a:spcAft>
              <a:buSzPts val="1350"/>
              <a:buFont typeface="Arial"/>
              <a:buChar char="•"/>
            </a:pPr>
            <a:r>
              <a:rPr lang="en-US"/>
              <a:t>numbered ACLs</a:t>
            </a:r>
            <a:endParaRPr/>
          </a:p>
          <a:p>
            <a:pPr indent="-169863" lvl="0" marL="169863" rtl="0" algn="l">
              <a:lnSpc>
                <a:spcPct val="100000"/>
              </a:lnSpc>
              <a:spcBef>
                <a:spcPts val="0"/>
              </a:spcBef>
              <a:spcAft>
                <a:spcPts val="0"/>
              </a:spcAft>
              <a:buSzPts val="1350"/>
              <a:buFont typeface="Arial"/>
              <a:buChar char="•"/>
            </a:pPr>
            <a:r>
              <a:rPr lang="en-US"/>
              <a:t>named ACLs</a:t>
            </a:r>
            <a:endParaRPr/>
          </a:p>
        </p:txBody>
      </p:sp>
    </p:spTree>
  </p:cSld>
  <p:clrMapOvr>
    <a:masterClrMapping/>
  </p:clrMapOvr>
  <p:transition spd="slow">
    <p:wipe dir="l"/>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