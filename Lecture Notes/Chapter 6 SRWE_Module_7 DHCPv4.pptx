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iCei+/gSKEjDI2b0a4Z1+/lpowm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CE48DEC-0919-4CC0-B943-BA415F1E0A11}">
  <a:tblStyle styleId="{7CE48DEC-0919-4CC0-B943-BA415F1E0A11}"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8EA"/>
          </a:solidFill>
        </a:fill>
      </a:tcStyle>
    </a:wholeTbl>
    <a:band1H>
      <a:tcTxStyle/>
      <a:tcStyle>
        <a:tcBdr/>
        <a:fill>
          <a:solidFill>
            <a:srgbClr val="CACED3"/>
          </a:solidFill>
        </a:fill>
      </a:tcStyle>
    </a:band1H>
    <a:band2H>
      <a:tcTxStyle/>
      <a:tcStyle>
        <a:tcBdr/>
      </a:tcStyle>
    </a:band2H>
    <a:band1V>
      <a:tcTxStyle/>
      <a:tcStyle>
        <a:tcBdr/>
        <a:fill>
          <a:solidFill>
            <a:srgbClr val="CACED3"/>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3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Cisco Networking Academy Program</a:t>
            </a:r>
            <a:br>
              <a:rPr lang="en-US"/>
            </a:br>
            <a:r>
              <a:rPr lang="en-US"/>
              <a:t>Switching, Routing and Wireless Essentials v7.0 (SRWE)</a:t>
            </a:r>
            <a:endParaRPr/>
          </a:p>
          <a:p>
            <a:pPr marL="0" lvl="0" indent="0" algn="l" rtl="0">
              <a:spcBef>
                <a:spcPts val="0"/>
              </a:spcBef>
              <a:spcAft>
                <a:spcPts val="0"/>
              </a:spcAft>
              <a:buNone/>
            </a:pPr>
            <a:r>
              <a:rPr lang="en-US"/>
              <a:t>Module 7 – DHCPv4</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36" name="Google Shape;23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spcFirstLastPara="1" wrap="square" lIns="18800" tIns="0" rIns="18800" bIns="0" anchor="b" anchorCtr="0">
            <a:noAutofit/>
          </a:bodyPr>
          <a:lstStyle/>
          <a:p>
            <a:pPr marL="0" marR="0" lvl="0" indent="0" algn="r" rtl="0">
              <a:spcBef>
                <a:spcPts val="0"/>
              </a:spcBef>
              <a:spcAft>
                <a:spcPts val="0"/>
              </a:spcAft>
              <a:buNone/>
            </a:pPr>
            <a:fld id="{00000000-1234-1234-1234-123412341234}" type="slidenum">
              <a:rPr lang="en-US" sz="800" b="0">
                <a:solidFill>
                  <a:srgbClr val="000000"/>
                </a:solidFill>
                <a:latin typeface="Arial"/>
                <a:ea typeface="Arial"/>
                <a:cs typeface="Arial"/>
                <a:sym typeface="Arial"/>
              </a:rPr>
              <a:t>2</a:t>
            </a:fld>
            <a:endParaRPr sz="800" b="0">
              <a:solidFill>
                <a:srgbClr val="000000"/>
              </a:solidFill>
              <a:latin typeface="Arial"/>
              <a:ea typeface="Arial"/>
              <a:cs typeface="Arial"/>
              <a:sym typeface="Arial"/>
            </a:endParaRPr>
          </a:p>
        </p:txBody>
      </p:sp>
      <p:sp>
        <p:nvSpPr>
          <p:cNvPr id="242" name="Google Shape;2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7.0 – Introduction</a:t>
            </a:r>
            <a:endParaRPr/>
          </a:p>
          <a:p>
            <a:pPr marL="0" lvl="0" indent="0" algn="l" rtl="0">
              <a:spcBef>
                <a:spcPts val="0"/>
              </a:spcBef>
              <a:spcAft>
                <a:spcPts val="0"/>
              </a:spcAft>
              <a:buClr>
                <a:schemeClr val="dk1"/>
              </a:buClr>
              <a:buSzPts val="1200"/>
              <a:buFont typeface="Calibri"/>
              <a:buNone/>
            </a:pPr>
            <a:r>
              <a:rPr lang="en-US"/>
              <a:t>7.0.2 – What will I learn to do in this module?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DHCPv4</a:t>
            </a:r>
            <a:endParaRPr/>
          </a:p>
          <a:p>
            <a:pPr marL="0" lvl="0" indent="0" algn="l" rtl="0">
              <a:spcBef>
                <a:spcPts val="0"/>
              </a:spcBef>
              <a:spcAft>
                <a:spcPts val="0"/>
              </a:spcAft>
              <a:buNone/>
            </a:pPr>
            <a:r>
              <a:rPr lang="en-US"/>
              <a:t>7.1 – DHCPv4 Concepts</a:t>
            </a:r>
            <a:endParaRPr/>
          </a:p>
          <a:p>
            <a:pPr marL="0" lvl="0" indent="0" algn="l" rtl="0">
              <a:spcBef>
                <a:spcPts val="0"/>
              </a:spcBef>
              <a:spcAft>
                <a:spcPts val="0"/>
              </a:spcAft>
              <a:buNone/>
            </a:pPr>
            <a:endParaRPr/>
          </a:p>
        </p:txBody>
      </p:sp>
      <p:sp>
        <p:nvSpPr>
          <p:cNvPr id="251" name="Google Shape;251;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7.1 – DHCPv4 Concepts</a:t>
            </a:r>
            <a:endParaRPr/>
          </a:p>
          <a:p>
            <a:pPr marL="0" lvl="0" indent="0" algn="l" rtl="0">
              <a:spcBef>
                <a:spcPts val="0"/>
              </a:spcBef>
              <a:spcAft>
                <a:spcPts val="0"/>
              </a:spcAft>
              <a:buNone/>
            </a:pPr>
            <a:r>
              <a:rPr lang="en-US"/>
              <a:t>7.1.1 – DHCPv4 Server and Client</a:t>
            </a:r>
            <a:endParaRPr/>
          </a:p>
        </p:txBody>
      </p:sp>
      <p:sp>
        <p:nvSpPr>
          <p:cNvPr id="257" name="Google Shape;25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7.1 – DHCPv4 Concepts</a:t>
            </a:r>
            <a:endParaRPr/>
          </a:p>
          <a:p>
            <a:pPr marL="0" lvl="0" indent="0" algn="l" rtl="0">
              <a:spcBef>
                <a:spcPts val="0"/>
              </a:spcBef>
              <a:spcAft>
                <a:spcPts val="0"/>
              </a:spcAft>
              <a:buNone/>
            </a:pPr>
            <a:r>
              <a:rPr lang="en-US"/>
              <a:t>7.1.2 – DHCPv4 Operation</a:t>
            </a:r>
            <a:endParaRPr/>
          </a:p>
        </p:txBody>
      </p:sp>
      <p:sp>
        <p:nvSpPr>
          <p:cNvPr id="264" name="Google Shape;26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7.1 – DHCPv4 Concepts</a:t>
            </a:r>
            <a:endParaRPr/>
          </a:p>
          <a:p>
            <a:pPr marL="0" lvl="0" indent="0" algn="l" rtl="0">
              <a:spcBef>
                <a:spcPts val="0"/>
              </a:spcBef>
              <a:spcAft>
                <a:spcPts val="0"/>
              </a:spcAft>
              <a:buNone/>
            </a:pPr>
            <a:r>
              <a:rPr lang="en-US"/>
              <a:t>7.1.3 – Steps to Obtain a Lease</a:t>
            </a:r>
            <a:endParaRPr/>
          </a:p>
        </p:txBody>
      </p:sp>
      <p:sp>
        <p:nvSpPr>
          <p:cNvPr id="271" name="Google Shape;27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7.1 – DHCPv4 Concepts</a:t>
            </a:r>
            <a:endParaRPr/>
          </a:p>
          <a:p>
            <a:pPr marL="0" lvl="0" indent="0" algn="l" rtl="0">
              <a:spcBef>
                <a:spcPts val="0"/>
              </a:spcBef>
              <a:spcAft>
                <a:spcPts val="0"/>
              </a:spcAft>
              <a:buNone/>
            </a:pPr>
            <a:r>
              <a:rPr lang="en-US"/>
              <a:t>7.1.4 – Steps to Renew a Lease</a:t>
            </a:r>
            <a:endParaRPr/>
          </a:p>
          <a:p>
            <a:pPr marL="0" lvl="0" indent="0" algn="l" rtl="0">
              <a:spcBef>
                <a:spcPts val="0"/>
              </a:spcBef>
              <a:spcAft>
                <a:spcPts val="0"/>
              </a:spcAft>
              <a:buNone/>
            </a:pPr>
            <a:r>
              <a:rPr lang="en-US"/>
              <a:t>7.1.5 – Check Your Understanding – DHCPv4 Concepts</a:t>
            </a:r>
            <a:endParaRPr/>
          </a:p>
        </p:txBody>
      </p:sp>
      <p:sp>
        <p:nvSpPr>
          <p:cNvPr id="279" name="Google Shape;279;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endParaRPr/>
          </a:p>
        </p:txBody>
      </p:sp>
      <p:sp>
        <p:nvSpPr>
          <p:cNvPr id="288" name="Google Shape;288;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7.2.1 – Cisco IOS DHCPv4 Server</a:t>
            </a:r>
            <a:endParaRPr/>
          </a:p>
        </p:txBody>
      </p:sp>
      <p:sp>
        <p:nvSpPr>
          <p:cNvPr id="294" name="Google Shape;294;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7.2.2 – </a:t>
            </a:r>
            <a:r>
              <a:rPr lang="en-US" sz="1200"/>
              <a:t>Steps to Configure a Cisco IOS DHCPv4 Server</a:t>
            </a:r>
            <a:endParaRPr/>
          </a:p>
        </p:txBody>
      </p:sp>
      <p:sp>
        <p:nvSpPr>
          <p:cNvPr id="302" name="Google Shape;302;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7.2.2 – </a:t>
            </a:r>
            <a:r>
              <a:rPr lang="en-US" sz="1200"/>
              <a:t>Steps to Configure a Cisco IOS DHCPv4 Server (Cont.)</a:t>
            </a:r>
            <a:endParaRPr/>
          </a:p>
        </p:txBody>
      </p:sp>
      <p:sp>
        <p:nvSpPr>
          <p:cNvPr id="309" name="Google Shape;309;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7.2.3 – Configuration Example</a:t>
            </a:r>
            <a:endParaRPr/>
          </a:p>
        </p:txBody>
      </p:sp>
      <p:sp>
        <p:nvSpPr>
          <p:cNvPr id="317" name="Google Shape;317;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7.2.4 – DHCPv4 Verification</a:t>
            </a:r>
            <a:endParaRPr/>
          </a:p>
        </p:txBody>
      </p:sp>
      <p:sp>
        <p:nvSpPr>
          <p:cNvPr id="325" name="Google Shape;325;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7.2.5 – Verify DHCPv4 is Operational</a:t>
            </a:r>
            <a:endParaRPr/>
          </a:p>
        </p:txBody>
      </p:sp>
      <p:sp>
        <p:nvSpPr>
          <p:cNvPr id="333" name="Google Shape;333;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7.2.5 – Verify DHCPv4 is Operational (Cont.)</a:t>
            </a:r>
            <a:endParaRPr/>
          </a:p>
        </p:txBody>
      </p:sp>
      <p:sp>
        <p:nvSpPr>
          <p:cNvPr id="341" name="Google Shape;341;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7.2.5 – Verify DHCPv4 is Operational (Cont.)</a:t>
            </a:r>
            <a:endParaRPr/>
          </a:p>
        </p:txBody>
      </p:sp>
      <p:sp>
        <p:nvSpPr>
          <p:cNvPr id="349" name="Google Shape;349;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7.2.5 – Verify DHCPv4 is Operational (Cont.)</a:t>
            </a:r>
            <a:endParaRPr/>
          </a:p>
          <a:p>
            <a:pPr marL="0" marR="0" lvl="0" indent="0" algn="l" rtl="0">
              <a:lnSpc>
                <a:spcPct val="100000"/>
              </a:lnSpc>
              <a:spcBef>
                <a:spcPts val="0"/>
              </a:spcBef>
              <a:spcAft>
                <a:spcPts val="0"/>
              </a:spcAft>
              <a:buClr>
                <a:schemeClr val="dk1"/>
              </a:buClr>
              <a:buSzPts val="1200"/>
              <a:buFont typeface="Calibri"/>
              <a:buNone/>
            </a:pPr>
            <a:r>
              <a:rPr lang="en-US"/>
              <a:t>7.2.6 – Syntax Checker – Configure DHCPv4</a:t>
            </a:r>
            <a:endParaRPr/>
          </a:p>
          <a:p>
            <a:pPr marL="0" lvl="0" indent="0" algn="l" rtl="0">
              <a:spcBef>
                <a:spcPts val="0"/>
              </a:spcBef>
              <a:spcAft>
                <a:spcPts val="0"/>
              </a:spcAft>
              <a:buNone/>
            </a:pPr>
            <a:endParaRPr/>
          </a:p>
        </p:txBody>
      </p:sp>
      <p:sp>
        <p:nvSpPr>
          <p:cNvPr id="357" name="Google Shape;357;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7.2.7 – Disable the Cisco IOS DHCPv4 Server</a:t>
            </a:r>
            <a:endParaRPr/>
          </a:p>
          <a:p>
            <a:pPr marL="0" lvl="0" indent="0" algn="l" rtl="0">
              <a:spcBef>
                <a:spcPts val="0"/>
              </a:spcBef>
              <a:spcAft>
                <a:spcPts val="0"/>
              </a:spcAft>
              <a:buNone/>
            </a:pPr>
            <a:endParaRPr/>
          </a:p>
        </p:txBody>
      </p:sp>
      <p:sp>
        <p:nvSpPr>
          <p:cNvPr id="365" name="Google Shape;36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7.2.8 – DHCPv4 Relay</a:t>
            </a:r>
            <a:endParaRPr/>
          </a:p>
        </p:txBody>
      </p:sp>
      <p:sp>
        <p:nvSpPr>
          <p:cNvPr id="373" name="Google Shape;373;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7.2.8 – DHCPv4 Relay (Cont.)</a:t>
            </a:r>
            <a:endParaRPr/>
          </a:p>
        </p:txBody>
      </p:sp>
      <p:sp>
        <p:nvSpPr>
          <p:cNvPr id="382" name="Google Shape;382;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7.2.9 – </a:t>
            </a:r>
            <a:r>
              <a:rPr lang="en-US" sz="1200"/>
              <a:t>Other Service Broadcasts Relayed</a:t>
            </a:r>
            <a:endParaRPr/>
          </a:p>
        </p:txBody>
      </p:sp>
      <p:sp>
        <p:nvSpPr>
          <p:cNvPr id="393" name="Google Shape;393;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7.2 – Configure a Cisco IOS DHCPv4 Server</a:t>
            </a:r>
            <a:endParaRPr/>
          </a:p>
          <a:p>
            <a:pPr marL="0" lvl="0" indent="0" algn="l" rtl="0">
              <a:spcBef>
                <a:spcPts val="0"/>
              </a:spcBef>
              <a:spcAft>
                <a:spcPts val="0"/>
              </a:spcAft>
              <a:buNone/>
            </a:pPr>
            <a:r>
              <a:rPr lang="en-US"/>
              <a:t>7.2.10 – Packet Tracer – Configure DHCPv4</a:t>
            </a:r>
            <a:endParaRPr/>
          </a:p>
        </p:txBody>
      </p:sp>
      <p:sp>
        <p:nvSpPr>
          <p:cNvPr id="400" name="Google Shape;400;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DHCPv4</a:t>
            </a:r>
            <a:endParaRPr/>
          </a:p>
          <a:p>
            <a:pPr marL="0" lvl="0" indent="0" algn="l" rtl="0">
              <a:spcBef>
                <a:spcPts val="0"/>
              </a:spcBef>
              <a:spcAft>
                <a:spcPts val="0"/>
              </a:spcAft>
              <a:buNone/>
            </a:pPr>
            <a:r>
              <a:rPr lang="en-US"/>
              <a:t>7.3 – Configure a DHCPv4 Client</a:t>
            </a:r>
            <a:endParaRPr/>
          </a:p>
          <a:p>
            <a:pPr marL="0" lvl="0" indent="0" algn="l" rtl="0">
              <a:spcBef>
                <a:spcPts val="0"/>
              </a:spcBef>
              <a:spcAft>
                <a:spcPts val="0"/>
              </a:spcAft>
              <a:buNone/>
            </a:pPr>
            <a:endParaRPr/>
          </a:p>
        </p:txBody>
      </p:sp>
      <p:sp>
        <p:nvSpPr>
          <p:cNvPr id="407" name="Google Shape;407;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7.3 – Configure a DHCPv4 Client</a:t>
            </a:r>
            <a:endParaRPr/>
          </a:p>
          <a:p>
            <a:pPr marL="0" lvl="0" indent="0" algn="l" rtl="0">
              <a:spcBef>
                <a:spcPts val="0"/>
              </a:spcBef>
              <a:spcAft>
                <a:spcPts val="0"/>
              </a:spcAft>
              <a:buNone/>
            </a:pPr>
            <a:r>
              <a:rPr lang="en-US"/>
              <a:t>7.3.1  - Cisco Router as a DHCPv4 Client</a:t>
            </a:r>
            <a:endParaRPr/>
          </a:p>
        </p:txBody>
      </p:sp>
      <p:sp>
        <p:nvSpPr>
          <p:cNvPr id="413" name="Google Shape;413;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7.3 – Configure a DHCPv4 Client</a:t>
            </a:r>
            <a:endParaRPr/>
          </a:p>
          <a:p>
            <a:pPr marL="0" lvl="0" indent="0" algn="l" rtl="0">
              <a:spcBef>
                <a:spcPts val="0"/>
              </a:spcBef>
              <a:spcAft>
                <a:spcPts val="0"/>
              </a:spcAft>
              <a:buNone/>
            </a:pPr>
            <a:r>
              <a:rPr lang="en-US"/>
              <a:t>7.3.2 – Configuration Example</a:t>
            </a:r>
            <a:endParaRPr/>
          </a:p>
        </p:txBody>
      </p:sp>
      <p:sp>
        <p:nvSpPr>
          <p:cNvPr id="423" name="Google Shape;423;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 DHCPv4</a:t>
            </a:r>
            <a:endParaRPr/>
          </a:p>
          <a:p>
            <a:pPr marL="0" lvl="0" indent="0" algn="l" rtl="0">
              <a:spcBef>
                <a:spcPts val="0"/>
              </a:spcBef>
              <a:spcAft>
                <a:spcPts val="0"/>
              </a:spcAft>
              <a:buNone/>
            </a:pPr>
            <a:r>
              <a:rPr lang="en-US"/>
              <a:t>7.3 – Configure a DHCPv4 Client</a:t>
            </a:r>
            <a:endParaRPr/>
          </a:p>
          <a:p>
            <a:pPr marL="0" lvl="0" indent="0" algn="l" rtl="0">
              <a:spcBef>
                <a:spcPts val="0"/>
              </a:spcBef>
              <a:spcAft>
                <a:spcPts val="0"/>
              </a:spcAft>
              <a:buNone/>
            </a:pPr>
            <a:r>
              <a:rPr lang="en-US"/>
              <a:t>7.3.3 – </a:t>
            </a:r>
            <a:r>
              <a:rPr lang="en-US" sz="1200"/>
              <a:t>Home Router as a DHCPv4 Client</a:t>
            </a:r>
            <a:endParaRPr/>
          </a:p>
          <a:p>
            <a:pPr marL="0" lvl="0" indent="0" algn="l" rtl="0">
              <a:spcBef>
                <a:spcPts val="0"/>
              </a:spcBef>
              <a:spcAft>
                <a:spcPts val="0"/>
              </a:spcAft>
              <a:buNone/>
            </a:pPr>
            <a:r>
              <a:rPr lang="en-US" sz="1200"/>
              <a:t>7.3.4 – Syntax Checker – Configure a Cisco IOS Router as DHCP Client</a:t>
            </a:r>
            <a:endParaRPr/>
          </a:p>
        </p:txBody>
      </p:sp>
      <p:sp>
        <p:nvSpPr>
          <p:cNvPr id="433" name="Google Shape;433;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7- DHCPv4</a:t>
            </a:r>
            <a:endParaRPr/>
          </a:p>
          <a:p>
            <a:pPr marL="0" lvl="0" indent="0" algn="l" rtl="0">
              <a:spcBef>
                <a:spcPts val="0"/>
              </a:spcBef>
              <a:spcAft>
                <a:spcPts val="0"/>
              </a:spcAft>
              <a:buNone/>
            </a:pPr>
            <a:r>
              <a:rPr lang="en-US"/>
              <a:t>7.4 – Module Practice and Quiz</a:t>
            </a:r>
            <a:endParaRPr/>
          </a:p>
          <a:p>
            <a:pPr marL="0" lvl="0" indent="0" algn="l" rtl="0">
              <a:spcBef>
                <a:spcPts val="0"/>
              </a:spcBef>
              <a:spcAft>
                <a:spcPts val="0"/>
              </a:spcAft>
              <a:buClr>
                <a:schemeClr val="dk1"/>
              </a:buClr>
              <a:buSzPts val="1200"/>
              <a:buFont typeface="Calibri"/>
              <a:buNone/>
            </a:pPr>
            <a:endParaRPr/>
          </a:p>
        </p:txBody>
      </p:sp>
      <p:sp>
        <p:nvSpPr>
          <p:cNvPr id="441" name="Google Shape;441;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800">
                <a:solidFill>
                  <a:srgbClr val="000000"/>
                </a:solidFill>
                <a:latin typeface="Arial"/>
                <a:ea typeface="Arial"/>
                <a:cs typeface="Arial"/>
                <a:sym typeface="Arial"/>
              </a:rPr>
              <a:t>28</a:t>
            </a:fld>
            <a:endParaRPr sz="800">
              <a:solidFill>
                <a:srgbClr val="000000"/>
              </a:solidFill>
              <a:latin typeface="Arial"/>
              <a:ea typeface="Arial"/>
              <a:cs typeface="Arial"/>
              <a:sym typeface="Arial"/>
            </a:endParaRPr>
          </a:p>
        </p:txBody>
      </p:sp>
      <p:sp>
        <p:nvSpPr>
          <p:cNvPr id="446" name="Google Shape;44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7" name="Google Shape;447;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7 – DHCPv4</a:t>
            </a:r>
            <a:endParaRPr/>
          </a:p>
          <a:p>
            <a:pPr marL="0" marR="0" lvl="0" indent="0" algn="l" rtl="0">
              <a:lnSpc>
                <a:spcPct val="100000"/>
              </a:lnSpc>
              <a:spcBef>
                <a:spcPts val="0"/>
              </a:spcBef>
              <a:spcAft>
                <a:spcPts val="0"/>
              </a:spcAft>
              <a:buClr>
                <a:schemeClr val="dk1"/>
              </a:buClr>
              <a:buSzPts val="1200"/>
              <a:buFont typeface="Calibri"/>
              <a:buNone/>
            </a:pPr>
            <a:r>
              <a:rPr lang="en-US" sz="1200"/>
              <a:t>7.4 – Module Practice and Quiz</a:t>
            </a:r>
            <a:endParaRPr/>
          </a:p>
          <a:p>
            <a:pPr marL="0" marR="0" lvl="0" indent="0" algn="l" rtl="0">
              <a:lnSpc>
                <a:spcPct val="100000"/>
              </a:lnSpc>
              <a:spcBef>
                <a:spcPts val="0"/>
              </a:spcBef>
              <a:spcAft>
                <a:spcPts val="0"/>
              </a:spcAft>
              <a:buClr>
                <a:schemeClr val="dk1"/>
              </a:buClr>
              <a:buSzPts val="1200"/>
              <a:buFont typeface="Calibri"/>
              <a:buNone/>
            </a:pPr>
            <a:r>
              <a:rPr lang="en-US" sz="1200"/>
              <a:t>7.4.1 – Packet Tracer – Implement DHCPv4</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800">
                <a:solidFill>
                  <a:srgbClr val="000000"/>
                </a:solidFill>
                <a:latin typeface="Arial"/>
                <a:ea typeface="Arial"/>
                <a:cs typeface="Arial"/>
                <a:sym typeface="Arial"/>
              </a:rPr>
              <a:t>29</a:t>
            </a:fld>
            <a:endParaRPr sz="800">
              <a:solidFill>
                <a:srgbClr val="000000"/>
              </a:solidFill>
              <a:latin typeface="Arial"/>
              <a:ea typeface="Arial"/>
              <a:cs typeface="Arial"/>
              <a:sym typeface="Arial"/>
            </a:endParaRPr>
          </a:p>
        </p:txBody>
      </p:sp>
      <p:sp>
        <p:nvSpPr>
          <p:cNvPr id="453" name="Google Shape;45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4" name="Google Shape;454;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7 – DHCPv4</a:t>
            </a:r>
            <a:endParaRPr/>
          </a:p>
          <a:p>
            <a:pPr marL="0" marR="0" lvl="0" indent="0" algn="l" rtl="0">
              <a:lnSpc>
                <a:spcPct val="100000"/>
              </a:lnSpc>
              <a:spcBef>
                <a:spcPts val="0"/>
              </a:spcBef>
              <a:spcAft>
                <a:spcPts val="0"/>
              </a:spcAft>
              <a:buClr>
                <a:schemeClr val="dk1"/>
              </a:buClr>
              <a:buSzPts val="1200"/>
              <a:buFont typeface="Calibri"/>
              <a:buNone/>
            </a:pPr>
            <a:r>
              <a:rPr lang="en-US" sz="1200"/>
              <a:t>7.4 – Module Practice and Quiz</a:t>
            </a:r>
            <a:endParaRPr/>
          </a:p>
          <a:p>
            <a:pPr marL="0" marR="0" lvl="0" indent="0" algn="l" rtl="0">
              <a:lnSpc>
                <a:spcPct val="100000"/>
              </a:lnSpc>
              <a:spcBef>
                <a:spcPts val="0"/>
              </a:spcBef>
              <a:spcAft>
                <a:spcPts val="0"/>
              </a:spcAft>
              <a:buClr>
                <a:schemeClr val="dk1"/>
              </a:buClr>
              <a:buSzPts val="1200"/>
              <a:buFont typeface="Calibri"/>
              <a:buNone/>
            </a:pPr>
            <a:r>
              <a:rPr lang="en-US" sz="1200"/>
              <a:t>7.4.2 – Lab – Implement DHCPv4</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800">
                <a:solidFill>
                  <a:srgbClr val="000000"/>
                </a:solidFill>
                <a:latin typeface="Arial"/>
                <a:ea typeface="Arial"/>
                <a:cs typeface="Arial"/>
                <a:sym typeface="Arial"/>
              </a:rPr>
              <a:t>30</a:t>
            </a:fld>
            <a:endParaRPr sz="800">
              <a:solidFill>
                <a:srgbClr val="000000"/>
              </a:solidFill>
              <a:latin typeface="Arial"/>
              <a:ea typeface="Arial"/>
              <a:cs typeface="Arial"/>
              <a:sym typeface="Arial"/>
            </a:endParaRPr>
          </a:p>
        </p:txBody>
      </p:sp>
      <p:sp>
        <p:nvSpPr>
          <p:cNvPr id="460" name="Google Shape;46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1" name="Google Shape;461;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7 – DHCPv4</a:t>
            </a:r>
            <a:endParaRPr/>
          </a:p>
          <a:p>
            <a:pPr marL="0" marR="0" lvl="0" indent="0" algn="l" rtl="0">
              <a:lnSpc>
                <a:spcPct val="100000"/>
              </a:lnSpc>
              <a:spcBef>
                <a:spcPts val="0"/>
              </a:spcBef>
              <a:spcAft>
                <a:spcPts val="0"/>
              </a:spcAft>
              <a:buClr>
                <a:schemeClr val="dk1"/>
              </a:buClr>
              <a:buSzPts val="1200"/>
              <a:buFont typeface="Calibri"/>
              <a:buNone/>
            </a:pPr>
            <a:r>
              <a:rPr lang="en-US" sz="1200"/>
              <a:t>7.4 – Module Practice and Quiz</a:t>
            </a:r>
            <a:endParaRPr/>
          </a:p>
          <a:p>
            <a:pPr marL="0" marR="0" lvl="0" indent="0" algn="l" rtl="0">
              <a:lnSpc>
                <a:spcPct val="100000"/>
              </a:lnSpc>
              <a:spcBef>
                <a:spcPts val="0"/>
              </a:spcBef>
              <a:spcAft>
                <a:spcPts val="0"/>
              </a:spcAft>
              <a:buClr>
                <a:schemeClr val="dk1"/>
              </a:buClr>
              <a:buSzPts val="1200"/>
              <a:buFont typeface="Calibri"/>
              <a:buNone/>
            </a:pPr>
            <a:r>
              <a:rPr lang="en-US" sz="1200"/>
              <a:t>7.4.3 – What Did I Learn In This Module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800">
                <a:solidFill>
                  <a:srgbClr val="000000"/>
                </a:solidFill>
                <a:latin typeface="Arial"/>
                <a:ea typeface="Arial"/>
                <a:cs typeface="Arial"/>
                <a:sym typeface="Arial"/>
              </a:rPr>
              <a:t>31</a:t>
            </a:fld>
            <a:endParaRPr sz="800">
              <a:solidFill>
                <a:srgbClr val="000000"/>
              </a:solidFill>
              <a:latin typeface="Arial"/>
              <a:ea typeface="Arial"/>
              <a:cs typeface="Arial"/>
              <a:sym typeface="Arial"/>
            </a:endParaRPr>
          </a:p>
        </p:txBody>
      </p:sp>
      <p:sp>
        <p:nvSpPr>
          <p:cNvPr id="467" name="Google Shape;467;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8" name="Google Shape;468;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7 – DHCPv4</a:t>
            </a:r>
            <a:endParaRPr/>
          </a:p>
          <a:p>
            <a:pPr marL="0" marR="0" lvl="0" indent="0" algn="l" rtl="0">
              <a:lnSpc>
                <a:spcPct val="100000"/>
              </a:lnSpc>
              <a:spcBef>
                <a:spcPts val="0"/>
              </a:spcBef>
              <a:spcAft>
                <a:spcPts val="0"/>
              </a:spcAft>
              <a:buClr>
                <a:schemeClr val="dk1"/>
              </a:buClr>
              <a:buSzPts val="1200"/>
              <a:buFont typeface="Calibri"/>
              <a:buNone/>
            </a:pPr>
            <a:r>
              <a:rPr lang="en-US" sz="1200"/>
              <a:t>7.4 – Module Practice and Quiz</a:t>
            </a:r>
            <a:endParaRPr/>
          </a:p>
          <a:p>
            <a:pPr marL="0" marR="0" lvl="0" indent="0" algn="l" rtl="0">
              <a:lnSpc>
                <a:spcPct val="100000"/>
              </a:lnSpc>
              <a:spcBef>
                <a:spcPts val="0"/>
              </a:spcBef>
              <a:spcAft>
                <a:spcPts val="0"/>
              </a:spcAft>
              <a:buClr>
                <a:schemeClr val="dk1"/>
              </a:buClr>
              <a:buSzPts val="1200"/>
              <a:buFont typeface="Calibri"/>
              <a:buNone/>
            </a:pPr>
            <a:r>
              <a:rPr lang="en-US" sz="1200"/>
              <a:t>7.4.3 – What Did I Learn In This Module (Cont.)</a:t>
            </a:r>
            <a:endParaRPr/>
          </a:p>
          <a:p>
            <a:pPr marL="0" marR="0" lvl="0" indent="0" algn="l" rtl="0">
              <a:lnSpc>
                <a:spcPct val="100000"/>
              </a:lnSpc>
              <a:spcBef>
                <a:spcPts val="0"/>
              </a:spcBef>
              <a:spcAft>
                <a:spcPts val="0"/>
              </a:spcAft>
              <a:buClr>
                <a:schemeClr val="dk1"/>
              </a:buClr>
              <a:buSzPts val="1200"/>
              <a:buFont typeface="Calibri"/>
              <a:buNone/>
            </a:pPr>
            <a:r>
              <a:rPr lang="en-US" sz="1200"/>
              <a:t>7.4.4 – Module Quiz – DHCPv4</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800">
                <a:solidFill>
                  <a:srgbClr val="000000"/>
                </a:solidFill>
                <a:latin typeface="Arial"/>
                <a:ea typeface="Arial"/>
                <a:cs typeface="Arial"/>
                <a:sym typeface="Arial"/>
              </a:rPr>
              <a:t>32</a:t>
            </a:fld>
            <a:endParaRPr sz="800">
              <a:solidFill>
                <a:srgbClr val="000000"/>
              </a:solidFill>
              <a:latin typeface="Arial"/>
              <a:ea typeface="Arial"/>
              <a:cs typeface="Arial"/>
              <a:sym typeface="Arial"/>
            </a:endParaRPr>
          </a:p>
        </p:txBody>
      </p:sp>
      <p:sp>
        <p:nvSpPr>
          <p:cNvPr id="474" name="Google Shape;47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5" name="Google Shape;475;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3_Title Slide-animated gradient">
  <p:cSld name="3_Title Slide-animated gradient">
    <p:bg>
      <p:bgPr>
        <a:solidFill>
          <a:schemeClr val="accent5"/>
        </a:solidFill>
        <a:effectLst/>
      </p:bgPr>
    </p:bg>
    <p:spTree>
      <p:nvGrpSpPr>
        <p:cNvPr id="1" name="Shape 28"/>
        <p:cNvGrpSpPr/>
        <p:nvPr/>
      </p:nvGrpSpPr>
      <p:grpSpPr>
        <a:xfrm>
          <a:off x="0" y="0"/>
          <a:ext cx="0" cy="0"/>
          <a:chOff x="0" y="0"/>
          <a:chExt cx="0" cy="0"/>
        </a:xfrm>
      </p:grpSpPr>
      <p:pic>
        <p:nvPicPr>
          <p:cNvPr id="29" name="Google Shape;29;p35"/>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0" name="Google Shape;30;p35"/>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31" name="Google Shape;31;p35"/>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2" name="Google Shape;32;p35"/>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3" name="Google Shape;33;p35"/>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4" name="Google Shape;34;p35"/>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grpSp>
        <p:nvGrpSpPr>
          <p:cNvPr id="35" name="Google Shape;35;p35"/>
          <p:cNvGrpSpPr/>
          <p:nvPr/>
        </p:nvGrpSpPr>
        <p:grpSpPr>
          <a:xfrm>
            <a:off x="492125" y="395288"/>
            <a:ext cx="796924" cy="423863"/>
            <a:chOff x="310" y="249"/>
            <a:chExt cx="502" cy="267"/>
          </a:xfrm>
        </p:grpSpPr>
        <p:sp>
          <p:nvSpPr>
            <p:cNvPr id="36" name="Google Shape;36;p35"/>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35"/>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35"/>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35"/>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35"/>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35"/>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35"/>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 name="Google Shape;43;p35"/>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 name="Google Shape;44;p35"/>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 name="Google Shape;45;p35"/>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 name="Google Shape;46;p35"/>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35"/>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35"/>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35"/>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0"/>
        <p:cNvGrpSpPr/>
        <p:nvPr/>
      </p:nvGrpSpPr>
      <p:grpSpPr>
        <a:xfrm>
          <a:off x="0" y="0"/>
          <a:ext cx="0" cy="0"/>
          <a:chOff x="0" y="0"/>
          <a:chExt cx="0" cy="0"/>
        </a:xfrm>
      </p:grpSpPr>
      <p:sp>
        <p:nvSpPr>
          <p:cNvPr id="51" name="Google Shape;51;p36"/>
          <p:cNvSpPr txBox="1">
            <a:spLocks noGrp="1"/>
          </p:cNvSpPr>
          <p:nvPr>
            <p:ph type="sldNum" idx="12"/>
          </p:nvPr>
        </p:nvSpPr>
        <p:spPr>
          <a:xfrm>
            <a:off x="8473441" y="4954263"/>
            <a:ext cx="676910" cy="189238"/>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525">
                <a:solidFill>
                  <a:srgbClr val="595959"/>
                </a:solidFill>
                <a:latin typeface="Arial"/>
                <a:ea typeface="Arial"/>
                <a:cs typeface="Arial"/>
                <a:sym typeface="Arial"/>
              </a:defRPr>
            </a:lvl1pPr>
            <a:lvl2pPr marL="0" marR="0" lvl="1" indent="0" algn="r" rtl="0">
              <a:spcBef>
                <a:spcPts val="0"/>
              </a:spcBef>
              <a:spcAft>
                <a:spcPts val="0"/>
              </a:spcAft>
              <a:buNone/>
              <a:defRPr sz="525">
                <a:solidFill>
                  <a:srgbClr val="595959"/>
                </a:solidFill>
                <a:latin typeface="Arial"/>
                <a:ea typeface="Arial"/>
                <a:cs typeface="Arial"/>
                <a:sym typeface="Arial"/>
              </a:defRPr>
            </a:lvl2pPr>
            <a:lvl3pPr marL="0" marR="0" lvl="2" indent="0" algn="r" rtl="0">
              <a:spcBef>
                <a:spcPts val="0"/>
              </a:spcBef>
              <a:spcAft>
                <a:spcPts val="0"/>
              </a:spcAft>
              <a:buNone/>
              <a:defRPr sz="525">
                <a:solidFill>
                  <a:srgbClr val="595959"/>
                </a:solidFill>
                <a:latin typeface="Arial"/>
                <a:ea typeface="Arial"/>
                <a:cs typeface="Arial"/>
                <a:sym typeface="Arial"/>
              </a:defRPr>
            </a:lvl3pPr>
            <a:lvl4pPr marL="0" marR="0" lvl="3" indent="0" algn="r" rtl="0">
              <a:spcBef>
                <a:spcPts val="0"/>
              </a:spcBef>
              <a:spcAft>
                <a:spcPts val="0"/>
              </a:spcAft>
              <a:buNone/>
              <a:defRPr sz="525">
                <a:solidFill>
                  <a:srgbClr val="595959"/>
                </a:solidFill>
                <a:latin typeface="Arial"/>
                <a:ea typeface="Arial"/>
                <a:cs typeface="Arial"/>
                <a:sym typeface="Arial"/>
              </a:defRPr>
            </a:lvl4pPr>
            <a:lvl5pPr marL="0" marR="0" lvl="4" indent="0" algn="r" rtl="0">
              <a:spcBef>
                <a:spcPts val="0"/>
              </a:spcBef>
              <a:spcAft>
                <a:spcPts val="0"/>
              </a:spcAft>
              <a:buNone/>
              <a:defRPr sz="525">
                <a:solidFill>
                  <a:srgbClr val="595959"/>
                </a:solidFill>
                <a:latin typeface="Arial"/>
                <a:ea typeface="Arial"/>
                <a:cs typeface="Arial"/>
                <a:sym typeface="Arial"/>
              </a:defRPr>
            </a:lvl5pPr>
            <a:lvl6pPr marL="0" marR="0" lvl="5" indent="0" algn="r" rtl="0">
              <a:spcBef>
                <a:spcPts val="0"/>
              </a:spcBef>
              <a:spcAft>
                <a:spcPts val="0"/>
              </a:spcAft>
              <a:buNone/>
              <a:defRPr sz="525">
                <a:solidFill>
                  <a:srgbClr val="595959"/>
                </a:solidFill>
                <a:latin typeface="Arial"/>
                <a:ea typeface="Arial"/>
                <a:cs typeface="Arial"/>
                <a:sym typeface="Arial"/>
              </a:defRPr>
            </a:lvl6pPr>
            <a:lvl7pPr marL="0" marR="0" lvl="6" indent="0" algn="r" rtl="0">
              <a:spcBef>
                <a:spcPts val="0"/>
              </a:spcBef>
              <a:spcAft>
                <a:spcPts val="0"/>
              </a:spcAft>
              <a:buNone/>
              <a:defRPr sz="525">
                <a:solidFill>
                  <a:srgbClr val="595959"/>
                </a:solidFill>
                <a:latin typeface="Arial"/>
                <a:ea typeface="Arial"/>
                <a:cs typeface="Arial"/>
                <a:sym typeface="Arial"/>
              </a:defRPr>
            </a:lvl7pPr>
            <a:lvl8pPr marL="0" marR="0" lvl="7" indent="0" algn="r" rtl="0">
              <a:spcBef>
                <a:spcPts val="0"/>
              </a:spcBef>
              <a:spcAft>
                <a:spcPts val="0"/>
              </a:spcAft>
              <a:buNone/>
              <a:defRPr sz="525">
                <a:solidFill>
                  <a:srgbClr val="595959"/>
                </a:solidFill>
                <a:latin typeface="Arial"/>
                <a:ea typeface="Arial"/>
                <a:cs typeface="Arial"/>
                <a:sym typeface="Arial"/>
              </a:defRPr>
            </a:lvl8pPr>
            <a:lvl9pPr marL="0" marR="0" lvl="8" indent="0" algn="r" rtl="0">
              <a:spcBef>
                <a:spcPts val="0"/>
              </a:spcBef>
              <a:spcAft>
                <a:spcPts val="0"/>
              </a:spcAft>
              <a:buNone/>
              <a:defRPr sz="525">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36"/>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lvl1pPr marL="457200" marR="0" lvl="0" indent="-314325" algn="l" rtl="0">
              <a:lnSpc>
                <a:spcPct val="100000"/>
              </a:lnSpc>
              <a:spcBef>
                <a:spcPts val="600"/>
              </a:spcBef>
              <a:spcAft>
                <a:spcPts val="0"/>
              </a:spcAft>
              <a:buClr>
                <a:schemeClr val="dk2"/>
              </a:buClr>
              <a:buSzPts val="1350"/>
              <a:buFont typeface="Noto Sans Symbols"/>
              <a:buChar char="▪"/>
              <a:defRPr sz="1500" b="0" i="0" u="none" strike="noStrike" cap="none">
                <a:solidFill>
                  <a:srgbClr val="000000"/>
                </a:solidFill>
                <a:latin typeface="Arial"/>
                <a:ea typeface="Arial"/>
                <a:cs typeface="Arial"/>
                <a:sym typeface="Arial"/>
              </a:defRPr>
            </a:lvl1pPr>
            <a:lvl2pPr marL="914400" marR="0" lvl="1" indent="-317500" algn="l" rtl="0">
              <a:lnSpc>
                <a:spcPct val="100000"/>
              </a:lnSpc>
              <a:spcBef>
                <a:spcPts val="6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04800" algn="l" rtl="0">
              <a:lnSpc>
                <a:spcPct val="100000"/>
              </a:lnSpc>
              <a:spcBef>
                <a:spcPts val="3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298450" algn="l" rtl="0">
              <a:lnSpc>
                <a:spcPct val="10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3" name="Google Shape;53;p36"/>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3_Segue">
  <p:cSld name="3_Segue">
    <p:bg>
      <p:bgPr>
        <a:solidFill>
          <a:schemeClr val="lt1"/>
        </a:solidFill>
        <a:effectLst/>
      </p:bgPr>
    </p:bg>
    <p:spTree>
      <p:nvGrpSpPr>
        <p:cNvPr id="1" name="Shape 54"/>
        <p:cNvGrpSpPr/>
        <p:nvPr/>
      </p:nvGrpSpPr>
      <p:grpSpPr>
        <a:xfrm>
          <a:off x="0" y="0"/>
          <a:ext cx="0" cy="0"/>
          <a:chOff x="0" y="0"/>
          <a:chExt cx="0" cy="0"/>
        </a:xfrm>
      </p:grpSpPr>
      <p:sp>
        <p:nvSpPr>
          <p:cNvPr id="55" name="Google Shape;55;p37"/>
          <p:cNvSpPr/>
          <p:nvPr/>
        </p:nvSpPr>
        <p:spPr>
          <a:xfrm>
            <a:off x="0" y="0"/>
            <a:ext cx="9144000" cy="5143499"/>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6" name="Google Shape;56;p37"/>
          <p:cNvSpPr txBox="1">
            <a:spLocks noGrp="1"/>
          </p:cNvSpPr>
          <p:nvPr>
            <p:ph type="ctrTitle"/>
          </p:nvPr>
        </p:nvSpPr>
        <p:spPr>
          <a:xfrm>
            <a:off x="416425" y="915409"/>
            <a:ext cx="7598042" cy="2569946"/>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5"/>
              </a:buClr>
              <a:buSzPts val="4600"/>
              <a:buFont typeface="Arial"/>
              <a:buNone/>
              <a:defRPr sz="4600" b="0" i="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57" name="Google Shape;57;p37"/>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8" name="Google Shape;58;p37"/>
          <p:cNvSpPr/>
          <p:nvPr/>
        </p:nvSpPr>
        <p:spPr>
          <a:xfrm>
            <a:off x="5867508" y="4741653"/>
            <a:ext cx="2658018" cy="154518"/>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59" name="Google Shape;59;p37"/>
          <p:cNvGrpSpPr/>
          <p:nvPr/>
        </p:nvGrpSpPr>
        <p:grpSpPr>
          <a:xfrm>
            <a:off x="508039" y="4715197"/>
            <a:ext cx="340257" cy="180974"/>
            <a:chOff x="310" y="249"/>
            <a:chExt cx="502" cy="267"/>
          </a:xfrm>
        </p:grpSpPr>
        <p:sp>
          <p:nvSpPr>
            <p:cNvPr id="60" name="Google Shape;60;p37"/>
            <p:cNvSpPr/>
            <p:nvPr/>
          </p:nvSpPr>
          <p:spPr>
            <a:xfrm>
              <a:off x="452" y="426"/>
              <a:ext cx="22" cy="88"/>
            </a:xfrm>
            <a:prstGeom prst="rect">
              <a:avLst/>
            </a:pr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 name="Google Shape;61;p37"/>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 name="Google Shape;62;p37"/>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 name="Google Shape;63;p37"/>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 name="Google Shape;64;p37"/>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 name="Google Shape;65;p37"/>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 name="Google Shape;66;p37"/>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37"/>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37"/>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37"/>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37"/>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37"/>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 name="Google Shape;72;p37"/>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37"/>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ulti_Slide">
  <p:cSld name="Multi_Slide">
    <p:spTree>
      <p:nvGrpSpPr>
        <p:cNvPr id="1" name="Shape 74"/>
        <p:cNvGrpSpPr/>
        <p:nvPr/>
      </p:nvGrpSpPr>
      <p:grpSpPr>
        <a:xfrm>
          <a:off x="0" y="0"/>
          <a:ext cx="0" cy="0"/>
          <a:chOff x="0" y="0"/>
          <a:chExt cx="0" cy="0"/>
        </a:xfrm>
      </p:grpSpPr>
      <p:sp>
        <p:nvSpPr>
          <p:cNvPr id="75" name="Google Shape;75;p38"/>
          <p:cNvSpPr txBox="1">
            <a:spLocks noGrp="1"/>
          </p:cNvSpPr>
          <p:nvPr>
            <p:ph type="body" idx="1"/>
          </p:nvPr>
        </p:nvSpPr>
        <p:spPr>
          <a:xfrm>
            <a:off x="474662" y="1347788"/>
            <a:ext cx="8280057" cy="3073946"/>
          </a:xfrm>
          <a:prstGeom prst="rect">
            <a:avLst/>
          </a:prstGeom>
          <a:noFill/>
          <a:ln>
            <a:noFill/>
          </a:ln>
        </p:spPr>
        <p:txBody>
          <a:bodyPr spcFirstLastPara="1" wrap="square" lIns="91400" tIns="45700" rIns="91400" bIns="45700" anchor="t" anchorCtr="0">
            <a:noAutofit/>
          </a:bodyPr>
          <a:lstStyle>
            <a:lvl1pPr marL="457200" marR="0" lvl="0" indent="-228600"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6" name="Google Shape;76;p38"/>
          <p:cNvSpPr txBox="1">
            <a:spLocks noGrp="1"/>
          </p:cNvSpPr>
          <p:nvPr>
            <p:ph type="title"/>
          </p:nvPr>
        </p:nvSpPr>
        <p:spPr>
          <a:xfrm>
            <a:off x="437766"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1_Closing Slide">
  <p:cSld name="1_Closing Slide">
    <p:bg>
      <p:bgPr>
        <a:solidFill>
          <a:schemeClr val="accent5"/>
        </a:solidFill>
        <a:effectLst/>
      </p:bgPr>
    </p:bg>
    <p:spTree>
      <p:nvGrpSpPr>
        <p:cNvPr id="1"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a:stretch/>
        </p:blipFill>
        <p:spPr>
          <a:xfrm>
            <a:off x="0" y="1"/>
            <a:ext cx="9143999" cy="5165874"/>
          </a:xfrm>
          <a:prstGeom prst="rect">
            <a:avLst/>
          </a:prstGeom>
          <a:noFill/>
          <a:ln>
            <a:noFill/>
          </a:ln>
        </p:spPr>
      </p:pic>
      <p:grpSp>
        <p:nvGrpSpPr>
          <p:cNvPr id="79" name="Google Shape;79;p39"/>
          <p:cNvGrpSpPr/>
          <p:nvPr/>
        </p:nvGrpSpPr>
        <p:grpSpPr>
          <a:xfrm>
            <a:off x="3746294" y="2129856"/>
            <a:ext cx="1617944" cy="860542"/>
            <a:chOff x="310" y="249"/>
            <a:chExt cx="502" cy="267"/>
          </a:xfrm>
        </p:grpSpPr>
        <p:sp>
          <p:nvSpPr>
            <p:cNvPr id="80" name="Google Shape;80;p39"/>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39"/>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39"/>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39"/>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4" name="Google Shape;84;p39"/>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 name="Google Shape;85;p39"/>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 name="Google Shape;86;p39"/>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7" name="Google Shape;87;p39"/>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39"/>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39"/>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39"/>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39"/>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39"/>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39"/>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5_Title Slide-animated gradient">
  <p:cSld name="5_Title Slide-animated gradient">
    <p:bg>
      <p:bgPr>
        <a:solidFill>
          <a:schemeClr val="accent5"/>
        </a:solidFill>
        <a:effectLst/>
      </p:bgPr>
    </p:bg>
    <p:spTree>
      <p:nvGrpSpPr>
        <p:cNvPr id="1" name="Shape 94"/>
        <p:cNvGrpSpPr/>
        <p:nvPr/>
      </p:nvGrpSpPr>
      <p:grpSpPr>
        <a:xfrm>
          <a:off x="0" y="0"/>
          <a:ext cx="0" cy="0"/>
          <a:chOff x="0" y="0"/>
          <a:chExt cx="0" cy="0"/>
        </a:xfrm>
      </p:grpSpPr>
      <p:sp>
        <p:nvSpPr>
          <p:cNvPr id="95" name="Google Shape;95;p40"/>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96" name="Google Shape;96;p40"/>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97" name="Google Shape;97;p40"/>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98" name="Google Shape;98;p40"/>
          <p:cNvGrpSpPr/>
          <p:nvPr/>
        </p:nvGrpSpPr>
        <p:grpSpPr>
          <a:xfrm>
            <a:off x="492125" y="395288"/>
            <a:ext cx="796924" cy="423863"/>
            <a:chOff x="310" y="249"/>
            <a:chExt cx="502" cy="267"/>
          </a:xfrm>
        </p:grpSpPr>
        <p:sp>
          <p:nvSpPr>
            <p:cNvPr id="99" name="Google Shape;99;p40"/>
            <p:cNvSpPr/>
            <p:nvPr/>
          </p:nvSpPr>
          <p:spPr>
            <a:xfrm>
              <a:off x="452" y="426"/>
              <a:ext cx="22" cy="88"/>
            </a:xfrm>
            <a:prstGeom prst="rect">
              <a:avLst/>
            </a:pr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40"/>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40"/>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40"/>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40"/>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40"/>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 name="Google Shape;105;p40"/>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 name="Google Shape;106;p40"/>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7" name="Google Shape;107;p40"/>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8" name="Google Shape;108;p40"/>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9" name="Google Shape;109;p40"/>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0" name="Google Shape;110;p40"/>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1" name="Google Shape;111;p40"/>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2" name="Google Shape;112;p40"/>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13" name="Google Shape;113;p40"/>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14" name="Google Shape;114;p40"/>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1"/>
              </a:buClr>
              <a:buSzPts val="3600"/>
              <a:buFont typeface="Arial"/>
              <a:buNone/>
              <a:defRPr sz="3600" b="0" i="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6_Title Slide-animated gradient">
  <p:cSld name="6_Title Slide-animated gradient">
    <p:bg>
      <p:bgPr>
        <a:solidFill>
          <a:schemeClr val="accent5"/>
        </a:solidFill>
        <a:effectLst/>
      </p:bgPr>
    </p:bg>
    <p:spTree>
      <p:nvGrpSpPr>
        <p:cNvPr id="1" name="Shape 115"/>
        <p:cNvGrpSpPr/>
        <p:nvPr/>
      </p:nvGrpSpPr>
      <p:grpSpPr>
        <a:xfrm>
          <a:off x="0" y="0"/>
          <a:ext cx="0" cy="0"/>
          <a:chOff x="0" y="0"/>
          <a:chExt cx="0" cy="0"/>
        </a:xfrm>
      </p:grpSpPr>
      <p:sp>
        <p:nvSpPr>
          <p:cNvPr id="116" name="Google Shape;116;p41"/>
          <p:cNvSpPr/>
          <p:nvPr/>
        </p:nvSpPr>
        <p:spPr>
          <a:xfrm>
            <a:off x="0" y="0"/>
            <a:ext cx="9144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7" name="Google Shape;117;p41"/>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118" name="Google Shape;118;p41"/>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19" name="Google Shape;119;p41"/>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120" name="Google Shape;120;p41"/>
          <p:cNvGrpSpPr/>
          <p:nvPr/>
        </p:nvGrpSpPr>
        <p:grpSpPr>
          <a:xfrm>
            <a:off x="492125" y="395288"/>
            <a:ext cx="796924" cy="423863"/>
            <a:chOff x="310" y="249"/>
            <a:chExt cx="502" cy="267"/>
          </a:xfrm>
        </p:grpSpPr>
        <p:sp>
          <p:nvSpPr>
            <p:cNvPr id="121" name="Google Shape;121;p41"/>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41"/>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41"/>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41"/>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41"/>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41"/>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41"/>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41"/>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41"/>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41"/>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1" name="Google Shape;131;p41"/>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2" name="Google Shape;132;p41"/>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3" name="Google Shape;133;p41"/>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41"/>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5" name="Google Shape;135;p41"/>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36" name="Google Shape;136;p41"/>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ircled_Bullets">
  <p:cSld name="2_Circled_Bullets">
    <p:spTree>
      <p:nvGrpSpPr>
        <p:cNvPr id="1" name="Shape 138"/>
        <p:cNvGrpSpPr/>
        <p:nvPr/>
      </p:nvGrpSpPr>
      <p:grpSpPr>
        <a:xfrm>
          <a:off x="0" y="0"/>
          <a:ext cx="0" cy="0"/>
          <a:chOff x="0" y="0"/>
          <a:chExt cx="0" cy="0"/>
        </a:xfrm>
      </p:grpSpPr>
      <p:sp>
        <p:nvSpPr>
          <p:cNvPr id="139" name="Google Shape;139;p43"/>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40" name="Google Shape;140;p43"/>
          <p:cNvSpPr/>
          <p:nvPr/>
        </p:nvSpPr>
        <p:spPr>
          <a:xfrm>
            <a:off x="575610" y="2552550"/>
            <a:ext cx="698624" cy="698624"/>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FFFFFF"/>
              </a:solidFill>
              <a:latin typeface="Arial"/>
              <a:ea typeface="Arial"/>
              <a:cs typeface="Arial"/>
              <a:sym typeface="Arial"/>
            </a:endParaRPr>
          </a:p>
        </p:txBody>
      </p:sp>
      <p:sp>
        <p:nvSpPr>
          <p:cNvPr id="141" name="Google Shape;141;p43"/>
          <p:cNvSpPr/>
          <p:nvPr/>
        </p:nvSpPr>
        <p:spPr>
          <a:xfrm>
            <a:off x="575610" y="1426607"/>
            <a:ext cx="698624" cy="698624"/>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lt1"/>
              </a:solidFill>
              <a:latin typeface="Arial"/>
              <a:ea typeface="Arial"/>
              <a:cs typeface="Arial"/>
              <a:sym typeface="Arial"/>
            </a:endParaRPr>
          </a:p>
        </p:txBody>
      </p:sp>
      <p:sp>
        <p:nvSpPr>
          <p:cNvPr id="142" name="Google Shape;142;p43"/>
          <p:cNvSpPr/>
          <p:nvPr/>
        </p:nvSpPr>
        <p:spPr>
          <a:xfrm>
            <a:off x="575610" y="3653093"/>
            <a:ext cx="698624" cy="698624"/>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049FD9"/>
              </a:solidFill>
              <a:latin typeface="Arial"/>
              <a:ea typeface="Arial"/>
              <a:cs typeface="Arial"/>
              <a:sym typeface="Arial"/>
            </a:endParaRPr>
          </a:p>
        </p:txBody>
      </p:sp>
      <p:sp>
        <p:nvSpPr>
          <p:cNvPr id="143" name="Google Shape;143;p43"/>
          <p:cNvSpPr txBox="1">
            <a:spLocks noGrp="1"/>
          </p:cNvSpPr>
          <p:nvPr>
            <p:ph type="body" idx="1"/>
          </p:nvPr>
        </p:nvSpPr>
        <p:spPr>
          <a:xfrm>
            <a:off x="1365250" y="1432522"/>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4" name="Google Shape;144;p43"/>
          <p:cNvSpPr txBox="1">
            <a:spLocks noGrp="1"/>
          </p:cNvSpPr>
          <p:nvPr>
            <p:ph type="body" idx="2"/>
          </p:nvPr>
        </p:nvSpPr>
        <p:spPr>
          <a:xfrm>
            <a:off x="1365250" y="25577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5" name="Google Shape;145;p43"/>
          <p:cNvSpPr txBox="1">
            <a:spLocks noGrp="1"/>
          </p:cNvSpPr>
          <p:nvPr>
            <p:ph type="body" idx="3"/>
          </p:nvPr>
        </p:nvSpPr>
        <p:spPr>
          <a:xfrm>
            <a:off x="1365250" y="36530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6" name="Google Shape;146;p43"/>
          <p:cNvSpPr txBox="1">
            <a:spLocks noGrp="1"/>
          </p:cNvSpPr>
          <p:nvPr>
            <p:ph type="body" idx="4"/>
          </p:nvPr>
        </p:nvSpPr>
        <p:spPr>
          <a:xfrm>
            <a:off x="575610" y="255255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7" name="Google Shape;147;p43"/>
          <p:cNvSpPr txBox="1">
            <a:spLocks noGrp="1"/>
          </p:cNvSpPr>
          <p:nvPr>
            <p:ph type="body" idx="5"/>
          </p:nvPr>
        </p:nvSpPr>
        <p:spPr>
          <a:xfrm>
            <a:off x="575611" y="365114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8" name="Google Shape;148;p43"/>
          <p:cNvSpPr txBox="1">
            <a:spLocks noGrp="1"/>
          </p:cNvSpPr>
          <p:nvPr>
            <p:ph type="body" idx="6"/>
          </p:nvPr>
        </p:nvSpPr>
        <p:spPr>
          <a:xfrm>
            <a:off x="575610" y="1427248"/>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Circled_Bullets">
  <p:cSld name="5_Circled_Bullets">
    <p:spTree>
      <p:nvGrpSpPr>
        <p:cNvPr id="1" name="Shape 149"/>
        <p:cNvGrpSpPr/>
        <p:nvPr/>
      </p:nvGrpSpPr>
      <p:grpSpPr>
        <a:xfrm>
          <a:off x="0" y="0"/>
          <a:ext cx="0" cy="0"/>
          <a:chOff x="0" y="0"/>
          <a:chExt cx="0" cy="0"/>
        </a:xfrm>
      </p:grpSpPr>
      <p:sp>
        <p:nvSpPr>
          <p:cNvPr id="150" name="Google Shape;150;p44"/>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51" name="Google Shape;151;p44"/>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52" name="Google Shape;152;p44"/>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53" name="Google Shape;153;p44"/>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54" name="Google Shape;154;p44"/>
          <p:cNvSpPr txBox="1">
            <a:spLocks noGrp="1"/>
          </p:cNvSpPr>
          <p:nvPr>
            <p:ph type="body" idx="1"/>
          </p:nvPr>
        </p:nvSpPr>
        <p:spPr>
          <a:xfrm>
            <a:off x="1172384" y="1334842"/>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5" name="Google Shape;155;p44"/>
          <p:cNvSpPr txBox="1">
            <a:spLocks noGrp="1"/>
          </p:cNvSpPr>
          <p:nvPr>
            <p:ph type="body" idx="2"/>
          </p:nvPr>
        </p:nvSpPr>
        <p:spPr>
          <a:xfrm>
            <a:off x="1172385" y="198456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6" name="Google Shape;156;p44"/>
          <p:cNvSpPr txBox="1">
            <a:spLocks noGrp="1"/>
          </p:cNvSpPr>
          <p:nvPr>
            <p:ph type="body" idx="3"/>
          </p:nvPr>
        </p:nvSpPr>
        <p:spPr>
          <a:xfrm>
            <a:off x="1172385" y="262744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7" name="Google Shape;157;p44"/>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8" name="Google Shape;158;p44"/>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9" name="Google Shape;159;p44"/>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0" name="Google Shape;160;p44"/>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61" name="Google Shape;161;p44"/>
          <p:cNvSpPr txBox="1">
            <a:spLocks noGrp="1"/>
          </p:cNvSpPr>
          <p:nvPr>
            <p:ph type="body" idx="7"/>
          </p:nvPr>
        </p:nvSpPr>
        <p:spPr>
          <a:xfrm>
            <a:off x="1172386" y="327458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2" name="Google Shape;162;p44"/>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3" name="Google Shape;163;p44"/>
          <p:cNvSpPr/>
          <p:nvPr/>
        </p:nvSpPr>
        <p:spPr>
          <a:xfrm>
            <a:off x="575613" y="3921716"/>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64" name="Google Shape;164;p44"/>
          <p:cNvSpPr txBox="1">
            <a:spLocks noGrp="1"/>
          </p:cNvSpPr>
          <p:nvPr>
            <p:ph type="body" idx="9"/>
          </p:nvPr>
        </p:nvSpPr>
        <p:spPr>
          <a:xfrm>
            <a:off x="1172387" y="392171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5" name="Google Shape;165;p44"/>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6_Circled_Bullets">
  <p:cSld name="6_Circled_Bullets">
    <p:spTree>
      <p:nvGrpSpPr>
        <p:cNvPr id="1" name="Shape 166"/>
        <p:cNvGrpSpPr/>
        <p:nvPr/>
      </p:nvGrpSpPr>
      <p:grpSpPr>
        <a:xfrm>
          <a:off x="0" y="0"/>
          <a:ext cx="0" cy="0"/>
          <a:chOff x="0" y="0"/>
          <a:chExt cx="0" cy="0"/>
        </a:xfrm>
      </p:grpSpPr>
      <p:sp>
        <p:nvSpPr>
          <p:cNvPr id="167" name="Google Shape;167;p45"/>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68" name="Google Shape;168;p45"/>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69" name="Google Shape;169;p45"/>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70" name="Google Shape;170;p45"/>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71" name="Google Shape;171;p45"/>
          <p:cNvSpPr txBox="1">
            <a:spLocks noGrp="1"/>
          </p:cNvSpPr>
          <p:nvPr>
            <p:ph type="body" idx="1"/>
          </p:nvPr>
        </p:nvSpPr>
        <p:spPr>
          <a:xfrm>
            <a:off x="1172384" y="133484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2" name="Google Shape;172;p45"/>
          <p:cNvSpPr txBox="1">
            <a:spLocks noGrp="1"/>
          </p:cNvSpPr>
          <p:nvPr>
            <p:ph type="body" idx="2"/>
          </p:nvPr>
        </p:nvSpPr>
        <p:spPr>
          <a:xfrm>
            <a:off x="1172385" y="198456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3" name="Google Shape;173;p45"/>
          <p:cNvSpPr txBox="1">
            <a:spLocks noGrp="1"/>
          </p:cNvSpPr>
          <p:nvPr>
            <p:ph type="body" idx="3"/>
          </p:nvPr>
        </p:nvSpPr>
        <p:spPr>
          <a:xfrm>
            <a:off x="1172385" y="262744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4" name="Google Shape;174;p45"/>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5" name="Google Shape;175;p45"/>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6" name="Google Shape;176;p45"/>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7" name="Google Shape;177;p45"/>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78" name="Google Shape;178;p45"/>
          <p:cNvSpPr txBox="1">
            <a:spLocks noGrp="1"/>
          </p:cNvSpPr>
          <p:nvPr>
            <p:ph type="body" idx="7"/>
          </p:nvPr>
        </p:nvSpPr>
        <p:spPr>
          <a:xfrm>
            <a:off x="1172386" y="327458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9" name="Google Shape;179;p45"/>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0" name="Google Shape;180;p45"/>
          <p:cNvSpPr/>
          <p:nvPr/>
        </p:nvSpPr>
        <p:spPr>
          <a:xfrm>
            <a:off x="575613" y="3921716"/>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1" name="Google Shape;181;p45"/>
          <p:cNvSpPr txBox="1">
            <a:spLocks noGrp="1"/>
          </p:cNvSpPr>
          <p:nvPr>
            <p:ph type="body" idx="9"/>
          </p:nvPr>
        </p:nvSpPr>
        <p:spPr>
          <a:xfrm>
            <a:off x="1172387" y="392171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2" name="Google Shape;182;p45"/>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3" name="Google Shape;183;p45"/>
          <p:cNvSpPr/>
          <p:nvPr/>
        </p:nvSpPr>
        <p:spPr>
          <a:xfrm>
            <a:off x="4414576" y="1983084"/>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4" name="Google Shape;184;p45"/>
          <p:cNvSpPr/>
          <p:nvPr/>
        </p:nvSpPr>
        <p:spPr>
          <a:xfrm>
            <a:off x="4414575" y="1332693"/>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5" name="Google Shape;185;p45"/>
          <p:cNvSpPr/>
          <p:nvPr/>
        </p:nvSpPr>
        <p:spPr>
          <a:xfrm>
            <a:off x="4414576" y="2631212"/>
            <a:ext cx="464815" cy="464815"/>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6" name="Google Shape;186;p45"/>
          <p:cNvSpPr txBox="1">
            <a:spLocks noGrp="1"/>
          </p:cNvSpPr>
          <p:nvPr>
            <p:ph type="body" idx="14"/>
          </p:nvPr>
        </p:nvSpPr>
        <p:spPr>
          <a:xfrm>
            <a:off x="5011349" y="1338608"/>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7" name="Google Shape;187;p45"/>
          <p:cNvSpPr txBox="1">
            <a:spLocks noGrp="1"/>
          </p:cNvSpPr>
          <p:nvPr>
            <p:ph type="body" idx="15"/>
          </p:nvPr>
        </p:nvSpPr>
        <p:spPr>
          <a:xfrm>
            <a:off x="5011350" y="198832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8" name="Google Shape;188;p45"/>
          <p:cNvSpPr txBox="1">
            <a:spLocks noGrp="1"/>
          </p:cNvSpPr>
          <p:nvPr>
            <p:ph type="body" idx="16"/>
          </p:nvPr>
        </p:nvSpPr>
        <p:spPr>
          <a:xfrm>
            <a:off x="5011350" y="263121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9" name="Google Shape;189;p45"/>
          <p:cNvSpPr txBox="1">
            <a:spLocks noGrp="1"/>
          </p:cNvSpPr>
          <p:nvPr>
            <p:ph type="body" idx="17"/>
          </p:nvPr>
        </p:nvSpPr>
        <p:spPr>
          <a:xfrm>
            <a:off x="4414576" y="1331287"/>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0" name="Google Shape;190;p45"/>
          <p:cNvSpPr txBox="1">
            <a:spLocks noGrp="1"/>
          </p:cNvSpPr>
          <p:nvPr>
            <p:ph type="body" idx="18"/>
          </p:nvPr>
        </p:nvSpPr>
        <p:spPr>
          <a:xfrm>
            <a:off x="4414576" y="198308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1" name="Google Shape;191;p45"/>
          <p:cNvSpPr txBox="1">
            <a:spLocks noGrp="1"/>
          </p:cNvSpPr>
          <p:nvPr>
            <p:ph type="body" idx="19"/>
          </p:nvPr>
        </p:nvSpPr>
        <p:spPr>
          <a:xfrm>
            <a:off x="4414577" y="262925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2" name="Google Shape;192;p45"/>
          <p:cNvSpPr/>
          <p:nvPr/>
        </p:nvSpPr>
        <p:spPr>
          <a:xfrm>
            <a:off x="4414577" y="3278347"/>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93" name="Google Shape;193;p45"/>
          <p:cNvSpPr txBox="1">
            <a:spLocks noGrp="1"/>
          </p:cNvSpPr>
          <p:nvPr>
            <p:ph type="body" idx="20"/>
          </p:nvPr>
        </p:nvSpPr>
        <p:spPr>
          <a:xfrm>
            <a:off x="5011351" y="327834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4" name="Google Shape;194;p45"/>
          <p:cNvSpPr txBox="1">
            <a:spLocks noGrp="1"/>
          </p:cNvSpPr>
          <p:nvPr>
            <p:ph type="body" idx="21"/>
          </p:nvPr>
        </p:nvSpPr>
        <p:spPr>
          <a:xfrm>
            <a:off x="4414578" y="327639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5" name="Google Shape;195;p45"/>
          <p:cNvSpPr/>
          <p:nvPr/>
        </p:nvSpPr>
        <p:spPr>
          <a:xfrm>
            <a:off x="4414578" y="3925482"/>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96" name="Google Shape;196;p45"/>
          <p:cNvSpPr txBox="1">
            <a:spLocks noGrp="1"/>
          </p:cNvSpPr>
          <p:nvPr>
            <p:ph type="body" idx="22"/>
          </p:nvPr>
        </p:nvSpPr>
        <p:spPr>
          <a:xfrm>
            <a:off x="5011352" y="392548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7" name="Google Shape;197;p45"/>
          <p:cNvSpPr txBox="1">
            <a:spLocks noGrp="1"/>
          </p:cNvSpPr>
          <p:nvPr>
            <p:ph type="body" idx="23"/>
          </p:nvPr>
        </p:nvSpPr>
        <p:spPr>
          <a:xfrm>
            <a:off x="4414579" y="392352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accent5"/>
        </a:solidFill>
        <a:effectLst/>
      </p:bgPr>
    </p:bg>
    <p:spTree>
      <p:nvGrpSpPr>
        <p:cNvPr id="1" name="Shape 198"/>
        <p:cNvGrpSpPr/>
        <p:nvPr/>
      </p:nvGrpSpPr>
      <p:grpSpPr>
        <a:xfrm>
          <a:off x="0" y="0"/>
          <a:ext cx="0" cy="0"/>
          <a:chOff x="0" y="0"/>
          <a:chExt cx="0" cy="0"/>
        </a:xfrm>
      </p:grpSpPr>
      <p:sp>
        <p:nvSpPr>
          <p:cNvPr id="199" name="Google Shape;199;p46"/>
          <p:cNvSpPr/>
          <p:nvPr/>
        </p:nvSpPr>
        <p:spPr>
          <a:xfrm>
            <a:off x="0" y="0"/>
            <a:ext cx="9144000" cy="5143500"/>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00" name="Google Shape;200;p46"/>
          <p:cNvGrpSpPr/>
          <p:nvPr/>
        </p:nvGrpSpPr>
        <p:grpSpPr>
          <a:xfrm>
            <a:off x="3746294" y="2129856"/>
            <a:ext cx="1617944" cy="860542"/>
            <a:chOff x="310" y="249"/>
            <a:chExt cx="502" cy="267"/>
          </a:xfrm>
        </p:grpSpPr>
        <p:sp>
          <p:nvSpPr>
            <p:cNvPr id="201" name="Google Shape;201;p46"/>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2" name="Google Shape;202;p46"/>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3" name="Google Shape;203;p46"/>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4" name="Google Shape;204;p46"/>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5" name="Google Shape;205;p46"/>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6" name="Google Shape;206;p46"/>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7" name="Google Shape;207;p46"/>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8" name="Google Shape;208;p46"/>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9" name="Google Shape;209;p46"/>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0" name="Google Shape;210;p46"/>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1" name="Google Shape;211;p46"/>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2" name="Google Shape;212;p46"/>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3" name="Google Shape;213;p46"/>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4" name="Google Shape;214;p46"/>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3_Closing Slide">
  <p:cSld name="3_Closing Slide">
    <p:bg>
      <p:bgPr>
        <a:solidFill>
          <a:schemeClr val="accent5"/>
        </a:solidFill>
        <a:effectLst/>
      </p:bgPr>
    </p:bg>
    <p:spTree>
      <p:nvGrpSpPr>
        <p:cNvPr id="1" name="Shape 215"/>
        <p:cNvGrpSpPr/>
        <p:nvPr/>
      </p:nvGrpSpPr>
      <p:grpSpPr>
        <a:xfrm>
          <a:off x="0" y="0"/>
          <a:ext cx="0" cy="0"/>
          <a:chOff x="0" y="0"/>
          <a:chExt cx="0" cy="0"/>
        </a:xfrm>
      </p:grpSpPr>
      <p:grpSp>
        <p:nvGrpSpPr>
          <p:cNvPr id="216" name="Google Shape;216;p47"/>
          <p:cNvGrpSpPr/>
          <p:nvPr/>
        </p:nvGrpSpPr>
        <p:grpSpPr>
          <a:xfrm>
            <a:off x="3746294" y="2129856"/>
            <a:ext cx="1617944" cy="860542"/>
            <a:chOff x="310" y="249"/>
            <a:chExt cx="502" cy="267"/>
          </a:xfrm>
        </p:grpSpPr>
        <p:sp>
          <p:nvSpPr>
            <p:cNvPr id="217" name="Google Shape;217;p47"/>
            <p:cNvSpPr/>
            <p:nvPr/>
          </p:nvSpPr>
          <p:spPr>
            <a:xfrm>
              <a:off x="452" y="426"/>
              <a:ext cx="22" cy="88"/>
            </a:xfrm>
            <a:prstGeom prst="rect">
              <a:avLst/>
            </a:pr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8" name="Google Shape;218;p47"/>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9" name="Google Shape;219;p47"/>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0" name="Google Shape;220;p47"/>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1" name="Google Shape;221;p47"/>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2" name="Google Shape;222;p47"/>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3" name="Google Shape;223;p47"/>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4" name="Google Shape;224;p47"/>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5" name="Google Shape;225;p47"/>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6" name="Google Shape;226;p47"/>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7" name="Google Shape;227;p47"/>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8" name="Google Shape;228;p47"/>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9" name="Google Shape;229;p47"/>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0" name="Google Shape;230;p47"/>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1"/>
        <p:cNvGrpSpPr/>
        <p:nvPr/>
      </p:nvGrpSpPr>
      <p:grpSpPr>
        <a:xfrm>
          <a:off x="0" y="0"/>
          <a:ext cx="0" cy="0"/>
          <a:chOff x="0" y="0"/>
          <a:chExt cx="0" cy="0"/>
        </a:xfrm>
      </p:grpSpPr>
      <p:sp>
        <p:nvSpPr>
          <p:cNvPr id="232" name="Google Shape;232;p48"/>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4"/>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marR="0" lvl="0" algn="l" rtl="0">
              <a:lnSpc>
                <a:spcPct val="80000"/>
              </a:lnSpc>
              <a:spcBef>
                <a:spcPts val="0"/>
              </a:spcBef>
              <a:spcAft>
                <a:spcPts val="0"/>
              </a:spcAft>
              <a:buSzPts val="1400"/>
              <a:buNone/>
              <a:defRPr sz="3200" b="0" i="0" u="none" strike="noStrike" cap="none">
                <a:solidFill>
                  <a:schemeClr val="accent4"/>
                </a:solidFill>
                <a:latin typeface="Arial"/>
                <a:ea typeface="Arial"/>
                <a:cs typeface="Arial"/>
                <a:sym typeface="Arial"/>
              </a:defRPr>
            </a:lvl1pPr>
            <a:lvl2pPr marR="0" lvl="1"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2pPr>
            <a:lvl3pPr marR="0" lvl="2"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3pPr>
            <a:lvl4pPr marR="0" lvl="3"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4pPr>
            <a:lvl5pPr marR="0" lvl="4"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5pPr>
            <a:lvl6pPr marR="0" lvl="5"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6pPr>
            <a:lvl7pPr marR="0" lvl="6"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7pPr>
            <a:lvl8pPr marR="0" lvl="7"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8pPr>
            <a:lvl9pPr marR="0" lvl="8"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9pPr>
          </a:lstStyle>
          <a:p>
            <a:endParaRPr/>
          </a:p>
        </p:txBody>
      </p:sp>
      <p:sp>
        <p:nvSpPr>
          <p:cNvPr id="11" name="Google Shape;11;p34"/>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b="0" i="0" u="none" strike="noStrike" cap="none">
                <a:solidFill>
                  <a:srgbClr val="D8D8D8"/>
                </a:solidFill>
                <a:latin typeface="Arial"/>
                <a:ea typeface="Arial"/>
                <a:cs typeface="Arial"/>
                <a:sym typeface="Arial"/>
              </a:rPr>
              <a:t>‹#›</a:t>
            </a:fld>
            <a:endParaRPr sz="600" b="0" i="0" u="none" strike="noStrike" cap="none">
              <a:solidFill>
                <a:srgbClr val="D8D8D8"/>
              </a:solidFill>
              <a:latin typeface="Arial"/>
              <a:ea typeface="Arial"/>
              <a:cs typeface="Arial"/>
              <a:sym typeface="Arial"/>
            </a:endParaRPr>
          </a:p>
        </p:txBody>
      </p:sp>
      <p:sp>
        <p:nvSpPr>
          <p:cNvPr id="12" name="Google Shape;12;p34"/>
          <p:cNvSpPr/>
          <p:nvPr/>
        </p:nvSpPr>
        <p:spPr>
          <a:xfrm>
            <a:off x="5867508" y="4741653"/>
            <a:ext cx="2658018" cy="154518"/>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b="0" i="0" u="none" strike="noStrike" cap="none">
                <a:solidFill>
                  <a:srgbClr val="D8D8D8"/>
                </a:solidFill>
                <a:latin typeface="Arial"/>
                <a:ea typeface="Arial"/>
                <a:cs typeface="Arial"/>
                <a:sym typeface="Arial"/>
              </a:rPr>
              <a:t>© 2016  Cisco and/or its affiliates. All rights reserved.   Cisco Confidential</a:t>
            </a:r>
            <a:endParaRPr/>
          </a:p>
        </p:txBody>
      </p:sp>
      <p:grpSp>
        <p:nvGrpSpPr>
          <p:cNvPr id="13" name="Google Shape;13;p34"/>
          <p:cNvGrpSpPr/>
          <p:nvPr/>
        </p:nvGrpSpPr>
        <p:grpSpPr>
          <a:xfrm>
            <a:off x="508039" y="4715197"/>
            <a:ext cx="340257" cy="180974"/>
            <a:chOff x="310" y="249"/>
            <a:chExt cx="502" cy="267"/>
          </a:xfrm>
        </p:grpSpPr>
        <p:sp>
          <p:nvSpPr>
            <p:cNvPr id="14" name="Google Shape;14;p34"/>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34"/>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34"/>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34"/>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34"/>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34"/>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34"/>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34"/>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34"/>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34"/>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34"/>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25;p34"/>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34"/>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34"/>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
          <p:cNvSpPr txBox="1">
            <a:spLocks noGrp="1"/>
          </p:cNvSpPr>
          <p:nvPr>
            <p:ph type="subTitle" idx="1"/>
          </p:nvPr>
        </p:nvSpPr>
        <p:spPr>
          <a:xfrm>
            <a:off x="469497" y="3809526"/>
            <a:ext cx="2368954" cy="902174"/>
          </a:xfrm>
          <a:prstGeom prst="rect">
            <a:avLst/>
          </a:prstGeom>
          <a:noFill/>
          <a:ln>
            <a:noFill/>
          </a:ln>
        </p:spPr>
        <p:txBody>
          <a:bodyPr spcFirstLastPara="1" wrap="square" lIns="91400" tIns="45700" rIns="91400" bIns="45700" anchor="b" anchorCtr="0">
            <a:noAutofit/>
          </a:bodyPr>
          <a:lstStyle/>
          <a:p>
            <a:pPr marL="0" lvl="0" indent="0" algn="l" rtl="0">
              <a:lnSpc>
                <a:spcPct val="95000"/>
              </a:lnSpc>
              <a:spcBef>
                <a:spcPts val="0"/>
              </a:spcBef>
              <a:spcAft>
                <a:spcPts val="0"/>
              </a:spcAft>
              <a:buSzPts val="1080"/>
              <a:buNone/>
            </a:pPr>
            <a:r>
              <a:rPr lang="en-US">
                <a:solidFill>
                  <a:srgbClr val="AEE8FA"/>
                </a:solidFill>
              </a:rPr>
              <a:t>Switching, Routing and Wireless Essentials v7.0 (SRWE)</a:t>
            </a:r>
            <a:endParaRPr/>
          </a:p>
          <a:p>
            <a:pPr marL="0" lvl="0" indent="0" algn="l" rtl="0">
              <a:lnSpc>
                <a:spcPct val="95000"/>
              </a:lnSpc>
              <a:spcBef>
                <a:spcPts val="1075"/>
              </a:spcBef>
              <a:spcAft>
                <a:spcPts val="0"/>
              </a:spcAft>
              <a:buSzPts val="1080"/>
              <a:buNone/>
            </a:pPr>
            <a:endParaRPr/>
          </a:p>
        </p:txBody>
      </p:sp>
      <p:sp>
        <p:nvSpPr>
          <p:cNvPr id="239" name="Google Shape;239;p1"/>
          <p:cNvSpPr txBox="1">
            <a:spLocks noGrp="1"/>
          </p:cNvSpPr>
          <p:nvPr>
            <p:ph type="ctrTitle"/>
          </p:nvPr>
        </p:nvSpPr>
        <p:spPr>
          <a:xfrm>
            <a:off x="469497" y="2316480"/>
            <a:ext cx="6672708" cy="1080143"/>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3600"/>
              <a:buFont typeface="Arial"/>
              <a:buNone/>
            </a:pPr>
            <a:r>
              <a:rPr lang="en-US">
                <a:solidFill>
                  <a:srgbClr val="AEE8FA"/>
                </a:solidFill>
              </a:rPr>
              <a:t>Chapter 6</a:t>
            </a:r>
            <a:br>
              <a:rPr lang="en-US">
                <a:solidFill>
                  <a:srgbClr val="AEE8FA"/>
                </a:solidFill>
              </a:rPr>
            </a:br>
            <a:r>
              <a:rPr lang="en-US">
                <a:solidFill>
                  <a:srgbClr val="AEE8FA"/>
                </a:solidFill>
              </a:rPr>
              <a:t>Module 7: DHCPv4</a:t>
            </a:r>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a:t>Module Objectives</a:t>
            </a:r>
            <a:endParaRPr/>
          </a:p>
        </p:txBody>
      </p:sp>
      <p:sp>
        <p:nvSpPr>
          <p:cNvPr id="246" name="Google Shape;246;p2"/>
          <p:cNvSpPr txBox="1">
            <a:spLocks noGrp="1"/>
          </p:cNvSpPr>
          <p:nvPr>
            <p:ph type="body" idx="1"/>
          </p:nvPr>
        </p:nvSpPr>
        <p:spPr>
          <a:xfrm>
            <a:off x="144065" y="798944"/>
            <a:ext cx="8853286" cy="757551"/>
          </a:xfrm>
          <a:prstGeom prst="rect">
            <a:avLst/>
          </a:prstGeom>
          <a:noFill/>
          <a:ln>
            <a:noFill/>
          </a:ln>
        </p:spPr>
        <p:txBody>
          <a:bodyPr spcFirstLastPara="1" wrap="square" lIns="91425" tIns="45700" rIns="182875" bIns="45700" anchor="t" anchorCtr="0">
            <a:noAutofit/>
          </a:bodyPr>
          <a:lstStyle/>
          <a:p>
            <a:pPr marL="0" lvl="0" indent="0" algn="l" rtl="0">
              <a:lnSpc>
                <a:spcPct val="100000"/>
              </a:lnSpc>
              <a:spcBef>
                <a:spcPts val="0"/>
              </a:spcBef>
              <a:spcAft>
                <a:spcPts val="0"/>
              </a:spcAft>
              <a:buClr>
                <a:schemeClr val="dk1"/>
              </a:buClr>
              <a:buSzPts val="1400"/>
              <a:buNone/>
            </a:pPr>
            <a:r>
              <a:rPr lang="en-US" sz="1400" b="1">
                <a:solidFill>
                  <a:schemeClr val="dk1"/>
                </a:solidFill>
              </a:rPr>
              <a:t>Module Title: DHCPv4</a:t>
            </a:r>
            <a:endParaRPr/>
          </a:p>
          <a:p>
            <a:pPr marL="0" lvl="0" indent="0" algn="l" rtl="0">
              <a:lnSpc>
                <a:spcPct val="100000"/>
              </a:lnSpc>
              <a:spcBef>
                <a:spcPts val="0"/>
              </a:spcBef>
              <a:spcAft>
                <a:spcPts val="0"/>
              </a:spcAft>
              <a:buClr>
                <a:srgbClr val="000000"/>
              </a:buClr>
              <a:buSzPts val="1400"/>
              <a:buNone/>
            </a:pPr>
            <a:endParaRPr sz="1400">
              <a:solidFill>
                <a:schemeClr val="dk1"/>
              </a:solidFill>
            </a:endParaRPr>
          </a:p>
          <a:p>
            <a:pPr marL="0" lvl="0" indent="0" algn="l" rtl="0">
              <a:lnSpc>
                <a:spcPct val="100000"/>
              </a:lnSpc>
              <a:spcBef>
                <a:spcPts val="0"/>
              </a:spcBef>
              <a:spcAft>
                <a:spcPts val="0"/>
              </a:spcAft>
              <a:buClr>
                <a:schemeClr val="dk1"/>
              </a:buClr>
              <a:buSzPts val="1400"/>
              <a:buNone/>
            </a:pPr>
            <a:r>
              <a:rPr lang="en-US" sz="1400" b="1">
                <a:solidFill>
                  <a:schemeClr val="dk1"/>
                </a:solidFill>
              </a:rPr>
              <a:t>Module Objective</a:t>
            </a:r>
            <a:r>
              <a:rPr lang="en-US" sz="1400">
                <a:solidFill>
                  <a:schemeClr val="dk1"/>
                </a:solidFill>
              </a:rPr>
              <a:t>: </a:t>
            </a:r>
            <a:r>
              <a:rPr lang="en-US"/>
              <a:t> Implement DHCPv4 to operate across multiple LANs</a:t>
            </a:r>
            <a:endParaRPr/>
          </a:p>
        </p:txBody>
      </p:sp>
      <p:graphicFrame>
        <p:nvGraphicFramePr>
          <p:cNvPr id="247" name="Google Shape;247;p2"/>
          <p:cNvGraphicFramePr/>
          <p:nvPr/>
        </p:nvGraphicFramePr>
        <p:xfrm>
          <a:off x="655782" y="1732166"/>
          <a:ext cx="7555100" cy="1634520"/>
        </p:xfrm>
        <a:graphic>
          <a:graphicData uri="http://schemas.openxmlformats.org/drawingml/2006/table">
            <a:tbl>
              <a:tblPr firstRow="1" bandRow="1">
                <a:noFill/>
                <a:tableStyleId>{7CE48DEC-0919-4CC0-B943-BA415F1E0A11}</a:tableStyleId>
              </a:tblPr>
              <a:tblGrid>
                <a:gridCol w="3225850">
                  <a:extLst>
                    <a:ext uri="{9D8B030D-6E8A-4147-A177-3AD203B41FA5}">
                      <a16:colId xmlns:a16="http://schemas.microsoft.com/office/drawing/2014/main" val="20000"/>
                    </a:ext>
                  </a:extLst>
                </a:gridCol>
                <a:gridCol w="432925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400" b="1" u="none" strike="noStrike" cap="none"/>
                        <a:t>Topic Title</a:t>
                      </a:r>
                      <a:endParaRPr sz="1400" u="none" strike="noStrike" cap="none"/>
                    </a:p>
                  </a:txBody>
                  <a:tcPr marL="47625" marR="47625" marT="47625" marB="47625" anchor="ctr"/>
                </a:tc>
                <a:tc>
                  <a:txBody>
                    <a:bodyPr/>
                    <a:lstStyle/>
                    <a:p>
                      <a:pPr marL="0" marR="0" lvl="0" indent="0" algn="l" rtl="0">
                        <a:spcBef>
                          <a:spcPts val="0"/>
                        </a:spcBef>
                        <a:spcAft>
                          <a:spcPts val="0"/>
                        </a:spcAft>
                        <a:buNone/>
                      </a:pPr>
                      <a:r>
                        <a:rPr lang="en-US" sz="1400" b="1" u="none" strike="noStrike" cap="none"/>
                        <a:t>Topic Objective</a:t>
                      </a:r>
                      <a:endParaRPr sz="1400" u="none" strike="noStrike" cap="none"/>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400" b="1" u="none" strike="noStrike" cap="none">
                          <a:solidFill>
                            <a:schemeClr val="lt1"/>
                          </a:solidFill>
                        </a:rPr>
                        <a:t>DHCP4 Concepts</a:t>
                      </a:r>
                      <a:endParaRPr sz="14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400" b="0" u="none" strike="noStrike" cap="none">
                          <a:solidFill>
                            <a:srgbClr val="000000"/>
                          </a:solidFill>
                        </a:rPr>
                        <a:t>Explain how DHCPv4 operates in a small- to medium-sized business network.</a:t>
                      </a:r>
                      <a:endParaRPr/>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400" b="1" u="none" strike="noStrike" cap="none">
                          <a:solidFill>
                            <a:schemeClr val="lt1"/>
                          </a:solidFill>
                        </a:rPr>
                        <a:t>Configure a Cisco IOS DHCP4 Server</a:t>
                      </a:r>
                      <a:endParaRPr sz="14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400" b="0" u="none" strike="noStrike" cap="none">
                          <a:solidFill>
                            <a:srgbClr val="000000"/>
                          </a:solidFill>
                        </a:rPr>
                        <a:t>Configure a router as a DHCPv4 server.</a:t>
                      </a:r>
                      <a:endParaRPr/>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400" b="1" u="none" strike="noStrike" cap="none">
                          <a:solidFill>
                            <a:schemeClr val="lt1"/>
                          </a:solidFill>
                        </a:rPr>
                        <a:t>Configure a DHCP4 Client</a:t>
                      </a:r>
                      <a:endParaRPr sz="14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400" b="0" u="none" strike="noStrike" cap="none">
                          <a:solidFill>
                            <a:srgbClr val="000000"/>
                          </a:solidFill>
                        </a:rPr>
                        <a:t>Configure a router as a DHCPv4 client.</a:t>
                      </a:r>
                      <a:endParaRPr/>
                    </a:p>
                  </a:txBody>
                  <a:tcPr marL="47625" marR="47625" marT="47625" marB="47625" anchor="ctr"/>
                </a:tc>
                <a:extLst>
                  <a:ext uri="{0D108BD9-81ED-4DB2-BD59-A6C34878D82A}">
                    <a16:rowId xmlns:a16="http://schemas.microsoft.com/office/drawing/2014/main" val="10003"/>
                  </a:ext>
                </a:extLst>
              </a:tr>
            </a:tbl>
          </a:graphicData>
        </a:graphic>
      </p:graphicFrame>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
          <p:cNvSpPr txBox="1">
            <a:spLocks noGrp="1"/>
          </p:cNvSpPr>
          <p:nvPr>
            <p:ph type="ctrTitle"/>
          </p:nvPr>
        </p:nvSpPr>
        <p:spPr>
          <a:xfrm>
            <a:off x="416425" y="1788160"/>
            <a:ext cx="7598042"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7.1 DHCPv4 Concepts</a:t>
            </a:r>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DHCPv4 Concepts</a:t>
            </a:r>
            <a:br>
              <a:rPr lang="en-US"/>
            </a:br>
            <a:r>
              <a:rPr lang="en-US" sz="2400"/>
              <a:t>DHCPv4 Server and Client</a:t>
            </a:r>
            <a:endParaRPr/>
          </a:p>
        </p:txBody>
      </p:sp>
      <p:sp>
        <p:nvSpPr>
          <p:cNvPr id="260" name="Google Shape;260;p4"/>
          <p:cNvSpPr txBox="1">
            <a:spLocks noGrp="1"/>
          </p:cNvSpPr>
          <p:nvPr>
            <p:ph type="body" idx="1"/>
          </p:nvPr>
        </p:nvSpPr>
        <p:spPr>
          <a:xfrm>
            <a:off x="66502" y="640397"/>
            <a:ext cx="8877991"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Dynamic Host Configuration Protocol v4 (DHCPv4) assigns </a:t>
            </a:r>
            <a:r>
              <a:rPr lang="en-US" sz="1600">
                <a:solidFill>
                  <a:srgbClr val="FF0000"/>
                </a:solidFill>
              </a:rPr>
              <a:t>IPv4 addresses </a:t>
            </a:r>
            <a:r>
              <a:rPr lang="en-US" sz="1600">
                <a:solidFill>
                  <a:srgbClr val="000000"/>
                </a:solidFill>
              </a:rPr>
              <a:t>and </a:t>
            </a:r>
            <a:r>
              <a:rPr lang="en-US" sz="1600">
                <a:solidFill>
                  <a:srgbClr val="FF0000"/>
                </a:solidFill>
              </a:rPr>
              <a:t>other network configuration information dynamically</a:t>
            </a:r>
            <a:r>
              <a:rPr lang="en-US" sz="1600">
                <a:solidFill>
                  <a:srgbClr val="000000"/>
                </a:solidFill>
              </a:rPr>
              <a:t>. Because desktop clients typically make up the bulk of network nodes, DHCPv4 is an extremely useful and </a:t>
            </a:r>
            <a:r>
              <a:rPr lang="en-US" sz="1600">
                <a:solidFill>
                  <a:srgbClr val="FF0000"/>
                </a:solidFill>
              </a:rPr>
              <a:t>timesaving tool </a:t>
            </a:r>
            <a:r>
              <a:rPr lang="en-US" sz="1600">
                <a:solidFill>
                  <a:srgbClr val="000000"/>
                </a:solidFill>
              </a:rPr>
              <a:t>for network administrators.</a:t>
            </a:r>
            <a:endParaRPr/>
          </a:p>
          <a:p>
            <a:pPr marL="342900" lvl="0" indent="-342900" algn="l" rtl="0">
              <a:lnSpc>
                <a:spcPct val="100000"/>
              </a:lnSpc>
              <a:spcBef>
                <a:spcPts val="320"/>
              </a:spcBef>
              <a:spcAft>
                <a:spcPts val="0"/>
              </a:spcAft>
              <a:buSzPts val="1600"/>
              <a:buFont typeface="Arial"/>
              <a:buChar char="•"/>
            </a:pPr>
            <a:r>
              <a:rPr lang="en-US" sz="1600">
                <a:solidFill>
                  <a:srgbClr val="FF0000"/>
                </a:solidFill>
              </a:rPr>
              <a:t>A dedicated DHCPv4 server </a:t>
            </a:r>
            <a:r>
              <a:rPr lang="en-US" sz="1600">
                <a:solidFill>
                  <a:srgbClr val="000000"/>
                </a:solidFill>
              </a:rPr>
              <a:t>is scalable and relatively easy to manage. However, in </a:t>
            </a:r>
            <a:r>
              <a:rPr lang="en-US" sz="1600">
                <a:solidFill>
                  <a:srgbClr val="FF0000"/>
                </a:solidFill>
              </a:rPr>
              <a:t>a small branch or SOHO </a:t>
            </a:r>
            <a:r>
              <a:rPr lang="en-US" sz="1600">
                <a:solidFill>
                  <a:srgbClr val="000000"/>
                </a:solidFill>
              </a:rPr>
              <a:t>location, a </a:t>
            </a:r>
            <a:r>
              <a:rPr lang="en-US" sz="1600">
                <a:solidFill>
                  <a:srgbClr val="FF0000"/>
                </a:solidFill>
              </a:rPr>
              <a:t>Cisco router </a:t>
            </a:r>
            <a:r>
              <a:rPr lang="en-US" sz="1600">
                <a:solidFill>
                  <a:srgbClr val="000000"/>
                </a:solidFill>
              </a:rPr>
              <a:t>can be configured to provide </a:t>
            </a:r>
            <a:r>
              <a:rPr lang="en-US" sz="1600">
                <a:solidFill>
                  <a:srgbClr val="FF0000"/>
                </a:solidFill>
              </a:rPr>
              <a:t>DHCPv4 services </a:t>
            </a:r>
            <a:r>
              <a:rPr lang="en-US" sz="1600">
                <a:solidFill>
                  <a:srgbClr val="000000"/>
                </a:solidFill>
              </a:rPr>
              <a:t>without the need for a dedicated server. Cisco IOS software supports an optional, full-featured DHCPv4 server.</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The DHCPv4 server dynamically assigns, or leases, an IPv4 address from a pool of addresses for </a:t>
            </a:r>
            <a:r>
              <a:rPr lang="en-US" sz="1600">
                <a:solidFill>
                  <a:srgbClr val="FF0000"/>
                </a:solidFill>
              </a:rPr>
              <a:t>a limited period of time </a:t>
            </a:r>
            <a:r>
              <a:rPr lang="en-US" sz="1600">
                <a:solidFill>
                  <a:srgbClr val="000000"/>
                </a:solidFill>
              </a:rPr>
              <a:t>chosen by the server, or until the </a:t>
            </a:r>
            <a:r>
              <a:rPr lang="en-US" sz="1600">
                <a:solidFill>
                  <a:srgbClr val="FF0000"/>
                </a:solidFill>
              </a:rPr>
              <a:t>client no longer </a:t>
            </a:r>
            <a:r>
              <a:rPr lang="en-US" sz="1600">
                <a:solidFill>
                  <a:srgbClr val="000000"/>
                </a:solidFill>
              </a:rPr>
              <a:t>needs the address.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Clients lease the information from the server for an administratively defined period. Administrators configure DHCPv4 servers to set the leases to time out at different intervals. The lease is typically anywhere from </a:t>
            </a:r>
            <a:r>
              <a:rPr lang="en-US" sz="1600">
                <a:solidFill>
                  <a:srgbClr val="FF0000"/>
                </a:solidFill>
              </a:rPr>
              <a:t>24 hours </a:t>
            </a:r>
            <a:r>
              <a:rPr lang="en-US" sz="1600">
                <a:solidFill>
                  <a:srgbClr val="000000"/>
                </a:solidFill>
              </a:rPr>
              <a:t>to </a:t>
            </a:r>
            <a:r>
              <a:rPr lang="en-US" sz="1600">
                <a:solidFill>
                  <a:srgbClr val="FF0000"/>
                </a:solidFill>
              </a:rPr>
              <a:t>a week or more</a:t>
            </a:r>
            <a:r>
              <a:rPr lang="en-US" sz="1600">
                <a:solidFill>
                  <a:srgbClr val="000000"/>
                </a:solidFill>
              </a:rPr>
              <a:t>. When the lease expires, the client must ask for another address, although the client is typically reassigned the same address.</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DHCPv4 Concepts</a:t>
            </a:r>
            <a:br>
              <a:rPr lang="en-US"/>
            </a:br>
            <a:r>
              <a:rPr lang="en-US" sz="2400"/>
              <a:t>DHCPv4 Operation</a:t>
            </a:r>
            <a:endParaRPr/>
          </a:p>
        </p:txBody>
      </p:sp>
      <p:sp>
        <p:nvSpPr>
          <p:cNvPr id="267" name="Google Shape;267;p5"/>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DHCPv4 works in a </a:t>
            </a:r>
            <a:r>
              <a:rPr lang="en-US" sz="1600">
                <a:solidFill>
                  <a:srgbClr val="FF0000"/>
                </a:solidFill>
              </a:rPr>
              <a:t>client/server mode</a:t>
            </a:r>
            <a:r>
              <a:rPr lang="en-US" sz="1600">
                <a:solidFill>
                  <a:srgbClr val="000000"/>
                </a:solidFill>
              </a:rPr>
              <a:t>. When a client communicates with a DHCPv4 server, the server assigns or leases an IPv4 address to that client. </a:t>
            </a:r>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The client </a:t>
            </a:r>
            <a:r>
              <a:rPr lang="en-US" sz="1600">
                <a:solidFill>
                  <a:srgbClr val="FF0000"/>
                </a:solidFill>
              </a:rPr>
              <a:t>connects</a:t>
            </a:r>
            <a:r>
              <a:rPr lang="en-US" sz="1600">
                <a:solidFill>
                  <a:srgbClr val="000000"/>
                </a:solidFill>
              </a:rPr>
              <a:t> to the network with that leased IPv4 address until the lease expires. The client must </a:t>
            </a:r>
            <a:r>
              <a:rPr lang="en-US" sz="1600">
                <a:solidFill>
                  <a:srgbClr val="FF0000"/>
                </a:solidFill>
              </a:rPr>
              <a:t>contact</a:t>
            </a:r>
            <a:r>
              <a:rPr lang="en-US" sz="1600">
                <a:solidFill>
                  <a:srgbClr val="000000"/>
                </a:solidFill>
              </a:rPr>
              <a:t> the DHCP server </a:t>
            </a:r>
            <a:r>
              <a:rPr lang="en-US" sz="1600">
                <a:solidFill>
                  <a:srgbClr val="FF0000"/>
                </a:solidFill>
              </a:rPr>
              <a:t>periodically</a:t>
            </a:r>
            <a:r>
              <a:rPr lang="en-US" sz="1600">
                <a:solidFill>
                  <a:srgbClr val="000000"/>
                </a:solidFill>
              </a:rPr>
              <a:t> to extend the lease. </a:t>
            </a:r>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This lease mechanism ensures that clients that move or power off </a:t>
            </a:r>
            <a:r>
              <a:rPr lang="en-US" sz="1600">
                <a:solidFill>
                  <a:srgbClr val="FF0000"/>
                </a:solidFill>
              </a:rPr>
              <a:t>do not keep </a:t>
            </a:r>
            <a:r>
              <a:rPr lang="en-US" sz="1600">
                <a:solidFill>
                  <a:srgbClr val="000000"/>
                </a:solidFill>
              </a:rPr>
              <a:t>addresses that they no longer need. </a:t>
            </a:r>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When a </a:t>
            </a:r>
            <a:r>
              <a:rPr lang="en-US" sz="1600">
                <a:solidFill>
                  <a:srgbClr val="FF0000"/>
                </a:solidFill>
              </a:rPr>
              <a:t>lease expires</a:t>
            </a:r>
            <a:r>
              <a:rPr lang="en-US" sz="1600">
                <a:solidFill>
                  <a:srgbClr val="000000"/>
                </a:solidFill>
              </a:rPr>
              <a:t>, the DHCP server </a:t>
            </a:r>
            <a:r>
              <a:rPr lang="en-US" sz="1600">
                <a:solidFill>
                  <a:srgbClr val="FF0000"/>
                </a:solidFill>
              </a:rPr>
              <a:t>returns</a:t>
            </a:r>
            <a:r>
              <a:rPr lang="en-US" sz="1600">
                <a:solidFill>
                  <a:srgbClr val="000000"/>
                </a:solidFill>
              </a:rPr>
              <a:t> the address to the pool where it can be reallocated as necessary.</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DHCPv4 Concepts</a:t>
            </a:r>
            <a:br>
              <a:rPr lang="en-US"/>
            </a:br>
            <a:r>
              <a:rPr lang="en-US" sz="2400"/>
              <a:t>Steps to Obtain a Lease</a:t>
            </a:r>
            <a:endParaRPr/>
          </a:p>
        </p:txBody>
      </p:sp>
      <p:sp>
        <p:nvSpPr>
          <p:cNvPr id="274" name="Google Shape;274;p6"/>
          <p:cNvSpPr txBox="1"/>
          <p:nvPr/>
        </p:nvSpPr>
        <p:spPr>
          <a:xfrm>
            <a:off x="186117" y="982201"/>
            <a:ext cx="2996774" cy="29854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000000"/>
                </a:solidFill>
                <a:latin typeface="Arial"/>
                <a:ea typeface="Arial"/>
                <a:cs typeface="Arial"/>
                <a:sym typeface="Arial"/>
              </a:rPr>
              <a:t>When the client boots (or otherwise wants to join a network), it begins a four-step process to obtain a lease:</a:t>
            </a:r>
            <a:endParaRPr/>
          </a:p>
          <a:p>
            <a:pPr marL="228600" marR="0" lvl="0" indent="-228600" algn="l" rtl="0">
              <a:spcBef>
                <a:spcPts val="0"/>
              </a:spcBef>
              <a:spcAft>
                <a:spcPts val="0"/>
              </a:spcAft>
              <a:buClr>
                <a:srgbClr val="000000"/>
              </a:buClr>
              <a:buSzPts val="1600"/>
              <a:buFont typeface="Arial"/>
              <a:buAutoNum type="arabicPeriod"/>
            </a:pPr>
            <a:r>
              <a:rPr lang="en-US" sz="1600">
                <a:solidFill>
                  <a:srgbClr val="000000"/>
                </a:solidFill>
                <a:latin typeface="Arial"/>
                <a:ea typeface="Arial"/>
                <a:cs typeface="Arial"/>
                <a:sym typeface="Arial"/>
              </a:rPr>
              <a:t>DHCP </a:t>
            </a:r>
            <a:r>
              <a:rPr lang="en-US" sz="1600">
                <a:solidFill>
                  <a:srgbClr val="FF0000"/>
                </a:solidFill>
                <a:latin typeface="Arial"/>
                <a:ea typeface="Arial"/>
                <a:cs typeface="Arial"/>
                <a:sym typeface="Arial"/>
              </a:rPr>
              <a:t>D</a:t>
            </a:r>
            <a:r>
              <a:rPr lang="en-US" sz="1600">
                <a:solidFill>
                  <a:srgbClr val="000000"/>
                </a:solidFill>
                <a:latin typeface="Arial"/>
                <a:ea typeface="Arial"/>
                <a:cs typeface="Arial"/>
                <a:sym typeface="Arial"/>
              </a:rPr>
              <a:t>iscover (</a:t>
            </a:r>
            <a:r>
              <a:rPr lang="en-US" sz="1600">
                <a:solidFill>
                  <a:srgbClr val="7030A0"/>
                </a:solidFill>
                <a:latin typeface="Arial"/>
                <a:ea typeface="Arial"/>
                <a:cs typeface="Arial"/>
                <a:sym typeface="Arial"/>
              </a:rPr>
              <a:t>DHCPDISCOVER</a:t>
            </a:r>
            <a:r>
              <a:rPr lang="en-US" sz="1600">
                <a:solidFill>
                  <a:srgbClr val="000000"/>
                </a:solidFill>
                <a:latin typeface="Arial"/>
                <a:ea typeface="Arial"/>
                <a:cs typeface="Arial"/>
                <a:sym typeface="Arial"/>
              </a:rPr>
              <a:t>)</a:t>
            </a:r>
            <a:endParaRPr/>
          </a:p>
          <a:p>
            <a:pPr marL="228600" marR="0" lvl="0" indent="-228600" algn="l" rtl="0">
              <a:spcBef>
                <a:spcPts val="0"/>
              </a:spcBef>
              <a:spcAft>
                <a:spcPts val="0"/>
              </a:spcAft>
              <a:buClr>
                <a:srgbClr val="000000"/>
              </a:buClr>
              <a:buSzPts val="1600"/>
              <a:buFont typeface="Arial"/>
              <a:buAutoNum type="arabicPeriod"/>
            </a:pPr>
            <a:r>
              <a:rPr lang="en-US" sz="1600">
                <a:solidFill>
                  <a:srgbClr val="000000"/>
                </a:solidFill>
                <a:latin typeface="Arial"/>
                <a:ea typeface="Arial"/>
                <a:cs typeface="Arial"/>
                <a:sym typeface="Arial"/>
              </a:rPr>
              <a:t>DHCP </a:t>
            </a:r>
            <a:r>
              <a:rPr lang="en-US" sz="1600">
                <a:solidFill>
                  <a:srgbClr val="FF0000"/>
                </a:solidFill>
                <a:latin typeface="Arial"/>
                <a:ea typeface="Arial"/>
                <a:cs typeface="Arial"/>
                <a:sym typeface="Arial"/>
              </a:rPr>
              <a:t>O</a:t>
            </a:r>
            <a:r>
              <a:rPr lang="en-US" sz="1600">
                <a:solidFill>
                  <a:srgbClr val="000000"/>
                </a:solidFill>
                <a:latin typeface="Arial"/>
                <a:ea typeface="Arial"/>
                <a:cs typeface="Arial"/>
                <a:sym typeface="Arial"/>
              </a:rPr>
              <a:t>ffer (</a:t>
            </a:r>
            <a:r>
              <a:rPr lang="en-US" sz="1600">
                <a:solidFill>
                  <a:srgbClr val="7030A0"/>
                </a:solidFill>
                <a:latin typeface="Arial"/>
                <a:ea typeface="Arial"/>
                <a:cs typeface="Arial"/>
                <a:sym typeface="Arial"/>
              </a:rPr>
              <a:t>DHCPOFFER</a:t>
            </a:r>
            <a:r>
              <a:rPr lang="en-US" sz="1600">
                <a:solidFill>
                  <a:srgbClr val="000000"/>
                </a:solidFill>
                <a:latin typeface="Arial"/>
                <a:ea typeface="Arial"/>
                <a:cs typeface="Arial"/>
                <a:sym typeface="Arial"/>
              </a:rPr>
              <a:t>)</a:t>
            </a:r>
            <a:endParaRPr/>
          </a:p>
          <a:p>
            <a:pPr marL="228600" marR="0" lvl="0" indent="-228600" algn="l" rtl="0">
              <a:spcBef>
                <a:spcPts val="0"/>
              </a:spcBef>
              <a:spcAft>
                <a:spcPts val="0"/>
              </a:spcAft>
              <a:buClr>
                <a:srgbClr val="000000"/>
              </a:buClr>
              <a:buSzPts val="1600"/>
              <a:buFont typeface="Arial"/>
              <a:buAutoNum type="arabicPeriod"/>
            </a:pPr>
            <a:r>
              <a:rPr lang="en-US" sz="1600">
                <a:solidFill>
                  <a:srgbClr val="000000"/>
                </a:solidFill>
                <a:latin typeface="Arial"/>
                <a:ea typeface="Arial"/>
                <a:cs typeface="Arial"/>
                <a:sym typeface="Arial"/>
              </a:rPr>
              <a:t>DHCP </a:t>
            </a:r>
            <a:r>
              <a:rPr lang="en-US" sz="1600">
                <a:solidFill>
                  <a:srgbClr val="FF0000"/>
                </a:solidFill>
                <a:latin typeface="Arial"/>
                <a:ea typeface="Arial"/>
                <a:cs typeface="Arial"/>
                <a:sym typeface="Arial"/>
              </a:rPr>
              <a:t>R</a:t>
            </a:r>
            <a:r>
              <a:rPr lang="en-US" sz="1600">
                <a:solidFill>
                  <a:srgbClr val="000000"/>
                </a:solidFill>
                <a:latin typeface="Arial"/>
                <a:ea typeface="Arial"/>
                <a:cs typeface="Arial"/>
                <a:sym typeface="Arial"/>
              </a:rPr>
              <a:t>equest (</a:t>
            </a:r>
            <a:r>
              <a:rPr lang="en-US" sz="1600">
                <a:solidFill>
                  <a:srgbClr val="7030A0"/>
                </a:solidFill>
                <a:latin typeface="Arial"/>
                <a:ea typeface="Arial"/>
                <a:cs typeface="Arial"/>
                <a:sym typeface="Arial"/>
              </a:rPr>
              <a:t>DHCPREQUEST</a:t>
            </a:r>
            <a:r>
              <a:rPr lang="en-US" sz="1600">
                <a:solidFill>
                  <a:srgbClr val="000000"/>
                </a:solidFill>
                <a:latin typeface="Arial"/>
                <a:ea typeface="Arial"/>
                <a:cs typeface="Arial"/>
                <a:sym typeface="Arial"/>
              </a:rPr>
              <a:t>)</a:t>
            </a:r>
            <a:endParaRPr/>
          </a:p>
          <a:p>
            <a:pPr marL="228600" marR="0" lvl="0" indent="-228600" algn="l" rtl="0">
              <a:spcBef>
                <a:spcPts val="0"/>
              </a:spcBef>
              <a:spcAft>
                <a:spcPts val="0"/>
              </a:spcAft>
              <a:buClr>
                <a:srgbClr val="000000"/>
              </a:buClr>
              <a:buSzPts val="1600"/>
              <a:buFont typeface="Arial"/>
              <a:buAutoNum type="arabicPeriod"/>
            </a:pPr>
            <a:r>
              <a:rPr lang="en-US" sz="1600">
                <a:solidFill>
                  <a:srgbClr val="000000"/>
                </a:solidFill>
                <a:latin typeface="Arial"/>
                <a:ea typeface="Arial"/>
                <a:cs typeface="Arial"/>
                <a:sym typeface="Arial"/>
              </a:rPr>
              <a:t>DHCP </a:t>
            </a:r>
            <a:r>
              <a:rPr lang="en-US" sz="1600">
                <a:solidFill>
                  <a:srgbClr val="FF0000"/>
                </a:solidFill>
                <a:latin typeface="Arial"/>
                <a:ea typeface="Arial"/>
                <a:cs typeface="Arial"/>
                <a:sym typeface="Arial"/>
              </a:rPr>
              <a:t>A</a:t>
            </a:r>
            <a:r>
              <a:rPr lang="en-US" sz="1600">
                <a:solidFill>
                  <a:srgbClr val="000000"/>
                </a:solidFill>
                <a:latin typeface="Arial"/>
                <a:ea typeface="Arial"/>
                <a:cs typeface="Arial"/>
                <a:sym typeface="Arial"/>
              </a:rPr>
              <a:t>cknowledgment (</a:t>
            </a:r>
            <a:r>
              <a:rPr lang="en-US" sz="1600">
                <a:solidFill>
                  <a:srgbClr val="7030A0"/>
                </a:solidFill>
                <a:latin typeface="Arial"/>
                <a:ea typeface="Arial"/>
                <a:cs typeface="Arial"/>
                <a:sym typeface="Arial"/>
              </a:rPr>
              <a:t>DHCPACK</a:t>
            </a:r>
            <a:r>
              <a:rPr lang="en-US" sz="1600">
                <a:solidFill>
                  <a:srgbClr val="000000"/>
                </a:solidFill>
                <a:latin typeface="Arial"/>
                <a:ea typeface="Arial"/>
                <a:cs typeface="Arial"/>
                <a:sym typeface="Arial"/>
              </a:rPr>
              <a:t>)</a:t>
            </a:r>
            <a:endParaRPr/>
          </a:p>
          <a:p>
            <a:pPr marL="0" marR="0" lvl="0" indent="0" algn="l" rtl="0">
              <a:spcBef>
                <a:spcPts val="0"/>
              </a:spcBef>
              <a:spcAft>
                <a:spcPts val="0"/>
              </a:spcAft>
              <a:buNone/>
            </a:pPr>
            <a:endParaRPr sz="1200">
              <a:solidFill>
                <a:srgbClr val="000000"/>
              </a:solidFill>
              <a:latin typeface="Arial"/>
              <a:ea typeface="Arial"/>
              <a:cs typeface="Arial"/>
              <a:sym typeface="Arial"/>
            </a:endParaRPr>
          </a:p>
        </p:txBody>
      </p:sp>
      <p:pic>
        <p:nvPicPr>
          <p:cNvPr id="275" name="Google Shape;275;p6"/>
          <p:cNvPicPr preferRelativeResize="0">
            <a:picLocks noGrp="1"/>
          </p:cNvPicPr>
          <p:nvPr>
            <p:ph type="body" idx="1"/>
          </p:nvPr>
        </p:nvPicPr>
        <p:blipFill rotWithShape="1">
          <a:blip r:embed="rId3">
            <a:alphaModFix/>
          </a:blip>
          <a:srcRect/>
          <a:stretch/>
        </p:blipFill>
        <p:spPr>
          <a:xfrm>
            <a:off x="3304131" y="820849"/>
            <a:ext cx="5653752" cy="39177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DHCPv4 Concepts</a:t>
            </a:r>
            <a:br>
              <a:rPr lang="en-US"/>
            </a:br>
            <a:r>
              <a:rPr lang="en-US" sz="2400"/>
              <a:t>Steps to </a:t>
            </a:r>
            <a:r>
              <a:rPr lang="en-US" sz="2400">
                <a:solidFill>
                  <a:srgbClr val="FF0000"/>
                </a:solidFill>
              </a:rPr>
              <a:t>Renew</a:t>
            </a:r>
            <a:r>
              <a:rPr lang="en-US" sz="2400"/>
              <a:t> a Lease</a:t>
            </a:r>
            <a:endParaRPr/>
          </a:p>
        </p:txBody>
      </p:sp>
      <p:sp>
        <p:nvSpPr>
          <p:cNvPr id="282" name="Google Shape;282;p7"/>
          <p:cNvSpPr txBox="1"/>
          <p:nvPr/>
        </p:nvSpPr>
        <p:spPr>
          <a:xfrm>
            <a:off x="193999" y="731837"/>
            <a:ext cx="4136931" cy="39395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Prior to lease expiration, the client begins a two-step process to renew the lease with the DHCPv4 server, as shown in the figure:</a:t>
            </a:r>
            <a:endParaRPr/>
          </a:p>
          <a:p>
            <a:pPr marL="0" marR="0" lvl="0" indent="0" algn="l" rtl="0">
              <a:spcBef>
                <a:spcPts val="0"/>
              </a:spcBef>
              <a:spcAft>
                <a:spcPts val="0"/>
              </a:spcAft>
              <a:buNone/>
            </a:pPr>
            <a:endParaRPr sz="1400">
              <a:solidFill>
                <a:srgbClr val="000000"/>
              </a:solidFill>
              <a:latin typeface="Arial"/>
              <a:ea typeface="Arial"/>
              <a:cs typeface="Arial"/>
              <a:sym typeface="Arial"/>
            </a:endParaRPr>
          </a:p>
          <a:p>
            <a:pPr marL="0" marR="0" lvl="0" indent="0" algn="l" rtl="0">
              <a:spcBef>
                <a:spcPts val="0"/>
              </a:spcBef>
              <a:spcAft>
                <a:spcPts val="0"/>
              </a:spcAft>
              <a:buNone/>
            </a:pPr>
            <a:r>
              <a:rPr lang="en-US" sz="1400" b="1">
                <a:solidFill>
                  <a:srgbClr val="000000"/>
                </a:solidFill>
                <a:latin typeface="Arial"/>
                <a:ea typeface="Arial"/>
                <a:cs typeface="Arial"/>
                <a:sym typeface="Arial"/>
              </a:rPr>
              <a:t>1. </a:t>
            </a:r>
            <a:r>
              <a:rPr lang="en-US" sz="1400" b="1">
                <a:solidFill>
                  <a:srgbClr val="FF0000"/>
                </a:solidFill>
                <a:latin typeface="Arial"/>
                <a:ea typeface="Arial"/>
                <a:cs typeface="Arial"/>
                <a:sym typeface="Arial"/>
              </a:rPr>
              <a:t>DHCP Request (DHCPREQUEST</a:t>
            </a:r>
            <a:r>
              <a:rPr lang="en-US" sz="1400" b="1">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marL="0" marR="0" lvl="0" indent="0" algn="l" rtl="0">
              <a:spcBef>
                <a:spcPts val="0"/>
              </a:spcBef>
              <a:spcAft>
                <a:spcPts val="0"/>
              </a:spcAft>
              <a:buNone/>
            </a:pPr>
            <a:r>
              <a:rPr lang="en-US" sz="1400">
                <a:solidFill>
                  <a:srgbClr val="000000"/>
                </a:solidFill>
                <a:latin typeface="Arial"/>
                <a:ea typeface="Arial"/>
                <a:cs typeface="Arial"/>
                <a:sym typeface="Arial"/>
              </a:rPr>
              <a:t>Before the lease expires, the client sends a DHCPREQUEST message directly to the DHCPv4 server that originally offered the IPv4 address. If a DHCPACK is not received within a specified amount of time, the client broadcasts another DHCPREQUEST so that one of the other DHCPv4 servers can extend the lease.</a:t>
            </a:r>
            <a:endParaRPr/>
          </a:p>
          <a:p>
            <a:pPr marL="0" marR="0" lvl="0" indent="0" algn="l" rtl="0">
              <a:spcBef>
                <a:spcPts val="0"/>
              </a:spcBef>
              <a:spcAft>
                <a:spcPts val="0"/>
              </a:spcAft>
              <a:buNone/>
            </a:pPr>
            <a:endParaRPr sz="1400">
              <a:solidFill>
                <a:srgbClr val="000000"/>
              </a:solidFill>
              <a:latin typeface="Arial"/>
              <a:ea typeface="Arial"/>
              <a:cs typeface="Arial"/>
              <a:sym typeface="Arial"/>
            </a:endParaRPr>
          </a:p>
          <a:p>
            <a:pPr marL="0" marR="0" lvl="0" indent="0" algn="l" rtl="0">
              <a:spcBef>
                <a:spcPts val="0"/>
              </a:spcBef>
              <a:spcAft>
                <a:spcPts val="0"/>
              </a:spcAft>
              <a:buNone/>
            </a:pPr>
            <a:r>
              <a:rPr lang="en-US" sz="1400" b="1">
                <a:solidFill>
                  <a:srgbClr val="000000"/>
                </a:solidFill>
                <a:latin typeface="Arial"/>
                <a:ea typeface="Arial"/>
                <a:cs typeface="Arial"/>
                <a:sym typeface="Arial"/>
              </a:rPr>
              <a:t>2. </a:t>
            </a:r>
            <a:r>
              <a:rPr lang="en-US" sz="1400" b="1">
                <a:solidFill>
                  <a:srgbClr val="FF0000"/>
                </a:solidFill>
                <a:latin typeface="Arial"/>
                <a:ea typeface="Arial"/>
                <a:cs typeface="Arial"/>
                <a:sym typeface="Arial"/>
              </a:rPr>
              <a:t>DHCP Acknowledgment (DHCPACK)</a:t>
            </a:r>
            <a:endParaRPr sz="1400">
              <a:solidFill>
                <a:srgbClr val="FF0000"/>
              </a:solidFill>
              <a:latin typeface="Arial"/>
              <a:ea typeface="Arial"/>
              <a:cs typeface="Arial"/>
              <a:sym typeface="Arial"/>
            </a:endParaRPr>
          </a:p>
          <a:p>
            <a:pPr marL="0" marR="0" lvl="0" indent="0" algn="l" rtl="0">
              <a:spcBef>
                <a:spcPts val="0"/>
              </a:spcBef>
              <a:spcAft>
                <a:spcPts val="0"/>
              </a:spcAft>
              <a:buNone/>
            </a:pPr>
            <a:r>
              <a:rPr lang="en-US" sz="1400">
                <a:solidFill>
                  <a:srgbClr val="000000"/>
                </a:solidFill>
                <a:latin typeface="Arial"/>
                <a:ea typeface="Arial"/>
                <a:cs typeface="Arial"/>
                <a:sym typeface="Arial"/>
              </a:rPr>
              <a:t>On receiving the DHCPREQUEST message, the server verifies the lease information by returning a DHCPACK.</a:t>
            </a:r>
            <a:endParaRPr/>
          </a:p>
          <a:p>
            <a:pPr marL="0" marR="0" lvl="0" indent="0" algn="l" rtl="0">
              <a:spcBef>
                <a:spcPts val="0"/>
              </a:spcBef>
              <a:spcAft>
                <a:spcPts val="0"/>
              </a:spcAft>
              <a:buNone/>
            </a:pPr>
            <a:endParaRPr sz="1200">
              <a:solidFill>
                <a:srgbClr val="000000"/>
              </a:solidFill>
              <a:latin typeface="Arial"/>
              <a:ea typeface="Arial"/>
              <a:cs typeface="Arial"/>
              <a:sym typeface="Arial"/>
            </a:endParaRPr>
          </a:p>
        </p:txBody>
      </p:sp>
      <p:pic>
        <p:nvPicPr>
          <p:cNvPr id="283" name="Google Shape;283;p7"/>
          <p:cNvPicPr preferRelativeResize="0">
            <a:picLocks noGrp="1"/>
          </p:cNvPicPr>
          <p:nvPr>
            <p:ph type="body" idx="1"/>
          </p:nvPr>
        </p:nvPicPr>
        <p:blipFill rotWithShape="1">
          <a:blip r:embed="rId3">
            <a:alphaModFix/>
          </a:blip>
          <a:srcRect/>
          <a:stretch/>
        </p:blipFill>
        <p:spPr>
          <a:xfrm>
            <a:off x="4572000" y="965448"/>
            <a:ext cx="4197020" cy="1736159"/>
          </a:xfrm>
          <a:prstGeom prst="rect">
            <a:avLst/>
          </a:prstGeom>
          <a:noFill/>
          <a:ln>
            <a:noFill/>
          </a:ln>
        </p:spPr>
      </p:pic>
      <p:sp>
        <p:nvSpPr>
          <p:cNvPr id="284" name="Google Shape;284;p7"/>
          <p:cNvSpPr/>
          <p:nvPr/>
        </p:nvSpPr>
        <p:spPr>
          <a:xfrm>
            <a:off x="4447309" y="3096838"/>
            <a:ext cx="4802418"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00000"/>
                </a:solidFill>
                <a:latin typeface="Arial"/>
                <a:ea typeface="Arial"/>
                <a:cs typeface="Arial"/>
                <a:sym typeface="Arial"/>
              </a:rPr>
              <a:t>Note</a:t>
            </a:r>
            <a:r>
              <a:rPr lang="en-US" sz="1400">
                <a:solidFill>
                  <a:srgbClr val="000000"/>
                </a:solidFill>
                <a:latin typeface="Arial"/>
                <a:ea typeface="Arial"/>
                <a:cs typeface="Arial"/>
                <a:sym typeface="Arial"/>
              </a:rPr>
              <a:t>: These messages (primarily the DHCPOFFER and DHCPACK) can be sent as unicast or broadcast according to IETF RFC 2131.</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8"/>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7.2 Configure a Cisco IOS DHCPv4 Server</a:t>
            </a:r>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Cisco IOS DHCPv4 Server</a:t>
            </a:r>
            <a:endParaRPr/>
          </a:p>
        </p:txBody>
      </p:sp>
      <p:sp>
        <p:nvSpPr>
          <p:cNvPr id="297" name="Google Shape;297;p9"/>
          <p:cNvSpPr txBox="1">
            <a:spLocks noGrp="1"/>
          </p:cNvSpPr>
          <p:nvPr>
            <p:ph type="body" idx="1"/>
          </p:nvPr>
        </p:nvSpPr>
        <p:spPr>
          <a:xfrm>
            <a:off x="474662" y="731838"/>
            <a:ext cx="8280057" cy="1201466"/>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Now you have a basic understanding of how DHCPv4 works and how it can make your job a bit easier. A Cisco router running Cisco IOS software can be configured to act as a DHCPv4 server. The Cisco </a:t>
            </a:r>
            <a:r>
              <a:rPr lang="en-US" sz="1600">
                <a:solidFill>
                  <a:srgbClr val="FF0000"/>
                </a:solidFill>
              </a:rPr>
              <a:t>IOS DHCPv4 server </a:t>
            </a:r>
            <a:r>
              <a:rPr lang="en-US" sz="1600">
                <a:solidFill>
                  <a:srgbClr val="000000"/>
                </a:solidFill>
              </a:rPr>
              <a:t>assigns and manages IPv4 addresses from specified address pools within the router to DHCPv4 clients.</a:t>
            </a:r>
            <a:endParaRPr/>
          </a:p>
        </p:txBody>
      </p:sp>
      <p:pic>
        <p:nvPicPr>
          <p:cNvPr id="298" name="Google Shape;298;p9"/>
          <p:cNvPicPr preferRelativeResize="0"/>
          <p:nvPr/>
        </p:nvPicPr>
        <p:blipFill rotWithShape="1">
          <a:blip r:embed="rId3">
            <a:alphaModFix/>
          </a:blip>
          <a:srcRect/>
          <a:stretch/>
        </p:blipFill>
        <p:spPr>
          <a:xfrm>
            <a:off x="772160" y="2072641"/>
            <a:ext cx="7802880" cy="250770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Steps to Configure a Cisco IOS DHCPv4 Server</a:t>
            </a:r>
            <a:endParaRPr/>
          </a:p>
        </p:txBody>
      </p:sp>
      <p:sp>
        <p:nvSpPr>
          <p:cNvPr id="305" name="Google Shape;305;p10"/>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Use the following steps to configure a Cisco IOS DHCPv4 server:</a:t>
            </a:r>
            <a:endParaRPr/>
          </a:p>
          <a:p>
            <a:pPr marL="171450" lvl="0" indent="-171450" algn="l" rtl="0">
              <a:lnSpc>
                <a:spcPct val="100000"/>
              </a:lnSpc>
              <a:spcBef>
                <a:spcPts val="320"/>
              </a:spcBef>
              <a:spcAft>
                <a:spcPts val="0"/>
              </a:spcAft>
              <a:buSzPts val="1600"/>
              <a:buFont typeface="Arial"/>
              <a:buChar char="•"/>
            </a:pPr>
            <a:r>
              <a:rPr lang="en-US" sz="1600" b="1">
                <a:solidFill>
                  <a:srgbClr val="FF0000"/>
                </a:solidFill>
              </a:rPr>
              <a:t>Step 1</a:t>
            </a:r>
            <a:r>
              <a:rPr lang="en-US" sz="1600">
                <a:solidFill>
                  <a:srgbClr val="FF0000"/>
                </a:solidFill>
              </a:rPr>
              <a:t>. Exclude IPv4 addresses</a:t>
            </a:r>
            <a:r>
              <a:rPr lang="en-US" sz="1600">
                <a:solidFill>
                  <a:srgbClr val="000000"/>
                </a:solidFill>
              </a:rPr>
              <a:t>. A single address or a range of addresses can be excluded by specifying the </a:t>
            </a:r>
            <a:r>
              <a:rPr lang="en-US" sz="1600" i="1">
                <a:solidFill>
                  <a:srgbClr val="000000"/>
                </a:solidFill>
              </a:rPr>
              <a:t>low-address</a:t>
            </a:r>
            <a:r>
              <a:rPr lang="en-US" sz="1600">
                <a:solidFill>
                  <a:srgbClr val="000000"/>
                </a:solidFill>
              </a:rPr>
              <a:t> and </a:t>
            </a:r>
            <a:r>
              <a:rPr lang="en-US" sz="1600" i="1">
                <a:solidFill>
                  <a:srgbClr val="000000"/>
                </a:solidFill>
              </a:rPr>
              <a:t>high-address</a:t>
            </a:r>
            <a:r>
              <a:rPr lang="en-US" sz="1600">
                <a:solidFill>
                  <a:srgbClr val="000000"/>
                </a:solidFill>
              </a:rPr>
              <a:t> of the range. </a:t>
            </a:r>
            <a:r>
              <a:rPr lang="en-US" sz="1600">
                <a:solidFill>
                  <a:srgbClr val="FF0000"/>
                </a:solidFill>
              </a:rPr>
              <a:t>Excluded</a:t>
            </a:r>
            <a:r>
              <a:rPr lang="en-US" sz="1600">
                <a:solidFill>
                  <a:srgbClr val="000000"/>
                </a:solidFill>
              </a:rPr>
              <a:t> </a:t>
            </a:r>
            <a:r>
              <a:rPr lang="en-US" sz="1600">
                <a:solidFill>
                  <a:srgbClr val="FF0000"/>
                </a:solidFill>
              </a:rPr>
              <a:t>addresses</a:t>
            </a:r>
            <a:r>
              <a:rPr lang="en-US" sz="1600">
                <a:solidFill>
                  <a:srgbClr val="000000"/>
                </a:solidFill>
              </a:rPr>
              <a:t> should be those addresses that are assigned to </a:t>
            </a:r>
            <a:r>
              <a:rPr lang="en-US" sz="1600">
                <a:solidFill>
                  <a:srgbClr val="FF0000"/>
                </a:solidFill>
              </a:rPr>
              <a:t>routers</a:t>
            </a:r>
            <a:r>
              <a:rPr lang="en-US" sz="1600">
                <a:solidFill>
                  <a:srgbClr val="000000"/>
                </a:solidFill>
              </a:rPr>
              <a:t>, </a:t>
            </a:r>
            <a:r>
              <a:rPr lang="en-US" sz="1600">
                <a:solidFill>
                  <a:srgbClr val="FF0000"/>
                </a:solidFill>
              </a:rPr>
              <a:t>servers</a:t>
            </a:r>
            <a:r>
              <a:rPr lang="en-US" sz="1600">
                <a:solidFill>
                  <a:srgbClr val="000000"/>
                </a:solidFill>
              </a:rPr>
              <a:t>, </a:t>
            </a:r>
            <a:r>
              <a:rPr lang="en-US" sz="1600">
                <a:solidFill>
                  <a:srgbClr val="FF0000"/>
                </a:solidFill>
              </a:rPr>
              <a:t>printers</a:t>
            </a:r>
            <a:r>
              <a:rPr lang="en-US" sz="1600">
                <a:solidFill>
                  <a:srgbClr val="000000"/>
                </a:solidFill>
              </a:rPr>
              <a:t>, and </a:t>
            </a:r>
            <a:r>
              <a:rPr lang="en-US" sz="1600">
                <a:solidFill>
                  <a:srgbClr val="FF0000"/>
                </a:solidFill>
              </a:rPr>
              <a:t>other devices </a:t>
            </a:r>
            <a:r>
              <a:rPr lang="en-US" sz="1600">
                <a:solidFill>
                  <a:srgbClr val="000000"/>
                </a:solidFill>
              </a:rPr>
              <a:t>that have been, or will be, manually configured. You can also enter the command multiple times. The command is </a:t>
            </a:r>
            <a:r>
              <a:rPr lang="en-US" sz="1600" b="1">
                <a:solidFill>
                  <a:srgbClr val="FF0000"/>
                </a:solidFill>
              </a:rPr>
              <a:t>ip dhcp excluded-address </a:t>
            </a:r>
            <a:r>
              <a:rPr lang="en-US" sz="1600" b="1" i="1">
                <a:solidFill>
                  <a:srgbClr val="FF0000"/>
                </a:solidFill>
              </a:rPr>
              <a:t>low-address [high-address]</a:t>
            </a:r>
            <a:endParaRPr/>
          </a:p>
          <a:p>
            <a:pPr marL="171450" lvl="0" indent="-171450" algn="l" rtl="0">
              <a:lnSpc>
                <a:spcPct val="100000"/>
              </a:lnSpc>
              <a:spcBef>
                <a:spcPts val="320"/>
              </a:spcBef>
              <a:spcAft>
                <a:spcPts val="0"/>
              </a:spcAft>
              <a:buSzPts val="1600"/>
              <a:buFont typeface="Arial"/>
              <a:buChar char="•"/>
            </a:pPr>
            <a:r>
              <a:rPr lang="en-US" sz="1600" b="1">
                <a:solidFill>
                  <a:srgbClr val="FF0000"/>
                </a:solidFill>
              </a:rPr>
              <a:t>Step 2</a:t>
            </a:r>
            <a:r>
              <a:rPr lang="en-US" sz="1600">
                <a:solidFill>
                  <a:srgbClr val="FF0000"/>
                </a:solidFill>
              </a:rPr>
              <a:t>. Define a DHCPv4 pool name</a:t>
            </a:r>
            <a:r>
              <a:rPr lang="en-US" sz="1600">
                <a:solidFill>
                  <a:srgbClr val="000000"/>
                </a:solidFill>
              </a:rPr>
              <a:t>. The </a:t>
            </a:r>
            <a:r>
              <a:rPr lang="en-US" sz="1600" b="1">
                <a:solidFill>
                  <a:srgbClr val="FF0000"/>
                </a:solidFill>
              </a:rPr>
              <a:t>ip dhcp pool</a:t>
            </a:r>
            <a:r>
              <a:rPr lang="en-US" sz="1600">
                <a:solidFill>
                  <a:srgbClr val="FF0000"/>
                </a:solidFill>
              </a:rPr>
              <a:t> </a:t>
            </a:r>
            <a:r>
              <a:rPr lang="en-US" sz="1600" b="1" i="1">
                <a:solidFill>
                  <a:srgbClr val="FF0000"/>
                </a:solidFill>
              </a:rPr>
              <a:t>pool-name</a:t>
            </a:r>
            <a:r>
              <a:rPr lang="en-US" sz="1600">
                <a:solidFill>
                  <a:srgbClr val="000000"/>
                </a:solidFill>
              </a:rPr>
              <a:t> command creates a pool with the </a:t>
            </a:r>
            <a:r>
              <a:rPr lang="en-US" sz="1600">
                <a:solidFill>
                  <a:srgbClr val="FF0000"/>
                </a:solidFill>
              </a:rPr>
              <a:t>specified name </a:t>
            </a:r>
            <a:r>
              <a:rPr lang="en-US" sz="1600">
                <a:solidFill>
                  <a:srgbClr val="000000"/>
                </a:solidFill>
              </a:rPr>
              <a:t>and puts the router in DHCPv4 configuration mode, which is identified by the prompt </a:t>
            </a:r>
            <a:r>
              <a:rPr lang="en-US" sz="1600" b="1">
                <a:solidFill>
                  <a:srgbClr val="000000"/>
                </a:solidFill>
              </a:rPr>
              <a:t>Router(dhcp-config)#.</a:t>
            </a:r>
            <a:endParaRPr/>
          </a:p>
          <a:p>
            <a:pPr marL="0" lvl="0" indent="0" algn="l" rtl="0">
              <a:lnSpc>
                <a:spcPct val="100000"/>
              </a:lnSpc>
              <a:spcBef>
                <a:spcPts val="240"/>
              </a:spcBef>
              <a:spcAft>
                <a:spcPts val="0"/>
              </a:spcAft>
              <a:buSzPts val="1200"/>
              <a:buNone/>
            </a:pPr>
            <a:endParaRPr sz="1200">
              <a:solidFill>
                <a:srgbClr val="000000"/>
              </a:solidFill>
            </a:endParaRPr>
          </a:p>
          <a:p>
            <a:pPr marL="342900" lvl="0" indent="-266700" algn="l" rtl="0">
              <a:lnSpc>
                <a:spcPct val="100000"/>
              </a:lnSpc>
              <a:spcBef>
                <a:spcPts val="240"/>
              </a:spcBef>
              <a:spcAft>
                <a:spcPts val="0"/>
              </a:spcAft>
              <a:buSzPts val="1200"/>
              <a:buFont typeface="Arial"/>
              <a:buNone/>
            </a:pPr>
            <a:endParaRPr sz="1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Steps to Configure a Cisco IOS DHCPv4 Server (Cont.)</a:t>
            </a:r>
            <a:endParaRPr/>
          </a:p>
        </p:txBody>
      </p:sp>
      <p:sp>
        <p:nvSpPr>
          <p:cNvPr id="312" name="Google Shape;312;p11"/>
          <p:cNvSpPr txBox="1">
            <a:spLocks noGrp="1"/>
          </p:cNvSpPr>
          <p:nvPr>
            <p:ph type="body" idx="1"/>
          </p:nvPr>
        </p:nvSpPr>
        <p:spPr>
          <a:xfrm>
            <a:off x="235132" y="731838"/>
            <a:ext cx="8519588" cy="1027294"/>
          </a:xfrm>
          <a:prstGeom prst="rect">
            <a:avLst/>
          </a:prstGeom>
          <a:noFill/>
          <a:ln>
            <a:noFill/>
          </a:ln>
        </p:spPr>
        <p:txBody>
          <a:bodyPr spcFirstLastPara="1" wrap="square" lIns="91400" tIns="45700" rIns="91400" bIns="45700" anchor="t" anchorCtr="0">
            <a:noAutofit/>
          </a:bodyPr>
          <a:lstStyle/>
          <a:p>
            <a:pPr marL="171450" lvl="0" indent="-171450" algn="l" rtl="0">
              <a:lnSpc>
                <a:spcPct val="100000"/>
              </a:lnSpc>
              <a:spcBef>
                <a:spcPts val="0"/>
              </a:spcBef>
              <a:spcAft>
                <a:spcPts val="0"/>
              </a:spcAft>
              <a:buSzPts val="1600"/>
              <a:buFont typeface="Arial"/>
              <a:buChar char="•"/>
            </a:pPr>
            <a:r>
              <a:rPr lang="en-US" sz="1600" b="1">
                <a:solidFill>
                  <a:srgbClr val="FF0000"/>
                </a:solidFill>
              </a:rPr>
              <a:t>Step 3</a:t>
            </a:r>
            <a:r>
              <a:rPr lang="en-US" sz="1600">
                <a:solidFill>
                  <a:srgbClr val="FF0000"/>
                </a:solidFill>
              </a:rPr>
              <a:t>. Configure the DHCPv4 pool</a:t>
            </a:r>
            <a:r>
              <a:rPr lang="en-US" sz="1600">
                <a:solidFill>
                  <a:srgbClr val="000000"/>
                </a:solidFill>
              </a:rPr>
              <a:t>. The address pool and default gateway router must be configured. Use the </a:t>
            </a:r>
            <a:r>
              <a:rPr lang="en-US" sz="1600" b="1">
                <a:solidFill>
                  <a:srgbClr val="FF0000"/>
                </a:solidFill>
              </a:rPr>
              <a:t>network</a:t>
            </a:r>
            <a:r>
              <a:rPr lang="en-US" sz="1600">
                <a:solidFill>
                  <a:srgbClr val="000000"/>
                </a:solidFill>
              </a:rPr>
              <a:t> statement to define the range of available addresses. Use the </a:t>
            </a:r>
            <a:r>
              <a:rPr lang="en-US" sz="1600" b="1">
                <a:solidFill>
                  <a:srgbClr val="FF0000"/>
                </a:solidFill>
              </a:rPr>
              <a:t>default-router</a:t>
            </a:r>
            <a:r>
              <a:rPr lang="en-US" sz="1600">
                <a:solidFill>
                  <a:srgbClr val="FF0000"/>
                </a:solidFill>
              </a:rPr>
              <a:t> command</a:t>
            </a:r>
            <a:r>
              <a:rPr lang="en-US" sz="1600">
                <a:solidFill>
                  <a:srgbClr val="000000"/>
                </a:solidFill>
              </a:rPr>
              <a:t> to define the default gateway router. These commands and other optional commands are shown in the table.</a:t>
            </a:r>
            <a:endParaRPr/>
          </a:p>
          <a:p>
            <a:pPr marL="342900" lvl="0" indent="-266700" algn="l" rtl="0">
              <a:lnSpc>
                <a:spcPct val="100000"/>
              </a:lnSpc>
              <a:spcBef>
                <a:spcPts val="240"/>
              </a:spcBef>
              <a:spcAft>
                <a:spcPts val="0"/>
              </a:spcAft>
              <a:buSzPts val="1200"/>
              <a:buFont typeface="Arial"/>
              <a:buNone/>
            </a:pPr>
            <a:endParaRPr sz="1200">
              <a:solidFill>
                <a:srgbClr val="000000"/>
              </a:solidFill>
            </a:endParaRPr>
          </a:p>
          <a:p>
            <a:pPr marL="342900" lvl="0" indent="-266700" algn="l" rtl="0">
              <a:lnSpc>
                <a:spcPct val="100000"/>
              </a:lnSpc>
              <a:spcBef>
                <a:spcPts val="240"/>
              </a:spcBef>
              <a:spcAft>
                <a:spcPts val="0"/>
              </a:spcAft>
              <a:buSzPts val="1200"/>
              <a:buFont typeface="Arial"/>
              <a:buNone/>
            </a:pPr>
            <a:endParaRPr sz="1200">
              <a:solidFill>
                <a:srgbClr val="000000"/>
              </a:solidFill>
            </a:endParaRPr>
          </a:p>
        </p:txBody>
      </p:sp>
      <p:graphicFrame>
        <p:nvGraphicFramePr>
          <p:cNvPr id="313" name="Google Shape;313;p11"/>
          <p:cNvGraphicFramePr/>
          <p:nvPr/>
        </p:nvGraphicFramePr>
        <p:xfrm>
          <a:off x="853442" y="1898469"/>
          <a:ext cx="7141975" cy="2728425"/>
        </p:xfrm>
        <a:graphic>
          <a:graphicData uri="http://schemas.openxmlformats.org/drawingml/2006/table">
            <a:tbl>
              <a:tblPr firstRow="1" bandRow="1">
                <a:noFill/>
                <a:tableStyleId>{7CE48DEC-0919-4CC0-B943-BA415F1E0A11}</a:tableStyleId>
              </a:tblPr>
              <a:tblGrid>
                <a:gridCol w="2999200">
                  <a:extLst>
                    <a:ext uri="{9D8B030D-6E8A-4147-A177-3AD203B41FA5}">
                      <a16:colId xmlns:a16="http://schemas.microsoft.com/office/drawing/2014/main" val="20000"/>
                    </a:ext>
                  </a:extLst>
                </a:gridCol>
                <a:gridCol w="4142775">
                  <a:extLst>
                    <a:ext uri="{9D8B030D-6E8A-4147-A177-3AD203B41FA5}">
                      <a16:colId xmlns:a16="http://schemas.microsoft.com/office/drawing/2014/main" val="20001"/>
                    </a:ext>
                  </a:extLst>
                </a:gridCol>
              </a:tblGrid>
              <a:tr h="389775">
                <a:tc>
                  <a:txBody>
                    <a:bodyPr/>
                    <a:lstStyle/>
                    <a:p>
                      <a:pPr marL="0" marR="0" lvl="0" indent="0" algn="l" rtl="0">
                        <a:spcBef>
                          <a:spcPts val="0"/>
                        </a:spcBef>
                        <a:spcAft>
                          <a:spcPts val="0"/>
                        </a:spcAft>
                        <a:buNone/>
                      </a:pPr>
                      <a:r>
                        <a:rPr lang="en-US" sz="1000" b="1" u="none" strike="noStrike" cap="none"/>
                        <a:t>Task</a:t>
                      </a:r>
                      <a:endParaRPr sz="1000" u="none" strike="noStrike" cap="none"/>
                    </a:p>
                  </a:txBody>
                  <a:tcPr marL="47625" marR="47625" marT="47625" marB="47625" anchor="ctr"/>
                </a:tc>
                <a:tc>
                  <a:txBody>
                    <a:bodyPr/>
                    <a:lstStyle/>
                    <a:p>
                      <a:pPr marL="0" marR="0" lvl="0" indent="0" algn="l" rtl="0">
                        <a:spcBef>
                          <a:spcPts val="0"/>
                        </a:spcBef>
                        <a:spcAft>
                          <a:spcPts val="0"/>
                        </a:spcAft>
                        <a:buNone/>
                      </a:pPr>
                      <a:r>
                        <a:rPr lang="en-US" sz="1000" b="1" u="none" strike="noStrike" cap="none"/>
                        <a:t>IOS Command</a:t>
                      </a:r>
                      <a:endParaRPr sz="1000" u="none" strike="noStrike" cap="none"/>
                    </a:p>
                  </a:txBody>
                  <a:tcPr marL="47625" marR="47625" marT="47625" marB="47625" anchor="ctr"/>
                </a:tc>
                <a:extLst>
                  <a:ext uri="{0D108BD9-81ED-4DB2-BD59-A6C34878D82A}">
                    <a16:rowId xmlns:a16="http://schemas.microsoft.com/office/drawing/2014/main" val="10000"/>
                  </a:ext>
                </a:extLst>
              </a:tr>
              <a:tr h="389775">
                <a:tc>
                  <a:txBody>
                    <a:bodyPr/>
                    <a:lstStyle/>
                    <a:p>
                      <a:pPr marL="0" marR="0" lvl="0" indent="0" algn="l" rtl="0">
                        <a:spcBef>
                          <a:spcPts val="0"/>
                        </a:spcBef>
                        <a:spcAft>
                          <a:spcPts val="0"/>
                        </a:spcAft>
                        <a:buNone/>
                      </a:pPr>
                      <a:r>
                        <a:rPr lang="en-US" sz="1000" b="0" u="none" strike="noStrike" cap="none">
                          <a:solidFill>
                            <a:srgbClr val="000000"/>
                          </a:solidFill>
                        </a:rPr>
                        <a:t>Define the address pool.</a:t>
                      </a:r>
                      <a:endParaRPr/>
                    </a:p>
                  </a:txBody>
                  <a:tcPr marL="47625" marR="47625" marT="47625" marB="47625" anchor="ctr"/>
                </a:tc>
                <a:tc>
                  <a:txBody>
                    <a:bodyPr/>
                    <a:lstStyle/>
                    <a:p>
                      <a:pPr marL="0" marR="0" lvl="0" indent="0" algn="l" rtl="0">
                        <a:spcBef>
                          <a:spcPts val="0"/>
                        </a:spcBef>
                        <a:spcAft>
                          <a:spcPts val="0"/>
                        </a:spcAft>
                        <a:buNone/>
                      </a:pPr>
                      <a:r>
                        <a:rPr lang="en-US" sz="1000" b="1" u="none" strike="noStrike" cap="none">
                          <a:solidFill>
                            <a:srgbClr val="000000"/>
                          </a:solidFill>
                        </a:rPr>
                        <a:t>network</a:t>
                      </a:r>
                      <a:r>
                        <a:rPr lang="en-US" sz="1000" b="0" u="none" strike="noStrike" cap="none">
                          <a:solidFill>
                            <a:srgbClr val="000000"/>
                          </a:solidFill>
                        </a:rPr>
                        <a:t> </a:t>
                      </a:r>
                      <a:r>
                        <a:rPr lang="en-US" sz="1000" b="0" i="1" u="none" strike="noStrike" cap="none">
                          <a:solidFill>
                            <a:srgbClr val="000000"/>
                          </a:solidFill>
                        </a:rPr>
                        <a:t>network-number</a:t>
                      </a:r>
                      <a:r>
                        <a:rPr lang="en-US" sz="1000" b="0" u="none" strike="noStrike" cap="none">
                          <a:solidFill>
                            <a:srgbClr val="000000"/>
                          </a:solidFill>
                        </a:rPr>
                        <a:t> [</a:t>
                      </a:r>
                      <a:r>
                        <a:rPr lang="en-US" sz="1000" b="0" i="1" u="none" strike="noStrike" cap="none">
                          <a:solidFill>
                            <a:srgbClr val="000000"/>
                          </a:solidFill>
                        </a:rPr>
                        <a:t>mask</a:t>
                      </a:r>
                      <a:r>
                        <a:rPr lang="en-US" sz="1000" b="0" u="none" strike="noStrike" cap="none">
                          <a:solidFill>
                            <a:srgbClr val="000000"/>
                          </a:solidFill>
                        </a:rPr>
                        <a:t> | / </a:t>
                      </a:r>
                      <a:r>
                        <a:rPr lang="en-US" sz="1000" b="0" i="1" u="none" strike="noStrike" cap="none">
                          <a:solidFill>
                            <a:srgbClr val="000000"/>
                          </a:solidFill>
                        </a:rPr>
                        <a:t>prefix-length</a:t>
                      </a:r>
                      <a:r>
                        <a:rPr lang="en-US" sz="1000" b="0" u="none" strike="noStrike" cap="none">
                          <a:solidFill>
                            <a:srgbClr val="000000"/>
                          </a:solidFill>
                        </a:rPr>
                        <a:t>]</a:t>
                      </a:r>
                      <a:endParaRPr/>
                    </a:p>
                  </a:txBody>
                  <a:tcPr marL="47625" marR="47625" marT="47625" marB="47625" anchor="ctr"/>
                </a:tc>
                <a:extLst>
                  <a:ext uri="{0D108BD9-81ED-4DB2-BD59-A6C34878D82A}">
                    <a16:rowId xmlns:a16="http://schemas.microsoft.com/office/drawing/2014/main" val="10001"/>
                  </a:ext>
                </a:extLst>
              </a:tr>
              <a:tr h="389775">
                <a:tc>
                  <a:txBody>
                    <a:bodyPr/>
                    <a:lstStyle/>
                    <a:p>
                      <a:pPr marL="0" marR="0" lvl="0" indent="0" algn="l" rtl="0">
                        <a:spcBef>
                          <a:spcPts val="0"/>
                        </a:spcBef>
                        <a:spcAft>
                          <a:spcPts val="0"/>
                        </a:spcAft>
                        <a:buNone/>
                      </a:pPr>
                      <a:r>
                        <a:rPr lang="en-US" sz="1000" b="0" u="none" strike="noStrike" cap="none">
                          <a:solidFill>
                            <a:srgbClr val="000000"/>
                          </a:solidFill>
                        </a:rPr>
                        <a:t>Define the default router or gateway.</a:t>
                      </a:r>
                      <a:endParaRPr/>
                    </a:p>
                  </a:txBody>
                  <a:tcPr marL="47625" marR="47625" marT="47625" marB="47625" anchor="ctr"/>
                </a:tc>
                <a:tc>
                  <a:txBody>
                    <a:bodyPr/>
                    <a:lstStyle/>
                    <a:p>
                      <a:pPr marL="0" marR="0" lvl="0" indent="0" algn="l" rtl="0">
                        <a:spcBef>
                          <a:spcPts val="0"/>
                        </a:spcBef>
                        <a:spcAft>
                          <a:spcPts val="0"/>
                        </a:spcAft>
                        <a:buNone/>
                      </a:pPr>
                      <a:r>
                        <a:rPr lang="en-US" sz="1000" b="1" u="none" strike="noStrike" cap="none">
                          <a:solidFill>
                            <a:srgbClr val="000000"/>
                          </a:solidFill>
                        </a:rPr>
                        <a:t>default-router</a:t>
                      </a:r>
                      <a:r>
                        <a:rPr lang="en-US" sz="1000" b="0" u="none" strike="noStrike" cap="none">
                          <a:solidFill>
                            <a:srgbClr val="000000"/>
                          </a:solidFill>
                        </a:rPr>
                        <a:t> address [ </a:t>
                      </a:r>
                      <a:r>
                        <a:rPr lang="en-US" sz="1000" b="0" i="1" u="none" strike="noStrike" cap="none">
                          <a:solidFill>
                            <a:srgbClr val="000000"/>
                          </a:solidFill>
                        </a:rPr>
                        <a:t>address2….address8</a:t>
                      </a:r>
                      <a:r>
                        <a:rPr lang="en-US" sz="1000" b="0" u="none" strike="noStrike" cap="none">
                          <a:solidFill>
                            <a:srgbClr val="000000"/>
                          </a:solidFill>
                        </a:rPr>
                        <a:t>]</a:t>
                      </a:r>
                      <a:endParaRPr/>
                    </a:p>
                  </a:txBody>
                  <a:tcPr marL="47625" marR="47625" marT="47625" marB="47625" anchor="ctr"/>
                </a:tc>
                <a:extLst>
                  <a:ext uri="{0D108BD9-81ED-4DB2-BD59-A6C34878D82A}">
                    <a16:rowId xmlns:a16="http://schemas.microsoft.com/office/drawing/2014/main" val="10002"/>
                  </a:ext>
                </a:extLst>
              </a:tr>
              <a:tr h="389775">
                <a:tc>
                  <a:txBody>
                    <a:bodyPr/>
                    <a:lstStyle/>
                    <a:p>
                      <a:pPr marL="0" marR="0" lvl="0" indent="0" algn="l" rtl="0">
                        <a:spcBef>
                          <a:spcPts val="0"/>
                        </a:spcBef>
                        <a:spcAft>
                          <a:spcPts val="0"/>
                        </a:spcAft>
                        <a:buNone/>
                      </a:pPr>
                      <a:r>
                        <a:rPr lang="en-US" sz="1000" b="0" u="none" strike="noStrike" cap="none">
                          <a:solidFill>
                            <a:srgbClr val="000000"/>
                          </a:solidFill>
                        </a:rPr>
                        <a:t>Define a DNS server.</a:t>
                      </a:r>
                      <a:endParaRPr/>
                    </a:p>
                  </a:txBody>
                  <a:tcPr marL="47625" marR="47625" marT="47625" marB="47625" anchor="ctr"/>
                </a:tc>
                <a:tc>
                  <a:txBody>
                    <a:bodyPr/>
                    <a:lstStyle/>
                    <a:p>
                      <a:pPr marL="0" marR="0" lvl="0" indent="0" algn="l" rtl="0">
                        <a:spcBef>
                          <a:spcPts val="0"/>
                        </a:spcBef>
                        <a:spcAft>
                          <a:spcPts val="0"/>
                        </a:spcAft>
                        <a:buNone/>
                      </a:pPr>
                      <a:r>
                        <a:rPr lang="en-US" sz="1000" b="1" u="none" strike="noStrike" cap="none">
                          <a:solidFill>
                            <a:srgbClr val="000000"/>
                          </a:solidFill>
                        </a:rPr>
                        <a:t>dns-server</a:t>
                      </a:r>
                      <a:r>
                        <a:rPr lang="en-US" sz="1000" b="0" u="none" strike="noStrike" cap="none">
                          <a:solidFill>
                            <a:srgbClr val="000000"/>
                          </a:solidFill>
                        </a:rPr>
                        <a:t> </a:t>
                      </a:r>
                      <a:r>
                        <a:rPr lang="en-US" sz="1000" b="0" i="1" u="none" strike="noStrike" cap="none">
                          <a:solidFill>
                            <a:srgbClr val="000000"/>
                          </a:solidFill>
                        </a:rPr>
                        <a:t>address</a:t>
                      </a:r>
                      <a:r>
                        <a:rPr lang="en-US" sz="1000" b="0" u="none" strike="noStrike" cap="none">
                          <a:solidFill>
                            <a:srgbClr val="000000"/>
                          </a:solidFill>
                        </a:rPr>
                        <a:t> [ </a:t>
                      </a:r>
                      <a:r>
                        <a:rPr lang="en-US" sz="1000" b="0" i="1" u="none" strike="noStrike" cap="none">
                          <a:solidFill>
                            <a:srgbClr val="000000"/>
                          </a:solidFill>
                        </a:rPr>
                        <a:t>address2…address8</a:t>
                      </a:r>
                      <a:r>
                        <a:rPr lang="en-US" sz="1000" b="0" u="none" strike="noStrike" cap="none">
                          <a:solidFill>
                            <a:srgbClr val="000000"/>
                          </a:solidFill>
                        </a:rPr>
                        <a:t>]</a:t>
                      </a:r>
                      <a:endParaRPr/>
                    </a:p>
                  </a:txBody>
                  <a:tcPr marL="47625" marR="47625" marT="47625" marB="47625" anchor="ctr"/>
                </a:tc>
                <a:extLst>
                  <a:ext uri="{0D108BD9-81ED-4DB2-BD59-A6C34878D82A}">
                    <a16:rowId xmlns:a16="http://schemas.microsoft.com/office/drawing/2014/main" val="10003"/>
                  </a:ext>
                </a:extLst>
              </a:tr>
              <a:tr h="389775">
                <a:tc>
                  <a:txBody>
                    <a:bodyPr/>
                    <a:lstStyle/>
                    <a:p>
                      <a:pPr marL="0" marR="0" lvl="0" indent="0" algn="l" rtl="0">
                        <a:spcBef>
                          <a:spcPts val="0"/>
                        </a:spcBef>
                        <a:spcAft>
                          <a:spcPts val="0"/>
                        </a:spcAft>
                        <a:buNone/>
                      </a:pPr>
                      <a:r>
                        <a:rPr lang="en-US" sz="1000" b="0" u="none" strike="noStrike" cap="none">
                          <a:solidFill>
                            <a:srgbClr val="000000"/>
                          </a:solidFill>
                        </a:rPr>
                        <a:t>Define the domain name.</a:t>
                      </a:r>
                      <a:endParaRPr/>
                    </a:p>
                  </a:txBody>
                  <a:tcPr marL="47625" marR="47625" marT="47625" marB="47625" anchor="ctr"/>
                </a:tc>
                <a:tc>
                  <a:txBody>
                    <a:bodyPr/>
                    <a:lstStyle/>
                    <a:p>
                      <a:pPr marL="0" marR="0" lvl="0" indent="0" algn="l" rtl="0">
                        <a:spcBef>
                          <a:spcPts val="0"/>
                        </a:spcBef>
                        <a:spcAft>
                          <a:spcPts val="0"/>
                        </a:spcAft>
                        <a:buNone/>
                      </a:pPr>
                      <a:r>
                        <a:rPr lang="en-US" sz="1000" b="1" u="none" strike="noStrike" cap="none">
                          <a:solidFill>
                            <a:srgbClr val="000000"/>
                          </a:solidFill>
                        </a:rPr>
                        <a:t>domain-name</a:t>
                      </a:r>
                      <a:r>
                        <a:rPr lang="en-US" sz="1000" b="0" u="none" strike="noStrike" cap="none">
                          <a:solidFill>
                            <a:srgbClr val="000000"/>
                          </a:solidFill>
                        </a:rPr>
                        <a:t> </a:t>
                      </a:r>
                      <a:r>
                        <a:rPr lang="en-US" sz="1000" b="0" i="1" u="none" strike="noStrike" cap="none">
                          <a:solidFill>
                            <a:srgbClr val="000000"/>
                          </a:solidFill>
                        </a:rPr>
                        <a:t>domain</a:t>
                      </a:r>
                      <a:endParaRPr sz="1000" b="0" u="none" strike="noStrike" cap="none">
                        <a:solidFill>
                          <a:srgbClr val="000000"/>
                        </a:solidFill>
                      </a:endParaRPr>
                    </a:p>
                  </a:txBody>
                  <a:tcPr marL="47625" marR="47625" marT="47625" marB="47625" anchor="ctr"/>
                </a:tc>
                <a:extLst>
                  <a:ext uri="{0D108BD9-81ED-4DB2-BD59-A6C34878D82A}">
                    <a16:rowId xmlns:a16="http://schemas.microsoft.com/office/drawing/2014/main" val="10004"/>
                  </a:ext>
                </a:extLst>
              </a:tr>
              <a:tr h="389775">
                <a:tc>
                  <a:txBody>
                    <a:bodyPr/>
                    <a:lstStyle/>
                    <a:p>
                      <a:pPr marL="0" marR="0" lvl="0" indent="0" algn="l" rtl="0">
                        <a:spcBef>
                          <a:spcPts val="0"/>
                        </a:spcBef>
                        <a:spcAft>
                          <a:spcPts val="0"/>
                        </a:spcAft>
                        <a:buNone/>
                      </a:pPr>
                      <a:r>
                        <a:rPr lang="en-US" sz="1000" b="0" u="none" strike="noStrike" cap="none">
                          <a:solidFill>
                            <a:srgbClr val="000000"/>
                          </a:solidFill>
                        </a:rPr>
                        <a:t>Define the duration of the DHCP lease.</a:t>
                      </a:r>
                      <a:endParaRPr/>
                    </a:p>
                  </a:txBody>
                  <a:tcPr marL="47625" marR="47625" marT="47625" marB="47625" anchor="ctr"/>
                </a:tc>
                <a:tc>
                  <a:txBody>
                    <a:bodyPr/>
                    <a:lstStyle/>
                    <a:p>
                      <a:pPr marL="0" marR="0" lvl="0" indent="0" algn="l" rtl="0">
                        <a:spcBef>
                          <a:spcPts val="0"/>
                        </a:spcBef>
                        <a:spcAft>
                          <a:spcPts val="0"/>
                        </a:spcAft>
                        <a:buNone/>
                      </a:pPr>
                      <a:r>
                        <a:rPr lang="en-US" sz="1000" b="1" u="none" strike="noStrike" cap="none">
                          <a:solidFill>
                            <a:srgbClr val="000000"/>
                          </a:solidFill>
                        </a:rPr>
                        <a:t>lease</a:t>
                      </a:r>
                      <a:r>
                        <a:rPr lang="en-US" sz="1000" b="0" u="none" strike="noStrike" cap="none">
                          <a:solidFill>
                            <a:srgbClr val="000000"/>
                          </a:solidFill>
                        </a:rPr>
                        <a:t> {</a:t>
                      </a:r>
                      <a:r>
                        <a:rPr lang="en-US" sz="1000" b="0" i="1" u="none" strike="noStrike" cap="none">
                          <a:solidFill>
                            <a:srgbClr val="000000"/>
                          </a:solidFill>
                        </a:rPr>
                        <a:t>days</a:t>
                      </a:r>
                      <a:r>
                        <a:rPr lang="en-US" sz="1000" b="0" u="none" strike="noStrike" cap="none">
                          <a:solidFill>
                            <a:srgbClr val="000000"/>
                          </a:solidFill>
                        </a:rPr>
                        <a:t> [</a:t>
                      </a:r>
                      <a:r>
                        <a:rPr lang="en-US" sz="1000" b="0" i="1" u="none" strike="noStrike" cap="none">
                          <a:solidFill>
                            <a:srgbClr val="000000"/>
                          </a:solidFill>
                        </a:rPr>
                        <a:t>hours</a:t>
                      </a:r>
                      <a:r>
                        <a:rPr lang="en-US" sz="1000" b="0" u="none" strike="noStrike" cap="none">
                          <a:solidFill>
                            <a:srgbClr val="000000"/>
                          </a:solidFill>
                        </a:rPr>
                        <a:t> [ </a:t>
                      </a:r>
                      <a:r>
                        <a:rPr lang="en-US" sz="1000" b="0" i="1" u="none" strike="noStrike" cap="none">
                          <a:solidFill>
                            <a:srgbClr val="000000"/>
                          </a:solidFill>
                        </a:rPr>
                        <a:t>minutes</a:t>
                      </a:r>
                      <a:r>
                        <a:rPr lang="en-US" sz="1000" b="0" u="none" strike="noStrike" cap="none">
                          <a:solidFill>
                            <a:srgbClr val="000000"/>
                          </a:solidFill>
                        </a:rPr>
                        <a:t>]] | </a:t>
                      </a:r>
                      <a:r>
                        <a:rPr lang="en-US" sz="1000" b="1" u="none" strike="noStrike" cap="none">
                          <a:solidFill>
                            <a:srgbClr val="000000"/>
                          </a:solidFill>
                        </a:rPr>
                        <a:t>infinite</a:t>
                      </a:r>
                      <a:r>
                        <a:rPr lang="en-US" sz="1000" b="0" u="none" strike="noStrike" cap="none">
                          <a:solidFill>
                            <a:srgbClr val="000000"/>
                          </a:solidFill>
                        </a:rPr>
                        <a:t>}</a:t>
                      </a:r>
                      <a:endParaRPr/>
                    </a:p>
                  </a:txBody>
                  <a:tcPr marL="47625" marR="47625" marT="47625" marB="47625" anchor="ctr"/>
                </a:tc>
                <a:extLst>
                  <a:ext uri="{0D108BD9-81ED-4DB2-BD59-A6C34878D82A}">
                    <a16:rowId xmlns:a16="http://schemas.microsoft.com/office/drawing/2014/main" val="10005"/>
                  </a:ext>
                </a:extLst>
              </a:tr>
              <a:tr h="389775">
                <a:tc>
                  <a:txBody>
                    <a:bodyPr/>
                    <a:lstStyle/>
                    <a:p>
                      <a:pPr marL="0" marR="0" lvl="0" indent="0" algn="l" rtl="0">
                        <a:spcBef>
                          <a:spcPts val="0"/>
                        </a:spcBef>
                        <a:spcAft>
                          <a:spcPts val="0"/>
                        </a:spcAft>
                        <a:buNone/>
                      </a:pPr>
                      <a:r>
                        <a:rPr lang="en-US" sz="1000" b="0" u="none" strike="noStrike" cap="none">
                          <a:solidFill>
                            <a:srgbClr val="000000"/>
                          </a:solidFill>
                        </a:rPr>
                        <a:t>Define the NetBIOS WINS server.</a:t>
                      </a:r>
                      <a:endParaRPr/>
                    </a:p>
                  </a:txBody>
                  <a:tcPr marL="47625" marR="47625" marT="47625" marB="47625" anchor="ctr"/>
                </a:tc>
                <a:tc>
                  <a:txBody>
                    <a:bodyPr/>
                    <a:lstStyle/>
                    <a:p>
                      <a:pPr marL="0" marR="0" lvl="0" indent="0" algn="l" rtl="0">
                        <a:spcBef>
                          <a:spcPts val="0"/>
                        </a:spcBef>
                        <a:spcAft>
                          <a:spcPts val="0"/>
                        </a:spcAft>
                        <a:buNone/>
                      </a:pPr>
                      <a:r>
                        <a:rPr lang="en-US" sz="1000" b="1" u="none" strike="noStrike" cap="none">
                          <a:solidFill>
                            <a:srgbClr val="000000"/>
                          </a:solidFill>
                        </a:rPr>
                        <a:t>netbios-name-server</a:t>
                      </a:r>
                      <a:r>
                        <a:rPr lang="en-US" sz="1000" b="0" u="none" strike="noStrike" cap="none">
                          <a:solidFill>
                            <a:srgbClr val="000000"/>
                          </a:solidFill>
                        </a:rPr>
                        <a:t> </a:t>
                      </a:r>
                      <a:r>
                        <a:rPr lang="en-US" sz="1000" b="0" i="1" u="none" strike="noStrike" cap="none">
                          <a:solidFill>
                            <a:srgbClr val="000000"/>
                          </a:solidFill>
                        </a:rPr>
                        <a:t>address</a:t>
                      </a:r>
                      <a:r>
                        <a:rPr lang="en-US" sz="1000" b="0" u="none" strike="noStrike" cap="none">
                          <a:solidFill>
                            <a:srgbClr val="000000"/>
                          </a:solidFill>
                        </a:rPr>
                        <a:t> [ </a:t>
                      </a:r>
                      <a:r>
                        <a:rPr lang="en-US" sz="1000" b="0" i="1" u="none" strike="noStrike" cap="none">
                          <a:solidFill>
                            <a:srgbClr val="000000"/>
                          </a:solidFill>
                        </a:rPr>
                        <a:t>address2…address8</a:t>
                      </a:r>
                      <a:r>
                        <a:rPr lang="en-US" sz="1000" b="0" u="none" strike="noStrike" cap="none">
                          <a:solidFill>
                            <a:srgbClr val="000000"/>
                          </a:solidFill>
                        </a:rPr>
                        <a:t>]</a:t>
                      </a:r>
                      <a:endParaRPr/>
                    </a:p>
                  </a:txBody>
                  <a:tcPr marL="47625" marR="47625" marT="47625" marB="47625" anchor="ct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Configuration Example</a:t>
            </a:r>
            <a:endParaRPr/>
          </a:p>
        </p:txBody>
      </p:sp>
      <p:pic>
        <p:nvPicPr>
          <p:cNvPr id="320" name="Google Shape;320;p12"/>
          <p:cNvPicPr preferRelativeResize="0"/>
          <p:nvPr/>
        </p:nvPicPr>
        <p:blipFill rotWithShape="1">
          <a:blip r:embed="rId3">
            <a:alphaModFix/>
          </a:blip>
          <a:srcRect/>
          <a:stretch/>
        </p:blipFill>
        <p:spPr>
          <a:xfrm>
            <a:off x="3302737" y="168042"/>
            <a:ext cx="5526303" cy="2334715"/>
          </a:xfrm>
          <a:prstGeom prst="rect">
            <a:avLst/>
          </a:prstGeom>
          <a:noFill/>
          <a:ln>
            <a:noFill/>
          </a:ln>
        </p:spPr>
      </p:pic>
      <p:pic>
        <p:nvPicPr>
          <p:cNvPr id="321" name="Google Shape;321;p12"/>
          <p:cNvPicPr preferRelativeResize="0"/>
          <p:nvPr/>
        </p:nvPicPr>
        <p:blipFill rotWithShape="1">
          <a:blip r:embed="rId4">
            <a:alphaModFix/>
          </a:blip>
          <a:srcRect/>
          <a:stretch/>
        </p:blipFill>
        <p:spPr>
          <a:xfrm>
            <a:off x="0" y="1320800"/>
            <a:ext cx="5595847" cy="35864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DHCPv4 Verification</a:t>
            </a:r>
            <a:endParaRPr/>
          </a:p>
        </p:txBody>
      </p:sp>
      <p:sp>
        <p:nvSpPr>
          <p:cNvPr id="328" name="Google Shape;328;p13"/>
          <p:cNvSpPr/>
          <p:nvPr/>
        </p:nvSpPr>
        <p:spPr>
          <a:xfrm>
            <a:off x="257628" y="900929"/>
            <a:ext cx="862511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58585B"/>
                </a:solidFill>
                <a:latin typeface="Arial"/>
                <a:ea typeface="Arial"/>
                <a:cs typeface="Arial"/>
                <a:sym typeface="Arial"/>
              </a:rPr>
              <a:t>Use the commands in the table to verify that the Cisco IOS DHCPv4 server is operational</a:t>
            </a:r>
            <a:r>
              <a:rPr lang="en-US" sz="1400">
                <a:solidFill>
                  <a:srgbClr val="58585B"/>
                </a:solidFill>
                <a:latin typeface="Arial"/>
                <a:ea typeface="Arial"/>
                <a:cs typeface="Arial"/>
                <a:sym typeface="Arial"/>
              </a:rPr>
              <a:t>.</a:t>
            </a:r>
            <a:endParaRPr sz="1400">
              <a:solidFill>
                <a:schemeClr val="dk1"/>
              </a:solidFill>
              <a:latin typeface="Arial"/>
              <a:ea typeface="Arial"/>
              <a:cs typeface="Arial"/>
              <a:sym typeface="Arial"/>
            </a:endParaRPr>
          </a:p>
        </p:txBody>
      </p:sp>
      <p:graphicFrame>
        <p:nvGraphicFramePr>
          <p:cNvPr id="329" name="Google Shape;329;p13"/>
          <p:cNvGraphicFramePr/>
          <p:nvPr/>
        </p:nvGraphicFramePr>
        <p:xfrm>
          <a:off x="257628" y="1672046"/>
          <a:ext cx="8454550" cy="1970950"/>
        </p:xfrm>
        <a:graphic>
          <a:graphicData uri="http://schemas.openxmlformats.org/drawingml/2006/table">
            <a:tbl>
              <a:tblPr firstRow="1" bandRow="1">
                <a:noFill/>
                <a:tableStyleId>{7CE48DEC-0919-4CC0-B943-BA415F1E0A11}</a:tableStyleId>
              </a:tblPr>
              <a:tblGrid>
                <a:gridCol w="3265975">
                  <a:extLst>
                    <a:ext uri="{9D8B030D-6E8A-4147-A177-3AD203B41FA5}">
                      <a16:colId xmlns:a16="http://schemas.microsoft.com/office/drawing/2014/main" val="20000"/>
                    </a:ext>
                  </a:extLst>
                </a:gridCol>
                <a:gridCol w="5188575">
                  <a:extLst>
                    <a:ext uri="{9D8B030D-6E8A-4147-A177-3AD203B41FA5}">
                      <a16:colId xmlns:a16="http://schemas.microsoft.com/office/drawing/2014/main" val="20001"/>
                    </a:ext>
                  </a:extLst>
                </a:gridCol>
              </a:tblGrid>
              <a:tr h="439325">
                <a:tc>
                  <a:txBody>
                    <a:bodyPr/>
                    <a:lstStyle/>
                    <a:p>
                      <a:pPr marL="0" marR="0" lvl="0" indent="0" algn="l" rtl="0">
                        <a:spcBef>
                          <a:spcPts val="0"/>
                        </a:spcBef>
                        <a:spcAft>
                          <a:spcPts val="0"/>
                        </a:spcAft>
                        <a:buNone/>
                      </a:pPr>
                      <a:r>
                        <a:rPr lang="en-US" sz="1200" b="1" u="none" strike="noStrike" cap="none"/>
                        <a:t>Command</a:t>
                      </a:r>
                      <a:endParaRPr sz="1200" u="none" strike="noStrike" cap="none"/>
                    </a:p>
                  </a:txBody>
                  <a:tcPr marL="47625" marR="47625" marT="47625" marB="47625" anchor="ctr"/>
                </a:tc>
                <a:tc>
                  <a:txBody>
                    <a:bodyPr/>
                    <a:lstStyle/>
                    <a:p>
                      <a:pPr marL="0" marR="0" lvl="0" indent="0" algn="l" rtl="0">
                        <a:spcBef>
                          <a:spcPts val="0"/>
                        </a:spcBef>
                        <a:spcAft>
                          <a:spcPts val="0"/>
                        </a:spcAft>
                        <a:buNone/>
                      </a:pPr>
                      <a:r>
                        <a:rPr lang="en-US" sz="1200" b="1" u="none" strike="noStrike" cap="none"/>
                        <a:t>Description</a:t>
                      </a:r>
                      <a:endParaRPr sz="1200" u="none" strike="noStrike" cap="none"/>
                    </a:p>
                  </a:txBody>
                  <a:tcPr marL="47625" marR="47625" marT="47625" marB="47625" anchor="ctr"/>
                </a:tc>
                <a:extLst>
                  <a:ext uri="{0D108BD9-81ED-4DB2-BD59-A6C34878D82A}">
                    <a16:rowId xmlns:a16="http://schemas.microsoft.com/office/drawing/2014/main" val="10000"/>
                  </a:ext>
                </a:extLst>
              </a:tr>
              <a:tr h="439325">
                <a:tc>
                  <a:txBody>
                    <a:bodyPr/>
                    <a:lstStyle/>
                    <a:p>
                      <a:pPr marL="0" marR="0" lvl="0" indent="0" algn="l" rtl="0">
                        <a:spcBef>
                          <a:spcPts val="0"/>
                        </a:spcBef>
                        <a:spcAft>
                          <a:spcPts val="0"/>
                        </a:spcAft>
                        <a:buNone/>
                      </a:pPr>
                      <a:r>
                        <a:rPr lang="en-US" sz="1200" b="1" u="none" strike="noStrike" cap="none">
                          <a:solidFill>
                            <a:srgbClr val="000000"/>
                          </a:solidFill>
                        </a:rPr>
                        <a:t>show running-config | section dhcp</a:t>
                      </a:r>
                      <a:endParaRPr sz="1200" b="0" u="none" strike="noStrike" cap="none">
                        <a:solidFill>
                          <a:srgbClr val="000000"/>
                        </a:solidFill>
                      </a:endParaRPr>
                    </a:p>
                  </a:txBody>
                  <a:tcPr marL="47625" marR="47625" marT="47625" marB="47625" anchor="ctr"/>
                </a:tc>
                <a:tc>
                  <a:txBody>
                    <a:bodyPr/>
                    <a:lstStyle/>
                    <a:p>
                      <a:pPr marL="0" marR="0" lvl="0" indent="0" algn="l" rtl="0">
                        <a:spcBef>
                          <a:spcPts val="0"/>
                        </a:spcBef>
                        <a:spcAft>
                          <a:spcPts val="0"/>
                        </a:spcAft>
                        <a:buNone/>
                      </a:pPr>
                      <a:r>
                        <a:rPr lang="en-US" sz="1200" b="0" u="none" strike="noStrike" cap="none">
                          <a:solidFill>
                            <a:srgbClr val="000000"/>
                          </a:solidFill>
                        </a:rPr>
                        <a:t>Displays the DHCPv4 commands configured on the router.</a:t>
                      </a:r>
                      <a:endParaRPr/>
                    </a:p>
                  </a:txBody>
                  <a:tcPr marL="47625" marR="47625" marT="47625" marB="47625" anchor="ctr"/>
                </a:tc>
                <a:extLst>
                  <a:ext uri="{0D108BD9-81ED-4DB2-BD59-A6C34878D82A}">
                    <a16:rowId xmlns:a16="http://schemas.microsoft.com/office/drawing/2014/main" val="10001"/>
                  </a:ext>
                </a:extLst>
              </a:tr>
              <a:tr h="546150">
                <a:tc>
                  <a:txBody>
                    <a:bodyPr/>
                    <a:lstStyle/>
                    <a:p>
                      <a:pPr marL="0" marR="0" lvl="0" indent="0" algn="l" rtl="0">
                        <a:spcBef>
                          <a:spcPts val="0"/>
                        </a:spcBef>
                        <a:spcAft>
                          <a:spcPts val="0"/>
                        </a:spcAft>
                        <a:buNone/>
                      </a:pPr>
                      <a:r>
                        <a:rPr lang="en-US" sz="1200" b="1" u="none" strike="noStrike" cap="none">
                          <a:solidFill>
                            <a:srgbClr val="000000"/>
                          </a:solidFill>
                        </a:rPr>
                        <a:t>show ip dhcp binding</a:t>
                      </a:r>
                      <a:endParaRPr sz="1200" b="0" u="none" strike="noStrike" cap="none">
                        <a:solidFill>
                          <a:srgbClr val="000000"/>
                        </a:solidFill>
                      </a:endParaRPr>
                    </a:p>
                  </a:txBody>
                  <a:tcPr marL="47625" marR="47625" marT="47625" marB="47625" anchor="ctr"/>
                </a:tc>
                <a:tc>
                  <a:txBody>
                    <a:bodyPr/>
                    <a:lstStyle/>
                    <a:p>
                      <a:pPr marL="0" marR="0" lvl="0" indent="0" algn="l" rtl="0">
                        <a:spcBef>
                          <a:spcPts val="0"/>
                        </a:spcBef>
                        <a:spcAft>
                          <a:spcPts val="0"/>
                        </a:spcAft>
                        <a:buNone/>
                      </a:pPr>
                      <a:r>
                        <a:rPr lang="en-US" sz="1200" b="0" u="none" strike="noStrike" cap="none">
                          <a:solidFill>
                            <a:srgbClr val="000000"/>
                          </a:solidFill>
                        </a:rPr>
                        <a:t>Displays a list of all IPv4 address to MAC address bindings provided by the DHCPv4 service.</a:t>
                      </a:r>
                      <a:endParaRPr/>
                    </a:p>
                  </a:txBody>
                  <a:tcPr marL="47625" marR="47625" marT="47625" marB="47625" anchor="ctr"/>
                </a:tc>
                <a:extLst>
                  <a:ext uri="{0D108BD9-81ED-4DB2-BD59-A6C34878D82A}">
                    <a16:rowId xmlns:a16="http://schemas.microsoft.com/office/drawing/2014/main" val="10002"/>
                  </a:ext>
                </a:extLst>
              </a:tr>
              <a:tr h="546150">
                <a:tc>
                  <a:txBody>
                    <a:bodyPr/>
                    <a:lstStyle/>
                    <a:p>
                      <a:pPr marL="0" marR="0" lvl="0" indent="0" algn="l" rtl="0">
                        <a:spcBef>
                          <a:spcPts val="0"/>
                        </a:spcBef>
                        <a:spcAft>
                          <a:spcPts val="0"/>
                        </a:spcAft>
                        <a:buNone/>
                      </a:pPr>
                      <a:r>
                        <a:rPr lang="en-US" sz="1200" b="1" u="none" strike="noStrike" cap="none">
                          <a:solidFill>
                            <a:srgbClr val="000000"/>
                          </a:solidFill>
                        </a:rPr>
                        <a:t>show ip dhcp server statistics</a:t>
                      </a:r>
                      <a:endParaRPr sz="1200" b="0" u="none" strike="noStrike" cap="none">
                        <a:solidFill>
                          <a:srgbClr val="000000"/>
                        </a:solidFill>
                      </a:endParaRPr>
                    </a:p>
                  </a:txBody>
                  <a:tcPr marL="47625" marR="47625" marT="47625" marB="47625" anchor="ctr"/>
                </a:tc>
                <a:tc>
                  <a:txBody>
                    <a:bodyPr/>
                    <a:lstStyle/>
                    <a:p>
                      <a:pPr marL="0" marR="0" lvl="0" indent="0" algn="l" rtl="0">
                        <a:spcBef>
                          <a:spcPts val="0"/>
                        </a:spcBef>
                        <a:spcAft>
                          <a:spcPts val="0"/>
                        </a:spcAft>
                        <a:buNone/>
                      </a:pPr>
                      <a:r>
                        <a:rPr lang="en-US" sz="1200" b="0" u="none" strike="noStrike" cap="none">
                          <a:solidFill>
                            <a:srgbClr val="000000"/>
                          </a:solidFill>
                        </a:rPr>
                        <a:t>Displays count information regarding the number of DHCPv4 messages that have been sent and received</a:t>
                      </a:r>
                      <a:endParaRPr/>
                    </a:p>
                  </a:txBody>
                  <a:tcPr marL="47625" marR="47625" marT="47625" marB="47625"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1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Verify DHCPv4 is Operational</a:t>
            </a:r>
            <a:endParaRPr/>
          </a:p>
        </p:txBody>
      </p:sp>
      <p:sp>
        <p:nvSpPr>
          <p:cNvPr id="336" name="Google Shape;336;p14"/>
          <p:cNvSpPr txBox="1">
            <a:spLocks noGrp="1"/>
          </p:cNvSpPr>
          <p:nvPr>
            <p:ph type="body" idx="1"/>
          </p:nvPr>
        </p:nvSpPr>
        <p:spPr>
          <a:xfrm>
            <a:off x="474662" y="731838"/>
            <a:ext cx="8280057" cy="1070836"/>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a:solidFill>
                  <a:srgbClr val="000000"/>
                </a:solidFill>
              </a:rPr>
              <a:t>Verify the DHCPv4 Configuration: </a:t>
            </a:r>
            <a:r>
              <a:rPr lang="en-US" sz="1600">
                <a:solidFill>
                  <a:srgbClr val="000000"/>
                </a:solidFill>
              </a:rPr>
              <a:t>As shown in the example, the </a:t>
            </a:r>
            <a:r>
              <a:rPr lang="en-US" sz="1600" b="1">
                <a:solidFill>
                  <a:srgbClr val="FF0000"/>
                </a:solidFill>
              </a:rPr>
              <a:t>show running-config | section dhcp</a:t>
            </a:r>
            <a:r>
              <a:rPr lang="en-US" sz="1600">
                <a:solidFill>
                  <a:srgbClr val="000000"/>
                </a:solidFill>
              </a:rPr>
              <a:t> command output displays the DHCPv4 commands configured on R1. The</a:t>
            </a:r>
            <a:r>
              <a:rPr lang="en-US" sz="1600">
                <a:solidFill>
                  <a:srgbClr val="FF0000"/>
                </a:solidFill>
              </a:rPr>
              <a:t> </a:t>
            </a:r>
            <a:r>
              <a:rPr lang="en-US" sz="1600" b="1">
                <a:solidFill>
                  <a:srgbClr val="FF0000"/>
                </a:solidFill>
              </a:rPr>
              <a:t>| section</a:t>
            </a:r>
            <a:r>
              <a:rPr lang="en-US" sz="1600">
                <a:solidFill>
                  <a:srgbClr val="000000"/>
                </a:solidFill>
              </a:rPr>
              <a:t> parameter displays only the commands associated with DHCPv4 configuration.</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pic>
        <p:nvPicPr>
          <p:cNvPr id="337" name="Google Shape;337;p14"/>
          <p:cNvPicPr preferRelativeResize="0"/>
          <p:nvPr/>
        </p:nvPicPr>
        <p:blipFill rotWithShape="1">
          <a:blip r:embed="rId3">
            <a:alphaModFix/>
          </a:blip>
          <a:srcRect/>
          <a:stretch/>
        </p:blipFill>
        <p:spPr>
          <a:xfrm>
            <a:off x="619760" y="1782355"/>
            <a:ext cx="8046720" cy="27998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Verify DHCPv4 is Operational (Cont.)</a:t>
            </a:r>
            <a:endParaRPr/>
          </a:p>
        </p:txBody>
      </p:sp>
      <p:sp>
        <p:nvSpPr>
          <p:cNvPr id="344" name="Google Shape;344;p15"/>
          <p:cNvSpPr txBox="1">
            <a:spLocks noGrp="1"/>
          </p:cNvSpPr>
          <p:nvPr>
            <p:ph type="body" idx="1"/>
          </p:nvPr>
        </p:nvSpPr>
        <p:spPr>
          <a:xfrm>
            <a:off x="474662" y="731838"/>
            <a:ext cx="8280057" cy="861832"/>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a:solidFill>
                  <a:srgbClr val="FF0000"/>
                </a:solidFill>
              </a:rPr>
              <a:t>Verify DHCPv4 Bindings</a:t>
            </a:r>
            <a:r>
              <a:rPr lang="en-US" sz="1600" b="1">
                <a:solidFill>
                  <a:srgbClr val="000000"/>
                </a:solidFill>
              </a:rPr>
              <a:t>: </a:t>
            </a:r>
            <a:r>
              <a:rPr lang="en-US" sz="1600">
                <a:solidFill>
                  <a:srgbClr val="000000"/>
                </a:solidFill>
              </a:rPr>
              <a:t>As shown in the example, the operation of DHCPv4 can be verified using the </a:t>
            </a:r>
            <a:r>
              <a:rPr lang="en-US" sz="1600" b="1">
                <a:solidFill>
                  <a:srgbClr val="FF0000"/>
                </a:solidFill>
              </a:rPr>
              <a:t>show ip dhcp binding</a:t>
            </a:r>
            <a:r>
              <a:rPr lang="en-US" sz="1600">
                <a:solidFill>
                  <a:srgbClr val="000000"/>
                </a:solidFill>
              </a:rPr>
              <a:t> command. This command displays a list of all IPv4 address to MAC address bindings that have been provided by the DHCPv4 service.</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pic>
        <p:nvPicPr>
          <p:cNvPr id="345" name="Google Shape;345;p15"/>
          <p:cNvPicPr preferRelativeResize="0"/>
          <p:nvPr/>
        </p:nvPicPr>
        <p:blipFill rotWithShape="1">
          <a:blip r:embed="rId3">
            <a:alphaModFix/>
          </a:blip>
          <a:srcRect/>
          <a:stretch/>
        </p:blipFill>
        <p:spPr>
          <a:xfrm>
            <a:off x="557212" y="1709737"/>
            <a:ext cx="8029575" cy="27911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Verify DHCPv4 is Operational (Cont.)</a:t>
            </a:r>
            <a:endParaRPr/>
          </a:p>
        </p:txBody>
      </p:sp>
      <p:sp>
        <p:nvSpPr>
          <p:cNvPr id="352" name="Google Shape;352;p16"/>
          <p:cNvSpPr txBox="1">
            <a:spLocks noGrp="1"/>
          </p:cNvSpPr>
          <p:nvPr>
            <p:ph type="body" idx="1"/>
          </p:nvPr>
        </p:nvSpPr>
        <p:spPr>
          <a:xfrm>
            <a:off x="182880" y="957943"/>
            <a:ext cx="3845211" cy="3463791"/>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a:solidFill>
                  <a:srgbClr val="FF0000"/>
                </a:solidFill>
              </a:rPr>
              <a:t>Verify DHCPv4 Statistics</a:t>
            </a:r>
            <a:r>
              <a:rPr lang="en-US" sz="1600" b="1">
                <a:solidFill>
                  <a:srgbClr val="000000"/>
                </a:solidFill>
              </a:rPr>
              <a:t>: </a:t>
            </a:r>
            <a:r>
              <a:rPr lang="en-US" sz="1600">
                <a:solidFill>
                  <a:srgbClr val="000000"/>
                </a:solidFill>
              </a:rPr>
              <a:t>The output of the </a:t>
            </a:r>
            <a:r>
              <a:rPr lang="en-US" sz="1600" b="1">
                <a:solidFill>
                  <a:srgbClr val="FF0000"/>
                </a:solidFill>
              </a:rPr>
              <a:t>show ip dhcp server statistics</a:t>
            </a:r>
            <a:r>
              <a:rPr lang="en-US" sz="1600">
                <a:solidFill>
                  <a:srgbClr val="FF0000"/>
                </a:solidFill>
              </a:rPr>
              <a:t> </a:t>
            </a:r>
            <a:r>
              <a:rPr lang="en-US" sz="1600">
                <a:solidFill>
                  <a:srgbClr val="000000"/>
                </a:solidFill>
              </a:rPr>
              <a:t>is used to verify that messages are being received or sent by the router. This command displays count information regarding the number of DHCPv4 messages that have been sent and received.</a:t>
            </a:r>
            <a:endParaRPr/>
          </a:p>
          <a:p>
            <a:pPr marL="342900" lvl="0" indent="-266700" algn="l" rtl="0">
              <a:lnSpc>
                <a:spcPct val="100000"/>
              </a:lnSpc>
              <a:spcBef>
                <a:spcPts val="240"/>
              </a:spcBef>
              <a:spcAft>
                <a:spcPts val="0"/>
              </a:spcAft>
              <a:buSzPts val="1200"/>
              <a:buFont typeface="Arial"/>
              <a:buNone/>
            </a:pPr>
            <a:endParaRPr sz="1200">
              <a:solidFill>
                <a:srgbClr val="000000"/>
              </a:solidFill>
            </a:endParaRPr>
          </a:p>
        </p:txBody>
      </p:sp>
      <p:pic>
        <p:nvPicPr>
          <p:cNvPr id="353" name="Google Shape;353;p16"/>
          <p:cNvPicPr preferRelativeResize="0"/>
          <p:nvPr/>
        </p:nvPicPr>
        <p:blipFill rotWithShape="1">
          <a:blip r:embed="rId3">
            <a:alphaModFix/>
          </a:blip>
          <a:srcRect/>
          <a:stretch/>
        </p:blipFill>
        <p:spPr>
          <a:xfrm>
            <a:off x="4181566" y="627017"/>
            <a:ext cx="4302034" cy="413539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Verify DHCPv4 is Operational (Cont.)</a:t>
            </a:r>
            <a:endParaRPr/>
          </a:p>
        </p:txBody>
      </p:sp>
      <p:sp>
        <p:nvSpPr>
          <p:cNvPr id="360" name="Google Shape;360;p17"/>
          <p:cNvSpPr txBox="1">
            <a:spLocks noGrp="1"/>
          </p:cNvSpPr>
          <p:nvPr>
            <p:ph type="body" idx="1"/>
          </p:nvPr>
        </p:nvSpPr>
        <p:spPr>
          <a:xfrm>
            <a:off x="95794" y="731837"/>
            <a:ext cx="3466012" cy="4302034"/>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500"/>
              <a:buNone/>
            </a:pPr>
            <a:r>
              <a:rPr lang="en-US" sz="1500" b="1">
                <a:solidFill>
                  <a:srgbClr val="FF0000"/>
                </a:solidFill>
              </a:rPr>
              <a:t>Verify DHCPv4 Client Received IPv4 Addressing</a:t>
            </a:r>
            <a:r>
              <a:rPr lang="en-US" sz="1500" b="1">
                <a:solidFill>
                  <a:srgbClr val="000000"/>
                </a:solidFill>
              </a:rPr>
              <a:t>: </a:t>
            </a:r>
            <a:r>
              <a:rPr lang="en-US" sz="1500">
                <a:solidFill>
                  <a:srgbClr val="000000"/>
                </a:solidFill>
              </a:rPr>
              <a:t>The </a:t>
            </a:r>
            <a:r>
              <a:rPr lang="en-US" sz="1500" b="1">
                <a:solidFill>
                  <a:srgbClr val="FF0000"/>
                </a:solidFill>
              </a:rPr>
              <a:t>ipconfig /all</a:t>
            </a:r>
            <a:r>
              <a:rPr lang="en-US" sz="1500">
                <a:solidFill>
                  <a:srgbClr val="FF0000"/>
                </a:solidFill>
              </a:rPr>
              <a:t> </a:t>
            </a:r>
            <a:r>
              <a:rPr lang="en-US" sz="1500">
                <a:solidFill>
                  <a:srgbClr val="000000"/>
                </a:solidFill>
              </a:rPr>
              <a:t>command, when issued on PC1, displays the TCP/IP parameters, as shown in the example. Because PC1 was connected to the network segment 192.168.10.0/24, it automatically received a DNS suffix, IPv4 address, subnet mask, default gateway, and DNS server address from that pool. No DHCP-specific router interface configuration is required. If a PC is connected to a network segment that has a DHCPv4 pool available, the PC can obtain an IPv4 address from the appropriate pool automatically.</a:t>
            </a:r>
            <a:endParaRPr/>
          </a:p>
          <a:p>
            <a:pPr marL="0" lvl="0" indent="0" algn="l" rtl="0">
              <a:lnSpc>
                <a:spcPct val="100000"/>
              </a:lnSpc>
              <a:spcBef>
                <a:spcPts val="240"/>
              </a:spcBef>
              <a:spcAft>
                <a:spcPts val="0"/>
              </a:spcAft>
              <a:buSzPts val="1200"/>
              <a:buNone/>
            </a:pPr>
            <a:endParaRPr sz="1200">
              <a:solidFill>
                <a:srgbClr val="000000"/>
              </a:solidFill>
            </a:endParaRPr>
          </a:p>
        </p:txBody>
      </p:sp>
      <p:pic>
        <p:nvPicPr>
          <p:cNvPr id="361" name="Google Shape;361;p17"/>
          <p:cNvPicPr preferRelativeResize="0"/>
          <p:nvPr/>
        </p:nvPicPr>
        <p:blipFill rotWithShape="1">
          <a:blip r:embed="rId3">
            <a:alphaModFix/>
          </a:blip>
          <a:srcRect/>
          <a:stretch/>
        </p:blipFill>
        <p:spPr>
          <a:xfrm>
            <a:off x="3710076" y="713741"/>
            <a:ext cx="5251044" cy="442975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1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Disable the Cisco IOS DHCPv4 Server</a:t>
            </a:r>
            <a:endParaRPr/>
          </a:p>
        </p:txBody>
      </p:sp>
      <p:sp>
        <p:nvSpPr>
          <p:cNvPr id="368" name="Google Shape;368;p18"/>
          <p:cNvSpPr txBox="1">
            <a:spLocks noGrp="1"/>
          </p:cNvSpPr>
          <p:nvPr>
            <p:ph type="body" idx="1"/>
          </p:nvPr>
        </p:nvSpPr>
        <p:spPr>
          <a:xfrm>
            <a:off x="439828" y="827631"/>
            <a:ext cx="3492092"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The DHCPv4 service is </a:t>
            </a:r>
            <a:r>
              <a:rPr lang="en-US" sz="1600">
                <a:solidFill>
                  <a:srgbClr val="FF0000"/>
                </a:solidFill>
              </a:rPr>
              <a:t>enabled by default. </a:t>
            </a:r>
            <a:r>
              <a:rPr lang="en-US" sz="1600">
                <a:solidFill>
                  <a:srgbClr val="000000"/>
                </a:solidFill>
              </a:rPr>
              <a:t>To disable the service, use the </a:t>
            </a:r>
            <a:r>
              <a:rPr lang="en-US" sz="1600" b="1">
                <a:solidFill>
                  <a:srgbClr val="FF0000"/>
                </a:solidFill>
              </a:rPr>
              <a:t>no service dhcp</a:t>
            </a:r>
            <a:r>
              <a:rPr lang="en-US" sz="1600">
                <a:solidFill>
                  <a:srgbClr val="FF0000"/>
                </a:solidFill>
              </a:rPr>
              <a:t> </a:t>
            </a:r>
            <a:r>
              <a:rPr lang="en-US" sz="1600">
                <a:solidFill>
                  <a:srgbClr val="000000"/>
                </a:solidFill>
              </a:rPr>
              <a:t>global configuration mode command. </a:t>
            </a:r>
            <a:endParaRPr sz="1600">
              <a:solidFill>
                <a:srgbClr val="000000"/>
              </a:solidFill>
            </a:endParaRPr>
          </a:p>
          <a:p>
            <a:pPr marL="0" lvl="0" indent="0" algn="l" rtl="0">
              <a:lnSpc>
                <a:spcPct val="100000"/>
              </a:lnSpc>
              <a:spcBef>
                <a:spcPts val="320"/>
              </a:spcBef>
              <a:spcAft>
                <a:spcPts val="0"/>
              </a:spcAft>
              <a:buSzPts val="1600"/>
              <a:buNone/>
            </a:pPr>
            <a:r>
              <a:rPr lang="en-US" sz="1600">
                <a:solidFill>
                  <a:srgbClr val="000000"/>
                </a:solidFill>
              </a:rPr>
              <a:t>Use the </a:t>
            </a:r>
            <a:r>
              <a:rPr lang="en-US" sz="1600" b="1">
                <a:solidFill>
                  <a:srgbClr val="FF0000"/>
                </a:solidFill>
              </a:rPr>
              <a:t>service dhcp</a:t>
            </a:r>
            <a:r>
              <a:rPr lang="en-US" sz="1600">
                <a:solidFill>
                  <a:srgbClr val="000000"/>
                </a:solidFill>
              </a:rPr>
              <a:t> global configuration mode command to re-enable the DHCPv4 server process, as shown in the example. </a:t>
            </a:r>
            <a:endParaRPr sz="1600">
              <a:solidFill>
                <a:srgbClr val="000000"/>
              </a:solidFill>
            </a:endParaRPr>
          </a:p>
          <a:p>
            <a:pPr marL="0" lvl="0" indent="0" algn="l" rtl="0">
              <a:lnSpc>
                <a:spcPct val="100000"/>
              </a:lnSpc>
              <a:spcBef>
                <a:spcPts val="320"/>
              </a:spcBef>
              <a:spcAft>
                <a:spcPts val="0"/>
              </a:spcAft>
              <a:buSzPts val="1600"/>
              <a:buNone/>
            </a:pPr>
            <a:r>
              <a:rPr lang="en-US" sz="1600">
                <a:solidFill>
                  <a:srgbClr val="000000"/>
                </a:solidFill>
              </a:rPr>
              <a:t>Enabling the service has no effect if the parameters are not configured.</a:t>
            </a:r>
            <a:endParaRPr/>
          </a:p>
          <a:p>
            <a:pPr marL="0" lvl="0" indent="0" algn="l" rtl="0">
              <a:lnSpc>
                <a:spcPct val="100000"/>
              </a:lnSpc>
              <a:spcBef>
                <a:spcPts val="320"/>
              </a:spcBef>
              <a:spcAft>
                <a:spcPts val="0"/>
              </a:spcAft>
              <a:buSzPts val="1600"/>
              <a:buNone/>
            </a:pPr>
            <a:r>
              <a:rPr lang="en-US" sz="1600" b="1">
                <a:solidFill>
                  <a:srgbClr val="000000"/>
                </a:solidFill>
              </a:rPr>
              <a:t>Note</a:t>
            </a:r>
            <a:r>
              <a:rPr lang="en-US" sz="1600">
                <a:solidFill>
                  <a:srgbClr val="000000"/>
                </a:solidFill>
              </a:rPr>
              <a:t>: Clearing the DHCP bindings or stopping and restarting the DHCP service may result in duplicate IP addresses being temporarily assigned on the network.</a:t>
            </a:r>
            <a:endParaRPr/>
          </a:p>
          <a:p>
            <a:pPr marL="0" lvl="0" indent="0" algn="l" rtl="0">
              <a:lnSpc>
                <a:spcPct val="100000"/>
              </a:lnSpc>
              <a:spcBef>
                <a:spcPts val="320"/>
              </a:spcBef>
              <a:spcAft>
                <a:spcPts val="0"/>
              </a:spcAft>
              <a:buSzPts val="1600"/>
              <a:buNone/>
            </a:pPr>
            <a:endParaRPr sz="1600">
              <a:solidFill>
                <a:srgbClr val="000000"/>
              </a:solidFill>
            </a:endParaRPr>
          </a:p>
          <a:p>
            <a:pPr marL="0" lvl="0" indent="0" algn="l" rtl="0">
              <a:lnSpc>
                <a:spcPct val="100000"/>
              </a:lnSpc>
              <a:spcBef>
                <a:spcPts val="240"/>
              </a:spcBef>
              <a:spcAft>
                <a:spcPts val="0"/>
              </a:spcAft>
              <a:buSzPts val="1200"/>
              <a:buNone/>
            </a:pPr>
            <a:endParaRPr sz="1200">
              <a:solidFill>
                <a:srgbClr val="000000"/>
              </a:solidFill>
            </a:endParaRPr>
          </a:p>
        </p:txBody>
      </p:sp>
      <p:pic>
        <p:nvPicPr>
          <p:cNvPr id="369" name="Google Shape;369;p18"/>
          <p:cNvPicPr preferRelativeResize="0"/>
          <p:nvPr/>
        </p:nvPicPr>
        <p:blipFill rotWithShape="1">
          <a:blip r:embed="rId3">
            <a:alphaModFix/>
          </a:blip>
          <a:srcRect/>
          <a:stretch/>
        </p:blipFill>
        <p:spPr>
          <a:xfrm>
            <a:off x="4235176" y="1259840"/>
            <a:ext cx="3952875" cy="173298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DHCPv4 Relay</a:t>
            </a:r>
            <a:endParaRPr/>
          </a:p>
        </p:txBody>
      </p:sp>
      <p:sp>
        <p:nvSpPr>
          <p:cNvPr id="376" name="Google Shape;376;p19"/>
          <p:cNvSpPr txBox="1">
            <a:spLocks noGrp="1"/>
          </p:cNvSpPr>
          <p:nvPr>
            <p:ph type="body" idx="1"/>
          </p:nvPr>
        </p:nvSpPr>
        <p:spPr>
          <a:xfrm>
            <a:off x="69670" y="731838"/>
            <a:ext cx="8685050" cy="1960562"/>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400"/>
              <a:buFont typeface="Arial"/>
              <a:buChar char="•"/>
            </a:pPr>
            <a:r>
              <a:rPr lang="en-US" sz="1400">
                <a:solidFill>
                  <a:srgbClr val="000000"/>
                </a:solidFill>
              </a:rPr>
              <a:t>In a complex hierarchical network, enterprise servers are usually located centrally. These servers may provide </a:t>
            </a:r>
            <a:r>
              <a:rPr lang="en-US" sz="1400">
                <a:solidFill>
                  <a:srgbClr val="FF0000"/>
                </a:solidFill>
              </a:rPr>
              <a:t>DHCP, DNS, TFTP, and FTP services for the network</a:t>
            </a:r>
            <a:r>
              <a:rPr lang="en-US" sz="1400">
                <a:solidFill>
                  <a:srgbClr val="000000"/>
                </a:solidFill>
              </a:rPr>
              <a:t>. Network clients are </a:t>
            </a:r>
            <a:r>
              <a:rPr lang="en-US" sz="1400">
                <a:solidFill>
                  <a:srgbClr val="FF0000"/>
                </a:solidFill>
              </a:rPr>
              <a:t>not</a:t>
            </a:r>
            <a:r>
              <a:rPr lang="en-US" sz="1400">
                <a:solidFill>
                  <a:srgbClr val="000000"/>
                </a:solidFill>
              </a:rPr>
              <a:t> typically </a:t>
            </a:r>
            <a:r>
              <a:rPr lang="en-US" sz="1400">
                <a:solidFill>
                  <a:srgbClr val="FF0000"/>
                </a:solidFill>
              </a:rPr>
              <a:t>on the same subnet as those servers</a:t>
            </a:r>
            <a:r>
              <a:rPr lang="en-US" sz="1400">
                <a:solidFill>
                  <a:srgbClr val="000000"/>
                </a:solidFill>
              </a:rPr>
              <a:t>. In order to locate the servers and receive services, clients often use </a:t>
            </a:r>
            <a:r>
              <a:rPr lang="en-US" sz="1400">
                <a:solidFill>
                  <a:srgbClr val="FF0000"/>
                </a:solidFill>
              </a:rPr>
              <a:t>broadcast</a:t>
            </a:r>
            <a:r>
              <a:rPr lang="en-US" sz="1400">
                <a:solidFill>
                  <a:srgbClr val="000000"/>
                </a:solidFill>
              </a:rPr>
              <a:t> messages.</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In the figure, PC1 is attempting to acquire an IPv4 address from a DHCPv4 server using a broadcast message. In this scenario, R1 is </a:t>
            </a:r>
            <a:r>
              <a:rPr lang="en-US" sz="1400">
                <a:solidFill>
                  <a:srgbClr val="FF0000"/>
                </a:solidFill>
              </a:rPr>
              <a:t>not</a:t>
            </a:r>
            <a:r>
              <a:rPr lang="en-US" sz="1400">
                <a:solidFill>
                  <a:srgbClr val="000000"/>
                </a:solidFill>
              </a:rPr>
              <a:t> configured as a DHCPv4 server and </a:t>
            </a:r>
            <a:r>
              <a:rPr lang="en-US" sz="1400">
                <a:solidFill>
                  <a:srgbClr val="FF0000"/>
                </a:solidFill>
              </a:rPr>
              <a:t>does not </a:t>
            </a:r>
            <a:r>
              <a:rPr lang="en-US" sz="1400">
                <a:solidFill>
                  <a:srgbClr val="000000"/>
                </a:solidFill>
              </a:rPr>
              <a:t>forward the </a:t>
            </a:r>
            <a:r>
              <a:rPr lang="en-US" sz="1400">
                <a:solidFill>
                  <a:srgbClr val="FF0000"/>
                </a:solidFill>
              </a:rPr>
              <a:t>broadcast</a:t>
            </a:r>
            <a:r>
              <a:rPr lang="en-US" sz="1400">
                <a:solidFill>
                  <a:srgbClr val="000000"/>
                </a:solidFill>
              </a:rPr>
              <a:t>. Because the DHCPv4 server is located on a different network, PC1 </a:t>
            </a:r>
            <a:r>
              <a:rPr lang="en-US" sz="1400">
                <a:solidFill>
                  <a:srgbClr val="FF0000"/>
                </a:solidFill>
              </a:rPr>
              <a:t>cannot</a:t>
            </a:r>
            <a:r>
              <a:rPr lang="en-US" sz="1400">
                <a:solidFill>
                  <a:srgbClr val="000000"/>
                </a:solidFill>
              </a:rPr>
              <a:t> receive an IP address using DHCP. R1 </a:t>
            </a:r>
            <a:r>
              <a:rPr lang="en-US" sz="1400">
                <a:solidFill>
                  <a:srgbClr val="FF0000"/>
                </a:solidFill>
              </a:rPr>
              <a:t>must</a:t>
            </a:r>
            <a:r>
              <a:rPr lang="en-US" sz="1400">
                <a:solidFill>
                  <a:srgbClr val="000000"/>
                </a:solidFill>
              </a:rPr>
              <a:t> be configured to </a:t>
            </a:r>
            <a:r>
              <a:rPr lang="en-US" sz="1400" b="1">
                <a:solidFill>
                  <a:srgbClr val="FF0000"/>
                </a:solidFill>
              </a:rPr>
              <a:t>relay DHCPv4 messages </a:t>
            </a:r>
            <a:r>
              <a:rPr lang="en-US" sz="1400">
                <a:solidFill>
                  <a:srgbClr val="000000"/>
                </a:solidFill>
              </a:rPr>
              <a:t>to the DHCPv4 server.</a:t>
            </a:r>
            <a:endParaRPr/>
          </a:p>
          <a:p>
            <a:pPr marL="342900" lvl="0" indent="-266700" algn="l" rtl="0">
              <a:lnSpc>
                <a:spcPct val="100000"/>
              </a:lnSpc>
              <a:spcBef>
                <a:spcPts val="240"/>
              </a:spcBef>
              <a:spcAft>
                <a:spcPts val="0"/>
              </a:spcAft>
              <a:buSzPts val="1200"/>
              <a:buFont typeface="Arial"/>
              <a:buNone/>
            </a:pPr>
            <a:endParaRPr sz="1200">
              <a:solidFill>
                <a:srgbClr val="000000"/>
              </a:solidFill>
            </a:endParaRPr>
          </a:p>
        </p:txBody>
      </p:sp>
      <p:pic>
        <p:nvPicPr>
          <p:cNvPr id="377" name="Google Shape;377;p19"/>
          <p:cNvPicPr preferRelativeResize="0"/>
          <p:nvPr/>
        </p:nvPicPr>
        <p:blipFill rotWithShape="1">
          <a:blip r:embed="rId3">
            <a:alphaModFix/>
          </a:blip>
          <a:srcRect/>
          <a:stretch/>
        </p:blipFill>
        <p:spPr>
          <a:xfrm>
            <a:off x="457200" y="2560866"/>
            <a:ext cx="8534399" cy="2272536"/>
          </a:xfrm>
          <a:prstGeom prst="rect">
            <a:avLst/>
          </a:prstGeom>
          <a:noFill/>
          <a:ln>
            <a:noFill/>
          </a:ln>
        </p:spPr>
      </p:pic>
      <p:sp>
        <p:nvSpPr>
          <p:cNvPr id="378" name="Google Shape;378;p19"/>
          <p:cNvSpPr/>
          <p:nvPr/>
        </p:nvSpPr>
        <p:spPr>
          <a:xfrm>
            <a:off x="3464560" y="2966720"/>
            <a:ext cx="904240" cy="640080"/>
          </a:xfrm>
          <a:prstGeom prst="ellipse">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2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DHCPv4 Relay (Cont.)</a:t>
            </a:r>
            <a:endParaRPr/>
          </a:p>
        </p:txBody>
      </p:sp>
      <p:sp>
        <p:nvSpPr>
          <p:cNvPr id="385" name="Google Shape;385;p20"/>
          <p:cNvSpPr txBox="1">
            <a:spLocks noGrp="1"/>
          </p:cNvSpPr>
          <p:nvPr>
            <p:ph type="body" idx="1"/>
          </p:nvPr>
        </p:nvSpPr>
        <p:spPr>
          <a:xfrm>
            <a:off x="474662" y="731838"/>
            <a:ext cx="8280057" cy="2107140"/>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Configure R1 with the</a:t>
            </a:r>
            <a:r>
              <a:rPr lang="en-US" sz="1600">
                <a:solidFill>
                  <a:srgbClr val="FF0000"/>
                </a:solidFill>
              </a:rPr>
              <a:t> </a:t>
            </a:r>
            <a:r>
              <a:rPr lang="en-US" sz="1600" b="1">
                <a:solidFill>
                  <a:srgbClr val="FF0000"/>
                </a:solidFill>
              </a:rPr>
              <a:t>ip helper-address</a:t>
            </a:r>
            <a:r>
              <a:rPr lang="en-US" sz="1600">
                <a:solidFill>
                  <a:srgbClr val="FF0000"/>
                </a:solidFill>
              </a:rPr>
              <a:t> </a:t>
            </a:r>
            <a:r>
              <a:rPr lang="en-US" sz="1600" i="1">
                <a:solidFill>
                  <a:srgbClr val="FF0000"/>
                </a:solidFill>
              </a:rPr>
              <a:t>address</a:t>
            </a:r>
            <a:r>
              <a:rPr lang="en-US" sz="1600">
                <a:solidFill>
                  <a:srgbClr val="FF0000"/>
                </a:solidFill>
              </a:rPr>
              <a:t> </a:t>
            </a:r>
            <a:r>
              <a:rPr lang="en-US" sz="1600">
                <a:solidFill>
                  <a:srgbClr val="000000"/>
                </a:solidFill>
              </a:rPr>
              <a:t>interface configuration command. </a:t>
            </a:r>
            <a:r>
              <a:rPr lang="en-US" sz="1600">
                <a:solidFill>
                  <a:srgbClr val="FF0000"/>
                </a:solidFill>
              </a:rPr>
              <a:t>This will cause R1 to relay DHCPv4 broadcasts to the DHCPv4 server</a:t>
            </a:r>
            <a:r>
              <a:rPr lang="en-US" sz="1600">
                <a:solidFill>
                  <a:srgbClr val="000000"/>
                </a:solidFill>
              </a:rPr>
              <a:t>. As shown in the example, the interface on R1 receiving the broadcast from PC1 is configured to relay DHCPv4 address to the DHCPv4 server at 192.168.11.6.</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When R1 has been configured as a </a:t>
            </a:r>
            <a:r>
              <a:rPr lang="en-US" sz="1600">
                <a:solidFill>
                  <a:srgbClr val="FF0000"/>
                </a:solidFill>
              </a:rPr>
              <a:t>DHCPv4 relay agent</a:t>
            </a:r>
            <a:r>
              <a:rPr lang="en-US" sz="1600">
                <a:solidFill>
                  <a:srgbClr val="000000"/>
                </a:solidFill>
              </a:rPr>
              <a:t>, it accepts broadcast requests for the DHCPv4 service and then forwards those requests as a </a:t>
            </a:r>
            <a:r>
              <a:rPr lang="en-US" sz="1600">
                <a:solidFill>
                  <a:srgbClr val="FF0000"/>
                </a:solidFill>
              </a:rPr>
              <a:t>unicast</a:t>
            </a:r>
            <a:r>
              <a:rPr lang="en-US" sz="1600">
                <a:solidFill>
                  <a:srgbClr val="000000"/>
                </a:solidFill>
              </a:rPr>
              <a:t> to the IPv4 address </a:t>
            </a:r>
            <a:r>
              <a:rPr lang="en-US" sz="1600">
                <a:solidFill>
                  <a:srgbClr val="FF0000"/>
                </a:solidFill>
              </a:rPr>
              <a:t>192.168.11.6. </a:t>
            </a:r>
            <a:r>
              <a:rPr lang="en-US" sz="1600">
                <a:solidFill>
                  <a:srgbClr val="000000"/>
                </a:solidFill>
              </a:rPr>
              <a:t>The network administrator can use the</a:t>
            </a:r>
            <a:r>
              <a:rPr lang="en-US" sz="1600">
                <a:solidFill>
                  <a:srgbClr val="FF0000"/>
                </a:solidFill>
              </a:rPr>
              <a:t> </a:t>
            </a:r>
            <a:r>
              <a:rPr lang="en-US" sz="1600" b="1">
                <a:solidFill>
                  <a:srgbClr val="FF0000"/>
                </a:solidFill>
              </a:rPr>
              <a:t>show ip interface</a:t>
            </a:r>
            <a:r>
              <a:rPr lang="en-US" sz="1600">
                <a:solidFill>
                  <a:srgbClr val="000000"/>
                </a:solidFill>
              </a:rPr>
              <a:t> command to verify the configuration.</a:t>
            </a:r>
            <a:endParaRPr/>
          </a:p>
        </p:txBody>
      </p:sp>
      <p:pic>
        <p:nvPicPr>
          <p:cNvPr id="386" name="Google Shape;386;p20"/>
          <p:cNvPicPr preferRelativeResize="0"/>
          <p:nvPr/>
        </p:nvPicPr>
        <p:blipFill rotWithShape="1">
          <a:blip r:embed="rId3">
            <a:alphaModFix/>
          </a:blip>
          <a:srcRect/>
          <a:stretch/>
        </p:blipFill>
        <p:spPr>
          <a:xfrm>
            <a:off x="709793" y="2899937"/>
            <a:ext cx="3205257" cy="1895583"/>
          </a:xfrm>
          <a:prstGeom prst="rect">
            <a:avLst/>
          </a:prstGeom>
          <a:noFill/>
          <a:ln>
            <a:noFill/>
          </a:ln>
        </p:spPr>
      </p:pic>
      <p:pic>
        <p:nvPicPr>
          <p:cNvPr id="387" name="Google Shape;387;p20"/>
          <p:cNvPicPr preferRelativeResize="0"/>
          <p:nvPr/>
        </p:nvPicPr>
        <p:blipFill rotWithShape="1">
          <a:blip r:embed="rId4">
            <a:alphaModFix/>
          </a:blip>
          <a:srcRect/>
          <a:stretch/>
        </p:blipFill>
        <p:spPr>
          <a:xfrm>
            <a:off x="4297680" y="2838977"/>
            <a:ext cx="4470400" cy="1876425"/>
          </a:xfrm>
          <a:prstGeom prst="rect">
            <a:avLst/>
          </a:prstGeom>
          <a:noFill/>
          <a:ln>
            <a:noFill/>
          </a:ln>
        </p:spPr>
      </p:pic>
      <p:sp>
        <p:nvSpPr>
          <p:cNvPr id="388" name="Google Shape;388;p20"/>
          <p:cNvSpPr/>
          <p:nvPr/>
        </p:nvSpPr>
        <p:spPr>
          <a:xfrm>
            <a:off x="1584960" y="3159760"/>
            <a:ext cx="1391920" cy="314960"/>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20"/>
          <p:cNvSpPr/>
          <p:nvPr/>
        </p:nvSpPr>
        <p:spPr>
          <a:xfrm>
            <a:off x="3037840" y="3535680"/>
            <a:ext cx="843280" cy="264160"/>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Other Service Broadcasts Relayed</a:t>
            </a:r>
            <a:endParaRPr/>
          </a:p>
        </p:txBody>
      </p:sp>
      <p:sp>
        <p:nvSpPr>
          <p:cNvPr id="396" name="Google Shape;396;p21"/>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DHCPv4 is not the only service that the router can be configured to relay. By default, the </a:t>
            </a:r>
            <a:r>
              <a:rPr lang="en-US" sz="1600" b="1">
                <a:solidFill>
                  <a:srgbClr val="FF0000"/>
                </a:solidFill>
              </a:rPr>
              <a:t>ip helper-address</a:t>
            </a:r>
            <a:r>
              <a:rPr lang="en-US" sz="1600">
                <a:solidFill>
                  <a:srgbClr val="000000"/>
                </a:solidFill>
              </a:rPr>
              <a:t> command forwards the following </a:t>
            </a:r>
            <a:r>
              <a:rPr lang="en-US" sz="1600">
                <a:solidFill>
                  <a:srgbClr val="FF0000"/>
                </a:solidFill>
              </a:rPr>
              <a:t>eight UDP services</a:t>
            </a:r>
            <a:r>
              <a:rPr lang="en-US" sz="1600">
                <a:solidFill>
                  <a:srgbClr val="000000"/>
                </a:solidFill>
              </a:rPr>
              <a:t>:</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Port 37: Time</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Port 49: TACACS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Port 53: DNS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Port 67: DHCP/BOOTP server</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Port 68: DHCP/BOOTP client</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Port 69: TFTP</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Port 137: NetBIOS name service</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Port 138: NetBIOS datagram service</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2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Cisco IOS DHCPv4 Server</a:t>
            </a:r>
            <a:br>
              <a:rPr lang="en-US"/>
            </a:br>
            <a:r>
              <a:rPr lang="en-US" sz="2400"/>
              <a:t>Packet Tracer – Configure DHCPv4</a:t>
            </a:r>
            <a:endParaRPr/>
          </a:p>
        </p:txBody>
      </p:sp>
      <p:sp>
        <p:nvSpPr>
          <p:cNvPr id="403" name="Google Shape;403;p22"/>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In this Packet Tracer Activity, you will complete the following objectives: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Part 1: Configure a Router as a DHCP Server</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Part 2: Configure DHCP Relay</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Part 3: Configure a Router as a DHCP Client</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Part 4: Verify DHCP and Connectivity</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23"/>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7.3 Configure a DHCPv4 Client</a:t>
            </a:r>
            <a:endParaRPr/>
          </a:p>
        </p:txBody>
      </p:sp>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2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DHCPv4 Client</a:t>
            </a:r>
            <a:br>
              <a:rPr lang="en-US"/>
            </a:br>
            <a:r>
              <a:rPr lang="en-US" sz="2400"/>
              <a:t>Cisco Router as a DHCPv4 Client</a:t>
            </a:r>
            <a:endParaRPr/>
          </a:p>
        </p:txBody>
      </p:sp>
      <p:sp>
        <p:nvSpPr>
          <p:cNvPr id="416" name="Google Shape;416;p24"/>
          <p:cNvSpPr txBox="1">
            <a:spLocks noGrp="1"/>
          </p:cNvSpPr>
          <p:nvPr>
            <p:ph type="body" idx="1"/>
          </p:nvPr>
        </p:nvSpPr>
        <p:spPr>
          <a:xfrm>
            <a:off x="474662" y="731837"/>
            <a:ext cx="8280057" cy="253387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dirty="0">
                <a:solidFill>
                  <a:srgbClr val="000000"/>
                </a:solidFill>
              </a:rPr>
              <a:t>There are scenarios where you might have access to a DHCP server through your ISP. In these instances, you can configure a Cisco IOS </a:t>
            </a:r>
            <a:r>
              <a:rPr lang="en-US" sz="1400" dirty="0">
                <a:solidFill>
                  <a:srgbClr val="FF0000"/>
                </a:solidFill>
              </a:rPr>
              <a:t>router</a:t>
            </a:r>
            <a:r>
              <a:rPr lang="en-US" sz="1400" dirty="0">
                <a:solidFill>
                  <a:srgbClr val="000000"/>
                </a:solidFill>
              </a:rPr>
              <a:t> as a </a:t>
            </a:r>
            <a:r>
              <a:rPr lang="en-US" sz="1400" dirty="0">
                <a:solidFill>
                  <a:srgbClr val="FF0000"/>
                </a:solidFill>
              </a:rPr>
              <a:t>DHCPv4 client</a:t>
            </a:r>
            <a:r>
              <a:rPr lang="en-US" sz="1400" dirty="0">
                <a:solidFill>
                  <a:srgbClr val="000000"/>
                </a:solidFill>
              </a:rPr>
              <a:t>. </a:t>
            </a:r>
            <a:endParaRPr dirty="0"/>
          </a:p>
          <a:p>
            <a:pPr marL="342900" lvl="0" indent="-342900" algn="l" rtl="0">
              <a:lnSpc>
                <a:spcPct val="100000"/>
              </a:lnSpc>
              <a:spcBef>
                <a:spcPts val="280"/>
              </a:spcBef>
              <a:spcAft>
                <a:spcPts val="0"/>
              </a:spcAft>
              <a:buSzPts val="1400"/>
              <a:buFont typeface="Arial"/>
              <a:buChar char="•"/>
            </a:pPr>
            <a:r>
              <a:rPr lang="en-US" sz="1400" dirty="0">
                <a:solidFill>
                  <a:srgbClr val="000000"/>
                </a:solidFill>
              </a:rPr>
              <a:t>Sometimes, Cisco routers in a </a:t>
            </a:r>
            <a:r>
              <a:rPr lang="en-US" sz="1400" dirty="0">
                <a:solidFill>
                  <a:srgbClr val="FF0000"/>
                </a:solidFill>
              </a:rPr>
              <a:t>small office </a:t>
            </a:r>
            <a:r>
              <a:rPr lang="en-US" sz="1400" dirty="0">
                <a:solidFill>
                  <a:srgbClr val="000000"/>
                </a:solidFill>
              </a:rPr>
              <a:t>or </a:t>
            </a:r>
            <a:r>
              <a:rPr lang="en-US" sz="1400" dirty="0">
                <a:solidFill>
                  <a:srgbClr val="FF0000"/>
                </a:solidFill>
              </a:rPr>
              <a:t>home office (SOHO) </a:t>
            </a:r>
            <a:r>
              <a:rPr lang="en-US" sz="1400" dirty="0">
                <a:solidFill>
                  <a:srgbClr val="000000"/>
                </a:solidFill>
              </a:rPr>
              <a:t>and </a:t>
            </a:r>
            <a:r>
              <a:rPr lang="en-US" sz="1400" dirty="0">
                <a:solidFill>
                  <a:srgbClr val="FF0000"/>
                </a:solidFill>
              </a:rPr>
              <a:t>branch sites </a:t>
            </a:r>
            <a:r>
              <a:rPr lang="en-US" sz="1400" dirty="0">
                <a:solidFill>
                  <a:srgbClr val="000000"/>
                </a:solidFill>
              </a:rPr>
              <a:t>have to be configured as </a:t>
            </a:r>
            <a:r>
              <a:rPr lang="en-US" sz="1400" dirty="0">
                <a:solidFill>
                  <a:srgbClr val="FF0000"/>
                </a:solidFill>
              </a:rPr>
              <a:t>DHCPv4 clients </a:t>
            </a:r>
            <a:r>
              <a:rPr lang="en-US" sz="1400" dirty="0">
                <a:solidFill>
                  <a:srgbClr val="000000"/>
                </a:solidFill>
              </a:rPr>
              <a:t>in a similar manner to client computers. The method used depends on the ISP. However, in its simplest configuration, the </a:t>
            </a:r>
            <a:r>
              <a:rPr lang="en-US" sz="1400" dirty="0">
                <a:solidFill>
                  <a:srgbClr val="FF0000"/>
                </a:solidFill>
              </a:rPr>
              <a:t>Ethernet interface </a:t>
            </a:r>
            <a:r>
              <a:rPr lang="en-US" sz="1400" dirty="0">
                <a:solidFill>
                  <a:srgbClr val="000000"/>
                </a:solidFill>
              </a:rPr>
              <a:t>is used to connect to a </a:t>
            </a:r>
            <a:r>
              <a:rPr lang="en-US" sz="1400" dirty="0">
                <a:solidFill>
                  <a:srgbClr val="FF0000"/>
                </a:solidFill>
              </a:rPr>
              <a:t>cable or DSL modem</a:t>
            </a:r>
            <a:r>
              <a:rPr lang="en-US" sz="1400" dirty="0">
                <a:solidFill>
                  <a:srgbClr val="000000"/>
                </a:solidFill>
              </a:rPr>
              <a:t>.</a:t>
            </a:r>
            <a:endParaRPr dirty="0"/>
          </a:p>
          <a:p>
            <a:pPr marL="342900" lvl="0" indent="-342900" algn="l" rtl="0">
              <a:lnSpc>
                <a:spcPct val="100000"/>
              </a:lnSpc>
              <a:spcBef>
                <a:spcPts val="280"/>
              </a:spcBef>
              <a:spcAft>
                <a:spcPts val="0"/>
              </a:spcAft>
              <a:buSzPts val="1400"/>
              <a:buFont typeface="Arial"/>
              <a:buChar char="•"/>
            </a:pPr>
            <a:r>
              <a:rPr lang="en-US" sz="1400" dirty="0">
                <a:solidFill>
                  <a:srgbClr val="000000"/>
                </a:solidFill>
              </a:rPr>
              <a:t>To configure an </a:t>
            </a:r>
            <a:r>
              <a:rPr lang="en-US" sz="1400" dirty="0">
                <a:solidFill>
                  <a:srgbClr val="FF0000"/>
                </a:solidFill>
              </a:rPr>
              <a:t>Ethernet interface as a DHCP client</a:t>
            </a:r>
            <a:r>
              <a:rPr lang="en-US" sz="1400" dirty="0">
                <a:solidFill>
                  <a:srgbClr val="000000"/>
                </a:solidFill>
              </a:rPr>
              <a:t>, use the </a:t>
            </a:r>
            <a:r>
              <a:rPr lang="en-US" sz="1400" b="1" dirty="0" err="1">
                <a:solidFill>
                  <a:srgbClr val="FF0000"/>
                </a:solidFill>
              </a:rPr>
              <a:t>ip</a:t>
            </a:r>
            <a:r>
              <a:rPr lang="en-US" sz="1400" b="1" dirty="0">
                <a:solidFill>
                  <a:srgbClr val="FF0000"/>
                </a:solidFill>
              </a:rPr>
              <a:t> address </a:t>
            </a:r>
            <a:r>
              <a:rPr lang="en-US" sz="1400" b="1" dirty="0" err="1">
                <a:solidFill>
                  <a:srgbClr val="FF0000"/>
                </a:solidFill>
              </a:rPr>
              <a:t>dhcp</a:t>
            </a:r>
            <a:r>
              <a:rPr lang="en-US" sz="1400" b="1" dirty="0">
                <a:solidFill>
                  <a:srgbClr val="FF0000"/>
                </a:solidFill>
              </a:rPr>
              <a:t> </a:t>
            </a:r>
            <a:r>
              <a:rPr lang="en-US" sz="1400" dirty="0">
                <a:solidFill>
                  <a:srgbClr val="000000"/>
                </a:solidFill>
              </a:rPr>
              <a:t>interface configuration mode command.</a:t>
            </a:r>
            <a:endParaRPr dirty="0"/>
          </a:p>
          <a:p>
            <a:pPr marL="342900" lvl="0" indent="-342900" algn="l" rtl="0">
              <a:lnSpc>
                <a:spcPct val="100000"/>
              </a:lnSpc>
              <a:spcBef>
                <a:spcPts val="280"/>
              </a:spcBef>
              <a:spcAft>
                <a:spcPts val="0"/>
              </a:spcAft>
              <a:buSzPts val="1400"/>
              <a:buFont typeface="Arial"/>
              <a:buChar char="•"/>
            </a:pPr>
            <a:r>
              <a:rPr lang="en-US" sz="1400" dirty="0">
                <a:solidFill>
                  <a:srgbClr val="000000"/>
                </a:solidFill>
              </a:rPr>
              <a:t>In the figure, assume that an ISP has been configured to provide select customers with IP addresses from the 209.165.201.0/27 network range after the G0/0/1 interface is configured with the </a:t>
            </a:r>
            <a:r>
              <a:rPr lang="en-US" sz="1400" b="1" dirty="0" err="1">
                <a:solidFill>
                  <a:srgbClr val="000000"/>
                </a:solidFill>
              </a:rPr>
              <a:t>ip</a:t>
            </a:r>
            <a:r>
              <a:rPr lang="en-US" sz="1400" b="1" dirty="0">
                <a:solidFill>
                  <a:srgbClr val="000000"/>
                </a:solidFill>
              </a:rPr>
              <a:t> address </a:t>
            </a:r>
            <a:r>
              <a:rPr lang="en-US" sz="1400" b="1" dirty="0" err="1">
                <a:solidFill>
                  <a:srgbClr val="000000"/>
                </a:solidFill>
              </a:rPr>
              <a:t>dhcp</a:t>
            </a:r>
            <a:r>
              <a:rPr lang="en-US" sz="1400" dirty="0">
                <a:solidFill>
                  <a:srgbClr val="000000"/>
                </a:solidFill>
              </a:rPr>
              <a:t> command.</a:t>
            </a:r>
            <a:endParaRPr dirty="0"/>
          </a:p>
          <a:p>
            <a:pPr marL="342900" lvl="0" indent="-266700" algn="l" rtl="0">
              <a:lnSpc>
                <a:spcPct val="100000"/>
              </a:lnSpc>
              <a:spcBef>
                <a:spcPts val="240"/>
              </a:spcBef>
              <a:spcAft>
                <a:spcPts val="0"/>
              </a:spcAft>
              <a:buSzPts val="1200"/>
              <a:buFont typeface="Arial"/>
              <a:buNone/>
            </a:pPr>
            <a:endParaRPr sz="1200" dirty="0">
              <a:solidFill>
                <a:srgbClr val="000000"/>
              </a:solidFill>
            </a:endParaRPr>
          </a:p>
        </p:txBody>
      </p:sp>
      <p:pic>
        <p:nvPicPr>
          <p:cNvPr id="417" name="Google Shape;417;p24"/>
          <p:cNvPicPr preferRelativeResize="0"/>
          <p:nvPr/>
        </p:nvPicPr>
        <p:blipFill rotWithShape="1">
          <a:blip r:embed="rId3">
            <a:alphaModFix/>
          </a:blip>
          <a:srcRect/>
          <a:stretch/>
        </p:blipFill>
        <p:spPr>
          <a:xfrm>
            <a:off x="650240" y="3464519"/>
            <a:ext cx="7873999" cy="1200150"/>
          </a:xfrm>
          <a:prstGeom prst="rect">
            <a:avLst/>
          </a:prstGeom>
          <a:noFill/>
          <a:ln>
            <a:noFill/>
          </a:ln>
        </p:spPr>
      </p:pic>
      <p:cxnSp>
        <p:nvCxnSpPr>
          <p:cNvPr id="418" name="Google Shape;418;p24"/>
          <p:cNvCxnSpPr/>
          <p:nvPr/>
        </p:nvCxnSpPr>
        <p:spPr>
          <a:xfrm flipH="1">
            <a:off x="1991360" y="2336800"/>
            <a:ext cx="2164080" cy="1656080"/>
          </a:xfrm>
          <a:prstGeom prst="straightConnector1">
            <a:avLst/>
          </a:prstGeom>
          <a:noFill/>
          <a:ln w="9525" cap="flat" cmpd="sng">
            <a:solidFill>
              <a:srgbClr val="004B68"/>
            </a:solidFill>
            <a:prstDash val="solid"/>
            <a:round/>
            <a:headEnd type="none" w="sm" len="sm"/>
            <a:tailEnd type="stealth" w="med" len="med"/>
          </a:ln>
        </p:spPr>
      </p:cxnSp>
      <p:sp>
        <p:nvSpPr>
          <p:cNvPr id="419" name="Google Shape;419;p24"/>
          <p:cNvSpPr txBox="1"/>
          <p:nvPr/>
        </p:nvSpPr>
        <p:spPr>
          <a:xfrm>
            <a:off x="1045028" y="4322619"/>
            <a:ext cx="130997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Arial"/>
                <a:ea typeface="Arial"/>
                <a:cs typeface="Arial"/>
                <a:sym typeface="Arial"/>
              </a:rPr>
              <a:t>interface g0/0/1</a:t>
            </a:r>
            <a:endParaRPr/>
          </a:p>
          <a:p>
            <a:pPr marL="0" marR="0" lvl="0" indent="0" algn="l" rtl="0">
              <a:spcBef>
                <a:spcPts val="0"/>
              </a:spcBef>
              <a:spcAft>
                <a:spcPts val="0"/>
              </a:spcAft>
              <a:buNone/>
            </a:pPr>
            <a:r>
              <a:rPr lang="en-US" sz="1200">
                <a:solidFill>
                  <a:srgbClr val="000000"/>
                </a:solidFill>
                <a:latin typeface="Arial"/>
                <a:ea typeface="Arial"/>
                <a:cs typeface="Arial"/>
                <a:sym typeface="Arial"/>
              </a:rPr>
              <a:t>ip address dhcp </a:t>
            </a:r>
            <a:endParaRPr/>
          </a:p>
          <a:p>
            <a:pPr marL="0" marR="0" lvl="0" indent="0" algn="l" rtl="0">
              <a:spcBef>
                <a:spcPts val="0"/>
              </a:spcBef>
              <a:spcAft>
                <a:spcPts val="0"/>
              </a:spcAft>
              <a:buNone/>
            </a:pPr>
            <a:r>
              <a:rPr lang="en-US" sz="1200">
                <a:solidFill>
                  <a:srgbClr val="000000"/>
                </a:solidFill>
                <a:latin typeface="Arial"/>
                <a:ea typeface="Arial"/>
                <a:cs typeface="Arial"/>
                <a:sym typeface="Arial"/>
              </a:rPr>
              <a:t>no shut</a:t>
            </a:r>
            <a:endParaRPr sz="120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2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DHCPv4 Client</a:t>
            </a:r>
            <a:br>
              <a:rPr lang="en-US"/>
            </a:br>
            <a:r>
              <a:rPr lang="en-US" sz="2400"/>
              <a:t>Configuration Example</a:t>
            </a:r>
            <a:endParaRPr/>
          </a:p>
        </p:txBody>
      </p:sp>
      <p:sp>
        <p:nvSpPr>
          <p:cNvPr id="426" name="Google Shape;426;p25"/>
          <p:cNvSpPr txBox="1">
            <a:spLocks noGrp="1"/>
          </p:cNvSpPr>
          <p:nvPr>
            <p:ph type="body" idx="1"/>
          </p:nvPr>
        </p:nvSpPr>
        <p:spPr>
          <a:xfrm>
            <a:off x="0" y="731837"/>
            <a:ext cx="8754719" cy="1201239"/>
          </a:xfrm>
          <a:prstGeom prst="rect">
            <a:avLst/>
          </a:prstGeom>
          <a:noFill/>
          <a:ln>
            <a:noFill/>
          </a:ln>
        </p:spPr>
        <p:txBody>
          <a:bodyPr spcFirstLastPara="1" wrap="square" lIns="91400" tIns="45700" rIns="91400" bIns="45700" anchor="t" anchorCtr="0">
            <a:noAutofit/>
          </a:bodyPr>
          <a:lstStyle/>
          <a:p>
            <a:pPr marL="171450" lvl="0" indent="-171450" algn="l" rtl="0">
              <a:lnSpc>
                <a:spcPct val="100000"/>
              </a:lnSpc>
              <a:spcBef>
                <a:spcPts val="0"/>
              </a:spcBef>
              <a:spcAft>
                <a:spcPts val="0"/>
              </a:spcAft>
              <a:buSzPts val="1400"/>
              <a:buFont typeface="Arial"/>
              <a:buChar char="•"/>
            </a:pPr>
            <a:r>
              <a:rPr lang="en-US" sz="1400">
                <a:solidFill>
                  <a:srgbClr val="000000"/>
                </a:solidFill>
              </a:rPr>
              <a:t>To configure an </a:t>
            </a:r>
            <a:r>
              <a:rPr lang="en-US" sz="1400">
                <a:solidFill>
                  <a:srgbClr val="FF0000"/>
                </a:solidFill>
              </a:rPr>
              <a:t>Ethernet interface </a:t>
            </a:r>
            <a:r>
              <a:rPr lang="en-US" sz="1400">
                <a:solidFill>
                  <a:srgbClr val="000000"/>
                </a:solidFill>
              </a:rPr>
              <a:t>as a DHCP client, use the </a:t>
            </a:r>
            <a:r>
              <a:rPr lang="en-US" sz="1400" b="1">
                <a:solidFill>
                  <a:srgbClr val="FF0000"/>
                </a:solidFill>
              </a:rPr>
              <a:t>ip address dhcp</a:t>
            </a:r>
            <a:r>
              <a:rPr lang="en-US" sz="1400">
                <a:solidFill>
                  <a:srgbClr val="000000"/>
                </a:solidFill>
              </a:rPr>
              <a:t> interface configuration mode command, as shown in the example. This configuration assumes that the ISP has been configured to provide select customers with IPv4 addressing information.</a:t>
            </a:r>
            <a:endParaRPr/>
          </a:p>
          <a:p>
            <a:pPr marL="171450" lvl="0" indent="-171450" algn="l" rtl="0">
              <a:lnSpc>
                <a:spcPct val="100000"/>
              </a:lnSpc>
              <a:spcBef>
                <a:spcPts val="280"/>
              </a:spcBef>
              <a:spcAft>
                <a:spcPts val="0"/>
              </a:spcAft>
              <a:buSzPts val="1400"/>
              <a:buFont typeface="Arial"/>
              <a:buChar char="•"/>
            </a:pPr>
            <a:r>
              <a:rPr lang="en-US" sz="1400">
                <a:solidFill>
                  <a:srgbClr val="000000"/>
                </a:solidFill>
              </a:rPr>
              <a:t>The </a:t>
            </a:r>
            <a:r>
              <a:rPr lang="en-US" sz="1400" b="1">
                <a:solidFill>
                  <a:srgbClr val="FF0000"/>
                </a:solidFill>
              </a:rPr>
              <a:t>show ip interface g0/0/1</a:t>
            </a:r>
            <a:r>
              <a:rPr lang="en-US" sz="1400">
                <a:solidFill>
                  <a:srgbClr val="000000"/>
                </a:solidFill>
              </a:rPr>
              <a:t> command confirms that the interface is up and that the address was allocated by a DHCPv4 server.</a:t>
            </a:r>
            <a:endParaRPr/>
          </a:p>
        </p:txBody>
      </p:sp>
      <p:pic>
        <p:nvPicPr>
          <p:cNvPr id="427" name="Google Shape;427;p25"/>
          <p:cNvPicPr preferRelativeResize="0"/>
          <p:nvPr/>
        </p:nvPicPr>
        <p:blipFill rotWithShape="1">
          <a:blip r:embed="rId3">
            <a:alphaModFix/>
          </a:blip>
          <a:srcRect/>
          <a:stretch/>
        </p:blipFill>
        <p:spPr>
          <a:xfrm>
            <a:off x="572770" y="1899920"/>
            <a:ext cx="8020050" cy="1645919"/>
          </a:xfrm>
          <a:prstGeom prst="rect">
            <a:avLst/>
          </a:prstGeom>
          <a:noFill/>
          <a:ln>
            <a:noFill/>
          </a:ln>
        </p:spPr>
      </p:pic>
      <p:pic>
        <p:nvPicPr>
          <p:cNvPr id="428" name="Google Shape;428;p25"/>
          <p:cNvPicPr preferRelativeResize="0"/>
          <p:nvPr/>
        </p:nvPicPr>
        <p:blipFill rotWithShape="1">
          <a:blip r:embed="rId4">
            <a:alphaModFix/>
          </a:blip>
          <a:srcRect/>
          <a:stretch/>
        </p:blipFill>
        <p:spPr>
          <a:xfrm>
            <a:off x="572135" y="3459594"/>
            <a:ext cx="8029575" cy="1533525"/>
          </a:xfrm>
          <a:prstGeom prst="rect">
            <a:avLst/>
          </a:prstGeom>
          <a:noFill/>
          <a:ln>
            <a:noFill/>
          </a:ln>
        </p:spPr>
      </p:pic>
      <p:sp>
        <p:nvSpPr>
          <p:cNvPr id="429" name="Google Shape;429;p25"/>
          <p:cNvSpPr/>
          <p:nvPr/>
        </p:nvSpPr>
        <p:spPr>
          <a:xfrm>
            <a:off x="701040" y="3058160"/>
            <a:ext cx="2814320" cy="284480"/>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Configure a DHCPv4 Client</a:t>
            </a:r>
            <a:br>
              <a:rPr lang="en-US"/>
            </a:br>
            <a:r>
              <a:rPr lang="en-US" sz="2400"/>
              <a:t>Home Router as a DHCPv4 Client</a:t>
            </a:r>
            <a:endParaRPr/>
          </a:p>
        </p:txBody>
      </p:sp>
      <p:sp>
        <p:nvSpPr>
          <p:cNvPr id="436" name="Google Shape;436;p26"/>
          <p:cNvSpPr txBox="1">
            <a:spLocks noGrp="1"/>
          </p:cNvSpPr>
          <p:nvPr>
            <p:ph type="body" idx="1"/>
          </p:nvPr>
        </p:nvSpPr>
        <p:spPr>
          <a:xfrm>
            <a:off x="121920" y="731838"/>
            <a:ext cx="8632799" cy="1750106"/>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500"/>
              <a:buNone/>
            </a:pPr>
            <a:r>
              <a:rPr lang="en-US" sz="1500" dirty="0">
                <a:solidFill>
                  <a:srgbClr val="FF0000"/>
                </a:solidFill>
              </a:rPr>
              <a:t>Home routers </a:t>
            </a:r>
            <a:r>
              <a:rPr lang="en-US" sz="1500" dirty="0">
                <a:solidFill>
                  <a:srgbClr val="000000"/>
                </a:solidFill>
              </a:rPr>
              <a:t>are typically already set to </a:t>
            </a:r>
            <a:r>
              <a:rPr lang="en-US" sz="1500" dirty="0">
                <a:solidFill>
                  <a:srgbClr val="FF0000"/>
                </a:solidFill>
              </a:rPr>
              <a:t>receive IPv4 addressing </a:t>
            </a:r>
            <a:r>
              <a:rPr lang="en-US" sz="1500" dirty="0">
                <a:solidFill>
                  <a:srgbClr val="000000"/>
                </a:solidFill>
              </a:rPr>
              <a:t>information automatically from the </a:t>
            </a:r>
            <a:r>
              <a:rPr lang="en-US" sz="1500" dirty="0">
                <a:solidFill>
                  <a:srgbClr val="FF0000"/>
                </a:solidFill>
              </a:rPr>
              <a:t>ISP</a:t>
            </a:r>
            <a:r>
              <a:rPr lang="en-US" sz="1500" dirty="0">
                <a:solidFill>
                  <a:srgbClr val="000000"/>
                </a:solidFill>
              </a:rPr>
              <a:t>. This is so that customers can easily set up the router and connect to the internet.</a:t>
            </a:r>
            <a:endParaRPr dirty="0"/>
          </a:p>
          <a:p>
            <a:pPr marL="285690" lvl="0" indent="-285690" algn="l" rtl="0">
              <a:lnSpc>
                <a:spcPct val="100000"/>
              </a:lnSpc>
              <a:spcBef>
                <a:spcPts val="300"/>
              </a:spcBef>
              <a:spcAft>
                <a:spcPts val="0"/>
              </a:spcAft>
              <a:buSzPts val="1500"/>
              <a:buFont typeface="Arial"/>
              <a:buChar char="•"/>
            </a:pPr>
            <a:r>
              <a:rPr lang="en-US" sz="1500" dirty="0">
                <a:solidFill>
                  <a:srgbClr val="000000"/>
                </a:solidFill>
              </a:rPr>
              <a:t>For example, the figure shows the default WAN setup page for a Packet Tracer wireless router. Notice that the internet connection type is set to </a:t>
            </a:r>
            <a:r>
              <a:rPr lang="en-US" sz="1500" b="1" dirty="0">
                <a:solidFill>
                  <a:srgbClr val="FF0000"/>
                </a:solidFill>
              </a:rPr>
              <a:t>Automatic Configuration - DHCP</a:t>
            </a:r>
            <a:r>
              <a:rPr lang="en-US" sz="1500" dirty="0">
                <a:solidFill>
                  <a:srgbClr val="FF0000"/>
                </a:solidFill>
              </a:rPr>
              <a:t>. </a:t>
            </a:r>
            <a:r>
              <a:rPr lang="en-US" sz="1500" dirty="0">
                <a:solidFill>
                  <a:srgbClr val="000000"/>
                </a:solidFill>
              </a:rPr>
              <a:t>This selection is used when the </a:t>
            </a:r>
            <a:r>
              <a:rPr lang="en-US" sz="1500" dirty="0">
                <a:solidFill>
                  <a:srgbClr val="FF0000"/>
                </a:solidFill>
              </a:rPr>
              <a:t>router</a:t>
            </a:r>
            <a:r>
              <a:rPr lang="en-US" sz="1500" dirty="0">
                <a:solidFill>
                  <a:srgbClr val="000000"/>
                </a:solidFill>
              </a:rPr>
              <a:t> is </a:t>
            </a:r>
            <a:r>
              <a:rPr lang="en-US" sz="1500" dirty="0">
                <a:solidFill>
                  <a:srgbClr val="FF0000"/>
                </a:solidFill>
              </a:rPr>
              <a:t>connected</a:t>
            </a:r>
            <a:r>
              <a:rPr lang="en-US" sz="1500" dirty="0">
                <a:solidFill>
                  <a:srgbClr val="000000"/>
                </a:solidFill>
              </a:rPr>
              <a:t> to </a:t>
            </a:r>
            <a:r>
              <a:rPr lang="en-US" sz="1500" dirty="0">
                <a:solidFill>
                  <a:srgbClr val="FF0000"/>
                </a:solidFill>
              </a:rPr>
              <a:t>a DSL or cable modem </a:t>
            </a:r>
            <a:r>
              <a:rPr lang="en-US" sz="1500" dirty="0">
                <a:solidFill>
                  <a:srgbClr val="000000"/>
                </a:solidFill>
              </a:rPr>
              <a:t>and acts as a </a:t>
            </a:r>
            <a:r>
              <a:rPr lang="en-US" sz="1500" dirty="0">
                <a:solidFill>
                  <a:srgbClr val="FF0000"/>
                </a:solidFill>
              </a:rPr>
              <a:t>DHCPv4 client</a:t>
            </a:r>
            <a:r>
              <a:rPr lang="en-US" sz="1500" dirty="0">
                <a:solidFill>
                  <a:srgbClr val="000000"/>
                </a:solidFill>
              </a:rPr>
              <a:t>, requesting an IPv4 address from the ISP.</a:t>
            </a:r>
            <a:endParaRPr dirty="0"/>
          </a:p>
          <a:p>
            <a:pPr marL="285690" lvl="0" indent="-285690" algn="l" rtl="0">
              <a:lnSpc>
                <a:spcPct val="100000"/>
              </a:lnSpc>
              <a:spcBef>
                <a:spcPts val="300"/>
              </a:spcBef>
              <a:spcAft>
                <a:spcPts val="0"/>
              </a:spcAft>
              <a:buSzPts val="1500"/>
              <a:buFont typeface="Arial"/>
              <a:buChar char="•"/>
            </a:pPr>
            <a:r>
              <a:rPr lang="en-US" sz="1500" dirty="0">
                <a:solidFill>
                  <a:srgbClr val="000000"/>
                </a:solidFill>
              </a:rPr>
              <a:t>Various manufacturers of home routers will have a similar setup.</a:t>
            </a:r>
            <a:endParaRPr dirty="0"/>
          </a:p>
          <a:p>
            <a:pPr marL="0" lvl="0" indent="0" algn="l" rtl="0">
              <a:lnSpc>
                <a:spcPct val="100000"/>
              </a:lnSpc>
              <a:spcBef>
                <a:spcPts val="240"/>
              </a:spcBef>
              <a:spcAft>
                <a:spcPts val="0"/>
              </a:spcAft>
              <a:buSzPts val="1200"/>
              <a:buNone/>
            </a:pPr>
            <a:br>
              <a:rPr lang="en-US" sz="1200" dirty="0">
                <a:solidFill>
                  <a:srgbClr val="000000"/>
                </a:solidFill>
              </a:rPr>
            </a:br>
            <a:endParaRPr sz="1200" dirty="0">
              <a:solidFill>
                <a:srgbClr val="000000"/>
              </a:solidFill>
            </a:endParaRPr>
          </a:p>
        </p:txBody>
      </p:sp>
      <p:pic>
        <p:nvPicPr>
          <p:cNvPr id="437" name="Google Shape;437;p26"/>
          <p:cNvPicPr preferRelativeResize="0"/>
          <p:nvPr/>
        </p:nvPicPr>
        <p:blipFill rotWithShape="1">
          <a:blip r:embed="rId3">
            <a:alphaModFix/>
          </a:blip>
          <a:srcRect/>
          <a:stretch/>
        </p:blipFill>
        <p:spPr>
          <a:xfrm>
            <a:off x="1045029" y="2582636"/>
            <a:ext cx="7326086" cy="2239686"/>
          </a:xfrm>
          <a:prstGeom prst="rect">
            <a:avLst/>
          </a:prstGeom>
          <a:noFill/>
          <a:ln>
            <a:noFill/>
          </a:ln>
        </p:spPr>
      </p:pic>
      <p:sp>
        <p:nvSpPr>
          <p:cNvPr id="2" name="Rectangle 1">
            <a:extLst>
              <a:ext uri="{FF2B5EF4-FFF2-40B4-BE49-F238E27FC236}">
                <a16:creationId xmlns:a16="http://schemas.microsoft.com/office/drawing/2014/main" id="{6F4F88F5-A5FB-F70F-FD81-E5E1F98DB226}"/>
              </a:ext>
            </a:extLst>
          </p:cNvPr>
          <p:cNvSpPr/>
          <p:nvPr/>
        </p:nvSpPr>
        <p:spPr>
          <a:xfrm>
            <a:off x="798512" y="3401291"/>
            <a:ext cx="3343997" cy="692727"/>
          </a:xfrm>
          <a:prstGeom prst="rect">
            <a:avLst/>
          </a:prstGeom>
          <a:no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7"/>
          <p:cNvSpPr txBox="1">
            <a:spLocks noGrp="1"/>
          </p:cNvSpPr>
          <p:nvPr>
            <p:ph type="ctrTitle"/>
          </p:nvPr>
        </p:nvSpPr>
        <p:spPr>
          <a:xfrm>
            <a:off x="416425" y="1747520"/>
            <a:ext cx="8280314" cy="97028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7.4 Module Practice and Quiz</a:t>
            </a:r>
            <a:endParaRPr/>
          </a:p>
        </p:txBody>
      </p:sp>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28"/>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Packet Tracer – Implement DHCPv4</a:t>
            </a:r>
            <a:endParaRPr/>
          </a:p>
        </p:txBody>
      </p:sp>
      <p:sp>
        <p:nvSpPr>
          <p:cNvPr id="450" name="Google Shape;450;p28"/>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0" lvl="0" indent="0" algn="l" rtl="0">
              <a:lnSpc>
                <a:spcPct val="100000"/>
              </a:lnSpc>
              <a:spcBef>
                <a:spcPts val="0"/>
              </a:spcBef>
              <a:spcAft>
                <a:spcPts val="0"/>
              </a:spcAft>
              <a:buSzPts val="1620"/>
              <a:buNone/>
            </a:pPr>
            <a:r>
              <a:rPr lang="en-US" sz="1800"/>
              <a:t>In this Packet Tracer, you will complete the following objectives:</a:t>
            </a:r>
            <a:endParaRPr/>
          </a:p>
          <a:p>
            <a:pPr marL="169863" lvl="0" indent="-169863" algn="l" rtl="0">
              <a:lnSpc>
                <a:spcPct val="100000"/>
              </a:lnSpc>
              <a:spcBef>
                <a:spcPts val="1200"/>
              </a:spcBef>
              <a:spcAft>
                <a:spcPts val="0"/>
              </a:spcAft>
              <a:buSzPts val="1620"/>
              <a:buFont typeface="Arial"/>
              <a:buChar char="•"/>
            </a:pPr>
            <a:r>
              <a:rPr lang="en-US" sz="1800"/>
              <a:t>Part 1: Configure a Router as a DCHP Server</a:t>
            </a:r>
            <a:endParaRPr/>
          </a:p>
          <a:p>
            <a:pPr marL="169863" lvl="0" indent="-169863" algn="l" rtl="0">
              <a:lnSpc>
                <a:spcPct val="100000"/>
              </a:lnSpc>
              <a:spcBef>
                <a:spcPts val="1200"/>
              </a:spcBef>
              <a:spcAft>
                <a:spcPts val="0"/>
              </a:spcAft>
              <a:buSzPts val="1620"/>
              <a:buFont typeface="Arial"/>
              <a:buChar char="•"/>
            </a:pPr>
            <a:r>
              <a:rPr lang="en-US" sz="1800"/>
              <a:t>Part 2: Configure DCHP Relay</a:t>
            </a:r>
            <a:endParaRPr/>
          </a:p>
          <a:p>
            <a:pPr marL="169863" lvl="0" indent="-169863" algn="l" rtl="0">
              <a:lnSpc>
                <a:spcPct val="100000"/>
              </a:lnSpc>
              <a:spcBef>
                <a:spcPts val="1200"/>
              </a:spcBef>
              <a:spcAft>
                <a:spcPts val="0"/>
              </a:spcAft>
              <a:buSzPts val="1620"/>
              <a:buFont typeface="Arial"/>
              <a:buChar char="•"/>
            </a:pPr>
            <a:r>
              <a:rPr lang="en-US" sz="1800"/>
              <a:t>Part 3: configure a Router as a DCHP Client</a:t>
            </a:r>
            <a:endParaRPr/>
          </a:p>
        </p:txBody>
      </p:sp>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29"/>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Lab – Implement DHCPv4</a:t>
            </a:r>
            <a:endParaRPr/>
          </a:p>
        </p:txBody>
      </p:sp>
      <p:sp>
        <p:nvSpPr>
          <p:cNvPr id="457" name="Google Shape;457;p29"/>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0" lvl="0" indent="0" algn="l" rtl="0">
              <a:lnSpc>
                <a:spcPct val="100000"/>
              </a:lnSpc>
              <a:spcBef>
                <a:spcPts val="0"/>
              </a:spcBef>
              <a:spcAft>
                <a:spcPts val="0"/>
              </a:spcAft>
              <a:buSzPts val="1350"/>
              <a:buNone/>
            </a:pPr>
            <a:r>
              <a:rPr lang="en-US"/>
              <a:t>In this lab, you will complete the following objectives:</a:t>
            </a:r>
            <a:endParaRPr/>
          </a:p>
          <a:p>
            <a:pPr marL="169863" lvl="0" indent="-169863" algn="l" rtl="0">
              <a:lnSpc>
                <a:spcPct val="100000"/>
              </a:lnSpc>
              <a:spcBef>
                <a:spcPts val="1200"/>
              </a:spcBef>
              <a:spcAft>
                <a:spcPts val="0"/>
              </a:spcAft>
              <a:buSzPts val="1350"/>
              <a:buFont typeface="Noto Sans Symbols"/>
              <a:buChar char="▪"/>
            </a:pPr>
            <a:r>
              <a:rPr lang="en-US"/>
              <a:t>Part 1: Build the Network and Configure Basic Device Settings</a:t>
            </a:r>
            <a:endParaRPr/>
          </a:p>
          <a:p>
            <a:pPr marL="169863" lvl="0" indent="-169863" algn="l" rtl="0">
              <a:lnSpc>
                <a:spcPct val="100000"/>
              </a:lnSpc>
              <a:spcBef>
                <a:spcPts val="1200"/>
              </a:spcBef>
              <a:spcAft>
                <a:spcPts val="0"/>
              </a:spcAft>
              <a:buSzPts val="1350"/>
              <a:buFont typeface="Noto Sans Symbols"/>
              <a:buChar char="▪"/>
            </a:pPr>
            <a:r>
              <a:rPr lang="en-US"/>
              <a:t>Part 2: Configure and Verify Two DHCPv4 Servers on R1</a:t>
            </a:r>
            <a:endParaRPr/>
          </a:p>
          <a:p>
            <a:pPr marL="169863" lvl="0" indent="-169863" algn="l" rtl="0">
              <a:lnSpc>
                <a:spcPct val="100000"/>
              </a:lnSpc>
              <a:spcBef>
                <a:spcPts val="1200"/>
              </a:spcBef>
              <a:spcAft>
                <a:spcPts val="0"/>
              </a:spcAft>
              <a:buSzPts val="1350"/>
              <a:buFont typeface="Noto Sans Symbols"/>
              <a:buChar char="▪"/>
            </a:pPr>
            <a:r>
              <a:rPr lang="en-US"/>
              <a:t>Part 3: Configure and Verify a DHCP Relay on R2</a:t>
            </a:r>
            <a:endParaRPr/>
          </a:p>
          <a:p>
            <a:pPr marL="169863" lvl="0" indent="-84138" algn="l" rtl="0">
              <a:lnSpc>
                <a:spcPct val="100000"/>
              </a:lnSpc>
              <a:spcBef>
                <a:spcPts val="1200"/>
              </a:spcBef>
              <a:spcAft>
                <a:spcPts val="0"/>
              </a:spcAft>
              <a:buSzPts val="1350"/>
              <a:buFont typeface="Noto Sans Symbols"/>
              <a:buNone/>
            </a:pPr>
            <a:endParaRPr/>
          </a:p>
        </p:txBody>
      </p:sp>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30"/>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464" name="Google Shape;464;p30"/>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260"/>
              <a:buFont typeface="Arial"/>
              <a:buChar char="•"/>
            </a:pPr>
            <a:r>
              <a:rPr lang="en-US" sz="1400"/>
              <a:t>The DHCPv4 server dynamically assigns, or leases, an IPv4 address to a client from a pool of addresses for a limited period of time chosen by the server, or until the client no longer needs the address. </a:t>
            </a:r>
            <a:endParaRPr/>
          </a:p>
          <a:p>
            <a:pPr marL="169863" lvl="0" indent="-169863" algn="l" rtl="0">
              <a:lnSpc>
                <a:spcPct val="100000"/>
              </a:lnSpc>
              <a:spcBef>
                <a:spcPts val="0"/>
              </a:spcBef>
              <a:spcAft>
                <a:spcPts val="0"/>
              </a:spcAft>
              <a:buSzPts val="1260"/>
              <a:buFont typeface="Arial"/>
              <a:buChar char="•"/>
            </a:pPr>
            <a:r>
              <a:rPr lang="en-US" sz="1400"/>
              <a:t>The DHCPv4 lease process begins with the client sending message requesting the services of a DHCP server. If there is a DHCPv4 server that receives the message it will respond with an IPv4 address and possible other network configuration information. </a:t>
            </a:r>
            <a:endParaRPr/>
          </a:p>
          <a:p>
            <a:pPr marL="169863" lvl="0" indent="-169863" algn="l" rtl="0">
              <a:lnSpc>
                <a:spcPct val="100000"/>
              </a:lnSpc>
              <a:spcBef>
                <a:spcPts val="0"/>
              </a:spcBef>
              <a:spcAft>
                <a:spcPts val="0"/>
              </a:spcAft>
              <a:buSzPts val="1260"/>
              <a:buFont typeface="Arial"/>
              <a:buChar char="•"/>
            </a:pPr>
            <a:r>
              <a:rPr lang="en-US" sz="1400"/>
              <a:t>The client must contact the DHCP server periodically to extend the lease. This lease mechanism ensures that clients that move or power off do not keep addresses that they no longer need. </a:t>
            </a:r>
            <a:endParaRPr/>
          </a:p>
          <a:p>
            <a:pPr marL="169863" lvl="0" indent="-169863" algn="l" rtl="0">
              <a:lnSpc>
                <a:spcPct val="100000"/>
              </a:lnSpc>
              <a:spcBef>
                <a:spcPts val="0"/>
              </a:spcBef>
              <a:spcAft>
                <a:spcPts val="0"/>
              </a:spcAft>
              <a:buSzPts val="1260"/>
              <a:buFont typeface="Arial"/>
              <a:buChar char="•"/>
            </a:pPr>
            <a:r>
              <a:rPr lang="en-US" sz="1400"/>
              <a:t>When the client boots (or otherwise wants to join a network), it begins a four-step process to obtain a lease: DHCPDISCOVER, then DHCPOFFER, then DHCPREQUEST, and finally DHCPACK. Prior to lease expiration, the client begins a two-step process to renew the lease with the DHCPv4 server: DHCPREQUEST then DHCPACK.</a:t>
            </a:r>
            <a:endParaRPr/>
          </a:p>
          <a:p>
            <a:pPr marL="169863" lvl="0" indent="-169863" algn="l" rtl="0">
              <a:lnSpc>
                <a:spcPct val="100000"/>
              </a:lnSpc>
              <a:spcBef>
                <a:spcPts val="0"/>
              </a:spcBef>
              <a:spcAft>
                <a:spcPts val="0"/>
              </a:spcAft>
              <a:buSzPts val="1260"/>
              <a:buFont typeface="Arial"/>
              <a:buChar char="•"/>
            </a:pPr>
            <a:r>
              <a:rPr lang="en-US" sz="1400"/>
              <a:t>A Cisco router running Cisco IOS software can be configured to act as a DHCPv4 server. </a:t>
            </a:r>
            <a:endParaRPr/>
          </a:p>
          <a:p>
            <a:pPr marL="169863" lvl="0" indent="-169863" algn="l" rtl="0">
              <a:lnSpc>
                <a:spcPct val="100000"/>
              </a:lnSpc>
              <a:spcBef>
                <a:spcPts val="0"/>
              </a:spcBef>
              <a:spcAft>
                <a:spcPts val="0"/>
              </a:spcAft>
              <a:buSzPts val="1260"/>
              <a:buFont typeface="Arial"/>
              <a:buChar char="•"/>
            </a:pPr>
            <a:r>
              <a:rPr lang="en-US" sz="1400"/>
              <a:t>Use the following steps to configure a Cisco IOS DHCPv4 server: exclude IPv4 addresses, define a DHCPv4 pool name, and configure the DHCPv4 pool. </a:t>
            </a:r>
            <a:endParaRPr/>
          </a:p>
          <a:p>
            <a:pPr marL="169863" lvl="0" indent="-169863" algn="l" rtl="0">
              <a:lnSpc>
                <a:spcPct val="100000"/>
              </a:lnSpc>
              <a:spcBef>
                <a:spcPts val="0"/>
              </a:spcBef>
              <a:spcAft>
                <a:spcPts val="0"/>
              </a:spcAft>
              <a:buSzPts val="1260"/>
              <a:buFont typeface="Arial"/>
              <a:buChar char="•"/>
            </a:pPr>
            <a:r>
              <a:rPr lang="en-US" sz="1400"/>
              <a:t>Verify your configuration using the </a:t>
            </a:r>
            <a:r>
              <a:rPr lang="en-US" sz="1400" b="1"/>
              <a:t>show running-config | section dhcp</a:t>
            </a:r>
            <a:r>
              <a:rPr lang="en-US" sz="1400"/>
              <a:t>, </a:t>
            </a:r>
            <a:r>
              <a:rPr lang="en-US" sz="1400" b="1"/>
              <a:t>show ip dhcp binding</a:t>
            </a:r>
            <a:r>
              <a:rPr lang="en-US" sz="1400"/>
              <a:t>, and </a:t>
            </a:r>
            <a:r>
              <a:rPr lang="en-US" sz="1400" b="1"/>
              <a:t>show ip dhcp server statistics</a:t>
            </a:r>
            <a:r>
              <a:rPr lang="en-US" sz="1400"/>
              <a:t> commands. </a:t>
            </a:r>
            <a:endParaRPr/>
          </a:p>
          <a:p>
            <a:pPr marL="169863" lvl="0" indent="-169863" algn="l" rtl="0">
              <a:lnSpc>
                <a:spcPct val="100000"/>
              </a:lnSpc>
              <a:spcBef>
                <a:spcPts val="0"/>
              </a:spcBef>
              <a:spcAft>
                <a:spcPts val="0"/>
              </a:spcAft>
              <a:buSzPts val="1260"/>
              <a:buFont typeface="Arial"/>
              <a:buChar char="•"/>
            </a:pPr>
            <a:r>
              <a:rPr lang="en-US" sz="1400"/>
              <a:t>The DHCPv4 service is enabled, by default. To disable the service, use the </a:t>
            </a:r>
            <a:r>
              <a:rPr lang="en-US" sz="1400" b="1"/>
              <a:t>no service dhcp</a:t>
            </a:r>
            <a:r>
              <a:rPr lang="en-US" sz="1400"/>
              <a:t> global configuration mode command. </a:t>
            </a:r>
            <a:endParaRPr/>
          </a:p>
        </p:txBody>
      </p:sp>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31"/>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471" name="Google Shape;471;p31"/>
          <p:cNvSpPr txBox="1">
            <a:spLocks noGrp="1"/>
          </p:cNvSpPr>
          <p:nvPr>
            <p:ph type="body" idx="1"/>
          </p:nvPr>
        </p:nvSpPr>
        <p:spPr>
          <a:xfrm>
            <a:off x="0" y="722812"/>
            <a:ext cx="9143999" cy="4231452"/>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260"/>
              <a:buFont typeface="Arial"/>
              <a:buChar char="•"/>
            </a:pPr>
            <a:r>
              <a:rPr lang="en-US" sz="1400"/>
              <a:t>Network clients are not typically on the same subnet as enterprise servers providing DHCP, DNS, TFTP, and FTP services for the network. In order to locate the servers and receive services, clients often use broadcast messages. The router must be configured to relay DHCPv4 messages to the DHCPv4 server. </a:t>
            </a:r>
            <a:endParaRPr/>
          </a:p>
          <a:p>
            <a:pPr marL="169863" lvl="0" indent="-169863" algn="l" rtl="0">
              <a:lnSpc>
                <a:spcPct val="100000"/>
              </a:lnSpc>
              <a:spcBef>
                <a:spcPts val="0"/>
              </a:spcBef>
              <a:spcAft>
                <a:spcPts val="0"/>
              </a:spcAft>
              <a:buSzPts val="1260"/>
              <a:buFont typeface="Arial"/>
              <a:buChar char="•"/>
            </a:pPr>
            <a:r>
              <a:rPr lang="en-US" sz="1400"/>
              <a:t>The network administrator can configure the router with the </a:t>
            </a:r>
            <a:r>
              <a:rPr lang="en-US" sz="1400" b="1"/>
              <a:t>ip helper-address </a:t>
            </a:r>
            <a:r>
              <a:rPr lang="en-US" sz="1400" b="1" i="1"/>
              <a:t>address</a:t>
            </a:r>
            <a:r>
              <a:rPr lang="en-US" sz="1400" b="1"/>
              <a:t> </a:t>
            </a:r>
            <a:r>
              <a:rPr lang="en-US" sz="1400"/>
              <a:t>interface configuration command and use the </a:t>
            </a:r>
            <a:r>
              <a:rPr lang="en-US" sz="1400" b="1"/>
              <a:t>show ip interface</a:t>
            </a:r>
            <a:r>
              <a:rPr lang="en-US" sz="1400"/>
              <a:t> command to verify the configuration. </a:t>
            </a:r>
            <a:endParaRPr/>
          </a:p>
          <a:p>
            <a:pPr marL="169863" lvl="0" indent="-169863" algn="l" rtl="0">
              <a:lnSpc>
                <a:spcPct val="100000"/>
              </a:lnSpc>
              <a:spcBef>
                <a:spcPts val="0"/>
              </a:spcBef>
              <a:spcAft>
                <a:spcPts val="0"/>
              </a:spcAft>
              <a:buSzPts val="1260"/>
              <a:buFont typeface="Arial"/>
              <a:buChar char="•"/>
            </a:pPr>
            <a:r>
              <a:rPr lang="en-US" sz="1400"/>
              <a:t>By default, the ip helper-address command forwards the following eight UDP services:</a:t>
            </a:r>
            <a:endParaRPr/>
          </a:p>
          <a:p>
            <a:pPr marL="358775" lvl="1" indent="-215900" algn="l" rtl="0">
              <a:lnSpc>
                <a:spcPct val="100000"/>
              </a:lnSpc>
              <a:spcBef>
                <a:spcPts val="0"/>
              </a:spcBef>
              <a:spcAft>
                <a:spcPts val="0"/>
              </a:spcAft>
              <a:buSzPts val="1300"/>
              <a:buFont typeface="Arial"/>
              <a:buChar char="•"/>
            </a:pPr>
            <a:r>
              <a:rPr lang="en-US" sz="1300"/>
              <a:t>Port 37: Time</a:t>
            </a:r>
            <a:endParaRPr/>
          </a:p>
          <a:p>
            <a:pPr marL="358775" lvl="1" indent="-215900" algn="l" rtl="0">
              <a:lnSpc>
                <a:spcPct val="100000"/>
              </a:lnSpc>
              <a:spcBef>
                <a:spcPts val="0"/>
              </a:spcBef>
              <a:spcAft>
                <a:spcPts val="0"/>
              </a:spcAft>
              <a:buSzPts val="1300"/>
              <a:buFont typeface="Arial"/>
              <a:buChar char="•"/>
            </a:pPr>
            <a:r>
              <a:rPr lang="en-US" sz="1300"/>
              <a:t>Port 49: TACACS</a:t>
            </a:r>
            <a:endParaRPr/>
          </a:p>
          <a:p>
            <a:pPr marL="358775" lvl="1" indent="-215900" algn="l" rtl="0">
              <a:lnSpc>
                <a:spcPct val="100000"/>
              </a:lnSpc>
              <a:spcBef>
                <a:spcPts val="0"/>
              </a:spcBef>
              <a:spcAft>
                <a:spcPts val="0"/>
              </a:spcAft>
              <a:buSzPts val="1300"/>
              <a:buFont typeface="Arial"/>
              <a:buChar char="•"/>
            </a:pPr>
            <a:r>
              <a:rPr lang="en-US" sz="1300"/>
              <a:t>Port 53: DNS</a:t>
            </a:r>
            <a:endParaRPr/>
          </a:p>
          <a:p>
            <a:pPr marL="358775" lvl="1" indent="-215900" algn="l" rtl="0">
              <a:lnSpc>
                <a:spcPct val="100000"/>
              </a:lnSpc>
              <a:spcBef>
                <a:spcPts val="0"/>
              </a:spcBef>
              <a:spcAft>
                <a:spcPts val="0"/>
              </a:spcAft>
              <a:buSzPts val="1300"/>
              <a:buFont typeface="Arial"/>
              <a:buChar char="•"/>
            </a:pPr>
            <a:r>
              <a:rPr lang="en-US" sz="1300"/>
              <a:t>Port 67: DHCP/BOOTP server</a:t>
            </a:r>
            <a:endParaRPr/>
          </a:p>
          <a:p>
            <a:pPr marL="358775" lvl="1" indent="-215900" algn="l" rtl="0">
              <a:lnSpc>
                <a:spcPct val="100000"/>
              </a:lnSpc>
              <a:spcBef>
                <a:spcPts val="0"/>
              </a:spcBef>
              <a:spcAft>
                <a:spcPts val="0"/>
              </a:spcAft>
              <a:buSzPts val="1300"/>
              <a:buFont typeface="Arial"/>
              <a:buChar char="•"/>
            </a:pPr>
            <a:r>
              <a:rPr lang="en-US" sz="1300"/>
              <a:t>Port 68: DHCP/BOOTP client</a:t>
            </a:r>
            <a:endParaRPr/>
          </a:p>
          <a:p>
            <a:pPr marL="358775" lvl="1" indent="-215900" algn="l" rtl="0">
              <a:lnSpc>
                <a:spcPct val="100000"/>
              </a:lnSpc>
              <a:spcBef>
                <a:spcPts val="0"/>
              </a:spcBef>
              <a:spcAft>
                <a:spcPts val="0"/>
              </a:spcAft>
              <a:buSzPts val="1300"/>
              <a:buFont typeface="Arial"/>
              <a:buChar char="•"/>
            </a:pPr>
            <a:r>
              <a:rPr lang="en-US" sz="1300"/>
              <a:t>Port 69: TFTP</a:t>
            </a:r>
            <a:endParaRPr/>
          </a:p>
          <a:p>
            <a:pPr marL="358775" lvl="1" indent="-215900" algn="l" rtl="0">
              <a:lnSpc>
                <a:spcPct val="100000"/>
              </a:lnSpc>
              <a:spcBef>
                <a:spcPts val="0"/>
              </a:spcBef>
              <a:spcAft>
                <a:spcPts val="0"/>
              </a:spcAft>
              <a:buSzPts val="1300"/>
              <a:buFont typeface="Arial"/>
              <a:buChar char="•"/>
            </a:pPr>
            <a:r>
              <a:rPr lang="en-US" sz="1300"/>
              <a:t>Port 137: NetBIOS name service</a:t>
            </a:r>
            <a:endParaRPr/>
          </a:p>
          <a:p>
            <a:pPr marL="358775" lvl="1" indent="-215900" algn="l" rtl="0">
              <a:lnSpc>
                <a:spcPct val="100000"/>
              </a:lnSpc>
              <a:spcBef>
                <a:spcPts val="0"/>
              </a:spcBef>
              <a:spcAft>
                <a:spcPts val="0"/>
              </a:spcAft>
              <a:buSzPts val="1300"/>
              <a:buFont typeface="Arial"/>
              <a:buChar char="•"/>
            </a:pPr>
            <a:r>
              <a:rPr lang="en-US" sz="1300"/>
              <a:t>Port 138: NetBIOS datagram service</a:t>
            </a:r>
            <a:endParaRPr/>
          </a:p>
          <a:p>
            <a:pPr marL="169863" lvl="0" indent="-169863" algn="l" rtl="0">
              <a:lnSpc>
                <a:spcPct val="100000"/>
              </a:lnSpc>
              <a:spcBef>
                <a:spcPts val="0"/>
              </a:spcBef>
              <a:spcAft>
                <a:spcPts val="0"/>
              </a:spcAft>
              <a:buSzPts val="1260"/>
              <a:buFont typeface="Arial"/>
              <a:buChar char="•"/>
            </a:pPr>
            <a:r>
              <a:rPr lang="en-US" sz="1400"/>
              <a:t>To configure an Ethernet interface as a DHCP client, use the </a:t>
            </a:r>
            <a:r>
              <a:rPr lang="en-US" sz="1400" b="1"/>
              <a:t>ip address dhcp </a:t>
            </a:r>
            <a:r>
              <a:rPr lang="en-US" sz="1400"/>
              <a:t>interface configuration mode command. </a:t>
            </a:r>
            <a:endParaRPr/>
          </a:p>
          <a:p>
            <a:pPr marL="169863" lvl="0" indent="-169863" algn="l" rtl="0">
              <a:lnSpc>
                <a:spcPct val="100000"/>
              </a:lnSpc>
              <a:spcBef>
                <a:spcPts val="0"/>
              </a:spcBef>
              <a:spcAft>
                <a:spcPts val="0"/>
              </a:spcAft>
              <a:buSzPts val="1260"/>
              <a:buFont typeface="Arial"/>
              <a:buChar char="•"/>
            </a:pPr>
            <a:r>
              <a:rPr lang="en-US" sz="1400"/>
              <a:t>Home routers are typically already set to receive IPv4 addressing information automatically from the ISP. The internet connection type is set to Automatic Configuration - DHCP. This selection is used when the router is connected to a DSL or cable modem and acts as a DHCPv4 client, requesting an IPv4 address from the ISP.</a:t>
            </a:r>
            <a:endParaRPr/>
          </a:p>
        </p:txBody>
      </p:sp>
    </p:spTree>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476"/>
        <p:cNvGrpSpPr/>
        <p:nvPr/>
      </p:nvGrpSpPr>
      <p:grpSpPr>
        <a:xfrm>
          <a:off x="0" y="0"/>
          <a:ext cx="0" cy="0"/>
          <a:chOff x="0" y="0"/>
          <a:chExt cx="0" cy="0"/>
        </a:xfrm>
      </p:grpSpPr>
      <p:sp>
        <p:nvSpPr>
          <p:cNvPr id="477" name="Google Shape;477;p32"/>
          <p:cNvSpPr txBox="1">
            <a:spLocks noGrp="1"/>
          </p:cNvSpPr>
          <p:nvPr>
            <p:ph type="title"/>
          </p:nvPr>
        </p:nvSpPr>
        <p:spPr>
          <a:xfrm>
            <a:off x="0" y="0"/>
            <a:ext cx="9144000" cy="60905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sz="1400">
                <a:latin typeface="Arial"/>
                <a:ea typeface="Arial"/>
                <a:cs typeface="Arial"/>
                <a:sym typeface="Arial"/>
              </a:rPr>
              <a:t>Module 7: DHCPv4</a:t>
            </a:r>
            <a:br>
              <a:rPr lang="en-US">
                <a:latin typeface="Arial"/>
                <a:ea typeface="Arial"/>
                <a:cs typeface="Arial"/>
                <a:sym typeface="Arial"/>
              </a:rPr>
            </a:br>
            <a:r>
              <a:rPr lang="en-US">
                <a:latin typeface="Arial"/>
                <a:ea typeface="Arial"/>
                <a:cs typeface="Arial"/>
                <a:sym typeface="Arial"/>
              </a:rPr>
              <a:t>New Terms and Commands</a:t>
            </a:r>
            <a:endParaRPr/>
          </a:p>
        </p:txBody>
      </p:sp>
      <p:sp>
        <p:nvSpPr>
          <p:cNvPr id="478" name="Google Shape;478;p32"/>
          <p:cNvSpPr txBox="1">
            <a:spLocks noGrp="1"/>
          </p:cNvSpPr>
          <p:nvPr>
            <p:ph type="body" idx="1"/>
          </p:nvPr>
        </p:nvSpPr>
        <p:spPr>
          <a:xfrm>
            <a:off x="109231" y="609056"/>
            <a:ext cx="4703064" cy="4155319"/>
          </a:xfrm>
          <a:prstGeom prst="rect">
            <a:avLst/>
          </a:prstGeom>
          <a:noFill/>
          <a:ln>
            <a:noFill/>
          </a:ln>
        </p:spPr>
        <p:txBody>
          <a:bodyPr spcFirstLastPara="1" wrap="square" lIns="91425" tIns="45700" rIns="182875" bIns="45700" anchor="t" anchorCtr="0">
            <a:noAutofit/>
          </a:bodyPr>
          <a:lstStyle/>
          <a:p>
            <a:pPr marL="169863" lvl="0" indent="-169863" algn="l" rtl="0">
              <a:lnSpc>
                <a:spcPct val="100000"/>
              </a:lnSpc>
              <a:spcBef>
                <a:spcPts val="0"/>
              </a:spcBef>
              <a:spcAft>
                <a:spcPts val="0"/>
              </a:spcAft>
              <a:buSzPts val="1170"/>
              <a:buFont typeface="Arial"/>
              <a:buChar char="•"/>
            </a:pPr>
            <a:r>
              <a:rPr lang="en-US" sz="1300"/>
              <a:t>Dynamic Host Configuration Protocol (DHCP)</a:t>
            </a:r>
            <a:endParaRPr/>
          </a:p>
          <a:p>
            <a:pPr marL="169863" lvl="0" indent="-169863" algn="l" rtl="0">
              <a:lnSpc>
                <a:spcPct val="100000"/>
              </a:lnSpc>
              <a:spcBef>
                <a:spcPts val="0"/>
              </a:spcBef>
              <a:spcAft>
                <a:spcPts val="0"/>
              </a:spcAft>
              <a:buSzPts val="1170"/>
              <a:buFont typeface="Arial"/>
              <a:buChar char="•"/>
            </a:pPr>
            <a:r>
              <a:rPr lang="en-US" sz="1300"/>
              <a:t>DHCP Discover (DHCPDISCOVER)</a:t>
            </a:r>
            <a:endParaRPr/>
          </a:p>
          <a:p>
            <a:pPr marL="169863" lvl="0" indent="-169863" algn="l" rtl="0">
              <a:lnSpc>
                <a:spcPct val="100000"/>
              </a:lnSpc>
              <a:spcBef>
                <a:spcPts val="0"/>
              </a:spcBef>
              <a:spcAft>
                <a:spcPts val="0"/>
              </a:spcAft>
              <a:buSzPts val="1170"/>
              <a:buFont typeface="Arial"/>
              <a:buChar char="•"/>
            </a:pPr>
            <a:r>
              <a:rPr lang="en-US" sz="1300"/>
              <a:t>DHCP Offer (DHCPOFFER)</a:t>
            </a:r>
            <a:endParaRPr/>
          </a:p>
          <a:p>
            <a:pPr marL="169863" lvl="0" indent="-169863" algn="l" rtl="0">
              <a:lnSpc>
                <a:spcPct val="100000"/>
              </a:lnSpc>
              <a:spcBef>
                <a:spcPts val="0"/>
              </a:spcBef>
              <a:spcAft>
                <a:spcPts val="0"/>
              </a:spcAft>
              <a:buSzPts val="1170"/>
              <a:buFont typeface="Arial"/>
              <a:buChar char="•"/>
            </a:pPr>
            <a:r>
              <a:rPr lang="en-US" sz="1300"/>
              <a:t>DHCP Request (DHCPREQUEST)</a:t>
            </a:r>
            <a:endParaRPr/>
          </a:p>
          <a:p>
            <a:pPr marL="169863" lvl="0" indent="-169863" algn="l" rtl="0">
              <a:lnSpc>
                <a:spcPct val="100000"/>
              </a:lnSpc>
              <a:spcBef>
                <a:spcPts val="0"/>
              </a:spcBef>
              <a:spcAft>
                <a:spcPts val="0"/>
              </a:spcAft>
              <a:buSzPts val="1170"/>
              <a:buFont typeface="Arial"/>
              <a:buChar char="•"/>
            </a:pPr>
            <a:r>
              <a:rPr lang="en-US" sz="1300"/>
              <a:t>DHCP Acknowledgment (DHCPACK)</a:t>
            </a:r>
            <a:endParaRPr/>
          </a:p>
          <a:p>
            <a:pPr marL="169863" lvl="0" indent="-169863" algn="l" rtl="0">
              <a:lnSpc>
                <a:spcPct val="100000"/>
              </a:lnSpc>
              <a:spcBef>
                <a:spcPts val="0"/>
              </a:spcBef>
              <a:spcAft>
                <a:spcPts val="0"/>
              </a:spcAft>
              <a:buSzPts val="1170"/>
              <a:buFont typeface="Arial"/>
              <a:buChar char="•"/>
            </a:pPr>
            <a:r>
              <a:rPr lang="en-US" sz="1300" b="1"/>
              <a:t>ip dhcp excluded-address low-address [high-address]</a:t>
            </a:r>
            <a:endParaRPr/>
          </a:p>
          <a:p>
            <a:pPr marL="169863" lvl="0" indent="-169863" algn="l" rtl="0">
              <a:lnSpc>
                <a:spcPct val="100000"/>
              </a:lnSpc>
              <a:spcBef>
                <a:spcPts val="0"/>
              </a:spcBef>
              <a:spcAft>
                <a:spcPts val="0"/>
              </a:spcAft>
              <a:buSzPts val="1170"/>
              <a:buFont typeface="Arial"/>
              <a:buChar char="•"/>
            </a:pPr>
            <a:r>
              <a:rPr lang="en-US" sz="1300" b="1"/>
              <a:t>ip dhcp pool name</a:t>
            </a:r>
            <a:endParaRPr/>
          </a:p>
          <a:p>
            <a:pPr marL="169863" lvl="0" indent="-169863" algn="l" rtl="0">
              <a:lnSpc>
                <a:spcPct val="100000"/>
              </a:lnSpc>
              <a:spcBef>
                <a:spcPts val="0"/>
              </a:spcBef>
              <a:spcAft>
                <a:spcPts val="0"/>
              </a:spcAft>
              <a:buSzPts val="1170"/>
              <a:buFont typeface="Arial"/>
              <a:buChar char="•"/>
            </a:pPr>
            <a:r>
              <a:rPr lang="en-US" sz="1300" b="1"/>
              <a:t>network network-number [mask | /prefix-length]</a:t>
            </a:r>
            <a:endParaRPr/>
          </a:p>
          <a:p>
            <a:pPr marL="169863" lvl="0" indent="-169863" algn="l" rtl="0">
              <a:lnSpc>
                <a:spcPct val="100000"/>
              </a:lnSpc>
              <a:spcBef>
                <a:spcPts val="0"/>
              </a:spcBef>
              <a:spcAft>
                <a:spcPts val="0"/>
              </a:spcAft>
              <a:buSzPts val="1170"/>
              <a:buFont typeface="Arial"/>
              <a:buChar char="•"/>
            </a:pPr>
            <a:r>
              <a:rPr lang="en-US" sz="1300" b="1"/>
              <a:t>default-router address [address2 ... address8]</a:t>
            </a:r>
            <a:endParaRPr/>
          </a:p>
          <a:p>
            <a:pPr marL="169863" lvl="0" indent="-169863" algn="l" rtl="0">
              <a:lnSpc>
                <a:spcPct val="100000"/>
              </a:lnSpc>
              <a:spcBef>
                <a:spcPts val="0"/>
              </a:spcBef>
              <a:spcAft>
                <a:spcPts val="0"/>
              </a:spcAft>
              <a:buSzPts val="1170"/>
              <a:buFont typeface="Arial"/>
              <a:buChar char="•"/>
            </a:pPr>
            <a:r>
              <a:rPr lang="en-US" sz="1300" b="1"/>
              <a:t>dns-server address [address2 ... address8]</a:t>
            </a:r>
            <a:endParaRPr/>
          </a:p>
          <a:p>
            <a:pPr marL="169863" lvl="0" indent="-169863" algn="l" rtl="0">
              <a:lnSpc>
                <a:spcPct val="100000"/>
              </a:lnSpc>
              <a:spcBef>
                <a:spcPts val="0"/>
              </a:spcBef>
              <a:spcAft>
                <a:spcPts val="0"/>
              </a:spcAft>
              <a:buSzPts val="1170"/>
              <a:buFont typeface="Arial"/>
              <a:buChar char="•"/>
            </a:pPr>
            <a:r>
              <a:rPr lang="en-US" sz="1300" b="1"/>
              <a:t>domain-name domain</a:t>
            </a:r>
            <a:endParaRPr/>
          </a:p>
          <a:p>
            <a:pPr marL="169863" lvl="0" indent="-169863" algn="l" rtl="0">
              <a:lnSpc>
                <a:spcPct val="100000"/>
              </a:lnSpc>
              <a:spcBef>
                <a:spcPts val="0"/>
              </a:spcBef>
              <a:spcAft>
                <a:spcPts val="0"/>
              </a:spcAft>
              <a:buSzPts val="1170"/>
              <a:buFont typeface="Arial"/>
              <a:buChar char="•"/>
            </a:pPr>
            <a:r>
              <a:rPr lang="en-US" sz="1300" b="1"/>
              <a:t>lease {days [hours [minutes]] | infinite}</a:t>
            </a:r>
            <a:endParaRPr/>
          </a:p>
          <a:p>
            <a:pPr marL="169863" lvl="0" indent="-169863" algn="l" rtl="0">
              <a:lnSpc>
                <a:spcPct val="100000"/>
              </a:lnSpc>
              <a:spcBef>
                <a:spcPts val="0"/>
              </a:spcBef>
              <a:spcAft>
                <a:spcPts val="0"/>
              </a:spcAft>
              <a:buSzPts val="1170"/>
              <a:buFont typeface="Arial"/>
              <a:buChar char="•"/>
            </a:pPr>
            <a:r>
              <a:rPr lang="en-US" sz="1300" b="1"/>
              <a:t>netbios-name-server address [address2 ... address8]</a:t>
            </a:r>
            <a:endParaRPr/>
          </a:p>
          <a:p>
            <a:pPr marL="169863" lvl="0" indent="-169863" algn="l" rtl="0">
              <a:lnSpc>
                <a:spcPct val="100000"/>
              </a:lnSpc>
              <a:spcBef>
                <a:spcPts val="0"/>
              </a:spcBef>
              <a:spcAft>
                <a:spcPts val="0"/>
              </a:spcAft>
              <a:buSzPts val="1170"/>
              <a:buFont typeface="Arial"/>
              <a:buChar char="•"/>
            </a:pPr>
            <a:r>
              <a:rPr lang="en-US" sz="1300" b="1"/>
              <a:t>show running-config | section dhcp</a:t>
            </a:r>
            <a:endParaRPr/>
          </a:p>
          <a:p>
            <a:pPr marL="169863" lvl="0" indent="-169863" algn="l" rtl="0">
              <a:lnSpc>
                <a:spcPct val="100000"/>
              </a:lnSpc>
              <a:spcBef>
                <a:spcPts val="0"/>
              </a:spcBef>
              <a:spcAft>
                <a:spcPts val="0"/>
              </a:spcAft>
              <a:buSzPts val="1170"/>
              <a:buFont typeface="Arial"/>
              <a:buChar char="•"/>
            </a:pPr>
            <a:r>
              <a:rPr lang="en-US" sz="1300" b="1"/>
              <a:t>show ip dhcp binding</a:t>
            </a:r>
            <a:endParaRPr/>
          </a:p>
          <a:p>
            <a:pPr marL="169863" lvl="0" indent="-169863" algn="l" rtl="0">
              <a:lnSpc>
                <a:spcPct val="100000"/>
              </a:lnSpc>
              <a:spcBef>
                <a:spcPts val="0"/>
              </a:spcBef>
              <a:spcAft>
                <a:spcPts val="0"/>
              </a:spcAft>
              <a:buSzPts val="1170"/>
              <a:buFont typeface="Arial"/>
              <a:buChar char="•"/>
            </a:pPr>
            <a:r>
              <a:rPr lang="en-US" sz="1300" b="1"/>
              <a:t>show ip dhcp server statistics</a:t>
            </a:r>
            <a:endParaRPr/>
          </a:p>
          <a:p>
            <a:pPr marL="169863" lvl="0" indent="-169863" algn="l" rtl="0">
              <a:lnSpc>
                <a:spcPct val="100000"/>
              </a:lnSpc>
              <a:spcBef>
                <a:spcPts val="0"/>
              </a:spcBef>
              <a:spcAft>
                <a:spcPts val="0"/>
              </a:spcAft>
              <a:buSzPts val="1170"/>
              <a:buFont typeface="Arial"/>
              <a:buChar char="•"/>
            </a:pPr>
            <a:r>
              <a:rPr lang="en-US" sz="1300" b="1"/>
              <a:t>[no] service dhcp</a:t>
            </a:r>
            <a:endParaRPr/>
          </a:p>
          <a:p>
            <a:pPr marL="169863" lvl="0" indent="-169863" algn="l" rtl="0">
              <a:lnSpc>
                <a:spcPct val="100000"/>
              </a:lnSpc>
              <a:spcBef>
                <a:spcPts val="0"/>
              </a:spcBef>
              <a:spcAft>
                <a:spcPts val="0"/>
              </a:spcAft>
              <a:buSzPts val="1170"/>
              <a:buFont typeface="Arial"/>
              <a:buChar char="•"/>
            </a:pPr>
            <a:r>
              <a:rPr lang="en-US" sz="1300" b="1"/>
              <a:t>ip helper-address address</a:t>
            </a:r>
            <a:endParaRPr/>
          </a:p>
          <a:p>
            <a:pPr marL="169863" lvl="0" indent="-169863" algn="l" rtl="0">
              <a:lnSpc>
                <a:spcPct val="100000"/>
              </a:lnSpc>
              <a:spcBef>
                <a:spcPts val="0"/>
              </a:spcBef>
              <a:spcAft>
                <a:spcPts val="0"/>
              </a:spcAft>
              <a:buSzPts val="1170"/>
              <a:buFont typeface="Arial"/>
              <a:buChar char="•"/>
            </a:pPr>
            <a:r>
              <a:rPr lang="en-US" sz="1300" b="1"/>
              <a:t>ip address dhcp</a:t>
            </a:r>
            <a:endParaRPr/>
          </a:p>
        </p:txBody>
      </p:sp>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Tree>
  </p:cSld>
  <p:clrMapOvr>
    <a:masterClrMapping/>
  </p:clrMapOvr>
  <p:transition spd="slow">
    <p:wipe/>
  </p:transition>
</p:sld>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3485</Words>
  <Application>Microsoft Office PowerPoint</Application>
  <PresentationFormat>On-screen Show (16:9)</PresentationFormat>
  <Paragraphs>306</Paragraphs>
  <Slides>33</Slides>
  <Notes>33</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Noto Sans Symbols</vt:lpstr>
      <vt:lpstr>Default Theme</vt:lpstr>
      <vt:lpstr>Chapter 6 Module 7: DHCPv4</vt:lpstr>
      <vt:lpstr>Module Objectives</vt:lpstr>
      <vt:lpstr>7.1 DHCPv4 Concepts</vt:lpstr>
      <vt:lpstr>DHCPv4 Concepts DHCPv4 Server and Client</vt:lpstr>
      <vt:lpstr>DHCPv4 Concepts DHCPv4 Operation</vt:lpstr>
      <vt:lpstr>DHCPv4 Concepts Steps to Obtain a Lease</vt:lpstr>
      <vt:lpstr>DHCPv4 Concepts Steps to Renew a Lease</vt:lpstr>
      <vt:lpstr>7.2 Configure a Cisco IOS DHCPv4 Server</vt:lpstr>
      <vt:lpstr>Configure a Cisco IOS DHCPv4 Server Cisco IOS DHCPv4 Server</vt:lpstr>
      <vt:lpstr>Configure a Cisco IOS DHCPv4 Server Steps to Configure a Cisco IOS DHCPv4 Server</vt:lpstr>
      <vt:lpstr>Configure a Cisco IOS DHCPv4 Server Steps to Configure a Cisco IOS DHCPv4 Server (Cont.)</vt:lpstr>
      <vt:lpstr>Configure a Cisco IOS DHCPv4 Server Configuration Example</vt:lpstr>
      <vt:lpstr>Configure a Cisco IOS DHCPv4 Server DHCPv4 Verification</vt:lpstr>
      <vt:lpstr>Configure a Cisco IOS DHCPv4 Server Verify DHCPv4 is Operational</vt:lpstr>
      <vt:lpstr>Configure a Cisco IOS DHCPv4 Server Verify DHCPv4 is Operational (Cont.)</vt:lpstr>
      <vt:lpstr>Configure a Cisco IOS DHCPv4 Server Verify DHCPv4 is Operational (Cont.)</vt:lpstr>
      <vt:lpstr>Configure a Cisco IOS DHCPv4 Server Verify DHCPv4 is Operational (Cont.)</vt:lpstr>
      <vt:lpstr>Configure a Cisco IOS DHCPv4 Server Disable the Cisco IOS DHCPv4 Server</vt:lpstr>
      <vt:lpstr>Configure a Cisco IOS DHCPv4 Server DHCPv4 Relay</vt:lpstr>
      <vt:lpstr>Configure a Cisco IOS DHCPv4 Server DHCPv4 Relay (Cont.)</vt:lpstr>
      <vt:lpstr>Configure a Cisco IOS DHCPv4 Server Other Service Broadcasts Relayed</vt:lpstr>
      <vt:lpstr>Configure a Cisco IOS DHCPv4 Server Packet Tracer – Configure DHCPv4</vt:lpstr>
      <vt:lpstr>7.3 Configure a DHCPv4 Client</vt:lpstr>
      <vt:lpstr>Configure a DHCPv4 Client Cisco Router as a DHCPv4 Client</vt:lpstr>
      <vt:lpstr>Configure a DHCPv4 Client Configuration Example</vt:lpstr>
      <vt:lpstr>Configure a DHCPv4 Client Home Router as a DHCPv4 Client</vt:lpstr>
      <vt:lpstr>7.4 Module Practice and Quiz</vt:lpstr>
      <vt:lpstr>Module Practice and Quiz Packet Tracer – Implement DHCPv4</vt:lpstr>
      <vt:lpstr>Module Practice and Quiz Lab – Implement DHCPv4</vt:lpstr>
      <vt:lpstr>Module Practice and Quiz What Did I Learn In This Module?</vt:lpstr>
      <vt:lpstr>Module Practice and Quiz What Did I Learn In This Module? (Cont.)</vt:lpstr>
      <vt:lpstr>Module 7: DHCPv4 New Terms and Commands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Stephanie Harvey</dc:creator>
  <cp:lastModifiedBy>JESSIE TEOH</cp:lastModifiedBy>
  <cp:revision>2</cp:revision>
  <dcterms:created xsi:type="dcterms:W3CDTF">2019-10-18T06:21:22Z</dcterms:created>
  <dcterms:modified xsi:type="dcterms:W3CDTF">2024-08-26T22:24:34Z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