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39" roundtripDataSignature="AMtx7mhrcB4Xtbhi5URRFzceNBjr2hI3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576BDA-39A4-4EB4-9823-0750B80A73DB}">
  <a:tblStyle styleId="{80576BDA-39A4-4EB4-9823-0750B80A73DB}"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62E54F93-9537-4CD1-A6C5-D1434CB77EE6}" styleName="Table_1">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6E8EA"/>
          </a:solidFill>
        </a:fill>
      </a:tcStyle>
    </a:lastRow>
    <a:seCell>
      <a:tcTxStyle/>
    </a:seCell>
    <a:swCell>
      <a:tcTxStyle/>
    </a:swCell>
    <a:firstRow>
      <a:tcTxStyle b="on" i="off"/>
      <a:tcStyle>
        <a:fill>
          <a:solidFill>
            <a:srgbClr val="E6E8EA"/>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a:t>Cisco Networking Academy Program</a:t>
            </a:r>
            <a:endParaRPr/>
          </a:p>
          <a:p>
            <a:pPr indent="0" lvl="0" marL="0" rtl="0" algn="l">
              <a:spcBef>
                <a:spcPts val="0"/>
              </a:spcBef>
              <a:spcAft>
                <a:spcPts val="0"/>
              </a:spcAft>
              <a:buNone/>
            </a:pPr>
            <a:r>
              <a:rPr lang="en-US">
                <a:solidFill>
                  <a:srgbClr val="B6DDE7"/>
                </a:solidFill>
              </a:rPr>
              <a:t>Enterprise Networking, Security, and Automationv7.0 (ENSA)</a:t>
            </a:r>
            <a:endParaRPr/>
          </a:p>
          <a:p>
            <a:pPr indent="0" lvl="0" marL="0" rtl="0" algn="l">
              <a:spcBef>
                <a:spcPts val="0"/>
              </a:spcBef>
              <a:spcAft>
                <a:spcPts val="0"/>
              </a:spcAft>
              <a:buNone/>
            </a:pPr>
            <a:r>
              <a:rPr lang="en-US">
                <a:solidFill>
                  <a:srgbClr val="B6DDE7"/>
                </a:solidFill>
              </a:rPr>
              <a:t>Module 1: Single-Area OSPFv2 Concepts</a:t>
            </a:r>
            <a:endParaRPr/>
          </a:p>
          <a:p>
            <a:pPr indent="0" lvl="0" marL="0" rtl="0" algn="l">
              <a:spcBef>
                <a:spcPts val="0"/>
              </a:spcBef>
              <a:spcAft>
                <a:spcPts val="0"/>
              </a:spcAft>
              <a:buNone/>
            </a:pPr>
            <a:r>
              <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spcBef>
                <a:spcPts val="0"/>
              </a:spcBef>
              <a:spcAft>
                <a:spcPts val="0"/>
              </a:spcAft>
              <a:buNone/>
            </a:pPr>
            <a:fld id="{00000000-1234-1234-1234-123412341234}" type="slidenum">
              <a:rPr b="0" lang="en-US" sz="800">
                <a:solidFill>
                  <a:srgbClr val="000000"/>
                </a:solidFill>
                <a:latin typeface="Arial"/>
                <a:ea typeface="Arial"/>
                <a:cs typeface="Arial"/>
                <a:sym typeface="Arial"/>
              </a:rPr>
              <a:t>‹#›</a:t>
            </a:fld>
            <a:endParaRPr b="0" sz="800">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1 – Single-Area OSPFv2</a:t>
            </a:r>
            <a:endParaRPr/>
          </a:p>
          <a:p>
            <a:pPr indent="0" lvl="0" marL="0" rtl="0" algn="l">
              <a:spcBef>
                <a:spcPts val="0"/>
              </a:spcBef>
              <a:spcAft>
                <a:spcPts val="0"/>
              </a:spcAft>
              <a:buClr>
                <a:schemeClr val="dk1"/>
              </a:buClr>
              <a:buSzPts val="1200"/>
              <a:buFont typeface="Calibri"/>
              <a:buNone/>
            </a:pPr>
            <a:r>
              <a:rPr lang="en-US"/>
              <a:t>1.0.2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1.1.1 - Introduction to OSPF</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1.1.2 - </a:t>
            </a:r>
            <a:r>
              <a:rPr lang="en-US" sz="1200"/>
              <a:t>Components of OSPF</a:t>
            </a:r>
            <a:endParaRPr/>
          </a:p>
        </p:txBody>
      </p:sp>
      <p:sp>
        <p:nvSpPr>
          <p:cNvPr id="264" name="Google Shape;26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1.1.2 - </a:t>
            </a:r>
            <a:r>
              <a:rPr lang="en-US" sz="1200"/>
              <a:t>Components of OSPF (Cont.)</a:t>
            </a:r>
            <a:endParaRPr/>
          </a:p>
        </p:txBody>
      </p:sp>
      <p:sp>
        <p:nvSpPr>
          <p:cNvPr id="271" name="Google Shape;27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1.1.2 - </a:t>
            </a:r>
            <a:r>
              <a:rPr lang="en-US" sz="1200"/>
              <a:t>Components of OSPF (Cont.)</a:t>
            </a:r>
            <a:endParaRPr/>
          </a:p>
        </p:txBody>
      </p:sp>
      <p:sp>
        <p:nvSpPr>
          <p:cNvPr id="279" name="Google Shape;279;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1.1.3 - Link-State Operation</a:t>
            </a:r>
            <a:endParaRPr/>
          </a:p>
        </p:txBody>
      </p:sp>
      <p:sp>
        <p:nvSpPr>
          <p:cNvPr id="287" name="Google Shape;28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1.1.4 - Single-Area and Multiarea OSPF</a:t>
            </a:r>
            <a:endParaRPr/>
          </a:p>
        </p:txBody>
      </p:sp>
      <p:sp>
        <p:nvSpPr>
          <p:cNvPr id="294" name="Google Shape;29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1.1.5 - Multiarea OSPF</a:t>
            </a:r>
            <a:endParaRPr/>
          </a:p>
        </p:txBody>
      </p:sp>
      <p:sp>
        <p:nvSpPr>
          <p:cNvPr id="302" name="Google Shape;30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1.1 - OSPF Features and Characteristics</a:t>
            </a:r>
            <a:endParaRPr/>
          </a:p>
          <a:p>
            <a:pPr indent="0" lvl="0" marL="0" rtl="0" algn="l">
              <a:spcBef>
                <a:spcPts val="0"/>
              </a:spcBef>
              <a:spcAft>
                <a:spcPts val="0"/>
              </a:spcAft>
              <a:buNone/>
            </a:pPr>
            <a:r>
              <a:rPr lang="en-US"/>
              <a:t>1.1.6 - OSPFv3</a:t>
            </a:r>
            <a:endParaRPr/>
          </a:p>
          <a:p>
            <a:pPr indent="0" lvl="0" marL="0" rtl="0" algn="l">
              <a:spcBef>
                <a:spcPts val="0"/>
              </a:spcBef>
              <a:spcAft>
                <a:spcPts val="0"/>
              </a:spcAft>
              <a:buNone/>
            </a:pPr>
            <a:r>
              <a:rPr lang="en-US"/>
              <a:t>1.1.7 - Check Your Understanding - OSPF Features and Characteristics</a:t>
            </a:r>
            <a:endParaRPr/>
          </a:p>
        </p:txBody>
      </p:sp>
      <p:sp>
        <p:nvSpPr>
          <p:cNvPr id="310" name="Google Shape;31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1.2 - OSPF Packets</a:t>
            </a:r>
            <a:endParaRPr/>
          </a:p>
        </p:txBody>
      </p:sp>
      <p:sp>
        <p:nvSpPr>
          <p:cNvPr id="317" name="Google Shape;31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1.2 - OSPF Packets</a:t>
            </a:r>
            <a:endParaRPr/>
          </a:p>
          <a:p>
            <a:pPr indent="0" lvl="0" marL="0" rtl="0" algn="l">
              <a:spcBef>
                <a:spcPts val="0"/>
              </a:spcBef>
              <a:spcAft>
                <a:spcPts val="0"/>
              </a:spcAft>
              <a:buNone/>
            </a:pPr>
            <a:r>
              <a:rPr lang="en-US"/>
              <a:t>1.2.1 - Video - OSPF Packets</a:t>
            </a:r>
            <a:endParaRPr/>
          </a:p>
        </p:txBody>
      </p:sp>
      <p:sp>
        <p:nvSpPr>
          <p:cNvPr id="323" name="Google Shape;32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1.2 - OSPF Packets</a:t>
            </a:r>
            <a:endParaRPr/>
          </a:p>
          <a:p>
            <a:pPr indent="0" lvl="0" marL="0" rtl="0" algn="l">
              <a:spcBef>
                <a:spcPts val="0"/>
              </a:spcBef>
              <a:spcAft>
                <a:spcPts val="0"/>
              </a:spcAft>
              <a:buNone/>
            </a:pPr>
            <a:r>
              <a:rPr lang="en-US"/>
              <a:t>1.2.2 – Types of OSPF Packets</a:t>
            </a:r>
            <a:endParaRPr/>
          </a:p>
        </p:txBody>
      </p:sp>
      <p:sp>
        <p:nvSpPr>
          <p:cNvPr id="330" name="Google Shape;33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1.2 - OSPF Packets</a:t>
            </a:r>
            <a:endParaRPr/>
          </a:p>
          <a:p>
            <a:pPr indent="0" lvl="0" marL="0" rtl="0" algn="l">
              <a:spcBef>
                <a:spcPts val="0"/>
              </a:spcBef>
              <a:spcAft>
                <a:spcPts val="0"/>
              </a:spcAft>
              <a:buNone/>
            </a:pPr>
            <a:r>
              <a:rPr lang="en-US"/>
              <a:t>1.2.3 – </a:t>
            </a:r>
            <a:r>
              <a:rPr lang="en-US" sz="1200"/>
              <a:t>Link-State Updates</a:t>
            </a:r>
            <a:endParaRPr/>
          </a:p>
        </p:txBody>
      </p:sp>
      <p:sp>
        <p:nvSpPr>
          <p:cNvPr id="338" name="Google Shape;33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1.2 - OSPF Packets</a:t>
            </a:r>
            <a:endParaRPr/>
          </a:p>
          <a:p>
            <a:pPr indent="0" lvl="0" marL="0" rtl="0" algn="l">
              <a:spcBef>
                <a:spcPts val="0"/>
              </a:spcBef>
              <a:spcAft>
                <a:spcPts val="0"/>
              </a:spcAft>
              <a:buNone/>
            </a:pPr>
            <a:r>
              <a:rPr lang="en-US"/>
              <a:t>1.2.4 – Hello Packet</a:t>
            </a:r>
            <a:endParaRPr/>
          </a:p>
          <a:p>
            <a:pPr indent="0" lvl="0" marL="0" rtl="0" algn="l">
              <a:spcBef>
                <a:spcPts val="0"/>
              </a:spcBef>
              <a:spcAft>
                <a:spcPts val="0"/>
              </a:spcAft>
              <a:buNone/>
            </a:pPr>
            <a:r>
              <a:rPr lang="en-US"/>
              <a:t>1.2.5 – Check Your Understanding – OSPF Packets</a:t>
            </a:r>
            <a:endParaRPr/>
          </a:p>
        </p:txBody>
      </p:sp>
      <p:sp>
        <p:nvSpPr>
          <p:cNvPr id="346" name="Google Shape;346;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p:txBody>
      </p:sp>
      <p:sp>
        <p:nvSpPr>
          <p:cNvPr id="354" name="Google Shape;35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1.3.1 - Video - OSPF Operation</a:t>
            </a:r>
            <a:endParaRPr/>
          </a:p>
        </p:txBody>
      </p:sp>
      <p:sp>
        <p:nvSpPr>
          <p:cNvPr id="360" name="Google Shape;360;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1.3.2 - </a:t>
            </a:r>
            <a:r>
              <a:rPr lang="en-US" sz="1200"/>
              <a:t>OSPF Operational States</a:t>
            </a:r>
            <a:endParaRPr b="1"/>
          </a:p>
        </p:txBody>
      </p:sp>
      <p:sp>
        <p:nvSpPr>
          <p:cNvPr id="367" name="Google Shape;367;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1.3.2 - </a:t>
            </a:r>
            <a:r>
              <a:rPr lang="en-US" sz="1200"/>
              <a:t>OSPF Operational States (Cont.)</a:t>
            </a:r>
            <a:endParaRPr b="1"/>
          </a:p>
        </p:txBody>
      </p:sp>
      <p:sp>
        <p:nvSpPr>
          <p:cNvPr id="374" name="Google Shape;374;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1.3.3 - </a:t>
            </a:r>
            <a:r>
              <a:rPr lang="en-US" sz="1200"/>
              <a:t>Establish Neighbor Adjacencies</a:t>
            </a:r>
            <a:endParaRPr b="1"/>
          </a:p>
        </p:txBody>
      </p:sp>
      <p:sp>
        <p:nvSpPr>
          <p:cNvPr id="381" name="Google Shape;381;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1.3.3 - </a:t>
            </a:r>
            <a:r>
              <a:rPr lang="en-US" sz="1200"/>
              <a:t>Establish Neighbor Adjacencies (Cont.)</a:t>
            </a:r>
            <a:endParaRPr b="1"/>
          </a:p>
        </p:txBody>
      </p:sp>
      <p:sp>
        <p:nvSpPr>
          <p:cNvPr id="388" name="Google Shape;388;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1.3.4 - </a:t>
            </a:r>
            <a:r>
              <a:rPr lang="en-US" sz="1200"/>
              <a:t>Synchronizing OSPF Databases</a:t>
            </a:r>
            <a:endParaRPr b="1"/>
          </a:p>
        </p:txBody>
      </p:sp>
      <p:sp>
        <p:nvSpPr>
          <p:cNvPr id="396" name="Google Shape;396;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1.3.5 – </a:t>
            </a:r>
            <a:r>
              <a:rPr lang="en-US" sz="1200"/>
              <a:t>The Need for a DR</a:t>
            </a:r>
            <a:endParaRPr b="1"/>
          </a:p>
        </p:txBody>
      </p:sp>
      <p:sp>
        <p:nvSpPr>
          <p:cNvPr id="403" name="Google Shape;40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1.3 - OSPF Operation</a:t>
            </a:r>
            <a:endParaRPr/>
          </a:p>
          <a:p>
            <a:pPr indent="0" lvl="0" marL="0" rtl="0" algn="l">
              <a:spcBef>
                <a:spcPts val="0"/>
              </a:spcBef>
              <a:spcAft>
                <a:spcPts val="0"/>
              </a:spcAft>
              <a:buNone/>
            </a:pPr>
            <a:r>
              <a:rPr lang="en-US"/>
              <a:t>1.3.6 - </a:t>
            </a:r>
            <a:r>
              <a:rPr lang="en-US" sz="1200"/>
              <a:t>LSA Flooding with a DR</a:t>
            </a:r>
            <a:endParaRPr/>
          </a:p>
          <a:p>
            <a:pPr indent="0" lvl="0" marL="0" rtl="0" algn="l">
              <a:spcBef>
                <a:spcPts val="0"/>
              </a:spcBef>
              <a:spcAft>
                <a:spcPts val="0"/>
              </a:spcAft>
              <a:buNone/>
            </a:pPr>
            <a:r>
              <a:rPr b="0" lang="en-US" sz="1200"/>
              <a:t>1.3.7 – Check Your Understanding – OSPF Operation</a:t>
            </a:r>
            <a:endParaRPr b="0"/>
          </a:p>
        </p:txBody>
      </p:sp>
      <p:sp>
        <p:nvSpPr>
          <p:cNvPr id="411" name="Google Shape;411;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1.4 - Module Practice and Quiz</a:t>
            </a:r>
            <a:endParaRPr/>
          </a:p>
          <a:p>
            <a:pPr indent="0" lvl="0" marL="0" rtl="0" algn="l">
              <a:spcBef>
                <a:spcPts val="0"/>
              </a:spcBef>
              <a:spcAft>
                <a:spcPts val="0"/>
              </a:spcAft>
              <a:buClr>
                <a:schemeClr val="dk1"/>
              </a:buClr>
              <a:buSzPts val="1200"/>
              <a:buFont typeface="Calibri"/>
              <a:buNone/>
            </a:pPr>
            <a:r>
              <a:t/>
            </a:r>
            <a:endParaRPr/>
          </a:p>
        </p:txBody>
      </p:sp>
      <p:sp>
        <p:nvSpPr>
          <p:cNvPr id="418" name="Google Shape;418;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23" name="Google Shape;42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1.4 - Module Practice and Quiz</a:t>
            </a:r>
            <a:endParaRPr/>
          </a:p>
          <a:p>
            <a:pPr indent="0" lvl="0" marL="0" rtl="0" algn="l">
              <a:spcBef>
                <a:spcPts val="0"/>
              </a:spcBef>
              <a:spcAft>
                <a:spcPts val="0"/>
              </a:spcAft>
              <a:buNone/>
            </a:pPr>
            <a:r>
              <a:rPr lang="en-US"/>
              <a:t>1.4.1 - What Did I Learn In This Module?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30" name="Google Shape;43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1.4 - Module Practice and Quiz</a:t>
            </a:r>
            <a:endParaRPr/>
          </a:p>
          <a:p>
            <a:pPr indent="0" lvl="0" marL="0" rtl="0" algn="l">
              <a:spcBef>
                <a:spcPts val="0"/>
              </a:spcBef>
              <a:spcAft>
                <a:spcPts val="0"/>
              </a:spcAft>
              <a:buNone/>
            </a:pPr>
            <a:r>
              <a:rPr lang="en-US"/>
              <a:t>1.4.1 - What Did I Learn In This Module?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37" name="Google Shape;43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1.4 - Module Practice and Quiz</a:t>
            </a:r>
            <a:endParaRPr/>
          </a:p>
          <a:p>
            <a:pPr indent="0" lvl="0" marL="0" rtl="0" algn="l">
              <a:spcBef>
                <a:spcPts val="0"/>
              </a:spcBef>
              <a:spcAft>
                <a:spcPts val="0"/>
              </a:spcAft>
              <a:buNone/>
            </a:pPr>
            <a:r>
              <a:rPr lang="en-US"/>
              <a:t>1.4.1 - What Did I Learn In This Module?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44" name="Google Shape;44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1 - Single-Area OSPFv2 Concepts</a:t>
            </a:r>
            <a:endParaRPr/>
          </a:p>
          <a:p>
            <a:pPr indent="0" lvl="0" marL="0" rtl="0" algn="l">
              <a:spcBef>
                <a:spcPts val="0"/>
              </a:spcBef>
              <a:spcAft>
                <a:spcPts val="0"/>
              </a:spcAft>
              <a:buNone/>
            </a:pPr>
            <a:r>
              <a:rPr lang="en-US"/>
              <a:t>1.4 - Module Practice and Quiz</a:t>
            </a:r>
            <a:endParaRPr/>
          </a:p>
          <a:p>
            <a:pPr indent="0" lvl="0" marL="0" rtl="0" algn="l">
              <a:spcBef>
                <a:spcPts val="0"/>
              </a:spcBef>
              <a:spcAft>
                <a:spcPts val="0"/>
              </a:spcAft>
              <a:buNone/>
            </a:pPr>
            <a:r>
              <a:rPr lang="en-US"/>
              <a:t>1.4.1 - What Did I Learn In This Module?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451" name="Google Shape;451;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3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3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3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3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3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3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34"/>
          <p:cNvGrpSpPr/>
          <p:nvPr/>
        </p:nvGrpSpPr>
        <p:grpSpPr>
          <a:xfrm>
            <a:off x="492125" y="395288"/>
            <a:ext cx="796924" cy="423863"/>
            <a:chOff x="310" y="249"/>
            <a:chExt cx="502" cy="267"/>
          </a:xfrm>
        </p:grpSpPr>
        <p:sp>
          <p:nvSpPr>
            <p:cNvPr id="36" name="Google Shape;36;p3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3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3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3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3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3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3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3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3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3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3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3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3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3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35"/>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3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3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36"/>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36"/>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36"/>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36"/>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36"/>
          <p:cNvGrpSpPr/>
          <p:nvPr/>
        </p:nvGrpSpPr>
        <p:grpSpPr>
          <a:xfrm>
            <a:off x="508039" y="4715197"/>
            <a:ext cx="340257" cy="180974"/>
            <a:chOff x="310" y="249"/>
            <a:chExt cx="502" cy="267"/>
          </a:xfrm>
        </p:grpSpPr>
        <p:sp>
          <p:nvSpPr>
            <p:cNvPr id="60" name="Google Shape;60;p36"/>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3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3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3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3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3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3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3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3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3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3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3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3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3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37"/>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37"/>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38"/>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38"/>
          <p:cNvGrpSpPr/>
          <p:nvPr/>
        </p:nvGrpSpPr>
        <p:grpSpPr>
          <a:xfrm>
            <a:off x="3746294" y="2129856"/>
            <a:ext cx="1617944" cy="860542"/>
            <a:chOff x="310" y="249"/>
            <a:chExt cx="502" cy="267"/>
          </a:xfrm>
        </p:grpSpPr>
        <p:sp>
          <p:nvSpPr>
            <p:cNvPr id="80" name="Google Shape;80;p38"/>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3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3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3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3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3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3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3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3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3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3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3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3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3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39"/>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39"/>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39"/>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39"/>
          <p:cNvGrpSpPr/>
          <p:nvPr/>
        </p:nvGrpSpPr>
        <p:grpSpPr>
          <a:xfrm>
            <a:off x="492125" y="395288"/>
            <a:ext cx="796924" cy="423863"/>
            <a:chOff x="310" y="249"/>
            <a:chExt cx="502" cy="267"/>
          </a:xfrm>
        </p:grpSpPr>
        <p:sp>
          <p:nvSpPr>
            <p:cNvPr id="99" name="Google Shape;99;p39"/>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3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3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3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3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3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3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3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3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3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3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3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3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3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3" name="Google Shape;113;p39"/>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39"/>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40"/>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4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4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4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40"/>
          <p:cNvGrpSpPr/>
          <p:nvPr/>
        </p:nvGrpSpPr>
        <p:grpSpPr>
          <a:xfrm>
            <a:off x="492125" y="395288"/>
            <a:ext cx="796924" cy="423863"/>
            <a:chOff x="310" y="249"/>
            <a:chExt cx="502" cy="267"/>
          </a:xfrm>
        </p:grpSpPr>
        <p:sp>
          <p:nvSpPr>
            <p:cNvPr id="121" name="Google Shape;121;p4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4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4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4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4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4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4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4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4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4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4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4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4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4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 name="Google Shape;135;p4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4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4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42"/>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41" name="Google Shape;141;p42"/>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42" name="Google Shape;142;p42"/>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43" name="Google Shape;143;p42"/>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42"/>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42"/>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42"/>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42"/>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42"/>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4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43"/>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2" name="Google Shape;152;p43"/>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3" name="Google Shape;153;p43"/>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4" name="Google Shape;154;p43"/>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43"/>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43"/>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43"/>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43"/>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43"/>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43"/>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1" name="Google Shape;161;p43"/>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43"/>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43"/>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4" name="Google Shape;164;p43"/>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43"/>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4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44"/>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44"/>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70" name="Google Shape;170;p44"/>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1" name="Google Shape;171;p44"/>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44"/>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44"/>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44"/>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44"/>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44"/>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44"/>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8" name="Google Shape;178;p44"/>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44"/>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44"/>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1" name="Google Shape;181;p44"/>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44"/>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44"/>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4" name="Google Shape;184;p44"/>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5" name="Google Shape;185;p44"/>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6" name="Google Shape;186;p44"/>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44"/>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44"/>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44"/>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44"/>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44"/>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44"/>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3" name="Google Shape;193;p44"/>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44"/>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44"/>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6" name="Google Shape;196;p44"/>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44"/>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45"/>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45"/>
          <p:cNvGrpSpPr/>
          <p:nvPr/>
        </p:nvGrpSpPr>
        <p:grpSpPr>
          <a:xfrm>
            <a:off x="3746294" y="2129856"/>
            <a:ext cx="1617944" cy="860542"/>
            <a:chOff x="310" y="249"/>
            <a:chExt cx="502" cy="267"/>
          </a:xfrm>
        </p:grpSpPr>
        <p:sp>
          <p:nvSpPr>
            <p:cNvPr id="201" name="Google Shape;201;p4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4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4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4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4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4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4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4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4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4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4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4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4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4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46"/>
          <p:cNvGrpSpPr/>
          <p:nvPr/>
        </p:nvGrpSpPr>
        <p:grpSpPr>
          <a:xfrm>
            <a:off x="3746294" y="2129856"/>
            <a:ext cx="1617944" cy="860542"/>
            <a:chOff x="310" y="249"/>
            <a:chExt cx="502" cy="267"/>
          </a:xfrm>
        </p:grpSpPr>
        <p:sp>
          <p:nvSpPr>
            <p:cNvPr id="217" name="Google Shape;217;p46"/>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4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4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4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4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4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4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4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4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4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4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4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4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4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4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33"/>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33"/>
          <p:cNvSpPr/>
          <p:nvPr/>
        </p:nvSpPr>
        <p:spPr>
          <a:xfrm>
            <a:off x="5867508" y="4649320"/>
            <a:ext cx="2658018" cy="246851"/>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D8D8D8"/>
                </a:solidFill>
                <a:latin typeface="Arial"/>
                <a:ea typeface="Arial"/>
                <a:cs typeface="Arial"/>
                <a:sym typeface="Arial"/>
              </a:rPr>
              <a:t>© 2019, 2021  Cisco and/or its affiliates. All rights reserved.   Cisco Confidential</a:t>
            </a:r>
            <a:endParaRPr/>
          </a:p>
        </p:txBody>
      </p:sp>
      <p:grpSp>
        <p:nvGrpSpPr>
          <p:cNvPr id="13" name="Google Shape;13;p33"/>
          <p:cNvGrpSpPr/>
          <p:nvPr/>
        </p:nvGrpSpPr>
        <p:grpSpPr>
          <a:xfrm>
            <a:off x="508039" y="4715197"/>
            <a:ext cx="340257" cy="180974"/>
            <a:chOff x="310" y="249"/>
            <a:chExt cx="502" cy="267"/>
          </a:xfrm>
        </p:grpSpPr>
        <p:sp>
          <p:nvSpPr>
            <p:cNvPr id="14" name="Google Shape;14;p3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3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3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3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3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3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3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3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3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3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3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3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3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3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1: Single-Area OSPFv2 Concepts</a:t>
            </a:r>
            <a:endParaRPr/>
          </a:p>
        </p:txBody>
      </p:sp>
      <p:sp>
        <p:nvSpPr>
          <p:cNvPr id="239" name="Google Shape;239;p1"/>
          <p:cNvSpPr txBox="1"/>
          <p:nvPr>
            <p:ph idx="1" type="subTitle"/>
          </p:nvPr>
        </p:nvSpPr>
        <p:spPr>
          <a:xfrm>
            <a:off x="469496" y="3809526"/>
            <a:ext cx="3804791"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a:t>
            </a:r>
            <a:endParaRPr/>
          </a:p>
          <a:p>
            <a:pPr indent="0" lvl="0" marL="0" rtl="0" algn="l">
              <a:lnSpc>
                <a:spcPct val="95000"/>
              </a:lnSpc>
              <a:spcBef>
                <a:spcPts val="0"/>
              </a:spcBef>
              <a:spcAft>
                <a:spcPts val="0"/>
              </a:spcAft>
              <a:buSzPts val="1080"/>
              <a:buNone/>
            </a:pPr>
            <a:r>
              <a:rPr lang="en-US">
                <a:solidFill>
                  <a:srgbClr val="AEE8FA"/>
                </a:solidFill>
              </a:rPr>
              <a:t>(ENSA)</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Module Objectives</a:t>
            </a:r>
            <a:endParaRPr/>
          </a:p>
        </p:txBody>
      </p:sp>
      <p:sp>
        <p:nvSpPr>
          <p:cNvPr id="246" name="Google Shape;246;p2"/>
          <p:cNvSpPr txBox="1"/>
          <p:nvPr>
            <p:ph idx="1" type="body"/>
          </p:nvPr>
        </p:nvSpPr>
        <p:spPr>
          <a:xfrm>
            <a:off x="144065" y="798944"/>
            <a:ext cx="8853286" cy="75755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Clr>
                <a:schemeClr val="dk1"/>
              </a:buClr>
              <a:buSzPts val="1400"/>
              <a:buNone/>
            </a:pPr>
            <a:r>
              <a:rPr b="1" lang="en-US" sz="1400">
                <a:solidFill>
                  <a:schemeClr val="dk1"/>
                </a:solidFill>
              </a:rPr>
              <a:t>Module Title: </a:t>
            </a:r>
            <a:r>
              <a:rPr lang="en-US"/>
              <a:t>Single-Area OSPF Concepts</a:t>
            </a:r>
            <a:endParaRPr sz="1400">
              <a:solidFill>
                <a:schemeClr val="dk1"/>
              </a:solidFill>
            </a:endParaRPr>
          </a:p>
          <a:p>
            <a:pPr indent="0" lvl="0" marL="0" rtl="0" algn="l">
              <a:lnSpc>
                <a:spcPct val="100000"/>
              </a:lnSpc>
              <a:spcBef>
                <a:spcPts val="0"/>
              </a:spcBef>
              <a:spcAft>
                <a:spcPts val="0"/>
              </a:spcAft>
              <a:buClr>
                <a:srgbClr val="000000"/>
              </a:buClr>
              <a:buSzPts val="1400"/>
              <a:buNone/>
            </a:pPr>
            <a:r>
              <a:t/>
            </a:r>
            <a:endParaRPr sz="1400">
              <a:solidFill>
                <a:schemeClr val="dk1"/>
              </a:solidFill>
            </a:endParaRPr>
          </a:p>
          <a:p>
            <a:pPr indent="0" lvl="0" marL="0" rtl="0" algn="l">
              <a:lnSpc>
                <a:spcPct val="100000"/>
              </a:lnSpc>
              <a:spcBef>
                <a:spcPts val="0"/>
              </a:spcBef>
              <a:spcAft>
                <a:spcPts val="0"/>
              </a:spcAft>
              <a:buClr>
                <a:schemeClr val="dk1"/>
              </a:buClr>
              <a:buSzPts val="1400"/>
              <a:buNone/>
            </a:pPr>
            <a:r>
              <a:rPr b="1" lang="en-US" sz="1400">
                <a:solidFill>
                  <a:schemeClr val="dk1"/>
                </a:solidFill>
              </a:rPr>
              <a:t>Module Objective</a:t>
            </a:r>
            <a:r>
              <a:rPr lang="en-US" sz="1400">
                <a:solidFill>
                  <a:schemeClr val="dk1"/>
                </a:solidFill>
              </a:rPr>
              <a:t>: </a:t>
            </a:r>
            <a:r>
              <a:rPr lang="en-US"/>
              <a:t>Explain how single-area OSPF operates in both point-to-point and broadcast multiaccess networks.</a:t>
            </a:r>
            <a:endParaRPr/>
          </a:p>
        </p:txBody>
      </p:sp>
      <p:graphicFrame>
        <p:nvGraphicFramePr>
          <p:cNvPr id="247" name="Google Shape;247;p2"/>
          <p:cNvGraphicFramePr/>
          <p:nvPr/>
        </p:nvGraphicFramePr>
        <p:xfrm>
          <a:off x="450866" y="1968407"/>
          <a:ext cx="3000000" cy="3000000"/>
        </p:xfrm>
        <a:graphic>
          <a:graphicData uri="http://schemas.openxmlformats.org/drawingml/2006/table">
            <a:tbl>
              <a:tblPr bandRow="1" firstRow="1">
                <a:noFill/>
                <a:tableStyleId>{80576BDA-39A4-4EB4-9823-0750B80A73DB}</a:tableStyleId>
              </a:tblPr>
              <a:tblGrid>
                <a:gridCol w="2676150"/>
                <a:gridCol w="5220675"/>
              </a:tblGrid>
              <a:tr h="272850">
                <a:tc>
                  <a:txBody>
                    <a:bodyPr/>
                    <a:lstStyle/>
                    <a:p>
                      <a:pPr indent="0" lvl="0" marL="0" marR="0" rtl="0" algn="l">
                        <a:spcBef>
                          <a:spcPts val="0"/>
                        </a:spcBef>
                        <a:spcAft>
                          <a:spcPts val="0"/>
                        </a:spcAft>
                        <a:buNone/>
                      </a:pPr>
                      <a:r>
                        <a:rPr b="1" lang="en-US" sz="1400" u="none" cap="none" strike="noStrike"/>
                        <a:t>Topic Title</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Topic Objective</a:t>
                      </a:r>
                      <a:endParaRPr sz="1400" u="none" cap="none" strike="noStrike"/>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OSPF Features and Characteristics</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Describe basic OSPF features and characteristics.</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OSPF Packets</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Describe the OSPF packet types used in single-area OSPF.</a:t>
                      </a:r>
                      <a:endParaRPr/>
                    </a:p>
                  </a:txBody>
                  <a:tcPr marT="47625" marB="47625" marR="47625" marL="47625" anchor="ctr"/>
                </a:tc>
              </a:tr>
              <a:tr h="272850">
                <a:tc>
                  <a:txBody>
                    <a:bodyPr/>
                    <a:lstStyle/>
                    <a:p>
                      <a:pPr indent="0" lvl="0" marL="0" marR="0" rtl="0" algn="l">
                        <a:spcBef>
                          <a:spcPts val="0"/>
                        </a:spcBef>
                        <a:spcAft>
                          <a:spcPts val="0"/>
                        </a:spcAft>
                        <a:buNone/>
                      </a:pPr>
                      <a:r>
                        <a:rPr b="1" lang="en-US" sz="1400" u="none" cap="none" strike="noStrike">
                          <a:solidFill>
                            <a:schemeClr val="lt1"/>
                          </a:solidFill>
                        </a:rPr>
                        <a:t>OSPF Operation</a:t>
                      </a:r>
                      <a:endParaRPr b="0" sz="14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spcBef>
                          <a:spcPts val="0"/>
                        </a:spcBef>
                        <a:spcAft>
                          <a:spcPts val="0"/>
                        </a:spcAft>
                        <a:buNone/>
                      </a:pPr>
                      <a:r>
                        <a:rPr b="0" lang="en-US" sz="1400" u="none" cap="none" strike="noStrike"/>
                        <a:t>Explain how single-area OSPF operates.</a:t>
                      </a:r>
                      <a:endParaRPr/>
                    </a:p>
                  </a:txBody>
                  <a:tcPr marT="47625" marB="47625" marR="47625" marL="47625" anchor="ctr"/>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377387"/>
            <a:ext cx="7598042" cy="134041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1.1 OSPF Features and Characteristics</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Introduction to OSPF</a:t>
            </a:r>
            <a:endParaRPr/>
          </a:p>
        </p:txBody>
      </p:sp>
      <p:sp>
        <p:nvSpPr>
          <p:cNvPr id="260" name="Google Shape;260;p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OSPF is a link-state routing protocol that was developed as an alternative for the distance vector Routing Information Protocol (RIP). OSPF has significant advantages over RIP in that it offers faster convergence and scales to much larger network implementations.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OSPF is a link-state routing protocol that uses the concept of areas. A network administrator can divide the routing domain into distinct areas that help control routing update traffic. </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A link is an interface on a router, a network segment that connects two routers, or a stub network such as an Ethernet LAN that is connected to a single router. </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Information about the state of a link is known as a link-state. All link-state information includes the network prefix, prefix length, and cost.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This module covers basic, single-area OSPF implementations and configurations.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Components of OSPF</a:t>
            </a:r>
            <a:endParaRPr/>
          </a:p>
        </p:txBody>
      </p:sp>
      <p:sp>
        <p:nvSpPr>
          <p:cNvPr id="267" name="Google Shape;267;p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All routing protocols share similar components. They all use routing protocol messages to exchange route information. The messages help build data structures, which are then processed using a routing algorithm.</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Routers running OSPF exchange messages to convey routing information using five types of packets:</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Hello packet</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Database description packet</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Link-state request packet</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Link-state update packet</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Link-state acknowledgment packet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These packets are used to discover neighboring routers and also to exchange routing information to maintain accurate information about the network.</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Components of OSPF (Cont.)</a:t>
            </a:r>
            <a:endParaRPr/>
          </a:p>
        </p:txBody>
      </p:sp>
      <p:sp>
        <p:nvSpPr>
          <p:cNvPr id="274" name="Google Shape;274;p6"/>
          <p:cNvSpPr txBox="1"/>
          <p:nvPr>
            <p:ph idx="1" type="body"/>
          </p:nvPr>
        </p:nvSpPr>
        <p:spPr>
          <a:xfrm>
            <a:off x="474662" y="731838"/>
            <a:ext cx="8280057" cy="50665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OSPF messages are used to create and maintain three OSPF databases, as follows:</a:t>
            </a:r>
            <a:endParaRPr/>
          </a:p>
          <a:p>
            <a:pPr indent="0" lvl="0" marL="0" rtl="0" algn="l">
              <a:lnSpc>
                <a:spcPct val="100000"/>
              </a:lnSpc>
              <a:spcBef>
                <a:spcPts val="320"/>
              </a:spcBef>
              <a:spcAft>
                <a:spcPts val="0"/>
              </a:spcAft>
              <a:buSzPts val="1600"/>
              <a:buNone/>
            </a:pPr>
            <a:r>
              <a:t/>
            </a:r>
            <a:endParaRPr sz="1600">
              <a:solidFill>
                <a:srgbClr val="000000"/>
              </a:solidFill>
            </a:endParaRPr>
          </a:p>
        </p:txBody>
      </p:sp>
      <p:graphicFrame>
        <p:nvGraphicFramePr>
          <p:cNvPr id="275" name="Google Shape;275;p6"/>
          <p:cNvGraphicFramePr/>
          <p:nvPr/>
        </p:nvGraphicFramePr>
        <p:xfrm>
          <a:off x="389281" y="1364841"/>
          <a:ext cx="3000000" cy="3000000"/>
        </p:xfrm>
        <a:graphic>
          <a:graphicData uri="http://schemas.openxmlformats.org/drawingml/2006/table">
            <a:tbl>
              <a:tblPr bandRow="1" firstRow="1">
                <a:noFill/>
                <a:tableStyleId>{80576BDA-39A4-4EB4-9823-0750B80A73DB}</a:tableStyleId>
              </a:tblPr>
              <a:tblGrid>
                <a:gridCol w="987975"/>
                <a:gridCol w="993425"/>
                <a:gridCol w="6298675"/>
              </a:tblGrid>
              <a:tr h="210900">
                <a:tc>
                  <a:txBody>
                    <a:bodyPr/>
                    <a:lstStyle/>
                    <a:p>
                      <a:pPr indent="0" lvl="0" marL="0" marR="0" rtl="0" algn="l">
                        <a:spcBef>
                          <a:spcPts val="0"/>
                        </a:spcBef>
                        <a:spcAft>
                          <a:spcPts val="0"/>
                        </a:spcAft>
                        <a:buNone/>
                      </a:pPr>
                      <a:r>
                        <a:rPr lang="en-US" sz="1200" u="none" cap="none" strike="noStrike"/>
                        <a:t>Database</a:t>
                      </a:r>
                      <a:endParaRPr/>
                    </a:p>
                  </a:txBody>
                  <a:tcPr marT="47625" marB="47625" marR="47625" marL="47625" anchor="ctr"/>
                </a:tc>
                <a:tc>
                  <a:txBody>
                    <a:bodyPr/>
                    <a:lstStyle/>
                    <a:p>
                      <a:pPr indent="0" lvl="0" marL="0" marR="0" rtl="0" algn="l">
                        <a:spcBef>
                          <a:spcPts val="0"/>
                        </a:spcBef>
                        <a:spcAft>
                          <a:spcPts val="0"/>
                        </a:spcAft>
                        <a:buNone/>
                      </a:pPr>
                      <a:r>
                        <a:rPr lang="en-US" sz="1200" u="none" cap="none" strike="noStrike"/>
                        <a:t>Table</a:t>
                      </a:r>
                      <a:endParaRPr/>
                    </a:p>
                  </a:txBody>
                  <a:tcPr marT="47625" marB="47625" marR="47625" marL="47625" anchor="ctr"/>
                </a:tc>
                <a:tc>
                  <a:txBody>
                    <a:bodyPr/>
                    <a:lstStyle/>
                    <a:p>
                      <a:pPr indent="0" lvl="0" marL="0" marR="0" rtl="0" algn="l">
                        <a:spcBef>
                          <a:spcPts val="0"/>
                        </a:spcBef>
                        <a:spcAft>
                          <a:spcPts val="0"/>
                        </a:spcAft>
                        <a:buNone/>
                      </a:pPr>
                      <a:r>
                        <a:rPr lang="en-US" sz="1200" u="none" cap="none" strike="noStrike"/>
                        <a:t>Description</a:t>
                      </a:r>
                      <a:endParaRPr/>
                    </a:p>
                  </a:txBody>
                  <a:tcPr marT="47625" marB="47625" marR="47625" marL="47625" anchor="ctr"/>
                </a:tc>
              </a:tr>
              <a:tr h="790600">
                <a:tc>
                  <a:txBody>
                    <a:bodyPr/>
                    <a:lstStyle/>
                    <a:p>
                      <a:pPr indent="0" lvl="0" marL="0" marR="0" rtl="0" algn="l">
                        <a:spcBef>
                          <a:spcPts val="0"/>
                        </a:spcBef>
                        <a:spcAft>
                          <a:spcPts val="0"/>
                        </a:spcAft>
                        <a:buNone/>
                      </a:pPr>
                      <a:r>
                        <a:rPr b="0" lang="en-US" sz="1200" u="none" cap="none" strike="noStrike"/>
                        <a:t>Adjacency Database</a:t>
                      </a:r>
                      <a:endParaRPr/>
                    </a:p>
                  </a:txBody>
                  <a:tcPr marT="47625" marB="47625" marR="47625" marL="47625" anchor="ctr"/>
                </a:tc>
                <a:tc>
                  <a:txBody>
                    <a:bodyPr/>
                    <a:lstStyle/>
                    <a:p>
                      <a:pPr indent="0" lvl="0" marL="0" marR="0" rtl="0" algn="l">
                        <a:spcBef>
                          <a:spcPts val="0"/>
                        </a:spcBef>
                        <a:spcAft>
                          <a:spcPts val="0"/>
                        </a:spcAft>
                        <a:buNone/>
                      </a:pPr>
                      <a:r>
                        <a:rPr b="0" lang="en-US" sz="1200" u="none" cap="none" strike="noStrike"/>
                        <a:t>Neighbor Table</a:t>
                      </a:r>
                      <a:endParaRPr/>
                    </a:p>
                  </a:txBody>
                  <a:tcPr marT="47625" marB="47625" marR="47625" marL="47625" anchor="ctr"/>
                </a:tc>
                <a:tc>
                  <a:txBody>
                    <a:bodyPr/>
                    <a:lstStyle/>
                    <a:p>
                      <a:pPr indent="-76200" lvl="0" marL="0" marR="0" rtl="0" algn="l">
                        <a:spcBef>
                          <a:spcPts val="0"/>
                        </a:spcBef>
                        <a:spcAft>
                          <a:spcPts val="0"/>
                        </a:spcAft>
                        <a:buClr>
                          <a:schemeClr val="dk1"/>
                        </a:buClr>
                        <a:buSzPts val="1200"/>
                        <a:buFont typeface="Arial"/>
                        <a:buChar char="•"/>
                      </a:pPr>
                      <a:r>
                        <a:rPr b="0" lang="en-US" sz="1200" u="none" cap="none" strike="noStrike"/>
                        <a:t>List of all neighbor routers to which a router has established bi-directional communication.</a:t>
                      </a:r>
                      <a:endParaRPr/>
                    </a:p>
                    <a:p>
                      <a:pPr indent="-76200" lvl="0" marL="0" marR="0" rtl="0" algn="l">
                        <a:spcBef>
                          <a:spcPts val="0"/>
                        </a:spcBef>
                        <a:spcAft>
                          <a:spcPts val="0"/>
                        </a:spcAft>
                        <a:buClr>
                          <a:schemeClr val="dk1"/>
                        </a:buClr>
                        <a:buSzPts val="1200"/>
                        <a:buFont typeface="Arial"/>
                        <a:buChar char="•"/>
                      </a:pPr>
                      <a:r>
                        <a:rPr b="0" lang="en-US" sz="1200" u="none" cap="none" strike="noStrike"/>
                        <a:t>This table is unique for each router.</a:t>
                      </a:r>
                      <a:endParaRPr/>
                    </a:p>
                    <a:p>
                      <a:pPr indent="-76200" lvl="0" marL="0" marR="0" rtl="0" algn="l">
                        <a:spcBef>
                          <a:spcPts val="0"/>
                        </a:spcBef>
                        <a:spcAft>
                          <a:spcPts val="0"/>
                        </a:spcAft>
                        <a:buClr>
                          <a:schemeClr val="dk1"/>
                        </a:buClr>
                        <a:buSzPts val="1200"/>
                        <a:buFont typeface="Arial"/>
                        <a:buChar char="•"/>
                      </a:pPr>
                      <a:r>
                        <a:rPr b="0" lang="en-US" sz="1200" u="none" cap="none" strike="noStrike"/>
                        <a:t>Can be viewed using the </a:t>
                      </a:r>
                      <a:r>
                        <a:rPr b="1" i="0" lang="en-US" sz="1200" u="none" cap="none" strike="noStrike">
                          <a:latin typeface="Courier New"/>
                          <a:ea typeface="Courier New"/>
                          <a:cs typeface="Courier New"/>
                          <a:sym typeface="Courier New"/>
                        </a:rPr>
                        <a:t>show ip ospf neighbor </a:t>
                      </a:r>
                      <a:r>
                        <a:rPr b="0" lang="en-US" sz="1200" u="none" cap="none" strike="noStrike"/>
                        <a:t>command.</a:t>
                      </a:r>
                      <a:endParaRPr/>
                    </a:p>
                  </a:txBody>
                  <a:tcPr marT="47625" marB="47625" marR="47625" marL="47625" anchor="ctr"/>
                </a:tc>
              </a:tr>
              <a:tr h="790600">
                <a:tc>
                  <a:txBody>
                    <a:bodyPr/>
                    <a:lstStyle/>
                    <a:p>
                      <a:pPr indent="0" lvl="0" marL="0" marR="0" rtl="0" algn="l">
                        <a:spcBef>
                          <a:spcPts val="0"/>
                        </a:spcBef>
                        <a:spcAft>
                          <a:spcPts val="0"/>
                        </a:spcAft>
                        <a:buNone/>
                      </a:pPr>
                      <a:r>
                        <a:rPr b="0" lang="en-US" sz="1200" u="none" cap="none" strike="noStrike"/>
                        <a:t>Link-state Database (LSDB)</a:t>
                      </a:r>
                      <a:endParaRPr/>
                    </a:p>
                  </a:txBody>
                  <a:tcPr marT="47625" marB="47625" marR="47625" marL="47625" anchor="ctr"/>
                </a:tc>
                <a:tc>
                  <a:txBody>
                    <a:bodyPr/>
                    <a:lstStyle/>
                    <a:p>
                      <a:pPr indent="0" lvl="0" marL="0" marR="0" rtl="0" algn="l">
                        <a:spcBef>
                          <a:spcPts val="0"/>
                        </a:spcBef>
                        <a:spcAft>
                          <a:spcPts val="0"/>
                        </a:spcAft>
                        <a:buNone/>
                      </a:pPr>
                      <a:r>
                        <a:rPr b="0" lang="en-US" sz="1200" u="none" cap="none" strike="noStrike"/>
                        <a:t>Topology Table</a:t>
                      </a:r>
                      <a:endParaRPr/>
                    </a:p>
                  </a:txBody>
                  <a:tcPr marT="47625" marB="47625" marR="47625" marL="47625" anchor="ctr"/>
                </a:tc>
                <a:tc>
                  <a:txBody>
                    <a:bodyPr/>
                    <a:lstStyle/>
                    <a:p>
                      <a:pPr indent="-76200" lvl="0" marL="0" marR="0" rtl="0" algn="l">
                        <a:spcBef>
                          <a:spcPts val="0"/>
                        </a:spcBef>
                        <a:spcAft>
                          <a:spcPts val="0"/>
                        </a:spcAft>
                        <a:buClr>
                          <a:schemeClr val="dk1"/>
                        </a:buClr>
                        <a:buSzPts val="1200"/>
                        <a:buFont typeface="Arial"/>
                        <a:buChar char="•"/>
                      </a:pPr>
                      <a:r>
                        <a:rPr b="0" lang="en-US" sz="1200" u="none" cap="none" strike="noStrike"/>
                        <a:t>Lists information about all other routers in the network.</a:t>
                      </a:r>
                      <a:endParaRPr/>
                    </a:p>
                    <a:p>
                      <a:pPr indent="-76200" lvl="0" marL="0" marR="0" rtl="0" algn="l">
                        <a:spcBef>
                          <a:spcPts val="0"/>
                        </a:spcBef>
                        <a:spcAft>
                          <a:spcPts val="0"/>
                        </a:spcAft>
                        <a:buClr>
                          <a:schemeClr val="dk1"/>
                        </a:buClr>
                        <a:buSzPts val="1200"/>
                        <a:buFont typeface="Arial"/>
                        <a:buChar char="•"/>
                      </a:pPr>
                      <a:r>
                        <a:rPr b="0" lang="en-US" sz="1200" u="none" cap="none" strike="noStrike"/>
                        <a:t>The database represents the network LSDB.</a:t>
                      </a:r>
                      <a:endParaRPr/>
                    </a:p>
                    <a:p>
                      <a:pPr indent="-76200" lvl="0" marL="0" marR="0" rtl="0" algn="l">
                        <a:spcBef>
                          <a:spcPts val="0"/>
                        </a:spcBef>
                        <a:spcAft>
                          <a:spcPts val="0"/>
                        </a:spcAft>
                        <a:buClr>
                          <a:schemeClr val="dk1"/>
                        </a:buClr>
                        <a:buSzPts val="1200"/>
                        <a:buFont typeface="Arial"/>
                        <a:buChar char="•"/>
                      </a:pPr>
                      <a:r>
                        <a:rPr b="0" lang="en-US" sz="1200" u="none" cap="none" strike="noStrike"/>
                        <a:t>All routers within an area have identical LSDB.</a:t>
                      </a:r>
                      <a:endParaRPr/>
                    </a:p>
                    <a:p>
                      <a:pPr indent="-76200" lvl="0" marL="0" marR="0" rtl="0" algn="l">
                        <a:spcBef>
                          <a:spcPts val="0"/>
                        </a:spcBef>
                        <a:spcAft>
                          <a:spcPts val="0"/>
                        </a:spcAft>
                        <a:buClr>
                          <a:schemeClr val="dk1"/>
                        </a:buClr>
                        <a:buSzPts val="1200"/>
                        <a:buFont typeface="Arial"/>
                        <a:buChar char="•"/>
                      </a:pPr>
                      <a:r>
                        <a:rPr b="0" lang="en-US" sz="1200" u="none" cap="none" strike="noStrike"/>
                        <a:t>Can be viewed using the </a:t>
                      </a:r>
                      <a:r>
                        <a:rPr b="1" i="0" lang="en-US" sz="1200" u="none" cap="none" strike="noStrike">
                          <a:latin typeface="Courier New"/>
                          <a:ea typeface="Courier New"/>
                          <a:cs typeface="Courier New"/>
                          <a:sym typeface="Courier New"/>
                        </a:rPr>
                        <a:t>show ip ospf database </a:t>
                      </a:r>
                      <a:r>
                        <a:rPr b="0" lang="en-US" sz="1200" u="none" cap="none" strike="noStrike"/>
                        <a:t>command.</a:t>
                      </a:r>
                      <a:endParaRPr/>
                    </a:p>
                  </a:txBody>
                  <a:tcPr marT="47625" marB="47625" marR="47625" marL="47625" anchor="ctr"/>
                </a:tc>
              </a:tr>
              <a:tr h="935750">
                <a:tc>
                  <a:txBody>
                    <a:bodyPr/>
                    <a:lstStyle/>
                    <a:p>
                      <a:pPr indent="0" lvl="0" marL="0" marR="0" rtl="0" algn="l">
                        <a:spcBef>
                          <a:spcPts val="0"/>
                        </a:spcBef>
                        <a:spcAft>
                          <a:spcPts val="0"/>
                        </a:spcAft>
                        <a:buNone/>
                      </a:pPr>
                      <a:r>
                        <a:rPr b="0" lang="en-US" sz="1200" u="none" cap="none" strike="noStrike"/>
                        <a:t>Forwarding Database</a:t>
                      </a:r>
                      <a:endParaRPr/>
                    </a:p>
                  </a:txBody>
                  <a:tcPr marT="47625" marB="47625" marR="47625" marL="47625" anchor="ctr"/>
                </a:tc>
                <a:tc>
                  <a:txBody>
                    <a:bodyPr/>
                    <a:lstStyle/>
                    <a:p>
                      <a:pPr indent="0" lvl="0" marL="0" marR="0" rtl="0" algn="l">
                        <a:spcBef>
                          <a:spcPts val="0"/>
                        </a:spcBef>
                        <a:spcAft>
                          <a:spcPts val="0"/>
                        </a:spcAft>
                        <a:buNone/>
                      </a:pPr>
                      <a:r>
                        <a:rPr b="0" lang="en-US" sz="1200" u="none" cap="none" strike="noStrike"/>
                        <a:t>Routing Table</a:t>
                      </a:r>
                      <a:endParaRPr/>
                    </a:p>
                  </a:txBody>
                  <a:tcPr marT="47625" marB="47625" marR="47625" marL="47625" anchor="ctr"/>
                </a:tc>
                <a:tc>
                  <a:txBody>
                    <a:bodyPr/>
                    <a:lstStyle/>
                    <a:p>
                      <a:pPr indent="-76200" lvl="0" marL="0" marR="0" rtl="0" algn="l">
                        <a:spcBef>
                          <a:spcPts val="0"/>
                        </a:spcBef>
                        <a:spcAft>
                          <a:spcPts val="0"/>
                        </a:spcAft>
                        <a:buClr>
                          <a:schemeClr val="dk1"/>
                        </a:buClr>
                        <a:buSzPts val="1200"/>
                        <a:buFont typeface="Arial"/>
                        <a:buChar char="•"/>
                      </a:pPr>
                      <a:r>
                        <a:rPr b="0" lang="en-US" sz="1200" u="none" cap="none" strike="noStrike"/>
                        <a:t>List of routes generated when an algorithm is run on the link-state database.</a:t>
                      </a:r>
                      <a:endParaRPr/>
                    </a:p>
                    <a:p>
                      <a:pPr indent="-76200" lvl="0" marL="0" marR="0" rtl="0" algn="l">
                        <a:spcBef>
                          <a:spcPts val="0"/>
                        </a:spcBef>
                        <a:spcAft>
                          <a:spcPts val="0"/>
                        </a:spcAft>
                        <a:buClr>
                          <a:schemeClr val="dk1"/>
                        </a:buClr>
                        <a:buSzPts val="1200"/>
                        <a:buFont typeface="Arial"/>
                        <a:buChar char="•"/>
                      </a:pPr>
                      <a:r>
                        <a:rPr b="0" lang="en-US" sz="1200" u="none" cap="none" strike="noStrike"/>
                        <a:t>Each router's routing table is unique and contains information on how and where to send packets to other routers.</a:t>
                      </a:r>
                      <a:endParaRPr/>
                    </a:p>
                    <a:p>
                      <a:pPr indent="-76200" lvl="0" marL="0" marR="0" rtl="0" algn="l">
                        <a:spcBef>
                          <a:spcPts val="0"/>
                        </a:spcBef>
                        <a:spcAft>
                          <a:spcPts val="0"/>
                        </a:spcAft>
                        <a:buClr>
                          <a:schemeClr val="dk1"/>
                        </a:buClr>
                        <a:buSzPts val="1200"/>
                        <a:buFont typeface="Arial"/>
                        <a:buChar char="•"/>
                      </a:pPr>
                      <a:r>
                        <a:rPr b="0" lang="en-US" sz="1200" u="none" cap="none" strike="noStrike"/>
                        <a:t>Can be viewed using the </a:t>
                      </a:r>
                      <a:r>
                        <a:rPr b="1" i="0" lang="en-US" sz="1200" u="none" cap="none" strike="noStrike">
                          <a:latin typeface="Courier New"/>
                          <a:ea typeface="Courier New"/>
                          <a:cs typeface="Courier New"/>
                          <a:sym typeface="Courier New"/>
                        </a:rPr>
                        <a:t>show ip route </a:t>
                      </a:r>
                      <a:r>
                        <a:rPr b="0" lang="en-US" sz="1200" u="none" cap="none" strike="noStrike"/>
                        <a:t>command.</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Components of OSPF (Cont.)</a:t>
            </a:r>
            <a:endParaRPr/>
          </a:p>
        </p:txBody>
      </p:sp>
      <p:sp>
        <p:nvSpPr>
          <p:cNvPr id="282" name="Google Shape;282;p7"/>
          <p:cNvSpPr txBox="1"/>
          <p:nvPr>
            <p:ph idx="1" type="body"/>
          </p:nvPr>
        </p:nvSpPr>
        <p:spPr>
          <a:xfrm>
            <a:off x="474662" y="731837"/>
            <a:ext cx="8280057" cy="1907191"/>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The router builds the topology table using results of calculations based on the Dijkstra shortest-path first (SPF) algorithm. The SPF algorithm is based on the cumulative cost to reach a destination.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SPF algorithm creates an SPF tree by placing each router at the root of the tree and calculating the shortest path to each node. The SPF tree is then used to calculate the best routes. OSPF places the best routes into the forwarding database, which is used to make the routing table.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83" name="Google Shape;283;p7"/>
          <p:cNvPicPr preferRelativeResize="0"/>
          <p:nvPr/>
        </p:nvPicPr>
        <p:blipFill rotWithShape="1">
          <a:blip r:embed="rId3">
            <a:alphaModFix/>
          </a:blip>
          <a:srcRect b="0" l="0" r="0" t="0"/>
          <a:stretch/>
        </p:blipFill>
        <p:spPr>
          <a:xfrm>
            <a:off x="2040555" y="2729793"/>
            <a:ext cx="4487124" cy="150353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Link-State Operation</a:t>
            </a:r>
            <a:endParaRPr/>
          </a:p>
        </p:txBody>
      </p:sp>
      <p:sp>
        <p:nvSpPr>
          <p:cNvPr id="290" name="Google Shape;290;p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maintain routing information, OSPF routers complete a generic link-state routing process to reach a state of convergence. The following are the link-state routing steps that are completed by a router:</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Establish Neighbor Adjacencies</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Exchange Link-State Advertisements</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Build the Link State Database</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Execute the SPF Algorithm</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Choose the Best Route</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9"/>
          <p:cNvSpPr txBox="1"/>
          <p:nvPr>
            <p:ph type="title"/>
          </p:nvPr>
        </p:nvSpPr>
        <p:spPr>
          <a:xfrm>
            <a:off x="0" y="76200"/>
            <a:ext cx="8345400" cy="731700"/>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Single-Area and Multiarea OSPF</a:t>
            </a:r>
            <a:endParaRPr/>
          </a:p>
        </p:txBody>
      </p:sp>
      <p:sp>
        <p:nvSpPr>
          <p:cNvPr id="297" name="Google Shape;297;p9"/>
          <p:cNvSpPr txBox="1"/>
          <p:nvPr>
            <p:ph idx="1" type="body"/>
          </p:nvPr>
        </p:nvSpPr>
        <p:spPr>
          <a:xfrm>
            <a:off x="474662" y="731838"/>
            <a:ext cx="8280057" cy="219655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make OSPF more efficient and scalable, OSPF supports hierarchical routing using areas. An OSPF area is a group of routers that share the same link-state information in their LSDBs. OSPF can be implemented in one of two ways, as follows: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Single-Area OSPF</a:t>
            </a:r>
            <a:r>
              <a:rPr lang="en-US" sz="1600">
                <a:solidFill>
                  <a:srgbClr val="000000"/>
                </a:solidFill>
              </a:rPr>
              <a:t> - All routers are in one area. Best practice is to use area 0.</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Multiarea OSPF</a:t>
            </a:r>
            <a:r>
              <a:rPr lang="en-US" sz="1600">
                <a:solidFill>
                  <a:srgbClr val="000000"/>
                </a:solidFill>
              </a:rPr>
              <a:t> - OSPF is implemented using multiple areas, in a hierarchical fashion. All areas must connect to the backbone area (area 0). Routers interconnecting the areas are referred to as Area Border Routers (ABRs).</a:t>
            </a:r>
            <a:endParaRPr/>
          </a:p>
          <a:p>
            <a:pPr indent="0" lvl="0" marL="0" rtl="0" algn="l">
              <a:lnSpc>
                <a:spcPct val="100000"/>
              </a:lnSpc>
              <a:spcBef>
                <a:spcPts val="320"/>
              </a:spcBef>
              <a:spcAft>
                <a:spcPts val="0"/>
              </a:spcAft>
              <a:buSzPts val="1600"/>
              <a:buNone/>
            </a:pPr>
            <a:r>
              <a:rPr lang="en-US" sz="1600">
                <a:solidFill>
                  <a:srgbClr val="000000"/>
                </a:solidFill>
              </a:rPr>
              <a:t>The focus of this module is on single-area OSPFv2.</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298" name="Google Shape;298;p9"/>
          <p:cNvPicPr preferRelativeResize="0"/>
          <p:nvPr/>
        </p:nvPicPr>
        <p:blipFill rotWithShape="1">
          <a:blip r:embed="rId3">
            <a:alphaModFix/>
          </a:blip>
          <a:srcRect b="0" l="0" r="0" t="0"/>
          <a:stretch/>
        </p:blipFill>
        <p:spPr>
          <a:xfrm>
            <a:off x="1933728" y="3102001"/>
            <a:ext cx="5276543" cy="152238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Multiarea OSPF</a:t>
            </a:r>
            <a:endParaRPr/>
          </a:p>
        </p:txBody>
      </p:sp>
      <p:sp>
        <p:nvSpPr>
          <p:cNvPr id="305" name="Google Shape;305;p10"/>
          <p:cNvSpPr txBox="1"/>
          <p:nvPr>
            <p:ph idx="1" type="body"/>
          </p:nvPr>
        </p:nvSpPr>
        <p:spPr>
          <a:xfrm>
            <a:off x="474662" y="731837"/>
            <a:ext cx="8280057" cy="2739801"/>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The hierarchical-topology design options with multiarea OSPF can offer the following advantages.</a:t>
            </a:r>
            <a:endParaRPr/>
          </a:p>
          <a:p>
            <a:pPr indent="-285750" lvl="1" marL="358835" rtl="0" algn="l">
              <a:lnSpc>
                <a:spcPct val="95000"/>
              </a:lnSpc>
              <a:spcBef>
                <a:spcPts val="600"/>
              </a:spcBef>
              <a:spcAft>
                <a:spcPts val="0"/>
              </a:spcAft>
              <a:buSzPts val="1600"/>
              <a:buFont typeface="Arial"/>
              <a:buChar char="•"/>
            </a:pPr>
            <a:r>
              <a:rPr b="1" lang="en-US" sz="1600">
                <a:solidFill>
                  <a:srgbClr val="000000"/>
                </a:solidFill>
              </a:rPr>
              <a:t>Smaller routing tables</a:t>
            </a:r>
            <a:r>
              <a:rPr lang="en-US" sz="1600">
                <a:solidFill>
                  <a:srgbClr val="000000"/>
                </a:solidFill>
              </a:rPr>
              <a:t> - Tables are smaller because there are fewer routing table entries. This is because network addresses can be summarized between areas. Route summarization is not enabled by default.</a:t>
            </a:r>
            <a:endParaRPr/>
          </a:p>
          <a:p>
            <a:pPr indent="-285750" lvl="1" marL="358835" rtl="0" algn="l">
              <a:lnSpc>
                <a:spcPct val="95000"/>
              </a:lnSpc>
              <a:spcBef>
                <a:spcPts val="600"/>
              </a:spcBef>
              <a:spcAft>
                <a:spcPts val="0"/>
              </a:spcAft>
              <a:buSzPts val="1600"/>
              <a:buFont typeface="Arial"/>
              <a:buChar char="•"/>
            </a:pPr>
            <a:r>
              <a:rPr b="1" lang="en-US" sz="1600">
                <a:solidFill>
                  <a:srgbClr val="000000"/>
                </a:solidFill>
              </a:rPr>
              <a:t>Reduced link-state update overhead</a:t>
            </a:r>
            <a:r>
              <a:rPr lang="en-US" sz="1600">
                <a:solidFill>
                  <a:srgbClr val="000000"/>
                </a:solidFill>
              </a:rPr>
              <a:t> - Designing multiarea OSPF with smaller areas minimizes processing and memory requirements.</a:t>
            </a:r>
            <a:endParaRPr/>
          </a:p>
          <a:p>
            <a:pPr indent="-285750" lvl="1" marL="358835" rtl="0" algn="l">
              <a:lnSpc>
                <a:spcPct val="95000"/>
              </a:lnSpc>
              <a:spcBef>
                <a:spcPts val="600"/>
              </a:spcBef>
              <a:spcAft>
                <a:spcPts val="0"/>
              </a:spcAft>
              <a:buSzPts val="1600"/>
              <a:buFont typeface="Arial"/>
              <a:buChar char="•"/>
            </a:pPr>
            <a:r>
              <a:rPr b="1" lang="en-US" sz="1600">
                <a:solidFill>
                  <a:srgbClr val="000000"/>
                </a:solidFill>
              </a:rPr>
              <a:t>Reduced frequency of SPF calculations</a:t>
            </a:r>
            <a:r>
              <a:rPr lang="en-US" sz="1600">
                <a:solidFill>
                  <a:srgbClr val="000000"/>
                </a:solidFill>
              </a:rPr>
              <a:t> -– Multiarea OSPF localize the impact of a topology change within an area. For instance, it minimizes routing update impact because LSA flooding stops at the area boundary.</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306" name="Google Shape;306;p10"/>
          <p:cNvPicPr preferRelativeResize="0"/>
          <p:nvPr/>
        </p:nvPicPr>
        <p:blipFill rotWithShape="1">
          <a:blip r:embed="rId3">
            <a:alphaModFix/>
          </a:blip>
          <a:srcRect b="0" l="0" r="0" t="0"/>
          <a:stretch/>
        </p:blipFill>
        <p:spPr>
          <a:xfrm>
            <a:off x="2012494" y="3564238"/>
            <a:ext cx="3336515" cy="12393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Features and Characteristics</a:t>
            </a:r>
            <a:br>
              <a:rPr lang="en-US"/>
            </a:br>
            <a:r>
              <a:rPr lang="en-US" sz="2400"/>
              <a:t>OSPFv3</a:t>
            </a:r>
            <a:endParaRPr/>
          </a:p>
        </p:txBody>
      </p:sp>
      <p:sp>
        <p:nvSpPr>
          <p:cNvPr id="313" name="Google Shape;313;p11"/>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OSPFv3 is the OSPFv2 equivalent for exchanging IPv6 prefixes. OSPFv3 exchanges routing information to populate the IPv6 routing table with remote prefixes.</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Note</a:t>
            </a:r>
            <a:r>
              <a:rPr lang="en-US" sz="1600">
                <a:solidFill>
                  <a:srgbClr val="000000"/>
                </a:solidFill>
              </a:rPr>
              <a:t>: With the OSPFv3 Address Families feature, OSPFv3 includes support for both IPv4 and IPv6. OSPF Address Families is beyond the scope of this curriculum.</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OSPFv3 has the same functionality as OSPFv2, but uses IPv6 as the network layer transport, communicating with OSPFv3 peers and advertising IPv6 routes. OSPFv3 also uses the SPF algorithm as the computation engine to determine the best paths throughout the routing domain.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OSPFv3 has separate processes from its IPv4 counterpart. The processes and operations are basically the same as in the IPv4 routing protocol, but run independently.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2"/>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1.2 OSPF Packets</a:t>
            </a:r>
            <a:endParaRPr/>
          </a:p>
        </p:txBody>
      </p:sp>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Packets</a:t>
            </a:r>
            <a:br>
              <a:rPr lang="en-US"/>
            </a:br>
            <a:r>
              <a:rPr lang="en-US" sz="2400"/>
              <a:t>Video - OSPF Packets</a:t>
            </a:r>
            <a:endParaRPr/>
          </a:p>
        </p:txBody>
      </p:sp>
      <p:sp>
        <p:nvSpPr>
          <p:cNvPr id="326" name="Google Shape;326;p1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video will cover the following packet types: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Hello</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Database Description (DBD)</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Link-State Request (LSR)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Link-State Update (LSU)</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Link-State Acknowledgment (LSAck)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Packets</a:t>
            </a:r>
            <a:br>
              <a:rPr lang="en-US"/>
            </a:br>
            <a:r>
              <a:rPr lang="en-US" sz="2400"/>
              <a:t>Types of OSPF Packets</a:t>
            </a:r>
            <a:endParaRPr/>
          </a:p>
        </p:txBody>
      </p:sp>
      <p:sp>
        <p:nvSpPr>
          <p:cNvPr id="333" name="Google Shape;333;p14"/>
          <p:cNvSpPr txBox="1"/>
          <p:nvPr>
            <p:ph idx="1" type="body"/>
          </p:nvPr>
        </p:nvSpPr>
        <p:spPr>
          <a:xfrm>
            <a:off x="474662" y="731838"/>
            <a:ext cx="8280057" cy="64555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table summarizes the five different types of Link State Packets (LSPs) used by OSPFv2. OSPFv3 has similar packet types.</a:t>
            </a:r>
            <a:endParaRPr/>
          </a:p>
        </p:txBody>
      </p:sp>
      <p:graphicFrame>
        <p:nvGraphicFramePr>
          <p:cNvPr id="334" name="Google Shape;334;p14"/>
          <p:cNvGraphicFramePr/>
          <p:nvPr/>
        </p:nvGraphicFramePr>
        <p:xfrm>
          <a:off x="474661" y="1463674"/>
          <a:ext cx="3000000" cy="3000000"/>
        </p:xfrm>
        <a:graphic>
          <a:graphicData uri="http://schemas.openxmlformats.org/drawingml/2006/table">
            <a:tbl>
              <a:tblPr bandRow="1" firstRow="1">
                <a:noFill/>
                <a:tableStyleId>{80576BDA-39A4-4EB4-9823-0750B80A73DB}</a:tableStyleId>
              </a:tblPr>
              <a:tblGrid>
                <a:gridCol w="570600"/>
                <a:gridCol w="3029050"/>
                <a:gridCol w="4780350"/>
              </a:tblGrid>
              <a:tr h="370850">
                <a:tc>
                  <a:txBody>
                    <a:bodyPr/>
                    <a:lstStyle/>
                    <a:p>
                      <a:pPr indent="0" lvl="0" marL="0" marR="0" rtl="0" algn="l">
                        <a:spcBef>
                          <a:spcPts val="0"/>
                        </a:spcBef>
                        <a:spcAft>
                          <a:spcPts val="0"/>
                        </a:spcAft>
                        <a:buNone/>
                      </a:pPr>
                      <a:r>
                        <a:rPr b="1" lang="en-US" sz="1400" u="none" cap="none" strike="noStrike"/>
                        <a:t>Type</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Packet Name</a:t>
                      </a:r>
                      <a:endParaRPr sz="1400" u="none" cap="none" strike="noStrike"/>
                    </a:p>
                  </a:txBody>
                  <a:tcPr marT="47625" marB="47625" marR="47625" marL="47625" anchor="ctr"/>
                </a:tc>
                <a:tc>
                  <a:txBody>
                    <a:bodyPr/>
                    <a:lstStyle/>
                    <a:p>
                      <a:pPr indent="0" lvl="0" marL="0" marR="0" rtl="0" algn="l">
                        <a:spcBef>
                          <a:spcPts val="0"/>
                        </a:spcBef>
                        <a:spcAft>
                          <a:spcPts val="0"/>
                        </a:spcAft>
                        <a:buNone/>
                      </a:pPr>
                      <a:r>
                        <a:rPr b="1" lang="en-US" sz="1400" u="none" cap="none" strike="noStrike"/>
                        <a:t>Description</a:t>
                      </a:r>
                      <a:endParaRPr sz="1400" u="none" cap="none" strike="noStrike"/>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1</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Hello</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Discovers neighbors and builds adjacencies between them</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2</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Database Description (DBD)</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Checks for database synchronization between routers</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3</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Link-State Request (LSR)</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Requests specific link-state records from router to router</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4</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Link-State Update (LSU)</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Sends specifically requested link-state records</a:t>
                      </a:r>
                      <a:endParaRPr/>
                    </a:p>
                  </a:txBody>
                  <a:tcPr marT="47625" marB="47625" marR="47625" marL="47625" anchor="ctr"/>
                </a:tc>
              </a:tr>
              <a:tr h="370850">
                <a:tc>
                  <a:txBody>
                    <a:bodyPr/>
                    <a:lstStyle/>
                    <a:p>
                      <a:pPr indent="0" lvl="0" marL="0" marR="0" rtl="0" algn="l">
                        <a:spcBef>
                          <a:spcPts val="0"/>
                        </a:spcBef>
                        <a:spcAft>
                          <a:spcPts val="0"/>
                        </a:spcAft>
                        <a:buNone/>
                      </a:pPr>
                      <a:r>
                        <a:rPr b="0" lang="en-US" sz="1400" u="none" cap="none" strike="noStrike"/>
                        <a:t>5</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Link-State Acknowledgment (LSAck)</a:t>
                      </a:r>
                      <a:endParaRPr/>
                    </a:p>
                  </a:txBody>
                  <a:tcPr marT="47625" marB="47625" marR="47625" marL="47625" anchor="ctr"/>
                </a:tc>
                <a:tc>
                  <a:txBody>
                    <a:bodyPr/>
                    <a:lstStyle/>
                    <a:p>
                      <a:pPr indent="0" lvl="0" marL="0" marR="0" rtl="0" algn="l">
                        <a:spcBef>
                          <a:spcPts val="0"/>
                        </a:spcBef>
                        <a:spcAft>
                          <a:spcPts val="0"/>
                        </a:spcAft>
                        <a:buNone/>
                      </a:pPr>
                      <a:r>
                        <a:rPr b="0" lang="en-US" sz="1400" u="none" cap="none" strike="noStrike"/>
                        <a:t>Acknowledges the other packet types</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Packets</a:t>
            </a:r>
            <a:br>
              <a:rPr lang="en-US"/>
            </a:br>
            <a:r>
              <a:rPr lang="en-US" sz="2400"/>
              <a:t>Link-State Updates</a:t>
            </a:r>
            <a:endParaRPr/>
          </a:p>
        </p:txBody>
      </p:sp>
      <p:sp>
        <p:nvSpPr>
          <p:cNvPr id="341" name="Google Shape;341;p15"/>
          <p:cNvSpPr txBox="1"/>
          <p:nvPr>
            <p:ph idx="1" type="body"/>
          </p:nvPr>
        </p:nvSpPr>
        <p:spPr>
          <a:xfrm>
            <a:off x="474662" y="731837"/>
            <a:ext cx="360860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LSUs are also used to forward OSPF routing updates. An LSU packet can contain 11 different types of OSPFv2 LSAs. OSPFv3 renamed several of these LSAs and also contains two additional LSAs.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LSU and LSA are often used interchangeably, but the correct hierarchy is LSU packets contain LSA messages.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342" name="Google Shape;342;p15"/>
          <p:cNvPicPr preferRelativeResize="0"/>
          <p:nvPr/>
        </p:nvPicPr>
        <p:blipFill rotWithShape="1">
          <a:blip r:embed="rId3">
            <a:alphaModFix/>
          </a:blip>
          <a:srcRect b="0" l="0" r="0" t="0"/>
          <a:stretch/>
        </p:blipFill>
        <p:spPr>
          <a:xfrm>
            <a:off x="4459437" y="827689"/>
            <a:ext cx="4000134" cy="37482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Packets</a:t>
            </a:r>
            <a:br>
              <a:rPr lang="en-US"/>
            </a:br>
            <a:r>
              <a:rPr lang="en-US" sz="2400"/>
              <a:t>Hello Packet</a:t>
            </a:r>
            <a:endParaRPr/>
          </a:p>
        </p:txBody>
      </p:sp>
      <p:sp>
        <p:nvSpPr>
          <p:cNvPr id="349" name="Google Shape;349;p16"/>
          <p:cNvSpPr txBox="1"/>
          <p:nvPr>
            <p:ph idx="1" type="body"/>
          </p:nvPr>
        </p:nvSpPr>
        <p:spPr>
          <a:xfrm>
            <a:off x="474662" y="731837"/>
            <a:ext cx="3427304"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OSPF Type 1 packet is the Hello packet. Hello packets are used to do the following:</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Discover OSPF neighbors and establish neighbor adjacencies.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Advertise parameters on which two routers must agree to become neighbors.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Elect the Designated Router (DR) and Backup Designated Router (BDR) on multiaccess networks like Ethernet. Point-to-point links do not require DR or BDR.</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350" name="Google Shape;350;p16"/>
          <p:cNvPicPr preferRelativeResize="0"/>
          <p:nvPr/>
        </p:nvPicPr>
        <p:blipFill rotWithShape="1">
          <a:blip r:embed="rId3">
            <a:alphaModFix/>
          </a:blip>
          <a:srcRect b="0" l="0" r="0" t="0"/>
          <a:stretch/>
        </p:blipFill>
        <p:spPr>
          <a:xfrm>
            <a:off x="4014020" y="974072"/>
            <a:ext cx="4851455" cy="32054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7"/>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1.3 OSPF Operation</a:t>
            </a:r>
            <a:endParaRPr/>
          </a:p>
        </p:txBody>
      </p: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Video - OSPF Operation</a:t>
            </a:r>
            <a:endParaRPr/>
          </a:p>
        </p:txBody>
      </p:sp>
      <p:sp>
        <p:nvSpPr>
          <p:cNvPr id="363" name="Google Shape;363;p18"/>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This video will cover the 7 states of OSPF operation: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Down state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Init state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Two-way state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ExStart state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Exchange state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Loading state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Full state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OSPF Operational States</a:t>
            </a:r>
            <a:endParaRPr/>
          </a:p>
        </p:txBody>
      </p:sp>
      <p:graphicFrame>
        <p:nvGraphicFramePr>
          <p:cNvPr id="370" name="Google Shape;370;p19"/>
          <p:cNvGraphicFramePr/>
          <p:nvPr/>
        </p:nvGraphicFramePr>
        <p:xfrm>
          <a:off x="506194" y="793199"/>
          <a:ext cx="3000000" cy="3000000"/>
        </p:xfrm>
        <a:graphic>
          <a:graphicData uri="http://schemas.openxmlformats.org/drawingml/2006/table">
            <a:tbl>
              <a:tblPr bandRow="1" firstRow="1">
                <a:noFill/>
                <a:tableStyleId>{80576BDA-39A4-4EB4-9823-0750B80A73DB}</a:tableStyleId>
              </a:tblPr>
              <a:tblGrid>
                <a:gridCol w="1681425"/>
                <a:gridCol w="6598975"/>
              </a:tblGrid>
              <a:tr h="214550">
                <a:tc>
                  <a:txBody>
                    <a:bodyPr/>
                    <a:lstStyle/>
                    <a:p>
                      <a:pPr indent="0" lvl="0" marL="0" marR="0" rtl="0" algn="l">
                        <a:spcBef>
                          <a:spcPts val="0"/>
                        </a:spcBef>
                        <a:spcAft>
                          <a:spcPts val="0"/>
                        </a:spcAft>
                        <a:buNone/>
                      </a:pPr>
                      <a:r>
                        <a:rPr lang="en-US" sz="1100" u="none" cap="none" strike="noStrike"/>
                        <a:t>State</a:t>
                      </a:r>
                      <a:endParaRPr/>
                    </a:p>
                  </a:txBody>
                  <a:tcPr marT="47625" marB="47625" marR="47625" marL="47625" anchor="ctr"/>
                </a:tc>
                <a:tc>
                  <a:txBody>
                    <a:bodyPr/>
                    <a:lstStyle/>
                    <a:p>
                      <a:pPr indent="0" lvl="0" marL="0" marR="0" rtl="0" algn="l">
                        <a:spcBef>
                          <a:spcPts val="0"/>
                        </a:spcBef>
                        <a:spcAft>
                          <a:spcPts val="0"/>
                        </a:spcAft>
                        <a:buNone/>
                      </a:pPr>
                      <a:r>
                        <a:rPr lang="en-US" sz="1100" u="none" cap="none" strike="noStrike"/>
                        <a:t>Description</a:t>
                      </a:r>
                      <a:endParaRPr/>
                    </a:p>
                  </a:txBody>
                  <a:tcPr marT="47625" marB="47625" marR="47625" marL="47625" anchor="ctr"/>
                </a:tc>
              </a:tr>
              <a:tr h="485775">
                <a:tc>
                  <a:txBody>
                    <a:bodyPr/>
                    <a:lstStyle/>
                    <a:p>
                      <a:pPr indent="0" lvl="0" marL="0" marR="0" rtl="0" algn="l">
                        <a:spcBef>
                          <a:spcPts val="0"/>
                        </a:spcBef>
                        <a:spcAft>
                          <a:spcPts val="0"/>
                        </a:spcAft>
                        <a:buNone/>
                      </a:pPr>
                      <a:r>
                        <a:rPr b="1" lang="en-US" sz="1600" u="none" cap="none" strike="noStrike"/>
                        <a:t>Down State</a:t>
                      </a:r>
                      <a:endParaRPr b="0" sz="1600" u="none" cap="none" strike="noStrike"/>
                    </a:p>
                  </a:txBody>
                  <a:tcPr marT="47625" marB="47625" marR="47625" marL="47625" anchor="ctr"/>
                </a:tc>
                <a:tc>
                  <a:txBody>
                    <a:bodyPr/>
                    <a:lstStyle/>
                    <a:p>
                      <a:pPr indent="-101600" lvl="0" marL="0" marR="0" rtl="0" algn="l">
                        <a:spcBef>
                          <a:spcPts val="0"/>
                        </a:spcBef>
                        <a:spcAft>
                          <a:spcPts val="0"/>
                        </a:spcAft>
                        <a:buClr>
                          <a:schemeClr val="dk1"/>
                        </a:buClr>
                        <a:buSzPts val="1600"/>
                        <a:buFont typeface="Arial"/>
                        <a:buChar char="•"/>
                      </a:pPr>
                      <a:r>
                        <a:rPr b="0" lang="en-US" sz="1600" u="none" cap="none" strike="noStrike"/>
                        <a:t>No Hello packets received = Down.</a:t>
                      </a:r>
                      <a:endParaRPr/>
                    </a:p>
                    <a:p>
                      <a:pPr indent="-101600" lvl="0" marL="0" marR="0" rtl="0" algn="l">
                        <a:spcBef>
                          <a:spcPts val="0"/>
                        </a:spcBef>
                        <a:spcAft>
                          <a:spcPts val="0"/>
                        </a:spcAft>
                        <a:buClr>
                          <a:schemeClr val="dk1"/>
                        </a:buClr>
                        <a:buSzPts val="1600"/>
                        <a:buFont typeface="Arial"/>
                        <a:buChar char="•"/>
                      </a:pPr>
                      <a:r>
                        <a:rPr b="0" lang="en-US" sz="1600" u="none" cap="none" strike="noStrike"/>
                        <a:t>Router sends Hello packets.</a:t>
                      </a:r>
                      <a:endParaRPr/>
                    </a:p>
                    <a:p>
                      <a:pPr indent="-101600" lvl="0" marL="0" marR="0" rtl="0" algn="l">
                        <a:spcBef>
                          <a:spcPts val="0"/>
                        </a:spcBef>
                        <a:spcAft>
                          <a:spcPts val="0"/>
                        </a:spcAft>
                        <a:buClr>
                          <a:schemeClr val="dk1"/>
                        </a:buClr>
                        <a:buSzPts val="1600"/>
                        <a:buFont typeface="Arial"/>
                        <a:buChar char="•"/>
                      </a:pPr>
                      <a:r>
                        <a:rPr b="0" lang="en-US" sz="1600" u="none" cap="none" strike="noStrike"/>
                        <a:t>Transition to Init state.</a:t>
                      </a:r>
                      <a:endParaRPr/>
                    </a:p>
                  </a:txBody>
                  <a:tcPr marT="47625" marB="47625" marR="47625" marL="47625" anchor="ctr"/>
                </a:tc>
              </a:tr>
              <a:tr h="485775">
                <a:tc>
                  <a:txBody>
                    <a:bodyPr/>
                    <a:lstStyle/>
                    <a:p>
                      <a:pPr indent="0" lvl="0" marL="0" marR="0" rtl="0" algn="l">
                        <a:spcBef>
                          <a:spcPts val="0"/>
                        </a:spcBef>
                        <a:spcAft>
                          <a:spcPts val="0"/>
                        </a:spcAft>
                        <a:buNone/>
                      </a:pPr>
                      <a:r>
                        <a:rPr b="1" lang="en-US" sz="1600" u="none" cap="none" strike="noStrike"/>
                        <a:t>Init State</a:t>
                      </a:r>
                      <a:endParaRPr b="0" sz="1600" u="none" cap="none" strike="noStrike"/>
                    </a:p>
                  </a:txBody>
                  <a:tcPr marT="47625" marB="47625" marR="47625" marL="47625" anchor="ctr"/>
                </a:tc>
                <a:tc>
                  <a:txBody>
                    <a:bodyPr/>
                    <a:lstStyle/>
                    <a:p>
                      <a:pPr indent="-101600" lvl="0" marL="0" marR="0" rtl="0" algn="l">
                        <a:spcBef>
                          <a:spcPts val="0"/>
                        </a:spcBef>
                        <a:spcAft>
                          <a:spcPts val="0"/>
                        </a:spcAft>
                        <a:buClr>
                          <a:schemeClr val="dk1"/>
                        </a:buClr>
                        <a:buSzPts val="1600"/>
                        <a:buFont typeface="Arial"/>
                        <a:buChar char="•"/>
                      </a:pPr>
                      <a:r>
                        <a:rPr b="0" lang="en-US" sz="1600" u="none" cap="none" strike="noStrike"/>
                        <a:t>Hello packets are received from the neighbor.</a:t>
                      </a:r>
                      <a:endParaRPr/>
                    </a:p>
                    <a:p>
                      <a:pPr indent="-101600" lvl="0" marL="0" marR="0" rtl="0" algn="l">
                        <a:spcBef>
                          <a:spcPts val="0"/>
                        </a:spcBef>
                        <a:spcAft>
                          <a:spcPts val="0"/>
                        </a:spcAft>
                        <a:buClr>
                          <a:schemeClr val="dk1"/>
                        </a:buClr>
                        <a:buSzPts val="1600"/>
                        <a:buFont typeface="Arial"/>
                        <a:buChar char="•"/>
                      </a:pPr>
                      <a:r>
                        <a:rPr b="0" lang="en-US" sz="1600" u="none" cap="none" strike="noStrike"/>
                        <a:t>They contain the Router ID of the sending router.</a:t>
                      </a:r>
                      <a:endParaRPr/>
                    </a:p>
                    <a:p>
                      <a:pPr indent="-101600" lvl="0" marL="0" marR="0" rtl="0" algn="l">
                        <a:spcBef>
                          <a:spcPts val="0"/>
                        </a:spcBef>
                        <a:spcAft>
                          <a:spcPts val="0"/>
                        </a:spcAft>
                        <a:buClr>
                          <a:schemeClr val="dk1"/>
                        </a:buClr>
                        <a:buSzPts val="1600"/>
                        <a:buFont typeface="Arial"/>
                        <a:buChar char="•"/>
                      </a:pPr>
                      <a:r>
                        <a:rPr b="0" lang="en-US" sz="1600" u="none" cap="none" strike="noStrike"/>
                        <a:t>Transition to Two-Way state.</a:t>
                      </a:r>
                      <a:endParaRPr/>
                    </a:p>
                  </a:txBody>
                  <a:tcPr marT="47625" marB="47625" marR="47625" marL="47625" anchor="ctr"/>
                </a:tc>
              </a:tr>
              <a:tr h="485775">
                <a:tc>
                  <a:txBody>
                    <a:bodyPr/>
                    <a:lstStyle/>
                    <a:p>
                      <a:pPr indent="0" lvl="0" marL="0" marR="0" rtl="0" algn="l">
                        <a:spcBef>
                          <a:spcPts val="0"/>
                        </a:spcBef>
                        <a:spcAft>
                          <a:spcPts val="0"/>
                        </a:spcAft>
                        <a:buNone/>
                      </a:pPr>
                      <a:r>
                        <a:rPr b="1" lang="en-US" sz="1600" u="none" cap="none" strike="noStrike"/>
                        <a:t>Two-Way State</a:t>
                      </a:r>
                      <a:endParaRPr b="0" sz="1600" u="none" cap="none" strike="noStrike"/>
                    </a:p>
                  </a:txBody>
                  <a:tcPr marT="47625" marB="47625" marR="47625" marL="47625" anchor="ctr"/>
                </a:tc>
                <a:tc>
                  <a:txBody>
                    <a:bodyPr/>
                    <a:lstStyle/>
                    <a:p>
                      <a:pPr indent="-101600" lvl="0" marL="0" marR="0" rtl="0" algn="l">
                        <a:spcBef>
                          <a:spcPts val="0"/>
                        </a:spcBef>
                        <a:spcAft>
                          <a:spcPts val="0"/>
                        </a:spcAft>
                        <a:buClr>
                          <a:schemeClr val="dk1"/>
                        </a:buClr>
                        <a:buSzPts val="1600"/>
                        <a:buFont typeface="Arial"/>
                        <a:buChar char="•"/>
                      </a:pPr>
                      <a:r>
                        <a:rPr b="0" lang="en-US" sz="1600" u="none" cap="none" strike="noStrike"/>
                        <a:t>In this state, communication between the two routers is bidirectional.</a:t>
                      </a:r>
                      <a:endParaRPr/>
                    </a:p>
                    <a:p>
                      <a:pPr indent="-101600" lvl="0" marL="0" marR="0" rtl="0" algn="l">
                        <a:spcBef>
                          <a:spcPts val="0"/>
                        </a:spcBef>
                        <a:spcAft>
                          <a:spcPts val="0"/>
                        </a:spcAft>
                        <a:buClr>
                          <a:schemeClr val="dk1"/>
                        </a:buClr>
                        <a:buSzPts val="1600"/>
                        <a:buFont typeface="Arial"/>
                        <a:buChar char="•"/>
                      </a:pPr>
                      <a:r>
                        <a:rPr b="0" lang="en-US" sz="1600" u="none" cap="none" strike="noStrike"/>
                        <a:t>On multiaccess links, the routers elect a DR and a BDR.</a:t>
                      </a:r>
                      <a:endParaRPr/>
                    </a:p>
                    <a:p>
                      <a:pPr indent="-101600" lvl="0" marL="0" marR="0" rtl="0" algn="l">
                        <a:spcBef>
                          <a:spcPts val="0"/>
                        </a:spcBef>
                        <a:spcAft>
                          <a:spcPts val="0"/>
                        </a:spcAft>
                        <a:buClr>
                          <a:schemeClr val="dk1"/>
                        </a:buClr>
                        <a:buSzPts val="1600"/>
                        <a:buFont typeface="Arial"/>
                        <a:buChar char="•"/>
                      </a:pPr>
                      <a:r>
                        <a:rPr b="0" lang="en-US" sz="1600" u="none" cap="none" strike="noStrike"/>
                        <a:t>Transition to ExStart state.</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OSPF Operational States (Cont.)</a:t>
            </a:r>
            <a:endParaRPr/>
          </a:p>
        </p:txBody>
      </p:sp>
      <p:graphicFrame>
        <p:nvGraphicFramePr>
          <p:cNvPr id="377" name="Google Shape;377;p20"/>
          <p:cNvGraphicFramePr/>
          <p:nvPr/>
        </p:nvGraphicFramePr>
        <p:xfrm>
          <a:off x="506194" y="793199"/>
          <a:ext cx="3000000" cy="3000000"/>
        </p:xfrm>
        <a:graphic>
          <a:graphicData uri="http://schemas.openxmlformats.org/drawingml/2006/table">
            <a:tbl>
              <a:tblPr bandRow="1" firstRow="1">
                <a:noFill/>
                <a:tableStyleId>{80576BDA-39A4-4EB4-9823-0750B80A73DB}</a:tableStyleId>
              </a:tblPr>
              <a:tblGrid>
                <a:gridCol w="1542525"/>
                <a:gridCol w="6737875"/>
              </a:tblGrid>
              <a:tr h="214550">
                <a:tc>
                  <a:txBody>
                    <a:bodyPr/>
                    <a:lstStyle/>
                    <a:p>
                      <a:pPr indent="0" lvl="0" marL="0" marR="0" rtl="0" algn="l">
                        <a:spcBef>
                          <a:spcPts val="0"/>
                        </a:spcBef>
                        <a:spcAft>
                          <a:spcPts val="0"/>
                        </a:spcAft>
                        <a:buNone/>
                      </a:pPr>
                      <a:r>
                        <a:rPr lang="en-US" sz="1100" u="none" cap="none" strike="noStrike"/>
                        <a:t>State</a:t>
                      </a:r>
                      <a:endParaRPr/>
                    </a:p>
                  </a:txBody>
                  <a:tcPr marT="47625" marB="47625" marR="47625" marL="47625" anchor="ctr"/>
                </a:tc>
                <a:tc>
                  <a:txBody>
                    <a:bodyPr/>
                    <a:lstStyle/>
                    <a:p>
                      <a:pPr indent="0" lvl="0" marL="0" marR="0" rtl="0" algn="l">
                        <a:spcBef>
                          <a:spcPts val="0"/>
                        </a:spcBef>
                        <a:spcAft>
                          <a:spcPts val="0"/>
                        </a:spcAft>
                        <a:buNone/>
                      </a:pPr>
                      <a:r>
                        <a:rPr lang="en-US" sz="1100" u="none" cap="none" strike="noStrike"/>
                        <a:t>Description</a:t>
                      </a:r>
                      <a:endParaRPr/>
                    </a:p>
                  </a:txBody>
                  <a:tcPr marT="47625" marB="47625" marR="47625" marL="47625" anchor="ctr"/>
                </a:tc>
              </a:tr>
              <a:tr h="349625">
                <a:tc>
                  <a:txBody>
                    <a:bodyPr/>
                    <a:lstStyle/>
                    <a:p>
                      <a:pPr indent="0" lvl="0" marL="0" marR="0" rtl="0" algn="l">
                        <a:spcBef>
                          <a:spcPts val="0"/>
                        </a:spcBef>
                        <a:spcAft>
                          <a:spcPts val="0"/>
                        </a:spcAft>
                        <a:buNone/>
                      </a:pPr>
                      <a:r>
                        <a:rPr b="1" lang="en-US" sz="1600" u="none" cap="none" strike="noStrike"/>
                        <a:t>ExStart State</a:t>
                      </a:r>
                      <a:endParaRPr b="0" sz="1600" u="none" cap="none" strike="noStrike"/>
                    </a:p>
                  </a:txBody>
                  <a:tcPr marT="47625" marB="47625" marR="47625" marL="47625" anchor="ctr"/>
                </a:tc>
                <a:tc>
                  <a:txBody>
                    <a:bodyPr/>
                    <a:lstStyle/>
                    <a:p>
                      <a:pPr indent="0" lvl="0" marL="0" marR="0" rtl="0" algn="l">
                        <a:spcBef>
                          <a:spcPts val="0"/>
                        </a:spcBef>
                        <a:spcAft>
                          <a:spcPts val="0"/>
                        </a:spcAft>
                        <a:buNone/>
                      </a:pPr>
                      <a:r>
                        <a:rPr b="0" lang="en-US" sz="1600" u="none" cap="none" strike="noStrike"/>
                        <a:t>On point-to-point networks, the two routers decide which router will initiate the DBD packet exchange and decide upon the initial DBD packet sequence number.</a:t>
                      </a:r>
                      <a:endParaRPr/>
                    </a:p>
                  </a:txBody>
                  <a:tcPr marT="47625" marB="47625" marR="47625" marL="47625" anchor="ctr"/>
                </a:tc>
              </a:tr>
              <a:tr h="467000">
                <a:tc>
                  <a:txBody>
                    <a:bodyPr/>
                    <a:lstStyle/>
                    <a:p>
                      <a:pPr indent="0" lvl="0" marL="0" marR="0" rtl="0" algn="l">
                        <a:spcBef>
                          <a:spcPts val="0"/>
                        </a:spcBef>
                        <a:spcAft>
                          <a:spcPts val="0"/>
                        </a:spcAft>
                        <a:buNone/>
                      </a:pPr>
                      <a:r>
                        <a:rPr b="1" lang="en-US" sz="1600" u="none" cap="none" strike="noStrike"/>
                        <a:t>Exchange State</a:t>
                      </a:r>
                      <a:endParaRPr b="0" sz="1600" u="none" cap="none" strike="noStrike"/>
                    </a:p>
                  </a:txBody>
                  <a:tcPr marT="47625" marB="47625" marR="47625" marL="47625" anchor="ctr"/>
                </a:tc>
                <a:tc>
                  <a:txBody>
                    <a:bodyPr/>
                    <a:lstStyle/>
                    <a:p>
                      <a:pPr indent="-101600" lvl="0" marL="0" marR="0" rtl="0" algn="l">
                        <a:spcBef>
                          <a:spcPts val="0"/>
                        </a:spcBef>
                        <a:spcAft>
                          <a:spcPts val="0"/>
                        </a:spcAft>
                        <a:buClr>
                          <a:schemeClr val="dk1"/>
                        </a:buClr>
                        <a:buSzPts val="1600"/>
                        <a:buFont typeface="Arial"/>
                        <a:buChar char="•"/>
                      </a:pPr>
                      <a:r>
                        <a:rPr b="0" lang="en-US" sz="1600" u="none" cap="none" strike="noStrike"/>
                        <a:t>Routers exchange DBD packets.</a:t>
                      </a:r>
                      <a:endParaRPr/>
                    </a:p>
                    <a:p>
                      <a:pPr indent="-101600" lvl="0" marL="0" marR="0" rtl="0" algn="l">
                        <a:spcBef>
                          <a:spcPts val="0"/>
                        </a:spcBef>
                        <a:spcAft>
                          <a:spcPts val="0"/>
                        </a:spcAft>
                        <a:buClr>
                          <a:schemeClr val="dk1"/>
                        </a:buClr>
                        <a:buSzPts val="1600"/>
                        <a:buFont typeface="Arial"/>
                        <a:buChar char="•"/>
                      </a:pPr>
                      <a:r>
                        <a:rPr b="0" lang="en-US" sz="1600" u="none" cap="none" strike="noStrike"/>
                        <a:t>If additional router information is required then transition to Loading; otherwise, transition to the Full state.</a:t>
                      </a:r>
                      <a:endParaRPr/>
                    </a:p>
                  </a:txBody>
                  <a:tcPr marT="47625" marB="47625" marR="47625" marL="47625" anchor="ctr"/>
                </a:tc>
              </a:tr>
              <a:tr h="485775">
                <a:tc>
                  <a:txBody>
                    <a:bodyPr/>
                    <a:lstStyle/>
                    <a:p>
                      <a:pPr indent="0" lvl="0" marL="0" marR="0" rtl="0" algn="l">
                        <a:spcBef>
                          <a:spcPts val="0"/>
                        </a:spcBef>
                        <a:spcAft>
                          <a:spcPts val="0"/>
                        </a:spcAft>
                        <a:buNone/>
                      </a:pPr>
                      <a:r>
                        <a:rPr b="1" lang="en-US" sz="1600" u="none" cap="none" strike="noStrike"/>
                        <a:t>Loading State</a:t>
                      </a:r>
                      <a:endParaRPr b="0" sz="1600" u="none" cap="none" strike="noStrike"/>
                    </a:p>
                  </a:txBody>
                  <a:tcPr marT="47625" marB="47625" marR="47625" marL="47625" anchor="ctr"/>
                </a:tc>
                <a:tc>
                  <a:txBody>
                    <a:bodyPr/>
                    <a:lstStyle/>
                    <a:p>
                      <a:pPr indent="-101600" lvl="0" marL="0" marR="0" rtl="0" algn="l">
                        <a:spcBef>
                          <a:spcPts val="0"/>
                        </a:spcBef>
                        <a:spcAft>
                          <a:spcPts val="0"/>
                        </a:spcAft>
                        <a:buClr>
                          <a:schemeClr val="dk1"/>
                        </a:buClr>
                        <a:buSzPts val="1600"/>
                        <a:buFont typeface="Arial"/>
                        <a:buChar char="•"/>
                      </a:pPr>
                      <a:r>
                        <a:rPr b="0" lang="en-US" sz="1600" u="none" cap="none" strike="noStrike"/>
                        <a:t>LSRs and LSUs are used to gain additional route information.</a:t>
                      </a:r>
                      <a:endParaRPr/>
                    </a:p>
                    <a:p>
                      <a:pPr indent="-101600" lvl="0" marL="0" marR="0" rtl="0" algn="l">
                        <a:spcBef>
                          <a:spcPts val="0"/>
                        </a:spcBef>
                        <a:spcAft>
                          <a:spcPts val="0"/>
                        </a:spcAft>
                        <a:buClr>
                          <a:schemeClr val="dk1"/>
                        </a:buClr>
                        <a:buSzPts val="1600"/>
                        <a:buFont typeface="Arial"/>
                        <a:buChar char="•"/>
                      </a:pPr>
                      <a:r>
                        <a:rPr b="0" lang="en-US" sz="1600" u="none" cap="none" strike="noStrike"/>
                        <a:t>Routes are processed using the SPF algorithm.</a:t>
                      </a:r>
                      <a:endParaRPr/>
                    </a:p>
                    <a:p>
                      <a:pPr indent="-101600" lvl="0" marL="0" marR="0" rtl="0" algn="l">
                        <a:spcBef>
                          <a:spcPts val="0"/>
                        </a:spcBef>
                        <a:spcAft>
                          <a:spcPts val="0"/>
                        </a:spcAft>
                        <a:buClr>
                          <a:schemeClr val="dk1"/>
                        </a:buClr>
                        <a:buSzPts val="1600"/>
                        <a:buFont typeface="Arial"/>
                        <a:buChar char="•"/>
                      </a:pPr>
                      <a:r>
                        <a:rPr b="0" lang="en-US" sz="1600" u="none" cap="none" strike="noStrike"/>
                        <a:t>Transition to the Full state.</a:t>
                      </a:r>
                      <a:endParaRPr/>
                    </a:p>
                  </a:txBody>
                  <a:tcPr marT="47625" marB="47625" marR="47625" marL="47625" anchor="ctr"/>
                </a:tc>
              </a:tr>
              <a:tr h="214550">
                <a:tc>
                  <a:txBody>
                    <a:bodyPr/>
                    <a:lstStyle/>
                    <a:p>
                      <a:pPr indent="0" lvl="0" marL="0" marR="0" rtl="0" algn="l">
                        <a:spcBef>
                          <a:spcPts val="0"/>
                        </a:spcBef>
                        <a:spcAft>
                          <a:spcPts val="0"/>
                        </a:spcAft>
                        <a:buNone/>
                      </a:pPr>
                      <a:r>
                        <a:rPr b="1" lang="en-US" sz="1600" u="none" cap="none" strike="noStrike"/>
                        <a:t>Full State</a:t>
                      </a:r>
                      <a:endParaRPr b="0" sz="1600" u="none" cap="none" strike="noStrike"/>
                    </a:p>
                  </a:txBody>
                  <a:tcPr marT="47625" marB="47625" marR="47625" marL="47625" anchor="ctr"/>
                </a:tc>
                <a:tc>
                  <a:txBody>
                    <a:bodyPr/>
                    <a:lstStyle/>
                    <a:p>
                      <a:pPr indent="0" lvl="0" marL="0" marR="0" rtl="0" algn="l">
                        <a:spcBef>
                          <a:spcPts val="0"/>
                        </a:spcBef>
                        <a:spcAft>
                          <a:spcPts val="0"/>
                        </a:spcAft>
                        <a:buNone/>
                      </a:pPr>
                      <a:r>
                        <a:rPr b="0" lang="en-US" sz="1600" u="none" cap="none" strike="noStrike"/>
                        <a:t>The link-state database of the router is fully synchronized.</a:t>
                      </a:r>
                      <a:endParaRPr/>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Establish Neighbor Adjacencies</a:t>
            </a:r>
            <a:endParaRPr/>
          </a:p>
        </p:txBody>
      </p:sp>
      <p:sp>
        <p:nvSpPr>
          <p:cNvPr id="384" name="Google Shape;384;p21"/>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To determine if there is an OSPF neighbor on the link, the router sends a Hello packet that contains its router ID out all OSPF-enabled interfaces. The Hello packet is sent to the reserved All OSPF Routers IPv4 multicast address 224.0.0.5. Only OSPFv2 routers will process these packets.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OSPF router ID is used by the OSPF process to uniquely identify each router in the OSPF area. A router ID is a 32-bit number formatted like an IPv4 address and assigned to uniquely identify a router among OSPF peers.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When a neighboring OSPF-enabled router receives a Hello packet with a router ID that is not within its neighbor list, the receiving router attempts to establish an adjacency with the initiating router.</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Establish Neighbor Adjacencies (Cont.)</a:t>
            </a:r>
            <a:endParaRPr/>
          </a:p>
        </p:txBody>
      </p:sp>
      <p:sp>
        <p:nvSpPr>
          <p:cNvPr id="391" name="Google Shape;391;p22"/>
          <p:cNvSpPr/>
          <p:nvPr/>
        </p:nvSpPr>
        <p:spPr>
          <a:xfrm>
            <a:off x="420468" y="731837"/>
            <a:ext cx="719695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58585B"/>
                </a:solidFill>
                <a:latin typeface="Arial"/>
                <a:ea typeface="Arial"/>
                <a:cs typeface="Arial"/>
                <a:sym typeface="Arial"/>
              </a:rPr>
              <a:t>The process routers use to establish adjacency on a multiaccess network:</a:t>
            </a:r>
            <a:endParaRPr sz="1600">
              <a:solidFill>
                <a:schemeClr val="dk1"/>
              </a:solidFill>
              <a:latin typeface="Arial"/>
              <a:ea typeface="Arial"/>
              <a:cs typeface="Arial"/>
              <a:sym typeface="Arial"/>
            </a:endParaRPr>
          </a:p>
        </p:txBody>
      </p:sp>
      <p:graphicFrame>
        <p:nvGraphicFramePr>
          <p:cNvPr id="392" name="Google Shape;392;p22"/>
          <p:cNvGraphicFramePr/>
          <p:nvPr/>
        </p:nvGraphicFramePr>
        <p:xfrm>
          <a:off x="520943" y="1463674"/>
          <a:ext cx="3000000" cy="3000000"/>
        </p:xfrm>
        <a:graphic>
          <a:graphicData uri="http://schemas.openxmlformats.org/drawingml/2006/table">
            <a:tbl>
              <a:tblPr bandRow="1" firstRow="1">
                <a:noFill/>
                <a:tableStyleId>{62E54F93-9537-4CD1-A6C5-D1434CB77EE6}</a:tableStyleId>
              </a:tblPr>
              <a:tblGrid>
                <a:gridCol w="266325"/>
                <a:gridCol w="1813025"/>
                <a:gridCol w="6201050"/>
              </a:tblGrid>
              <a:tr h="370850">
                <a:tc>
                  <a:txBody>
                    <a:bodyPr/>
                    <a:lstStyle/>
                    <a:p>
                      <a:pPr indent="0" lvl="0" marL="0" marR="0" rtl="0" algn="l">
                        <a:spcBef>
                          <a:spcPts val="0"/>
                        </a:spcBef>
                        <a:spcAft>
                          <a:spcPts val="0"/>
                        </a:spcAft>
                        <a:buNone/>
                      </a:pPr>
                      <a:r>
                        <a:rPr b="0" lang="en-US" sz="1200" u="none" cap="none" strike="noStrike"/>
                        <a:t>1</a:t>
                      </a:r>
                      <a:endParaRPr/>
                    </a:p>
                  </a:txBody>
                  <a:tcPr marT="45725" marB="45725" marR="91450" marL="91450"/>
                </a:tc>
                <a:tc>
                  <a:txBody>
                    <a:bodyPr/>
                    <a:lstStyle/>
                    <a:p>
                      <a:pPr indent="0" lvl="0" marL="0" marR="0" rtl="0" algn="l">
                        <a:spcBef>
                          <a:spcPts val="0"/>
                        </a:spcBef>
                        <a:spcAft>
                          <a:spcPts val="0"/>
                        </a:spcAft>
                        <a:buNone/>
                      </a:pPr>
                      <a:r>
                        <a:rPr b="0" lang="en-US" sz="1200"/>
                        <a:t>Down to Init State</a:t>
                      </a:r>
                      <a:endParaRPr/>
                    </a:p>
                  </a:txBody>
                  <a:tcPr marT="45725" marB="45725" marR="91450" marL="91450"/>
                </a:tc>
                <a:tc>
                  <a:txBody>
                    <a:bodyPr/>
                    <a:lstStyle/>
                    <a:p>
                      <a:pPr indent="0" lvl="0" marL="0" marR="0" rtl="0" algn="l">
                        <a:spcBef>
                          <a:spcPts val="0"/>
                        </a:spcBef>
                        <a:spcAft>
                          <a:spcPts val="0"/>
                        </a:spcAft>
                        <a:buNone/>
                      </a:pPr>
                      <a:r>
                        <a:rPr b="0" lang="en-US" sz="1200"/>
                        <a:t>When OSPFv2 is enabled on the interface, R1 transitions from Down to Init and starts sending OSPFv2 Hellos out of the interface in an attempt to discover neighbors.</a:t>
                      </a:r>
                      <a:endParaRPr/>
                    </a:p>
                  </a:txBody>
                  <a:tcPr marT="45725" marB="45725" marR="91450" marL="91450"/>
                </a:tc>
              </a:tr>
              <a:tr h="370850">
                <a:tc>
                  <a:txBody>
                    <a:bodyPr/>
                    <a:lstStyle/>
                    <a:p>
                      <a:pPr indent="0" lvl="0" marL="0" marR="0" rtl="0" algn="l">
                        <a:spcBef>
                          <a:spcPts val="0"/>
                        </a:spcBef>
                        <a:spcAft>
                          <a:spcPts val="0"/>
                        </a:spcAft>
                        <a:buNone/>
                      </a:pPr>
                      <a:r>
                        <a:rPr b="0" lang="en-US" sz="1200"/>
                        <a:t>2</a:t>
                      </a:r>
                      <a:endParaRPr/>
                    </a:p>
                  </a:txBody>
                  <a:tcPr marT="45725" marB="45725" marR="91450" marL="91450"/>
                </a:tc>
                <a:tc>
                  <a:txBody>
                    <a:bodyPr/>
                    <a:lstStyle/>
                    <a:p>
                      <a:pPr indent="0" lvl="0" marL="0" marR="0" rtl="0" algn="l">
                        <a:spcBef>
                          <a:spcPts val="0"/>
                        </a:spcBef>
                        <a:spcAft>
                          <a:spcPts val="0"/>
                        </a:spcAft>
                        <a:buNone/>
                      </a:pPr>
                      <a:r>
                        <a:rPr b="0" lang="en-US" sz="1200"/>
                        <a:t>Init State</a:t>
                      </a:r>
                      <a:endParaRPr/>
                    </a:p>
                  </a:txBody>
                  <a:tcPr marT="45725" marB="45725" marR="91450" marL="91450"/>
                </a:tc>
                <a:tc>
                  <a:txBody>
                    <a:bodyPr/>
                    <a:lstStyle/>
                    <a:p>
                      <a:pPr indent="0" lvl="0" marL="0" marR="0" rtl="0" algn="l">
                        <a:spcBef>
                          <a:spcPts val="0"/>
                        </a:spcBef>
                        <a:spcAft>
                          <a:spcPts val="0"/>
                        </a:spcAft>
                        <a:buNone/>
                      </a:pPr>
                      <a:r>
                        <a:rPr b="0" lang="en-US" sz="1200"/>
                        <a:t>When a R2 receives a hello from the previously unknown router R1, it adds R1’s router ID to the neighbor list and responds with a Hello packet containing its own router ID.</a:t>
                      </a:r>
                      <a:endParaRPr/>
                    </a:p>
                  </a:txBody>
                  <a:tcPr marT="45725" marB="45725" marR="91450" marL="91450"/>
                </a:tc>
              </a:tr>
              <a:tr h="370850">
                <a:tc>
                  <a:txBody>
                    <a:bodyPr/>
                    <a:lstStyle/>
                    <a:p>
                      <a:pPr indent="0" lvl="0" marL="0" marR="0" rtl="0" algn="l">
                        <a:spcBef>
                          <a:spcPts val="0"/>
                        </a:spcBef>
                        <a:spcAft>
                          <a:spcPts val="0"/>
                        </a:spcAft>
                        <a:buNone/>
                      </a:pPr>
                      <a:r>
                        <a:rPr b="0" lang="en-US" sz="1200"/>
                        <a:t>3</a:t>
                      </a:r>
                      <a:endParaRPr/>
                    </a:p>
                  </a:txBody>
                  <a:tcPr marT="45725" marB="45725" marR="91450" marL="91450"/>
                </a:tc>
                <a:tc>
                  <a:txBody>
                    <a:bodyPr/>
                    <a:lstStyle/>
                    <a:p>
                      <a:pPr indent="0" lvl="0" marL="0" marR="0" rtl="0" algn="l">
                        <a:spcBef>
                          <a:spcPts val="0"/>
                        </a:spcBef>
                        <a:spcAft>
                          <a:spcPts val="0"/>
                        </a:spcAft>
                        <a:buNone/>
                      </a:pPr>
                      <a:r>
                        <a:rPr b="0" lang="en-US" sz="1200"/>
                        <a:t>Two-Way State</a:t>
                      </a:r>
                      <a:endParaRPr/>
                    </a:p>
                  </a:txBody>
                  <a:tcPr marT="45725" marB="45725" marR="91450" marL="91450"/>
                </a:tc>
                <a:tc>
                  <a:txBody>
                    <a:bodyPr/>
                    <a:lstStyle/>
                    <a:p>
                      <a:pPr indent="0" lvl="0" marL="0" marR="0" rtl="0" algn="l">
                        <a:spcBef>
                          <a:spcPts val="0"/>
                        </a:spcBef>
                        <a:spcAft>
                          <a:spcPts val="0"/>
                        </a:spcAft>
                        <a:buNone/>
                      </a:pPr>
                      <a:r>
                        <a:rPr b="0" lang="en-US" sz="1200"/>
                        <a:t>R1 receives R2’s hello and notices that the message contains the R1 router ID in the list of R2’s neighbors. R1 adds R2’s router ID to the neighbor list and transitions to the Two-Way State.</a:t>
                      </a:r>
                      <a:endParaRPr/>
                    </a:p>
                    <a:p>
                      <a:pPr indent="0" lvl="0" marL="0" marR="0" rtl="0" algn="l">
                        <a:spcBef>
                          <a:spcPts val="0"/>
                        </a:spcBef>
                        <a:spcAft>
                          <a:spcPts val="0"/>
                        </a:spcAft>
                        <a:buNone/>
                      </a:pPr>
                      <a:r>
                        <a:rPr b="0" lang="en-US" sz="1200"/>
                        <a:t>If R1 and R2 are connected with a point-to-point link, they transition to ExStart</a:t>
                      </a:r>
                      <a:endParaRPr b="0" sz="1200"/>
                    </a:p>
                    <a:p>
                      <a:pPr indent="0" lvl="0" marL="0" marR="0" rtl="0" algn="l">
                        <a:spcBef>
                          <a:spcPts val="0"/>
                        </a:spcBef>
                        <a:spcAft>
                          <a:spcPts val="0"/>
                        </a:spcAft>
                        <a:buNone/>
                      </a:pPr>
                      <a:r>
                        <a:rPr b="0" lang="en-US" sz="1200"/>
                        <a:t>If R1 and R2 are connected over a common Ethernet network, the DR/BDR election occurs.</a:t>
                      </a:r>
                      <a:endParaRPr/>
                    </a:p>
                  </a:txBody>
                  <a:tcPr marT="45725" marB="45725" marR="91450" marL="91450"/>
                </a:tc>
              </a:tr>
              <a:tr h="370850">
                <a:tc>
                  <a:txBody>
                    <a:bodyPr/>
                    <a:lstStyle/>
                    <a:p>
                      <a:pPr indent="0" lvl="0" marL="0" marR="0" rtl="0" algn="l">
                        <a:spcBef>
                          <a:spcPts val="0"/>
                        </a:spcBef>
                        <a:spcAft>
                          <a:spcPts val="0"/>
                        </a:spcAft>
                        <a:buNone/>
                      </a:pPr>
                      <a:r>
                        <a:rPr b="0" lang="en-US" sz="1200"/>
                        <a:t>4</a:t>
                      </a:r>
                      <a:endParaRPr/>
                    </a:p>
                  </a:txBody>
                  <a:tcPr marT="45725" marB="45725" marR="91450" marL="91450"/>
                </a:tc>
                <a:tc>
                  <a:txBody>
                    <a:bodyPr/>
                    <a:lstStyle/>
                    <a:p>
                      <a:pPr indent="0" lvl="0" marL="0" marR="0" rtl="0" algn="l">
                        <a:spcBef>
                          <a:spcPts val="0"/>
                        </a:spcBef>
                        <a:spcAft>
                          <a:spcPts val="0"/>
                        </a:spcAft>
                        <a:buNone/>
                      </a:pPr>
                      <a:r>
                        <a:rPr b="0" lang="en-US" sz="1200"/>
                        <a:t>Elect the DR &amp; BDR</a:t>
                      </a:r>
                      <a:endParaRPr/>
                    </a:p>
                  </a:txBody>
                  <a:tcPr marT="45725" marB="45725" marR="91450" marL="91450"/>
                </a:tc>
                <a:tc>
                  <a:txBody>
                    <a:bodyPr/>
                    <a:lstStyle/>
                    <a:p>
                      <a:pPr indent="0" lvl="0" marL="0" marR="0" rtl="0" algn="l">
                        <a:spcBef>
                          <a:spcPts val="0"/>
                        </a:spcBef>
                        <a:spcAft>
                          <a:spcPts val="0"/>
                        </a:spcAft>
                        <a:buNone/>
                      </a:pPr>
                      <a:r>
                        <a:rPr b="0" lang="en-US" sz="1200"/>
                        <a:t>The DR and BDR election occurs, where the router with the highest router ID or highest priority is elected as the DR, and second highest is the BDR</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Synchronizing OSPF Databases</a:t>
            </a:r>
            <a:endParaRPr/>
          </a:p>
        </p:txBody>
      </p:sp>
      <p:sp>
        <p:nvSpPr>
          <p:cNvPr id="399" name="Google Shape;399;p2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the Two-Way state, routers transition to database synchronization states. This is a three step process, as follows:</a:t>
            </a:r>
            <a:endParaRPr/>
          </a:p>
          <a:p>
            <a:pPr indent="-215900" lvl="1" marL="358775" rtl="0" algn="l">
              <a:lnSpc>
                <a:spcPct val="95000"/>
              </a:lnSpc>
              <a:spcBef>
                <a:spcPts val="600"/>
              </a:spcBef>
              <a:spcAft>
                <a:spcPts val="0"/>
              </a:spcAft>
              <a:buSzPts val="1600"/>
              <a:buChar char="•"/>
            </a:pPr>
            <a:r>
              <a:rPr lang="en-US" sz="1600">
                <a:solidFill>
                  <a:srgbClr val="000000"/>
                </a:solidFill>
              </a:rPr>
              <a:t>Decide first router: The router with the highest router ID sends its DBD first.</a:t>
            </a:r>
            <a:endParaRPr/>
          </a:p>
          <a:p>
            <a:pPr indent="-215900" lvl="1" marL="358775" rtl="0" algn="l">
              <a:lnSpc>
                <a:spcPct val="95000"/>
              </a:lnSpc>
              <a:spcBef>
                <a:spcPts val="600"/>
              </a:spcBef>
              <a:spcAft>
                <a:spcPts val="0"/>
              </a:spcAft>
              <a:buSzPts val="1600"/>
              <a:buChar char="•"/>
            </a:pPr>
            <a:r>
              <a:rPr lang="en-US" sz="1600">
                <a:solidFill>
                  <a:srgbClr val="000000"/>
                </a:solidFill>
              </a:rPr>
              <a:t>Exchange DBDs: As many as needed to convey the database. The other router must acknowledge each DBD with an LSAck packet.</a:t>
            </a:r>
            <a:endParaRPr/>
          </a:p>
          <a:p>
            <a:pPr indent="-215900" lvl="1" marL="358775" rtl="0" algn="l">
              <a:lnSpc>
                <a:spcPct val="95000"/>
              </a:lnSpc>
              <a:spcBef>
                <a:spcPts val="600"/>
              </a:spcBef>
              <a:spcAft>
                <a:spcPts val="0"/>
              </a:spcAft>
              <a:buSzPts val="1600"/>
              <a:buChar char="•"/>
            </a:pPr>
            <a:r>
              <a:rPr lang="en-US" sz="1600">
                <a:solidFill>
                  <a:srgbClr val="000000"/>
                </a:solidFill>
              </a:rPr>
              <a:t>Send an LSR: Each router compares the DBD information with the local LSDB. If the DBD has more current link information, the router transitions to the loading state.</a:t>
            </a:r>
            <a:endParaRPr/>
          </a:p>
          <a:p>
            <a:pPr indent="-114300" lvl="1" marL="358775" rtl="0" algn="l">
              <a:lnSpc>
                <a:spcPct val="95000"/>
              </a:lnSpc>
              <a:spcBef>
                <a:spcPts val="600"/>
              </a:spcBef>
              <a:spcAft>
                <a:spcPts val="0"/>
              </a:spcAft>
              <a:buSzPts val="1600"/>
              <a:buNone/>
            </a:pPr>
            <a:r>
              <a:t/>
            </a:r>
            <a:endParaRPr sz="1600">
              <a:solidFill>
                <a:srgbClr val="000000"/>
              </a:solidFill>
            </a:endParaRPr>
          </a:p>
          <a:p>
            <a:pPr indent="0" lvl="1" marL="142875" rtl="0" algn="l">
              <a:lnSpc>
                <a:spcPct val="95000"/>
              </a:lnSpc>
              <a:spcBef>
                <a:spcPts val="600"/>
              </a:spcBef>
              <a:spcAft>
                <a:spcPts val="0"/>
              </a:spcAft>
              <a:buSzPts val="1600"/>
              <a:buNone/>
            </a:pPr>
            <a:r>
              <a:rPr lang="en-US" sz="1600">
                <a:solidFill>
                  <a:srgbClr val="000000"/>
                </a:solidFill>
              </a:rPr>
              <a:t>After all LSRs have been exchanged and satisfied, the routers are considered synchronized and in a full state. Updates (LSUs) are sent:</a:t>
            </a:r>
            <a:endParaRPr/>
          </a:p>
          <a:p>
            <a:pPr indent="-215900" lvl="1" marL="358775" rtl="0" algn="l">
              <a:lnSpc>
                <a:spcPct val="95000"/>
              </a:lnSpc>
              <a:spcBef>
                <a:spcPts val="600"/>
              </a:spcBef>
              <a:spcAft>
                <a:spcPts val="0"/>
              </a:spcAft>
              <a:buSzPts val="1600"/>
              <a:buChar char="•"/>
            </a:pPr>
            <a:r>
              <a:rPr lang="en-US" sz="1600">
                <a:solidFill>
                  <a:srgbClr val="000000"/>
                </a:solidFill>
              </a:rPr>
              <a:t>When a change is perceived (incremental updates)</a:t>
            </a:r>
            <a:endParaRPr/>
          </a:p>
          <a:p>
            <a:pPr indent="-215900" lvl="1" marL="358775" rtl="0" algn="l">
              <a:lnSpc>
                <a:spcPct val="95000"/>
              </a:lnSpc>
              <a:spcBef>
                <a:spcPts val="600"/>
              </a:spcBef>
              <a:spcAft>
                <a:spcPts val="0"/>
              </a:spcAft>
              <a:buSzPts val="1600"/>
              <a:buChar char="•"/>
            </a:pPr>
            <a:r>
              <a:rPr lang="en-US" sz="1600">
                <a:solidFill>
                  <a:srgbClr val="000000"/>
                </a:solidFill>
              </a:rPr>
              <a:t>Every 30 minutes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The Need for a DR</a:t>
            </a:r>
            <a:endParaRPr/>
          </a:p>
        </p:txBody>
      </p:sp>
      <p:sp>
        <p:nvSpPr>
          <p:cNvPr id="406" name="Google Shape;406;p24"/>
          <p:cNvSpPr txBox="1"/>
          <p:nvPr>
            <p:ph idx="1" type="body"/>
          </p:nvPr>
        </p:nvSpPr>
        <p:spPr>
          <a:xfrm>
            <a:off x="474662" y="731837"/>
            <a:ext cx="4396883"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Multiaccess networks can create two challenges for OSPF regarding the flooding of LSAs, as follows: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Creation of multiple adjacencies</a:t>
            </a:r>
            <a:r>
              <a:rPr lang="en-US" sz="1600">
                <a:solidFill>
                  <a:srgbClr val="000000"/>
                </a:solidFill>
              </a:rPr>
              <a:t> - Ethernet networks could potentially interconnect many OSPF routers over a common link. Creating adjacencies with every router would lead to an excessive number of LSAs exchanged between routers on the same network.</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Extensive flooding of LSAs</a:t>
            </a:r>
            <a:r>
              <a:rPr lang="en-US" sz="1600">
                <a:solidFill>
                  <a:srgbClr val="000000"/>
                </a:solidFill>
              </a:rPr>
              <a:t> - Link-state routers flood their LSAs any time OSPF is initialized, or when there is a change in the topology. This flooding can become excessive.</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407" name="Google Shape;407;p24"/>
          <p:cNvPicPr preferRelativeResize="0"/>
          <p:nvPr/>
        </p:nvPicPr>
        <p:blipFill rotWithShape="1">
          <a:blip r:embed="rId3">
            <a:alphaModFix/>
          </a:blip>
          <a:srcRect b="0" l="0" r="0" t="0"/>
          <a:stretch/>
        </p:blipFill>
        <p:spPr>
          <a:xfrm>
            <a:off x="5025587" y="943248"/>
            <a:ext cx="3790950" cy="3267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OSPF Operation</a:t>
            </a:r>
            <a:br>
              <a:rPr lang="en-US"/>
            </a:br>
            <a:r>
              <a:rPr lang="en-US" sz="2400"/>
              <a:t>LSA Flooding with a DR</a:t>
            </a:r>
            <a:endParaRPr/>
          </a:p>
        </p:txBody>
      </p:sp>
      <p:sp>
        <p:nvSpPr>
          <p:cNvPr id="414" name="Google Shape;414;p2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An increase in the number of routers on a multiaccess network also increases the number of LSAs exchanged between the routers. This flooding of LSAs significantly impacts the operation of OSPF.</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If every router in a multiaccess network had to flood and acknowledge all received LSAs to all other routers on that same multiaccess network, the network traffic would become quite chaotic.</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On multiaccess networks, OSPF elects a DR to be the collection and distribution point for LSAs sent and received. A BDR is also elected in case the DR fails. All other routers become DROTHERs. A DROTHER is a router that is neither the DR nor the BDR.</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Note</a:t>
            </a:r>
            <a:r>
              <a:rPr lang="en-US">
                <a:solidFill>
                  <a:srgbClr val="000000"/>
                </a:solidFill>
              </a:rPr>
              <a:t>: The DR is only used for the dissemination of LSAs. The router will still use the best next-hop router indicated in the routing table for the forwarding of all other packets.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6"/>
          <p:cNvSpPr txBox="1"/>
          <p:nvPr>
            <p:ph type="ctrTitle"/>
          </p:nvPr>
        </p:nvSpPr>
        <p:spPr>
          <a:xfrm>
            <a:off x="416425" y="1747520"/>
            <a:ext cx="8280314" cy="97028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1.4 Module Practice and Quiz</a:t>
            </a:r>
            <a:endParaRPr/>
          </a:p>
        </p:txBody>
      </p:sp>
    </p:spTree>
  </p:cSld>
  <p:clrMapOvr>
    <a:masterClrMapping/>
  </p:clrMapOvr>
  <p:transition spd="slow">
    <p:wipe dir="l"/>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7"/>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27" name="Google Shape;427;p27"/>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Open Shortest Path First (OSPF) is a link-state routing protocol that was developed as an alternative for the distance vector Routing Information Protocol (RIP). </a:t>
            </a:r>
            <a:endParaRPr/>
          </a:p>
          <a:p>
            <a:pPr indent="-169863" lvl="0" marL="169863" rtl="0" algn="l">
              <a:lnSpc>
                <a:spcPct val="100000"/>
              </a:lnSpc>
              <a:spcBef>
                <a:spcPts val="0"/>
              </a:spcBef>
              <a:spcAft>
                <a:spcPts val="0"/>
              </a:spcAft>
              <a:buSzPts val="1350"/>
              <a:buFont typeface="Arial"/>
              <a:buChar char="•"/>
            </a:pPr>
            <a:r>
              <a:rPr lang="en-US"/>
              <a:t>OSPF is a link-state routing protocol that uses the concept of areas for scalability. </a:t>
            </a:r>
            <a:endParaRPr/>
          </a:p>
          <a:p>
            <a:pPr indent="-169863" lvl="0" marL="169863" rtl="0" algn="l">
              <a:lnSpc>
                <a:spcPct val="100000"/>
              </a:lnSpc>
              <a:spcBef>
                <a:spcPts val="0"/>
              </a:spcBef>
              <a:spcAft>
                <a:spcPts val="0"/>
              </a:spcAft>
              <a:buSzPts val="1350"/>
              <a:buFont typeface="Arial"/>
              <a:buChar char="•"/>
            </a:pPr>
            <a:r>
              <a:rPr lang="en-US"/>
              <a:t>A link is an interface on a router. A link is also a network segment that connects two routers, or a stub network such as an Ethernet LAN that is connected to a single router. </a:t>
            </a:r>
            <a:endParaRPr/>
          </a:p>
          <a:p>
            <a:pPr indent="-169863" lvl="0" marL="169863" rtl="0" algn="l">
              <a:lnSpc>
                <a:spcPct val="100000"/>
              </a:lnSpc>
              <a:spcBef>
                <a:spcPts val="0"/>
              </a:spcBef>
              <a:spcAft>
                <a:spcPts val="0"/>
              </a:spcAft>
              <a:buSzPts val="1350"/>
              <a:buFont typeface="Arial"/>
              <a:buChar char="•"/>
            </a:pPr>
            <a:r>
              <a:rPr lang="en-US"/>
              <a:t>All link-state information includes the network prefix, prefix length, and cost. </a:t>
            </a:r>
            <a:endParaRPr/>
          </a:p>
          <a:p>
            <a:pPr indent="-169863" lvl="0" marL="169863" rtl="0" algn="l">
              <a:lnSpc>
                <a:spcPct val="100000"/>
              </a:lnSpc>
              <a:spcBef>
                <a:spcPts val="0"/>
              </a:spcBef>
              <a:spcAft>
                <a:spcPts val="0"/>
              </a:spcAft>
              <a:buSzPts val="1350"/>
              <a:buFont typeface="Arial"/>
              <a:buChar char="•"/>
            </a:pPr>
            <a:r>
              <a:rPr lang="en-US"/>
              <a:t>All routing protocols use routing protocol messages to exchange route information. The messages help build data structures, which are then processed using a routing algorithm. </a:t>
            </a:r>
            <a:endParaRPr/>
          </a:p>
          <a:p>
            <a:pPr indent="-169863" lvl="0" marL="169863" rtl="0" algn="l">
              <a:lnSpc>
                <a:spcPct val="100000"/>
              </a:lnSpc>
              <a:spcBef>
                <a:spcPts val="0"/>
              </a:spcBef>
              <a:spcAft>
                <a:spcPts val="0"/>
              </a:spcAft>
              <a:buSzPts val="1350"/>
              <a:buFont typeface="Arial"/>
              <a:buChar char="•"/>
            </a:pPr>
            <a:r>
              <a:rPr lang="en-US"/>
              <a:t>Routers running OSPF exchange messages to convey routing information using five types of packets: the Hello packet, the database description packet, the link-state request packet, the link-state update packet, and the link-state acknowledgment packet. </a:t>
            </a:r>
            <a:endParaRPr/>
          </a:p>
          <a:p>
            <a:pPr indent="-169863" lvl="0" marL="169863" rtl="0" algn="l">
              <a:lnSpc>
                <a:spcPct val="100000"/>
              </a:lnSpc>
              <a:spcBef>
                <a:spcPts val="0"/>
              </a:spcBef>
              <a:spcAft>
                <a:spcPts val="0"/>
              </a:spcAft>
              <a:buSzPts val="1350"/>
              <a:buFont typeface="Arial"/>
              <a:buChar char="•"/>
            </a:pPr>
            <a:r>
              <a:rPr lang="en-US"/>
              <a:t>OSPF messages are used to create and maintain three OSPF databases: the adjacency database creates the neighbor table, the link-state database (LSDB) creates the topology table, and the forwarding database creates the routing table. </a:t>
            </a:r>
            <a:endParaRPr/>
          </a:p>
          <a:p>
            <a:pPr indent="-169863" lvl="0" marL="169863" rtl="0" algn="l">
              <a:lnSpc>
                <a:spcPct val="100000"/>
              </a:lnSpc>
              <a:spcBef>
                <a:spcPts val="0"/>
              </a:spcBef>
              <a:spcAft>
                <a:spcPts val="0"/>
              </a:spcAft>
              <a:buSzPts val="1350"/>
              <a:buFont typeface="Arial"/>
              <a:buChar char="•"/>
            </a:pPr>
            <a:r>
              <a:rPr lang="en-US"/>
              <a:t>The router builds the topology table using results of calculations based on the Dijkstra SPF (shortest-path first) algorithm. The SPF algorithm is based on the cumulative cost to reach a destination. In OSPF, cost is used to determine the best path to the destination. </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8"/>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34" name="Google Shape;434;p28"/>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To maintain routing information, OSPF routers complete a generic link-state routing process to reach a state of convergence: Establish Neighbor Adjacencies, Exchange Link-State Advertisements, Build the Link State Database, Execute the SPF Algorithm, Choose the Best Route</a:t>
            </a:r>
            <a:endParaRPr/>
          </a:p>
          <a:p>
            <a:pPr indent="-169863" lvl="0" marL="169863" rtl="0" algn="l">
              <a:lnSpc>
                <a:spcPct val="100000"/>
              </a:lnSpc>
              <a:spcBef>
                <a:spcPts val="0"/>
              </a:spcBef>
              <a:spcAft>
                <a:spcPts val="0"/>
              </a:spcAft>
              <a:buSzPts val="1350"/>
              <a:buFont typeface="Arial"/>
              <a:buChar char="•"/>
            </a:pPr>
            <a:r>
              <a:rPr lang="en-US"/>
              <a:t>With single-area OSPF any number can be used for the area, best practice is to use area 0. </a:t>
            </a:r>
            <a:endParaRPr/>
          </a:p>
          <a:p>
            <a:pPr indent="-169863" lvl="0" marL="169863" rtl="0" algn="l">
              <a:lnSpc>
                <a:spcPct val="100000"/>
              </a:lnSpc>
              <a:spcBef>
                <a:spcPts val="0"/>
              </a:spcBef>
              <a:spcAft>
                <a:spcPts val="0"/>
              </a:spcAft>
              <a:buSzPts val="1350"/>
              <a:buFont typeface="Arial"/>
              <a:buChar char="•"/>
            </a:pPr>
            <a:r>
              <a:rPr lang="en-US"/>
              <a:t>Single-area OSPF is useful in smaller networks with few routers. </a:t>
            </a:r>
            <a:endParaRPr/>
          </a:p>
          <a:p>
            <a:pPr indent="-169863" lvl="0" marL="169863" rtl="0" algn="l">
              <a:lnSpc>
                <a:spcPct val="100000"/>
              </a:lnSpc>
              <a:spcBef>
                <a:spcPts val="0"/>
              </a:spcBef>
              <a:spcAft>
                <a:spcPts val="0"/>
              </a:spcAft>
              <a:buSzPts val="1350"/>
              <a:buFont typeface="Arial"/>
              <a:buChar char="•"/>
            </a:pPr>
            <a:r>
              <a:rPr lang="en-US"/>
              <a:t>With multiarea OSPF, one large routing domain can be divided into smaller areas, to support hierarchical routing. Routing still occurs between the areas (interarea routing), while many of the processor intensive routing operations, such as recalculating the database, are kept within an area. </a:t>
            </a:r>
            <a:endParaRPr/>
          </a:p>
          <a:p>
            <a:pPr indent="-169863" lvl="0" marL="169863" rtl="0" algn="l">
              <a:lnSpc>
                <a:spcPct val="100000"/>
              </a:lnSpc>
              <a:spcBef>
                <a:spcPts val="0"/>
              </a:spcBef>
              <a:spcAft>
                <a:spcPts val="0"/>
              </a:spcAft>
              <a:buSzPts val="1350"/>
              <a:buFont typeface="Arial"/>
              <a:buChar char="•"/>
            </a:pPr>
            <a:r>
              <a:rPr lang="en-US"/>
              <a:t>OSPFv3 is the OSPFv2 equivalent for exchanging IPv6 prefixes. Recall that in IPv6, the network address is referred to as the prefix and the subnet mask is called the prefix-length.</a:t>
            </a:r>
            <a:endParaRPr/>
          </a:p>
          <a:p>
            <a:pPr indent="-169863" lvl="0" marL="169863" rtl="0" algn="l">
              <a:lnSpc>
                <a:spcPct val="100000"/>
              </a:lnSpc>
              <a:spcBef>
                <a:spcPts val="0"/>
              </a:spcBef>
              <a:spcAft>
                <a:spcPts val="0"/>
              </a:spcAft>
              <a:buSzPts val="1350"/>
              <a:buFont typeface="Arial"/>
              <a:buChar char="•"/>
            </a:pPr>
            <a:r>
              <a:rPr lang="en-US"/>
              <a:t>OSPF uses the following link-state packets (LSPs) to establish and maintain neighbor adjacencies and exchange routing updates: 1 Hello, 2 DBD, 3 LSR, 4 LSU, and 5 LSAck. </a:t>
            </a:r>
            <a:endParaRPr/>
          </a:p>
          <a:p>
            <a:pPr indent="-169863" lvl="0" marL="169863" rtl="0" algn="l">
              <a:lnSpc>
                <a:spcPct val="100000"/>
              </a:lnSpc>
              <a:spcBef>
                <a:spcPts val="0"/>
              </a:spcBef>
              <a:spcAft>
                <a:spcPts val="0"/>
              </a:spcAft>
              <a:buSzPts val="1350"/>
              <a:buFont typeface="Arial"/>
              <a:buChar char="•"/>
            </a:pPr>
            <a:r>
              <a:rPr lang="en-US"/>
              <a:t>LSUs are also used to forward OSPF routing updates, such as link changes. </a:t>
            </a:r>
            <a:endParaRPr/>
          </a:p>
          <a:p>
            <a:pPr indent="-169863" lvl="0" marL="169863" rtl="0" algn="l">
              <a:lnSpc>
                <a:spcPct val="100000"/>
              </a:lnSpc>
              <a:spcBef>
                <a:spcPts val="0"/>
              </a:spcBef>
              <a:spcAft>
                <a:spcPts val="0"/>
              </a:spcAft>
              <a:buSzPts val="1350"/>
              <a:buFont typeface="Arial"/>
              <a:buChar char="•"/>
            </a:pPr>
            <a:r>
              <a:rPr lang="en-US"/>
              <a:t>Hello packets are used to: Discover OSPF neighbors and establish neighbor adjacencies, Advertise parameters on which two routers must agree to become neighbors, and Elect the Designated Router (DR) and Backup Designated Router (BDR) on multiaccess networks like Ethernet. Point-to-point links do not require DR or BDR.</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9"/>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41" name="Google Shape;441;p29"/>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Some important fields in the Hello packet are type, router ID, area ID, network mask, hello interval, router priority, dead interval, DR, BDR and list of neighbors.</a:t>
            </a:r>
            <a:endParaRPr/>
          </a:p>
          <a:p>
            <a:pPr indent="-169863" lvl="0" marL="169863" rtl="0" algn="l">
              <a:lnSpc>
                <a:spcPct val="100000"/>
              </a:lnSpc>
              <a:spcBef>
                <a:spcPts val="0"/>
              </a:spcBef>
              <a:spcAft>
                <a:spcPts val="0"/>
              </a:spcAft>
              <a:buSzPts val="1350"/>
              <a:buFont typeface="Arial"/>
              <a:buChar char="•"/>
            </a:pPr>
            <a:r>
              <a:rPr lang="en-US"/>
              <a:t>The states that OSPF progresses through to do reach convergence are down state, init state, two-way state, ExStart state, Exchange state, loading state, and full state. </a:t>
            </a:r>
            <a:endParaRPr/>
          </a:p>
          <a:p>
            <a:pPr indent="-169863" lvl="0" marL="169863" rtl="0" algn="l">
              <a:lnSpc>
                <a:spcPct val="100000"/>
              </a:lnSpc>
              <a:spcBef>
                <a:spcPts val="0"/>
              </a:spcBef>
              <a:spcAft>
                <a:spcPts val="0"/>
              </a:spcAft>
              <a:buSzPts val="1350"/>
              <a:buFont typeface="Arial"/>
              <a:buChar char="•"/>
            </a:pPr>
            <a:r>
              <a:rPr lang="en-US"/>
              <a:t>When OSPF is enabled on an interface, the router must determine if there is another OSPF neighbor on the link by sending a Hello packet that contains its router ID out all OSPF-enabled interfaces. </a:t>
            </a:r>
            <a:endParaRPr/>
          </a:p>
          <a:p>
            <a:pPr indent="-169863" lvl="0" marL="169863" rtl="0" algn="l">
              <a:lnSpc>
                <a:spcPct val="100000"/>
              </a:lnSpc>
              <a:spcBef>
                <a:spcPts val="0"/>
              </a:spcBef>
              <a:spcAft>
                <a:spcPts val="0"/>
              </a:spcAft>
              <a:buSzPts val="1350"/>
              <a:buFont typeface="Arial"/>
              <a:buChar char="•"/>
            </a:pPr>
            <a:r>
              <a:rPr lang="en-US"/>
              <a:t>The Hello packet is sent to the reserved All OSPF Routers IPv4 multicast address 224.0.0.5. Only OSPFv2 routers will process these packets. </a:t>
            </a:r>
            <a:endParaRPr/>
          </a:p>
          <a:p>
            <a:pPr indent="-169863" lvl="0" marL="169863" rtl="0" algn="l">
              <a:lnSpc>
                <a:spcPct val="100000"/>
              </a:lnSpc>
              <a:spcBef>
                <a:spcPts val="0"/>
              </a:spcBef>
              <a:spcAft>
                <a:spcPts val="0"/>
              </a:spcAft>
              <a:buSzPts val="1350"/>
              <a:buFont typeface="Arial"/>
              <a:buChar char="•"/>
            </a:pPr>
            <a:r>
              <a:rPr lang="en-US"/>
              <a:t>When a neighboring OSPF-enabled router receives a Hello packet with a router ID that is not within its neighbor list, the receiving router attempts to establish an adjacency with the initiating router. </a:t>
            </a:r>
            <a:endParaRPr/>
          </a:p>
          <a:p>
            <a:pPr indent="-169863" lvl="0" marL="169863" rtl="0" algn="l">
              <a:lnSpc>
                <a:spcPct val="100000"/>
              </a:lnSpc>
              <a:spcBef>
                <a:spcPts val="0"/>
              </a:spcBef>
              <a:spcAft>
                <a:spcPts val="0"/>
              </a:spcAft>
              <a:buSzPts val="1350"/>
              <a:buFont typeface="Arial"/>
              <a:buChar char="•"/>
            </a:pPr>
            <a:r>
              <a:rPr lang="en-US"/>
              <a:t>After the Two-Way state, routers transition to database synchronization states, which is a three step process:</a:t>
            </a:r>
            <a:endParaRPr/>
          </a:p>
          <a:p>
            <a:pPr indent="-169863" lvl="0" marL="169863" rtl="0" algn="l">
              <a:lnSpc>
                <a:spcPct val="100000"/>
              </a:lnSpc>
              <a:spcBef>
                <a:spcPts val="0"/>
              </a:spcBef>
              <a:spcAft>
                <a:spcPts val="0"/>
              </a:spcAft>
              <a:buSzPts val="1350"/>
              <a:buFont typeface="Arial"/>
              <a:buChar char="•"/>
            </a:pPr>
            <a:r>
              <a:rPr lang="en-US"/>
              <a:t>Multiaccess networks can create two challenges for OSPF regarding the flooding of LSAs: the creation of multiple adjacencies and extensive flooding of LSAs. </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0"/>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448" name="Google Shape;448;p30"/>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A dramatic increase in the number of routers also dramatically increases the number of LSAs exchanged between the routers. </a:t>
            </a:r>
            <a:endParaRPr/>
          </a:p>
          <a:p>
            <a:pPr indent="-169863" lvl="0" marL="169863" rtl="0" algn="l">
              <a:lnSpc>
                <a:spcPct val="100000"/>
              </a:lnSpc>
              <a:spcBef>
                <a:spcPts val="0"/>
              </a:spcBef>
              <a:spcAft>
                <a:spcPts val="0"/>
              </a:spcAft>
              <a:buSzPts val="1350"/>
              <a:buFont typeface="Arial"/>
              <a:buChar char="•"/>
            </a:pPr>
            <a:r>
              <a:rPr lang="en-US"/>
              <a:t>This flooding of LSAs significantly impact the operation of OSPF. If every router in a multiaccess network had to flood and acknowledge all received LSAs to all other routers on that same multiaccess network, the network traffic would become quite chaotic. This is why DR and BDR election is necessary. </a:t>
            </a:r>
            <a:endParaRPr/>
          </a:p>
          <a:p>
            <a:pPr indent="-169863" lvl="0" marL="169863" rtl="0" algn="l">
              <a:lnSpc>
                <a:spcPct val="100000"/>
              </a:lnSpc>
              <a:spcBef>
                <a:spcPts val="0"/>
              </a:spcBef>
              <a:spcAft>
                <a:spcPts val="0"/>
              </a:spcAft>
              <a:buSzPts val="1350"/>
              <a:buFont typeface="Arial"/>
              <a:buChar char="•"/>
            </a:pPr>
            <a:r>
              <a:rPr lang="en-US"/>
              <a:t>On multiaccess networks, OSPF elects a DR to be the collection and distribution point for LSAs sent and received. A BDR is also elected in case the DR fails.</a:t>
            </a:r>
            <a:endParaRPr/>
          </a:p>
          <a:p>
            <a:pPr indent="-84138" lvl="0" marL="169863" rtl="0" algn="l">
              <a:lnSpc>
                <a:spcPct val="100000"/>
              </a:lnSpc>
              <a:spcBef>
                <a:spcPts val="0"/>
              </a:spcBef>
              <a:spcAft>
                <a:spcPts val="0"/>
              </a:spcAft>
              <a:buSzPts val="1350"/>
              <a:buNone/>
            </a:pPr>
            <a:r>
              <a:t/>
            </a:r>
            <a:endParaRPr/>
          </a:p>
          <a:p>
            <a:pPr indent="-84138" lvl="0" marL="169863" rtl="0" algn="l">
              <a:lnSpc>
                <a:spcPct val="100000"/>
              </a:lnSpc>
              <a:spcBef>
                <a:spcPts val="0"/>
              </a:spcBef>
              <a:spcAft>
                <a:spcPts val="0"/>
              </a:spcAft>
              <a:buSzPts val="1350"/>
              <a:buNone/>
            </a:pPr>
            <a:r>
              <a:t/>
            </a:r>
            <a:endParaRPr/>
          </a:p>
        </p:txBody>
      </p:sp>
    </p:spTree>
  </p:cSld>
  <p:clrMapOvr>
    <a:masterClrMapping/>
  </p:clrMapOvr>
  <p:transition spd="slow">
    <p:wipe dir="l"/>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3" name="Shape 453"/>
        <p:cNvGrpSpPr/>
        <p:nvPr/>
      </p:nvGrpSpPr>
      <p:grpSpPr>
        <a:xfrm>
          <a:off x="0" y="0"/>
          <a:ext cx="0" cy="0"/>
          <a:chOff x="0" y="0"/>
          <a:chExt cx="0" cy="0"/>
        </a:xfrm>
      </p:grpSpPr>
      <p:sp>
        <p:nvSpPr>
          <p:cNvPr id="454" name="Google Shape;454;p31"/>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1: Single-Area OSPFv2 Concepts</a:t>
            </a:r>
            <a:br>
              <a:rPr lang="en-US">
                <a:latin typeface="Arial"/>
                <a:ea typeface="Arial"/>
                <a:cs typeface="Arial"/>
                <a:sym typeface="Arial"/>
              </a:rPr>
            </a:br>
            <a:r>
              <a:rPr lang="en-US">
                <a:latin typeface="Arial"/>
                <a:ea typeface="Arial"/>
                <a:cs typeface="Arial"/>
                <a:sym typeface="Arial"/>
              </a:rPr>
              <a:t>New Terms and Commands</a:t>
            </a:r>
            <a:endParaRPr/>
          </a:p>
        </p:txBody>
      </p:sp>
      <p:sp>
        <p:nvSpPr>
          <p:cNvPr id="455" name="Google Shape;455;p31"/>
          <p:cNvSpPr txBox="1"/>
          <p:nvPr>
            <p:ph idx="1" type="body"/>
          </p:nvPr>
        </p:nvSpPr>
        <p:spPr>
          <a:xfrm>
            <a:off x="144065" y="798944"/>
            <a:ext cx="4128390"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350"/>
              <a:buFont typeface="Arial"/>
              <a:buChar char="•"/>
            </a:pPr>
            <a:r>
              <a:rPr lang="en-US"/>
              <a:t>single-area OSPFv2</a:t>
            </a:r>
            <a:endParaRPr/>
          </a:p>
          <a:p>
            <a:pPr indent="-169863" lvl="0" marL="169863" rtl="0" algn="l">
              <a:lnSpc>
                <a:spcPct val="100000"/>
              </a:lnSpc>
              <a:spcBef>
                <a:spcPts val="0"/>
              </a:spcBef>
              <a:spcAft>
                <a:spcPts val="0"/>
              </a:spcAft>
              <a:buSzPts val="1350"/>
              <a:buFont typeface="Arial"/>
              <a:buChar char="•"/>
            </a:pPr>
            <a:r>
              <a:rPr lang="en-US"/>
              <a:t>multiarea OSPF</a:t>
            </a:r>
            <a:endParaRPr/>
          </a:p>
          <a:p>
            <a:pPr indent="-169863" lvl="0" marL="169863" rtl="0" algn="l">
              <a:lnSpc>
                <a:spcPct val="100000"/>
              </a:lnSpc>
              <a:spcBef>
                <a:spcPts val="0"/>
              </a:spcBef>
              <a:spcAft>
                <a:spcPts val="0"/>
              </a:spcAft>
              <a:buSzPts val="1350"/>
              <a:buFont typeface="Arial"/>
              <a:buChar char="•"/>
            </a:pPr>
            <a:r>
              <a:rPr lang="en-US"/>
              <a:t>OSPFv3</a:t>
            </a:r>
            <a:endParaRPr/>
          </a:p>
          <a:p>
            <a:pPr indent="-169863" lvl="0" marL="169863" rtl="0" algn="l">
              <a:lnSpc>
                <a:spcPct val="100000"/>
              </a:lnSpc>
              <a:spcBef>
                <a:spcPts val="0"/>
              </a:spcBef>
              <a:spcAft>
                <a:spcPts val="0"/>
              </a:spcAft>
              <a:buSzPts val="1350"/>
              <a:buFont typeface="Arial"/>
              <a:buChar char="•"/>
            </a:pPr>
            <a:r>
              <a:rPr lang="en-US"/>
              <a:t>link-state routing protocol</a:t>
            </a:r>
            <a:endParaRPr/>
          </a:p>
          <a:p>
            <a:pPr indent="-169863" lvl="0" marL="169863" rtl="0" algn="l">
              <a:lnSpc>
                <a:spcPct val="100000"/>
              </a:lnSpc>
              <a:spcBef>
                <a:spcPts val="0"/>
              </a:spcBef>
              <a:spcAft>
                <a:spcPts val="0"/>
              </a:spcAft>
              <a:buSzPts val="1350"/>
              <a:buFont typeface="Arial"/>
              <a:buChar char="•"/>
            </a:pPr>
            <a:r>
              <a:rPr lang="en-US"/>
              <a:t>distance vector routing protocol</a:t>
            </a:r>
            <a:endParaRPr/>
          </a:p>
          <a:p>
            <a:pPr indent="-169863" lvl="0" marL="169863" rtl="0" algn="l">
              <a:lnSpc>
                <a:spcPct val="100000"/>
              </a:lnSpc>
              <a:spcBef>
                <a:spcPts val="0"/>
              </a:spcBef>
              <a:spcAft>
                <a:spcPts val="0"/>
              </a:spcAft>
              <a:buSzPts val="1350"/>
              <a:buFont typeface="Arial"/>
              <a:buChar char="•"/>
            </a:pPr>
            <a:r>
              <a:rPr lang="en-US"/>
              <a:t>hello packet</a:t>
            </a:r>
            <a:endParaRPr/>
          </a:p>
          <a:p>
            <a:pPr indent="-169863" lvl="0" marL="169863" rtl="0" algn="l">
              <a:lnSpc>
                <a:spcPct val="100000"/>
              </a:lnSpc>
              <a:spcBef>
                <a:spcPts val="0"/>
              </a:spcBef>
              <a:spcAft>
                <a:spcPts val="0"/>
              </a:spcAft>
              <a:buSzPts val="1350"/>
              <a:buFont typeface="Arial"/>
              <a:buChar char="•"/>
            </a:pPr>
            <a:r>
              <a:rPr lang="en-US"/>
              <a:t>database descriptor packet (DBD)</a:t>
            </a:r>
            <a:endParaRPr/>
          </a:p>
          <a:p>
            <a:pPr indent="-169863" lvl="0" marL="169863" rtl="0" algn="l">
              <a:lnSpc>
                <a:spcPct val="100000"/>
              </a:lnSpc>
              <a:spcBef>
                <a:spcPts val="0"/>
              </a:spcBef>
              <a:spcAft>
                <a:spcPts val="0"/>
              </a:spcAft>
              <a:buSzPts val="1350"/>
              <a:buFont typeface="Arial"/>
              <a:buChar char="•"/>
            </a:pPr>
            <a:r>
              <a:rPr lang="en-US"/>
              <a:t>link-state request packet (LSR)</a:t>
            </a:r>
            <a:endParaRPr/>
          </a:p>
          <a:p>
            <a:pPr indent="-169863" lvl="0" marL="169863" rtl="0" algn="l">
              <a:lnSpc>
                <a:spcPct val="100000"/>
              </a:lnSpc>
              <a:spcBef>
                <a:spcPts val="0"/>
              </a:spcBef>
              <a:spcAft>
                <a:spcPts val="0"/>
              </a:spcAft>
              <a:buSzPts val="1350"/>
              <a:buFont typeface="Arial"/>
              <a:buChar char="•"/>
            </a:pPr>
            <a:r>
              <a:rPr lang="en-US"/>
              <a:t>link-state update packet (LSU)</a:t>
            </a:r>
            <a:endParaRPr/>
          </a:p>
          <a:p>
            <a:pPr indent="-169863" lvl="0" marL="169863" rtl="0" algn="l">
              <a:lnSpc>
                <a:spcPct val="100000"/>
              </a:lnSpc>
              <a:spcBef>
                <a:spcPts val="0"/>
              </a:spcBef>
              <a:spcAft>
                <a:spcPts val="0"/>
              </a:spcAft>
              <a:buSzPts val="1350"/>
              <a:buFont typeface="Arial"/>
              <a:buChar char="•"/>
            </a:pPr>
            <a:r>
              <a:rPr lang="en-US"/>
              <a:t>link-state acknowledgment packet (LSAck)</a:t>
            </a:r>
            <a:endParaRPr/>
          </a:p>
          <a:p>
            <a:pPr indent="-169863" lvl="0" marL="169863" rtl="0" algn="l">
              <a:lnSpc>
                <a:spcPct val="100000"/>
              </a:lnSpc>
              <a:spcBef>
                <a:spcPts val="0"/>
              </a:spcBef>
              <a:spcAft>
                <a:spcPts val="0"/>
              </a:spcAft>
              <a:buSzPts val="1350"/>
              <a:buFont typeface="Arial"/>
              <a:buChar char="•"/>
            </a:pPr>
            <a:r>
              <a:rPr lang="en-US"/>
              <a:t>link-state database</a:t>
            </a:r>
            <a:endParaRPr/>
          </a:p>
          <a:p>
            <a:pPr indent="-169863" lvl="0" marL="169863" rtl="0" algn="l">
              <a:lnSpc>
                <a:spcPct val="100000"/>
              </a:lnSpc>
              <a:spcBef>
                <a:spcPts val="0"/>
              </a:spcBef>
              <a:spcAft>
                <a:spcPts val="0"/>
              </a:spcAft>
              <a:buSzPts val="1350"/>
              <a:buFont typeface="Arial"/>
              <a:buChar char="•"/>
            </a:pPr>
            <a:r>
              <a:rPr lang="en-US"/>
              <a:t>adjacency database</a:t>
            </a:r>
            <a:endParaRPr/>
          </a:p>
          <a:p>
            <a:pPr indent="-169863" lvl="0" marL="169863" rtl="0" algn="l">
              <a:lnSpc>
                <a:spcPct val="100000"/>
              </a:lnSpc>
              <a:spcBef>
                <a:spcPts val="0"/>
              </a:spcBef>
              <a:spcAft>
                <a:spcPts val="0"/>
              </a:spcAft>
              <a:buSzPts val="1350"/>
              <a:buFont typeface="Arial"/>
              <a:buChar char="•"/>
            </a:pPr>
            <a:r>
              <a:rPr lang="en-US"/>
              <a:t>forwarding database</a:t>
            </a:r>
            <a:endParaRPr/>
          </a:p>
          <a:p>
            <a:pPr indent="-169863" lvl="0" marL="169863" rtl="0" algn="l">
              <a:lnSpc>
                <a:spcPct val="100000"/>
              </a:lnSpc>
              <a:spcBef>
                <a:spcPts val="0"/>
              </a:spcBef>
              <a:spcAft>
                <a:spcPts val="0"/>
              </a:spcAft>
              <a:buSzPts val="1350"/>
              <a:buFont typeface="Arial"/>
              <a:buChar char="•"/>
            </a:pPr>
            <a:r>
              <a:rPr lang="en-US"/>
              <a:t>Dijkstra shortest-path first (SPF)</a:t>
            </a:r>
            <a:endParaRPr/>
          </a:p>
          <a:p>
            <a:pPr indent="-169863" lvl="0" marL="169863" rtl="0" algn="l">
              <a:lnSpc>
                <a:spcPct val="100000"/>
              </a:lnSpc>
              <a:spcBef>
                <a:spcPts val="0"/>
              </a:spcBef>
              <a:spcAft>
                <a:spcPts val="0"/>
              </a:spcAft>
              <a:buSzPts val="1350"/>
              <a:buFont typeface="Arial"/>
              <a:buChar char="•"/>
            </a:pPr>
            <a:r>
              <a:rPr lang="en-US"/>
              <a:t>neighbor adjacency</a:t>
            </a:r>
            <a:endParaRPr/>
          </a:p>
        </p:txBody>
      </p:sp>
      <p:sp>
        <p:nvSpPr>
          <p:cNvPr id="456" name="Google Shape;456;p31"/>
          <p:cNvSpPr txBox="1"/>
          <p:nvPr/>
        </p:nvSpPr>
        <p:spPr>
          <a:xfrm>
            <a:off x="4348203" y="798943"/>
            <a:ext cx="4128390" cy="4155319"/>
          </a:xfrm>
          <a:prstGeom prst="rect">
            <a:avLst/>
          </a:prstGeom>
          <a:noFill/>
          <a:ln>
            <a:noFill/>
          </a:ln>
        </p:spPr>
        <p:txBody>
          <a:bodyPr anchorCtr="0" anchor="t" bIns="45700" lIns="91425" spcFirstLastPara="1" rIns="182875" wrap="square" tIns="45700">
            <a:noAutofit/>
          </a:bodyPr>
          <a:lstStyle/>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OSPFv3 Address Families</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link-state advertisement</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router ID</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designated router</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backup designated router</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down state</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Init state</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two-way state</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ExStart state</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Exchange state</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loading state</a:t>
            </a:r>
            <a:endParaRPr/>
          </a:p>
          <a:p>
            <a:pPr indent="-169863" lvl="0" marL="169863" marR="0" rtl="0" algn="l">
              <a:lnSpc>
                <a:spcPct val="100000"/>
              </a:lnSpc>
              <a:spcBef>
                <a:spcPts val="0"/>
              </a:spcBef>
              <a:spcAft>
                <a:spcPts val="0"/>
              </a:spcAft>
              <a:buClr>
                <a:schemeClr val="dk2"/>
              </a:buClr>
              <a:buSzPts val="1350"/>
              <a:buFont typeface="Arial"/>
              <a:buChar char="•"/>
            </a:pPr>
            <a:r>
              <a:rPr lang="en-US" sz="1500">
                <a:solidFill>
                  <a:srgbClr val="000000"/>
                </a:solidFill>
                <a:latin typeface="Arial"/>
                <a:ea typeface="Arial"/>
                <a:cs typeface="Arial"/>
                <a:sym typeface="Arial"/>
              </a:rPr>
              <a:t>full state</a:t>
            </a:r>
            <a:endParaRPr/>
          </a:p>
          <a:p>
            <a:pPr indent="-84138" lvl="0" marL="169863" marR="0" rtl="0" algn="l">
              <a:lnSpc>
                <a:spcPct val="100000"/>
              </a:lnSpc>
              <a:spcBef>
                <a:spcPts val="0"/>
              </a:spcBef>
              <a:spcAft>
                <a:spcPts val="0"/>
              </a:spcAft>
              <a:buClr>
                <a:schemeClr val="dk2"/>
              </a:buClr>
              <a:buSzPts val="1350"/>
              <a:buFont typeface="Noto Sans Symbols"/>
              <a:buNone/>
            </a:pPr>
            <a:r>
              <a:t/>
            </a:r>
            <a:endParaRPr sz="1500">
              <a:solidFill>
                <a:srgbClr val="000000"/>
              </a:solidFill>
              <a:latin typeface="Arial"/>
              <a:ea typeface="Arial"/>
              <a:cs typeface="Arial"/>
              <a:sym typeface="Arial"/>
            </a:endParaRPr>
          </a:p>
        </p:txBody>
      </p:sp>
    </p:spTree>
  </p:cSld>
  <p:clrMapOvr>
    <a:masterClrMapping/>
  </p:clrMapOvr>
  <p:transition spd="slow">
    <p:wipe dir="l"/>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