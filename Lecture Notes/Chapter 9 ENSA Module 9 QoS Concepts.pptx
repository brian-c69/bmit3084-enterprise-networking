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336">
          <p15:clr>
            <a:srgbClr val="A4A3A4"/>
          </p15:clr>
        </p15:guide>
      </p15:sldGuideLst>
    </p:ext>
    <p:ext uri="GoogleSlidesCustomDataVersion2">
      <go:slidesCustomData xmlns:go="http://customooxmlschemas.google.com/" r:id="rId65" roundtripDataSignature="AMtx7mi8M2mHYecCoOPTCJkUw7thX18N5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8C263E1-B3EF-47A4-AEA2-D0D936B171C2}">
  <a:tblStyle styleId="{D8C263E1-B3EF-47A4-AEA2-D0D936B171C2}"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8EA"/>
          </a:solidFill>
        </a:fill>
      </a:tcStyle>
    </a:wholeTbl>
    <a:band1H>
      <a:tcTxStyle/>
      <a:tcStyle>
        <a:fill>
          <a:solidFill>
            <a:srgbClr val="CACED3"/>
          </a:solidFill>
        </a:fill>
      </a:tcStyle>
    </a:band1H>
    <a:band2H>
      <a:tcTxStyle/>
    </a:band2H>
    <a:band1V>
      <a:tcTxStyle/>
      <a:tcStyle>
        <a:fill>
          <a:solidFill>
            <a:srgbClr val="CACED3"/>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A3B206BE-29B7-432D-93FD-D63A912A435F}" styleName="Table_1">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chemeClr val="accent3"/>
          </a:solidFill>
        </a:fill>
      </a:tcStyle>
    </a:wholeTbl>
    <a:band1H>
      <a:tcTxStyle/>
      <a:tcStyle>
        <a:fill>
          <a:solidFill>
            <a:schemeClr val="accent3"/>
          </a:solidFill>
        </a:fill>
      </a:tcStyle>
    </a:band1H>
    <a:band2H>
      <a:tcTxStyle/>
    </a:band2H>
    <a:band1V>
      <a:tcTxStyle/>
      <a:tcStyle>
        <a:fill>
          <a:solidFill>
            <a:schemeClr val="accent3"/>
          </a:solidFill>
        </a:fill>
      </a:tcStyle>
    </a:band1V>
    <a:band2V>
      <a:tcTxStyle/>
    </a:band2V>
    <a:lastCol>
      <a:tcTxStyle b="on" i="off">
        <a:font>
          <a:latin typeface="Arial"/>
          <a:ea typeface="Arial"/>
          <a:cs typeface="Arial"/>
        </a:font>
        <a:schemeClr val="lt1"/>
      </a:tcTxStyle>
      <a:tcStyle>
        <a:fill>
          <a:solidFill>
            <a:schemeClr val="accent3"/>
          </a:solidFill>
        </a:fill>
      </a:tcStyle>
    </a:lastCol>
    <a:firstCol>
      <a:tcTxStyle b="on" i="off">
        <a:font>
          <a:latin typeface="Arial"/>
          <a:ea typeface="Arial"/>
          <a:cs typeface="Arial"/>
        </a:font>
        <a:schemeClr val="lt1"/>
      </a:tcTxStyle>
      <a:tcStyle>
        <a:fill>
          <a:solidFill>
            <a:schemeClr val="accent3"/>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3"/>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3"/>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336"/>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21" Type="http://schemas.openxmlformats.org/officeDocument/2006/relationships/slide" Target="slides/slide15.xml"/><Relationship Id="rId65" Type="http://customschemas.google.com/relationships/presentationmetadata" Target="metadata"/><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0" lang="en-US"/>
              <a:t>Cisco Networking Academy Program</a:t>
            </a:r>
            <a:endParaRPr/>
          </a:p>
          <a:p>
            <a:pPr indent="0" lvl="0" marL="0" rtl="0" algn="l">
              <a:spcBef>
                <a:spcPts val="0"/>
              </a:spcBef>
              <a:spcAft>
                <a:spcPts val="0"/>
              </a:spcAft>
              <a:buClr>
                <a:schemeClr val="dk1"/>
              </a:buClr>
              <a:buSzPts val="1200"/>
              <a:buFont typeface="Calibri"/>
              <a:buNone/>
            </a:pPr>
            <a:r>
              <a:rPr b="0" lang="en-US"/>
              <a:t>Enterprise Networking, Security, and Automation v7.0 (ENSA)</a:t>
            </a:r>
            <a:endParaRPr/>
          </a:p>
          <a:p>
            <a:pPr indent="0" lvl="0" marL="0" rtl="0" algn="l">
              <a:spcBef>
                <a:spcPts val="0"/>
              </a:spcBef>
              <a:spcAft>
                <a:spcPts val="0"/>
              </a:spcAft>
              <a:buClr>
                <a:schemeClr val="dk1"/>
              </a:buClr>
              <a:buSzPts val="1200"/>
              <a:buFont typeface="Calibri"/>
              <a:buNone/>
            </a:pPr>
            <a:r>
              <a:rPr b="0" lang="en-US"/>
              <a:t>Module 9: QoS Concepts</a:t>
            </a:r>
            <a:endParaRPr/>
          </a:p>
        </p:txBody>
      </p:sp>
      <p:sp>
        <p:nvSpPr>
          <p:cNvPr id="236" name="Google Shape;236;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notes"/>
          <p:cNvSpPr txBox="1"/>
          <p:nvPr/>
        </p:nvSpPr>
        <p:spPr>
          <a:xfrm>
            <a:off x="5929313" y="8680450"/>
            <a:ext cx="812800" cy="287338"/>
          </a:xfrm>
          <a:prstGeom prst="rect">
            <a:avLst/>
          </a:prstGeom>
          <a:noFill/>
          <a:ln>
            <a:noFill/>
          </a:ln>
        </p:spPr>
        <p:txBody>
          <a:bodyPr anchorCtr="0" anchor="b" bIns="0" lIns="18800" spcFirstLastPara="1" rIns="18800" wrap="square" tIns="0">
            <a:noAutofit/>
          </a:bodyPr>
          <a:lstStyle/>
          <a:p>
            <a:pPr indent="0" lvl="0" marL="0" marR="0" rtl="0" algn="r">
              <a:spcBef>
                <a:spcPts val="0"/>
              </a:spcBef>
              <a:spcAft>
                <a:spcPts val="0"/>
              </a:spcAft>
              <a:buNone/>
            </a:pPr>
            <a:fld id="{00000000-1234-1234-1234-123412341234}" type="slidenum">
              <a:rPr b="0" lang="en-US" sz="800">
                <a:solidFill>
                  <a:srgbClr val="000000"/>
                </a:solidFill>
                <a:latin typeface="Arial"/>
                <a:ea typeface="Arial"/>
                <a:cs typeface="Arial"/>
                <a:sym typeface="Arial"/>
              </a:rPr>
              <a:t>‹#›</a:t>
            </a:fld>
            <a:endParaRPr b="0" sz="800">
              <a:solidFill>
                <a:srgbClr val="000000"/>
              </a:solidFill>
              <a:latin typeface="Arial"/>
              <a:ea typeface="Arial"/>
              <a:cs typeface="Arial"/>
              <a:sym typeface="Arial"/>
            </a:endParaRPr>
          </a:p>
        </p:txBody>
      </p:sp>
      <p:sp>
        <p:nvSpPr>
          <p:cNvPr id="242" name="Google Shape;24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3" name="Google Shape;243;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lang="en-US"/>
              <a:t>9 – QoS Concepts</a:t>
            </a:r>
            <a:endParaRPr/>
          </a:p>
          <a:p>
            <a:pPr indent="0" lvl="0" marL="0" rtl="0" algn="l">
              <a:spcBef>
                <a:spcPts val="0"/>
              </a:spcBef>
              <a:spcAft>
                <a:spcPts val="0"/>
              </a:spcAft>
              <a:buClr>
                <a:schemeClr val="dk1"/>
              </a:buClr>
              <a:buSzPts val="1200"/>
              <a:buFont typeface="Calibri"/>
              <a:buNone/>
            </a:pPr>
            <a:r>
              <a:rPr lang="en-US"/>
              <a:t>9.0.2- What will I learn to do in this Module.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9.1 - Network Transmission Quality</a:t>
            </a:r>
            <a:endParaRPr/>
          </a:p>
        </p:txBody>
      </p:sp>
      <p:sp>
        <p:nvSpPr>
          <p:cNvPr id="251" name="Google Shape;251;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9.1 - Network Transmission Quality</a:t>
            </a:r>
            <a:endParaRPr/>
          </a:p>
          <a:p>
            <a:pPr indent="0" lvl="0" marL="0" rtl="0" algn="l">
              <a:spcBef>
                <a:spcPts val="0"/>
              </a:spcBef>
              <a:spcAft>
                <a:spcPts val="0"/>
              </a:spcAft>
              <a:buNone/>
            </a:pPr>
            <a:r>
              <a:rPr lang="en-US"/>
              <a:t>9.1.1 – Video – The Purpose of QoS</a:t>
            </a:r>
            <a:endParaRPr/>
          </a:p>
        </p:txBody>
      </p:sp>
      <p:sp>
        <p:nvSpPr>
          <p:cNvPr id="257" name="Google Shape;257;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 name="Google Shape;263;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9.1 - Network Transmission Quality</a:t>
            </a:r>
            <a:endParaRPr/>
          </a:p>
          <a:p>
            <a:pPr indent="0" lvl="0" marL="0" rtl="0" algn="l">
              <a:spcBef>
                <a:spcPts val="0"/>
              </a:spcBef>
              <a:spcAft>
                <a:spcPts val="0"/>
              </a:spcAft>
              <a:buNone/>
            </a:pPr>
            <a:r>
              <a:rPr lang="en-US"/>
              <a:t>9.1.2 – Prioritizing Traffic</a:t>
            </a:r>
            <a:endParaRPr/>
          </a:p>
        </p:txBody>
      </p:sp>
      <p:sp>
        <p:nvSpPr>
          <p:cNvPr id="264" name="Google Shape;264;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9.1 - Network Transmission Quality</a:t>
            </a:r>
            <a:endParaRPr/>
          </a:p>
          <a:p>
            <a:pPr indent="0" lvl="0" marL="0" rtl="0" algn="l">
              <a:spcBef>
                <a:spcPts val="0"/>
              </a:spcBef>
              <a:spcAft>
                <a:spcPts val="0"/>
              </a:spcAft>
              <a:buNone/>
            </a:pPr>
            <a:r>
              <a:rPr lang="en-US"/>
              <a:t>9.1.3 – Bandwidth, Congestion, Delay, and Jitter</a:t>
            </a:r>
            <a:endParaRPr/>
          </a:p>
        </p:txBody>
      </p:sp>
      <p:sp>
        <p:nvSpPr>
          <p:cNvPr id="273" name="Google Shape;273;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 name="Google Shape;280;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9.1 - Network Transmission Quality</a:t>
            </a:r>
            <a:endParaRPr/>
          </a:p>
          <a:p>
            <a:pPr indent="0" lvl="0" marL="0" rtl="0" algn="l">
              <a:spcBef>
                <a:spcPts val="0"/>
              </a:spcBef>
              <a:spcAft>
                <a:spcPts val="0"/>
              </a:spcAft>
              <a:buNone/>
            </a:pPr>
            <a:r>
              <a:rPr lang="en-US"/>
              <a:t>9.1.3 – Bandwidth, Congestion, Delay, and Jitter</a:t>
            </a:r>
            <a:endParaRPr/>
          </a:p>
        </p:txBody>
      </p:sp>
      <p:sp>
        <p:nvSpPr>
          <p:cNvPr id="281" name="Google Shape;281;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9.1 - Network Transmission Quality</a:t>
            </a:r>
            <a:endParaRPr/>
          </a:p>
          <a:p>
            <a:pPr indent="0" lvl="0" marL="0" rtl="0" algn="l">
              <a:spcBef>
                <a:spcPts val="0"/>
              </a:spcBef>
              <a:spcAft>
                <a:spcPts val="0"/>
              </a:spcAft>
              <a:buNone/>
            </a:pPr>
            <a:r>
              <a:rPr lang="en-US"/>
              <a:t>9.1.4 – Packet Loss</a:t>
            </a:r>
            <a:endParaRPr/>
          </a:p>
        </p:txBody>
      </p:sp>
      <p:sp>
        <p:nvSpPr>
          <p:cNvPr id="289" name="Google Shape;289;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9.1 - Network Transmission Quality</a:t>
            </a:r>
            <a:endParaRPr/>
          </a:p>
          <a:p>
            <a:pPr indent="0" lvl="0" marL="0" rtl="0" algn="l">
              <a:spcBef>
                <a:spcPts val="0"/>
              </a:spcBef>
              <a:spcAft>
                <a:spcPts val="0"/>
              </a:spcAft>
              <a:buNone/>
            </a:pPr>
            <a:r>
              <a:rPr lang="en-US"/>
              <a:t>9.1.4 – Packet Loss (Cont.)</a:t>
            </a:r>
            <a:endParaRPr/>
          </a:p>
          <a:p>
            <a:pPr indent="0" lvl="0" marL="0" rtl="0" algn="l">
              <a:spcBef>
                <a:spcPts val="0"/>
              </a:spcBef>
              <a:spcAft>
                <a:spcPts val="0"/>
              </a:spcAft>
              <a:buNone/>
            </a:pPr>
            <a:r>
              <a:rPr lang="en-US"/>
              <a:t>9.1.5 – Check Your Understanding - Network Transmission Quality</a:t>
            </a:r>
            <a:endParaRPr/>
          </a:p>
        </p:txBody>
      </p:sp>
      <p:sp>
        <p:nvSpPr>
          <p:cNvPr id="297" name="Google Shape;297;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9.2 – Traffic Characteristics</a:t>
            </a:r>
            <a:endParaRPr/>
          </a:p>
          <a:p>
            <a:pPr indent="0" lvl="0" marL="0" rtl="0" algn="l">
              <a:spcBef>
                <a:spcPts val="0"/>
              </a:spcBef>
              <a:spcAft>
                <a:spcPts val="0"/>
              </a:spcAft>
              <a:buNone/>
            </a:pPr>
            <a:r>
              <a:t/>
            </a:r>
            <a:endParaRPr/>
          </a:p>
        </p:txBody>
      </p:sp>
      <p:sp>
        <p:nvSpPr>
          <p:cNvPr id="306" name="Google Shape;306;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1" name="Google Shape;311;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9.2 – Traffic Characteristics</a:t>
            </a:r>
            <a:endParaRPr/>
          </a:p>
          <a:p>
            <a:pPr indent="0" lvl="0" marL="0" rtl="0" algn="l">
              <a:spcBef>
                <a:spcPts val="0"/>
              </a:spcBef>
              <a:spcAft>
                <a:spcPts val="0"/>
              </a:spcAft>
              <a:buNone/>
            </a:pPr>
            <a:r>
              <a:rPr lang="en-US"/>
              <a:t>9.2.1 – Video – Traffic Characteristics</a:t>
            </a:r>
            <a:endParaRPr/>
          </a:p>
        </p:txBody>
      </p:sp>
      <p:sp>
        <p:nvSpPr>
          <p:cNvPr id="312" name="Google Shape;312;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8" name="Google Shape;318;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9.2 – Traffic Characteristics</a:t>
            </a:r>
            <a:endParaRPr/>
          </a:p>
          <a:p>
            <a:pPr indent="0" lvl="0" marL="0" rtl="0" algn="l">
              <a:spcBef>
                <a:spcPts val="0"/>
              </a:spcBef>
              <a:spcAft>
                <a:spcPts val="0"/>
              </a:spcAft>
              <a:buNone/>
            </a:pPr>
            <a:r>
              <a:rPr lang="en-US"/>
              <a:t>9.2.2 – Network Traffic Trends</a:t>
            </a:r>
            <a:endParaRPr/>
          </a:p>
        </p:txBody>
      </p:sp>
      <p:sp>
        <p:nvSpPr>
          <p:cNvPr id="319" name="Google Shape;319;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5" name="Google Shape;325;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9.2 – Traffic Characteristics</a:t>
            </a:r>
            <a:endParaRPr/>
          </a:p>
          <a:p>
            <a:pPr indent="0" lvl="0" marL="0" rtl="0" algn="l">
              <a:spcBef>
                <a:spcPts val="0"/>
              </a:spcBef>
              <a:spcAft>
                <a:spcPts val="0"/>
              </a:spcAft>
              <a:buNone/>
            </a:pPr>
            <a:r>
              <a:rPr lang="en-US"/>
              <a:t>9.2.3 – Voice</a:t>
            </a:r>
            <a:endParaRPr/>
          </a:p>
        </p:txBody>
      </p:sp>
      <p:sp>
        <p:nvSpPr>
          <p:cNvPr id="326" name="Google Shape;326;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3" name="Google Shape;333;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9.2 – Traffic Characteristics</a:t>
            </a:r>
            <a:endParaRPr/>
          </a:p>
          <a:p>
            <a:pPr indent="0" lvl="0" marL="0" rtl="0" algn="l">
              <a:spcBef>
                <a:spcPts val="0"/>
              </a:spcBef>
              <a:spcAft>
                <a:spcPts val="0"/>
              </a:spcAft>
              <a:buNone/>
            </a:pPr>
            <a:r>
              <a:rPr lang="en-US"/>
              <a:t>9.2.4 – Video</a:t>
            </a:r>
            <a:endParaRPr/>
          </a:p>
        </p:txBody>
      </p:sp>
      <p:sp>
        <p:nvSpPr>
          <p:cNvPr id="334" name="Google Shape;334;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1" name="Google Shape;341;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9.2 – Traffic Characteristics</a:t>
            </a:r>
            <a:endParaRPr/>
          </a:p>
          <a:p>
            <a:pPr indent="0" lvl="0" marL="0" rtl="0" algn="l">
              <a:spcBef>
                <a:spcPts val="0"/>
              </a:spcBef>
              <a:spcAft>
                <a:spcPts val="0"/>
              </a:spcAft>
              <a:buNone/>
            </a:pPr>
            <a:r>
              <a:rPr lang="en-US"/>
              <a:t>9.2.5 – Data</a:t>
            </a:r>
            <a:endParaRPr/>
          </a:p>
        </p:txBody>
      </p:sp>
      <p:sp>
        <p:nvSpPr>
          <p:cNvPr id="342" name="Google Shape;342;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9" name="Google Shape;349;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9.2 – Traffic Characteristics</a:t>
            </a:r>
            <a:endParaRPr/>
          </a:p>
          <a:p>
            <a:pPr indent="0" lvl="0" marL="0" rtl="0" algn="l">
              <a:spcBef>
                <a:spcPts val="0"/>
              </a:spcBef>
              <a:spcAft>
                <a:spcPts val="0"/>
              </a:spcAft>
              <a:buNone/>
            </a:pPr>
            <a:r>
              <a:rPr lang="en-US"/>
              <a:t>9.2.5 – Data (Cont.)</a:t>
            </a:r>
            <a:endParaRPr/>
          </a:p>
          <a:p>
            <a:pPr indent="0" lvl="0" marL="0" rtl="0" algn="l">
              <a:spcBef>
                <a:spcPts val="0"/>
              </a:spcBef>
              <a:spcAft>
                <a:spcPts val="0"/>
              </a:spcAft>
              <a:buNone/>
            </a:pPr>
            <a:r>
              <a:rPr lang="en-US"/>
              <a:t>9.2.6 – Check Your Understanding – Traffic Characteristics</a:t>
            </a:r>
            <a:endParaRPr/>
          </a:p>
        </p:txBody>
      </p:sp>
      <p:sp>
        <p:nvSpPr>
          <p:cNvPr id="350" name="Google Shape;350;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 name="Google Shape;357;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9.3 – Queuing Algorithms</a:t>
            </a:r>
            <a:endParaRPr/>
          </a:p>
          <a:p>
            <a:pPr indent="0" lvl="0" marL="0" rtl="0" algn="l">
              <a:spcBef>
                <a:spcPts val="0"/>
              </a:spcBef>
              <a:spcAft>
                <a:spcPts val="0"/>
              </a:spcAft>
              <a:buNone/>
            </a:pPr>
            <a:r>
              <a:t/>
            </a:r>
            <a:endParaRPr/>
          </a:p>
        </p:txBody>
      </p:sp>
      <p:sp>
        <p:nvSpPr>
          <p:cNvPr id="358" name="Google Shape;358;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3" name="Google Shape;363;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9.3 – Queuing Algorithms</a:t>
            </a:r>
            <a:endParaRPr/>
          </a:p>
          <a:p>
            <a:pPr indent="0" lvl="0" marL="0" rtl="0" algn="l">
              <a:spcBef>
                <a:spcPts val="0"/>
              </a:spcBef>
              <a:spcAft>
                <a:spcPts val="0"/>
              </a:spcAft>
              <a:buNone/>
            </a:pPr>
            <a:r>
              <a:rPr lang="en-US"/>
              <a:t>9.3.1 – Video – QoS Algorithms</a:t>
            </a:r>
            <a:endParaRPr/>
          </a:p>
        </p:txBody>
      </p:sp>
      <p:sp>
        <p:nvSpPr>
          <p:cNvPr id="364" name="Google Shape;364;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0" name="Google Shape;370;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9.3 – Queuing Algorithms</a:t>
            </a:r>
            <a:endParaRPr/>
          </a:p>
          <a:p>
            <a:pPr indent="0" lvl="0" marL="0" rtl="0" algn="l">
              <a:spcBef>
                <a:spcPts val="0"/>
              </a:spcBef>
              <a:spcAft>
                <a:spcPts val="0"/>
              </a:spcAft>
              <a:buNone/>
            </a:pPr>
            <a:r>
              <a:rPr lang="en-US"/>
              <a:t>9.3.2 – Queuing Overview</a:t>
            </a:r>
            <a:endParaRPr/>
          </a:p>
        </p:txBody>
      </p:sp>
      <p:sp>
        <p:nvSpPr>
          <p:cNvPr id="371" name="Google Shape;371;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7" name="Google Shape;377;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9.3 – Queuing Algorithms</a:t>
            </a:r>
            <a:endParaRPr/>
          </a:p>
          <a:p>
            <a:pPr indent="0" lvl="0" marL="0" rtl="0" algn="l">
              <a:spcBef>
                <a:spcPts val="0"/>
              </a:spcBef>
              <a:spcAft>
                <a:spcPts val="0"/>
              </a:spcAft>
              <a:buNone/>
            </a:pPr>
            <a:r>
              <a:rPr lang="en-US"/>
              <a:t>9.3.3 – First in First Out</a:t>
            </a:r>
            <a:endParaRPr/>
          </a:p>
        </p:txBody>
      </p:sp>
      <p:sp>
        <p:nvSpPr>
          <p:cNvPr id="378" name="Google Shape;378;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5" name="Google Shape;385;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9.3 – Queuing Algorithms</a:t>
            </a:r>
            <a:endParaRPr/>
          </a:p>
          <a:p>
            <a:pPr indent="0" lvl="0" marL="0" rtl="0" algn="l">
              <a:spcBef>
                <a:spcPts val="0"/>
              </a:spcBef>
              <a:spcAft>
                <a:spcPts val="0"/>
              </a:spcAft>
              <a:buNone/>
            </a:pPr>
            <a:r>
              <a:rPr lang="en-US"/>
              <a:t>9.3.4 – Weighted Fair Queuing (WFQ)</a:t>
            </a:r>
            <a:endParaRPr/>
          </a:p>
        </p:txBody>
      </p:sp>
      <p:sp>
        <p:nvSpPr>
          <p:cNvPr id="386" name="Google Shape;386;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3" name="Google Shape;393;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9.3 – Queuing Algorithms</a:t>
            </a:r>
            <a:endParaRPr/>
          </a:p>
          <a:p>
            <a:pPr indent="0" lvl="0" marL="0" rtl="0" algn="l">
              <a:spcBef>
                <a:spcPts val="0"/>
              </a:spcBef>
              <a:spcAft>
                <a:spcPts val="0"/>
              </a:spcAft>
              <a:buNone/>
            </a:pPr>
            <a:r>
              <a:rPr lang="en-US"/>
              <a:t>9.3.5 – Class-Based Weighted Fair Queuing (CBWFQ)</a:t>
            </a:r>
            <a:endParaRPr/>
          </a:p>
        </p:txBody>
      </p:sp>
      <p:sp>
        <p:nvSpPr>
          <p:cNvPr id="394" name="Google Shape;394;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0" name="Google Shape;400;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9.3 – Queuing Algorithms</a:t>
            </a:r>
            <a:endParaRPr/>
          </a:p>
          <a:p>
            <a:pPr indent="0" lvl="0" marL="0" rtl="0" algn="l">
              <a:spcBef>
                <a:spcPts val="0"/>
              </a:spcBef>
              <a:spcAft>
                <a:spcPts val="0"/>
              </a:spcAft>
              <a:buNone/>
            </a:pPr>
            <a:r>
              <a:rPr lang="en-US"/>
              <a:t>9.3.5 – Class-Based Weighted Fair Queuing (CBWFQ) (Cont.)</a:t>
            </a:r>
            <a:endParaRPr/>
          </a:p>
        </p:txBody>
      </p:sp>
      <p:sp>
        <p:nvSpPr>
          <p:cNvPr id="401" name="Google Shape;401;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8" name="Google Shape;408;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9.3 – Queuing Algorithms</a:t>
            </a:r>
            <a:endParaRPr/>
          </a:p>
          <a:p>
            <a:pPr indent="0" lvl="0" marL="0" rtl="0" algn="l">
              <a:spcBef>
                <a:spcPts val="0"/>
              </a:spcBef>
              <a:spcAft>
                <a:spcPts val="0"/>
              </a:spcAft>
              <a:buNone/>
            </a:pPr>
            <a:r>
              <a:rPr lang="en-US"/>
              <a:t>9.3.6 – Low Latency Queuing (LLQ)</a:t>
            </a:r>
            <a:endParaRPr/>
          </a:p>
          <a:p>
            <a:pPr indent="0" lvl="0" marL="0" rtl="0" algn="l">
              <a:spcBef>
                <a:spcPts val="0"/>
              </a:spcBef>
              <a:spcAft>
                <a:spcPts val="0"/>
              </a:spcAft>
              <a:buNone/>
            </a:pPr>
            <a:r>
              <a:rPr lang="en-US"/>
              <a:t>9.3.7 – Check Your Understanding – Queuing Algorithms</a:t>
            </a:r>
            <a:endParaRPr/>
          </a:p>
        </p:txBody>
      </p:sp>
      <p:sp>
        <p:nvSpPr>
          <p:cNvPr id="409" name="Google Shape;409;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6" name="Google Shape;416;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9.4 – QoS Models</a:t>
            </a:r>
            <a:endParaRPr/>
          </a:p>
          <a:p>
            <a:pPr indent="0" lvl="0" marL="0" rtl="0" algn="l">
              <a:spcBef>
                <a:spcPts val="0"/>
              </a:spcBef>
              <a:spcAft>
                <a:spcPts val="0"/>
              </a:spcAft>
              <a:buNone/>
            </a:pPr>
            <a:r>
              <a:t/>
            </a:r>
            <a:endParaRPr/>
          </a:p>
        </p:txBody>
      </p:sp>
      <p:sp>
        <p:nvSpPr>
          <p:cNvPr id="417" name="Google Shape;417;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2" name="Google Shape;422;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9.4 – QoS Models</a:t>
            </a:r>
            <a:endParaRPr/>
          </a:p>
          <a:p>
            <a:pPr indent="0" lvl="0" marL="0" rtl="0" algn="l">
              <a:spcBef>
                <a:spcPts val="0"/>
              </a:spcBef>
              <a:spcAft>
                <a:spcPts val="0"/>
              </a:spcAft>
              <a:buNone/>
            </a:pPr>
            <a:r>
              <a:rPr lang="en-US"/>
              <a:t>9.4.1 – Video – QoS Models</a:t>
            </a:r>
            <a:endParaRPr/>
          </a:p>
        </p:txBody>
      </p:sp>
      <p:sp>
        <p:nvSpPr>
          <p:cNvPr id="423" name="Google Shape;423;p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9" name="Google Shape;429;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9.4 – QoS Models</a:t>
            </a:r>
            <a:endParaRPr/>
          </a:p>
          <a:p>
            <a:pPr indent="0" lvl="0" marL="0" rtl="0" algn="l">
              <a:spcBef>
                <a:spcPts val="0"/>
              </a:spcBef>
              <a:spcAft>
                <a:spcPts val="0"/>
              </a:spcAft>
              <a:buNone/>
            </a:pPr>
            <a:r>
              <a:rPr lang="en-US"/>
              <a:t>9.4.2 – Selecting an Appropriate QoS Policy Model</a:t>
            </a:r>
            <a:endParaRPr/>
          </a:p>
        </p:txBody>
      </p:sp>
      <p:sp>
        <p:nvSpPr>
          <p:cNvPr id="430" name="Google Shape;430;p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7" name="Google Shape;437;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9.4 – QoS Models</a:t>
            </a:r>
            <a:endParaRPr/>
          </a:p>
          <a:p>
            <a:pPr indent="0" lvl="0" marL="0" rtl="0" algn="l">
              <a:spcBef>
                <a:spcPts val="0"/>
              </a:spcBef>
              <a:spcAft>
                <a:spcPts val="0"/>
              </a:spcAft>
              <a:buNone/>
            </a:pPr>
            <a:r>
              <a:rPr lang="en-US"/>
              <a:t>9.4.3 – Best Effort</a:t>
            </a:r>
            <a:endParaRPr/>
          </a:p>
        </p:txBody>
      </p:sp>
      <p:sp>
        <p:nvSpPr>
          <p:cNvPr id="438" name="Google Shape;438;p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5" name="Google Shape;445;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9.4 – QoS Models</a:t>
            </a:r>
            <a:endParaRPr/>
          </a:p>
          <a:p>
            <a:pPr indent="0" lvl="0" marL="0" rtl="0" algn="l">
              <a:spcBef>
                <a:spcPts val="0"/>
              </a:spcBef>
              <a:spcAft>
                <a:spcPts val="0"/>
              </a:spcAft>
              <a:buNone/>
            </a:pPr>
            <a:r>
              <a:rPr lang="en-US"/>
              <a:t>9.4.4 – Integrated Services</a:t>
            </a:r>
            <a:endParaRPr/>
          </a:p>
        </p:txBody>
      </p:sp>
      <p:sp>
        <p:nvSpPr>
          <p:cNvPr id="446" name="Google Shape;446;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3" name="Google Shape;453;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9.4 – QoS Models</a:t>
            </a:r>
            <a:endParaRPr/>
          </a:p>
          <a:p>
            <a:pPr indent="0" lvl="0" marL="0" rtl="0" algn="l">
              <a:spcBef>
                <a:spcPts val="0"/>
              </a:spcBef>
              <a:spcAft>
                <a:spcPts val="0"/>
              </a:spcAft>
              <a:buNone/>
            </a:pPr>
            <a:r>
              <a:rPr lang="en-US"/>
              <a:t>9.4.4 – Integrated Services (Cont.)</a:t>
            </a:r>
            <a:endParaRPr/>
          </a:p>
        </p:txBody>
      </p:sp>
      <p:sp>
        <p:nvSpPr>
          <p:cNvPr id="454" name="Google Shape;454;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1" name="Google Shape;461;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9.4 – QoS Models</a:t>
            </a:r>
            <a:endParaRPr/>
          </a:p>
          <a:p>
            <a:pPr indent="0" lvl="0" marL="0" rtl="0" algn="l">
              <a:spcBef>
                <a:spcPts val="0"/>
              </a:spcBef>
              <a:spcAft>
                <a:spcPts val="0"/>
              </a:spcAft>
              <a:buNone/>
            </a:pPr>
            <a:r>
              <a:rPr lang="en-US"/>
              <a:t>9.4.5 – Differentiated Services</a:t>
            </a:r>
            <a:endParaRPr/>
          </a:p>
        </p:txBody>
      </p:sp>
      <p:sp>
        <p:nvSpPr>
          <p:cNvPr id="462" name="Google Shape;462;p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9" name="Google Shape;469;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9.4 – QoS Models</a:t>
            </a:r>
            <a:endParaRPr/>
          </a:p>
          <a:p>
            <a:pPr indent="0" lvl="0" marL="0" rtl="0" algn="l">
              <a:spcBef>
                <a:spcPts val="0"/>
              </a:spcBef>
              <a:spcAft>
                <a:spcPts val="0"/>
              </a:spcAft>
              <a:buNone/>
            </a:pPr>
            <a:r>
              <a:rPr lang="en-US"/>
              <a:t>9.4.5 – Differentiated Services (Cont.)</a:t>
            </a:r>
            <a:endParaRPr/>
          </a:p>
          <a:p>
            <a:pPr indent="0" lvl="0" marL="0" rtl="0" algn="l">
              <a:spcBef>
                <a:spcPts val="0"/>
              </a:spcBef>
              <a:spcAft>
                <a:spcPts val="0"/>
              </a:spcAft>
              <a:buNone/>
            </a:pPr>
            <a:r>
              <a:rPr lang="en-US"/>
              <a:t>9.4.6 – Check Your Understanding – QoS Models</a:t>
            </a:r>
            <a:endParaRPr/>
          </a:p>
        </p:txBody>
      </p:sp>
      <p:sp>
        <p:nvSpPr>
          <p:cNvPr id="470" name="Google Shape;470;p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7" name="Google Shape;477;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9.5 – QoS Implementation Techniques</a:t>
            </a:r>
            <a:endParaRPr/>
          </a:p>
          <a:p>
            <a:pPr indent="0" lvl="0" marL="0" rtl="0" algn="l">
              <a:spcBef>
                <a:spcPts val="0"/>
              </a:spcBef>
              <a:spcAft>
                <a:spcPts val="0"/>
              </a:spcAft>
              <a:buNone/>
            </a:pPr>
            <a:r>
              <a:t/>
            </a:r>
            <a:endParaRPr/>
          </a:p>
        </p:txBody>
      </p:sp>
      <p:sp>
        <p:nvSpPr>
          <p:cNvPr id="478" name="Google Shape;478;p3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3" name="Google Shape;483;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9.5 – QoS Implementation Techniques</a:t>
            </a:r>
            <a:endParaRPr/>
          </a:p>
          <a:p>
            <a:pPr indent="0" lvl="0" marL="0" rtl="0" algn="l">
              <a:spcBef>
                <a:spcPts val="0"/>
              </a:spcBef>
              <a:spcAft>
                <a:spcPts val="0"/>
              </a:spcAft>
              <a:buNone/>
            </a:pPr>
            <a:r>
              <a:rPr lang="en-US"/>
              <a:t>9.5.1 – Video – QoS Implementation Techniques</a:t>
            </a:r>
            <a:endParaRPr/>
          </a:p>
        </p:txBody>
      </p:sp>
      <p:sp>
        <p:nvSpPr>
          <p:cNvPr id="484" name="Google Shape;484;p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0" name="Google Shape;490;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9.5 – QoS Implementation Techniques</a:t>
            </a:r>
            <a:endParaRPr/>
          </a:p>
          <a:p>
            <a:pPr indent="0" lvl="0" marL="0" rtl="0" algn="l">
              <a:spcBef>
                <a:spcPts val="0"/>
              </a:spcBef>
              <a:spcAft>
                <a:spcPts val="0"/>
              </a:spcAft>
              <a:buNone/>
            </a:pPr>
            <a:r>
              <a:rPr lang="en-US"/>
              <a:t>9.5.2 – Avoiding Packet Loss</a:t>
            </a:r>
            <a:endParaRPr/>
          </a:p>
        </p:txBody>
      </p:sp>
      <p:sp>
        <p:nvSpPr>
          <p:cNvPr id="491" name="Google Shape;491;p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7" name="Google Shape;497;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9.5 – QoS Implementation Techniques</a:t>
            </a:r>
            <a:endParaRPr/>
          </a:p>
          <a:p>
            <a:pPr indent="0" lvl="0" marL="0" rtl="0" algn="l">
              <a:spcBef>
                <a:spcPts val="0"/>
              </a:spcBef>
              <a:spcAft>
                <a:spcPts val="0"/>
              </a:spcAft>
              <a:buNone/>
            </a:pPr>
            <a:r>
              <a:rPr lang="en-US"/>
              <a:t>9.5.3 – QoS Tools</a:t>
            </a:r>
            <a:endParaRPr/>
          </a:p>
        </p:txBody>
      </p:sp>
      <p:sp>
        <p:nvSpPr>
          <p:cNvPr id="498" name="Google Shape;498;p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5" name="Google Shape;505;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9.5 – QoS Implementation Techniques</a:t>
            </a:r>
            <a:endParaRPr/>
          </a:p>
          <a:p>
            <a:pPr indent="0" lvl="0" marL="0" rtl="0" algn="l">
              <a:spcBef>
                <a:spcPts val="0"/>
              </a:spcBef>
              <a:spcAft>
                <a:spcPts val="0"/>
              </a:spcAft>
              <a:buNone/>
            </a:pPr>
            <a:r>
              <a:rPr lang="en-US"/>
              <a:t>9.5.3 – QoS Tools (Cont.)</a:t>
            </a:r>
            <a:endParaRPr/>
          </a:p>
        </p:txBody>
      </p:sp>
      <p:sp>
        <p:nvSpPr>
          <p:cNvPr id="506" name="Google Shape;506;p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4" name="Google Shape;514;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9.5 – QoS Implementation Techniques</a:t>
            </a:r>
            <a:endParaRPr/>
          </a:p>
          <a:p>
            <a:pPr indent="0" lvl="0" marL="0" rtl="0" algn="l">
              <a:spcBef>
                <a:spcPts val="0"/>
              </a:spcBef>
              <a:spcAft>
                <a:spcPts val="0"/>
              </a:spcAft>
              <a:buNone/>
            </a:pPr>
            <a:r>
              <a:rPr lang="en-US"/>
              <a:t>9.5.4 – Classification and Marking</a:t>
            </a:r>
            <a:endParaRPr/>
          </a:p>
        </p:txBody>
      </p:sp>
      <p:sp>
        <p:nvSpPr>
          <p:cNvPr id="515" name="Google Shape;515;p3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1" name="Google Shape;521;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9.5 – QoS Implementation Techniques</a:t>
            </a:r>
            <a:endParaRPr/>
          </a:p>
          <a:p>
            <a:pPr indent="0" lvl="0" marL="0" rtl="0" algn="l">
              <a:spcBef>
                <a:spcPts val="0"/>
              </a:spcBef>
              <a:spcAft>
                <a:spcPts val="0"/>
              </a:spcAft>
              <a:buNone/>
            </a:pPr>
            <a:r>
              <a:rPr lang="en-US"/>
              <a:t>9.5.4 – Classification and Marking (Cont.)</a:t>
            </a:r>
            <a:endParaRPr/>
          </a:p>
        </p:txBody>
      </p:sp>
      <p:sp>
        <p:nvSpPr>
          <p:cNvPr id="522" name="Google Shape;522;p3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9" name="Google Shape;529;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9.5 – QoS Implementation Techniques</a:t>
            </a:r>
            <a:endParaRPr/>
          </a:p>
          <a:p>
            <a:pPr indent="0" lvl="0" marL="0" rtl="0" algn="l">
              <a:spcBef>
                <a:spcPts val="0"/>
              </a:spcBef>
              <a:spcAft>
                <a:spcPts val="0"/>
              </a:spcAft>
              <a:buNone/>
            </a:pPr>
            <a:r>
              <a:rPr lang="en-US"/>
              <a:t>9.5.5 – Marking at Layer 2</a:t>
            </a:r>
            <a:endParaRPr/>
          </a:p>
        </p:txBody>
      </p:sp>
      <p:sp>
        <p:nvSpPr>
          <p:cNvPr id="530" name="Google Shape;530;p4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7" name="Google Shape;537;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9.5 – QoS Implementation Techniques</a:t>
            </a:r>
            <a:endParaRPr/>
          </a:p>
          <a:p>
            <a:pPr indent="0" lvl="0" marL="0" rtl="0" algn="l">
              <a:spcBef>
                <a:spcPts val="0"/>
              </a:spcBef>
              <a:spcAft>
                <a:spcPts val="0"/>
              </a:spcAft>
              <a:buNone/>
            </a:pPr>
            <a:r>
              <a:rPr lang="en-US"/>
              <a:t>9.5.5 – Marking at Layer 2 (Cont.)</a:t>
            </a:r>
            <a:endParaRPr/>
          </a:p>
        </p:txBody>
      </p:sp>
      <p:sp>
        <p:nvSpPr>
          <p:cNvPr id="538" name="Google Shape;538;p4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5" name="Google Shape;545;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9.5 – QoS Implementation Techniques</a:t>
            </a:r>
            <a:endParaRPr/>
          </a:p>
          <a:p>
            <a:pPr indent="0" lvl="0" marL="0" rtl="0" algn="l">
              <a:spcBef>
                <a:spcPts val="0"/>
              </a:spcBef>
              <a:spcAft>
                <a:spcPts val="0"/>
              </a:spcAft>
              <a:buNone/>
            </a:pPr>
            <a:r>
              <a:rPr lang="en-US"/>
              <a:t>9.5.6 – Marking at Layer 3</a:t>
            </a:r>
            <a:endParaRPr/>
          </a:p>
        </p:txBody>
      </p:sp>
      <p:sp>
        <p:nvSpPr>
          <p:cNvPr id="546" name="Google Shape;546;p4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3" name="Google Shape;553;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9.5 – QoS Implementation Techniques</a:t>
            </a:r>
            <a:endParaRPr/>
          </a:p>
          <a:p>
            <a:pPr indent="0" lvl="0" marL="0" rtl="0" algn="l">
              <a:spcBef>
                <a:spcPts val="0"/>
              </a:spcBef>
              <a:spcAft>
                <a:spcPts val="0"/>
              </a:spcAft>
              <a:buNone/>
            </a:pPr>
            <a:r>
              <a:rPr lang="en-US"/>
              <a:t>9.5.7 – Type of Service and Traffic Class Field</a:t>
            </a:r>
            <a:endParaRPr/>
          </a:p>
        </p:txBody>
      </p:sp>
      <p:sp>
        <p:nvSpPr>
          <p:cNvPr id="554" name="Google Shape;554;p4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1" name="Google Shape;561;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9.5 – QoS Implementation Techniques</a:t>
            </a:r>
            <a:endParaRPr/>
          </a:p>
          <a:p>
            <a:pPr indent="0" lvl="0" marL="0" rtl="0" algn="l">
              <a:spcBef>
                <a:spcPts val="0"/>
              </a:spcBef>
              <a:spcAft>
                <a:spcPts val="0"/>
              </a:spcAft>
              <a:buNone/>
            </a:pPr>
            <a:r>
              <a:rPr lang="en-US"/>
              <a:t>9.5.8 – DSCP Values</a:t>
            </a:r>
            <a:endParaRPr/>
          </a:p>
        </p:txBody>
      </p:sp>
      <p:sp>
        <p:nvSpPr>
          <p:cNvPr id="562" name="Google Shape;562;p4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8" name="Google Shape;568;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9.5 – QoS Implementation Techniques</a:t>
            </a:r>
            <a:endParaRPr/>
          </a:p>
          <a:p>
            <a:pPr indent="0" lvl="0" marL="0" rtl="0" algn="l">
              <a:spcBef>
                <a:spcPts val="0"/>
              </a:spcBef>
              <a:spcAft>
                <a:spcPts val="0"/>
              </a:spcAft>
              <a:buNone/>
            </a:pPr>
            <a:r>
              <a:rPr lang="en-US"/>
              <a:t>9.5.8 – DSCP Values (Cont.)</a:t>
            </a:r>
            <a:endParaRPr/>
          </a:p>
        </p:txBody>
      </p:sp>
      <p:sp>
        <p:nvSpPr>
          <p:cNvPr id="569" name="Google Shape;569;p4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7" name="Google Shape;577;p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9.5 – QoS Implementation Techniques</a:t>
            </a:r>
            <a:endParaRPr/>
          </a:p>
          <a:p>
            <a:pPr indent="0" lvl="0" marL="0" rtl="0" algn="l">
              <a:spcBef>
                <a:spcPts val="0"/>
              </a:spcBef>
              <a:spcAft>
                <a:spcPts val="0"/>
              </a:spcAft>
              <a:buNone/>
            </a:pPr>
            <a:r>
              <a:rPr lang="en-US"/>
              <a:t>9.5.9 – Class Selector Bits</a:t>
            </a:r>
            <a:endParaRPr/>
          </a:p>
        </p:txBody>
      </p:sp>
      <p:sp>
        <p:nvSpPr>
          <p:cNvPr id="578" name="Google Shape;578;p4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5" name="Google Shape;585;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9.5 – QoS Implementation Techniques</a:t>
            </a:r>
            <a:endParaRPr/>
          </a:p>
          <a:p>
            <a:pPr indent="0" lvl="0" marL="0" rtl="0" algn="l">
              <a:spcBef>
                <a:spcPts val="0"/>
              </a:spcBef>
              <a:spcAft>
                <a:spcPts val="0"/>
              </a:spcAft>
              <a:buNone/>
            </a:pPr>
            <a:r>
              <a:rPr lang="en-US"/>
              <a:t>9.5.10 – Trust Boundaries</a:t>
            </a:r>
            <a:endParaRPr/>
          </a:p>
        </p:txBody>
      </p:sp>
      <p:sp>
        <p:nvSpPr>
          <p:cNvPr id="586" name="Google Shape;586;p4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3" name="Google Shape;593;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9.5 – QoS Implementation Techniques</a:t>
            </a:r>
            <a:endParaRPr/>
          </a:p>
          <a:p>
            <a:pPr indent="0" lvl="0" marL="0" rtl="0" algn="l">
              <a:spcBef>
                <a:spcPts val="0"/>
              </a:spcBef>
              <a:spcAft>
                <a:spcPts val="0"/>
              </a:spcAft>
              <a:buNone/>
            </a:pPr>
            <a:r>
              <a:rPr lang="en-US"/>
              <a:t>9.5.11 – Congestion Avoidance</a:t>
            </a:r>
            <a:endParaRPr/>
          </a:p>
        </p:txBody>
      </p:sp>
      <p:sp>
        <p:nvSpPr>
          <p:cNvPr id="594" name="Google Shape;594;p4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0" name="Google Shape;600;p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9.5 – QoS Implementation Techniques</a:t>
            </a:r>
            <a:endParaRPr/>
          </a:p>
          <a:p>
            <a:pPr indent="0" lvl="0" marL="0" rtl="0" algn="l">
              <a:spcBef>
                <a:spcPts val="0"/>
              </a:spcBef>
              <a:spcAft>
                <a:spcPts val="0"/>
              </a:spcAft>
              <a:buNone/>
            </a:pPr>
            <a:r>
              <a:rPr lang="en-US"/>
              <a:t>9.5.12 – Shaping and Policing</a:t>
            </a:r>
            <a:endParaRPr/>
          </a:p>
        </p:txBody>
      </p:sp>
      <p:sp>
        <p:nvSpPr>
          <p:cNvPr id="601" name="Google Shape;601;p4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8" name="Google Shape;608;p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9.5 – QoS Implementation Techniques</a:t>
            </a:r>
            <a:endParaRPr/>
          </a:p>
          <a:p>
            <a:pPr indent="0" lvl="0" marL="0" rtl="0" algn="l">
              <a:spcBef>
                <a:spcPts val="0"/>
              </a:spcBef>
              <a:spcAft>
                <a:spcPts val="0"/>
              </a:spcAft>
              <a:buNone/>
            </a:pPr>
            <a:r>
              <a:rPr lang="en-US"/>
              <a:t>9.5.12 – Shaping and Policing (Cont.)</a:t>
            </a:r>
            <a:endParaRPr/>
          </a:p>
        </p:txBody>
      </p:sp>
      <p:sp>
        <p:nvSpPr>
          <p:cNvPr id="609" name="Google Shape;609;p5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6" name="Google Shape;616;p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9.5 – QoS Implementation Techniques</a:t>
            </a:r>
            <a:endParaRPr/>
          </a:p>
          <a:p>
            <a:pPr indent="0" lvl="0" marL="0" rtl="0" algn="l">
              <a:spcBef>
                <a:spcPts val="0"/>
              </a:spcBef>
              <a:spcAft>
                <a:spcPts val="0"/>
              </a:spcAft>
              <a:buNone/>
            </a:pPr>
            <a:r>
              <a:rPr lang="en-US"/>
              <a:t>9.5.13 – QoS Policy Guidelines</a:t>
            </a:r>
            <a:endParaRPr/>
          </a:p>
          <a:p>
            <a:pPr indent="0" lvl="0" marL="0" rtl="0" algn="l">
              <a:spcBef>
                <a:spcPts val="0"/>
              </a:spcBef>
              <a:spcAft>
                <a:spcPts val="0"/>
              </a:spcAft>
              <a:buNone/>
            </a:pPr>
            <a:r>
              <a:rPr lang="en-US"/>
              <a:t>9.5.14 – Check Your Understanding – QoS Implementation Techniques</a:t>
            </a:r>
            <a:endParaRPr/>
          </a:p>
        </p:txBody>
      </p:sp>
      <p:sp>
        <p:nvSpPr>
          <p:cNvPr id="617" name="Google Shape;617;p5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3" name="Google Shape;623;p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9.6 -  Module Practice and Quiz</a:t>
            </a:r>
            <a:endParaRPr/>
          </a:p>
          <a:p>
            <a:pPr indent="0" lvl="0" marL="0" rtl="0" algn="l">
              <a:spcBef>
                <a:spcPts val="0"/>
              </a:spcBef>
              <a:spcAft>
                <a:spcPts val="0"/>
              </a:spcAft>
              <a:buClr>
                <a:schemeClr val="dk1"/>
              </a:buClr>
              <a:buSzPts val="1200"/>
              <a:buFont typeface="Calibri"/>
              <a:buNone/>
            </a:pPr>
            <a:r>
              <a:t/>
            </a:r>
            <a:endParaRPr/>
          </a:p>
        </p:txBody>
      </p:sp>
      <p:sp>
        <p:nvSpPr>
          <p:cNvPr id="624" name="Google Shape;624;p5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5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629" name="Google Shape;629;p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0" name="Google Shape;630;p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9.6 – Module Practice and Quiz</a:t>
            </a:r>
            <a:endParaRPr/>
          </a:p>
          <a:p>
            <a:pPr indent="0" lvl="0" marL="0" rtl="0" algn="l">
              <a:spcBef>
                <a:spcPts val="0"/>
              </a:spcBef>
              <a:spcAft>
                <a:spcPts val="0"/>
              </a:spcAft>
              <a:buNone/>
            </a:pPr>
            <a:r>
              <a:rPr lang="en-US"/>
              <a:t>9.6.1 – What did I learn in this module?</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5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636" name="Google Shape;636;p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7" name="Google Shape;637;p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9.6 -  Module Practice and Quiz</a:t>
            </a:r>
            <a:endParaRPr/>
          </a:p>
          <a:p>
            <a:pPr indent="0" lvl="0" marL="0" rtl="0" algn="l">
              <a:spcBef>
                <a:spcPts val="0"/>
              </a:spcBef>
              <a:spcAft>
                <a:spcPts val="0"/>
              </a:spcAft>
              <a:buNone/>
            </a:pPr>
            <a:r>
              <a:rPr lang="en-US"/>
              <a:t>9.6.1 – What did I learn in this module? (Cont.)</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p5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643" name="Google Shape;643;p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4" name="Google Shape;644;p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9.6 -  Module Practice and Quiz</a:t>
            </a:r>
            <a:endParaRPr/>
          </a:p>
          <a:p>
            <a:pPr indent="0" lvl="0" marL="0" rtl="0" algn="l">
              <a:spcBef>
                <a:spcPts val="0"/>
              </a:spcBef>
              <a:spcAft>
                <a:spcPts val="0"/>
              </a:spcAft>
              <a:buNone/>
            </a:pPr>
            <a:r>
              <a:rPr lang="en-US"/>
              <a:t>9.6.1 – What did I learn in this module? (Cont.)</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5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650" name="Google Shape;650;p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1" name="Google Shape;651;p5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 – QoS Concepts</a:t>
            </a:r>
            <a:endParaRPr/>
          </a:p>
          <a:p>
            <a:pPr indent="0" lvl="0" marL="0" rtl="0" algn="l">
              <a:spcBef>
                <a:spcPts val="0"/>
              </a:spcBef>
              <a:spcAft>
                <a:spcPts val="0"/>
              </a:spcAft>
              <a:buNone/>
            </a:pPr>
            <a:r>
              <a:rPr lang="en-US"/>
              <a:t>9.6 -  Module Practice and Quiz</a:t>
            </a:r>
            <a:endParaRPr/>
          </a:p>
          <a:p>
            <a:pPr indent="0" lvl="0" marL="0" rtl="0" algn="l">
              <a:spcBef>
                <a:spcPts val="0"/>
              </a:spcBef>
              <a:spcAft>
                <a:spcPts val="0"/>
              </a:spcAft>
              <a:buNone/>
            </a:pPr>
            <a:r>
              <a:rPr lang="en-US"/>
              <a:t>9.6.1 – What did I learn in this module? (Cont.)</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p5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657" name="Google Shape;657;p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8" name="Google Shape;658;p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p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4" name="Google Shape;664;p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5" name="Google Shape;665;p5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Slide-animated gradient" showMasterSp="0">
  <p:cSld name="3_Title Slide-animated gradient">
    <p:bg>
      <p:bgPr>
        <a:solidFill>
          <a:schemeClr val="accent5"/>
        </a:solidFill>
      </p:bgPr>
    </p:bg>
    <p:spTree>
      <p:nvGrpSpPr>
        <p:cNvPr id="28" name="Shape 28"/>
        <p:cNvGrpSpPr/>
        <p:nvPr/>
      </p:nvGrpSpPr>
      <p:grpSpPr>
        <a:xfrm>
          <a:off x="0" y="0"/>
          <a:ext cx="0" cy="0"/>
          <a:chOff x="0" y="0"/>
          <a:chExt cx="0" cy="0"/>
        </a:xfrm>
      </p:grpSpPr>
      <p:pic>
        <p:nvPicPr>
          <p:cNvPr id="29" name="Google Shape;29;p60"/>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30" name="Google Shape;30;p60"/>
          <p:cNvSpPr txBox="1"/>
          <p:nvPr>
            <p:ph idx="1" type="subTitle"/>
          </p:nvPr>
        </p:nvSpPr>
        <p:spPr>
          <a:xfrm>
            <a:off x="469496" y="3809526"/>
            <a:ext cx="4319105" cy="288131"/>
          </a:xfrm>
          <a:prstGeom prst="rect">
            <a:avLst/>
          </a:prstGeom>
          <a:noFill/>
          <a:ln>
            <a:noFill/>
          </a:ln>
        </p:spPr>
        <p:txBody>
          <a:bodyPr anchorCtr="0" anchor="b" bIns="45700" lIns="91400" spcFirstLastPara="1" rIns="91400" wrap="square" tIns="45700">
            <a:noAutofit/>
          </a:bodyPr>
          <a:lstStyle>
            <a:lvl1pPr lvl="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lvl="1" marR="0" rtl="0" algn="ctr">
              <a:lnSpc>
                <a:spcPct val="95000"/>
              </a:lnSpc>
              <a:spcBef>
                <a:spcPts val="600"/>
              </a:spcBef>
              <a:spcAft>
                <a:spcPts val="0"/>
              </a:spcAft>
              <a:buClr>
                <a:schemeClr val="dk2"/>
              </a:buClr>
              <a:buSzPts val="1400"/>
              <a:buFont typeface="Arial"/>
              <a:buNone/>
              <a:defRPr b="0" i="0" sz="1400" u="none" cap="none" strike="noStrike">
                <a:solidFill>
                  <a:srgbClr val="98989A"/>
                </a:solidFill>
                <a:latin typeface="Arial"/>
                <a:ea typeface="Arial"/>
                <a:cs typeface="Arial"/>
                <a:sym typeface="Arial"/>
              </a:defRPr>
            </a:lvl2pPr>
            <a:lvl3pPr lvl="2" marR="0" rtl="0" algn="ctr">
              <a:lnSpc>
                <a:spcPct val="95000"/>
              </a:lnSpc>
              <a:spcBef>
                <a:spcPts val="625"/>
              </a:spcBef>
              <a:spcAft>
                <a:spcPts val="0"/>
              </a:spcAft>
              <a:buClr>
                <a:srgbClr val="98989A"/>
              </a:buClr>
              <a:buSzPts val="1200"/>
              <a:buFont typeface="Arial"/>
              <a:buNone/>
              <a:defRPr b="0" i="0" sz="1200" u="none" cap="none" strike="noStrike">
                <a:solidFill>
                  <a:srgbClr val="98989A"/>
                </a:solidFill>
                <a:latin typeface="Arial"/>
                <a:ea typeface="Arial"/>
                <a:cs typeface="Arial"/>
                <a:sym typeface="Arial"/>
              </a:defRPr>
            </a:lvl3pPr>
            <a:lvl4pPr lvl="3"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4pPr>
            <a:lvl5pPr lvl="4"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5pPr>
            <a:lvl6pPr lvl="5" marR="0" rtl="0" algn="ctr">
              <a:spcBef>
                <a:spcPts val="600"/>
              </a:spcBef>
              <a:spcAft>
                <a:spcPts val="0"/>
              </a:spcAft>
              <a:buClr>
                <a:srgbClr val="98989A"/>
              </a:buClr>
              <a:buSzPts val="900"/>
              <a:buFont typeface="Arial"/>
              <a:buNone/>
              <a:defRPr b="0" i="0" sz="900" u="none" cap="none" strike="noStrike">
                <a:solidFill>
                  <a:srgbClr val="98989A"/>
                </a:solidFill>
                <a:latin typeface="Arial"/>
                <a:ea typeface="Arial"/>
                <a:cs typeface="Arial"/>
                <a:sym typeface="Arial"/>
              </a:defRPr>
            </a:lvl6pPr>
            <a:lvl7pPr lvl="6" marR="0" rtl="0" algn="ctr">
              <a:spcBef>
                <a:spcPts val="600"/>
              </a:spcBef>
              <a:spcAft>
                <a:spcPts val="0"/>
              </a:spcAft>
              <a:buClr>
                <a:srgbClr val="98989A"/>
              </a:buClr>
              <a:buSzPts val="800"/>
              <a:buFont typeface="Arial"/>
              <a:buNone/>
              <a:defRPr b="0" i="0" sz="800" u="none" cap="none" strike="noStrike">
                <a:solidFill>
                  <a:srgbClr val="98989A"/>
                </a:solidFill>
                <a:latin typeface="Arial"/>
                <a:ea typeface="Arial"/>
                <a:cs typeface="Arial"/>
                <a:sym typeface="Arial"/>
              </a:defRPr>
            </a:lvl7pPr>
            <a:lvl8pPr lvl="7"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8pPr>
            <a:lvl9pPr lvl="8"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9pPr>
          </a:lstStyle>
          <a:p/>
        </p:txBody>
      </p:sp>
      <p:sp>
        <p:nvSpPr>
          <p:cNvPr id="31" name="Google Shape;31;p60"/>
          <p:cNvSpPr txBox="1"/>
          <p:nvPr>
            <p:ph idx="2" type="body"/>
          </p:nvPr>
        </p:nvSpPr>
        <p:spPr>
          <a:xfrm>
            <a:off x="469496" y="4049523"/>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2" name="Google Shape;32;p60"/>
          <p:cNvSpPr txBox="1"/>
          <p:nvPr>
            <p:ph idx="3" type="body"/>
          </p:nvPr>
        </p:nvSpPr>
        <p:spPr>
          <a:xfrm>
            <a:off x="469496" y="4289520"/>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3" name="Google Shape;33;p60"/>
          <p:cNvSpPr txBox="1"/>
          <p:nvPr>
            <p:ph idx="4" type="body"/>
          </p:nvPr>
        </p:nvSpPr>
        <p:spPr>
          <a:xfrm>
            <a:off x="463292" y="2872236"/>
            <a:ext cx="5925246" cy="29900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lt2"/>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5000"/>
              </a:lnSpc>
              <a:spcBef>
                <a:spcPts val="625"/>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4" name="Google Shape;34;p60"/>
          <p:cNvSpPr txBox="1"/>
          <p:nvPr>
            <p:ph type="ctrTitle"/>
          </p:nvPr>
        </p:nvSpPr>
        <p:spPr>
          <a:xfrm>
            <a:off x="425765" y="2300750"/>
            <a:ext cx="5955513" cy="644730"/>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rgbClr val="38C6F4"/>
              </a:buClr>
              <a:buSzPts val="3600"/>
              <a:buFont typeface="Arial"/>
              <a:buNone/>
              <a:defRPr b="0" i="0" sz="3600">
                <a:solidFill>
                  <a:srgbClr val="38C6F4"/>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grpSp>
        <p:nvGrpSpPr>
          <p:cNvPr id="35" name="Google Shape;35;p60"/>
          <p:cNvGrpSpPr/>
          <p:nvPr/>
        </p:nvGrpSpPr>
        <p:grpSpPr>
          <a:xfrm>
            <a:off x="492125" y="395288"/>
            <a:ext cx="796924" cy="423863"/>
            <a:chOff x="310" y="249"/>
            <a:chExt cx="502" cy="267"/>
          </a:xfrm>
        </p:grpSpPr>
        <p:sp>
          <p:nvSpPr>
            <p:cNvPr id="36" name="Google Shape;36;p60"/>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7" name="Google Shape;37;p60"/>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8" name="Google Shape;38;p60"/>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9" name="Google Shape;39;p60"/>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0" name="Google Shape;40;p60"/>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1" name="Google Shape;41;p60"/>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2" name="Google Shape;42;p60"/>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3" name="Google Shape;43;p60"/>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4" name="Google Shape;44;p60"/>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5" name="Google Shape;45;p60"/>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6" name="Google Shape;46;p60"/>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7" name="Google Shape;47;p60"/>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8" name="Google Shape;48;p60"/>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9" name="Google Shape;49;p60"/>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transition spd="slow">
    <p:wipe dir="l"/>
  </p:transition>
  <p:extLst>
    <p:ext uri="{DCECCB84-F9BA-43D5-87BE-67443E8EF086}">
      <p15:sldGuideLst>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50" name="Shape 50"/>
        <p:cNvGrpSpPr/>
        <p:nvPr/>
      </p:nvGrpSpPr>
      <p:grpSpPr>
        <a:xfrm>
          <a:off x="0" y="0"/>
          <a:ext cx="0" cy="0"/>
          <a:chOff x="0" y="0"/>
          <a:chExt cx="0" cy="0"/>
        </a:xfrm>
      </p:grpSpPr>
      <p:sp>
        <p:nvSpPr>
          <p:cNvPr id="51" name="Google Shape;51;p61"/>
          <p:cNvSpPr txBox="1"/>
          <p:nvPr>
            <p:ph idx="12" type="sldNum"/>
          </p:nvPr>
        </p:nvSpPr>
        <p:spPr>
          <a:xfrm>
            <a:off x="8473441" y="4954263"/>
            <a:ext cx="676910" cy="189238"/>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sz="525">
                <a:solidFill>
                  <a:srgbClr val="595959"/>
                </a:solidFill>
                <a:latin typeface="Arial"/>
                <a:ea typeface="Arial"/>
                <a:cs typeface="Arial"/>
                <a:sym typeface="Arial"/>
              </a:defRPr>
            </a:lvl1pPr>
            <a:lvl2pPr indent="0" lvl="1" marL="0" marR="0" rtl="0" algn="r">
              <a:spcBef>
                <a:spcPts val="0"/>
              </a:spcBef>
              <a:spcAft>
                <a:spcPts val="0"/>
              </a:spcAft>
              <a:buNone/>
              <a:defRPr sz="525">
                <a:solidFill>
                  <a:srgbClr val="595959"/>
                </a:solidFill>
                <a:latin typeface="Arial"/>
                <a:ea typeface="Arial"/>
                <a:cs typeface="Arial"/>
                <a:sym typeface="Arial"/>
              </a:defRPr>
            </a:lvl2pPr>
            <a:lvl3pPr indent="0" lvl="2" marL="0" marR="0" rtl="0" algn="r">
              <a:spcBef>
                <a:spcPts val="0"/>
              </a:spcBef>
              <a:spcAft>
                <a:spcPts val="0"/>
              </a:spcAft>
              <a:buNone/>
              <a:defRPr sz="525">
                <a:solidFill>
                  <a:srgbClr val="595959"/>
                </a:solidFill>
                <a:latin typeface="Arial"/>
                <a:ea typeface="Arial"/>
                <a:cs typeface="Arial"/>
                <a:sym typeface="Arial"/>
              </a:defRPr>
            </a:lvl3pPr>
            <a:lvl4pPr indent="0" lvl="3" marL="0" marR="0" rtl="0" algn="r">
              <a:spcBef>
                <a:spcPts val="0"/>
              </a:spcBef>
              <a:spcAft>
                <a:spcPts val="0"/>
              </a:spcAft>
              <a:buNone/>
              <a:defRPr sz="525">
                <a:solidFill>
                  <a:srgbClr val="595959"/>
                </a:solidFill>
                <a:latin typeface="Arial"/>
                <a:ea typeface="Arial"/>
                <a:cs typeface="Arial"/>
                <a:sym typeface="Arial"/>
              </a:defRPr>
            </a:lvl4pPr>
            <a:lvl5pPr indent="0" lvl="4" marL="0" marR="0" rtl="0" algn="r">
              <a:spcBef>
                <a:spcPts val="0"/>
              </a:spcBef>
              <a:spcAft>
                <a:spcPts val="0"/>
              </a:spcAft>
              <a:buNone/>
              <a:defRPr sz="525">
                <a:solidFill>
                  <a:srgbClr val="595959"/>
                </a:solidFill>
                <a:latin typeface="Arial"/>
                <a:ea typeface="Arial"/>
                <a:cs typeface="Arial"/>
                <a:sym typeface="Arial"/>
              </a:defRPr>
            </a:lvl5pPr>
            <a:lvl6pPr indent="0" lvl="5" marL="0" marR="0" rtl="0" algn="r">
              <a:spcBef>
                <a:spcPts val="0"/>
              </a:spcBef>
              <a:spcAft>
                <a:spcPts val="0"/>
              </a:spcAft>
              <a:buNone/>
              <a:defRPr sz="525">
                <a:solidFill>
                  <a:srgbClr val="595959"/>
                </a:solidFill>
                <a:latin typeface="Arial"/>
                <a:ea typeface="Arial"/>
                <a:cs typeface="Arial"/>
                <a:sym typeface="Arial"/>
              </a:defRPr>
            </a:lvl6pPr>
            <a:lvl7pPr indent="0" lvl="6" marL="0" marR="0" rtl="0" algn="r">
              <a:spcBef>
                <a:spcPts val="0"/>
              </a:spcBef>
              <a:spcAft>
                <a:spcPts val="0"/>
              </a:spcAft>
              <a:buNone/>
              <a:defRPr sz="525">
                <a:solidFill>
                  <a:srgbClr val="595959"/>
                </a:solidFill>
                <a:latin typeface="Arial"/>
                <a:ea typeface="Arial"/>
                <a:cs typeface="Arial"/>
                <a:sym typeface="Arial"/>
              </a:defRPr>
            </a:lvl7pPr>
            <a:lvl8pPr indent="0" lvl="7" marL="0" marR="0" rtl="0" algn="r">
              <a:spcBef>
                <a:spcPts val="0"/>
              </a:spcBef>
              <a:spcAft>
                <a:spcPts val="0"/>
              </a:spcAft>
              <a:buNone/>
              <a:defRPr sz="525">
                <a:solidFill>
                  <a:srgbClr val="595959"/>
                </a:solidFill>
                <a:latin typeface="Arial"/>
                <a:ea typeface="Arial"/>
                <a:cs typeface="Arial"/>
                <a:sym typeface="Arial"/>
              </a:defRPr>
            </a:lvl8pPr>
            <a:lvl9pPr indent="0" lvl="8" marL="0" marR="0" rtl="0" algn="r">
              <a:spcBef>
                <a:spcPts val="0"/>
              </a:spcBef>
              <a:spcAft>
                <a:spcPts val="0"/>
              </a:spcAft>
              <a:buNone/>
              <a:defRPr sz="525">
                <a:solidFill>
                  <a:srgbClr val="59595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52" name="Google Shape;52;p61"/>
          <p:cNvSpPr txBox="1"/>
          <p:nvPr>
            <p:ph idx="1" type="body"/>
          </p:nvPr>
        </p:nvSpPr>
        <p:spPr>
          <a:xfrm>
            <a:off x="144065" y="798944"/>
            <a:ext cx="8853286" cy="4155319"/>
          </a:xfrm>
          <a:prstGeom prst="rect">
            <a:avLst/>
          </a:prstGeom>
          <a:noFill/>
          <a:ln>
            <a:noFill/>
          </a:ln>
        </p:spPr>
        <p:txBody>
          <a:bodyPr anchorCtr="0" anchor="t" bIns="45700" lIns="91425" spcFirstLastPara="1" rIns="182875" wrap="square" tIns="45700">
            <a:noAutofit/>
          </a:bodyPr>
          <a:lstStyle>
            <a:lvl1pPr indent="-314325" lvl="0" marL="457200" marR="0" rtl="0" algn="l">
              <a:lnSpc>
                <a:spcPct val="100000"/>
              </a:lnSpc>
              <a:spcBef>
                <a:spcPts val="600"/>
              </a:spcBef>
              <a:spcAft>
                <a:spcPts val="0"/>
              </a:spcAft>
              <a:buClr>
                <a:schemeClr val="dk2"/>
              </a:buClr>
              <a:buSzPts val="1350"/>
              <a:buFont typeface="Noto Sans Symbols"/>
              <a:buChar char="▪"/>
              <a:defRPr b="0" i="0" sz="1500" u="none" cap="none" strike="noStrike">
                <a:solidFill>
                  <a:srgbClr val="000000"/>
                </a:solidFill>
                <a:latin typeface="Arial"/>
                <a:ea typeface="Arial"/>
                <a:cs typeface="Arial"/>
                <a:sym typeface="Arial"/>
              </a:defRPr>
            </a:lvl1pPr>
            <a:lvl2pPr indent="-317500" lvl="1" marL="914400" marR="0" rtl="0" algn="l">
              <a:lnSpc>
                <a:spcPct val="100000"/>
              </a:lnSpc>
              <a:spcBef>
                <a:spcPts val="600"/>
              </a:spcBef>
              <a:spcAft>
                <a:spcPts val="0"/>
              </a:spcAft>
              <a:buClr>
                <a:schemeClr val="dk2"/>
              </a:buClr>
              <a:buSzPts val="1400"/>
              <a:buFont typeface="Arial"/>
              <a:buChar char="•"/>
              <a:defRPr b="0" i="0" sz="1400" u="none" cap="none" strike="noStrike">
                <a:solidFill>
                  <a:srgbClr val="000000"/>
                </a:solidFill>
                <a:latin typeface="Arial"/>
                <a:ea typeface="Arial"/>
                <a:cs typeface="Arial"/>
                <a:sym typeface="Arial"/>
              </a:defRPr>
            </a:lvl2pPr>
            <a:lvl3pPr indent="-304800" lvl="2" marL="1371600" marR="0" rtl="0" algn="l">
              <a:lnSpc>
                <a:spcPct val="100000"/>
              </a:lnSpc>
              <a:spcBef>
                <a:spcPts val="30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3pPr>
            <a:lvl4pPr indent="-298450" lvl="3" marL="1828800" marR="0" rtl="0" algn="l">
              <a:lnSpc>
                <a:spcPct val="100000"/>
              </a:lnSpc>
              <a:spcBef>
                <a:spcPts val="30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95000"/>
              </a:lnSpc>
              <a:spcBef>
                <a:spcPts val="625"/>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53" name="Google Shape;53;p61"/>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2400"/>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Segue" showMasterSp="0">
  <p:cSld name="3_Segue">
    <p:bg>
      <p:bgPr>
        <a:solidFill>
          <a:schemeClr val="lt1"/>
        </a:solidFill>
      </p:bgPr>
    </p:bg>
    <p:spTree>
      <p:nvGrpSpPr>
        <p:cNvPr id="54" name="Shape 54"/>
        <p:cNvGrpSpPr/>
        <p:nvPr/>
      </p:nvGrpSpPr>
      <p:grpSpPr>
        <a:xfrm>
          <a:off x="0" y="0"/>
          <a:ext cx="0" cy="0"/>
          <a:chOff x="0" y="0"/>
          <a:chExt cx="0" cy="0"/>
        </a:xfrm>
      </p:grpSpPr>
      <p:sp>
        <p:nvSpPr>
          <p:cNvPr id="55" name="Google Shape;55;p62"/>
          <p:cNvSpPr/>
          <p:nvPr/>
        </p:nvSpPr>
        <p:spPr>
          <a:xfrm>
            <a:off x="0" y="0"/>
            <a:ext cx="9144000" cy="5143499"/>
          </a:xfrm>
          <a:prstGeom prst="rect">
            <a:avLst/>
          </a:prstGeom>
          <a:solidFill>
            <a:srgbClr val="00394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6" name="Google Shape;56;p62"/>
          <p:cNvSpPr txBox="1"/>
          <p:nvPr>
            <p:ph type="ctrTitle"/>
          </p:nvPr>
        </p:nvSpPr>
        <p:spPr>
          <a:xfrm>
            <a:off x="416425" y="915409"/>
            <a:ext cx="7598042" cy="2569946"/>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chemeClr val="accent5"/>
              </a:buClr>
              <a:buSzPts val="4600"/>
              <a:buFont typeface="Arial"/>
              <a:buNone/>
              <a:defRPr b="0" i="0" sz="4600">
                <a:solidFill>
                  <a:schemeClr val="accent5"/>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57" name="Google Shape;57;p62"/>
          <p:cNvSpPr/>
          <p:nvPr/>
        </p:nvSpPr>
        <p:spPr>
          <a:xfrm>
            <a:off x="8515707" y="4742907"/>
            <a:ext cx="218414" cy="154518"/>
          </a:xfrm>
          <a:prstGeom prst="rect">
            <a:avLst/>
          </a:prstGeom>
          <a:noFill/>
          <a:ln>
            <a:noFill/>
          </a:ln>
        </p:spPr>
        <p:txBody>
          <a:bodyPr anchorCtr="0" anchor="b" bIns="30775" lIns="61575" spcFirstLastPara="1" rIns="61575" wrap="square" tIns="30775">
            <a:spAutoFit/>
          </a:bodyPr>
          <a:lstStyle/>
          <a:p>
            <a:pPr indent="0" lvl="0" marL="0" marR="0" rtl="0" algn="r">
              <a:spcBef>
                <a:spcPts val="0"/>
              </a:spcBef>
              <a:spcAft>
                <a:spcPts val="0"/>
              </a:spcAft>
              <a:buNone/>
            </a:pPr>
            <a:fld id="{00000000-1234-1234-1234-123412341234}" type="slidenum">
              <a:rPr lang="en-US" sz="600">
                <a:solidFill>
                  <a:srgbClr val="076D8E"/>
                </a:solidFill>
                <a:latin typeface="Arial"/>
                <a:ea typeface="Arial"/>
                <a:cs typeface="Arial"/>
                <a:sym typeface="Arial"/>
              </a:rPr>
              <a:t>‹#›</a:t>
            </a:fld>
            <a:endParaRPr sz="600">
              <a:solidFill>
                <a:srgbClr val="076D8E"/>
              </a:solidFill>
              <a:latin typeface="Arial"/>
              <a:ea typeface="Arial"/>
              <a:cs typeface="Arial"/>
              <a:sym typeface="Arial"/>
            </a:endParaRPr>
          </a:p>
        </p:txBody>
      </p:sp>
      <p:sp>
        <p:nvSpPr>
          <p:cNvPr id="58" name="Google Shape;58;p62"/>
          <p:cNvSpPr/>
          <p:nvPr/>
        </p:nvSpPr>
        <p:spPr>
          <a:xfrm>
            <a:off x="5867508" y="4741653"/>
            <a:ext cx="2658018" cy="154518"/>
          </a:xfrm>
          <a:prstGeom prst="rect">
            <a:avLst/>
          </a:prstGeom>
          <a:noFill/>
          <a:ln>
            <a:noFill/>
          </a:ln>
        </p:spPr>
        <p:txBody>
          <a:bodyPr anchorCtr="0" anchor="b" bIns="30775" lIns="61575" spcFirstLastPara="1" rIns="61575" wrap="square" tIns="30775">
            <a:spAutoFit/>
          </a:bodyPr>
          <a:lstStyle/>
          <a:p>
            <a:pPr indent="0" lvl="0" marL="0" marR="0" rtl="0" algn="l">
              <a:spcBef>
                <a:spcPts val="0"/>
              </a:spcBef>
              <a:spcAft>
                <a:spcPts val="0"/>
              </a:spcAft>
              <a:buNone/>
            </a:pPr>
            <a:r>
              <a:rPr lang="en-US" sz="600">
                <a:solidFill>
                  <a:srgbClr val="076D8E"/>
                </a:solidFill>
                <a:latin typeface="Arial"/>
                <a:ea typeface="Arial"/>
                <a:cs typeface="Arial"/>
                <a:sym typeface="Arial"/>
              </a:rPr>
              <a:t>© 2016  Cisco and/or its affiliates. All rights reserved.   Cisco Confidential</a:t>
            </a:r>
            <a:endParaRPr/>
          </a:p>
        </p:txBody>
      </p:sp>
      <p:grpSp>
        <p:nvGrpSpPr>
          <p:cNvPr id="59" name="Google Shape;59;p62"/>
          <p:cNvGrpSpPr/>
          <p:nvPr/>
        </p:nvGrpSpPr>
        <p:grpSpPr>
          <a:xfrm>
            <a:off x="508039" y="4715197"/>
            <a:ext cx="340257" cy="180974"/>
            <a:chOff x="310" y="249"/>
            <a:chExt cx="502" cy="267"/>
          </a:xfrm>
        </p:grpSpPr>
        <p:sp>
          <p:nvSpPr>
            <p:cNvPr id="60" name="Google Shape;60;p62"/>
            <p:cNvSpPr/>
            <p:nvPr/>
          </p:nvSpPr>
          <p:spPr>
            <a:xfrm>
              <a:off x="452" y="426"/>
              <a:ext cx="22" cy="88"/>
            </a:xfrm>
            <a:prstGeom prst="rect">
              <a:avLst/>
            </a:pr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1" name="Google Shape;61;p62"/>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2" name="Google Shape;62;p62"/>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3" name="Google Shape;63;p62"/>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4" name="Google Shape;64;p62"/>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5" name="Google Shape;65;p62"/>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6" name="Google Shape;66;p62"/>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7" name="Google Shape;67;p62"/>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8" name="Google Shape;68;p62"/>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9" name="Google Shape;69;p62"/>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0" name="Google Shape;70;p62"/>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1" name="Google Shape;71;p62"/>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2" name="Google Shape;72;p62"/>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3" name="Google Shape;73;p62"/>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_Slide">
  <p:cSld name="Multi_Slide">
    <p:spTree>
      <p:nvGrpSpPr>
        <p:cNvPr id="74" name="Shape 74"/>
        <p:cNvGrpSpPr/>
        <p:nvPr/>
      </p:nvGrpSpPr>
      <p:grpSpPr>
        <a:xfrm>
          <a:off x="0" y="0"/>
          <a:ext cx="0" cy="0"/>
          <a:chOff x="0" y="0"/>
          <a:chExt cx="0" cy="0"/>
        </a:xfrm>
      </p:grpSpPr>
      <p:sp>
        <p:nvSpPr>
          <p:cNvPr id="75" name="Google Shape;75;p63"/>
          <p:cNvSpPr txBox="1"/>
          <p:nvPr>
            <p:ph idx="1" type="body"/>
          </p:nvPr>
        </p:nvSpPr>
        <p:spPr>
          <a:xfrm>
            <a:off x="474662" y="1347788"/>
            <a:ext cx="8280057" cy="3073946"/>
          </a:xfrm>
          <a:prstGeom prst="rect">
            <a:avLst/>
          </a:prstGeom>
          <a:noFill/>
          <a:ln>
            <a:noFill/>
          </a:ln>
        </p:spPr>
        <p:txBody>
          <a:bodyPr anchorCtr="0" anchor="t" bIns="45700" lIns="91400" spcFirstLastPara="1" rIns="91400" wrap="square" tIns="45700">
            <a:noAutofit/>
          </a:bodyPr>
          <a:lstStyle>
            <a:lvl1pPr indent="-228600" lvl="0" marL="457200" marR="0" rtl="0" algn="ctr">
              <a:lnSpc>
                <a:spcPct val="100000"/>
              </a:lnSpc>
              <a:spcBef>
                <a:spcPts val="400"/>
              </a:spcBef>
              <a:spcAft>
                <a:spcPts val="0"/>
              </a:spcAft>
              <a:buClr>
                <a:schemeClr val="lt1"/>
              </a:buClr>
              <a:buSzPts val="2000"/>
              <a:buFont typeface="Arial"/>
              <a:buNone/>
              <a:defRPr b="0" i="0" sz="2000" u="none" cap="none" strike="noStrike">
                <a:solidFill>
                  <a:schemeClr val="l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chemeClr val="dk1"/>
                </a:solidFill>
                <a:latin typeface="Arial"/>
                <a:ea typeface="Arial"/>
                <a:cs typeface="Arial"/>
                <a:sym typeface="Arial"/>
              </a:defRPr>
            </a:lvl2pPr>
            <a:lvl3pPr indent="-304800" lvl="2" marL="1371600" marR="0" rtl="0" algn="l">
              <a:lnSpc>
                <a:spcPct val="95000"/>
              </a:lnSpc>
              <a:spcBef>
                <a:spcPts val="625"/>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298450" lvl="3" marL="1828800" marR="0" rtl="0" algn="l">
              <a:lnSpc>
                <a:spcPct val="95000"/>
              </a:lnSpc>
              <a:spcBef>
                <a:spcPts val="625"/>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indent="-298450" lvl="4" marL="2286000" marR="0" rtl="0" algn="l">
              <a:lnSpc>
                <a:spcPct val="95000"/>
              </a:lnSpc>
              <a:spcBef>
                <a:spcPts val="625"/>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76" name="Google Shape;76;p63"/>
          <p:cNvSpPr txBox="1"/>
          <p:nvPr>
            <p:ph type="title"/>
          </p:nvPr>
        </p:nvSpPr>
        <p:spPr>
          <a:xfrm>
            <a:off x="437766"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rgbClr val="004C69"/>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losing Slide" showMasterSp="0">
  <p:cSld name="1_Closing Slide">
    <p:bg>
      <p:bgPr>
        <a:solidFill>
          <a:schemeClr val="accent5"/>
        </a:solidFill>
      </p:bgPr>
    </p:bg>
    <p:spTree>
      <p:nvGrpSpPr>
        <p:cNvPr id="77" name="Shape 77"/>
        <p:cNvGrpSpPr/>
        <p:nvPr/>
      </p:nvGrpSpPr>
      <p:grpSpPr>
        <a:xfrm>
          <a:off x="0" y="0"/>
          <a:ext cx="0" cy="0"/>
          <a:chOff x="0" y="0"/>
          <a:chExt cx="0" cy="0"/>
        </a:xfrm>
      </p:grpSpPr>
      <p:pic>
        <p:nvPicPr>
          <p:cNvPr id="78" name="Google Shape;78;p64"/>
          <p:cNvPicPr preferRelativeResize="0"/>
          <p:nvPr/>
        </p:nvPicPr>
        <p:blipFill rotWithShape="1">
          <a:blip r:embed="rId2">
            <a:alphaModFix/>
          </a:blip>
          <a:srcRect b="0" l="0" r="0" t="0"/>
          <a:stretch/>
        </p:blipFill>
        <p:spPr>
          <a:xfrm>
            <a:off x="0" y="1"/>
            <a:ext cx="9143999" cy="5165874"/>
          </a:xfrm>
          <a:prstGeom prst="rect">
            <a:avLst/>
          </a:prstGeom>
          <a:noFill/>
          <a:ln>
            <a:noFill/>
          </a:ln>
        </p:spPr>
      </p:pic>
      <p:grpSp>
        <p:nvGrpSpPr>
          <p:cNvPr id="79" name="Google Shape;79;p64"/>
          <p:cNvGrpSpPr/>
          <p:nvPr/>
        </p:nvGrpSpPr>
        <p:grpSpPr>
          <a:xfrm>
            <a:off x="3746294" y="2129856"/>
            <a:ext cx="1617944" cy="860542"/>
            <a:chOff x="310" y="249"/>
            <a:chExt cx="502" cy="267"/>
          </a:xfrm>
        </p:grpSpPr>
        <p:sp>
          <p:nvSpPr>
            <p:cNvPr id="80" name="Google Shape;80;p64"/>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1" name="Google Shape;81;p64"/>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2" name="Google Shape;82;p64"/>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3" name="Google Shape;83;p64"/>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4" name="Google Shape;84;p64"/>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5" name="Google Shape;85;p64"/>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6" name="Google Shape;86;p64"/>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7" name="Google Shape;87;p64"/>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8" name="Google Shape;88;p64"/>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9" name="Google Shape;89;p64"/>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0" name="Google Shape;90;p64"/>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1" name="Google Shape;91;p64"/>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2" name="Google Shape;92;p64"/>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3" name="Google Shape;93;p64"/>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Slide-animated gradient" showMasterSp="0">
  <p:cSld name="5_Title Slide-animated gradient">
    <p:bg>
      <p:bgPr>
        <a:solidFill>
          <a:schemeClr val="accent5"/>
        </a:solidFill>
      </p:bgPr>
    </p:bg>
    <p:spTree>
      <p:nvGrpSpPr>
        <p:cNvPr id="94" name="Shape 94"/>
        <p:cNvGrpSpPr/>
        <p:nvPr/>
      </p:nvGrpSpPr>
      <p:grpSpPr>
        <a:xfrm>
          <a:off x="0" y="0"/>
          <a:ext cx="0" cy="0"/>
          <a:chOff x="0" y="0"/>
          <a:chExt cx="0" cy="0"/>
        </a:xfrm>
      </p:grpSpPr>
      <p:sp>
        <p:nvSpPr>
          <p:cNvPr id="95" name="Google Shape;95;p65"/>
          <p:cNvSpPr txBox="1"/>
          <p:nvPr>
            <p:ph idx="1" type="subTitle"/>
          </p:nvPr>
        </p:nvSpPr>
        <p:spPr>
          <a:xfrm>
            <a:off x="469496" y="3809526"/>
            <a:ext cx="4319105" cy="288131"/>
          </a:xfrm>
          <a:prstGeom prst="rect">
            <a:avLst/>
          </a:prstGeom>
          <a:noFill/>
          <a:ln>
            <a:noFill/>
          </a:ln>
        </p:spPr>
        <p:txBody>
          <a:bodyPr anchorCtr="0" anchor="b" bIns="45700" lIns="91400" spcFirstLastPara="1" rIns="91400" wrap="square" tIns="45700">
            <a:noAutofit/>
          </a:bodyPr>
          <a:lstStyle>
            <a:lvl1pPr lvl="0" marR="0" rtl="0" algn="l">
              <a:lnSpc>
                <a:spcPct val="95000"/>
              </a:lnSpc>
              <a:spcBef>
                <a:spcPts val="1075"/>
              </a:spcBef>
              <a:spcAft>
                <a:spcPts val="0"/>
              </a:spcAft>
              <a:buClr>
                <a:schemeClr val="dk2"/>
              </a:buClr>
              <a:buSzPts val="1080"/>
              <a:buFont typeface="Arial"/>
              <a:buNone/>
              <a:defRPr b="0" i="0" sz="1200" u="none" cap="none" strike="noStrike">
                <a:solidFill>
                  <a:schemeClr val="accent1"/>
                </a:solidFill>
                <a:latin typeface="Arial"/>
                <a:ea typeface="Arial"/>
                <a:cs typeface="Arial"/>
                <a:sym typeface="Arial"/>
              </a:defRPr>
            </a:lvl1pPr>
            <a:lvl2pPr lvl="1" marR="0" rtl="0" algn="ctr">
              <a:lnSpc>
                <a:spcPct val="95000"/>
              </a:lnSpc>
              <a:spcBef>
                <a:spcPts val="600"/>
              </a:spcBef>
              <a:spcAft>
                <a:spcPts val="0"/>
              </a:spcAft>
              <a:buClr>
                <a:schemeClr val="dk2"/>
              </a:buClr>
              <a:buSzPts val="1400"/>
              <a:buFont typeface="Arial"/>
              <a:buNone/>
              <a:defRPr b="0" i="0" sz="1400" u="none" cap="none" strike="noStrike">
                <a:solidFill>
                  <a:srgbClr val="98989A"/>
                </a:solidFill>
                <a:latin typeface="Arial"/>
                <a:ea typeface="Arial"/>
                <a:cs typeface="Arial"/>
                <a:sym typeface="Arial"/>
              </a:defRPr>
            </a:lvl2pPr>
            <a:lvl3pPr lvl="2" marR="0" rtl="0" algn="ctr">
              <a:lnSpc>
                <a:spcPct val="95000"/>
              </a:lnSpc>
              <a:spcBef>
                <a:spcPts val="625"/>
              </a:spcBef>
              <a:spcAft>
                <a:spcPts val="0"/>
              </a:spcAft>
              <a:buClr>
                <a:srgbClr val="98989A"/>
              </a:buClr>
              <a:buSzPts val="1200"/>
              <a:buFont typeface="Arial"/>
              <a:buNone/>
              <a:defRPr b="0" i="0" sz="1200" u="none" cap="none" strike="noStrike">
                <a:solidFill>
                  <a:srgbClr val="98989A"/>
                </a:solidFill>
                <a:latin typeface="Arial"/>
                <a:ea typeface="Arial"/>
                <a:cs typeface="Arial"/>
                <a:sym typeface="Arial"/>
              </a:defRPr>
            </a:lvl3pPr>
            <a:lvl4pPr lvl="3"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4pPr>
            <a:lvl5pPr lvl="4"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5pPr>
            <a:lvl6pPr lvl="5" marR="0" rtl="0" algn="ctr">
              <a:spcBef>
                <a:spcPts val="600"/>
              </a:spcBef>
              <a:spcAft>
                <a:spcPts val="0"/>
              </a:spcAft>
              <a:buClr>
                <a:srgbClr val="98989A"/>
              </a:buClr>
              <a:buSzPts val="900"/>
              <a:buFont typeface="Arial"/>
              <a:buNone/>
              <a:defRPr b="0" i="0" sz="900" u="none" cap="none" strike="noStrike">
                <a:solidFill>
                  <a:srgbClr val="98989A"/>
                </a:solidFill>
                <a:latin typeface="Arial"/>
                <a:ea typeface="Arial"/>
                <a:cs typeface="Arial"/>
                <a:sym typeface="Arial"/>
              </a:defRPr>
            </a:lvl6pPr>
            <a:lvl7pPr lvl="6" marR="0" rtl="0" algn="ctr">
              <a:spcBef>
                <a:spcPts val="600"/>
              </a:spcBef>
              <a:spcAft>
                <a:spcPts val="0"/>
              </a:spcAft>
              <a:buClr>
                <a:srgbClr val="98989A"/>
              </a:buClr>
              <a:buSzPts val="800"/>
              <a:buFont typeface="Arial"/>
              <a:buNone/>
              <a:defRPr b="0" i="0" sz="800" u="none" cap="none" strike="noStrike">
                <a:solidFill>
                  <a:srgbClr val="98989A"/>
                </a:solidFill>
                <a:latin typeface="Arial"/>
                <a:ea typeface="Arial"/>
                <a:cs typeface="Arial"/>
                <a:sym typeface="Arial"/>
              </a:defRPr>
            </a:lvl7pPr>
            <a:lvl8pPr lvl="7"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8pPr>
            <a:lvl9pPr lvl="8"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9pPr>
          </a:lstStyle>
          <a:p/>
        </p:txBody>
      </p:sp>
      <p:sp>
        <p:nvSpPr>
          <p:cNvPr id="96" name="Google Shape;96;p65"/>
          <p:cNvSpPr txBox="1"/>
          <p:nvPr>
            <p:ph idx="2" type="body"/>
          </p:nvPr>
        </p:nvSpPr>
        <p:spPr>
          <a:xfrm>
            <a:off x="469496" y="4049523"/>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1"/>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97" name="Google Shape;97;p65"/>
          <p:cNvSpPr txBox="1"/>
          <p:nvPr>
            <p:ph idx="3" type="body"/>
          </p:nvPr>
        </p:nvSpPr>
        <p:spPr>
          <a:xfrm>
            <a:off x="469496" y="4289520"/>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1"/>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grpSp>
        <p:nvGrpSpPr>
          <p:cNvPr id="98" name="Google Shape;98;p65"/>
          <p:cNvGrpSpPr/>
          <p:nvPr/>
        </p:nvGrpSpPr>
        <p:grpSpPr>
          <a:xfrm>
            <a:off x="492125" y="395288"/>
            <a:ext cx="796924" cy="423863"/>
            <a:chOff x="310" y="249"/>
            <a:chExt cx="502" cy="267"/>
          </a:xfrm>
        </p:grpSpPr>
        <p:sp>
          <p:nvSpPr>
            <p:cNvPr id="99" name="Google Shape;99;p65"/>
            <p:cNvSpPr/>
            <p:nvPr/>
          </p:nvSpPr>
          <p:spPr>
            <a:xfrm>
              <a:off x="452" y="426"/>
              <a:ext cx="22" cy="88"/>
            </a:xfrm>
            <a:prstGeom prst="rect">
              <a:avLst/>
            </a:pr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0" name="Google Shape;100;p65"/>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1" name="Google Shape;101;p65"/>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2" name="Google Shape;102;p65"/>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3" name="Google Shape;103;p65"/>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4" name="Google Shape;104;p65"/>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5" name="Google Shape;105;p65"/>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6" name="Google Shape;106;p65"/>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7" name="Google Shape;107;p65"/>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8" name="Google Shape;108;p65"/>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9" name="Google Shape;109;p65"/>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0" name="Google Shape;110;p65"/>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1" name="Google Shape;111;p65"/>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2" name="Google Shape;112;p65"/>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13" name="Google Shape;113;p65"/>
          <p:cNvSpPr txBox="1"/>
          <p:nvPr>
            <p:ph idx="4" type="body"/>
          </p:nvPr>
        </p:nvSpPr>
        <p:spPr>
          <a:xfrm>
            <a:off x="463292" y="2872236"/>
            <a:ext cx="5925246" cy="29900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5000"/>
              </a:lnSpc>
              <a:spcBef>
                <a:spcPts val="625"/>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14" name="Google Shape;114;p65"/>
          <p:cNvSpPr txBox="1"/>
          <p:nvPr>
            <p:ph type="ctrTitle"/>
          </p:nvPr>
        </p:nvSpPr>
        <p:spPr>
          <a:xfrm>
            <a:off x="425765" y="2300750"/>
            <a:ext cx="5955513" cy="644730"/>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chemeClr val="accent1"/>
              </a:buClr>
              <a:buSzPts val="3600"/>
              <a:buFont typeface="Arial"/>
              <a:buNone/>
              <a:defRPr b="0" i="0" sz="3600">
                <a:solidFill>
                  <a:schemeClr val="accent1"/>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transition spd="slow">
    <p:wipe dir="l"/>
  </p:transition>
  <p:extLst>
    <p:ext uri="{DCECCB84-F9BA-43D5-87BE-67443E8EF086}">
      <p15:sldGuideLst>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Title Slide-animated gradient" showMasterSp="0">
  <p:cSld name="6_Title Slide-animated gradient">
    <p:bg>
      <p:bgPr>
        <a:solidFill>
          <a:schemeClr val="accent5"/>
        </a:solidFill>
      </p:bgPr>
    </p:bg>
    <p:spTree>
      <p:nvGrpSpPr>
        <p:cNvPr id="115" name="Shape 115"/>
        <p:cNvGrpSpPr/>
        <p:nvPr/>
      </p:nvGrpSpPr>
      <p:grpSpPr>
        <a:xfrm>
          <a:off x="0" y="0"/>
          <a:ext cx="0" cy="0"/>
          <a:chOff x="0" y="0"/>
          <a:chExt cx="0" cy="0"/>
        </a:xfrm>
      </p:grpSpPr>
      <p:sp>
        <p:nvSpPr>
          <p:cNvPr id="116" name="Google Shape;116;p66"/>
          <p:cNvSpPr/>
          <p:nvPr/>
        </p:nvSpPr>
        <p:spPr>
          <a:xfrm>
            <a:off x="0" y="0"/>
            <a:ext cx="9144000" cy="5143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7" name="Google Shape;117;p66"/>
          <p:cNvSpPr txBox="1"/>
          <p:nvPr>
            <p:ph idx="1" type="subTitle"/>
          </p:nvPr>
        </p:nvSpPr>
        <p:spPr>
          <a:xfrm>
            <a:off x="469496" y="3809526"/>
            <a:ext cx="4319105" cy="288131"/>
          </a:xfrm>
          <a:prstGeom prst="rect">
            <a:avLst/>
          </a:prstGeom>
          <a:noFill/>
          <a:ln>
            <a:noFill/>
          </a:ln>
        </p:spPr>
        <p:txBody>
          <a:bodyPr anchorCtr="0" anchor="b" bIns="45700" lIns="91400" spcFirstLastPara="1" rIns="91400" wrap="square" tIns="45700">
            <a:noAutofit/>
          </a:bodyPr>
          <a:lstStyle>
            <a:lvl1pPr lvl="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lvl="1" marR="0" rtl="0" algn="ctr">
              <a:lnSpc>
                <a:spcPct val="95000"/>
              </a:lnSpc>
              <a:spcBef>
                <a:spcPts val="600"/>
              </a:spcBef>
              <a:spcAft>
                <a:spcPts val="0"/>
              </a:spcAft>
              <a:buClr>
                <a:schemeClr val="dk2"/>
              </a:buClr>
              <a:buSzPts val="1400"/>
              <a:buFont typeface="Arial"/>
              <a:buNone/>
              <a:defRPr b="0" i="0" sz="1400" u="none" cap="none" strike="noStrike">
                <a:solidFill>
                  <a:srgbClr val="98989A"/>
                </a:solidFill>
                <a:latin typeface="Arial"/>
                <a:ea typeface="Arial"/>
                <a:cs typeface="Arial"/>
                <a:sym typeface="Arial"/>
              </a:defRPr>
            </a:lvl2pPr>
            <a:lvl3pPr lvl="2" marR="0" rtl="0" algn="ctr">
              <a:lnSpc>
                <a:spcPct val="95000"/>
              </a:lnSpc>
              <a:spcBef>
                <a:spcPts val="625"/>
              </a:spcBef>
              <a:spcAft>
                <a:spcPts val="0"/>
              </a:spcAft>
              <a:buClr>
                <a:srgbClr val="98989A"/>
              </a:buClr>
              <a:buSzPts val="1200"/>
              <a:buFont typeface="Arial"/>
              <a:buNone/>
              <a:defRPr b="0" i="0" sz="1200" u="none" cap="none" strike="noStrike">
                <a:solidFill>
                  <a:srgbClr val="98989A"/>
                </a:solidFill>
                <a:latin typeface="Arial"/>
                <a:ea typeface="Arial"/>
                <a:cs typeface="Arial"/>
                <a:sym typeface="Arial"/>
              </a:defRPr>
            </a:lvl3pPr>
            <a:lvl4pPr lvl="3"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4pPr>
            <a:lvl5pPr lvl="4"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5pPr>
            <a:lvl6pPr lvl="5" marR="0" rtl="0" algn="ctr">
              <a:spcBef>
                <a:spcPts val="600"/>
              </a:spcBef>
              <a:spcAft>
                <a:spcPts val="0"/>
              </a:spcAft>
              <a:buClr>
                <a:srgbClr val="98989A"/>
              </a:buClr>
              <a:buSzPts val="900"/>
              <a:buFont typeface="Arial"/>
              <a:buNone/>
              <a:defRPr b="0" i="0" sz="900" u="none" cap="none" strike="noStrike">
                <a:solidFill>
                  <a:srgbClr val="98989A"/>
                </a:solidFill>
                <a:latin typeface="Arial"/>
                <a:ea typeface="Arial"/>
                <a:cs typeface="Arial"/>
                <a:sym typeface="Arial"/>
              </a:defRPr>
            </a:lvl6pPr>
            <a:lvl7pPr lvl="6" marR="0" rtl="0" algn="ctr">
              <a:spcBef>
                <a:spcPts val="600"/>
              </a:spcBef>
              <a:spcAft>
                <a:spcPts val="0"/>
              </a:spcAft>
              <a:buClr>
                <a:srgbClr val="98989A"/>
              </a:buClr>
              <a:buSzPts val="800"/>
              <a:buFont typeface="Arial"/>
              <a:buNone/>
              <a:defRPr b="0" i="0" sz="800" u="none" cap="none" strike="noStrike">
                <a:solidFill>
                  <a:srgbClr val="98989A"/>
                </a:solidFill>
                <a:latin typeface="Arial"/>
                <a:ea typeface="Arial"/>
                <a:cs typeface="Arial"/>
                <a:sym typeface="Arial"/>
              </a:defRPr>
            </a:lvl7pPr>
            <a:lvl8pPr lvl="7"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8pPr>
            <a:lvl9pPr lvl="8"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9pPr>
          </a:lstStyle>
          <a:p/>
        </p:txBody>
      </p:sp>
      <p:sp>
        <p:nvSpPr>
          <p:cNvPr id="118" name="Google Shape;118;p66"/>
          <p:cNvSpPr txBox="1"/>
          <p:nvPr>
            <p:ph idx="2" type="body"/>
          </p:nvPr>
        </p:nvSpPr>
        <p:spPr>
          <a:xfrm>
            <a:off x="469496" y="4049523"/>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19" name="Google Shape;119;p66"/>
          <p:cNvSpPr txBox="1"/>
          <p:nvPr>
            <p:ph idx="3" type="body"/>
          </p:nvPr>
        </p:nvSpPr>
        <p:spPr>
          <a:xfrm>
            <a:off x="469496" y="4289520"/>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grpSp>
        <p:nvGrpSpPr>
          <p:cNvPr id="120" name="Google Shape;120;p66"/>
          <p:cNvGrpSpPr/>
          <p:nvPr/>
        </p:nvGrpSpPr>
        <p:grpSpPr>
          <a:xfrm>
            <a:off x="492125" y="395288"/>
            <a:ext cx="796924" cy="423863"/>
            <a:chOff x="310" y="249"/>
            <a:chExt cx="502" cy="267"/>
          </a:xfrm>
        </p:grpSpPr>
        <p:sp>
          <p:nvSpPr>
            <p:cNvPr id="121" name="Google Shape;121;p66"/>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2" name="Google Shape;122;p66"/>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3" name="Google Shape;123;p66"/>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4" name="Google Shape;124;p66"/>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5" name="Google Shape;125;p66"/>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6" name="Google Shape;126;p66"/>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7" name="Google Shape;127;p66"/>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8" name="Google Shape;128;p66"/>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9" name="Google Shape;129;p66"/>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0" name="Google Shape;130;p66"/>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1" name="Google Shape;131;p66"/>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2" name="Google Shape;132;p66"/>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3" name="Google Shape;133;p66"/>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4" name="Google Shape;134;p66"/>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35" name="Google Shape;135;p66"/>
          <p:cNvSpPr txBox="1"/>
          <p:nvPr>
            <p:ph idx="4" type="body"/>
          </p:nvPr>
        </p:nvSpPr>
        <p:spPr>
          <a:xfrm>
            <a:off x="463292" y="2872236"/>
            <a:ext cx="5925246" cy="29900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lt2"/>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5000"/>
              </a:lnSpc>
              <a:spcBef>
                <a:spcPts val="625"/>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36" name="Google Shape;136;p66"/>
          <p:cNvSpPr txBox="1"/>
          <p:nvPr>
            <p:ph type="ctrTitle"/>
          </p:nvPr>
        </p:nvSpPr>
        <p:spPr>
          <a:xfrm>
            <a:off x="425765" y="2300750"/>
            <a:ext cx="5955513" cy="644730"/>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rgbClr val="38C6F4"/>
              </a:buClr>
              <a:buSzPts val="3600"/>
              <a:buFont typeface="Arial"/>
              <a:buNone/>
              <a:defRPr b="0" i="0" sz="3600">
                <a:solidFill>
                  <a:srgbClr val="38C6F4"/>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transition spd="slow">
    <p:wipe dir="l"/>
  </p:transition>
  <p:extLst>
    <p:ext uri="{DCECCB84-F9BA-43D5-87BE-67443E8EF086}">
      <p15:sldGuideLst>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p:cSld name="Blank Slide">
    <p:spTree>
      <p:nvGrpSpPr>
        <p:cNvPr id="137" name="Shape 137"/>
        <p:cNvGrpSpPr/>
        <p:nvPr/>
      </p:nvGrpSpPr>
      <p:grpSpPr>
        <a:xfrm>
          <a:off x="0" y="0"/>
          <a:ext cx="0" cy="0"/>
          <a:chOff x="0" y="0"/>
          <a:chExt cx="0" cy="0"/>
        </a:xfrm>
      </p:grpSpPr>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ircled_Bullets">
  <p:cSld name="2_Circled_Bullets">
    <p:spTree>
      <p:nvGrpSpPr>
        <p:cNvPr id="138" name="Shape 138"/>
        <p:cNvGrpSpPr/>
        <p:nvPr/>
      </p:nvGrpSpPr>
      <p:grpSpPr>
        <a:xfrm>
          <a:off x="0" y="0"/>
          <a:ext cx="0" cy="0"/>
          <a:chOff x="0" y="0"/>
          <a:chExt cx="0" cy="0"/>
        </a:xfrm>
      </p:grpSpPr>
      <p:sp>
        <p:nvSpPr>
          <p:cNvPr id="139" name="Google Shape;139;p68"/>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chemeClr val="accent1"/>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140" name="Google Shape;140;p68"/>
          <p:cNvSpPr/>
          <p:nvPr/>
        </p:nvSpPr>
        <p:spPr>
          <a:xfrm>
            <a:off x="575610" y="2552550"/>
            <a:ext cx="698624" cy="698624"/>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rgbClr val="FFFFFF"/>
              </a:solidFill>
              <a:latin typeface="Arial"/>
              <a:ea typeface="Arial"/>
              <a:cs typeface="Arial"/>
              <a:sym typeface="Arial"/>
            </a:endParaRPr>
          </a:p>
        </p:txBody>
      </p:sp>
      <p:sp>
        <p:nvSpPr>
          <p:cNvPr id="141" name="Google Shape;141;p68"/>
          <p:cNvSpPr/>
          <p:nvPr/>
        </p:nvSpPr>
        <p:spPr>
          <a:xfrm>
            <a:off x="575610" y="1426607"/>
            <a:ext cx="698624" cy="698624"/>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lt1"/>
              </a:solidFill>
              <a:latin typeface="Arial"/>
              <a:ea typeface="Arial"/>
              <a:cs typeface="Arial"/>
              <a:sym typeface="Arial"/>
            </a:endParaRPr>
          </a:p>
        </p:txBody>
      </p:sp>
      <p:sp>
        <p:nvSpPr>
          <p:cNvPr id="142" name="Google Shape;142;p68"/>
          <p:cNvSpPr/>
          <p:nvPr/>
        </p:nvSpPr>
        <p:spPr>
          <a:xfrm>
            <a:off x="575610" y="3653093"/>
            <a:ext cx="698624" cy="698624"/>
          </a:xfrm>
          <a:prstGeom prst="ellipse">
            <a:avLst/>
          </a:prstGeom>
          <a:solidFill>
            <a:schemeClr val="accent5"/>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rgbClr val="049FD9"/>
              </a:solidFill>
              <a:latin typeface="Arial"/>
              <a:ea typeface="Arial"/>
              <a:cs typeface="Arial"/>
              <a:sym typeface="Arial"/>
            </a:endParaRPr>
          </a:p>
        </p:txBody>
      </p:sp>
      <p:sp>
        <p:nvSpPr>
          <p:cNvPr id="143" name="Google Shape;143;p68"/>
          <p:cNvSpPr txBox="1"/>
          <p:nvPr>
            <p:ph idx="1" type="body"/>
          </p:nvPr>
        </p:nvSpPr>
        <p:spPr>
          <a:xfrm>
            <a:off x="1365250" y="1432522"/>
            <a:ext cx="5473700" cy="693381"/>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4" name="Google Shape;144;p68"/>
          <p:cNvSpPr txBox="1"/>
          <p:nvPr>
            <p:ph idx="2" type="body"/>
          </p:nvPr>
        </p:nvSpPr>
        <p:spPr>
          <a:xfrm>
            <a:off x="1365250" y="2557793"/>
            <a:ext cx="5473700" cy="693381"/>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5" name="Google Shape;145;p68"/>
          <p:cNvSpPr txBox="1"/>
          <p:nvPr>
            <p:ph idx="3" type="body"/>
          </p:nvPr>
        </p:nvSpPr>
        <p:spPr>
          <a:xfrm>
            <a:off x="1365250" y="3653093"/>
            <a:ext cx="5473700" cy="693381"/>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6" name="Google Shape;146;p68"/>
          <p:cNvSpPr txBox="1"/>
          <p:nvPr>
            <p:ph idx="4" type="body"/>
          </p:nvPr>
        </p:nvSpPr>
        <p:spPr>
          <a:xfrm>
            <a:off x="575610" y="2552550"/>
            <a:ext cx="698624" cy="693381"/>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3600"/>
              <a:buFont typeface="Arial"/>
              <a:buNone/>
              <a:defRPr b="0" i="0" sz="4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7" name="Google Shape;147;p68"/>
          <p:cNvSpPr txBox="1"/>
          <p:nvPr>
            <p:ph idx="5" type="body"/>
          </p:nvPr>
        </p:nvSpPr>
        <p:spPr>
          <a:xfrm>
            <a:off x="575611" y="3651140"/>
            <a:ext cx="698624" cy="693381"/>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3600"/>
              <a:buFont typeface="Arial"/>
              <a:buNone/>
              <a:defRPr b="0" i="0" sz="4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8" name="Google Shape;148;p68"/>
          <p:cNvSpPr txBox="1"/>
          <p:nvPr>
            <p:ph idx="6" type="body"/>
          </p:nvPr>
        </p:nvSpPr>
        <p:spPr>
          <a:xfrm>
            <a:off x="575610" y="1427248"/>
            <a:ext cx="698624" cy="693381"/>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3600"/>
              <a:buFont typeface="Arial"/>
              <a:buNone/>
              <a:defRPr b="0" i="0" sz="4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Tree>
  </p:cSld>
  <p:clrMapOvr>
    <a:masterClrMapping/>
  </p:clrMapOvr>
  <p:transition spd="slow">
    <p:wipe dir="l"/>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Circled_Bullets">
  <p:cSld name="5_Circled_Bullets">
    <p:spTree>
      <p:nvGrpSpPr>
        <p:cNvPr id="149" name="Shape 149"/>
        <p:cNvGrpSpPr/>
        <p:nvPr/>
      </p:nvGrpSpPr>
      <p:grpSpPr>
        <a:xfrm>
          <a:off x="0" y="0"/>
          <a:ext cx="0" cy="0"/>
          <a:chOff x="0" y="0"/>
          <a:chExt cx="0" cy="0"/>
        </a:xfrm>
      </p:grpSpPr>
      <p:sp>
        <p:nvSpPr>
          <p:cNvPr id="150" name="Google Shape;150;p69"/>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chemeClr val="accent1"/>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151" name="Google Shape;151;p69"/>
          <p:cNvSpPr/>
          <p:nvPr/>
        </p:nvSpPr>
        <p:spPr>
          <a:xfrm>
            <a:off x="575611" y="1979318"/>
            <a:ext cx="464815" cy="464815"/>
          </a:xfrm>
          <a:prstGeom prst="ellipse">
            <a:avLst/>
          </a:prstGeom>
          <a:solidFill>
            <a:srgbClr val="38C6F4"/>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accent5"/>
              </a:solidFill>
              <a:latin typeface="Arial"/>
              <a:ea typeface="Arial"/>
              <a:cs typeface="Arial"/>
              <a:sym typeface="Arial"/>
            </a:endParaRPr>
          </a:p>
        </p:txBody>
      </p:sp>
      <p:sp>
        <p:nvSpPr>
          <p:cNvPr id="152" name="Google Shape;152;p69"/>
          <p:cNvSpPr/>
          <p:nvPr/>
        </p:nvSpPr>
        <p:spPr>
          <a:xfrm>
            <a:off x="575610" y="1328927"/>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accent5"/>
              </a:solidFill>
              <a:latin typeface="Arial"/>
              <a:ea typeface="Arial"/>
              <a:cs typeface="Arial"/>
              <a:sym typeface="Arial"/>
            </a:endParaRPr>
          </a:p>
        </p:txBody>
      </p:sp>
      <p:sp>
        <p:nvSpPr>
          <p:cNvPr id="153" name="Google Shape;153;p69"/>
          <p:cNvSpPr/>
          <p:nvPr/>
        </p:nvSpPr>
        <p:spPr>
          <a:xfrm>
            <a:off x="575611" y="2627446"/>
            <a:ext cx="464815" cy="464815"/>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accent5"/>
              </a:solidFill>
              <a:latin typeface="Arial"/>
              <a:ea typeface="Arial"/>
              <a:cs typeface="Arial"/>
              <a:sym typeface="Arial"/>
            </a:endParaRPr>
          </a:p>
        </p:txBody>
      </p:sp>
      <p:sp>
        <p:nvSpPr>
          <p:cNvPr id="154" name="Google Shape;154;p69"/>
          <p:cNvSpPr txBox="1"/>
          <p:nvPr>
            <p:ph idx="1" type="body"/>
          </p:nvPr>
        </p:nvSpPr>
        <p:spPr>
          <a:xfrm>
            <a:off x="1172384" y="1334842"/>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5" name="Google Shape;155;p69"/>
          <p:cNvSpPr txBox="1"/>
          <p:nvPr>
            <p:ph idx="2" type="body"/>
          </p:nvPr>
        </p:nvSpPr>
        <p:spPr>
          <a:xfrm>
            <a:off x="1172385" y="1984561"/>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6" name="Google Shape;156;p69"/>
          <p:cNvSpPr txBox="1"/>
          <p:nvPr>
            <p:ph idx="3" type="body"/>
          </p:nvPr>
        </p:nvSpPr>
        <p:spPr>
          <a:xfrm>
            <a:off x="1172385" y="2627446"/>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7" name="Google Shape;157;p69"/>
          <p:cNvSpPr txBox="1"/>
          <p:nvPr>
            <p:ph idx="4" type="body"/>
          </p:nvPr>
        </p:nvSpPr>
        <p:spPr>
          <a:xfrm>
            <a:off x="575611" y="1327521"/>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8" name="Google Shape;158;p69"/>
          <p:cNvSpPr txBox="1"/>
          <p:nvPr>
            <p:ph idx="5" type="body"/>
          </p:nvPr>
        </p:nvSpPr>
        <p:spPr>
          <a:xfrm>
            <a:off x="575611" y="197931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9" name="Google Shape;159;p69"/>
          <p:cNvSpPr txBox="1"/>
          <p:nvPr>
            <p:ph idx="6" type="body"/>
          </p:nvPr>
        </p:nvSpPr>
        <p:spPr>
          <a:xfrm>
            <a:off x="575612" y="262549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60" name="Google Shape;160;p69"/>
          <p:cNvSpPr/>
          <p:nvPr/>
        </p:nvSpPr>
        <p:spPr>
          <a:xfrm>
            <a:off x="575612" y="3274581"/>
            <a:ext cx="464815" cy="464815"/>
          </a:xfrm>
          <a:prstGeom prst="ellipse">
            <a:avLst/>
          </a:prstGeom>
          <a:solidFill>
            <a:schemeClr val="accent6"/>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accent5"/>
              </a:solidFill>
              <a:latin typeface="Arial"/>
              <a:ea typeface="Arial"/>
              <a:cs typeface="Arial"/>
              <a:sym typeface="Arial"/>
            </a:endParaRPr>
          </a:p>
        </p:txBody>
      </p:sp>
      <p:sp>
        <p:nvSpPr>
          <p:cNvPr id="161" name="Google Shape;161;p69"/>
          <p:cNvSpPr txBox="1"/>
          <p:nvPr>
            <p:ph idx="7" type="body"/>
          </p:nvPr>
        </p:nvSpPr>
        <p:spPr>
          <a:xfrm>
            <a:off x="1172386" y="3274581"/>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62" name="Google Shape;162;p69"/>
          <p:cNvSpPr txBox="1"/>
          <p:nvPr>
            <p:ph idx="8" type="body"/>
          </p:nvPr>
        </p:nvSpPr>
        <p:spPr>
          <a:xfrm>
            <a:off x="575613" y="327262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63" name="Google Shape;163;p69"/>
          <p:cNvSpPr/>
          <p:nvPr/>
        </p:nvSpPr>
        <p:spPr>
          <a:xfrm>
            <a:off x="575613" y="3921716"/>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accent5"/>
              </a:solidFill>
              <a:latin typeface="Arial"/>
              <a:ea typeface="Arial"/>
              <a:cs typeface="Arial"/>
              <a:sym typeface="Arial"/>
            </a:endParaRPr>
          </a:p>
        </p:txBody>
      </p:sp>
      <p:sp>
        <p:nvSpPr>
          <p:cNvPr id="164" name="Google Shape;164;p69"/>
          <p:cNvSpPr txBox="1"/>
          <p:nvPr>
            <p:ph idx="9" type="body"/>
          </p:nvPr>
        </p:nvSpPr>
        <p:spPr>
          <a:xfrm>
            <a:off x="1172387" y="3921716"/>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65" name="Google Shape;165;p69"/>
          <p:cNvSpPr txBox="1"/>
          <p:nvPr>
            <p:ph idx="13" type="body"/>
          </p:nvPr>
        </p:nvSpPr>
        <p:spPr>
          <a:xfrm>
            <a:off x="575614" y="391976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Tree>
  </p:cSld>
  <p:clrMapOvr>
    <a:masterClrMapping/>
  </p:clrMapOvr>
  <p:transition spd="slow">
    <p:wipe dir="l"/>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ircled_Bullets">
  <p:cSld name="6_Circled_Bullets">
    <p:spTree>
      <p:nvGrpSpPr>
        <p:cNvPr id="166" name="Shape 166"/>
        <p:cNvGrpSpPr/>
        <p:nvPr/>
      </p:nvGrpSpPr>
      <p:grpSpPr>
        <a:xfrm>
          <a:off x="0" y="0"/>
          <a:ext cx="0" cy="0"/>
          <a:chOff x="0" y="0"/>
          <a:chExt cx="0" cy="0"/>
        </a:xfrm>
      </p:grpSpPr>
      <p:sp>
        <p:nvSpPr>
          <p:cNvPr id="167" name="Google Shape;167;p70"/>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rgbClr val="004C69"/>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168" name="Google Shape;168;p70"/>
          <p:cNvSpPr/>
          <p:nvPr/>
        </p:nvSpPr>
        <p:spPr>
          <a:xfrm>
            <a:off x="575611" y="1979318"/>
            <a:ext cx="464815" cy="464815"/>
          </a:xfrm>
          <a:prstGeom prst="ellipse">
            <a:avLst/>
          </a:prstGeom>
          <a:solidFill>
            <a:srgbClr val="38C6F4"/>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69" name="Google Shape;169;p70"/>
          <p:cNvSpPr/>
          <p:nvPr/>
        </p:nvSpPr>
        <p:spPr>
          <a:xfrm>
            <a:off x="575610" y="1328927"/>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Arial"/>
              <a:ea typeface="Arial"/>
              <a:cs typeface="Arial"/>
              <a:sym typeface="Arial"/>
            </a:endParaRPr>
          </a:p>
        </p:txBody>
      </p:sp>
      <p:sp>
        <p:nvSpPr>
          <p:cNvPr id="170" name="Google Shape;170;p70"/>
          <p:cNvSpPr/>
          <p:nvPr/>
        </p:nvSpPr>
        <p:spPr>
          <a:xfrm>
            <a:off x="575611" y="2627446"/>
            <a:ext cx="464815" cy="464815"/>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71" name="Google Shape;171;p70"/>
          <p:cNvSpPr txBox="1"/>
          <p:nvPr>
            <p:ph idx="1" type="body"/>
          </p:nvPr>
        </p:nvSpPr>
        <p:spPr>
          <a:xfrm>
            <a:off x="1172384" y="1334842"/>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2" name="Google Shape;172;p70"/>
          <p:cNvSpPr txBox="1"/>
          <p:nvPr>
            <p:ph idx="2" type="body"/>
          </p:nvPr>
        </p:nvSpPr>
        <p:spPr>
          <a:xfrm>
            <a:off x="1172385" y="1984561"/>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3" name="Google Shape;173;p70"/>
          <p:cNvSpPr txBox="1"/>
          <p:nvPr>
            <p:ph idx="3" type="body"/>
          </p:nvPr>
        </p:nvSpPr>
        <p:spPr>
          <a:xfrm>
            <a:off x="1172385" y="2627446"/>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4" name="Google Shape;174;p70"/>
          <p:cNvSpPr txBox="1"/>
          <p:nvPr>
            <p:ph idx="4" type="body"/>
          </p:nvPr>
        </p:nvSpPr>
        <p:spPr>
          <a:xfrm>
            <a:off x="575611" y="1327521"/>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5" name="Google Shape;175;p70"/>
          <p:cNvSpPr txBox="1"/>
          <p:nvPr>
            <p:ph idx="5" type="body"/>
          </p:nvPr>
        </p:nvSpPr>
        <p:spPr>
          <a:xfrm>
            <a:off x="575611" y="197931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6" name="Google Shape;176;p70"/>
          <p:cNvSpPr txBox="1"/>
          <p:nvPr>
            <p:ph idx="6" type="body"/>
          </p:nvPr>
        </p:nvSpPr>
        <p:spPr>
          <a:xfrm>
            <a:off x="575612" y="262549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7" name="Google Shape;177;p70"/>
          <p:cNvSpPr/>
          <p:nvPr/>
        </p:nvSpPr>
        <p:spPr>
          <a:xfrm>
            <a:off x="575612" y="3274581"/>
            <a:ext cx="464815" cy="464815"/>
          </a:xfrm>
          <a:prstGeom prst="ellipse">
            <a:avLst/>
          </a:prstGeom>
          <a:solidFill>
            <a:schemeClr val="accent6"/>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78" name="Google Shape;178;p70"/>
          <p:cNvSpPr txBox="1"/>
          <p:nvPr>
            <p:ph idx="7" type="body"/>
          </p:nvPr>
        </p:nvSpPr>
        <p:spPr>
          <a:xfrm>
            <a:off x="1172386" y="3274581"/>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9" name="Google Shape;179;p70"/>
          <p:cNvSpPr txBox="1"/>
          <p:nvPr>
            <p:ph idx="8" type="body"/>
          </p:nvPr>
        </p:nvSpPr>
        <p:spPr>
          <a:xfrm>
            <a:off x="575613" y="327262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0" name="Google Shape;180;p70"/>
          <p:cNvSpPr/>
          <p:nvPr/>
        </p:nvSpPr>
        <p:spPr>
          <a:xfrm>
            <a:off x="575613" y="3921716"/>
            <a:ext cx="464815" cy="464815"/>
          </a:xfrm>
          <a:prstGeom prst="ellipse">
            <a:avLst/>
          </a:prstGeom>
          <a:solidFill>
            <a:srgbClr val="00384E"/>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81" name="Google Shape;181;p70"/>
          <p:cNvSpPr txBox="1"/>
          <p:nvPr>
            <p:ph idx="9" type="body"/>
          </p:nvPr>
        </p:nvSpPr>
        <p:spPr>
          <a:xfrm>
            <a:off x="1172387" y="3921716"/>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2" name="Google Shape;182;p70"/>
          <p:cNvSpPr txBox="1"/>
          <p:nvPr>
            <p:ph idx="13" type="body"/>
          </p:nvPr>
        </p:nvSpPr>
        <p:spPr>
          <a:xfrm>
            <a:off x="575614" y="391976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3" name="Google Shape;183;p70"/>
          <p:cNvSpPr/>
          <p:nvPr/>
        </p:nvSpPr>
        <p:spPr>
          <a:xfrm>
            <a:off x="4414576" y="1983084"/>
            <a:ext cx="464815" cy="464815"/>
          </a:xfrm>
          <a:prstGeom prst="ellipse">
            <a:avLst/>
          </a:prstGeom>
          <a:solidFill>
            <a:schemeClr val="accent6"/>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84" name="Google Shape;184;p70"/>
          <p:cNvSpPr/>
          <p:nvPr/>
        </p:nvSpPr>
        <p:spPr>
          <a:xfrm>
            <a:off x="4414575" y="1332693"/>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85" name="Google Shape;185;p70"/>
          <p:cNvSpPr/>
          <p:nvPr/>
        </p:nvSpPr>
        <p:spPr>
          <a:xfrm>
            <a:off x="4414576" y="2631212"/>
            <a:ext cx="464815" cy="464815"/>
          </a:xfrm>
          <a:prstGeom prst="ellipse">
            <a:avLst/>
          </a:prstGeom>
          <a:solidFill>
            <a:schemeClr val="accent5"/>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86" name="Google Shape;186;p70"/>
          <p:cNvSpPr txBox="1"/>
          <p:nvPr>
            <p:ph idx="14" type="body"/>
          </p:nvPr>
        </p:nvSpPr>
        <p:spPr>
          <a:xfrm>
            <a:off x="5011349" y="1338608"/>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7" name="Google Shape;187;p70"/>
          <p:cNvSpPr txBox="1"/>
          <p:nvPr>
            <p:ph idx="15" type="body"/>
          </p:nvPr>
        </p:nvSpPr>
        <p:spPr>
          <a:xfrm>
            <a:off x="5011350" y="1988327"/>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8" name="Google Shape;188;p70"/>
          <p:cNvSpPr txBox="1"/>
          <p:nvPr>
            <p:ph idx="16" type="body"/>
          </p:nvPr>
        </p:nvSpPr>
        <p:spPr>
          <a:xfrm>
            <a:off x="5011350" y="2631212"/>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9" name="Google Shape;189;p70"/>
          <p:cNvSpPr txBox="1"/>
          <p:nvPr>
            <p:ph idx="17" type="body"/>
          </p:nvPr>
        </p:nvSpPr>
        <p:spPr>
          <a:xfrm>
            <a:off x="4414576" y="1331287"/>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0" name="Google Shape;190;p70"/>
          <p:cNvSpPr txBox="1"/>
          <p:nvPr>
            <p:ph idx="18" type="body"/>
          </p:nvPr>
        </p:nvSpPr>
        <p:spPr>
          <a:xfrm>
            <a:off x="4414576" y="1983084"/>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1" name="Google Shape;191;p70"/>
          <p:cNvSpPr txBox="1"/>
          <p:nvPr>
            <p:ph idx="19" type="body"/>
          </p:nvPr>
        </p:nvSpPr>
        <p:spPr>
          <a:xfrm>
            <a:off x="4414577" y="2629259"/>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2" name="Google Shape;192;p70"/>
          <p:cNvSpPr/>
          <p:nvPr/>
        </p:nvSpPr>
        <p:spPr>
          <a:xfrm>
            <a:off x="4414577" y="3278347"/>
            <a:ext cx="464815" cy="464815"/>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93" name="Google Shape;193;p70"/>
          <p:cNvSpPr txBox="1"/>
          <p:nvPr>
            <p:ph idx="20" type="body"/>
          </p:nvPr>
        </p:nvSpPr>
        <p:spPr>
          <a:xfrm>
            <a:off x="5011351" y="3278347"/>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4" name="Google Shape;194;p70"/>
          <p:cNvSpPr txBox="1"/>
          <p:nvPr>
            <p:ph idx="21" type="body"/>
          </p:nvPr>
        </p:nvSpPr>
        <p:spPr>
          <a:xfrm>
            <a:off x="4414578" y="3276394"/>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5" name="Google Shape;195;p70"/>
          <p:cNvSpPr/>
          <p:nvPr/>
        </p:nvSpPr>
        <p:spPr>
          <a:xfrm>
            <a:off x="4414578" y="3925482"/>
            <a:ext cx="464815" cy="464815"/>
          </a:xfrm>
          <a:prstGeom prst="ellipse">
            <a:avLst/>
          </a:prstGeom>
          <a:solidFill>
            <a:srgbClr val="00384E"/>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96" name="Google Shape;196;p70"/>
          <p:cNvSpPr txBox="1"/>
          <p:nvPr>
            <p:ph idx="22" type="body"/>
          </p:nvPr>
        </p:nvSpPr>
        <p:spPr>
          <a:xfrm>
            <a:off x="5011352" y="3925482"/>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7" name="Google Shape;197;p70"/>
          <p:cNvSpPr txBox="1"/>
          <p:nvPr>
            <p:ph idx="23" type="body"/>
          </p:nvPr>
        </p:nvSpPr>
        <p:spPr>
          <a:xfrm>
            <a:off x="4414579" y="3923529"/>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Tree>
  </p:cSld>
  <p:clrMapOvr>
    <a:masterClrMapping/>
  </p:clrMapOvr>
  <p:transition spd="slow">
    <p:wipe dir="l"/>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showMasterSp="0">
  <p:cSld name="Closing Slide">
    <p:bg>
      <p:bgPr>
        <a:solidFill>
          <a:schemeClr val="accent5"/>
        </a:solidFill>
      </p:bgPr>
    </p:bg>
    <p:spTree>
      <p:nvGrpSpPr>
        <p:cNvPr id="198" name="Shape 198"/>
        <p:cNvGrpSpPr/>
        <p:nvPr/>
      </p:nvGrpSpPr>
      <p:grpSpPr>
        <a:xfrm>
          <a:off x="0" y="0"/>
          <a:ext cx="0" cy="0"/>
          <a:chOff x="0" y="0"/>
          <a:chExt cx="0" cy="0"/>
        </a:xfrm>
      </p:grpSpPr>
      <p:sp>
        <p:nvSpPr>
          <p:cNvPr id="199" name="Google Shape;199;p71"/>
          <p:cNvSpPr/>
          <p:nvPr/>
        </p:nvSpPr>
        <p:spPr>
          <a:xfrm>
            <a:off x="0" y="0"/>
            <a:ext cx="9144000" cy="5143500"/>
          </a:xfrm>
          <a:prstGeom prst="rect">
            <a:avLst/>
          </a:prstGeom>
          <a:solidFill>
            <a:srgbClr val="00394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00" name="Google Shape;200;p71"/>
          <p:cNvGrpSpPr/>
          <p:nvPr/>
        </p:nvGrpSpPr>
        <p:grpSpPr>
          <a:xfrm>
            <a:off x="3746294" y="2129856"/>
            <a:ext cx="1617944" cy="860542"/>
            <a:chOff x="310" y="249"/>
            <a:chExt cx="502" cy="267"/>
          </a:xfrm>
        </p:grpSpPr>
        <p:sp>
          <p:nvSpPr>
            <p:cNvPr id="201" name="Google Shape;201;p71"/>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2" name="Google Shape;202;p71"/>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3" name="Google Shape;203;p71"/>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4" name="Google Shape;204;p71"/>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5" name="Google Shape;205;p71"/>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6" name="Google Shape;206;p71"/>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7" name="Google Shape;207;p71"/>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8" name="Google Shape;208;p71"/>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9" name="Google Shape;209;p71"/>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0" name="Google Shape;210;p71"/>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1" name="Google Shape;211;p71"/>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2" name="Google Shape;212;p71"/>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3" name="Google Shape;213;p71"/>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4" name="Google Shape;214;p71"/>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losing Slide" showMasterSp="0">
  <p:cSld name="3_Closing Slide">
    <p:bg>
      <p:bgPr>
        <a:solidFill>
          <a:schemeClr val="accent5"/>
        </a:solidFill>
      </p:bgPr>
    </p:bg>
    <p:spTree>
      <p:nvGrpSpPr>
        <p:cNvPr id="215" name="Shape 215"/>
        <p:cNvGrpSpPr/>
        <p:nvPr/>
      </p:nvGrpSpPr>
      <p:grpSpPr>
        <a:xfrm>
          <a:off x="0" y="0"/>
          <a:ext cx="0" cy="0"/>
          <a:chOff x="0" y="0"/>
          <a:chExt cx="0" cy="0"/>
        </a:xfrm>
      </p:grpSpPr>
      <p:grpSp>
        <p:nvGrpSpPr>
          <p:cNvPr id="216" name="Google Shape;216;p72"/>
          <p:cNvGrpSpPr/>
          <p:nvPr/>
        </p:nvGrpSpPr>
        <p:grpSpPr>
          <a:xfrm>
            <a:off x="3746294" y="2129856"/>
            <a:ext cx="1617944" cy="860542"/>
            <a:chOff x="310" y="249"/>
            <a:chExt cx="502" cy="267"/>
          </a:xfrm>
        </p:grpSpPr>
        <p:sp>
          <p:nvSpPr>
            <p:cNvPr id="217" name="Google Shape;217;p72"/>
            <p:cNvSpPr/>
            <p:nvPr/>
          </p:nvSpPr>
          <p:spPr>
            <a:xfrm>
              <a:off x="452" y="426"/>
              <a:ext cx="22" cy="88"/>
            </a:xfrm>
            <a:prstGeom prst="rect">
              <a:avLst/>
            </a:pr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8" name="Google Shape;218;p72"/>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9" name="Google Shape;219;p72"/>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0" name="Google Shape;220;p72"/>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1" name="Google Shape;221;p72"/>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2" name="Google Shape;222;p72"/>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3" name="Google Shape;223;p72"/>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4" name="Google Shape;224;p72"/>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5" name="Google Shape;225;p72"/>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6" name="Google Shape;226;p72"/>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7" name="Google Shape;227;p72"/>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8" name="Google Shape;228;p72"/>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9" name="Google Shape;229;p72"/>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0" name="Google Shape;230;p72"/>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1" name="Shape 231"/>
        <p:cNvGrpSpPr/>
        <p:nvPr/>
      </p:nvGrpSpPr>
      <p:grpSpPr>
        <a:xfrm>
          <a:off x="0" y="0"/>
          <a:ext cx="0" cy="0"/>
          <a:chOff x="0" y="0"/>
          <a:chExt cx="0" cy="0"/>
        </a:xfrm>
      </p:grpSpPr>
      <p:sp>
        <p:nvSpPr>
          <p:cNvPr id="232" name="Google Shape;232;p73"/>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9"/>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marR="0" rtl="0" algn="l">
              <a:lnSpc>
                <a:spcPct val="80000"/>
              </a:lnSpc>
              <a:spcBef>
                <a:spcPts val="0"/>
              </a:spcBef>
              <a:spcAft>
                <a:spcPts val="0"/>
              </a:spcAft>
              <a:buSzPts val="1400"/>
              <a:buNone/>
              <a:defRPr b="0" i="0" sz="3200" u="none" cap="none" strike="noStrike">
                <a:solidFill>
                  <a:schemeClr val="accent4"/>
                </a:solidFill>
                <a:latin typeface="Arial"/>
                <a:ea typeface="Arial"/>
                <a:cs typeface="Arial"/>
                <a:sym typeface="Arial"/>
              </a:defRPr>
            </a:lvl1pPr>
            <a:lvl2pPr lvl="1"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2pPr>
            <a:lvl3pPr lvl="2"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3pPr>
            <a:lvl4pPr lvl="3"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4pPr>
            <a:lvl5pPr lvl="4"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5pPr>
            <a:lvl6pPr lvl="5"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6pPr>
            <a:lvl7pPr lvl="6"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7pPr>
            <a:lvl8pPr lvl="7"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8pPr>
            <a:lvl9pPr lvl="8"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9pPr>
          </a:lstStyle>
          <a:p/>
        </p:txBody>
      </p:sp>
      <p:sp>
        <p:nvSpPr>
          <p:cNvPr id="11" name="Google Shape;11;p59"/>
          <p:cNvSpPr/>
          <p:nvPr/>
        </p:nvSpPr>
        <p:spPr>
          <a:xfrm>
            <a:off x="8515707" y="4742907"/>
            <a:ext cx="218414" cy="154518"/>
          </a:xfrm>
          <a:prstGeom prst="rect">
            <a:avLst/>
          </a:prstGeom>
          <a:noFill/>
          <a:ln>
            <a:noFill/>
          </a:ln>
        </p:spPr>
        <p:txBody>
          <a:bodyPr anchorCtr="0" anchor="b" bIns="30775" lIns="61575" spcFirstLastPara="1" rIns="61575" wrap="square" tIns="30775">
            <a:spAutoFit/>
          </a:bodyPr>
          <a:lstStyle/>
          <a:p>
            <a:pPr indent="0" lvl="0" marL="0" marR="0" rtl="0" algn="r">
              <a:spcBef>
                <a:spcPts val="0"/>
              </a:spcBef>
              <a:spcAft>
                <a:spcPts val="0"/>
              </a:spcAft>
              <a:buNone/>
            </a:pPr>
            <a:fld id="{00000000-1234-1234-1234-123412341234}" type="slidenum">
              <a:rPr b="0" i="0" lang="en-US" sz="600" u="none" cap="none" strike="noStrike">
                <a:solidFill>
                  <a:srgbClr val="D8D8D8"/>
                </a:solidFill>
                <a:latin typeface="Arial"/>
                <a:ea typeface="Arial"/>
                <a:cs typeface="Arial"/>
                <a:sym typeface="Arial"/>
              </a:rPr>
              <a:t>‹#›</a:t>
            </a:fld>
            <a:endParaRPr b="0" i="0" sz="600" u="none" cap="none" strike="noStrike">
              <a:solidFill>
                <a:srgbClr val="D8D8D8"/>
              </a:solidFill>
              <a:latin typeface="Arial"/>
              <a:ea typeface="Arial"/>
              <a:cs typeface="Arial"/>
              <a:sym typeface="Arial"/>
            </a:endParaRPr>
          </a:p>
        </p:txBody>
      </p:sp>
      <p:sp>
        <p:nvSpPr>
          <p:cNvPr id="12" name="Google Shape;12;p59"/>
          <p:cNvSpPr/>
          <p:nvPr/>
        </p:nvSpPr>
        <p:spPr>
          <a:xfrm>
            <a:off x="5867508" y="4741653"/>
            <a:ext cx="2658018" cy="154518"/>
          </a:xfrm>
          <a:prstGeom prst="rect">
            <a:avLst/>
          </a:prstGeom>
          <a:noFill/>
          <a:ln>
            <a:noFill/>
          </a:ln>
        </p:spPr>
        <p:txBody>
          <a:bodyPr anchorCtr="0" anchor="b" bIns="30775" lIns="61575" spcFirstLastPara="1" rIns="61575" wrap="square" tIns="30775">
            <a:spAutoFit/>
          </a:bodyPr>
          <a:lstStyle/>
          <a:p>
            <a:pPr indent="0" lvl="0" marL="0" marR="0" rtl="0" algn="l">
              <a:spcBef>
                <a:spcPts val="0"/>
              </a:spcBef>
              <a:spcAft>
                <a:spcPts val="0"/>
              </a:spcAft>
              <a:buNone/>
            </a:pPr>
            <a:r>
              <a:rPr b="0" i="0" lang="en-US" sz="600" u="none" cap="none" strike="noStrike">
                <a:solidFill>
                  <a:srgbClr val="D8D8D8"/>
                </a:solidFill>
                <a:latin typeface="Arial"/>
                <a:ea typeface="Arial"/>
                <a:cs typeface="Arial"/>
                <a:sym typeface="Arial"/>
              </a:rPr>
              <a:t>© 2019  Cisco and/or its affiliates. All rights reserved.   Cisco Confidential</a:t>
            </a:r>
            <a:endParaRPr/>
          </a:p>
        </p:txBody>
      </p:sp>
      <p:grpSp>
        <p:nvGrpSpPr>
          <p:cNvPr id="13" name="Google Shape;13;p59"/>
          <p:cNvGrpSpPr/>
          <p:nvPr/>
        </p:nvGrpSpPr>
        <p:grpSpPr>
          <a:xfrm>
            <a:off x="508039" y="4715197"/>
            <a:ext cx="340257" cy="180974"/>
            <a:chOff x="310" y="249"/>
            <a:chExt cx="502" cy="267"/>
          </a:xfrm>
        </p:grpSpPr>
        <p:sp>
          <p:nvSpPr>
            <p:cNvPr id="14" name="Google Shape;14;p59"/>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 name="Google Shape;15;p59"/>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 name="Google Shape;16;p59"/>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 name="Google Shape;17;p59"/>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 name="Google Shape;18;p59"/>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 name="Google Shape;19;p59"/>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 name="Google Shape;20;p59"/>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 name="Google Shape;21;p59"/>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 name="Google Shape;22;p59"/>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 name="Google Shape;23;p59"/>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 name="Google Shape;24;p59"/>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 name="Google Shape;25;p59"/>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 name="Google Shape;26;p59"/>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 name="Google Shape;27;p59"/>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spd="slow">
    <p:wipe dir="l"/>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33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2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image" Target="../media/image1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image" Target="../media/image1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1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 Id="rId3" Type="http://schemas.openxmlformats.org/officeDocument/2006/relationships/image" Target="../media/image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 Id="rId3" Type="http://schemas.openxmlformats.org/officeDocument/2006/relationships/image" Target="../media/image2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 Id="rId3" Type="http://schemas.openxmlformats.org/officeDocument/2006/relationships/image" Target="../media/image1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 Id="rId3" Type="http://schemas.openxmlformats.org/officeDocument/2006/relationships/image" Target="../media/image1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 Id="rId3" Type="http://schemas.openxmlformats.org/officeDocument/2006/relationships/image" Target="../media/image1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 Id="rId3" Type="http://schemas.openxmlformats.org/officeDocument/2006/relationships/image" Target="../media/image1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
          <p:cNvSpPr txBox="1"/>
          <p:nvPr>
            <p:ph type="ctrTitle"/>
          </p:nvPr>
        </p:nvSpPr>
        <p:spPr>
          <a:xfrm>
            <a:off x="469497" y="2316480"/>
            <a:ext cx="6672708" cy="1080143"/>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3600"/>
              <a:buFont typeface="Arial"/>
              <a:buNone/>
            </a:pPr>
            <a:r>
              <a:rPr lang="en-US">
                <a:solidFill>
                  <a:srgbClr val="AEE8FA"/>
                </a:solidFill>
              </a:rPr>
              <a:t>Module 9: QoS Concepts</a:t>
            </a:r>
            <a:endParaRPr/>
          </a:p>
        </p:txBody>
      </p:sp>
      <p:sp>
        <p:nvSpPr>
          <p:cNvPr id="239" name="Google Shape;239;p1"/>
          <p:cNvSpPr txBox="1"/>
          <p:nvPr>
            <p:ph idx="1" type="subTitle"/>
          </p:nvPr>
        </p:nvSpPr>
        <p:spPr>
          <a:xfrm>
            <a:off x="469497" y="3809526"/>
            <a:ext cx="2368954" cy="902174"/>
          </a:xfrm>
          <a:prstGeom prst="rect">
            <a:avLst/>
          </a:prstGeom>
          <a:noFill/>
          <a:ln>
            <a:noFill/>
          </a:ln>
        </p:spPr>
        <p:txBody>
          <a:bodyPr anchorCtr="0" anchor="b" bIns="45700" lIns="91400" spcFirstLastPara="1" rIns="91400" wrap="square" tIns="45700">
            <a:noAutofit/>
          </a:bodyPr>
          <a:lstStyle/>
          <a:p>
            <a:pPr indent="0" lvl="0" marL="0" rtl="0" algn="l">
              <a:lnSpc>
                <a:spcPct val="95000"/>
              </a:lnSpc>
              <a:spcBef>
                <a:spcPts val="0"/>
              </a:spcBef>
              <a:spcAft>
                <a:spcPts val="0"/>
              </a:spcAft>
              <a:buSzPts val="1080"/>
              <a:buNone/>
            </a:pPr>
            <a:r>
              <a:rPr lang="en-US">
                <a:solidFill>
                  <a:srgbClr val="AEE8FA"/>
                </a:solidFill>
              </a:rPr>
              <a:t>Enterprise Networking, Security, and Automation v7.0 (ENSA) </a:t>
            </a:r>
            <a:endParaRPr/>
          </a:p>
          <a:p>
            <a:pPr indent="0" lvl="0" marL="0" rtl="0" algn="l">
              <a:lnSpc>
                <a:spcPct val="95000"/>
              </a:lnSpc>
              <a:spcBef>
                <a:spcPts val="1075"/>
              </a:spcBef>
              <a:spcAft>
                <a:spcPts val="0"/>
              </a:spcAft>
              <a:buSzPts val="1080"/>
              <a:buNone/>
            </a:pPr>
            <a:r>
              <a:t/>
            </a:r>
            <a:endParaRPr/>
          </a:p>
        </p:txBody>
      </p:sp>
    </p:spTree>
  </p:cSld>
  <p:clrMapOvr>
    <a:masterClrMapping/>
  </p:clrMapOvr>
  <p:transition spd="slow">
    <p:wipe dir="l"/>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a:t>Module Objectives</a:t>
            </a:r>
            <a:endParaRPr/>
          </a:p>
        </p:txBody>
      </p:sp>
      <p:sp>
        <p:nvSpPr>
          <p:cNvPr id="246" name="Google Shape;246;p2"/>
          <p:cNvSpPr/>
          <p:nvPr/>
        </p:nvSpPr>
        <p:spPr>
          <a:xfrm>
            <a:off x="169682" y="769893"/>
            <a:ext cx="8804635" cy="830997"/>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1" i="0" lang="en-US" sz="1600" u="none" cap="none" strike="noStrike">
                <a:solidFill>
                  <a:schemeClr val="dk1"/>
                </a:solidFill>
                <a:latin typeface="Arial"/>
                <a:ea typeface="Arial"/>
                <a:cs typeface="Arial"/>
                <a:sym typeface="Arial"/>
              </a:rPr>
              <a:t>Module Title: </a:t>
            </a:r>
            <a:r>
              <a:rPr b="0" i="0" lang="en-US" sz="1600" u="none" cap="none" strike="noStrike">
                <a:solidFill>
                  <a:schemeClr val="dk1"/>
                </a:solidFill>
                <a:latin typeface="Arial"/>
                <a:ea typeface="Arial"/>
                <a:cs typeface="Arial"/>
                <a:sym typeface="Arial"/>
              </a:rPr>
              <a:t>QoS Concepts</a:t>
            </a:r>
            <a:endParaRPr/>
          </a:p>
          <a:p>
            <a:pPr indent="0" lvl="0" marL="0"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Arial"/>
              <a:buNone/>
            </a:pPr>
            <a:r>
              <a:rPr b="1" i="0" lang="en-US" sz="1600" u="none" cap="none" strike="noStrike">
                <a:solidFill>
                  <a:schemeClr val="dk1"/>
                </a:solidFill>
                <a:latin typeface="Arial"/>
                <a:ea typeface="Arial"/>
                <a:cs typeface="Arial"/>
                <a:sym typeface="Arial"/>
              </a:rPr>
              <a:t>Module Objective</a:t>
            </a:r>
            <a:r>
              <a:rPr b="0" i="0" lang="en-US" sz="1600" u="none" cap="none" strike="noStrike">
                <a:solidFill>
                  <a:schemeClr val="dk1"/>
                </a:solidFill>
                <a:latin typeface="Arial"/>
                <a:ea typeface="Arial"/>
                <a:cs typeface="Arial"/>
                <a:sym typeface="Arial"/>
              </a:rPr>
              <a:t>: Explain how networking devices implement QoS</a:t>
            </a:r>
            <a:r>
              <a:rPr b="0" i="0" lang="en-US" sz="1200" u="none" cap="none" strike="noStrike">
                <a:solidFill>
                  <a:schemeClr val="dk1"/>
                </a:solidFill>
                <a:latin typeface="Calibri"/>
                <a:ea typeface="Calibri"/>
                <a:cs typeface="Calibri"/>
                <a:sym typeface="Calibri"/>
              </a:rPr>
              <a:t>.</a:t>
            </a:r>
            <a:endParaRPr b="0" i="0" sz="1800" u="none" cap="none" strike="noStrike">
              <a:solidFill>
                <a:schemeClr val="dk1"/>
              </a:solidFill>
              <a:latin typeface="Arial"/>
              <a:ea typeface="Arial"/>
              <a:cs typeface="Arial"/>
              <a:sym typeface="Arial"/>
            </a:endParaRPr>
          </a:p>
        </p:txBody>
      </p:sp>
      <p:graphicFrame>
        <p:nvGraphicFramePr>
          <p:cNvPr id="247" name="Google Shape;247;p2"/>
          <p:cNvGraphicFramePr/>
          <p:nvPr/>
        </p:nvGraphicFramePr>
        <p:xfrm>
          <a:off x="766914" y="1892353"/>
          <a:ext cx="3000000" cy="3000000"/>
        </p:xfrm>
        <a:graphic>
          <a:graphicData uri="http://schemas.openxmlformats.org/drawingml/2006/table">
            <a:tbl>
              <a:tblPr bandRow="1" firstCol="1" firstRow="1">
                <a:noFill/>
                <a:tableStyleId>{D8C263E1-B3EF-47A4-AEA2-D0D936B171C2}</a:tableStyleId>
              </a:tblPr>
              <a:tblGrid>
                <a:gridCol w="2806475"/>
                <a:gridCol w="4797625"/>
              </a:tblGrid>
              <a:tr h="216350">
                <a:tc>
                  <a:txBody>
                    <a:bodyPr/>
                    <a:lstStyle/>
                    <a:p>
                      <a:pPr indent="0" lvl="0" marL="0" marR="0" rtl="0" algn="l">
                        <a:lnSpc>
                          <a:spcPct val="107000"/>
                        </a:lnSpc>
                        <a:spcBef>
                          <a:spcPts val="0"/>
                        </a:spcBef>
                        <a:spcAft>
                          <a:spcPts val="0"/>
                        </a:spcAft>
                        <a:buNone/>
                      </a:pPr>
                      <a:r>
                        <a:rPr lang="en-US" sz="1400" u="none" cap="none" strike="noStrike">
                          <a:latin typeface="Arial"/>
                          <a:ea typeface="Arial"/>
                          <a:cs typeface="Arial"/>
                          <a:sym typeface="Arial"/>
                        </a:rPr>
                        <a:t>Topic Title</a:t>
                      </a:r>
                      <a:endParaRPr sz="14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None/>
                      </a:pPr>
                      <a:r>
                        <a:rPr lang="en-US" sz="1400" u="none" cap="none" strike="noStrike">
                          <a:latin typeface="Arial"/>
                          <a:ea typeface="Arial"/>
                          <a:cs typeface="Arial"/>
                          <a:sym typeface="Arial"/>
                        </a:rPr>
                        <a:t>Topic Objective</a:t>
                      </a:r>
                      <a:endParaRPr sz="1400" u="none" cap="none" strike="noStrike">
                        <a:latin typeface="Arial"/>
                        <a:ea typeface="Arial"/>
                        <a:cs typeface="Arial"/>
                        <a:sym typeface="Arial"/>
                      </a:endParaRPr>
                    </a:p>
                  </a:txBody>
                  <a:tcPr marT="0" marB="0" marR="68575" marL="68575"/>
                </a:tc>
              </a:tr>
              <a:tr h="444150">
                <a:tc>
                  <a:txBody>
                    <a:bodyPr/>
                    <a:lstStyle/>
                    <a:p>
                      <a:pPr indent="0" lvl="0" marL="0" marR="0" rtl="0" algn="l">
                        <a:lnSpc>
                          <a:spcPct val="107000"/>
                        </a:lnSpc>
                        <a:spcBef>
                          <a:spcPts val="0"/>
                        </a:spcBef>
                        <a:spcAft>
                          <a:spcPts val="0"/>
                        </a:spcAft>
                        <a:buNone/>
                      </a:pPr>
                      <a:r>
                        <a:rPr lang="en-US" sz="1400" u="none" cap="none" strike="noStrike">
                          <a:latin typeface="Arial"/>
                          <a:ea typeface="Arial"/>
                          <a:cs typeface="Arial"/>
                          <a:sym typeface="Arial"/>
                        </a:rPr>
                        <a:t>Network Transmission Quality</a:t>
                      </a:r>
                      <a:endParaRPr sz="14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None/>
                      </a:pPr>
                      <a:r>
                        <a:rPr lang="en-US" sz="1400" u="none" cap="none" strike="noStrike">
                          <a:latin typeface="Arial"/>
                          <a:ea typeface="Arial"/>
                          <a:cs typeface="Arial"/>
                          <a:sym typeface="Arial"/>
                        </a:rPr>
                        <a:t>Explain how network transmission characteristics impact quality.</a:t>
                      </a:r>
                      <a:endParaRPr sz="1400" u="none" cap="none" strike="noStrike">
                        <a:solidFill>
                          <a:srgbClr val="000000"/>
                        </a:solidFill>
                        <a:latin typeface="Arial"/>
                        <a:ea typeface="Arial"/>
                        <a:cs typeface="Arial"/>
                        <a:sym typeface="Arial"/>
                      </a:endParaRPr>
                    </a:p>
                  </a:txBody>
                  <a:tcPr marT="0" marB="0" marR="68575" marL="68575"/>
                </a:tc>
              </a:tr>
              <a:tr h="315925">
                <a:tc>
                  <a:txBody>
                    <a:bodyPr/>
                    <a:lstStyle/>
                    <a:p>
                      <a:pPr indent="0" lvl="0" marL="0" marR="0" rtl="0" algn="l">
                        <a:lnSpc>
                          <a:spcPct val="107000"/>
                        </a:lnSpc>
                        <a:spcBef>
                          <a:spcPts val="0"/>
                        </a:spcBef>
                        <a:spcAft>
                          <a:spcPts val="0"/>
                        </a:spcAft>
                        <a:buNone/>
                      </a:pPr>
                      <a:r>
                        <a:rPr lang="en-US" sz="1400" u="none" cap="none" strike="noStrike">
                          <a:latin typeface="Arial"/>
                          <a:ea typeface="Arial"/>
                          <a:cs typeface="Arial"/>
                          <a:sym typeface="Arial"/>
                        </a:rPr>
                        <a:t>Traffic Characteristics</a:t>
                      </a:r>
                      <a:endParaRPr sz="14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None/>
                      </a:pPr>
                      <a:r>
                        <a:rPr lang="en-US" sz="1400" u="none" cap="none" strike="noStrike">
                          <a:latin typeface="Arial"/>
                          <a:ea typeface="Arial"/>
                          <a:cs typeface="Arial"/>
                          <a:sym typeface="Arial"/>
                        </a:rPr>
                        <a:t>Describe minimum network requirements for voice, video, and data traffic.</a:t>
                      </a:r>
                      <a:endParaRPr sz="1400" u="none" cap="none" strike="noStrike">
                        <a:solidFill>
                          <a:srgbClr val="000000"/>
                        </a:solidFill>
                        <a:latin typeface="Arial"/>
                        <a:ea typeface="Arial"/>
                        <a:cs typeface="Arial"/>
                        <a:sym typeface="Arial"/>
                      </a:endParaRPr>
                    </a:p>
                  </a:txBody>
                  <a:tcPr marT="0" marB="0" marR="68575" marL="68575"/>
                </a:tc>
              </a:tr>
              <a:tr h="444150">
                <a:tc>
                  <a:txBody>
                    <a:bodyPr/>
                    <a:lstStyle/>
                    <a:p>
                      <a:pPr indent="0" lvl="0" marL="0" marR="0" rtl="0" algn="l">
                        <a:lnSpc>
                          <a:spcPct val="107000"/>
                        </a:lnSpc>
                        <a:spcBef>
                          <a:spcPts val="0"/>
                        </a:spcBef>
                        <a:spcAft>
                          <a:spcPts val="0"/>
                        </a:spcAft>
                        <a:buNone/>
                      </a:pPr>
                      <a:r>
                        <a:rPr lang="en-US" sz="1400" u="none" cap="none" strike="noStrike">
                          <a:latin typeface="Arial"/>
                          <a:ea typeface="Arial"/>
                          <a:cs typeface="Arial"/>
                          <a:sym typeface="Arial"/>
                        </a:rPr>
                        <a:t>Queuing Algorithms</a:t>
                      </a:r>
                      <a:endParaRPr/>
                    </a:p>
                  </a:txBody>
                  <a:tcPr marT="0" marB="0" marR="68575" marL="68575"/>
                </a:tc>
                <a:tc>
                  <a:txBody>
                    <a:bodyPr/>
                    <a:lstStyle/>
                    <a:p>
                      <a:pPr indent="0" lvl="0" marL="0" marR="0" rtl="0" algn="l">
                        <a:lnSpc>
                          <a:spcPct val="107000"/>
                        </a:lnSpc>
                        <a:spcBef>
                          <a:spcPts val="0"/>
                        </a:spcBef>
                        <a:spcAft>
                          <a:spcPts val="0"/>
                        </a:spcAft>
                        <a:buNone/>
                      </a:pPr>
                      <a:r>
                        <a:rPr lang="en-US" sz="1400" u="none" cap="none" strike="noStrike">
                          <a:latin typeface="Arial"/>
                          <a:ea typeface="Arial"/>
                          <a:cs typeface="Arial"/>
                          <a:sym typeface="Arial"/>
                        </a:rPr>
                        <a:t>Describe the queuing algorithms used by networking devices.</a:t>
                      </a:r>
                      <a:endParaRPr sz="1400" u="none" cap="none" strike="noStrike">
                        <a:solidFill>
                          <a:srgbClr val="000000"/>
                        </a:solidFill>
                        <a:latin typeface="Arial"/>
                        <a:ea typeface="Arial"/>
                        <a:cs typeface="Arial"/>
                        <a:sym typeface="Arial"/>
                      </a:endParaRPr>
                    </a:p>
                  </a:txBody>
                  <a:tcPr marT="0" marB="0" marR="68575" marL="68575"/>
                </a:tc>
              </a:tr>
              <a:tr h="444150">
                <a:tc>
                  <a:txBody>
                    <a:bodyPr/>
                    <a:lstStyle/>
                    <a:p>
                      <a:pPr indent="0" lvl="0" marL="0" marR="0" rtl="0" algn="l">
                        <a:lnSpc>
                          <a:spcPct val="107000"/>
                        </a:lnSpc>
                        <a:spcBef>
                          <a:spcPts val="0"/>
                        </a:spcBef>
                        <a:spcAft>
                          <a:spcPts val="0"/>
                        </a:spcAft>
                        <a:buNone/>
                      </a:pPr>
                      <a:r>
                        <a:rPr lang="en-US" sz="1400" u="none" cap="none" strike="noStrike">
                          <a:latin typeface="Arial"/>
                          <a:ea typeface="Arial"/>
                          <a:cs typeface="Arial"/>
                          <a:sym typeface="Arial"/>
                        </a:rPr>
                        <a:t>QoS Models</a:t>
                      </a:r>
                      <a:endParaRPr/>
                    </a:p>
                  </a:txBody>
                  <a:tcPr marT="0" marB="0" marR="68575" marL="68575"/>
                </a:tc>
                <a:tc>
                  <a:txBody>
                    <a:bodyPr/>
                    <a:lstStyle/>
                    <a:p>
                      <a:pPr indent="0" lvl="0" marL="0" marR="0" rtl="0" algn="l">
                        <a:lnSpc>
                          <a:spcPct val="107000"/>
                        </a:lnSpc>
                        <a:spcBef>
                          <a:spcPts val="0"/>
                        </a:spcBef>
                        <a:spcAft>
                          <a:spcPts val="0"/>
                        </a:spcAft>
                        <a:buNone/>
                      </a:pPr>
                      <a:r>
                        <a:rPr lang="en-US" sz="1400" u="none" cap="none" strike="noStrike">
                          <a:latin typeface="Arial"/>
                          <a:ea typeface="Arial"/>
                          <a:cs typeface="Arial"/>
                          <a:sym typeface="Arial"/>
                        </a:rPr>
                        <a:t>Describe the different QoS models.</a:t>
                      </a:r>
                      <a:endParaRPr sz="1400" u="none" cap="none" strike="noStrike">
                        <a:solidFill>
                          <a:srgbClr val="000000"/>
                        </a:solidFill>
                        <a:latin typeface="Arial"/>
                        <a:ea typeface="Arial"/>
                        <a:cs typeface="Arial"/>
                        <a:sym typeface="Arial"/>
                      </a:endParaRPr>
                    </a:p>
                  </a:txBody>
                  <a:tcPr marT="0" marB="0" marR="68575" marL="68575"/>
                </a:tc>
              </a:tr>
              <a:tr h="444150">
                <a:tc>
                  <a:txBody>
                    <a:bodyPr/>
                    <a:lstStyle/>
                    <a:p>
                      <a:pPr indent="0" lvl="0" marL="0" marR="0" rtl="0" algn="l">
                        <a:lnSpc>
                          <a:spcPct val="107000"/>
                        </a:lnSpc>
                        <a:spcBef>
                          <a:spcPts val="0"/>
                        </a:spcBef>
                        <a:spcAft>
                          <a:spcPts val="0"/>
                        </a:spcAft>
                        <a:buNone/>
                      </a:pPr>
                      <a:r>
                        <a:rPr lang="en-US" sz="1400" u="none" cap="none" strike="noStrike">
                          <a:latin typeface="Arial"/>
                          <a:ea typeface="Arial"/>
                          <a:cs typeface="Arial"/>
                          <a:sym typeface="Arial"/>
                        </a:rPr>
                        <a:t>QoS Implementation Techniques</a:t>
                      </a:r>
                      <a:endParaRPr/>
                    </a:p>
                  </a:txBody>
                  <a:tcPr marT="0" marB="0" marR="68575" marL="68575"/>
                </a:tc>
                <a:tc>
                  <a:txBody>
                    <a:bodyPr/>
                    <a:lstStyle/>
                    <a:p>
                      <a:pPr indent="0" lvl="0" marL="0" marR="0" rtl="0" algn="l">
                        <a:lnSpc>
                          <a:spcPct val="107000"/>
                        </a:lnSpc>
                        <a:spcBef>
                          <a:spcPts val="0"/>
                        </a:spcBef>
                        <a:spcAft>
                          <a:spcPts val="0"/>
                        </a:spcAft>
                        <a:buNone/>
                      </a:pPr>
                      <a:r>
                        <a:rPr lang="en-US" sz="1400" u="none" cap="none" strike="noStrike">
                          <a:latin typeface="Arial"/>
                          <a:ea typeface="Arial"/>
                          <a:cs typeface="Arial"/>
                          <a:sym typeface="Arial"/>
                        </a:rPr>
                        <a:t>Explain how QoS uses mechanisms to ensure transmission quality.</a:t>
                      </a:r>
                      <a:endParaRPr sz="1400" u="none" cap="none" strike="noStrike">
                        <a:solidFill>
                          <a:srgbClr val="000000"/>
                        </a:solidFill>
                        <a:latin typeface="Arial"/>
                        <a:ea typeface="Arial"/>
                        <a:cs typeface="Arial"/>
                        <a:sym typeface="Arial"/>
                      </a:endParaRPr>
                    </a:p>
                  </a:txBody>
                  <a:tcPr marT="0" marB="0" marR="68575" marL="68575"/>
                </a:tc>
              </a:tr>
            </a:tbl>
          </a:graphicData>
        </a:graphic>
      </p:graphicFrame>
    </p:spTree>
  </p:cSld>
  <p:clrMapOvr>
    <a:masterClrMapping/>
  </p:clrMapOvr>
  <p:transition spd="slow">
    <p:wipe dir="l"/>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
          <p:cNvSpPr txBox="1"/>
          <p:nvPr>
            <p:ph type="ctrTitle"/>
          </p:nvPr>
        </p:nvSpPr>
        <p:spPr>
          <a:xfrm>
            <a:off x="416425" y="1788160"/>
            <a:ext cx="7598042"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9.1 Network Transmission Quality</a:t>
            </a:r>
            <a:endParaRPr/>
          </a:p>
        </p:txBody>
      </p:sp>
    </p:spTree>
  </p:cSld>
  <p:clrMapOvr>
    <a:masterClrMapping/>
  </p:clrMapOvr>
  <p:transition spd="slow">
    <p:wipe dir="l"/>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Network Transmission Quality</a:t>
            </a:r>
            <a:br>
              <a:rPr lang="en-US"/>
            </a:br>
            <a:r>
              <a:rPr lang="en-US" sz="2400"/>
              <a:t>Video – The Purpose of QoS</a:t>
            </a:r>
            <a:endParaRPr/>
          </a:p>
        </p:txBody>
      </p:sp>
      <p:sp>
        <p:nvSpPr>
          <p:cNvPr id="260" name="Google Shape;260;p4"/>
          <p:cNvSpPr txBox="1"/>
          <p:nvPr>
            <p:ph idx="1" type="body"/>
          </p:nvPr>
        </p:nvSpPr>
        <p:spPr>
          <a:xfrm>
            <a:off x="431971" y="855418"/>
            <a:ext cx="7913517" cy="3759111"/>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800"/>
              <a:buNone/>
            </a:pPr>
            <a:r>
              <a:rPr lang="en-US" sz="1800">
                <a:solidFill>
                  <a:srgbClr val="000000"/>
                </a:solidFill>
              </a:rPr>
              <a:t>This video explains Quality of Service (QoS) and why it is needed.</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5"/>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Network Transmission Quality</a:t>
            </a:r>
            <a:br>
              <a:rPr lang="en-US"/>
            </a:br>
            <a:r>
              <a:rPr lang="en-US" sz="2400"/>
              <a:t>Prioritizing Traffic</a:t>
            </a:r>
            <a:endParaRPr/>
          </a:p>
        </p:txBody>
      </p:sp>
      <p:sp>
        <p:nvSpPr>
          <p:cNvPr id="267" name="Google Shape;267;p5"/>
          <p:cNvSpPr txBox="1"/>
          <p:nvPr>
            <p:ph idx="1" type="body"/>
          </p:nvPr>
        </p:nvSpPr>
        <p:spPr>
          <a:xfrm>
            <a:off x="283924" y="731837"/>
            <a:ext cx="3888820" cy="3759111"/>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500"/>
              <a:buFont typeface="Arial"/>
              <a:buChar char="•"/>
            </a:pPr>
            <a:r>
              <a:rPr lang="en-US" sz="1500">
                <a:solidFill>
                  <a:srgbClr val="000000"/>
                </a:solidFill>
              </a:rPr>
              <a:t>When traffic volume is greater than what can be transported across the network, devices queue (hold) the packets in memory until resources become available to transmit them.</a:t>
            </a:r>
            <a:endParaRPr/>
          </a:p>
          <a:p>
            <a:pPr indent="-342900" lvl="0" marL="342900" rtl="0" algn="l">
              <a:lnSpc>
                <a:spcPct val="100000"/>
              </a:lnSpc>
              <a:spcBef>
                <a:spcPts val="300"/>
              </a:spcBef>
              <a:spcAft>
                <a:spcPts val="0"/>
              </a:spcAft>
              <a:buSzPts val="1500"/>
              <a:buFont typeface="Arial"/>
              <a:buChar char="•"/>
            </a:pPr>
            <a:r>
              <a:rPr lang="en-US" sz="1500">
                <a:solidFill>
                  <a:srgbClr val="000000"/>
                </a:solidFill>
              </a:rPr>
              <a:t>Queuing packets causes delay because new packets cannot be transmitted until previous packets have been processed.</a:t>
            </a:r>
            <a:endParaRPr/>
          </a:p>
          <a:p>
            <a:pPr indent="-342900" lvl="0" marL="342900" rtl="0" algn="l">
              <a:lnSpc>
                <a:spcPct val="100000"/>
              </a:lnSpc>
              <a:spcBef>
                <a:spcPts val="300"/>
              </a:spcBef>
              <a:spcAft>
                <a:spcPts val="0"/>
              </a:spcAft>
              <a:buSzPts val="1500"/>
              <a:buFont typeface="Arial"/>
              <a:buChar char="•"/>
            </a:pPr>
            <a:r>
              <a:rPr lang="en-US" sz="1500">
                <a:solidFill>
                  <a:srgbClr val="000000"/>
                </a:solidFill>
              </a:rPr>
              <a:t>If the number of packets to be queued continues to increase, the memory within the device fills up and packets are dropped. </a:t>
            </a:r>
            <a:endParaRPr/>
          </a:p>
          <a:p>
            <a:pPr indent="-342900" lvl="0" marL="342900" rtl="0" algn="l">
              <a:lnSpc>
                <a:spcPct val="100000"/>
              </a:lnSpc>
              <a:spcBef>
                <a:spcPts val="300"/>
              </a:spcBef>
              <a:spcAft>
                <a:spcPts val="0"/>
              </a:spcAft>
              <a:buSzPts val="1500"/>
              <a:buFont typeface="Arial"/>
              <a:buChar char="•"/>
            </a:pPr>
            <a:r>
              <a:rPr lang="en-US" sz="1500">
                <a:solidFill>
                  <a:srgbClr val="000000"/>
                </a:solidFill>
              </a:rPr>
              <a:t>One QoS technique that can help with this problem is to classify data into multiple queues, as shown in the figure.</a:t>
            </a:r>
            <a:endParaRPr/>
          </a:p>
        </p:txBody>
      </p:sp>
      <p:sp>
        <p:nvSpPr>
          <p:cNvPr id="268" name="Google Shape;268;p5"/>
          <p:cNvSpPr/>
          <p:nvPr/>
        </p:nvSpPr>
        <p:spPr>
          <a:xfrm>
            <a:off x="4823210" y="3859329"/>
            <a:ext cx="412997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Note</a:t>
            </a:r>
            <a:r>
              <a:rPr lang="en-US" sz="1200">
                <a:solidFill>
                  <a:schemeClr val="dk1"/>
                </a:solidFill>
                <a:latin typeface="Arial"/>
                <a:ea typeface="Arial"/>
                <a:cs typeface="Arial"/>
                <a:sym typeface="Arial"/>
              </a:rPr>
              <a:t>: A device implements QoS only when it is experiencing some type of congestion.</a:t>
            </a:r>
            <a:endParaRPr/>
          </a:p>
        </p:txBody>
      </p:sp>
      <p:pic>
        <p:nvPicPr>
          <p:cNvPr id="269" name="Google Shape;269;p5"/>
          <p:cNvPicPr preferRelativeResize="0"/>
          <p:nvPr/>
        </p:nvPicPr>
        <p:blipFill rotWithShape="1">
          <a:blip r:embed="rId3">
            <a:alphaModFix/>
          </a:blip>
          <a:srcRect b="0" l="0" r="0" t="0"/>
          <a:stretch/>
        </p:blipFill>
        <p:spPr>
          <a:xfrm>
            <a:off x="4461468" y="1235318"/>
            <a:ext cx="4129977" cy="242367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6"/>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Network Transmission Quality</a:t>
            </a:r>
            <a:br>
              <a:rPr lang="en-US"/>
            </a:br>
            <a:r>
              <a:rPr lang="en-US" sz="2400"/>
              <a:t>Bandwidth, Congestion, Delay, and Jitter</a:t>
            </a:r>
            <a:endParaRPr/>
          </a:p>
        </p:txBody>
      </p:sp>
      <p:sp>
        <p:nvSpPr>
          <p:cNvPr id="276" name="Google Shape;276;p6"/>
          <p:cNvSpPr txBox="1"/>
          <p:nvPr>
            <p:ph idx="1" type="body"/>
          </p:nvPr>
        </p:nvSpPr>
        <p:spPr>
          <a:xfrm>
            <a:off x="431972" y="855419"/>
            <a:ext cx="7913516" cy="1444721"/>
          </a:xfrm>
          <a:prstGeom prst="rect">
            <a:avLst/>
          </a:prstGeom>
          <a:noFill/>
          <a:ln>
            <a:noFill/>
          </a:ln>
        </p:spPr>
        <p:txBody>
          <a:bodyPr anchorCtr="0" anchor="t" bIns="45700" lIns="91400" spcFirstLastPara="1" rIns="91400" wrap="square" tIns="45700">
            <a:noAutofit/>
          </a:bodyPr>
          <a:lstStyle/>
          <a:p>
            <a:pPr indent="-285750" lvl="0" marL="285750" rtl="0" algn="l">
              <a:lnSpc>
                <a:spcPct val="100000"/>
              </a:lnSpc>
              <a:spcBef>
                <a:spcPts val="0"/>
              </a:spcBef>
              <a:spcAft>
                <a:spcPts val="0"/>
              </a:spcAft>
              <a:buSzPts val="1400"/>
              <a:buFont typeface="Arial"/>
              <a:buChar char="•"/>
            </a:pPr>
            <a:r>
              <a:rPr lang="en-US" sz="1400">
                <a:solidFill>
                  <a:srgbClr val="000000"/>
                </a:solidFill>
              </a:rPr>
              <a:t>Network bandwidth is measured in the number of bits that can be transmitted in a single second, or bits per second (bps).</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Network congestion causes delay. An interface experiences congestion when it is presented with more traffic than it can handle. Network congestion points are ideal candidates for QoS mechanisms.</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The typical congestion points are aggregation, speed mismatch, and LAN to WAN.</a:t>
            </a:r>
            <a:endParaRPr/>
          </a:p>
        </p:txBody>
      </p:sp>
      <p:pic>
        <p:nvPicPr>
          <p:cNvPr id="277" name="Google Shape;277;p6"/>
          <p:cNvPicPr preferRelativeResize="0"/>
          <p:nvPr/>
        </p:nvPicPr>
        <p:blipFill rotWithShape="1">
          <a:blip r:embed="rId3">
            <a:alphaModFix/>
          </a:blip>
          <a:srcRect b="0" l="0" r="0" t="0"/>
          <a:stretch/>
        </p:blipFill>
        <p:spPr>
          <a:xfrm>
            <a:off x="1125375" y="2411605"/>
            <a:ext cx="6526709" cy="220878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7"/>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Network Transmission Quality</a:t>
            </a:r>
            <a:br>
              <a:rPr lang="en-US"/>
            </a:br>
            <a:r>
              <a:rPr lang="en-US" sz="2400"/>
              <a:t>Bandwidth, Congestion, Delay, and Jitter (Cont.)</a:t>
            </a:r>
            <a:endParaRPr/>
          </a:p>
        </p:txBody>
      </p:sp>
      <p:sp>
        <p:nvSpPr>
          <p:cNvPr id="284" name="Google Shape;284;p7"/>
          <p:cNvSpPr txBox="1"/>
          <p:nvPr>
            <p:ph idx="1" type="body"/>
          </p:nvPr>
        </p:nvSpPr>
        <p:spPr>
          <a:xfrm>
            <a:off x="431972" y="731837"/>
            <a:ext cx="7913516" cy="1839913"/>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Delay or latency refers to the time it takes for a packet to travel from the source to the destination.</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Fixed delay is the amount of time a specific process takes, such as how long it takes to place a bit on the transmission media. </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Variable delay takes an unspecified amount of time and is affected by factors such as how much traffic is being processed.</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Jitter is the variation of delay of received packets.</a:t>
            </a:r>
            <a:endParaRPr/>
          </a:p>
        </p:txBody>
      </p:sp>
      <p:graphicFrame>
        <p:nvGraphicFramePr>
          <p:cNvPr id="285" name="Google Shape;285;p7"/>
          <p:cNvGraphicFramePr/>
          <p:nvPr/>
        </p:nvGraphicFramePr>
        <p:xfrm>
          <a:off x="431800" y="2496553"/>
          <a:ext cx="3000000" cy="3000000"/>
        </p:xfrm>
        <a:graphic>
          <a:graphicData uri="http://schemas.openxmlformats.org/drawingml/2006/table">
            <a:tbl>
              <a:tblPr bandRow="1" firstRow="1">
                <a:noFill/>
                <a:tableStyleId>{D8C263E1-B3EF-47A4-AEA2-D0D936B171C2}</a:tableStyleId>
              </a:tblPr>
              <a:tblGrid>
                <a:gridCol w="1698275"/>
                <a:gridCol w="6582125"/>
              </a:tblGrid>
              <a:tr h="170900">
                <a:tc>
                  <a:txBody>
                    <a:bodyPr/>
                    <a:lstStyle/>
                    <a:p>
                      <a:pPr indent="0" lvl="0" marL="0" marR="0" rtl="0" algn="l">
                        <a:spcBef>
                          <a:spcPts val="0"/>
                        </a:spcBef>
                        <a:spcAft>
                          <a:spcPts val="0"/>
                        </a:spcAft>
                        <a:buNone/>
                      </a:pPr>
                      <a:r>
                        <a:rPr lang="en-US" sz="1200" u="none" cap="none" strike="noStrike"/>
                        <a:t>Delay</a:t>
                      </a:r>
                      <a:endParaRPr/>
                    </a:p>
                  </a:txBody>
                  <a:tcPr marT="45725" marB="45725" marR="91450" marL="91450"/>
                </a:tc>
                <a:tc>
                  <a:txBody>
                    <a:bodyPr/>
                    <a:lstStyle/>
                    <a:p>
                      <a:pPr indent="0" lvl="0" marL="0" marR="0" rtl="0" algn="l">
                        <a:spcBef>
                          <a:spcPts val="0"/>
                        </a:spcBef>
                        <a:spcAft>
                          <a:spcPts val="0"/>
                        </a:spcAft>
                        <a:buNone/>
                      </a:pPr>
                      <a:r>
                        <a:rPr lang="en-US" sz="1200"/>
                        <a:t>Description</a:t>
                      </a:r>
                      <a:endParaRPr/>
                    </a:p>
                  </a:txBody>
                  <a:tcPr marT="45725" marB="45725" marR="91450" marL="91450"/>
                </a:tc>
              </a:tr>
              <a:tr h="170900">
                <a:tc>
                  <a:txBody>
                    <a:bodyPr/>
                    <a:lstStyle/>
                    <a:p>
                      <a:pPr indent="0" lvl="0" marL="0" marR="0" rtl="0" algn="l">
                        <a:spcBef>
                          <a:spcPts val="0"/>
                        </a:spcBef>
                        <a:spcAft>
                          <a:spcPts val="0"/>
                        </a:spcAft>
                        <a:buNone/>
                      </a:pPr>
                      <a:r>
                        <a:rPr lang="en-US" sz="1200">
                          <a:solidFill>
                            <a:srgbClr val="000000"/>
                          </a:solidFill>
                        </a:rPr>
                        <a:t>Code delay</a:t>
                      </a:r>
                      <a:endParaRPr/>
                    </a:p>
                  </a:txBody>
                  <a:tcPr marT="45725" marB="45725" marR="91450" marL="91450"/>
                </a:tc>
                <a:tc>
                  <a:txBody>
                    <a:bodyPr/>
                    <a:lstStyle/>
                    <a:p>
                      <a:pPr indent="0" lvl="0" marL="0" marR="0" rtl="0" algn="l">
                        <a:spcBef>
                          <a:spcPts val="0"/>
                        </a:spcBef>
                        <a:spcAft>
                          <a:spcPts val="0"/>
                        </a:spcAft>
                        <a:buNone/>
                      </a:pPr>
                      <a:r>
                        <a:rPr lang="en-US" sz="1200"/>
                        <a:t>The fixed amount of time it takes to compress data at the source before transmitting to the first internetworking device, usually a switch.</a:t>
                      </a:r>
                      <a:endParaRPr sz="1200">
                        <a:solidFill>
                          <a:srgbClr val="000000"/>
                        </a:solidFill>
                      </a:endParaRPr>
                    </a:p>
                  </a:txBody>
                  <a:tcPr marT="45725" marB="45725" marR="91450" marL="91450"/>
                </a:tc>
              </a:tr>
              <a:tr h="170900">
                <a:tc>
                  <a:txBody>
                    <a:bodyPr/>
                    <a:lstStyle/>
                    <a:p>
                      <a:pPr indent="0" lvl="0" marL="0" marR="0" rtl="0" algn="l">
                        <a:spcBef>
                          <a:spcPts val="0"/>
                        </a:spcBef>
                        <a:spcAft>
                          <a:spcPts val="0"/>
                        </a:spcAft>
                        <a:buNone/>
                      </a:pPr>
                      <a:r>
                        <a:rPr lang="en-US" sz="1200">
                          <a:solidFill>
                            <a:srgbClr val="000000"/>
                          </a:solidFill>
                        </a:rPr>
                        <a:t>Packetization delay</a:t>
                      </a:r>
                      <a:endParaRPr/>
                    </a:p>
                  </a:txBody>
                  <a:tcPr marT="45725" marB="45725" marR="91450" marL="91450"/>
                </a:tc>
                <a:tc>
                  <a:txBody>
                    <a:bodyPr/>
                    <a:lstStyle/>
                    <a:p>
                      <a:pPr indent="0" lvl="0" marL="0" marR="0" rtl="0" algn="l">
                        <a:spcBef>
                          <a:spcPts val="0"/>
                        </a:spcBef>
                        <a:spcAft>
                          <a:spcPts val="0"/>
                        </a:spcAft>
                        <a:buNone/>
                      </a:pPr>
                      <a:r>
                        <a:rPr lang="en-US" sz="1200"/>
                        <a:t>The fixed time it takes to encapsulate a packet with all the necessary header information.</a:t>
                      </a:r>
                      <a:endParaRPr sz="1200">
                        <a:solidFill>
                          <a:srgbClr val="000000"/>
                        </a:solidFill>
                      </a:endParaRPr>
                    </a:p>
                  </a:txBody>
                  <a:tcPr marT="45725" marB="45725" marR="91450" marL="91450"/>
                </a:tc>
              </a:tr>
              <a:tr h="170900">
                <a:tc>
                  <a:txBody>
                    <a:bodyPr/>
                    <a:lstStyle/>
                    <a:p>
                      <a:pPr indent="0" lvl="0" marL="0" marR="0" rtl="0" algn="l">
                        <a:spcBef>
                          <a:spcPts val="0"/>
                        </a:spcBef>
                        <a:spcAft>
                          <a:spcPts val="0"/>
                        </a:spcAft>
                        <a:buNone/>
                      </a:pPr>
                      <a:r>
                        <a:rPr lang="en-US" sz="1200">
                          <a:solidFill>
                            <a:srgbClr val="000000"/>
                          </a:solidFill>
                        </a:rPr>
                        <a:t>Queuing delay</a:t>
                      </a:r>
                      <a:endParaRPr/>
                    </a:p>
                  </a:txBody>
                  <a:tcPr marT="45725" marB="45725" marR="91450" marL="91450"/>
                </a:tc>
                <a:tc>
                  <a:txBody>
                    <a:bodyPr/>
                    <a:lstStyle/>
                    <a:p>
                      <a:pPr indent="0" lvl="0" marL="0" marR="0" rtl="0" algn="l">
                        <a:spcBef>
                          <a:spcPts val="0"/>
                        </a:spcBef>
                        <a:spcAft>
                          <a:spcPts val="0"/>
                        </a:spcAft>
                        <a:buNone/>
                      </a:pPr>
                      <a:r>
                        <a:rPr lang="en-US" sz="1200"/>
                        <a:t>The variable amount of time a frame or packet waits to be transmitted on the link.</a:t>
                      </a:r>
                      <a:endParaRPr sz="1200">
                        <a:solidFill>
                          <a:srgbClr val="000000"/>
                        </a:solidFill>
                      </a:endParaRPr>
                    </a:p>
                  </a:txBody>
                  <a:tcPr marT="45725" marB="45725" marR="91450" marL="91450"/>
                </a:tc>
              </a:tr>
              <a:tr h="272450">
                <a:tc>
                  <a:txBody>
                    <a:bodyPr/>
                    <a:lstStyle/>
                    <a:p>
                      <a:pPr indent="0" lvl="0" marL="0" marR="0" rtl="0" algn="l">
                        <a:spcBef>
                          <a:spcPts val="0"/>
                        </a:spcBef>
                        <a:spcAft>
                          <a:spcPts val="0"/>
                        </a:spcAft>
                        <a:buNone/>
                      </a:pPr>
                      <a:r>
                        <a:rPr lang="en-US" sz="1200">
                          <a:solidFill>
                            <a:srgbClr val="000000"/>
                          </a:solidFill>
                        </a:rPr>
                        <a:t>Serialization delay</a:t>
                      </a:r>
                      <a:endParaRPr/>
                    </a:p>
                  </a:txBody>
                  <a:tcPr marT="45725" marB="45725" marR="91450" marL="91450"/>
                </a:tc>
                <a:tc>
                  <a:txBody>
                    <a:bodyPr/>
                    <a:lstStyle/>
                    <a:p>
                      <a:pPr indent="0" lvl="0" marL="0" marR="0" rtl="0" algn="l">
                        <a:spcBef>
                          <a:spcPts val="0"/>
                        </a:spcBef>
                        <a:spcAft>
                          <a:spcPts val="0"/>
                        </a:spcAft>
                        <a:buNone/>
                      </a:pPr>
                      <a:r>
                        <a:rPr lang="en-US" sz="1200"/>
                        <a:t>The fixed amount of time it takes to transmit a frame onto the wire.</a:t>
                      </a:r>
                      <a:endParaRPr sz="1200">
                        <a:solidFill>
                          <a:srgbClr val="000000"/>
                        </a:solidFill>
                      </a:endParaRPr>
                    </a:p>
                  </a:txBody>
                  <a:tcPr marT="45725" marB="45725" marR="91450" marL="91450"/>
                </a:tc>
              </a:tr>
              <a:tr h="272450">
                <a:tc>
                  <a:txBody>
                    <a:bodyPr/>
                    <a:lstStyle/>
                    <a:p>
                      <a:pPr indent="0" lvl="0" marL="0" marR="0" rtl="0" algn="l">
                        <a:spcBef>
                          <a:spcPts val="0"/>
                        </a:spcBef>
                        <a:spcAft>
                          <a:spcPts val="0"/>
                        </a:spcAft>
                        <a:buNone/>
                      </a:pPr>
                      <a:r>
                        <a:rPr lang="en-US" sz="1200">
                          <a:solidFill>
                            <a:srgbClr val="000000"/>
                          </a:solidFill>
                        </a:rPr>
                        <a:t>Propagation delay</a:t>
                      </a:r>
                      <a:endParaRPr/>
                    </a:p>
                  </a:txBody>
                  <a:tcPr marT="45725" marB="45725" marR="91450" marL="91450"/>
                </a:tc>
                <a:tc>
                  <a:txBody>
                    <a:bodyPr/>
                    <a:lstStyle/>
                    <a:p>
                      <a:pPr indent="0" lvl="0" marL="0" marR="0" rtl="0" algn="l">
                        <a:spcBef>
                          <a:spcPts val="0"/>
                        </a:spcBef>
                        <a:spcAft>
                          <a:spcPts val="0"/>
                        </a:spcAft>
                        <a:buNone/>
                      </a:pPr>
                      <a:r>
                        <a:rPr lang="en-US" sz="1200"/>
                        <a:t>The variable amount of time it takes for the frame to travel between the source and destination.</a:t>
                      </a:r>
                      <a:endParaRPr sz="1200">
                        <a:solidFill>
                          <a:srgbClr val="000000"/>
                        </a:solidFill>
                      </a:endParaRPr>
                    </a:p>
                  </a:txBody>
                  <a:tcPr marT="45725" marB="45725" marR="91450" marL="91450"/>
                </a:tc>
              </a:tr>
              <a:tr h="272450">
                <a:tc>
                  <a:txBody>
                    <a:bodyPr/>
                    <a:lstStyle/>
                    <a:p>
                      <a:pPr indent="0" lvl="0" marL="0" marR="0" rtl="0" algn="l">
                        <a:spcBef>
                          <a:spcPts val="0"/>
                        </a:spcBef>
                        <a:spcAft>
                          <a:spcPts val="0"/>
                        </a:spcAft>
                        <a:buNone/>
                      </a:pPr>
                      <a:r>
                        <a:rPr lang="en-US" sz="1200">
                          <a:solidFill>
                            <a:srgbClr val="000000"/>
                          </a:solidFill>
                        </a:rPr>
                        <a:t>De-jitter delay</a:t>
                      </a:r>
                      <a:endParaRPr/>
                    </a:p>
                  </a:txBody>
                  <a:tcPr marT="45725" marB="45725" marR="91450" marL="91450"/>
                </a:tc>
                <a:tc>
                  <a:txBody>
                    <a:bodyPr/>
                    <a:lstStyle/>
                    <a:p>
                      <a:pPr indent="0" lvl="0" marL="0" marR="0" rtl="0" algn="l">
                        <a:spcBef>
                          <a:spcPts val="0"/>
                        </a:spcBef>
                        <a:spcAft>
                          <a:spcPts val="0"/>
                        </a:spcAft>
                        <a:buNone/>
                      </a:pPr>
                      <a:r>
                        <a:rPr lang="en-US" sz="1200"/>
                        <a:t>The fixed amount of time it takes to buffer a flow of packets and then send them out in evenly spaced intervals.</a:t>
                      </a:r>
                      <a:endParaRPr sz="1200">
                        <a:solidFill>
                          <a:srgbClr val="000000"/>
                        </a:solidFill>
                      </a:endParaRPr>
                    </a:p>
                  </a:txBody>
                  <a:tcPr marT="45725" marB="45725" marR="91450" marL="91450"/>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8"/>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Network Transmission Quality</a:t>
            </a:r>
            <a:br>
              <a:rPr lang="en-US"/>
            </a:br>
            <a:r>
              <a:rPr lang="en-US" sz="2400"/>
              <a:t>Packet Loss</a:t>
            </a:r>
            <a:endParaRPr/>
          </a:p>
        </p:txBody>
      </p:sp>
      <p:sp>
        <p:nvSpPr>
          <p:cNvPr id="292" name="Google Shape;292;p8"/>
          <p:cNvSpPr txBox="1"/>
          <p:nvPr>
            <p:ph idx="1" type="body"/>
          </p:nvPr>
        </p:nvSpPr>
        <p:spPr>
          <a:xfrm>
            <a:off x="431972" y="855419"/>
            <a:ext cx="4140028" cy="3465371"/>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Without QoS mechanisms, time-sensitive packets, such as real-time video and voice, are dropped with the same frequency as data that is not time-sensitive.</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When a router receives a Real-Time Protocol (RTP) digital audio stream for Voice over IP (VoIP), it compensates for the jitter that is encountered using a playout delay buffer.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The playout delay buffer buffers these packets and then plays them out in a steady stream.</a:t>
            </a:r>
            <a:endParaRPr/>
          </a:p>
        </p:txBody>
      </p:sp>
      <p:pic>
        <p:nvPicPr>
          <p:cNvPr id="293" name="Google Shape;293;p8"/>
          <p:cNvPicPr preferRelativeResize="0"/>
          <p:nvPr/>
        </p:nvPicPr>
        <p:blipFill rotWithShape="1">
          <a:blip r:embed="rId3">
            <a:alphaModFix/>
          </a:blip>
          <a:srcRect b="0" l="0" r="0" t="0"/>
          <a:stretch/>
        </p:blipFill>
        <p:spPr>
          <a:xfrm>
            <a:off x="4572000" y="1129012"/>
            <a:ext cx="4140028" cy="28854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9"/>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Network Transmission Quality</a:t>
            </a:r>
            <a:br>
              <a:rPr lang="en-US"/>
            </a:br>
            <a:r>
              <a:rPr lang="en-US" sz="2400"/>
              <a:t>Packet Loss (Cont.)</a:t>
            </a:r>
            <a:endParaRPr/>
          </a:p>
        </p:txBody>
      </p:sp>
      <p:sp>
        <p:nvSpPr>
          <p:cNvPr id="300" name="Google Shape;300;p9"/>
          <p:cNvSpPr txBox="1"/>
          <p:nvPr>
            <p:ph idx="1" type="body"/>
          </p:nvPr>
        </p:nvSpPr>
        <p:spPr>
          <a:xfrm>
            <a:off x="431972" y="855419"/>
            <a:ext cx="4140028" cy="2902665"/>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If the jitter is so large that it causes packets to be received out of the range of the play out buffer, the out-of-range packets are discarded and dropouts are heard in the audio.</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For losses as small as one packet, the digital signal processor (DSP) interpolates what it thinks the audio should be and no problem is audible to the user.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When jitter exceeds what the DSP can do to make up for the missing packets, audio problems are heard.</a:t>
            </a:r>
            <a:endParaRPr/>
          </a:p>
        </p:txBody>
      </p:sp>
      <p:sp>
        <p:nvSpPr>
          <p:cNvPr id="301" name="Google Shape;301;p9"/>
          <p:cNvSpPr/>
          <p:nvPr/>
        </p:nvSpPr>
        <p:spPr>
          <a:xfrm>
            <a:off x="4439653" y="4026471"/>
            <a:ext cx="457200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Note</a:t>
            </a:r>
            <a:r>
              <a:rPr lang="en-US" sz="1400">
                <a:solidFill>
                  <a:schemeClr val="dk1"/>
                </a:solidFill>
                <a:latin typeface="Arial"/>
                <a:ea typeface="Arial"/>
                <a:cs typeface="Arial"/>
                <a:sym typeface="Arial"/>
              </a:rPr>
              <a:t>: In a properly designed network, packet loss should be near zero.</a:t>
            </a:r>
            <a:endParaRPr/>
          </a:p>
        </p:txBody>
      </p:sp>
      <p:pic>
        <p:nvPicPr>
          <p:cNvPr id="302" name="Google Shape;302;p9"/>
          <p:cNvPicPr preferRelativeResize="0"/>
          <p:nvPr/>
        </p:nvPicPr>
        <p:blipFill rotWithShape="1">
          <a:blip r:embed="rId3">
            <a:alphaModFix/>
          </a:blip>
          <a:srcRect b="0" l="0" r="0" t="0"/>
          <a:stretch/>
        </p:blipFill>
        <p:spPr>
          <a:xfrm>
            <a:off x="4572000" y="1203369"/>
            <a:ext cx="4030890" cy="273676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10"/>
          <p:cNvSpPr txBox="1"/>
          <p:nvPr>
            <p:ph type="ctrTitle"/>
          </p:nvPr>
        </p:nvSpPr>
        <p:spPr>
          <a:xfrm>
            <a:off x="416425" y="1788160"/>
            <a:ext cx="7848344"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9.2 Traffic Characteristics</a:t>
            </a:r>
            <a:endParaRPr/>
          </a:p>
        </p:txBody>
      </p:sp>
    </p:spTree>
  </p:cSld>
  <p:clrMapOvr>
    <a:masterClrMapping/>
  </p:clrMapOvr>
  <p:transition spd="slow">
    <p:wipe dir="l"/>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11"/>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Traffic Characteristics</a:t>
            </a:r>
            <a:br>
              <a:rPr lang="en-US"/>
            </a:br>
            <a:r>
              <a:rPr lang="en-US" sz="2400"/>
              <a:t>Video – Traffic Characteristics</a:t>
            </a:r>
            <a:endParaRPr/>
          </a:p>
        </p:txBody>
      </p:sp>
      <p:sp>
        <p:nvSpPr>
          <p:cNvPr id="315" name="Google Shape;315;p11"/>
          <p:cNvSpPr txBox="1"/>
          <p:nvPr>
            <p:ph idx="1" type="body"/>
          </p:nvPr>
        </p:nvSpPr>
        <p:spPr>
          <a:xfrm>
            <a:off x="431971" y="855418"/>
            <a:ext cx="7913517" cy="3759111"/>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800"/>
              <a:buNone/>
            </a:pPr>
            <a:r>
              <a:rPr lang="en-US" sz="1800">
                <a:solidFill>
                  <a:srgbClr val="000000"/>
                </a:solidFill>
              </a:rPr>
              <a:t>This video will explain the characteristics of voice, video, and data traffic.</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12"/>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Traffic Characteristics</a:t>
            </a:r>
            <a:br>
              <a:rPr lang="en-US"/>
            </a:br>
            <a:r>
              <a:rPr lang="en-US" sz="2400"/>
              <a:t>Network Traffic Trends</a:t>
            </a:r>
            <a:endParaRPr/>
          </a:p>
        </p:txBody>
      </p:sp>
      <p:sp>
        <p:nvSpPr>
          <p:cNvPr id="322" name="Google Shape;322;p12"/>
          <p:cNvSpPr txBox="1"/>
          <p:nvPr>
            <p:ph idx="1" type="body"/>
          </p:nvPr>
        </p:nvSpPr>
        <p:spPr>
          <a:xfrm>
            <a:off x="431972" y="855418"/>
            <a:ext cx="7913516" cy="3759111"/>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In the early 2000s, the predominant types of IP traffic were voice and data.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Voice traffic has a predictable bandwidth need and known packet arrival times.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Data traffic is not real-time and has unpredictable bandwidth need.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Data traffic can temporarily burst, as when a large file is being downloaded. This bursting can consume the entire bandwidth of a link.</a:t>
            </a:r>
            <a:endParaRPr/>
          </a:p>
          <a:p>
            <a:pPr indent="0" lvl="0" marL="0" rtl="0" algn="l">
              <a:lnSpc>
                <a:spcPct val="100000"/>
              </a:lnSpc>
              <a:spcBef>
                <a:spcPts val="320"/>
              </a:spcBef>
              <a:spcAft>
                <a:spcPts val="0"/>
              </a:spcAft>
              <a:buSzPts val="1600"/>
              <a:buNone/>
            </a:pPr>
            <a:r>
              <a:rPr lang="en-US" sz="1600">
                <a:solidFill>
                  <a:srgbClr val="000000"/>
                </a:solidFill>
              </a:rPr>
              <a:t>More recently, video traffic has become the increasingly important to business communications and operations.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According to the Cisco Visual Networking Index (VNI), video traffic represented 70% of all traffic in 2017.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By 2022, video will represent 82% of all traffic.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Mobile video traffic will reach 60.9 exabytes per month by 2022. </a:t>
            </a:r>
            <a:endParaRPr/>
          </a:p>
          <a:p>
            <a:pPr indent="0" lvl="0" marL="0" rtl="0" algn="l">
              <a:lnSpc>
                <a:spcPct val="100000"/>
              </a:lnSpc>
              <a:spcBef>
                <a:spcPts val="320"/>
              </a:spcBef>
              <a:spcAft>
                <a:spcPts val="0"/>
              </a:spcAft>
              <a:buSzPts val="1600"/>
              <a:buNone/>
            </a:pPr>
            <a:r>
              <a:rPr lang="en-US" sz="1600">
                <a:solidFill>
                  <a:srgbClr val="000000"/>
                </a:solidFill>
              </a:rPr>
              <a:t>The type of demands that voice, video, and data traffic place on the network are very different.</a:t>
            </a:r>
            <a:endParaRPr/>
          </a:p>
          <a:p>
            <a:pPr indent="0" lvl="0" marL="0" rtl="0" algn="l">
              <a:lnSpc>
                <a:spcPct val="100000"/>
              </a:lnSpc>
              <a:spcBef>
                <a:spcPts val="320"/>
              </a:spcBef>
              <a:spcAft>
                <a:spcPts val="0"/>
              </a:spcAft>
              <a:buSzPts val="1600"/>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13"/>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Traffic Characteristics</a:t>
            </a:r>
            <a:br>
              <a:rPr lang="en-US"/>
            </a:br>
            <a:r>
              <a:rPr lang="en-US" sz="2400"/>
              <a:t>Voice</a:t>
            </a:r>
            <a:endParaRPr/>
          </a:p>
        </p:txBody>
      </p:sp>
      <p:sp>
        <p:nvSpPr>
          <p:cNvPr id="329" name="Google Shape;329;p13"/>
          <p:cNvSpPr txBox="1"/>
          <p:nvPr>
            <p:ph idx="1" type="body"/>
          </p:nvPr>
        </p:nvSpPr>
        <p:spPr>
          <a:xfrm>
            <a:off x="431972" y="855419"/>
            <a:ext cx="7913516" cy="1887782"/>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Voice traffic is predictable and smooth and very sensitive to delays and dropped packets. </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Voice packets must receive a higher priority than other types of traffic. </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Cisco products use the RTP port range 16384 to 32767 to prioritize voice traffic. </a:t>
            </a:r>
            <a:endParaRPr/>
          </a:p>
          <a:p>
            <a:pPr indent="0" lvl="0" marL="0" rtl="0" algn="l">
              <a:lnSpc>
                <a:spcPct val="100000"/>
              </a:lnSpc>
              <a:spcBef>
                <a:spcPts val="320"/>
              </a:spcBef>
              <a:spcAft>
                <a:spcPts val="0"/>
              </a:spcAft>
              <a:buSzPts val="1600"/>
              <a:buNone/>
            </a:pPr>
            <a:r>
              <a:rPr lang="en-US" sz="1600">
                <a:solidFill>
                  <a:srgbClr val="000000"/>
                </a:solidFill>
              </a:rPr>
              <a:t>Voice can tolerate a certain amount of latency, jitter, and loss without any noticeable effects</a:t>
            </a:r>
            <a:endParaRPr/>
          </a:p>
          <a:p>
            <a:pPr indent="0" lvl="0" marL="0" rtl="0" algn="l">
              <a:lnSpc>
                <a:spcPct val="100000"/>
              </a:lnSpc>
              <a:spcBef>
                <a:spcPts val="320"/>
              </a:spcBef>
              <a:spcAft>
                <a:spcPts val="0"/>
              </a:spcAft>
              <a:buSzPts val="1600"/>
              <a:buNone/>
            </a:pPr>
            <a:r>
              <a:rPr lang="en-US" sz="1600">
                <a:solidFill>
                  <a:srgbClr val="000000"/>
                </a:solidFill>
              </a:rPr>
              <a:t>Latency should be no more than 150 milliseconds (ms). </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Jitter should be no more than 30 ms, and packet loss no more than 1%. </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Voice traffic requires at least 30 Kbps of bandwidth. </a:t>
            </a:r>
            <a:endParaRPr/>
          </a:p>
        </p:txBody>
      </p:sp>
      <p:graphicFrame>
        <p:nvGraphicFramePr>
          <p:cNvPr id="330" name="Google Shape;330;p13"/>
          <p:cNvGraphicFramePr/>
          <p:nvPr/>
        </p:nvGraphicFramePr>
        <p:xfrm>
          <a:off x="1710791" y="3326731"/>
          <a:ext cx="3000000" cy="3000000"/>
        </p:xfrm>
        <a:graphic>
          <a:graphicData uri="http://schemas.openxmlformats.org/drawingml/2006/table">
            <a:tbl>
              <a:tblPr bandRow="1" firstRow="1">
                <a:noFill/>
                <a:tableStyleId>{D8C263E1-B3EF-47A4-AEA2-D0D936B171C2}</a:tableStyleId>
              </a:tblPr>
              <a:tblGrid>
                <a:gridCol w="1553425"/>
                <a:gridCol w="3802450"/>
              </a:tblGrid>
              <a:tr h="170900">
                <a:tc>
                  <a:txBody>
                    <a:bodyPr/>
                    <a:lstStyle/>
                    <a:p>
                      <a:pPr indent="0" lvl="0" marL="0" marR="0" rtl="0" algn="l">
                        <a:spcBef>
                          <a:spcPts val="0"/>
                        </a:spcBef>
                        <a:spcAft>
                          <a:spcPts val="0"/>
                        </a:spcAft>
                        <a:buNone/>
                      </a:pPr>
                      <a:r>
                        <a:rPr lang="en-US" sz="1200"/>
                        <a:t>Voice Traffic Characteristics</a:t>
                      </a:r>
                      <a:endParaRPr/>
                    </a:p>
                  </a:txBody>
                  <a:tcPr marT="45725" marB="45725" marR="91450" marL="91450"/>
                </a:tc>
                <a:tc>
                  <a:txBody>
                    <a:bodyPr/>
                    <a:lstStyle/>
                    <a:p>
                      <a:pPr indent="0" lvl="0" marL="0" marR="0" rtl="0" algn="l">
                        <a:spcBef>
                          <a:spcPts val="0"/>
                        </a:spcBef>
                        <a:spcAft>
                          <a:spcPts val="0"/>
                        </a:spcAft>
                        <a:buNone/>
                      </a:pPr>
                      <a:r>
                        <a:rPr lang="en-US" sz="1200"/>
                        <a:t>One-Way Requirements</a:t>
                      </a:r>
                      <a:endParaRPr/>
                    </a:p>
                  </a:txBody>
                  <a:tcPr marT="45725" marB="45725" marR="91450" marL="91450"/>
                </a:tc>
              </a:tr>
              <a:tr h="1057600">
                <a:tc>
                  <a:txBody>
                    <a:bodyPr/>
                    <a:lstStyle/>
                    <a:p>
                      <a:pPr indent="-171450" lvl="0" marL="171450" marR="0" rtl="0" algn="l">
                        <a:spcBef>
                          <a:spcPts val="0"/>
                        </a:spcBef>
                        <a:spcAft>
                          <a:spcPts val="0"/>
                        </a:spcAft>
                        <a:buClr>
                          <a:srgbClr val="000000"/>
                        </a:buClr>
                        <a:buSzPts val="1200"/>
                        <a:buFont typeface="Arial"/>
                        <a:buChar char="•"/>
                      </a:pPr>
                      <a:r>
                        <a:rPr lang="en-US" sz="1200">
                          <a:solidFill>
                            <a:srgbClr val="000000"/>
                          </a:solidFill>
                        </a:rPr>
                        <a:t>Smooth</a:t>
                      </a:r>
                      <a:endParaRPr/>
                    </a:p>
                    <a:p>
                      <a:pPr indent="-171450" lvl="0" marL="171450" marR="0" rtl="0" algn="l">
                        <a:spcBef>
                          <a:spcPts val="0"/>
                        </a:spcBef>
                        <a:spcAft>
                          <a:spcPts val="0"/>
                        </a:spcAft>
                        <a:buClr>
                          <a:srgbClr val="000000"/>
                        </a:buClr>
                        <a:buSzPts val="1200"/>
                        <a:buFont typeface="Arial"/>
                        <a:buChar char="•"/>
                      </a:pPr>
                      <a:r>
                        <a:rPr lang="en-US" sz="1200">
                          <a:solidFill>
                            <a:srgbClr val="000000"/>
                          </a:solidFill>
                        </a:rPr>
                        <a:t>Benign</a:t>
                      </a:r>
                      <a:endParaRPr/>
                    </a:p>
                    <a:p>
                      <a:pPr indent="-171450" lvl="0" marL="171450" marR="0" rtl="0" algn="l">
                        <a:spcBef>
                          <a:spcPts val="0"/>
                        </a:spcBef>
                        <a:spcAft>
                          <a:spcPts val="0"/>
                        </a:spcAft>
                        <a:buClr>
                          <a:srgbClr val="000000"/>
                        </a:buClr>
                        <a:buSzPts val="1200"/>
                        <a:buFont typeface="Arial"/>
                        <a:buChar char="•"/>
                      </a:pPr>
                      <a:r>
                        <a:rPr lang="en-US" sz="1200">
                          <a:solidFill>
                            <a:srgbClr val="000000"/>
                          </a:solidFill>
                        </a:rPr>
                        <a:t>Drop sensitive</a:t>
                      </a:r>
                      <a:endParaRPr/>
                    </a:p>
                    <a:p>
                      <a:pPr indent="-171450" lvl="0" marL="171450" marR="0" rtl="0" algn="l">
                        <a:spcBef>
                          <a:spcPts val="0"/>
                        </a:spcBef>
                        <a:spcAft>
                          <a:spcPts val="0"/>
                        </a:spcAft>
                        <a:buClr>
                          <a:srgbClr val="000000"/>
                        </a:buClr>
                        <a:buSzPts val="1200"/>
                        <a:buFont typeface="Arial"/>
                        <a:buChar char="•"/>
                      </a:pPr>
                      <a:r>
                        <a:rPr lang="en-US" sz="1200">
                          <a:solidFill>
                            <a:srgbClr val="000000"/>
                          </a:solidFill>
                        </a:rPr>
                        <a:t>Delay sensitive</a:t>
                      </a:r>
                      <a:endParaRPr/>
                    </a:p>
                    <a:p>
                      <a:pPr indent="-171450" lvl="0" marL="171450" marR="0" rtl="0" algn="l">
                        <a:spcBef>
                          <a:spcPts val="0"/>
                        </a:spcBef>
                        <a:spcAft>
                          <a:spcPts val="0"/>
                        </a:spcAft>
                        <a:buClr>
                          <a:srgbClr val="000000"/>
                        </a:buClr>
                        <a:buSzPts val="1200"/>
                        <a:buFont typeface="Arial"/>
                        <a:buChar char="•"/>
                      </a:pPr>
                      <a:r>
                        <a:rPr lang="en-US" sz="1200">
                          <a:solidFill>
                            <a:srgbClr val="000000"/>
                          </a:solidFill>
                        </a:rPr>
                        <a:t>UPD priority</a:t>
                      </a:r>
                      <a:endParaRPr/>
                    </a:p>
                  </a:txBody>
                  <a:tcPr marT="45725" marB="45725" marR="91450" marL="91450"/>
                </a:tc>
                <a:tc>
                  <a:txBody>
                    <a:bodyPr/>
                    <a:lstStyle/>
                    <a:p>
                      <a:pPr indent="-171450" lvl="0" marL="171450" marR="0" rtl="0" algn="l">
                        <a:spcBef>
                          <a:spcPts val="0"/>
                        </a:spcBef>
                        <a:spcAft>
                          <a:spcPts val="0"/>
                        </a:spcAft>
                        <a:buClr>
                          <a:srgbClr val="000000"/>
                        </a:buClr>
                        <a:buSzPts val="1200"/>
                        <a:buFont typeface="Arial"/>
                        <a:buChar char="•"/>
                      </a:pPr>
                      <a:r>
                        <a:rPr lang="en-US" sz="1200">
                          <a:solidFill>
                            <a:srgbClr val="000000"/>
                          </a:solidFill>
                        </a:rPr>
                        <a:t>Latency </a:t>
                      </a:r>
                      <a:r>
                        <a:rPr lang="en-US" sz="1200" u="sng">
                          <a:solidFill>
                            <a:srgbClr val="000000"/>
                          </a:solidFill>
                        </a:rPr>
                        <a:t>&lt;</a:t>
                      </a:r>
                      <a:r>
                        <a:rPr lang="en-US" sz="1200">
                          <a:solidFill>
                            <a:srgbClr val="000000"/>
                          </a:solidFill>
                        </a:rPr>
                        <a:t> 150ms</a:t>
                      </a:r>
                      <a:endParaRPr/>
                    </a:p>
                    <a:p>
                      <a:pPr indent="-171450" lvl="0" marL="171450" marR="0" rtl="0" algn="l">
                        <a:spcBef>
                          <a:spcPts val="0"/>
                        </a:spcBef>
                        <a:spcAft>
                          <a:spcPts val="0"/>
                        </a:spcAft>
                        <a:buClr>
                          <a:srgbClr val="000000"/>
                        </a:buClr>
                        <a:buSzPts val="1200"/>
                        <a:buFont typeface="Arial"/>
                        <a:buChar char="•"/>
                      </a:pPr>
                      <a:r>
                        <a:rPr lang="en-US" sz="1200">
                          <a:solidFill>
                            <a:srgbClr val="000000"/>
                          </a:solidFill>
                        </a:rPr>
                        <a:t>Jitter </a:t>
                      </a:r>
                      <a:r>
                        <a:rPr lang="en-US" sz="1200" u="sng">
                          <a:solidFill>
                            <a:srgbClr val="000000"/>
                          </a:solidFill>
                        </a:rPr>
                        <a:t>&lt;</a:t>
                      </a:r>
                      <a:r>
                        <a:rPr lang="en-US" sz="1200">
                          <a:solidFill>
                            <a:srgbClr val="000000"/>
                          </a:solidFill>
                        </a:rPr>
                        <a:t> 30ms</a:t>
                      </a:r>
                      <a:endParaRPr/>
                    </a:p>
                    <a:p>
                      <a:pPr indent="-171450" lvl="0" marL="171450" marR="0" rtl="0" algn="l">
                        <a:spcBef>
                          <a:spcPts val="0"/>
                        </a:spcBef>
                        <a:spcAft>
                          <a:spcPts val="0"/>
                        </a:spcAft>
                        <a:buClr>
                          <a:srgbClr val="000000"/>
                        </a:buClr>
                        <a:buSzPts val="1200"/>
                        <a:buFont typeface="Arial"/>
                        <a:buChar char="•"/>
                      </a:pPr>
                      <a:r>
                        <a:rPr lang="en-US" sz="1200">
                          <a:solidFill>
                            <a:srgbClr val="000000"/>
                          </a:solidFill>
                        </a:rPr>
                        <a:t>Loss </a:t>
                      </a:r>
                      <a:r>
                        <a:rPr lang="en-US" sz="1200" u="sng">
                          <a:solidFill>
                            <a:srgbClr val="000000"/>
                          </a:solidFill>
                        </a:rPr>
                        <a:t>&lt;</a:t>
                      </a:r>
                      <a:r>
                        <a:rPr lang="en-US" sz="1200">
                          <a:solidFill>
                            <a:srgbClr val="000000"/>
                          </a:solidFill>
                        </a:rPr>
                        <a:t> 1% Bandwidth (30-128 Kbps)</a:t>
                      </a:r>
                      <a:endParaRPr/>
                    </a:p>
                  </a:txBody>
                  <a:tcPr marT="45725" marB="45725" marR="91450" marL="91450"/>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14"/>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Traffic Characteristics</a:t>
            </a:r>
            <a:br>
              <a:rPr lang="en-US"/>
            </a:br>
            <a:r>
              <a:rPr lang="en-US" sz="2400"/>
              <a:t>Video</a:t>
            </a:r>
            <a:endParaRPr/>
          </a:p>
        </p:txBody>
      </p:sp>
      <p:sp>
        <p:nvSpPr>
          <p:cNvPr id="337" name="Google Shape;337;p14"/>
          <p:cNvSpPr txBox="1"/>
          <p:nvPr>
            <p:ph idx="1" type="body"/>
          </p:nvPr>
        </p:nvSpPr>
        <p:spPr>
          <a:xfrm>
            <a:off x="431972" y="855419"/>
            <a:ext cx="7913516" cy="1887782"/>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Video traffic tends to be unpredictable, inconsistent, and bursty. Compared to voice, video is less resilient to loss and has a higher volume of data per packet.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The number and size of video packets varies every 33 ms based on the content of the video.</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UDP ports such as 554, are used for the Real-Time Streaming Protocol (RSTP) and should be given priority over other, less delay-sensitive, network traffic.</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Latency should be no more than 400 milliseconds (ms). Jitter should be no more than 50 ms, and video packet loss should be no more than 1%. Video traffic requires at least 384 Kbps of bandwidth.</a:t>
            </a:r>
            <a:endParaRPr/>
          </a:p>
        </p:txBody>
      </p:sp>
      <p:graphicFrame>
        <p:nvGraphicFramePr>
          <p:cNvPr id="338" name="Google Shape;338;p14"/>
          <p:cNvGraphicFramePr/>
          <p:nvPr/>
        </p:nvGraphicFramePr>
        <p:xfrm>
          <a:off x="1894061" y="3386890"/>
          <a:ext cx="3000000" cy="3000000"/>
        </p:xfrm>
        <a:graphic>
          <a:graphicData uri="http://schemas.openxmlformats.org/drawingml/2006/table">
            <a:tbl>
              <a:tblPr bandRow="1" firstRow="1">
                <a:noFill/>
                <a:tableStyleId>{D8C263E1-B3EF-47A4-AEA2-D0D936B171C2}</a:tableStyleId>
              </a:tblPr>
              <a:tblGrid>
                <a:gridCol w="1553425"/>
                <a:gridCol w="3802450"/>
              </a:tblGrid>
              <a:tr h="170900">
                <a:tc>
                  <a:txBody>
                    <a:bodyPr/>
                    <a:lstStyle/>
                    <a:p>
                      <a:pPr indent="0" lvl="0" marL="0" marR="0" rtl="0" algn="l">
                        <a:spcBef>
                          <a:spcPts val="0"/>
                        </a:spcBef>
                        <a:spcAft>
                          <a:spcPts val="0"/>
                        </a:spcAft>
                        <a:buNone/>
                      </a:pPr>
                      <a:r>
                        <a:rPr lang="en-US" sz="1200"/>
                        <a:t>Video Traffic Characteristics</a:t>
                      </a:r>
                      <a:endParaRPr/>
                    </a:p>
                  </a:txBody>
                  <a:tcPr marT="45725" marB="45725" marR="91450" marL="91450"/>
                </a:tc>
                <a:tc>
                  <a:txBody>
                    <a:bodyPr/>
                    <a:lstStyle/>
                    <a:p>
                      <a:pPr indent="0" lvl="0" marL="0" marR="0" rtl="0" algn="l">
                        <a:spcBef>
                          <a:spcPts val="0"/>
                        </a:spcBef>
                        <a:spcAft>
                          <a:spcPts val="0"/>
                        </a:spcAft>
                        <a:buNone/>
                      </a:pPr>
                      <a:r>
                        <a:rPr lang="en-US" sz="1200"/>
                        <a:t>One-Way Requirements</a:t>
                      </a:r>
                      <a:endParaRPr/>
                    </a:p>
                  </a:txBody>
                  <a:tcPr marT="45725" marB="45725" marR="91450" marL="91450"/>
                </a:tc>
              </a:tr>
              <a:tr h="1057600">
                <a:tc>
                  <a:txBody>
                    <a:bodyPr/>
                    <a:lstStyle/>
                    <a:p>
                      <a:pPr indent="-171450" lvl="0" marL="171450" marR="0" rtl="0" algn="l">
                        <a:spcBef>
                          <a:spcPts val="0"/>
                        </a:spcBef>
                        <a:spcAft>
                          <a:spcPts val="0"/>
                        </a:spcAft>
                        <a:buClr>
                          <a:srgbClr val="000000"/>
                        </a:buClr>
                        <a:buSzPts val="1200"/>
                        <a:buFont typeface="Arial"/>
                        <a:buChar char="•"/>
                      </a:pPr>
                      <a:r>
                        <a:rPr lang="en-US" sz="1200">
                          <a:solidFill>
                            <a:srgbClr val="000000"/>
                          </a:solidFill>
                        </a:rPr>
                        <a:t>Bursty</a:t>
                      </a:r>
                      <a:endParaRPr sz="1200">
                        <a:solidFill>
                          <a:srgbClr val="000000"/>
                        </a:solidFill>
                      </a:endParaRPr>
                    </a:p>
                    <a:p>
                      <a:pPr indent="-171450" lvl="0" marL="171450" marR="0" rtl="0" algn="l">
                        <a:spcBef>
                          <a:spcPts val="0"/>
                        </a:spcBef>
                        <a:spcAft>
                          <a:spcPts val="0"/>
                        </a:spcAft>
                        <a:buClr>
                          <a:srgbClr val="000000"/>
                        </a:buClr>
                        <a:buSzPts val="1200"/>
                        <a:buFont typeface="Arial"/>
                        <a:buChar char="•"/>
                      </a:pPr>
                      <a:r>
                        <a:rPr lang="en-US" sz="1200">
                          <a:solidFill>
                            <a:srgbClr val="000000"/>
                          </a:solidFill>
                        </a:rPr>
                        <a:t>Greedy</a:t>
                      </a:r>
                      <a:endParaRPr/>
                    </a:p>
                    <a:p>
                      <a:pPr indent="-171450" lvl="0" marL="171450" marR="0" rtl="0" algn="l">
                        <a:spcBef>
                          <a:spcPts val="0"/>
                        </a:spcBef>
                        <a:spcAft>
                          <a:spcPts val="0"/>
                        </a:spcAft>
                        <a:buClr>
                          <a:srgbClr val="000000"/>
                        </a:buClr>
                        <a:buSzPts val="1200"/>
                        <a:buFont typeface="Arial"/>
                        <a:buChar char="•"/>
                      </a:pPr>
                      <a:r>
                        <a:rPr lang="en-US" sz="1200">
                          <a:solidFill>
                            <a:srgbClr val="000000"/>
                          </a:solidFill>
                        </a:rPr>
                        <a:t>Drop sensitive</a:t>
                      </a:r>
                      <a:endParaRPr/>
                    </a:p>
                    <a:p>
                      <a:pPr indent="-171450" lvl="0" marL="171450" marR="0" rtl="0" algn="l">
                        <a:spcBef>
                          <a:spcPts val="0"/>
                        </a:spcBef>
                        <a:spcAft>
                          <a:spcPts val="0"/>
                        </a:spcAft>
                        <a:buClr>
                          <a:srgbClr val="000000"/>
                        </a:buClr>
                        <a:buSzPts val="1200"/>
                        <a:buFont typeface="Arial"/>
                        <a:buChar char="•"/>
                      </a:pPr>
                      <a:r>
                        <a:rPr lang="en-US" sz="1200">
                          <a:solidFill>
                            <a:srgbClr val="000000"/>
                          </a:solidFill>
                        </a:rPr>
                        <a:t>Delay sensitive</a:t>
                      </a:r>
                      <a:endParaRPr/>
                    </a:p>
                    <a:p>
                      <a:pPr indent="-171450" lvl="0" marL="171450" marR="0" rtl="0" algn="l">
                        <a:spcBef>
                          <a:spcPts val="0"/>
                        </a:spcBef>
                        <a:spcAft>
                          <a:spcPts val="0"/>
                        </a:spcAft>
                        <a:buClr>
                          <a:srgbClr val="000000"/>
                        </a:buClr>
                        <a:buSzPts val="1200"/>
                        <a:buFont typeface="Arial"/>
                        <a:buChar char="•"/>
                      </a:pPr>
                      <a:r>
                        <a:rPr lang="en-US" sz="1200">
                          <a:solidFill>
                            <a:srgbClr val="000000"/>
                          </a:solidFill>
                        </a:rPr>
                        <a:t>UPD priority</a:t>
                      </a:r>
                      <a:endParaRPr/>
                    </a:p>
                  </a:txBody>
                  <a:tcPr marT="45725" marB="45725" marR="91450" marL="91450"/>
                </a:tc>
                <a:tc>
                  <a:txBody>
                    <a:bodyPr/>
                    <a:lstStyle/>
                    <a:p>
                      <a:pPr indent="-171450" lvl="0" marL="171450" marR="0" rtl="0" algn="l">
                        <a:spcBef>
                          <a:spcPts val="0"/>
                        </a:spcBef>
                        <a:spcAft>
                          <a:spcPts val="0"/>
                        </a:spcAft>
                        <a:buClr>
                          <a:srgbClr val="000000"/>
                        </a:buClr>
                        <a:buSzPts val="1200"/>
                        <a:buFont typeface="Arial"/>
                        <a:buChar char="•"/>
                      </a:pPr>
                      <a:r>
                        <a:rPr lang="en-US" sz="1200">
                          <a:solidFill>
                            <a:srgbClr val="000000"/>
                          </a:solidFill>
                        </a:rPr>
                        <a:t>Latency </a:t>
                      </a:r>
                      <a:r>
                        <a:rPr lang="en-US" sz="1200" u="sng">
                          <a:solidFill>
                            <a:srgbClr val="000000"/>
                          </a:solidFill>
                        </a:rPr>
                        <a:t>&lt;</a:t>
                      </a:r>
                      <a:r>
                        <a:rPr lang="en-US" sz="1200">
                          <a:solidFill>
                            <a:srgbClr val="000000"/>
                          </a:solidFill>
                        </a:rPr>
                        <a:t> 200-400 ms</a:t>
                      </a:r>
                      <a:endParaRPr sz="1200">
                        <a:solidFill>
                          <a:srgbClr val="000000"/>
                        </a:solidFill>
                      </a:endParaRPr>
                    </a:p>
                    <a:p>
                      <a:pPr indent="-171450" lvl="0" marL="171450" marR="0" rtl="0" algn="l">
                        <a:spcBef>
                          <a:spcPts val="0"/>
                        </a:spcBef>
                        <a:spcAft>
                          <a:spcPts val="0"/>
                        </a:spcAft>
                        <a:buClr>
                          <a:srgbClr val="000000"/>
                        </a:buClr>
                        <a:buSzPts val="1200"/>
                        <a:buFont typeface="Arial"/>
                        <a:buChar char="•"/>
                      </a:pPr>
                      <a:r>
                        <a:rPr lang="en-US" sz="1200">
                          <a:solidFill>
                            <a:srgbClr val="000000"/>
                          </a:solidFill>
                        </a:rPr>
                        <a:t>Jitter </a:t>
                      </a:r>
                      <a:r>
                        <a:rPr lang="en-US" sz="1200" u="sng">
                          <a:solidFill>
                            <a:srgbClr val="000000"/>
                          </a:solidFill>
                        </a:rPr>
                        <a:t>&lt;</a:t>
                      </a:r>
                      <a:r>
                        <a:rPr lang="en-US" sz="1200">
                          <a:solidFill>
                            <a:srgbClr val="000000"/>
                          </a:solidFill>
                        </a:rPr>
                        <a:t> 30-50 ms</a:t>
                      </a:r>
                      <a:endParaRPr sz="1200">
                        <a:solidFill>
                          <a:srgbClr val="000000"/>
                        </a:solidFill>
                      </a:endParaRPr>
                    </a:p>
                    <a:p>
                      <a:pPr indent="-171450" lvl="0" marL="171450" marR="0" rtl="0" algn="l">
                        <a:spcBef>
                          <a:spcPts val="0"/>
                        </a:spcBef>
                        <a:spcAft>
                          <a:spcPts val="0"/>
                        </a:spcAft>
                        <a:buClr>
                          <a:srgbClr val="000000"/>
                        </a:buClr>
                        <a:buSzPts val="1200"/>
                        <a:buFont typeface="Arial"/>
                        <a:buChar char="•"/>
                      </a:pPr>
                      <a:r>
                        <a:rPr lang="en-US" sz="1200">
                          <a:solidFill>
                            <a:srgbClr val="000000"/>
                          </a:solidFill>
                        </a:rPr>
                        <a:t>Loss </a:t>
                      </a:r>
                      <a:r>
                        <a:rPr lang="en-US" sz="1200" u="sng">
                          <a:solidFill>
                            <a:srgbClr val="000000"/>
                          </a:solidFill>
                        </a:rPr>
                        <a:t>&lt;</a:t>
                      </a:r>
                      <a:r>
                        <a:rPr lang="en-US" sz="1200">
                          <a:solidFill>
                            <a:srgbClr val="000000"/>
                          </a:solidFill>
                        </a:rPr>
                        <a:t> 0.1 – 1%</a:t>
                      </a:r>
                      <a:endParaRPr/>
                    </a:p>
                    <a:p>
                      <a:pPr indent="-171450" lvl="0" marL="171450" marR="0" rtl="0" algn="l">
                        <a:spcBef>
                          <a:spcPts val="0"/>
                        </a:spcBef>
                        <a:spcAft>
                          <a:spcPts val="0"/>
                        </a:spcAft>
                        <a:buClr>
                          <a:srgbClr val="000000"/>
                        </a:buClr>
                        <a:buSzPts val="1200"/>
                        <a:buFont typeface="Arial"/>
                        <a:buChar char="•"/>
                      </a:pPr>
                      <a:r>
                        <a:rPr lang="en-US" sz="1200">
                          <a:solidFill>
                            <a:srgbClr val="000000"/>
                          </a:solidFill>
                        </a:rPr>
                        <a:t>Bandwidth (384 Kbps - 20 Mbps)</a:t>
                      </a:r>
                      <a:endParaRPr/>
                    </a:p>
                  </a:txBody>
                  <a:tcPr marT="45725" marB="45725" marR="91450" marL="91450"/>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15"/>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Traffic Characteristics</a:t>
            </a:r>
            <a:br>
              <a:rPr lang="en-US"/>
            </a:br>
            <a:r>
              <a:rPr lang="en-US" sz="2400"/>
              <a:t>Data</a:t>
            </a:r>
            <a:endParaRPr/>
          </a:p>
        </p:txBody>
      </p:sp>
      <p:sp>
        <p:nvSpPr>
          <p:cNvPr id="345" name="Google Shape;345;p15"/>
          <p:cNvSpPr txBox="1"/>
          <p:nvPr>
            <p:ph idx="1" type="body"/>
          </p:nvPr>
        </p:nvSpPr>
        <p:spPr>
          <a:xfrm>
            <a:off x="431972" y="855419"/>
            <a:ext cx="7913516" cy="1887782"/>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Data applications that have no tolerance for data loss, such as email and web pages, use TCP to ensure that if packets are lost in transit, they will be resent.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Data traffic can be smooth or bursty.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Network control traffic is usually smooth and predictable.</a:t>
            </a:r>
            <a:endParaRPr/>
          </a:p>
          <a:p>
            <a:pPr indent="0" lvl="0" marL="0" rtl="0" algn="l">
              <a:lnSpc>
                <a:spcPct val="100000"/>
              </a:lnSpc>
              <a:spcBef>
                <a:spcPts val="320"/>
              </a:spcBef>
              <a:spcAft>
                <a:spcPts val="0"/>
              </a:spcAft>
              <a:buSzPts val="1600"/>
              <a:buNone/>
            </a:pPr>
            <a:r>
              <a:rPr lang="en-US" sz="1600">
                <a:solidFill>
                  <a:srgbClr val="000000"/>
                </a:solidFill>
              </a:rPr>
              <a:t>Some TCP applications can consume a large portion of network capacity. FTP will consume as much bandwidth as it can get when you download a large file, such as a movie or game.</a:t>
            </a:r>
            <a:endParaRPr/>
          </a:p>
        </p:txBody>
      </p:sp>
      <p:graphicFrame>
        <p:nvGraphicFramePr>
          <p:cNvPr id="346" name="Google Shape;346;p15"/>
          <p:cNvGraphicFramePr/>
          <p:nvPr/>
        </p:nvGraphicFramePr>
        <p:xfrm>
          <a:off x="2921617" y="3266573"/>
          <a:ext cx="3000000" cy="3000000"/>
        </p:xfrm>
        <a:graphic>
          <a:graphicData uri="http://schemas.openxmlformats.org/drawingml/2006/table">
            <a:tbl>
              <a:tblPr bandRow="1" firstRow="1">
                <a:noFill/>
                <a:tableStyleId>{D8C263E1-B3EF-47A4-AEA2-D0D936B171C2}</a:tableStyleId>
              </a:tblPr>
              <a:tblGrid>
                <a:gridCol w="2934225"/>
              </a:tblGrid>
              <a:tr h="170900">
                <a:tc>
                  <a:txBody>
                    <a:bodyPr/>
                    <a:lstStyle/>
                    <a:p>
                      <a:pPr indent="0" lvl="0" marL="0" marR="0" rtl="0" algn="l">
                        <a:spcBef>
                          <a:spcPts val="0"/>
                        </a:spcBef>
                        <a:spcAft>
                          <a:spcPts val="0"/>
                        </a:spcAft>
                        <a:buNone/>
                      </a:pPr>
                      <a:r>
                        <a:rPr lang="en-US" sz="1200"/>
                        <a:t>Data Traffic Characteristics</a:t>
                      </a:r>
                      <a:endParaRPr/>
                    </a:p>
                  </a:txBody>
                  <a:tcPr marT="45725" marB="45725" marR="91450" marL="91450"/>
                </a:tc>
              </a:tr>
              <a:tr h="1057600">
                <a:tc>
                  <a:txBody>
                    <a:bodyPr/>
                    <a:lstStyle/>
                    <a:p>
                      <a:pPr indent="-171450" lvl="0" marL="171450" marR="0" rtl="0" algn="l">
                        <a:spcBef>
                          <a:spcPts val="0"/>
                        </a:spcBef>
                        <a:spcAft>
                          <a:spcPts val="0"/>
                        </a:spcAft>
                        <a:buClr>
                          <a:srgbClr val="000000"/>
                        </a:buClr>
                        <a:buSzPts val="1200"/>
                        <a:buFont typeface="Arial"/>
                        <a:buChar char="•"/>
                      </a:pPr>
                      <a:r>
                        <a:rPr lang="en-US" sz="1200">
                          <a:solidFill>
                            <a:srgbClr val="000000"/>
                          </a:solidFill>
                        </a:rPr>
                        <a:t>Smooth/bursty</a:t>
                      </a:r>
                      <a:endParaRPr sz="1200">
                        <a:solidFill>
                          <a:srgbClr val="000000"/>
                        </a:solidFill>
                      </a:endParaRPr>
                    </a:p>
                    <a:p>
                      <a:pPr indent="-171450" lvl="0" marL="171450" marR="0" rtl="0" algn="l">
                        <a:spcBef>
                          <a:spcPts val="0"/>
                        </a:spcBef>
                        <a:spcAft>
                          <a:spcPts val="0"/>
                        </a:spcAft>
                        <a:buClr>
                          <a:srgbClr val="000000"/>
                        </a:buClr>
                        <a:buSzPts val="1200"/>
                        <a:buFont typeface="Arial"/>
                        <a:buChar char="•"/>
                      </a:pPr>
                      <a:r>
                        <a:rPr lang="en-US" sz="1200">
                          <a:solidFill>
                            <a:srgbClr val="000000"/>
                          </a:solidFill>
                        </a:rPr>
                        <a:t>Benign/greedy</a:t>
                      </a:r>
                      <a:endParaRPr/>
                    </a:p>
                    <a:p>
                      <a:pPr indent="-171450" lvl="0" marL="171450" marR="0" rtl="0" algn="l">
                        <a:spcBef>
                          <a:spcPts val="0"/>
                        </a:spcBef>
                        <a:spcAft>
                          <a:spcPts val="0"/>
                        </a:spcAft>
                        <a:buClr>
                          <a:srgbClr val="000000"/>
                        </a:buClr>
                        <a:buSzPts val="1200"/>
                        <a:buFont typeface="Arial"/>
                        <a:buChar char="•"/>
                      </a:pPr>
                      <a:r>
                        <a:rPr lang="en-US" sz="1200">
                          <a:solidFill>
                            <a:srgbClr val="000000"/>
                          </a:solidFill>
                        </a:rPr>
                        <a:t>Drop insensitive</a:t>
                      </a:r>
                      <a:endParaRPr/>
                    </a:p>
                    <a:p>
                      <a:pPr indent="-171450" lvl="0" marL="171450" marR="0" rtl="0" algn="l">
                        <a:spcBef>
                          <a:spcPts val="0"/>
                        </a:spcBef>
                        <a:spcAft>
                          <a:spcPts val="0"/>
                        </a:spcAft>
                        <a:buClr>
                          <a:srgbClr val="000000"/>
                        </a:buClr>
                        <a:buSzPts val="1200"/>
                        <a:buFont typeface="Arial"/>
                        <a:buChar char="•"/>
                      </a:pPr>
                      <a:r>
                        <a:rPr lang="en-US" sz="1200">
                          <a:solidFill>
                            <a:srgbClr val="000000"/>
                          </a:solidFill>
                        </a:rPr>
                        <a:t>Delay insensitive</a:t>
                      </a:r>
                      <a:endParaRPr/>
                    </a:p>
                    <a:p>
                      <a:pPr indent="-171450" lvl="0" marL="171450" marR="0" rtl="0" algn="l">
                        <a:spcBef>
                          <a:spcPts val="0"/>
                        </a:spcBef>
                        <a:spcAft>
                          <a:spcPts val="0"/>
                        </a:spcAft>
                        <a:buClr>
                          <a:srgbClr val="000000"/>
                        </a:buClr>
                        <a:buSzPts val="1200"/>
                        <a:buFont typeface="Arial"/>
                        <a:buChar char="•"/>
                      </a:pPr>
                      <a:r>
                        <a:rPr lang="en-US" sz="1200">
                          <a:solidFill>
                            <a:srgbClr val="000000"/>
                          </a:solidFill>
                        </a:rPr>
                        <a:t>TCP Retransmits</a:t>
                      </a:r>
                      <a:endParaRPr/>
                    </a:p>
                  </a:txBody>
                  <a:tcPr marT="45725" marB="45725" marR="91450" marL="91450"/>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16"/>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Traffic Characteristics</a:t>
            </a:r>
            <a:br>
              <a:rPr lang="en-US"/>
            </a:br>
            <a:r>
              <a:rPr lang="en-US" sz="2400"/>
              <a:t>Data (Cont.)</a:t>
            </a:r>
            <a:endParaRPr/>
          </a:p>
        </p:txBody>
      </p:sp>
      <p:sp>
        <p:nvSpPr>
          <p:cNvPr id="353" name="Google Shape;353;p16"/>
          <p:cNvSpPr txBox="1"/>
          <p:nvPr>
            <p:ph idx="1" type="body"/>
          </p:nvPr>
        </p:nvSpPr>
        <p:spPr>
          <a:xfrm>
            <a:off x="431972" y="855419"/>
            <a:ext cx="7913516" cy="1293892"/>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Data traffic is relatively insensitive to drops and delays compared to voice and video. Quality of Experience or QoE is important to consider with data traffic.</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Does the data come from an interactive application?</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Is the data mission critical?</a:t>
            </a:r>
            <a:endParaRPr/>
          </a:p>
          <a:p>
            <a:pPr indent="-184150" lvl="0" marL="285750" rtl="0" algn="l">
              <a:lnSpc>
                <a:spcPct val="100000"/>
              </a:lnSpc>
              <a:spcBef>
                <a:spcPts val="320"/>
              </a:spcBef>
              <a:spcAft>
                <a:spcPts val="0"/>
              </a:spcAft>
              <a:buSzPts val="1600"/>
              <a:buFont typeface="Arial"/>
              <a:buNone/>
            </a:pPr>
            <a:r>
              <a:t/>
            </a:r>
            <a:endParaRPr sz="1600">
              <a:solidFill>
                <a:srgbClr val="000000"/>
              </a:solidFill>
            </a:endParaRPr>
          </a:p>
        </p:txBody>
      </p:sp>
      <p:graphicFrame>
        <p:nvGraphicFramePr>
          <p:cNvPr id="354" name="Google Shape;354;p16"/>
          <p:cNvGraphicFramePr/>
          <p:nvPr/>
        </p:nvGraphicFramePr>
        <p:xfrm>
          <a:off x="508438" y="2743201"/>
          <a:ext cx="3000000" cy="3000000"/>
        </p:xfrm>
        <a:graphic>
          <a:graphicData uri="http://schemas.openxmlformats.org/drawingml/2006/table">
            <a:tbl>
              <a:tblPr bandRow="1" firstRow="1">
                <a:noFill/>
                <a:tableStyleId>{D8C263E1-B3EF-47A4-AEA2-D0D936B171C2}</a:tableStyleId>
              </a:tblPr>
              <a:tblGrid>
                <a:gridCol w="1573025"/>
                <a:gridCol w="3373625"/>
                <a:gridCol w="3333750"/>
              </a:tblGrid>
              <a:tr h="370850">
                <a:tc>
                  <a:txBody>
                    <a:bodyPr/>
                    <a:lstStyle/>
                    <a:p>
                      <a:pPr indent="0" lvl="0" marL="0" marR="0" rtl="0" algn="l">
                        <a:spcBef>
                          <a:spcPts val="0"/>
                        </a:spcBef>
                        <a:spcAft>
                          <a:spcPts val="0"/>
                        </a:spcAft>
                        <a:buNone/>
                      </a:pPr>
                      <a:r>
                        <a:rPr lang="en-US" sz="1400"/>
                        <a:t>Factor</a:t>
                      </a:r>
                      <a:endParaRPr/>
                    </a:p>
                  </a:txBody>
                  <a:tcPr marT="45725" marB="45725" marR="91450" marL="91450"/>
                </a:tc>
                <a:tc>
                  <a:txBody>
                    <a:bodyPr/>
                    <a:lstStyle/>
                    <a:p>
                      <a:pPr indent="0" lvl="0" marL="0" marR="0" rtl="0" algn="l">
                        <a:spcBef>
                          <a:spcPts val="0"/>
                        </a:spcBef>
                        <a:spcAft>
                          <a:spcPts val="0"/>
                        </a:spcAft>
                        <a:buNone/>
                      </a:pPr>
                      <a:r>
                        <a:rPr lang="en-US" sz="1400"/>
                        <a:t>Mission Critical</a:t>
                      </a:r>
                      <a:endParaRPr/>
                    </a:p>
                  </a:txBody>
                  <a:tcPr marT="45725" marB="45725" marR="91450" marL="91450"/>
                </a:tc>
                <a:tc>
                  <a:txBody>
                    <a:bodyPr/>
                    <a:lstStyle/>
                    <a:p>
                      <a:pPr indent="0" lvl="0" marL="0" marR="0" rtl="0" algn="l">
                        <a:spcBef>
                          <a:spcPts val="0"/>
                        </a:spcBef>
                        <a:spcAft>
                          <a:spcPts val="0"/>
                        </a:spcAft>
                        <a:buNone/>
                      </a:pPr>
                      <a:r>
                        <a:rPr lang="en-US" sz="1400"/>
                        <a:t>Not Mission  Critical</a:t>
                      </a:r>
                      <a:endParaRPr/>
                    </a:p>
                  </a:txBody>
                  <a:tcPr marT="45725" marB="45725" marR="91450" marL="91450"/>
                </a:tc>
              </a:tr>
              <a:tr h="370850">
                <a:tc>
                  <a:txBody>
                    <a:bodyPr/>
                    <a:lstStyle/>
                    <a:p>
                      <a:pPr indent="0" lvl="0" marL="0" marR="0" rtl="0" algn="l">
                        <a:spcBef>
                          <a:spcPts val="0"/>
                        </a:spcBef>
                        <a:spcAft>
                          <a:spcPts val="0"/>
                        </a:spcAft>
                        <a:buNone/>
                      </a:pPr>
                      <a:r>
                        <a:rPr b="1" lang="en-US" sz="1200">
                          <a:solidFill>
                            <a:srgbClr val="000000"/>
                          </a:solidFill>
                        </a:rPr>
                        <a:t>Interactive</a:t>
                      </a:r>
                      <a:endParaRPr/>
                    </a:p>
                  </a:txBody>
                  <a:tcPr marT="45725" marB="45725" marR="91450" marL="91450"/>
                </a:tc>
                <a:tc>
                  <a:txBody>
                    <a:bodyPr/>
                    <a:lstStyle/>
                    <a:p>
                      <a:pPr indent="0" lvl="0" marL="0" marR="0" rtl="0" algn="l">
                        <a:spcBef>
                          <a:spcPts val="0"/>
                        </a:spcBef>
                        <a:spcAft>
                          <a:spcPts val="0"/>
                        </a:spcAft>
                        <a:buNone/>
                      </a:pPr>
                      <a:r>
                        <a:rPr lang="en-US" sz="1200">
                          <a:solidFill>
                            <a:srgbClr val="000000"/>
                          </a:solidFill>
                        </a:rPr>
                        <a:t>Prioritize for the lowest delay of all data traffic and strive for a 1 to 2 second response time.</a:t>
                      </a:r>
                      <a:endParaRPr/>
                    </a:p>
                  </a:txBody>
                  <a:tcPr marT="45725" marB="45725" marR="91450" marL="91450"/>
                </a:tc>
                <a:tc>
                  <a:txBody>
                    <a:bodyPr/>
                    <a:lstStyle/>
                    <a:p>
                      <a:pPr indent="0" lvl="0" marL="0" marR="0" rtl="0" algn="l">
                        <a:spcBef>
                          <a:spcPts val="0"/>
                        </a:spcBef>
                        <a:spcAft>
                          <a:spcPts val="0"/>
                        </a:spcAft>
                        <a:buNone/>
                      </a:pPr>
                      <a:r>
                        <a:rPr lang="en-US" sz="1200">
                          <a:solidFill>
                            <a:srgbClr val="000000"/>
                          </a:solidFill>
                        </a:rPr>
                        <a:t>Applications could benefit from lower delay.</a:t>
                      </a:r>
                      <a:endParaRPr/>
                    </a:p>
                  </a:txBody>
                  <a:tcPr marT="45725" marB="45725" marR="91450" marL="91450"/>
                </a:tc>
              </a:tr>
              <a:tr h="370850">
                <a:tc>
                  <a:txBody>
                    <a:bodyPr/>
                    <a:lstStyle/>
                    <a:p>
                      <a:pPr indent="0" lvl="0" marL="0" marR="0" rtl="0" algn="l">
                        <a:spcBef>
                          <a:spcPts val="0"/>
                        </a:spcBef>
                        <a:spcAft>
                          <a:spcPts val="0"/>
                        </a:spcAft>
                        <a:buNone/>
                      </a:pPr>
                      <a:r>
                        <a:rPr b="1" lang="en-US" sz="1200">
                          <a:solidFill>
                            <a:srgbClr val="000000"/>
                          </a:solidFill>
                        </a:rPr>
                        <a:t>Not interactive</a:t>
                      </a:r>
                      <a:endParaRPr/>
                    </a:p>
                  </a:txBody>
                  <a:tcPr marT="45725" marB="45725" marR="91450" marL="91450"/>
                </a:tc>
                <a:tc>
                  <a:txBody>
                    <a:bodyPr/>
                    <a:lstStyle/>
                    <a:p>
                      <a:pPr indent="0" lvl="0" marL="0" marR="0" rtl="0" algn="l">
                        <a:spcBef>
                          <a:spcPts val="0"/>
                        </a:spcBef>
                        <a:spcAft>
                          <a:spcPts val="0"/>
                        </a:spcAft>
                        <a:buNone/>
                      </a:pPr>
                      <a:r>
                        <a:rPr lang="en-US" sz="1200">
                          <a:solidFill>
                            <a:srgbClr val="000000"/>
                          </a:solidFill>
                        </a:rPr>
                        <a:t>Delay can vary greatly as long as the necessary minimum bandwidth is supplied.</a:t>
                      </a:r>
                      <a:endParaRPr/>
                    </a:p>
                  </a:txBody>
                  <a:tcPr marT="45725" marB="45725" marR="91450" marL="91450"/>
                </a:tc>
                <a:tc>
                  <a:txBody>
                    <a:bodyPr/>
                    <a:lstStyle/>
                    <a:p>
                      <a:pPr indent="0" lvl="0" marL="0" marR="0" rtl="0" algn="l">
                        <a:spcBef>
                          <a:spcPts val="0"/>
                        </a:spcBef>
                        <a:spcAft>
                          <a:spcPts val="0"/>
                        </a:spcAft>
                        <a:buNone/>
                      </a:pPr>
                      <a:r>
                        <a:rPr lang="en-US" sz="1200">
                          <a:solidFill>
                            <a:srgbClr val="000000"/>
                          </a:solidFill>
                        </a:rPr>
                        <a:t>Gets any leftover bandwidth after all voice, video, and other data application needs are met.</a:t>
                      </a:r>
                      <a:endParaRPr/>
                    </a:p>
                  </a:txBody>
                  <a:tcPr marT="45725" marB="45725" marR="91450" marL="91450"/>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17"/>
          <p:cNvSpPr txBox="1"/>
          <p:nvPr>
            <p:ph type="ctrTitle"/>
          </p:nvPr>
        </p:nvSpPr>
        <p:spPr>
          <a:xfrm>
            <a:off x="416425" y="1788160"/>
            <a:ext cx="7848344"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9.3 Queuing Algorithms</a:t>
            </a:r>
            <a:endParaRPr/>
          </a:p>
        </p:txBody>
      </p:sp>
    </p:spTree>
  </p:cSld>
  <p:clrMapOvr>
    <a:masterClrMapping/>
  </p:clrMapOvr>
  <p:transition spd="slow">
    <p:wipe dir="l"/>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18"/>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Queuing Algorithms</a:t>
            </a:r>
            <a:br>
              <a:rPr lang="en-US"/>
            </a:br>
            <a:r>
              <a:rPr lang="en-US" sz="2400"/>
              <a:t>Video – QoS Algorithms</a:t>
            </a:r>
            <a:endParaRPr/>
          </a:p>
        </p:txBody>
      </p:sp>
      <p:sp>
        <p:nvSpPr>
          <p:cNvPr id="367" name="Google Shape;367;p18"/>
          <p:cNvSpPr txBox="1"/>
          <p:nvPr>
            <p:ph idx="1" type="body"/>
          </p:nvPr>
        </p:nvSpPr>
        <p:spPr>
          <a:xfrm>
            <a:off x="431971" y="855418"/>
            <a:ext cx="7913517" cy="3759111"/>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800"/>
              <a:buNone/>
            </a:pPr>
            <a:r>
              <a:rPr lang="en-US" sz="1800">
                <a:solidFill>
                  <a:srgbClr val="000000"/>
                </a:solidFill>
              </a:rPr>
              <a:t>This video will cover the following:</a:t>
            </a:r>
            <a:endParaRPr/>
          </a:p>
          <a:p>
            <a:pPr indent="-285750" lvl="0" marL="285750" rtl="0" algn="l">
              <a:lnSpc>
                <a:spcPct val="100000"/>
              </a:lnSpc>
              <a:spcBef>
                <a:spcPts val="360"/>
              </a:spcBef>
              <a:spcAft>
                <a:spcPts val="0"/>
              </a:spcAft>
              <a:buSzPts val="1800"/>
              <a:buFont typeface="Arial"/>
              <a:buChar char="•"/>
            </a:pPr>
            <a:r>
              <a:rPr lang="en-US" sz="1800">
                <a:solidFill>
                  <a:srgbClr val="000000"/>
                </a:solidFill>
              </a:rPr>
              <a:t>FIFO Queuing (absence of QoS)</a:t>
            </a:r>
            <a:endParaRPr/>
          </a:p>
          <a:p>
            <a:pPr indent="-285750" lvl="0" marL="285750" rtl="0" algn="l">
              <a:lnSpc>
                <a:spcPct val="100000"/>
              </a:lnSpc>
              <a:spcBef>
                <a:spcPts val="360"/>
              </a:spcBef>
              <a:spcAft>
                <a:spcPts val="0"/>
              </a:spcAft>
              <a:buSzPts val="1800"/>
              <a:buFont typeface="Arial"/>
              <a:buChar char="•"/>
            </a:pPr>
            <a:r>
              <a:rPr lang="en-US" sz="1800">
                <a:solidFill>
                  <a:srgbClr val="000000"/>
                </a:solidFill>
              </a:rPr>
              <a:t>Weighted Fair Queuing (WFQ)</a:t>
            </a:r>
            <a:endParaRPr/>
          </a:p>
          <a:p>
            <a:pPr indent="-285750" lvl="0" marL="285750" rtl="0" algn="l">
              <a:lnSpc>
                <a:spcPct val="100000"/>
              </a:lnSpc>
              <a:spcBef>
                <a:spcPts val="360"/>
              </a:spcBef>
              <a:spcAft>
                <a:spcPts val="0"/>
              </a:spcAft>
              <a:buSzPts val="1800"/>
              <a:buFont typeface="Arial"/>
              <a:buChar char="•"/>
            </a:pPr>
            <a:r>
              <a:rPr lang="en-US" sz="1800">
                <a:solidFill>
                  <a:srgbClr val="000000"/>
                </a:solidFill>
              </a:rPr>
              <a:t>Class Based Weighted Fair Queuing (CBWFQ)</a:t>
            </a:r>
            <a:endParaRPr/>
          </a:p>
          <a:p>
            <a:pPr indent="-285750" lvl="0" marL="285750" rtl="0" algn="l">
              <a:lnSpc>
                <a:spcPct val="100000"/>
              </a:lnSpc>
              <a:spcBef>
                <a:spcPts val="360"/>
              </a:spcBef>
              <a:spcAft>
                <a:spcPts val="0"/>
              </a:spcAft>
              <a:buSzPts val="1800"/>
              <a:buFont typeface="Arial"/>
              <a:buChar char="•"/>
            </a:pPr>
            <a:r>
              <a:rPr lang="en-US" sz="1800">
                <a:solidFill>
                  <a:srgbClr val="000000"/>
                </a:solidFill>
              </a:rPr>
              <a:t>Low Latency Queuing (LLQ)</a:t>
            </a:r>
            <a:endParaRPr/>
          </a:p>
          <a:p>
            <a:pPr indent="0" lvl="0" marL="0" rtl="0" algn="l">
              <a:lnSpc>
                <a:spcPct val="100000"/>
              </a:lnSpc>
              <a:spcBef>
                <a:spcPts val="320"/>
              </a:spcBef>
              <a:spcAft>
                <a:spcPts val="0"/>
              </a:spcAft>
              <a:buSzPts val="1600"/>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19"/>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Queuing Algorithms</a:t>
            </a:r>
            <a:br>
              <a:rPr lang="en-US"/>
            </a:br>
            <a:r>
              <a:rPr lang="en-US" sz="2400"/>
              <a:t>Queuing Overview</a:t>
            </a:r>
            <a:endParaRPr/>
          </a:p>
        </p:txBody>
      </p:sp>
      <p:sp>
        <p:nvSpPr>
          <p:cNvPr id="374" name="Google Shape;374;p19"/>
          <p:cNvSpPr txBox="1"/>
          <p:nvPr>
            <p:ph idx="1" type="body"/>
          </p:nvPr>
        </p:nvSpPr>
        <p:spPr>
          <a:xfrm>
            <a:off x="431972" y="855418"/>
            <a:ext cx="7913516" cy="3759111"/>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The QoS policy implemented by the network administrator becomes active when congestion occurs on the link. Queuing is a congestion management tool that can buffer, prioritize, and, if required, reorder packets before being transmitted to the destination.</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A number of queuing algorithms are available:</a:t>
            </a:r>
            <a:endParaRPr/>
          </a:p>
          <a:p>
            <a:pPr indent="-285750" lvl="1" marL="358835" rtl="0" algn="l">
              <a:lnSpc>
                <a:spcPct val="95000"/>
              </a:lnSpc>
              <a:spcBef>
                <a:spcPts val="600"/>
              </a:spcBef>
              <a:spcAft>
                <a:spcPts val="0"/>
              </a:spcAft>
              <a:buSzPts val="1600"/>
              <a:buFont typeface="Arial"/>
              <a:buChar char="•"/>
            </a:pPr>
            <a:r>
              <a:rPr lang="en-US" sz="1600">
                <a:solidFill>
                  <a:srgbClr val="000000"/>
                </a:solidFill>
              </a:rPr>
              <a:t>First-In, First-Out (FIFO)</a:t>
            </a:r>
            <a:endParaRPr/>
          </a:p>
          <a:p>
            <a:pPr indent="-285750" lvl="1" marL="358835" rtl="0" algn="l">
              <a:lnSpc>
                <a:spcPct val="95000"/>
              </a:lnSpc>
              <a:spcBef>
                <a:spcPts val="600"/>
              </a:spcBef>
              <a:spcAft>
                <a:spcPts val="0"/>
              </a:spcAft>
              <a:buSzPts val="1600"/>
              <a:buFont typeface="Arial"/>
              <a:buChar char="•"/>
            </a:pPr>
            <a:r>
              <a:rPr lang="en-US" sz="1600">
                <a:solidFill>
                  <a:srgbClr val="000000"/>
                </a:solidFill>
              </a:rPr>
              <a:t>Weighted Fair Queuing (WFQ)</a:t>
            </a:r>
            <a:endParaRPr/>
          </a:p>
          <a:p>
            <a:pPr indent="-285750" lvl="1" marL="358835" rtl="0" algn="l">
              <a:lnSpc>
                <a:spcPct val="95000"/>
              </a:lnSpc>
              <a:spcBef>
                <a:spcPts val="600"/>
              </a:spcBef>
              <a:spcAft>
                <a:spcPts val="0"/>
              </a:spcAft>
              <a:buSzPts val="1600"/>
              <a:buFont typeface="Arial"/>
              <a:buChar char="•"/>
            </a:pPr>
            <a:r>
              <a:rPr lang="en-US" sz="1600">
                <a:solidFill>
                  <a:srgbClr val="000000"/>
                </a:solidFill>
              </a:rPr>
              <a:t>Class-Based Weighted Fair Queuing (CBWFQ)</a:t>
            </a:r>
            <a:endParaRPr/>
          </a:p>
          <a:p>
            <a:pPr indent="-285750" lvl="1" marL="358835" rtl="0" algn="l">
              <a:lnSpc>
                <a:spcPct val="95000"/>
              </a:lnSpc>
              <a:spcBef>
                <a:spcPts val="600"/>
              </a:spcBef>
              <a:spcAft>
                <a:spcPts val="0"/>
              </a:spcAft>
              <a:buSzPts val="1600"/>
              <a:buFont typeface="Arial"/>
              <a:buChar char="•"/>
            </a:pPr>
            <a:r>
              <a:rPr lang="en-US" sz="1600">
                <a:solidFill>
                  <a:srgbClr val="000000"/>
                </a:solidFill>
              </a:rPr>
              <a:t>Low Latency Queuing (LLQ)</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20"/>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Queuing Algorithms</a:t>
            </a:r>
            <a:br>
              <a:rPr lang="en-US"/>
            </a:br>
            <a:r>
              <a:rPr lang="en-US" sz="2400"/>
              <a:t>First in First Out</a:t>
            </a:r>
            <a:endParaRPr/>
          </a:p>
        </p:txBody>
      </p:sp>
      <p:sp>
        <p:nvSpPr>
          <p:cNvPr id="381" name="Google Shape;381;p20"/>
          <p:cNvSpPr txBox="1"/>
          <p:nvPr>
            <p:ph idx="1" type="body"/>
          </p:nvPr>
        </p:nvSpPr>
        <p:spPr>
          <a:xfrm>
            <a:off x="431972" y="855418"/>
            <a:ext cx="7913516" cy="1807395"/>
          </a:xfrm>
          <a:prstGeom prst="rect">
            <a:avLst/>
          </a:prstGeom>
          <a:noFill/>
          <a:ln>
            <a:noFill/>
          </a:ln>
        </p:spPr>
        <p:txBody>
          <a:bodyPr anchorCtr="0" anchor="t" bIns="45700" lIns="91400" spcFirstLastPara="1" rIns="91400" wrap="square" tIns="45700">
            <a:noAutofit/>
          </a:bodyPr>
          <a:lstStyle/>
          <a:p>
            <a:pPr indent="-285750" lvl="0" marL="285750" rtl="0" algn="l">
              <a:lnSpc>
                <a:spcPct val="100000"/>
              </a:lnSpc>
              <a:spcBef>
                <a:spcPts val="0"/>
              </a:spcBef>
              <a:spcAft>
                <a:spcPts val="0"/>
              </a:spcAft>
              <a:buSzPts val="1600"/>
              <a:buFont typeface="Arial"/>
              <a:buChar char="•"/>
            </a:pPr>
            <a:r>
              <a:rPr lang="en-US" sz="1600">
                <a:solidFill>
                  <a:srgbClr val="000000"/>
                </a:solidFill>
              </a:rPr>
              <a:t>First In First Out (FIFO) queuing buffers and forwards packets in the order of their arrival.</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FIFO has no concept of priority or classes of traffic and consequently, makes no decision about packet priority.</a:t>
            </a:r>
            <a:endParaRPr/>
          </a:p>
          <a:p>
            <a:pPr indent="-285750" lvl="1" marL="358835" rtl="0" algn="l">
              <a:lnSpc>
                <a:spcPct val="95000"/>
              </a:lnSpc>
              <a:spcBef>
                <a:spcPts val="600"/>
              </a:spcBef>
              <a:spcAft>
                <a:spcPts val="0"/>
              </a:spcAft>
              <a:buSzPts val="1600"/>
              <a:buFont typeface="Arial"/>
              <a:buChar char="•"/>
            </a:pPr>
            <a:r>
              <a:rPr lang="en-US" sz="1600">
                <a:solidFill>
                  <a:srgbClr val="000000"/>
                </a:solidFill>
              </a:rPr>
              <a:t>There is only one queue, and all packets are treated equally. </a:t>
            </a:r>
            <a:endParaRPr/>
          </a:p>
          <a:p>
            <a:pPr indent="-285750" lvl="1" marL="358835" rtl="0" algn="l">
              <a:lnSpc>
                <a:spcPct val="95000"/>
              </a:lnSpc>
              <a:spcBef>
                <a:spcPts val="600"/>
              </a:spcBef>
              <a:spcAft>
                <a:spcPts val="0"/>
              </a:spcAft>
              <a:buSzPts val="1600"/>
              <a:buFont typeface="Arial"/>
              <a:buChar char="•"/>
            </a:pPr>
            <a:r>
              <a:rPr lang="en-US" sz="1600">
                <a:solidFill>
                  <a:srgbClr val="000000"/>
                </a:solidFill>
              </a:rPr>
              <a:t>Packets are sent out an interface in the order in which they arrive.</a:t>
            </a:r>
            <a:endParaRPr/>
          </a:p>
        </p:txBody>
      </p:sp>
      <p:pic>
        <p:nvPicPr>
          <p:cNvPr id="382" name="Google Shape;382;p20"/>
          <p:cNvPicPr preferRelativeResize="0"/>
          <p:nvPr/>
        </p:nvPicPr>
        <p:blipFill rotWithShape="1">
          <a:blip r:embed="rId3">
            <a:alphaModFix/>
          </a:blip>
          <a:srcRect b="0" l="0" r="0" t="0"/>
          <a:stretch/>
        </p:blipFill>
        <p:spPr>
          <a:xfrm>
            <a:off x="1593115" y="2662813"/>
            <a:ext cx="5475193" cy="214541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21"/>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Queuing Algorithms</a:t>
            </a:r>
            <a:br>
              <a:rPr lang="en-US"/>
            </a:br>
            <a:r>
              <a:rPr lang="en-US" sz="2400"/>
              <a:t>Weighted Fair Queuing (WFQ)</a:t>
            </a:r>
            <a:endParaRPr/>
          </a:p>
        </p:txBody>
      </p:sp>
      <p:sp>
        <p:nvSpPr>
          <p:cNvPr id="389" name="Google Shape;389;p21"/>
          <p:cNvSpPr txBox="1"/>
          <p:nvPr>
            <p:ph idx="1" type="body"/>
          </p:nvPr>
        </p:nvSpPr>
        <p:spPr>
          <a:xfrm>
            <a:off x="431972" y="855417"/>
            <a:ext cx="4743343" cy="382027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Weighted Fair Queuing (WFQ) is an automated scheduling method that provides fair bandwidth allocation to all network traffic.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WFQ applies priority, or weights, to identified traffic, classifies it into conversations or flows, and then determines how much bandwidth each flow is allowed relative to other flows.</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WFQ classifies traffic into different flows based on source and destination IP addresses, MAC addresses, port numbers, protocol, and Type of Service (ToS) value.</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WFQ is not supported with tunneling and encryption because these features modify the packet content information required by WFQ for classification.</a:t>
            </a:r>
            <a:endParaRPr/>
          </a:p>
        </p:txBody>
      </p:sp>
      <p:pic>
        <p:nvPicPr>
          <p:cNvPr id="390" name="Google Shape;390;p21"/>
          <p:cNvPicPr preferRelativeResize="0"/>
          <p:nvPr/>
        </p:nvPicPr>
        <p:blipFill rotWithShape="1">
          <a:blip r:embed="rId3">
            <a:alphaModFix/>
          </a:blip>
          <a:srcRect b="0" l="0" r="0" t="0"/>
          <a:stretch/>
        </p:blipFill>
        <p:spPr>
          <a:xfrm>
            <a:off x="3206745" y="1405275"/>
            <a:ext cx="4416624" cy="25230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22"/>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Queuing Algorithms</a:t>
            </a:r>
            <a:br>
              <a:rPr lang="en-US"/>
            </a:br>
            <a:r>
              <a:rPr lang="en-US" sz="2400"/>
              <a:t>Class-Based Weighted Fair Queuing (CBWFQ)</a:t>
            </a:r>
            <a:endParaRPr/>
          </a:p>
        </p:txBody>
      </p:sp>
      <p:sp>
        <p:nvSpPr>
          <p:cNvPr id="397" name="Google Shape;397;p22"/>
          <p:cNvSpPr txBox="1"/>
          <p:nvPr>
            <p:ph idx="1" type="body"/>
          </p:nvPr>
        </p:nvSpPr>
        <p:spPr>
          <a:xfrm>
            <a:off x="431972" y="855418"/>
            <a:ext cx="7913516" cy="3395035"/>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Class-Based Weighted Fair Queuing (CBWFQ) extends the standard WFQ functionality to provide support for user-defined traffic classes. </a:t>
            </a:r>
            <a:endParaRPr/>
          </a:p>
          <a:p>
            <a:pPr indent="-285750" lvl="1" marL="358835" rtl="0" algn="l">
              <a:lnSpc>
                <a:spcPct val="95000"/>
              </a:lnSpc>
              <a:spcBef>
                <a:spcPts val="600"/>
              </a:spcBef>
              <a:spcAft>
                <a:spcPts val="0"/>
              </a:spcAft>
              <a:buSzPts val="1600"/>
              <a:buFont typeface="Arial"/>
              <a:buChar char="•"/>
            </a:pPr>
            <a:r>
              <a:rPr lang="en-US" sz="1600">
                <a:solidFill>
                  <a:srgbClr val="000000"/>
                </a:solidFill>
              </a:rPr>
              <a:t>Traffic classes are defined based on match criteria including protocols, access control lists (ACLs), and input interfaces. </a:t>
            </a:r>
            <a:endParaRPr/>
          </a:p>
          <a:p>
            <a:pPr indent="-285750" lvl="1" marL="358835" rtl="0" algn="l">
              <a:lnSpc>
                <a:spcPct val="95000"/>
              </a:lnSpc>
              <a:spcBef>
                <a:spcPts val="600"/>
              </a:spcBef>
              <a:spcAft>
                <a:spcPts val="0"/>
              </a:spcAft>
              <a:buSzPts val="1600"/>
              <a:buFont typeface="Arial"/>
              <a:buChar char="•"/>
            </a:pPr>
            <a:r>
              <a:rPr lang="en-US" sz="1600">
                <a:solidFill>
                  <a:srgbClr val="000000"/>
                </a:solidFill>
              </a:rPr>
              <a:t>Packets satisfying the match criteria for a class constitute the traffic for that class.</a:t>
            </a:r>
            <a:endParaRPr/>
          </a:p>
          <a:p>
            <a:pPr indent="-285750" lvl="1" marL="358835" rtl="0" algn="l">
              <a:lnSpc>
                <a:spcPct val="95000"/>
              </a:lnSpc>
              <a:spcBef>
                <a:spcPts val="600"/>
              </a:spcBef>
              <a:spcAft>
                <a:spcPts val="0"/>
              </a:spcAft>
              <a:buSzPts val="1600"/>
              <a:buFont typeface="Arial"/>
              <a:buChar char="•"/>
            </a:pPr>
            <a:r>
              <a:rPr lang="en-US" sz="1600">
                <a:solidFill>
                  <a:srgbClr val="000000"/>
                </a:solidFill>
              </a:rPr>
              <a:t>A FIFO queue is reserved for each class, and traffic belonging to a class is directed to the queue for that class.</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A class can be assigned characteristics, such as bandwidth, weight, and maximum packet limit. The bandwidth assigned to a class is the guaranteed bandwidth delivered during congestion.</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Packets belonging to a class are subject to the bandwidth and queue limits, which is the maximum number of packets allowed to accumulate in the queue, that characterize the class.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23"/>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Queuing Algorithms</a:t>
            </a:r>
            <a:br>
              <a:rPr lang="en-US"/>
            </a:br>
            <a:r>
              <a:rPr lang="en-US" sz="2400"/>
              <a:t>Class-Based Weighted Fair Queuing (CBWFQ) (Cont.)</a:t>
            </a:r>
            <a:endParaRPr/>
          </a:p>
        </p:txBody>
      </p:sp>
      <p:sp>
        <p:nvSpPr>
          <p:cNvPr id="404" name="Google Shape;404;p23"/>
          <p:cNvSpPr txBox="1"/>
          <p:nvPr>
            <p:ph idx="1" type="body"/>
          </p:nvPr>
        </p:nvSpPr>
        <p:spPr>
          <a:xfrm>
            <a:off x="431972" y="855418"/>
            <a:ext cx="7913516" cy="1807395"/>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After a queue has reached its configured queue limit, adding more packets to the class causes tail drop or packet drop to take effect, depending on how class policy is configured.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Tail drop discards any packet that arrives at the tail end of a queue that has completely used up its packet-holding resources.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This is the default queuing response to congestion. Tail drop treats all traffic equally and does not differentiate between classes of service.</a:t>
            </a:r>
            <a:endParaRPr/>
          </a:p>
        </p:txBody>
      </p:sp>
      <p:pic>
        <p:nvPicPr>
          <p:cNvPr id="405" name="Google Shape;405;p23"/>
          <p:cNvPicPr preferRelativeResize="0"/>
          <p:nvPr/>
        </p:nvPicPr>
        <p:blipFill rotWithShape="1">
          <a:blip r:embed="rId3">
            <a:alphaModFix/>
          </a:blip>
          <a:srcRect b="0" l="0" r="0" t="0"/>
          <a:stretch/>
        </p:blipFill>
        <p:spPr>
          <a:xfrm>
            <a:off x="3972153" y="2786426"/>
            <a:ext cx="5304126" cy="21189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24"/>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Queuing Algorithms</a:t>
            </a:r>
            <a:br>
              <a:rPr lang="en-US"/>
            </a:br>
            <a:r>
              <a:rPr lang="en-US" sz="2400"/>
              <a:t>Low Latency Queuing (LLQ)</a:t>
            </a:r>
            <a:endParaRPr/>
          </a:p>
        </p:txBody>
      </p:sp>
      <p:sp>
        <p:nvSpPr>
          <p:cNvPr id="412" name="Google Shape;412;p24"/>
          <p:cNvSpPr txBox="1"/>
          <p:nvPr>
            <p:ph idx="1" type="body"/>
          </p:nvPr>
        </p:nvSpPr>
        <p:spPr>
          <a:xfrm>
            <a:off x="431972" y="855418"/>
            <a:ext cx="3875333" cy="3728614"/>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The Low Latency Queuing (LLQ) feature brings strict priority queuing (PQ) to CBWFQ.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Strict PQ allows delay-sensitive packets such as voice to be sent before packets in other queues.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LLQ allows delay-sensitive packets such as voice to be sent first (before packets in other queues), giving delay-sensitive packets preferential treatment over other traffic.</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Cisco recommends that only voice traffic be directed to the priority queue.</a:t>
            </a:r>
            <a:endParaRPr/>
          </a:p>
        </p:txBody>
      </p:sp>
      <p:pic>
        <p:nvPicPr>
          <p:cNvPr id="413" name="Google Shape;413;p24"/>
          <p:cNvPicPr preferRelativeResize="0"/>
          <p:nvPr/>
        </p:nvPicPr>
        <p:blipFill rotWithShape="1">
          <a:blip r:embed="rId3">
            <a:alphaModFix/>
          </a:blip>
          <a:srcRect b="0" l="0" r="0" t="0"/>
          <a:stretch/>
        </p:blipFill>
        <p:spPr>
          <a:xfrm>
            <a:off x="4307305" y="1480241"/>
            <a:ext cx="4404723" cy="2183018"/>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25"/>
          <p:cNvSpPr txBox="1"/>
          <p:nvPr>
            <p:ph type="ctrTitle"/>
          </p:nvPr>
        </p:nvSpPr>
        <p:spPr>
          <a:xfrm>
            <a:off x="416425" y="1788160"/>
            <a:ext cx="7848344"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9.4 QoS Models</a:t>
            </a:r>
            <a:endParaRPr/>
          </a:p>
        </p:txBody>
      </p:sp>
    </p:spTree>
  </p:cSld>
  <p:clrMapOvr>
    <a:masterClrMapping/>
  </p:clrMapOvr>
  <p:transition spd="slow">
    <p:wipe dir="l"/>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26"/>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QoS Models</a:t>
            </a:r>
            <a:br>
              <a:rPr lang="en-US"/>
            </a:br>
            <a:r>
              <a:rPr lang="en-US" sz="2400"/>
              <a:t>Video – QoS Models</a:t>
            </a:r>
            <a:endParaRPr/>
          </a:p>
        </p:txBody>
      </p:sp>
      <p:sp>
        <p:nvSpPr>
          <p:cNvPr id="426" name="Google Shape;426;p26"/>
          <p:cNvSpPr txBox="1"/>
          <p:nvPr>
            <p:ph idx="1" type="body"/>
          </p:nvPr>
        </p:nvSpPr>
        <p:spPr>
          <a:xfrm>
            <a:off x="431971" y="855418"/>
            <a:ext cx="7913517" cy="3759111"/>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800"/>
              <a:buNone/>
            </a:pPr>
            <a:r>
              <a:rPr lang="en-US" sz="1800">
                <a:solidFill>
                  <a:srgbClr val="000000"/>
                </a:solidFill>
              </a:rPr>
              <a:t>This video will cover the following:</a:t>
            </a:r>
            <a:endParaRPr/>
          </a:p>
          <a:p>
            <a:pPr indent="-285750" lvl="0" marL="285750" rtl="0" algn="l">
              <a:lnSpc>
                <a:spcPct val="100000"/>
              </a:lnSpc>
              <a:spcBef>
                <a:spcPts val="360"/>
              </a:spcBef>
              <a:spcAft>
                <a:spcPts val="0"/>
              </a:spcAft>
              <a:buSzPts val="1800"/>
              <a:buFont typeface="Arial"/>
              <a:buChar char="•"/>
            </a:pPr>
            <a:r>
              <a:rPr lang="en-US" sz="1800">
                <a:solidFill>
                  <a:srgbClr val="000000"/>
                </a:solidFill>
              </a:rPr>
              <a:t>Best-effort model</a:t>
            </a:r>
            <a:endParaRPr/>
          </a:p>
          <a:p>
            <a:pPr indent="-285750" lvl="0" marL="285750" rtl="0" algn="l">
              <a:lnSpc>
                <a:spcPct val="100000"/>
              </a:lnSpc>
              <a:spcBef>
                <a:spcPts val="360"/>
              </a:spcBef>
              <a:spcAft>
                <a:spcPts val="0"/>
              </a:spcAft>
              <a:buSzPts val="1800"/>
              <a:buFont typeface="Arial"/>
              <a:buChar char="•"/>
            </a:pPr>
            <a:r>
              <a:rPr lang="en-US" sz="1800">
                <a:solidFill>
                  <a:srgbClr val="000000"/>
                </a:solidFill>
              </a:rPr>
              <a:t>Integrated services (IntServ)</a:t>
            </a:r>
            <a:endParaRPr/>
          </a:p>
          <a:p>
            <a:pPr indent="-285750" lvl="0" marL="285750" rtl="0" algn="l">
              <a:lnSpc>
                <a:spcPct val="100000"/>
              </a:lnSpc>
              <a:spcBef>
                <a:spcPts val="360"/>
              </a:spcBef>
              <a:spcAft>
                <a:spcPts val="0"/>
              </a:spcAft>
              <a:buSzPts val="1800"/>
              <a:buFont typeface="Arial"/>
              <a:buChar char="•"/>
            </a:pPr>
            <a:r>
              <a:rPr lang="en-US" sz="1800">
                <a:solidFill>
                  <a:srgbClr val="000000"/>
                </a:solidFill>
              </a:rPr>
              <a:t>Differentiated services (DiffServ)</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27"/>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QoS Models</a:t>
            </a:r>
            <a:br>
              <a:rPr lang="en-US"/>
            </a:br>
            <a:r>
              <a:rPr lang="en-US" sz="2400"/>
              <a:t>Selecting an Appropriate QoS Policy Model</a:t>
            </a:r>
            <a:endParaRPr/>
          </a:p>
        </p:txBody>
      </p:sp>
      <p:sp>
        <p:nvSpPr>
          <p:cNvPr id="433" name="Google Shape;433;p27"/>
          <p:cNvSpPr txBox="1"/>
          <p:nvPr>
            <p:ph idx="1" type="body"/>
          </p:nvPr>
        </p:nvSpPr>
        <p:spPr>
          <a:xfrm>
            <a:off x="431972" y="855418"/>
            <a:ext cx="7913516" cy="1623831"/>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There are three models for implementing QoS. QoS is implemented in a network using either IntServ or DiffServ. </a:t>
            </a:r>
            <a:endParaRPr/>
          </a:p>
          <a:p>
            <a:pPr indent="-285750" lvl="1" marL="358835" rtl="0" algn="l">
              <a:lnSpc>
                <a:spcPct val="95000"/>
              </a:lnSpc>
              <a:spcBef>
                <a:spcPts val="600"/>
              </a:spcBef>
              <a:spcAft>
                <a:spcPts val="0"/>
              </a:spcAft>
              <a:buSzPts val="1400"/>
              <a:buFont typeface="Arial"/>
              <a:buChar char="•"/>
            </a:pPr>
            <a:r>
              <a:rPr lang="en-US">
                <a:solidFill>
                  <a:srgbClr val="000000"/>
                </a:solidFill>
              </a:rPr>
              <a:t>IntServ provides the highest guarantee of QoS, it is very resource-intensive, and therefore, not easily scalable. </a:t>
            </a:r>
            <a:endParaRPr/>
          </a:p>
          <a:p>
            <a:pPr indent="-285750" lvl="1" marL="358835" rtl="0" algn="l">
              <a:lnSpc>
                <a:spcPct val="95000"/>
              </a:lnSpc>
              <a:spcBef>
                <a:spcPts val="600"/>
              </a:spcBef>
              <a:spcAft>
                <a:spcPts val="0"/>
              </a:spcAft>
              <a:buSzPts val="1400"/>
              <a:buFont typeface="Arial"/>
              <a:buChar char="•"/>
            </a:pPr>
            <a:r>
              <a:rPr lang="en-US">
                <a:solidFill>
                  <a:srgbClr val="000000"/>
                </a:solidFill>
              </a:rPr>
              <a:t>DiffServ is less resource-intensive and more scalable. </a:t>
            </a:r>
            <a:endParaRPr/>
          </a:p>
          <a:p>
            <a:pPr indent="-285750" lvl="1" marL="358835" rtl="0" algn="l">
              <a:lnSpc>
                <a:spcPct val="95000"/>
              </a:lnSpc>
              <a:spcBef>
                <a:spcPts val="600"/>
              </a:spcBef>
              <a:spcAft>
                <a:spcPts val="0"/>
              </a:spcAft>
              <a:buSzPts val="1400"/>
              <a:buFont typeface="Arial"/>
              <a:buChar char="•"/>
            </a:pPr>
            <a:r>
              <a:rPr lang="en-US">
                <a:solidFill>
                  <a:srgbClr val="000000"/>
                </a:solidFill>
              </a:rPr>
              <a:t>IntServ and DiffServ are sometimes co-deployed in network QoS implementations.</a:t>
            </a:r>
            <a:endParaRPr/>
          </a:p>
        </p:txBody>
      </p:sp>
      <p:graphicFrame>
        <p:nvGraphicFramePr>
          <p:cNvPr id="434" name="Google Shape;434;p27"/>
          <p:cNvGraphicFramePr/>
          <p:nvPr/>
        </p:nvGraphicFramePr>
        <p:xfrm>
          <a:off x="532337" y="2734973"/>
          <a:ext cx="3000000" cy="3000000"/>
        </p:xfrm>
        <a:graphic>
          <a:graphicData uri="http://schemas.openxmlformats.org/drawingml/2006/table">
            <a:tbl>
              <a:tblPr bandRow="1" firstRow="1">
                <a:noFill/>
                <a:tableStyleId>{D8C263E1-B3EF-47A4-AEA2-D0D936B171C2}</a:tableStyleId>
              </a:tblPr>
              <a:tblGrid>
                <a:gridCol w="1497425"/>
                <a:gridCol w="6581900"/>
              </a:tblGrid>
              <a:tr h="273375">
                <a:tc>
                  <a:txBody>
                    <a:bodyPr/>
                    <a:lstStyle/>
                    <a:p>
                      <a:pPr indent="0" lvl="0" marL="0" marR="0" rtl="0" algn="l">
                        <a:spcBef>
                          <a:spcPts val="0"/>
                        </a:spcBef>
                        <a:spcAft>
                          <a:spcPts val="0"/>
                        </a:spcAft>
                        <a:buNone/>
                      </a:pPr>
                      <a:r>
                        <a:rPr lang="en-US" sz="1200"/>
                        <a:t>Model</a:t>
                      </a:r>
                      <a:endParaRPr/>
                    </a:p>
                  </a:txBody>
                  <a:tcPr marT="45725" marB="45725" marR="91450" marL="91450"/>
                </a:tc>
                <a:tc>
                  <a:txBody>
                    <a:bodyPr/>
                    <a:lstStyle/>
                    <a:p>
                      <a:pPr indent="0" lvl="0" marL="0" marR="0" rtl="0" algn="l">
                        <a:spcBef>
                          <a:spcPts val="0"/>
                        </a:spcBef>
                        <a:spcAft>
                          <a:spcPts val="0"/>
                        </a:spcAft>
                        <a:buNone/>
                      </a:pPr>
                      <a:r>
                        <a:rPr lang="en-US" sz="1200"/>
                        <a:t>Description</a:t>
                      </a:r>
                      <a:endParaRPr/>
                    </a:p>
                  </a:txBody>
                  <a:tcPr marT="45725" marB="45725" marR="91450" marL="91450"/>
                </a:tc>
              </a:tr>
              <a:tr h="412700">
                <a:tc>
                  <a:txBody>
                    <a:bodyPr/>
                    <a:lstStyle/>
                    <a:p>
                      <a:pPr indent="0" lvl="0" marL="0" marR="0" rtl="0" algn="l">
                        <a:spcBef>
                          <a:spcPts val="0"/>
                        </a:spcBef>
                        <a:spcAft>
                          <a:spcPts val="0"/>
                        </a:spcAft>
                        <a:buNone/>
                      </a:pPr>
                      <a:r>
                        <a:rPr lang="en-US" sz="1200">
                          <a:solidFill>
                            <a:srgbClr val="000000"/>
                          </a:solidFill>
                        </a:rPr>
                        <a:t>Best-effort model</a:t>
                      </a:r>
                      <a:endParaRPr/>
                    </a:p>
                  </a:txBody>
                  <a:tcPr marT="45725" marB="45725" marR="91450" marL="91450"/>
                </a:tc>
                <a:tc>
                  <a:txBody>
                    <a:bodyPr/>
                    <a:lstStyle/>
                    <a:p>
                      <a:pPr indent="-171450" lvl="0" marL="171450" marR="0" rtl="0" algn="l">
                        <a:spcBef>
                          <a:spcPts val="0"/>
                        </a:spcBef>
                        <a:spcAft>
                          <a:spcPts val="0"/>
                        </a:spcAft>
                        <a:buClr>
                          <a:schemeClr val="dk1"/>
                        </a:buClr>
                        <a:buSzPts val="1200"/>
                        <a:buFont typeface="Arial"/>
                        <a:buChar char="•"/>
                      </a:pPr>
                      <a:r>
                        <a:rPr lang="en-US" sz="1200"/>
                        <a:t>Not an implementation as QoS is not explicitly configured.</a:t>
                      </a:r>
                      <a:endParaRPr/>
                    </a:p>
                    <a:p>
                      <a:pPr indent="-171450" lvl="0" marL="171450" marR="0" rtl="0" algn="l">
                        <a:spcBef>
                          <a:spcPts val="0"/>
                        </a:spcBef>
                        <a:spcAft>
                          <a:spcPts val="0"/>
                        </a:spcAft>
                        <a:buClr>
                          <a:schemeClr val="dk1"/>
                        </a:buClr>
                        <a:buSzPts val="1200"/>
                        <a:buFont typeface="Arial"/>
                        <a:buChar char="•"/>
                      </a:pPr>
                      <a:r>
                        <a:rPr lang="en-US" sz="1200"/>
                        <a:t>Use when QoS is not required.</a:t>
                      </a:r>
                      <a:endParaRPr/>
                    </a:p>
                  </a:txBody>
                  <a:tcPr marT="45725" marB="45725" marR="91450" marL="91450"/>
                </a:tc>
              </a:tr>
              <a:tr h="742875">
                <a:tc>
                  <a:txBody>
                    <a:bodyPr/>
                    <a:lstStyle/>
                    <a:p>
                      <a:pPr indent="0" lvl="0" marL="0" marR="0" rtl="0" algn="l">
                        <a:spcBef>
                          <a:spcPts val="0"/>
                        </a:spcBef>
                        <a:spcAft>
                          <a:spcPts val="0"/>
                        </a:spcAft>
                        <a:buNone/>
                      </a:pPr>
                      <a:r>
                        <a:rPr lang="en-US" sz="1200">
                          <a:solidFill>
                            <a:srgbClr val="000000"/>
                          </a:solidFill>
                        </a:rPr>
                        <a:t>Integrated services (IntServ)</a:t>
                      </a:r>
                      <a:endParaRPr/>
                    </a:p>
                  </a:txBody>
                  <a:tcPr marT="45725" marB="45725" marR="91450" marL="91450"/>
                </a:tc>
                <a:tc>
                  <a:txBody>
                    <a:bodyPr/>
                    <a:lstStyle/>
                    <a:p>
                      <a:pPr indent="-171450" lvl="0" marL="171450" marR="0" rtl="0" algn="l">
                        <a:spcBef>
                          <a:spcPts val="0"/>
                        </a:spcBef>
                        <a:spcAft>
                          <a:spcPts val="0"/>
                        </a:spcAft>
                        <a:buClr>
                          <a:schemeClr val="dk1"/>
                        </a:buClr>
                        <a:buSzPts val="1200"/>
                        <a:buFont typeface="Arial"/>
                        <a:buChar char="•"/>
                      </a:pPr>
                      <a:r>
                        <a:rPr lang="en-US" sz="1200"/>
                        <a:t>Provides very high QoS to IP packets with guaranteed delivery.</a:t>
                      </a:r>
                      <a:endParaRPr/>
                    </a:p>
                    <a:p>
                      <a:pPr indent="-171450" lvl="0" marL="171450" marR="0" rtl="0" algn="l">
                        <a:spcBef>
                          <a:spcPts val="0"/>
                        </a:spcBef>
                        <a:spcAft>
                          <a:spcPts val="0"/>
                        </a:spcAft>
                        <a:buClr>
                          <a:schemeClr val="dk1"/>
                        </a:buClr>
                        <a:buSzPts val="1200"/>
                        <a:buFont typeface="Arial"/>
                        <a:buChar char="•"/>
                      </a:pPr>
                      <a:r>
                        <a:rPr lang="en-US" sz="1200"/>
                        <a:t>Defines a signaling process for applications to signal to the network that they require special QoS for a period and that bandwidth should be reserved.</a:t>
                      </a:r>
                      <a:endParaRPr/>
                    </a:p>
                    <a:p>
                      <a:pPr indent="-171450" lvl="0" marL="171450" marR="0" rtl="0" algn="l">
                        <a:spcBef>
                          <a:spcPts val="0"/>
                        </a:spcBef>
                        <a:spcAft>
                          <a:spcPts val="0"/>
                        </a:spcAft>
                        <a:buClr>
                          <a:schemeClr val="dk1"/>
                        </a:buClr>
                        <a:buSzPts val="1200"/>
                        <a:buFont typeface="Arial"/>
                        <a:buChar char="•"/>
                      </a:pPr>
                      <a:r>
                        <a:rPr lang="en-US" sz="1200"/>
                        <a:t>IntServ can severely limit the scalability of a network.</a:t>
                      </a:r>
                      <a:endParaRPr/>
                    </a:p>
                  </a:txBody>
                  <a:tcPr marT="45725" marB="45725" marR="91450" marL="91450"/>
                </a:tc>
              </a:tr>
              <a:tr h="577775">
                <a:tc>
                  <a:txBody>
                    <a:bodyPr/>
                    <a:lstStyle/>
                    <a:p>
                      <a:pPr indent="0" lvl="0" marL="0" marR="0" rtl="0" algn="l">
                        <a:spcBef>
                          <a:spcPts val="0"/>
                        </a:spcBef>
                        <a:spcAft>
                          <a:spcPts val="0"/>
                        </a:spcAft>
                        <a:buNone/>
                      </a:pPr>
                      <a:r>
                        <a:rPr lang="en-US" sz="1200">
                          <a:solidFill>
                            <a:srgbClr val="000000"/>
                          </a:solidFill>
                        </a:rPr>
                        <a:t>Differentiated services (DiffServ)</a:t>
                      </a:r>
                      <a:endParaRPr/>
                    </a:p>
                  </a:txBody>
                  <a:tcPr marT="45725" marB="45725" marR="91450" marL="91450"/>
                </a:tc>
                <a:tc>
                  <a:txBody>
                    <a:bodyPr/>
                    <a:lstStyle/>
                    <a:p>
                      <a:pPr indent="-171450" lvl="0" marL="171450" marR="0" rtl="0" algn="l">
                        <a:spcBef>
                          <a:spcPts val="0"/>
                        </a:spcBef>
                        <a:spcAft>
                          <a:spcPts val="0"/>
                        </a:spcAft>
                        <a:buClr>
                          <a:schemeClr val="dk1"/>
                        </a:buClr>
                        <a:buSzPts val="1200"/>
                        <a:buFont typeface="Arial"/>
                        <a:buChar char="•"/>
                      </a:pPr>
                      <a:r>
                        <a:rPr lang="en-US" sz="1200"/>
                        <a:t>Provides high scalability and flexibility in implementing QoS.</a:t>
                      </a:r>
                      <a:endParaRPr/>
                    </a:p>
                    <a:p>
                      <a:pPr indent="-171450" lvl="0" marL="171450" marR="0" rtl="0" algn="l">
                        <a:spcBef>
                          <a:spcPts val="0"/>
                        </a:spcBef>
                        <a:spcAft>
                          <a:spcPts val="0"/>
                        </a:spcAft>
                        <a:buClr>
                          <a:schemeClr val="dk1"/>
                        </a:buClr>
                        <a:buSzPts val="1200"/>
                        <a:buFont typeface="Arial"/>
                        <a:buChar char="•"/>
                      </a:pPr>
                      <a:r>
                        <a:rPr lang="en-US" sz="1200"/>
                        <a:t>Network devices recognize traffic classes and provide different levels of QoS to different traffic classes.</a:t>
                      </a:r>
                      <a:endParaRPr/>
                    </a:p>
                  </a:txBody>
                  <a:tcPr marT="45725" marB="45725" marR="91450" marL="91450"/>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28"/>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QoS Models</a:t>
            </a:r>
            <a:br>
              <a:rPr lang="en-US"/>
            </a:br>
            <a:r>
              <a:rPr lang="en-US" sz="2400"/>
              <a:t>Best Effort</a:t>
            </a:r>
            <a:endParaRPr/>
          </a:p>
        </p:txBody>
      </p:sp>
      <p:sp>
        <p:nvSpPr>
          <p:cNvPr id="441" name="Google Shape;441;p28"/>
          <p:cNvSpPr txBox="1"/>
          <p:nvPr>
            <p:ph idx="1" type="body"/>
          </p:nvPr>
        </p:nvSpPr>
        <p:spPr>
          <a:xfrm>
            <a:off x="431972" y="855419"/>
            <a:ext cx="7913516" cy="1633446"/>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The basic design of the internet is best-effort packet delivery and provides no guarantees.</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The best-effort model treats all network packets in the same way, so an emergency voice message is treated the same way that a digital photograph attached to an email is treated.</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Benefits and drawbacks of the best effort model:</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 </a:t>
            </a:r>
            <a:endParaRPr/>
          </a:p>
        </p:txBody>
      </p:sp>
      <p:graphicFrame>
        <p:nvGraphicFramePr>
          <p:cNvPr id="442" name="Google Shape;442;p28"/>
          <p:cNvGraphicFramePr/>
          <p:nvPr/>
        </p:nvGraphicFramePr>
        <p:xfrm>
          <a:off x="431972" y="2654635"/>
          <a:ext cx="3000000" cy="3000000"/>
        </p:xfrm>
        <a:graphic>
          <a:graphicData uri="http://schemas.openxmlformats.org/drawingml/2006/table">
            <a:tbl>
              <a:tblPr bandRow="1" firstRow="1">
                <a:noFill/>
                <a:tableStyleId>{D8C263E1-B3EF-47A4-AEA2-D0D936B171C2}</a:tableStyleId>
              </a:tblPr>
              <a:tblGrid>
                <a:gridCol w="3839250"/>
                <a:gridCol w="4240075"/>
              </a:tblGrid>
              <a:tr h="159600">
                <a:tc>
                  <a:txBody>
                    <a:bodyPr/>
                    <a:lstStyle/>
                    <a:p>
                      <a:pPr indent="0" lvl="0" marL="0" marR="0" rtl="0" algn="l">
                        <a:spcBef>
                          <a:spcPts val="0"/>
                        </a:spcBef>
                        <a:spcAft>
                          <a:spcPts val="0"/>
                        </a:spcAft>
                        <a:buNone/>
                      </a:pPr>
                      <a:r>
                        <a:rPr lang="en-US" sz="1200"/>
                        <a:t>Benefits</a:t>
                      </a:r>
                      <a:endParaRPr/>
                    </a:p>
                  </a:txBody>
                  <a:tcPr marT="45725" marB="45725" marR="91450" marL="91450"/>
                </a:tc>
                <a:tc>
                  <a:txBody>
                    <a:bodyPr/>
                    <a:lstStyle/>
                    <a:p>
                      <a:pPr indent="0" lvl="0" marL="0" marR="0" rtl="0" algn="l">
                        <a:spcBef>
                          <a:spcPts val="0"/>
                        </a:spcBef>
                        <a:spcAft>
                          <a:spcPts val="0"/>
                        </a:spcAft>
                        <a:buNone/>
                      </a:pPr>
                      <a:r>
                        <a:rPr lang="en-US" sz="1200"/>
                        <a:t>Drawbacks</a:t>
                      </a:r>
                      <a:endParaRPr/>
                    </a:p>
                  </a:txBody>
                  <a:tcPr marT="45725" marB="45725" marR="91450" marL="91450"/>
                </a:tc>
              </a:tr>
              <a:tr h="240125">
                <a:tc>
                  <a:txBody>
                    <a:bodyPr/>
                    <a:lstStyle/>
                    <a:p>
                      <a:pPr indent="0" lvl="0" marL="0" marR="0" rtl="0" algn="l">
                        <a:spcBef>
                          <a:spcPts val="0"/>
                        </a:spcBef>
                        <a:spcAft>
                          <a:spcPts val="0"/>
                        </a:spcAft>
                        <a:buNone/>
                      </a:pPr>
                      <a:r>
                        <a:rPr lang="en-US" sz="1200"/>
                        <a:t>The model is the most scalable.</a:t>
                      </a:r>
                      <a:endParaRPr sz="1200">
                        <a:solidFill>
                          <a:srgbClr val="000000"/>
                        </a:solidFill>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lang="en-US" sz="1200"/>
                        <a:t>There are no guarantees of delivery.</a:t>
                      </a:r>
                      <a:endParaRPr/>
                    </a:p>
                  </a:txBody>
                  <a:tcPr marT="45725" marB="45725" marR="91450" marL="91450"/>
                </a:tc>
              </a:tr>
              <a:tr h="432225">
                <a:tc>
                  <a:txBody>
                    <a:bodyPr/>
                    <a:lstStyle/>
                    <a:p>
                      <a:pPr indent="0" lvl="0" marL="0" marR="0" rtl="0" algn="l">
                        <a:spcBef>
                          <a:spcPts val="0"/>
                        </a:spcBef>
                        <a:spcAft>
                          <a:spcPts val="0"/>
                        </a:spcAft>
                        <a:buNone/>
                      </a:pPr>
                      <a:r>
                        <a:rPr lang="en-US" sz="1200"/>
                        <a:t>Scalability is only limited by available bandwidth, in which case all traffic is equally affected.</a:t>
                      </a:r>
                      <a:endParaRPr sz="1200">
                        <a:solidFill>
                          <a:srgbClr val="000000"/>
                        </a:solidFill>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lang="en-US" sz="1200"/>
                        <a:t>Packets will arrive whenever they can and in any order possible, if they arrive at all.</a:t>
                      </a:r>
                      <a:endParaRPr/>
                    </a:p>
                  </a:txBody>
                  <a:tcPr marT="45725" marB="45725" marR="91450" marL="91450"/>
                </a:tc>
              </a:tr>
              <a:tr h="336175">
                <a:tc>
                  <a:txBody>
                    <a:bodyPr/>
                    <a:lstStyle/>
                    <a:p>
                      <a:pPr indent="0" lvl="0" marL="0" marR="0" rtl="0" algn="l">
                        <a:spcBef>
                          <a:spcPts val="0"/>
                        </a:spcBef>
                        <a:spcAft>
                          <a:spcPts val="0"/>
                        </a:spcAft>
                        <a:buNone/>
                      </a:pPr>
                      <a:r>
                        <a:rPr lang="en-US" sz="1200"/>
                        <a:t>No special QoS mechanisms are required.</a:t>
                      </a:r>
                      <a:endParaRPr sz="1200">
                        <a:solidFill>
                          <a:srgbClr val="000000"/>
                        </a:solidFill>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lang="en-US" sz="1200"/>
                        <a:t>No packets have preferential treatment.</a:t>
                      </a:r>
                      <a:endParaRPr/>
                    </a:p>
                  </a:txBody>
                  <a:tcPr marT="45725" marB="45725" marR="91450" marL="91450"/>
                </a:tc>
              </a:tr>
              <a:tr h="336175">
                <a:tc>
                  <a:txBody>
                    <a:bodyPr/>
                    <a:lstStyle/>
                    <a:p>
                      <a:pPr indent="0" lvl="0" marL="0" marR="0" rtl="0" algn="l">
                        <a:spcBef>
                          <a:spcPts val="0"/>
                        </a:spcBef>
                        <a:spcAft>
                          <a:spcPts val="0"/>
                        </a:spcAft>
                        <a:buNone/>
                      </a:pPr>
                      <a:r>
                        <a:rPr lang="en-US" sz="1200"/>
                        <a:t>It is the easiest and quickest model to deploy.</a:t>
                      </a:r>
                      <a:endParaRPr sz="1200">
                        <a:solidFill>
                          <a:srgbClr val="000000"/>
                        </a:solidFill>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lang="en-US" sz="1200"/>
                        <a:t>Critical data is treated the same as casual email is treated.</a:t>
                      </a:r>
                      <a:endParaRPr/>
                    </a:p>
                  </a:txBody>
                  <a:tcPr marT="45725" marB="45725" marR="91450" marL="91450"/>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29"/>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QoS Models</a:t>
            </a:r>
            <a:br>
              <a:rPr lang="en-US"/>
            </a:br>
            <a:r>
              <a:rPr lang="en-US" sz="2400"/>
              <a:t>Integrated Services</a:t>
            </a:r>
            <a:endParaRPr/>
          </a:p>
        </p:txBody>
      </p:sp>
      <p:sp>
        <p:nvSpPr>
          <p:cNvPr id="449" name="Google Shape;449;p29"/>
          <p:cNvSpPr txBox="1"/>
          <p:nvPr>
            <p:ph idx="1" type="body"/>
          </p:nvPr>
        </p:nvSpPr>
        <p:spPr>
          <a:xfrm>
            <a:off x="431971" y="855419"/>
            <a:ext cx="4464881" cy="3692518"/>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IntServ delivers the end-to-end QoS that real-time applications require.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Explicitly manages network resources to provide QoS to individual flows or streams, sometimes called microflows.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Uses resource reservation and admission-control mechanisms as building blocks to establish and maintain QoS.</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Uses a connection-oriented approach. Each individual communication must explicitly specify its traffic descriptor and requested resources to the network.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The edge router performs admission control to ensure that available resources are sufficient in the network. </a:t>
            </a:r>
            <a:endParaRPr/>
          </a:p>
        </p:txBody>
      </p:sp>
      <p:pic>
        <p:nvPicPr>
          <p:cNvPr id="450" name="Google Shape;450;p29"/>
          <p:cNvPicPr preferRelativeResize="0"/>
          <p:nvPr/>
        </p:nvPicPr>
        <p:blipFill rotWithShape="1">
          <a:blip r:embed="rId3">
            <a:alphaModFix/>
          </a:blip>
          <a:srcRect b="0" l="0" r="0" t="0"/>
          <a:stretch/>
        </p:blipFill>
        <p:spPr>
          <a:xfrm>
            <a:off x="4990318" y="1475137"/>
            <a:ext cx="3721710" cy="245308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30"/>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QoS Models</a:t>
            </a:r>
            <a:br>
              <a:rPr lang="en-US"/>
            </a:br>
            <a:r>
              <a:rPr lang="en-US" sz="2400"/>
              <a:t>Integrated Services (Cont.)</a:t>
            </a:r>
            <a:endParaRPr/>
          </a:p>
        </p:txBody>
      </p:sp>
      <p:sp>
        <p:nvSpPr>
          <p:cNvPr id="457" name="Google Shape;457;p30"/>
          <p:cNvSpPr txBox="1"/>
          <p:nvPr>
            <p:ph idx="1" type="body"/>
          </p:nvPr>
        </p:nvSpPr>
        <p:spPr>
          <a:xfrm>
            <a:off x="103695" y="731838"/>
            <a:ext cx="8597245" cy="2397862"/>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500"/>
              <a:buNone/>
            </a:pPr>
            <a:r>
              <a:rPr lang="en-US" sz="1500">
                <a:solidFill>
                  <a:srgbClr val="000000"/>
                </a:solidFill>
              </a:rPr>
              <a:t>In the IntServ model, the application requests a specific kind of service from the network before sending data. </a:t>
            </a:r>
            <a:endParaRPr/>
          </a:p>
          <a:p>
            <a:pPr indent="-285750" lvl="0" marL="285750" rtl="0" algn="l">
              <a:lnSpc>
                <a:spcPct val="100000"/>
              </a:lnSpc>
              <a:spcBef>
                <a:spcPts val="300"/>
              </a:spcBef>
              <a:spcAft>
                <a:spcPts val="0"/>
              </a:spcAft>
              <a:buSzPts val="1500"/>
              <a:buFont typeface="Arial"/>
              <a:buChar char="•"/>
            </a:pPr>
            <a:r>
              <a:rPr lang="en-US" sz="1500">
                <a:solidFill>
                  <a:srgbClr val="000000"/>
                </a:solidFill>
              </a:rPr>
              <a:t>The application informs the network of its traffic profile and requests a particular kind of service that can encompass its bandwidth and delay requirements. </a:t>
            </a:r>
            <a:endParaRPr/>
          </a:p>
          <a:p>
            <a:pPr indent="-285750" lvl="0" marL="285750" rtl="0" algn="l">
              <a:lnSpc>
                <a:spcPct val="100000"/>
              </a:lnSpc>
              <a:spcBef>
                <a:spcPts val="300"/>
              </a:spcBef>
              <a:spcAft>
                <a:spcPts val="0"/>
              </a:spcAft>
              <a:buSzPts val="1500"/>
              <a:buFont typeface="Arial"/>
              <a:buChar char="•"/>
            </a:pPr>
            <a:r>
              <a:rPr lang="en-US" sz="1500">
                <a:solidFill>
                  <a:srgbClr val="000000"/>
                </a:solidFill>
              </a:rPr>
              <a:t>IntServ uses the Resource Reservation Protocol (RSVP) to signal the QoS needs of an application’s traffic along devices in the end-to-end path through the network. </a:t>
            </a:r>
            <a:endParaRPr/>
          </a:p>
          <a:p>
            <a:pPr indent="-285750" lvl="0" marL="285750" rtl="0" algn="l">
              <a:lnSpc>
                <a:spcPct val="100000"/>
              </a:lnSpc>
              <a:spcBef>
                <a:spcPts val="300"/>
              </a:spcBef>
              <a:spcAft>
                <a:spcPts val="0"/>
              </a:spcAft>
              <a:buSzPts val="1500"/>
              <a:buFont typeface="Arial"/>
              <a:buChar char="•"/>
            </a:pPr>
            <a:r>
              <a:rPr lang="en-US" sz="1500">
                <a:solidFill>
                  <a:srgbClr val="000000"/>
                </a:solidFill>
              </a:rPr>
              <a:t>If network devices along the path can reserve the necessary bandwidth, the originating application can begin transmitting. If the requested reservation fails along the path, the originating application does not send any data.</a:t>
            </a:r>
            <a:endParaRPr/>
          </a:p>
          <a:p>
            <a:pPr indent="0" lvl="0" marL="0" rtl="0" algn="l">
              <a:lnSpc>
                <a:spcPct val="100000"/>
              </a:lnSpc>
              <a:spcBef>
                <a:spcPts val="300"/>
              </a:spcBef>
              <a:spcAft>
                <a:spcPts val="0"/>
              </a:spcAft>
              <a:buSzPts val="1500"/>
              <a:buNone/>
            </a:pPr>
            <a:r>
              <a:rPr lang="en-US" sz="1500">
                <a:solidFill>
                  <a:srgbClr val="000000"/>
                </a:solidFill>
              </a:rPr>
              <a:t> </a:t>
            </a:r>
            <a:endParaRPr/>
          </a:p>
        </p:txBody>
      </p:sp>
      <p:graphicFrame>
        <p:nvGraphicFramePr>
          <p:cNvPr id="458" name="Google Shape;458;p30"/>
          <p:cNvGraphicFramePr/>
          <p:nvPr/>
        </p:nvGraphicFramePr>
        <p:xfrm>
          <a:off x="431972" y="3266818"/>
          <a:ext cx="3000000" cy="3000000"/>
        </p:xfrm>
        <a:graphic>
          <a:graphicData uri="http://schemas.openxmlformats.org/drawingml/2006/table">
            <a:tbl>
              <a:tblPr bandRow="1" firstRow="1">
                <a:noFill/>
                <a:tableStyleId>{D8C263E1-B3EF-47A4-AEA2-D0D936B171C2}</a:tableStyleId>
              </a:tblPr>
              <a:tblGrid>
                <a:gridCol w="3682825"/>
                <a:gridCol w="4396500"/>
              </a:tblGrid>
              <a:tr h="187800">
                <a:tc>
                  <a:txBody>
                    <a:bodyPr/>
                    <a:lstStyle/>
                    <a:p>
                      <a:pPr indent="0" lvl="0" marL="0" marR="0" rtl="0" algn="l">
                        <a:spcBef>
                          <a:spcPts val="0"/>
                        </a:spcBef>
                        <a:spcAft>
                          <a:spcPts val="0"/>
                        </a:spcAft>
                        <a:buNone/>
                      </a:pPr>
                      <a:r>
                        <a:rPr lang="en-US" sz="1200"/>
                        <a:t>Benefits</a:t>
                      </a:r>
                      <a:endParaRPr/>
                    </a:p>
                  </a:txBody>
                  <a:tcPr marT="45725" marB="45725" marR="91450" marL="91450"/>
                </a:tc>
                <a:tc>
                  <a:txBody>
                    <a:bodyPr/>
                    <a:lstStyle/>
                    <a:p>
                      <a:pPr indent="0" lvl="0" marL="0" marR="0" rtl="0" algn="l">
                        <a:spcBef>
                          <a:spcPts val="0"/>
                        </a:spcBef>
                        <a:spcAft>
                          <a:spcPts val="0"/>
                        </a:spcAft>
                        <a:buNone/>
                      </a:pPr>
                      <a:r>
                        <a:rPr lang="en-US" sz="1200"/>
                        <a:t>Drawbacks</a:t>
                      </a:r>
                      <a:endParaRPr/>
                    </a:p>
                  </a:txBody>
                  <a:tcPr marT="45725" marB="45725" marR="91450" marL="91450"/>
                </a:tc>
              </a:tr>
              <a:tr h="920625">
                <a:tc>
                  <a:txBody>
                    <a:bodyPr/>
                    <a:lstStyle/>
                    <a:p>
                      <a:pPr indent="-171450" lvl="0" marL="171450" marR="0" rtl="0" algn="l">
                        <a:spcBef>
                          <a:spcPts val="0"/>
                        </a:spcBef>
                        <a:spcAft>
                          <a:spcPts val="0"/>
                        </a:spcAft>
                        <a:buClr>
                          <a:schemeClr val="dk1"/>
                        </a:buClr>
                        <a:buSzPts val="1200"/>
                        <a:buFont typeface="Arial"/>
                        <a:buChar char="•"/>
                      </a:pPr>
                      <a:r>
                        <a:rPr lang="en-US" sz="1200"/>
                        <a:t>Explicit end-to-end resource admission control</a:t>
                      </a:r>
                      <a:endParaRPr/>
                    </a:p>
                    <a:p>
                      <a:pPr indent="-171450" lvl="0" marL="171450" marR="0" rtl="0" algn="l">
                        <a:spcBef>
                          <a:spcPts val="0"/>
                        </a:spcBef>
                        <a:spcAft>
                          <a:spcPts val="0"/>
                        </a:spcAft>
                        <a:buClr>
                          <a:schemeClr val="dk1"/>
                        </a:buClr>
                        <a:buSzPts val="1200"/>
                        <a:buFont typeface="Arial"/>
                        <a:buChar char="•"/>
                      </a:pPr>
                      <a:r>
                        <a:rPr lang="en-US" sz="1200"/>
                        <a:t>Per-request policy admission control</a:t>
                      </a:r>
                      <a:endParaRPr/>
                    </a:p>
                    <a:p>
                      <a:pPr indent="-171450" lvl="0" marL="171450" marR="0" rtl="0" algn="l">
                        <a:spcBef>
                          <a:spcPts val="0"/>
                        </a:spcBef>
                        <a:spcAft>
                          <a:spcPts val="0"/>
                        </a:spcAft>
                        <a:buClr>
                          <a:schemeClr val="dk1"/>
                        </a:buClr>
                        <a:buSzPts val="1200"/>
                        <a:buFont typeface="Arial"/>
                        <a:buChar char="•"/>
                      </a:pPr>
                      <a:r>
                        <a:rPr lang="en-US" sz="1200"/>
                        <a:t>Signaling of dynamic port numbers</a:t>
                      </a:r>
                      <a:endParaRPr/>
                    </a:p>
                  </a:txBody>
                  <a:tcPr marT="45725" marB="45725" marR="91450" marL="91450"/>
                </a:tc>
                <a:tc>
                  <a:txBody>
                    <a:bodyPr/>
                    <a:lstStyle/>
                    <a:p>
                      <a:pPr indent="-171450" lvl="0" marL="171450" marR="0" rtl="0" algn="l">
                        <a:spcBef>
                          <a:spcPts val="0"/>
                        </a:spcBef>
                        <a:spcAft>
                          <a:spcPts val="0"/>
                        </a:spcAft>
                        <a:buClr>
                          <a:schemeClr val="dk1"/>
                        </a:buClr>
                        <a:buSzPts val="1200"/>
                        <a:buFont typeface="Arial"/>
                        <a:buChar char="•"/>
                      </a:pPr>
                      <a:r>
                        <a:rPr lang="en-US" sz="1200"/>
                        <a:t>Resource intensive due to the stateful architecture requirement for continuous signaling.</a:t>
                      </a:r>
                      <a:endParaRPr/>
                    </a:p>
                    <a:p>
                      <a:pPr indent="-171450" lvl="0" marL="171450" marR="0" rtl="0" algn="l">
                        <a:spcBef>
                          <a:spcPts val="0"/>
                        </a:spcBef>
                        <a:spcAft>
                          <a:spcPts val="0"/>
                        </a:spcAft>
                        <a:buClr>
                          <a:schemeClr val="dk1"/>
                        </a:buClr>
                        <a:buSzPts val="1200"/>
                        <a:buFont typeface="Arial"/>
                        <a:buChar char="•"/>
                      </a:pPr>
                      <a:r>
                        <a:rPr lang="en-US" sz="1200"/>
                        <a:t>Flow-based approach not scalable to large implementations such as the internet.</a:t>
                      </a:r>
                      <a:endParaRPr/>
                    </a:p>
                  </a:txBody>
                  <a:tcPr marT="45725" marB="45725" marR="91450" marL="91450"/>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31"/>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QoS Models</a:t>
            </a:r>
            <a:br>
              <a:rPr lang="en-US"/>
            </a:br>
            <a:r>
              <a:rPr lang="en-US" sz="2400"/>
              <a:t>Differentiated Services</a:t>
            </a:r>
            <a:endParaRPr/>
          </a:p>
        </p:txBody>
      </p:sp>
      <p:sp>
        <p:nvSpPr>
          <p:cNvPr id="465" name="Google Shape;465;p31"/>
          <p:cNvSpPr txBox="1"/>
          <p:nvPr>
            <p:ph idx="1" type="body"/>
          </p:nvPr>
        </p:nvSpPr>
        <p:spPr>
          <a:xfrm>
            <a:off x="94268" y="855419"/>
            <a:ext cx="4477732" cy="3163128"/>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The differentiated services (DiffServ) QoS model specifies a simple and scalable mechanism for classifying and managing network traffic.</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Is not an end-to-end QoS strategy because it cannot enforce end-to-end guarantees.</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Hosts forward traffic to a router which classifies the flows into aggregates (classes) and provides the appropriate QoS policy for the classes.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Enforces and applies QoS mechanisms on a hop-by-hop basis, uniformly applying global meaning to each traffic class to provide both flexibility and scalability.</a:t>
            </a:r>
            <a:endParaRPr/>
          </a:p>
        </p:txBody>
      </p:sp>
      <p:pic>
        <p:nvPicPr>
          <p:cNvPr id="466" name="Google Shape;466;p31"/>
          <p:cNvPicPr preferRelativeResize="0"/>
          <p:nvPr/>
        </p:nvPicPr>
        <p:blipFill rotWithShape="1">
          <a:blip r:embed="rId3">
            <a:alphaModFix/>
          </a:blip>
          <a:srcRect b="0" l="0" r="0" t="0"/>
          <a:stretch/>
        </p:blipFill>
        <p:spPr>
          <a:xfrm>
            <a:off x="4740443" y="1432642"/>
            <a:ext cx="4140028" cy="258590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32"/>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QoS Models</a:t>
            </a:r>
            <a:br>
              <a:rPr lang="en-US"/>
            </a:br>
            <a:r>
              <a:rPr lang="en-US" sz="2400"/>
              <a:t>Differentiated Services (Cont.)</a:t>
            </a:r>
            <a:endParaRPr/>
          </a:p>
        </p:txBody>
      </p:sp>
      <p:sp>
        <p:nvSpPr>
          <p:cNvPr id="473" name="Google Shape;473;p32"/>
          <p:cNvSpPr txBox="1"/>
          <p:nvPr>
            <p:ph idx="1" type="body"/>
          </p:nvPr>
        </p:nvSpPr>
        <p:spPr>
          <a:xfrm>
            <a:off x="431972" y="855419"/>
            <a:ext cx="7913516" cy="1799216"/>
          </a:xfrm>
          <a:prstGeom prst="rect">
            <a:avLst/>
          </a:prstGeom>
          <a:noFill/>
          <a:ln>
            <a:noFill/>
          </a:ln>
        </p:spPr>
        <p:txBody>
          <a:bodyPr anchorCtr="0" anchor="t" bIns="45700" lIns="91400" spcFirstLastPara="1" rIns="91400" wrap="square" tIns="45700">
            <a:noAutofit/>
          </a:bodyPr>
          <a:lstStyle/>
          <a:p>
            <a:pPr indent="-285750" lvl="0" marL="285750" rtl="0" algn="l">
              <a:lnSpc>
                <a:spcPct val="100000"/>
              </a:lnSpc>
              <a:spcBef>
                <a:spcPts val="0"/>
              </a:spcBef>
              <a:spcAft>
                <a:spcPts val="0"/>
              </a:spcAft>
              <a:buSzPts val="1600"/>
              <a:buFont typeface="Arial"/>
              <a:buChar char="•"/>
            </a:pPr>
            <a:r>
              <a:rPr lang="en-US" sz="1600">
                <a:solidFill>
                  <a:srgbClr val="000000"/>
                </a:solidFill>
              </a:rPr>
              <a:t>DiffServ divides network traffic into classes based on business requirements. Each of the classes can then be assigned a different level of service.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As the packets traverse a network, each of the network devices identifies the packet class and services the packet according to that class.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It is possible to choose many levels of service with DiffServ. </a:t>
            </a:r>
            <a:endParaRPr/>
          </a:p>
        </p:txBody>
      </p:sp>
      <p:graphicFrame>
        <p:nvGraphicFramePr>
          <p:cNvPr id="474" name="Google Shape;474;p32"/>
          <p:cNvGraphicFramePr/>
          <p:nvPr/>
        </p:nvGraphicFramePr>
        <p:xfrm>
          <a:off x="431972" y="3093126"/>
          <a:ext cx="3000000" cy="3000000"/>
        </p:xfrm>
        <a:graphic>
          <a:graphicData uri="http://schemas.openxmlformats.org/drawingml/2006/table">
            <a:tbl>
              <a:tblPr bandRow="1" firstRow="1">
                <a:noFill/>
                <a:tableStyleId>{D8C263E1-B3EF-47A4-AEA2-D0D936B171C2}</a:tableStyleId>
              </a:tblPr>
              <a:tblGrid>
                <a:gridCol w="4039675"/>
                <a:gridCol w="4039650"/>
              </a:tblGrid>
              <a:tr h="187800">
                <a:tc>
                  <a:txBody>
                    <a:bodyPr/>
                    <a:lstStyle/>
                    <a:p>
                      <a:pPr indent="0" lvl="0" marL="0" marR="0" rtl="0" algn="l">
                        <a:spcBef>
                          <a:spcPts val="0"/>
                        </a:spcBef>
                        <a:spcAft>
                          <a:spcPts val="0"/>
                        </a:spcAft>
                        <a:buNone/>
                      </a:pPr>
                      <a:r>
                        <a:rPr lang="en-US" sz="1200"/>
                        <a:t>Benefits</a:t>
                      </a:r>
                      <a:endParaRPr/>
                    </a:p>
                  </a:txBody>
                  <a:tcPr marT="45725" marB="45725" marR="91450" marL="91450"/>
                </a:tc>
                <a:tc>
                  <a:txBody>
                    <a:bodyPr/>
                    <a:lstStyle/>
                    <a:p>
                      <a:pPr indent="0" lvl="0" marL="0" marR="0" rtl="0" algn="l">
                        <a:spcBef>
                          <a:spcPts val="0"/>
                        </a:spcBef>
                        <a:spcAft>
                          <a:spcPts val="0"/>
                        </a:spcAft>
                        <a:buNone/>
                      </a:pPr>
                      <a:r>
                        <a:rPr lang="en-US" sz="1200"/>
                        <a:t>Drawbacks</a:t>
                      </a:r>
                      <a:endParaRPr/>
                    </a:p>
                  </a:txBody>
                  <a:tcPr marT="45725" marB="45725" marR="91450" marL="91450"/>
                </a:tc>
              </a:tr>
              <a:tr h="920625">
                <a:tc>
                  <a:txBody>
                    <a:bodyPr/>
                    <a:lstStyle/>
                    <a:p>
                      <a:pPr indent="-171450" lvl="0" marL="171450" marR="0" rtl="0" algn="l">
                        <a:spcBef>
                          <a:spcPts val="0"/>
                        </a:spcBef>
                        <a:spcAft>
                          <a:spcPts val="0"/>
                        </a:spcAft>
                        <a:buClr>
                          <a:schemeClr val="dk1"/>
                        </a:buClr>
                        <a:buSzPts val="1200"/>
                        <a:buFont typeface="Arial"/>
                        <a:buChar char="•"/>
                      </a:pPr>
                      <a:r>
                        <a:rPr lang="en-US" sz="1200"/>
                        <a:t>Highly scalable</a:t>
                      </a:r>
                      <a:endParaRPr/>
                    </a:p>
                    <a:p>
                      <a:pPr indent="-171450" lvl="0" marL="171450" marR="0" rtl="0" algn="l">
                        <a:spcBef>
                          <a:spcPts val="0"/>
                        </a:spcBef>
                        <a:spcAft>
                          <a:spcPts val="0"/>
                        </a:spcAft>
                        <a:buClr>
                          <a:schemeClr val="dk1"/>
                        </a:buClr>
                        <a:buSzPts val="1200"/>
                        <a:buFont typeface="Arial"/>
                        <a:buChar char="•"/>
                      </a:pPr>
                      <a:r>
                        <a:rPr lang="en-US" sz="1200"/>
                        <a:t>Provides many different levels of quality</a:t>
                      </a:r>
                      <a:endParaRPr/>
                    </a:p>
                  </a:txBody>
                  <a:tcPr marT="45725" marB="45725" marR="91450" marL="91450"/>
                </a:tc>
                <a:tc>
                  <a:txBody>
                    <a:bodyPr/>
                    <a:lstStyle/>
                    <a:p>
                      <a:pPr indent="-171450" lvl="0" marL="171450" marR="0" rtl="0" algn="l">
                        <a:spcBef>
                          <a:spcPts val="0"/>
                        </a:spcBef>
                        <a:spcAft>
                          <a:spcPts val="0"/>
                        </a:spcAft>
                        <a:buClr>
                          <a:schemeClr val="dk1"/>
                        </a:buClr>
                        <a:buSzPts val="1200"/>
                        <a:buFont typeface="Arial"/>
                        <a:buChar char="•"/>
                      </a:pPr>
                      <a:r>
                        <a:rPr lang="en-US" sz="1200"/>
                        <a:t>No absolute guarantee of service quality</a:t>
                      </a:r>
                      <a:endParaRPr/>
                    </a:p>
                    <a:p>
                      <a:pPr indent="-171450" lvl="0" marL="171450" marR="0" rtl="0" algn="l">
                        <a:spcBef>
                          <a:spcPts val="0"/>
                        </a:spcBef>
                        <a:spcAft>
                          <a:spcPts val="0"/>
                        </a:spcAft>
                        <a:buClr>
                          <a:schemeClr val="dk1"/>
                        </a:buClr>
                        <a:buSzPts val="1200"/>
                        <a:buFont typeface="Arial"/>
                        <a:buChar char="•"/>
                      </a:pPr>
                      <a:r>
                        <a:rPr lang="en-US" sz="1200"/>
                        <a:t>Requires a set of complex mechanisms to work in concert throughout the network</a:t>
                      </a:r>
                      <a:endParaRPr/>
                    </a:p>
                  </a:txBody>
                  <a:tcPr marT="45725" marB="45725" marR="91450" marL="91450"/>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33"/>
          <p:cNvSpPr txBox="1"/>
          <p:nvPr>
            <p:ph type="ctrTitle"/>
          </p:nvPr>
        </p:nvSpPr>
        <p:spPr>
          <a:xfrm>
            <a:off x="416425" y="1788160"/>
            <a:ext cx="7848344"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9.5 QoS Implementation Techniques</a:t>
            </a:r>
            <a:endParaRPr/>
          </a:p>
        </p:txBody>
      </p:sp>
    </p:spTree>
  </p:cSld>
  <p:clrMapOvr>
    <a:masterClrMapping/>
  </p:clrMapOvr>
  <p:transition spd="slow">
    <p:wipe dir="l"/>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34"/>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QoS Implementation Techniques</a:t>
            </a:r>
            <a:br>
              <a:rPr lang="en-US"/>
            </a:br>
            <a:r>
              <a:rPr lang="en-US" sz="2400"/>
              <a:t>Video – QoS Implementation Techniques</a:t>
            </a:r>
            <a:endParaRPr/>
          </a:p>
        </p:txBody>
      </p:sp>
      <p:sp>
        <p:nvSpPr>
          <p:cNvPr id="487" name="Google Shape;487;p34"/>
          <p:cNvSpPr txBox="1"/>
          <p:nvPr>
            <p:ph idx="1" type="body"/>
          </p:nvPr>
        </p:nvSpPr>
        <p:spPr>
          <a:xfrm>
            <a:off x="431971" y="855418"/>
            <a:ext cx="7913517" cy="3759111"/>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800"/>
              <a:buNone/>
            </a:pPr>
            <a:r>
              <a:rPr lang="en-US" sz="1800">
                <a:solidFill>
                  <a:srgbClr val="000000"/>
                </a:solidFill>
              </a:rPr>
              <a:t>This video will cover the following:</a:t>
            </a:r>
            <a:endParaRPr/>
          </a:p>
          <a:p>
            <a:pPr indent="-285750" lvl="0" marL="285750" rtl="0" algn="l">
              <a:lnSpc>
                <a:spcPct val="100000"/>
              </a:lnSpc>
              <a:spcBef>
                <a:spcPts val="360"/>
              </a:spcBef>
              <a:spcAft>
                <a:spcPts val="0"/>
              </a:spcAft>
              <a:buSzPts val="1800"/>
              <a:buFont typeface="Arial"/>
              <a:buChar char="•"/>
            </a:pPr>
            <a:r>
              <a:rPr lang="en-US" sz="1800">
                <a:solidFill>
                  <a:srgbClr val="000000"/>
                </a:solidFill>
              </a:rPr>
              <a:t>Implementation tools (classification and marking, congestion avoidance, and congestion management)</a:t>
            </a:r>
            <a:endParaRPr/>
          </a:p>
          <a:p>
            <a:pPr indent="-285750" lvl="0" marL="285750" rtl="0" algn="l">
              <a:lnSpc>
                <a:spcPct val="100000"/>
              </a:lnSpc>
              <a:spcBef>
                <a:spcPts val="360"/>
              </a:spcBef>
              <a:spcAft>
                <a:spcPts val="0"/>
              </a:spcAft>
              <a:buSzPts val="1800"/>
              <a:buFont typeface="Arial"/>
              <a:buChar char="•"/>
            </a:pPr>
            <a:r>
              <a:rPr lang="en-US" sz="1800">
                <a:solidFill>
                  <a:srgbClr val="000000"/>
                </a:solidFill>
              </a:rPr>
              <a:t>Traffic marking</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35"/>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QoS Implementation Techniques</a:t>
            </a:r>
            <a:br>
              <a:rPr lang="en-US"/>
            </a:br>
            <a:r>
              <a:rPr lang="en-US" sz="2400"/>
              <a:t>Avoiding Packet Loss</a:t>
            </a:r>
            <a:endParaRPr/>
          </a:p>
        </p:txBody>
      </p:sp>
      <p:sp>
        <p:nvSpPr>
          <p:cNvPr id="494" name="Google Shape;494;p35"/>
          <p:cNvSpPr txBox="1"/>
          <p:nvPr>
            <p:ph idx="1" type="body"/>
          </p:nvPr>
        </p:nvSpPr>
        <p:spPr>
          <a:xfrm>
            <a:off x="431972" y="855418"/>
            <a:ext cx="7913516" cy="3759111"/>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Packet loss is usually the result of congestion on an interface. Most applications that use TCP experience slowdown because TCP automatically adjusts to network congestion. Dropped TCP segments cause TCP sessions to reduce their window sizes. Some applications do not use TCP and cannot handle drops (fragile flows).</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The following approaches can prevent drops in sensitive applications:</a:t>
            </a:r>
            <a:endParaRPr/>
          </a:p>
          <a:p>
            <a:pPr indent="-285750" lvl="1" marL="358835" rtl="0" algn="l">
              <a:lnSpc>
                <a:spcPct val="95000"/>
              </a:lnSpc>
              <a:spcBef>
                <a:spcPts val="600"/>
              </a:spcBef>
              <a:spcAft>
                <a:spcPts val="0"/>
              </a:spcAft>
              <a:buSzPts val="1600"/>
              <a:buFont typeface="Arial"/>
              <a:buChar char="•"/>
            </a:pPr>
            <a:r>
              <a:rPr lang="en-US" sz="1600">
                <a:solidFill>
                  <a:srgbClr val="000000"/>
                </a:solidFill>
              </a:rPr>
              <a:t>Increase link capacity to ease or prevent congestion.</a:t>
            </a:r>
            <a:endParaRPr/>
          </a:p>
          <a:p>
            <a:pPr indent="-285750" lvl="1" marL="358835" rtl="0" algn="l">
              <a:lnSpc>
                <a:spcPct val="95000"/>
              </a:lnSpc>
              <a:spcBef>
                <a:spcPts val="600"/>
              </a:spcBef>
              <a:spcAft>
                <a:spcPts val="0"/>
              </a:spcAft>
              <a:buSzPts val="1600"/>
              <a:buFont typeface="Arial"/>
              <a:buChar char="•"/>
            </a:pPr>
            <a:r>
              <a:rPr lang="en-US" sz="1600">
                <a:solidFill>
                  <a:srgbClr val="000000"/>
                </a:solidFill>
              </a:rPr>
              <a:t>Guarantee enough bandwidth and increase buffer space to accommodate bursts of traffic from fragile flows. WFQ, CBWFQ, and LLQ can guarantee bandwidth and provide prioritized forwarding to drop-sensitive applications.</a:t>
            </a:r>
            <a:endParaRPr/>
          </a:p>
          <a:p>
            <a:pPr indent="-285750" lvl="1" marL="358835" rtl="0" algn="l">
              <a:lnSpc>
                <a:spcPct val="95000"/>
              </a:lnSpc>
              <a:spcBef>
                <a:spcPts val="600"/>
              </a:spcBef>
              <a:spcAft>
                <a:spcPts val="0"/>
              </a:spcAft>
              <a:buSzPts val="1600"/>
              <a:buFont typeface="Arial"/>
              <a:buChar char="•"/>
            </a:pPr>
            <a:r>
              <a:rPr lang="en-US" sz="1600">
                <a:solidFill>
                  <a:srgbClr val="000000"/>
                </a:solidFill>
              </a:rPr>
              <a:t>Drop lower-priority packets before congestion occurs. Cisco IOS QoS provides queuing mechanisms, such as weighted random early detection (WRED), that start dropping lower-priority packets before congestion occurs.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36"/>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QoS Implementation Techniques</a:t>
            </a:r>
            <a:br>
              <a:rPr lang="en-US"/>
            </a:br>
            <a:r>
              <a:rPr lang="en-US" sz="2400"/>
              <a:t>QoS Tools</a:t>
            </a:r>
            <a:endParaRPr/>
          </a:p>
        </p:txBody>
      </p:sp>
      <p:sp>
        <p:nvSpPr>
          <p:cNvPr id="501" name="Google Shape;501;p36"/>
          <p:cNvSpPr txBox="1"/>
          <p:nvPr>
            <p:ph idx="1" type="body"/>
          </p:nvPr>
        </p:nvSpPr>
        <p:spPr>
          <a:xfrm>
            <a:off x="431972" y="855419"/>
            <a:ext cx="7913516" cy="266372"/>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There are three categories of QoS tool, as described in the table.</a:t>
            </a:r>
            <a:endParaRPr/>
          </a:p>
        </p:txBody>
      </p:sp>
      <p:graphicFrame>
        <p:nvGraphicFramePr>
          <p:cNvPr id="502" name="Google Shape;502;p36"/>
          <p:cNvGraphicFramePr/>
          <p:nvPr/>
        </p:nvGraphicFramePr>
        <p:xfrm>
          <a:off x="532337" y="1204208"/>
          <a:ext cx="3000000" cy="3000000"/>
        </p:xfrm>
        <a:graphic>
          <a:graphicData uri="http://schemas.openxmlformats.org/drawingml/2006/table">
            <a:tbl>
              <a:tblPr bandRow="1" firstRow="1">
                <a:noFill/>
                <a:tableStyleId>{D8C263E1-B3EF-47A4-AEA2-D0D936B171C2}</a:tableStyleId>
              </a:tblPr>
              <a:tblGrid>
                <a:gridCol w="2391725"/>
                <a:gridCol w="5687600"/>
              </a:tblGrid>
              <a:tr h="238700">
                <a:tc>
                  <a:txBody>
                    <a:bodyPr/>
                    <a:lstStyle/>
                    <a:p>
                      <a:pPr indent="0" lvl="0" marL="0" marR="0" rtl="0" algn="l">
                        <a:spcBef>
                          <a:spcPts val="0"/>
                        </a:spcBef>
                        <a:spcAft>
                          <a:spcPts val="0"/>
                        </a:spcAft>
                        <a:buNone/>
                      </a:pPr>
                      <a:r>
                        <a:rPr lang="en-US" sz="1400"/>
                        <a:t>QoS Tools</a:t>
                      </a:r>
                      <a:endParaRPr/>
                    </a:p>
                  </a:txBody>
                  <a:tcPr marT="45725" marB="45725" marR="91450" marL="91450"/>
                </a:tc>
                <a:tc>
                  <a:txBody>
                    <a:bodyPr/>
                    <a:lstStyle/>
                    <a:p>
                      <a:pPr indent="0" lvl="0" marL="0" marR="0" rtl="0" algn="l">
                        <a:spcBef>
                          <a:spcPts val="0"/>
                        </a:spcBef>
                        <a:spcAft>
                          <a:spcPts val="0"/>
                        </a:spcAft>
                        <a:buNone/>
                      </a:pPr>
                      <a:r>
                        <a:rPr lang="en-US" sz="1400"/>
                        <a:t>Description</a:t>
                      </a:r>
                      <a:endParaRPr/>
                    </a:p>
                  </a:txBody>
                  <a:tcPr marT="45725" marB="45725" marR="91450" marL="91450"/>
                </a:tc>
              </a:tr>
              <a:tr h="496050">
                <a:tc>
                  <a:txBody>
                    <a:bodyPr/>
                    <a:lstStyle/>
                    <a:p>
                      <a:pPr indent="0" lvl="0" marL="0" marR="0" rtl="0" algn="l">
                        <a:spcBef>
                          <a:spcPts val="0"/>
                        </a:spcBef>
                        <a:spcAft>
                          <a:spcPts val="0"/>
                        </a:spcAft>
                        <a:buClr>
                          <a:schemeClr val="dk1"/>
                        </a:buClr>
                        <a:buSzPts val="1400"/>
                        <a:buFont typeface="Arial"/>
                        <a:buNone/>
                      </a:pPr>
                      <a:r>
                        <a:rPr lang="en-US" sz="1400"/>
                        <a:t>Classification and marking tools</a:t>
                      </a:r>
                      <a:endParaRPr/>
                    </a:p>
                  </a:txBody>
                  <a:tcPr marT="45725" marB="45725" marR="91450" marL="91450"/>
                </a:tc>
                <a:tc>
                  <a:txBody>
                    <a:bodyPr/>
                    <a:lstStyle/>
                    <a:p>
                      <a:pPr indent="-171450" lvl="0" marL="171450" marR="0" rtl="0" algn="l">
                        <a:spcBef>
                          <a:spcPts val="0"/>
                        </a:spcBef>
                        <a:spcAft>
                          <a:spcPts val="0"/>
                        </a:spcAft>
                        <a:buClr>
                          <a:schemeClr val="dk1"/>
                        </a:buClr>
                        <a:buSzPts val="1400"/>
                        <a:buFont typeface="Arial"/>
                        <a:buChar char="•"/>
                      </a:pPr>
                      <a:r>
                        <a:rPr lang="en-US" sz="1400"/>
                        <a:t>Sessions, or flows, are analyzed to determine what traffic class they belong to.</a:t>
                      </a:r>
                      <a:endParaRPr/>
                    </a:p>
                    <a:p>
                      <a:pPr indent="-171450" lvl="0" marL="171450" marR="0" rtl="0" algn="l">
                        <a:spcBef>
                          <a:spcPts val="0"/>
                        </a:spcBef>
                        <a:spcAft>
                          <a:spcPts val="0"/>
                        </a:spcAft>
                        <a:buClr>
                          <a:schemeClr val="dk1"/>
                        </a:buClr>
                        <a:buSzPts val="1400"/>
                        <a:buFont typeface="Arial"/>
                        <a:buChar char="•"/>
                      </a:pPr>
                      <a:r>
                        <a:rPr lang="en-US" sz="1400"/>
                        <a:t>When the traffic class is determined, the packets are marked.</a:t>
                      </a:r>
                      <a:endParaRPr/>
                    </a:p>
                  </a:txBody>
                  <a:tcPr marT="45725" marB="45725" marR="91450" marL="91450"/>
                </a:tc>
              </a:tr>
              <a:tr h="1193500">
                <a:tc>
                  <a:txBody>
                    <a:bodyPr/>
                    <a:lstStyle/>
                    <a:p>
                      <a:pPr indent="0" lvl="0" marL="0" marR="0" rtl="0" algn="l">
                        <a:spcBef>
                          <a:spcPts val="0"/>
                        </a:spcBef>
                        <a:spcAft>
                          <a:spcPts val="0"/>
                        </a:spcAft>
                        <a:buClr>
                          <a:schemeClr val="dk1"/>
                        </a:buClr>
                        <a:buSzPts val="1400"/>
                        <a:buFont typeface="Arial"/>
                        <a:buNone/>
                      </a:pPr>
                      <a:r>
                        <a:rPr lang="en-US" sz="1400"/>
                        <a:t>Congestion avoidance tools</a:t>
                      </a:r>
                      <a:endParaRPr/>
                    </a:p>
                  </a:txBody>
                  <a:tcPr marT="45725" marB="45725" marR="91450" marL="91450"/>
                </a:tc>
                <a:tc>
                  <a:txBody>
                    <a:bodyPr/>
                    <a:lstStyle/>
                    <a:p>
                      <a:pPr indent="-171450" lvl="0" marL="171450" marR="0" rtl="0" algn="l">
                        <a:spcBef>
                          <a:spcPts val="0"/>
                        </a:spcBef>
                        <a:spcAft>
                          <a:spcPts val="0"/>
                        </a:spcAft>
                        <a:buClr>
                          <a:schemeClr val="dk1"/>
                        </a:buClr>
                        <a:buSzPts val="1400"/>
                        <a:buFont typeface="Arial"/>
                        <a:buChar char="•"/>
                      </a:pPr>
                      <a:r>
                        <a:rPr lang="en-US" sz="1400"/>
                        <a:t>Traffic classes are allotted portions of network resources, as defined by the QoS policy.</a:t>
                      </a:r>
                      <a:endParaRPr/>
                    </a:p>
                    <a:p>
                      <a:pPr indent="-171450" lvl="0" marL="171450" marR="0" rtl="0" algn="l">
                        <a:spcBef>
                          <a:spcPts val="0"/>
                        </a:spcBef>
                        <a:spcAft>
                          <a:spcPts val="0"/>
                        </a:spcAft>
                        <a:buClr>
                          <a:schemeClr val="dk1"/>
                        </a:buClr>
                        <a:buSzPts val="1400"/>
                        <a:buFont typeface="Arial"/>
                        <a:buChar char="•"/>
                      </a:pPr>
                      <a:r>
                        <a:rPr lang="en-US" sz="1400"/>
                        <a:t>The QoS policy also identifies how some traffic may be selectively dropped, delayed, or re-marked to avoid congestion.</a:t>
                      </a:r>
                      <a:endParaRPr/>
                    </a:p>
                    <a:p>
                      <a:pPr indent="-171450" lvl="0" marL="171450" marR="0" rtl="0" algn="l">
                        <a:spcBef>
                          <a:spcPts val="0"/>
                        </a:spcBef>
                        <a:spcAft>
                          <a:spcPts val="0"/>
                        </a:spcAft>
                        <a:buClr>
                          <a:schemeClr val="dk1"/>
                        </a:buClr>
                        <a:buSzPts val="1400"/>
                        <a:buFont typeface="Arial"/>
                        <a:buChar char="•"/>
                      </a:pPr>
                      <a:r>
                        <a:rPr lang="en-US" sz="1400"/>
                        <a:t>The primary congestion avoidance tool is WRED and is used to regulate TCP data traffic in a bandwidth-efficient manner before tail drops caused by queue overflows occur.</a:t>
                      </a:r>
                      <a:endParaRPr/>
                    </a:p>
                  </a:txBody>
                  <a:tcPr marT="45725" marB="45725" marR="91450" marL="91450"/>
                </a:tc>
              </a:tr>
              <a:tr h="716100">
                <a:tc>
                  <a:txBody>
                    <a:bodyPr/>
                    <a:lstStyle/>
                    <a:p>
                      <a:pPr indent="0" lvl="0" marL="0" marR="0" rtl="0" algn="l">
                        <a:spcBef>
                          <a:spcPts val="0"/>
                        </a:spcBef>
                        <a:spcAft>
                          <a:spcPts val="0"/>
                        </a:spcAft>
                        <a:buClr>
                          <a:schemeClr val="dk1"/>
                        </a:buClr>
                        <a:buSzPts val="1400"/>
                        <a:buFont typeface="Arial"/>
                        <a:buNone/>
                      </a:pPr>
                      <a:r>
                        <a:rPr lang="en-US" sz="1400"/>
                        <a:t>Congestion management tools</a:t>
                      </a:r>
                      <a:endParaRPr/>
                    </a:p>
                  </a:txBody>
                  <a:tcPr marT="45725" marB="45725" marR="91450" marL="91450"/>
                </a:tc>
                <a:tc>
                  <a:txBody>
                    <a:bodyPr/>
                    <a:lstStyle/>
                    <a:p>
                      <a:pPr indent="-171450" lvl="0" marL="171450" marR="0" rtl="0" algn="l">
                        <a:spcBef>
                          <a:spcPts val="0"/>
                        </a:spcBef>
                        <a:spcAft>
                          <a:spcPts val="0"/>
                        </a:spcAft>
                        <a:buClr>
                          <a:schemeClr val="dk1"/>
                        </a:buClr>
                        <a:buSzPts val="1400"/>
                        <a:buFont typeface="Arial"/>
                        <a:buChar char="•"/>
                      </a:pPr>
                      <a:r>
                        <a:rPr lang="en-US" sz="1400"/>
                        <a:t>When traffic exceeds available network resources, traffic is queued to await availability of resources.</a:t>
                      </a:r>
                      <a:endParaRPr/>
                    </a:p>
                    <a:p>
                      <a:pPr indent="-171450" lvl="0" marL="171450" marR="0" rtl="0" algn="l">
                        <a:spcBef>
                          <a:spcPts val="0"/>
                        </a:spcBef>
                        <a:spcAft>
                          <a:spcPts val="0"/>
                        </a:spcAft>
                        <a:buClr>
                          <a:schemeClr val="dk1"/>
                        </a:buClr>
                        <a:buSzPts val="1400"/>
                        <a:buFont typeface="Arial"/>
                        <a:buChar char="•"/>
                      </a:pPr>
                      <a:r>
                        <a:rPr lang="en-US" sz="1400"/>
                        <a:t>Common Cisco IOS-based congestion management tools include CBWFQ and LLQ algorithms.</a:t>
                      </a:r>
                      <a:endParaRPr/>
                    </a:p>
                  </a:txBody>
                  <a:tcPr marT="45725" marB="45725" marR="91450" marL="91450"/>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37"/>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QoS Implementation Techniques</a:t>
            </a:r>
            <a:br>
              <a:rPr lang="en-US"/>
            </a:br>
            <a:r>
              <a:rPr lang="en-US" sz="2400"/>
              <a:t>QoS Tools (Cont.)</a:t>
            </a:r>
            <a:endParaRPr/>
          </a:p>
        </p:txBody>
      </p:sp>
      <p:sp>
        <p:nvSpPr>
          <p:cNvPr id="509" name="Google Shape;509;p37"/>
          <p:cNvSpPr txBox="1"/>
          <p:nvPr>
            <p:ph idx="1" type="body"/>
          </p:nvPr>
        </p:nvSpPr>
        <p:spPr>
          <a:xfrm>
            <a:off x="337704" y="630146"/>
            <a:ext cx="7913516" cy="1648356"/>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The figure shows the sequence of QoS tools used when applied to packet flows.</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Ingress packets are classified and their respective IP header is marked.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To avoid congestion, packets are then allocated resources based on defined policies.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Packets are then queued and forwarded out the egress interface based on their defined QoS shaping and policing policy.</a:t>
            </a:r>
            <a:endParaRPr/>
          </a:p>
        </p:txBody>
      </p:sp>
      <p:sp>
        <p:nvSpPr>
          <p:cNvPr id="510" name="Google Shape;510;p37"/>
          <p:cNvSpPr/>
          <p:nvPr/>
        </p:nvSpPr>
        <p:spPr>
          <a:xfrm>
            <a:off x="1762704" y="4288082"/>
            <a:ext cx="563357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Note</a:t>
            </a:r>
            <a:r>
              <a:rPr lang="en-US" sz="1200">
                <a:solidFill>
                  <a:schemeClr val="dk1"/>
                </a:solidFill>
                <a:latin typeface="Arial"/>
                <a:ea typeface="Arial"/>
                <a:cs typeface="Arial"/>
                <a:sym typeface="Arial"/>
              </a:rPr>
              <a:t>: Classification and marking can be done on ingress or egress, whereas other QoS actions such queuing and shaping are usually done on egress.</a:t>
            </a:r>
            <a:endParaRPr/>
          </a:p>
        </p:txBody>
      </p:sp>
      <p:pic>
        <p:nvPicPr>
          <p:cNvPr id="511" name="Google Shape;511;p37"/>
          <p:cNvPicPr preferRelativeResize="0"/>
          <p:nvPr/>
        </p:nvPicPr>
        <p:blipFill rotWithShape="1">
          <a:blip r:embed="rId3">
            <a:alphaModFix/>
          </a:blip>
          <a:srcRect b="0" l="0" r="0" t="0"/>
          <a:stretch/>
        </p:blipFill>
        <p:spPr>
          <a:xfrm>
            <a:off x="-2242050" y="-206376"/>
            <a:ext cx="12829600" cy="65171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38"/>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QoS Implementation Techniques</a:t>
            </a:r>
            <a:br>
              <a:rPr lang="en-US"/>
            </a:br>
            <a:r>
              <a:rPr lang="en-US" sz="2400"/>
              <a:t>Classification and Marking</a:t>
            </a:r>
            <a:endParaRPr/>
          </a:p>
        </p:txBody>
      </p:sp>
      <p:sp>
        <p:nvSpPr>
          <p:cNvPr id="518" name="Google Shape;518;p38"/>
          <p:cNvSpPr txBox="1"/>
          <p:nvPr>
            <p:ph idx="1" type="body"/>
          </p:nvPr>
        </p:nvSpPr>
        <p:spPr>
          <a:xfrm>
            <a:off x="431972" y="855418"/>
            <a:ext cx="7913516" cy="271174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Before a packet can have a QoS policy applied to it, the packet has to be classified.</a:t>
            </a:r>
            <a:endParaRPr/>
          </a:p>
          <a:p>
            <a:pPr indent="0" lvl="0" marL="0" rtl="0" algn="l">
              <a:lnSpc>
                <a:spcPct val="100000"/>
              </a:lnSpc>
              <a:spcBef>
                <a:spcPts val="320"/>
              </a:spcBef>
              <a:spcAft>
                <a:spcPts val="0"/>
              </a:spcAft>
              <a:buSzPts val="1600"/>
              <a:buNone/>
            </a:pPr>
            <a:r>
              <a:rPr lang="en-US" sz="1600">
                <a:solidFill>
                  <a:srgbClr val="000000"/>
                </a:solidFill>
              </a:rPr>
              <a:t>Classification determines the class of traffic to which packets or frames belong. Only after traffic is marked can policies be applied to it.</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How a packet is classified depends on the QoS implementation. </a:t>
            </a:r>
            <a:endParaRPr/>
          </a:p>
          <a:p>
            <a:pPr indent="-285750" lvl="1" marL="358835" rtl="0" algn="l">
              <a:lnSpc>
                <a:spcPct val="95000"/>
              </a:lnSpc>
              <a:spcBef>
                <a:spcPts val="600"/>
              </a:spcBef>
              <a:spcAft>
                <a:spcPts val="0"/>
              </a:spcAft>
              <a:buSzPts val="1600"/>
              <a:buFont typeface="Arial"/>
              <a:buChar char="•"/>
            </a:pPr>
            <a:r>
              <a:rPr lang="en-US" sz="1600">
                <a:solidFill>
                  <a:srgbClr val="000000"/>
                </a:solidFill>
              </a:rPr>
              <a:t>Methods of classifying traffic flows at Layer 2 and 3 include using interfaces, ACLs, and class maps. </a:t>
            </a:r>
            <a:endParaRPr/>
          </a:p>
          <a:p>
            <a:pPr indent="-285750" lvl="1" marL="358835" rtl="0" algn="l">
              <a:lnSpc>
                <a:spcPct val="95000"/>
              </a:lnSpc>
              <a:spcBef>
                <a:spcPts val="600"/>
              </a:spcBef>
              <a:spcAft>
                <a:spcPts val="0"/>
              </a:spcAft>
              <a:buSzPts val="1600"/>
              <a:buFont typeface="Arial"/>
              <a:buChar char="•"/>
            </a:pPr>
            <a:r>
              <a:rPr lang="en-US" sz="1600">
                <a:solidFill>
                  <a:srgbClr val="000000"/>
                </a:solidFill>
              </a:rPr>
              <a:t>Traffic can also be classified at Layers 4 to 7 using Network Based Application Recognition (NBAR).</a:t>
            </a:r>
            <a:endParaRPr/>
          </a:p>
          <a:p>
            <a:pPr indent="-184150" lvl="0" marL="285750" rtl="0" algn="l">
              <a:lnSpc>
                <a:spcPct val="100000"/>
              </a:lnSpc>
              <a:spcBef>
                <a:spcPts val="320"/>
              </a:spcBef>
              <a:spcAft>
                <a:spcPts val="0"/>
              </a:spcAft>
              <a:buSzPts val="1600"/>
              <a:buFont typeface="Arial"/>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39"/>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QoS Implementation Techniques</a:t>
            </a:r>
            <a:br>
              <a:rPr lang="en-US"/>
            </a:br>
            <a:r>
              <a:rPr lang="en-US" sz="2400"/>
              <a:t>Classification and Marking (Cont.)</a:t>
            </a:r>
            <a:endParaRPr/>
          </a:p>
        </p:txBody>
      </p:sp>
      <p:sp>
        <p:nvSpPr>
          <p:cNvPr id="525" name="Google Shape;525;p39"/>
          <p:cNvSpPr txBox="1"/>
          <p:nvPr>
            <p:ph idx="1" type="body"/>
          </p:nvPr>
        </p:nvSpPr>
        <p:spPr>
          <a:xfrm>
            <a:off x="431972" y="855418"/>
            <a:ext cx="7913516" cy="1925489"/>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How traffic is marked usually depends on the technology. The decision of whether to mark traffic at Layers 2 or 3 (or both) is not trivial and should be made after consideration of the following points:</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Layer 2 marking of frames can be performed for non-IP traffic.</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Layer 2 marking of frames is the only QoS option available for switches that are not “IP aware”.</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Layer 3 marking will carry the QoS information end-to-end.</a:t>
            </a:r>
            <a:endParaRPr/>
          </a:p>
          <a:p>
            <a:pPr indent="0" lvl="0" marL="0" rtl="0" algn="l">
              <a:lnSpc>
                <a:spcPct val="100000"/>
              </a:lnSpc>
              <a:spcBef>
                <a:spcPts val="320"/>
              </a:spcBef>
              <a:spcAft>
                <a:spcPts val="0"/>
              </a:spcAft>
              <a:buSzPts val="1600"/>
              <a:buNone/>
            </a:pPr>
            <a:r>
              <a:t/>
            </a:r>
            <a:endParaRPr sz="1600">
              <a:solidFill>
                <a:srgbClr val="000000"/>
              </a:solidFill>
            </a:endParaRPr>
          </a:p>
        </p:txBody>
      </p:sp>
      <p:graphicFrame>
        <p:nvGraphicFramePr>
          <p:cNvPr id="526" name="Google Shape;526;p39"/>
          <p:cNvGraphicFramePr/>
          <p:nvPr/>
        </p:nvGraphicFramePr>
        <p:xfrm>
          <a:off x="532337" y="2892670"/>
          <a:ext cx="3000000" cy="3000000"/>
        </p:xfrm>
        <a:graphic>
          <a:graphicData uri="http://schemas.openxmlformats.org/drawingml/2006/table">
            <a:tbl>
              <a:tblPr bandRow="1" firstRow="1">
                <a:noFill/>
                <a:tableStyleId>{D8C263E1-B3EF-47A4-AEA2-D0D936B171C2}</a:tableStyleId>
              </a:tblPr>
              <a:tblGrid>
                <a:gridCol w="2321400"/>
                <a:gridCol w="633050"/>
                <a:gridCol w="3878675"/>
                <a:gridCol w="1246225"/>
              </a:tblGrid>
              <a:tr h="152400">
                <a:tc>
                  <a:txBody>
                    <a:bodyPr/>
                    <a:lstStyle/>
                    <a:p>
                      <a:pPr indent="0" lvl="0" marL="0" marR="0" rtl="0" algn="l">
                        <a:spcBef>
                          <a:spcPts val="0"/>
                        </a:spcBef>
                        <a:spcAft>
                          <a:spcPts val="0"/>
                        </a:spcAft>
                        <a:buNone/>
                      </a:pPr>
                      <a:r>
                        <a:rPr lang="en-US" sz="1200"/>
                        <a:t>QoS Tools</a:t>
                      </a:r>
                      <a:endParaRPr/>
                    </a:p>
                  </a:txBody>
                  <a:tcPr marT="45725" marB="45725" marR="91450" marL="91450"/>
                </a:tc>
                <a:tc>
                  <a:txBody>
                    <a:bodyPr/>
                    <a:lstStyle/>
                    <a:p>
                      <a:pPr indent="0" lvl="0" marL="0" marR="0" rtl="0" algn="l">
                        <a:spcBef>
                          <a:spcPts val="0"/>
                        </a:spcBef>
                        <a:spcAft>
                          <a:spcPts val="0"/>
                        </a:spcAft>
                        <a:buNone/>
                      </a:pPr>
                      <a:r>
                        <a:rPr lang="en-US" sz="1200"/>
                        <a:t>Layer</a:t>
                      </a:r>
                      <a:endParaRPr/>
                    </a:p>
                  </a:txBody>
                  <a:tcPr marT="45725" marB="45725" marR="91450" marL="91450"/>
                </a:tc>
                <a:tc>
                  <a:txBody>
                    <a:bodyPr/>
                    <a:lstStyle/>
                    <a:p>
                      <a:pPr indent="0" lvl="0" marL="0" marR="0" rtl="0" algn="l">
                        <a:spcBef>
                          <a:spcPts val="0"/>
                        </a:spcBef>
                        <a:spcAft>
                          <a:spcPts val="0"/>
                        </a:spcAft>
                        <a:buNone/>
                      </a:pPr>
                      <a:r>
                        <a:rPr lang="en-US" sz="1200"/>
                        <a:t>Marking Field</a:t>
                      </a:r>
                      <a:endParaRPr/>
                    </a:p>
                  </a:txBody>
                  <a:tcPr marT="45725" marB="45725" marR="91450" marL="91450"/>
                </a:tc>
                <a:tc>
                  <a:txBody>
                    <a:bodyPr/>
                    <a:lstStyle/>
                    <a:p>
                      <a:pPr indent="0" lvl="0" marL="0" marR="0" rtl="0" algn="l">
                        <a:spcBef>
                          <a:spcPts val="0"/>
                        </a:spcBef>
                        <a:spcAft>
                          <a:spcPts val="0"/>
                        </a:spcAft>
                        <a:buNone/>
                      </a:pPr>
                      <a:r>
                        <a:rPr lang="en-US" sz="1200"/>
                        <a:t>Width in Bits</a:t>
                      </a:r>
                      <a:endParaRPr/>
                    </a:p>
                  </a:txBody>
                  <a:tcPr marT="45725" marB="45725" marR="91450" marL="91450"/>
                </a:tc>
              </a:tr>
              <a:tr h="132450">
                <a:tc>
                  <a:txBody>
                    <a:bodyPr/>
                    <a:lstStyle/>
                    <a:p>
                      <a:pPr indent="0" lvl="0" marL="0" marR="0" rtl="0" algn="l">
                        <a:spcBef>
                          <a:spcPts val="0"/>
                        </a:spcBef>
                        <a:spcAft>
                          <a:spcPts val="0"/>
                        </a:spcAft>
                        <a:buClr>
                          <a:schemeClr val="dk1"/>
                        </a:buClr>
                        <a:buSzPts val="1200"/>
                        <a:buFont typeface="Arial"/>
                        <a:buNone/>
                      </a:pPr>
                      <a:r>
                        <a:rPr lang="en-US" sz="1200"/>
                        <a:t>Ethernet (802.1q, 802.1p)</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lang="en-US" sz="1200"/>
                        <a:t>2</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lang="en-US" sz="1200"/>
                        <a:t>Class of Service (CoS)</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lang="en-US" sz="1200"/>
                        <a:t>3</a:t>
                      </a:r>
                      <a:endParaRPr/>
                    </a:p>
                  </a:txBody>
                  <a:tcPr marT="45725" marB="45725" marR="91450" marL="91450"/>
                </a:tc>
              </a:tr>
              <a:tr h="132450">
                <a:tc>
                  <a:txBody>
                    <a:bodyPr/>
                    <a:lstStyle/>
                    <a:p>
                      <a:pPr indent="0" lvl="0" marL="0" marR="0" rtl="0" algn="l">
                        <a:spcBef>
                          <a:spcPts val="0"/>
                        </a:spcBef>
                        <a:spcAft>
                          <a:spcPts val="0"/>
                        </a:spcAft>
                        <a:buClr>
                          <a:schemeClr val="dk1"/>
                        </a:buClr>
                        <a:buSzPts val="1200"/>
                        <a:buFont typeface="Arial"/>
                        <a:buNone/>
                      </a:pPr>
                      <a:r>
                        <a:rPr lang="en-US" sz="1200"/>
                        <a:t>802.11 (Wi-Fi)</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lang="en-US" sz="1200"/>
                        <a:t>2</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lang="en-US" sz="1200"/>
                        <a:t>Wi-Fi Traffic Identifier (TID)</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lang="en-US" sz="1200"/>
                        <a:t>3</a:t>
                      </a:r>
                      <a:endParaRPr/>
                    </a:p>
                  </a:txBody>
                  <a:tcPr marT="45725" marB="45725" marR="91450" marL="91450"/>
                </a:tc>
              </a:tr>
              <a:tr h="132450">
                <a:tc>
                  <a:txBody>
                    <a:bodyPr/>
                    <a:lstStyle/>
                    <a:p>
                      <a:pPr indent="0" lvl="0" marL="0" marR="0" rtl="0" algn="l">
                        <a:spcBef>
                          <a:spcPts val="0"/>
                        </a:spcBef>
                        <a:spcAft>
                          <a:spcPts val="0"/>
                        </a:spcAft>
                        <a:buClr>
                          <a:schemeClr val="dk1"/>
                        </a:buClr>
                        <a:buSzPts val="1200"/>
                        <a:buFont typeface="Arial"/>
                        <a:buNone/>
                      </a:pPr>
                      <a:r>
                        <a:rPr lang="en-US" sz="1200"/>
                        <a:t>MPLS</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lang="en-US" sz="1200"/>
                        <a:t>2</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lang="en-US" sz="1200"/>
                        <a:t>Experimental (EXP)</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lang="en-US" sz="1200"/>
                        <a:t>3</a:t>
                      </a:r>
                      <a:endParaRPr/>
                    </a:p>
                  </a:txBody>
                  <a:tcPr marT="45725" marB="45725" marR="91450" marL="91450"/>
                </a:tc>
              </a:tr>
              <a:tr h="152400">
                <a:tc>
                  <a:txBody>
                    <a:bodyPr/>
                    <a:lstStyle/>
                    <a:p>
                      <a:pPr indent="0" lvl="0" marL="0" marR="0" rtl="0" algn="l">
                        <a:spcBef>
                          <a:spcPts val="0"/>
                        </a:spcBef>
                        <a:spcAft>
                          <a:spcPts val="0"/>
                        </a:spcAft>
                        <a:buClr>
                          <a:schemeClr val="dk1"/>
                        </a:buClr>
                        <a:buSzPts val="1200"/>
                        <a:buFont typeface="Arial"/>
                        <a:buNone/>
                      </a:pPr>
                      <a:r>
                        <a:rPr lang="en-US" sz="1200"/>
                        <a:t>IPv4 and IPv6</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lang="en-US" sz="1200"/>
                        <a:t>3</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lang="en-US" sz="1200"/>
                        <a:t>IP Precedence (IPP)</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lang="en-US" sz="1200"/>
                        <a:t>3</a:t>
                      </a:r>
                      <a:endParaRPr/>
                    </a:p>
                  </a:txBody>
                  <a:tcPr marT="45725" marB="45725" marR="91450" marL="91450"/>
                </a:tc>
              </a:tr>
              <a:tr h="191200">
                <a:tc>
                  <a:txBody>
                    <a:bodyPr/>
                    <a:lstStyle/>
                    <a:p>
                      <a:pPr indent="0" lvl="0" marL="0" marR="0" rtl="0" algn="l">
                        <a:spcBef>
                          <a:spcPts val="0"/>
                        </a:spcBef>
                        <a:spcAft>
                          <a:spcPts val="0"/>
                        </a:spcAft>
                        <a:buClr>
                          <a:schemeClr val="dk1"/>
                        </a:buClr>
                        <a:buSzPts val="1200"/>
                        <a:buFont typeface="Arial"/>
                        <a:buNone/>
                      </a:pPr>
                      <a:r>
                        <a:rPr lang="en-US" sz="1200"/>
                        <a:t>IPv4 and IPv6</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lang="en-US" sz="1200"/>
                        <a:t>3</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lang="en-US" sz="1200"/>
                        <a:t>Differentiated Services Code Point (DSCP)</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lang="en-US" sz="1200"/>
                        <a:t>6</a:t>
                      </a:r>
                      <a:endParaRPr/>
                    </a:p>
                  </a:txBody>
                  <a:tcPr marT="45725" marB="45725" marR="91450" marL="91450"/>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40"/>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QoS Implementation Techniques</a:t>
            </a:r>
            <a:br>
              <a:rPr lang="en-US"/>
            </a:br>
            <a:r>
              <a:rPr lang="en-US" sz="2400"/>
              <a:t>Marking at Layer 2</a:t>
            </a:r>
            <a:endParaRPr/>
          </a:p>
        </p:txBody>
      </p:sp>
      <p:sp>
        <p:nvSpPr>
          <p:cNvPr id="533" name="Google Shape;533;p40"/>
          <p:cNvSpPr txBox="1"/>
          <p:nvPr>
            <p:ph idx="1" type="body"/>
          </p:nvPr>
        </p:nvSpPr>
        <p:spPr>
          <a:xfrm>
            <a:off x="431972" y="855418"/>
            <a:ext cx="7913516" cy="107707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802.1Q is the IEEE standard that supports VLAN tagging at Layer 2 on Ethernet networks. When 802.1Q is implemented, two fields are inserted into the Ethernet frame following the source MAC address field.</a:t>
            </a:r>
            <a:endParaRPr/>
          </a:p>
        </p:txBody>
      </p:sp>
      <p:pic>
        <p:nvPicPr>
          <p:cNvPr id="534" name="Google Shape;534;p40"/>
          <p:cNvPicPr preferRelativeResize="0"/>
          <p:nvPr/>
        </p:nvPicPr>
        <p:blipFill rotWithShape="1">
          <a:blip r:embed="rId3">
            <a:alphaModFix/>
          </a:blip>
          <a:srcRect b="0" l="0" r="0" t="0"/>
          <a:stretch/>
        </p:blipFill>
        <p:spPr>
          <a:xfrm>
            <a:off x="1630457" y="2038035"/>
            <a:ext cx="5516545" cy="256221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41"/>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QoS Implementation Techniques</a:t>
            </a:r>
            <a:br>
              <a:rPr lang="en-US"/>
            </a:br>
            <a:r>
              <a:rPr lang="en-US" sz="2400"/>
              <a:t>Marking at Layer 2 (Cont.)</a:t>
            </a:r>
            <a:endParaRPr/>
          </a:p>
        </p:txBody>
      </p:sp>
      <p:sp>
        <p:nvSpPr>
          <p:cNvPr id="541" name="Google Shape;541;p41"/>
          <p:cNvSpPr txBox="1"/>
          <p:nvPr>
            <p:ph idx="1" type="body"/>
          </p:nvPr>
        </p:nvSpPr>
        <p:spPr>
          <a:xfrm>
            <a:off x="339365" y="810705"/>
            <a:ext cx="8672660" cy="1574275"/>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The 802.1Q standard also includes the QoS prioritization scheme known as IEEE 802.1p. The 802.1p standard uses the first three bits in the Tag Control Information (TCI) field. Known as the Priority (PRI) field, this 3-bit field identifies the Class of Service (CoS) markings.</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Three bits means that a Layer 2 Ethernet frame can be marked with one of eight levels of priority (values 0-7).</a:t>
            </a:r>
            <a:endParaRPr/>
          </a:p>
        </p:txBody>
      </p:sp>
      <p:graphicFrame>
        <p:nvGraphicFramePr>
          <p:cNvPr id="542" name="Google Shape;542;p41"/>
          <p:cNvGraphicFramePr/>
          <p:nvPr/>
        </p:nvGraphicFramePr>
        <p:xfrm>
          <a:off x="431972" y="2467659"/>
          <a:ext cx="3000000" cy="3000000"/>
        </p:xfrm>
        <a:graphic>
          <a:graphicData uri="http://schemas.openxmlformats.org/drawingml/2006/table">
            <a:tbl>
              <a:tblPr bandRow="1" firstRow="1">
                <a:noFill/>
                <a:tableStyleId>{D8C263E1-B3EF-47A4-AEA2-D0D936B171C2}</a:tableStyleId>
              </a:tblPr>
              <a:tblGrid>
                <a:gridCol w="2761725"/>
                <a:gridCol w="1800325"/>
                <a:gridCol w="3567175"/>
              </a:tblGrid>
              <a:tr h="152400">
                <a:tc>
                  <a:txBody>
                    <a:bodyPr/>
                    <a:lstStyle/>
                    <a:p>
                      <a:pPr indent="0" lvl="0" marL="0" marR="0" rtl="0" algn="l">
                        <a:spcBef>
                          <a:spcPts val="0"/>
                        </a:spcBef>
                        <a:spcAft>
                          <a:spcPts val="0"/>
                        </a:spcAft>
                        <a:buNone/>
                      </a:pPr>
                      <a:r>
                        <a:rPr lang="en-US" sz="1200"/>
                        <a:t>CoS Value</a:t>
                      </a:r>
                      <a:endParaRPr/>
                    </a:p>
                  </a:txBody>
                  <a:tcPr marT="45725" marB="45725" marR="91450" marL="91450"/>
                </a:tc>
                <a:tc>
                  <a:txBody>
                    <a:bodyPr/>
                    <a:lstStyle/>
                    <a:p>
                      <a:pPr indent="0" lvl="0" marL="0" marR="0" rtl="0" algn="l">
                        <a:spcBef>
                          <a:spcPts val="0"/>
                        </a:spcBef>
                        <a:spcAft>
                          <a:spcPts val="0"/>
                        </a:spcAft>
                        <a:buNone/>
                      </a:pPr>
                      <a:r>
                        <a:rPr lang="en-US" sz="1200"/>
                        <a:t>CoS Binary Value</a:t>
                      </a:r>
                      <a:endParaRPr/>
                    </a:p>
                  </a:txBody>
                  <a:tcPr marT="45725" marB="45725" marR="91450" marL="91450"/>
                </a:tc>
                <a:tc>
                  <a:txBody>
                    <a:bodyPr/>
                    <a:lstStyle/>
                    <a:p>
                      <a:pPr indent="0" lvl="0" marL="0" marR="0" rtl="0" algn="l">
                        <a:spcBef>
                          <a:spcPts val="0"/>
                        </a:spcBef>
                        <a:spcAft>
                          <a:spcPts val="0"/>
                        </a:spcAft>
                        <a:buNone/>
                      </a:pPr>
                      <a:r>
                        <a:rPr lang="en-US" sz="1200"/>
                        <a:t>Description</a:t>
                      </a:r>
                      <a:endParaRPr/>
                    </a:p>
                  </a:txBody>
                  <a:tcPr marT="45725" marB="45725" marR="91450" marL="91450"/>
                </a:tc>
              </a:tr>
              <a:tr h="132450">
                <a:tc>
                  <a:txBody>
                    <a:bodyPr/>
                    <a:lstStyle/>
                    <a:p>
                      <a:pPr indent="0" lvl="0" marL="0" marR="0" rtl="0" algn="l">
                        <a:spcBef>
                          <a:spcPts val="0"/>
                        </a:spcBef>
                        <a:spcAft>
                          <a:spcPts val="0"/>
                        </a:spcAft>
                        <a:buClr>
                          <a:schemeClr val="dk1"/>
                        </a:buClr>
                        <a:buSzPts val="1200"/>
                        <a:buFont typeface="Arial"/>
                        <a:buNone/>
                      </a:pPr>
                      <a:r>
                        <a:rPr lang="en-US" sz="1200"/>
                        <a:t>0</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lang="en-US" sz="1200"/>
                        <a:t>000</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lang="en-US" sz="1200"/>
                        <a:t>Best-Effort Data</a:t>
                      </a:r>
                      <a:endParaRPr/>
                    </a:p>
                  </a:txBody>
                  <a:tcPr marT="45725" marB="45725" marR="91450" marL="91450"/>
                </a:tc>
              </a:tr>
              <a:tr h="132450">
                <a:tc>
                  <a:txBody>
                    <a:bodyPr/>
                    <a:lstStyle/>
                    <a:p>
                      <a:pPr indent="0" lvl="0" marL="0" marR="0" rtl="0" algn="l">
                        <a:spcBef>
                          <a:spcPts val="0"/>
                        </a:spcBef>
                        <a:spcAft>
                          <a:spcPts val="0"/>
                        </a:spcAft>
                        <a:buClr>
                          <a:schemeClr val="dk1"/>
                        </a:buClr>
                        <a:buSzPts val="1200"/>
                        <a:buFont typeface="Arial"/>
                        <a:buNone/>
                      </a:pPr>
                      <a:r>
                        <a:rPr lang="en-US" sz="1200"/>
                        <a:t>1</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lang="en-US" sz="1200"/>
                        <a:t>001</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lang="en-US" sz="1200"/>
                        <a:t>Medium-Priority Data</a:t>
                      </a:r>
                      <a:endParaRPr/>
                    </a:p>
                  </a:txBody>
                  <a:tcPr marT="45725" marB="45725" marR="91450" marL="91450"/>
                </a:tc>
              </a:tr>
              <a:tr h="132450">
                <a:tc>
                  <a:txBody>
                    <a:bodyPr/>
                    <a:lstStyle/>
                    <a:p>
                      <a:pPr indent="0" lvl="0" marL="0" marR="0" rtl="0" algn="l">
                        <a:spcBef>
                          <a:spcPts val="0"/>
                        </a:spcBef>
                        <a:spcAft>
                          <a:spcPts val="0"/>
                        </a:spcAft>
                        <a:buClr>
                          <a:schemeClr val="dk1"/>
                        </a:buClr>
                        <a:buSzPts val="1200"/>
                        <a:buFont typeface="Arial"/>
                        <a:buNone/>
                      </a:pPr>
                      <a:r>
                        <a:rPr lang="en-US" sz="1200"/>
                        <a:t>2</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lang="en-US" sz="1200"/>
                        <a:t>010</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lang="en-US" sz="1200"/>
                        <a:t>High-Priority Data</a:t>
                      </a:r>
                      <a:endParaRPr/>
                    </a:p>
                  </a:txBody>
                  <a:tcPr marT="45725" marB="45725" marR="91450" marL="91450"/>
                </a:tc>
              </a:tr>
              <a:tr h="132450">
                <a:tc>
                  <a:txBody>
                    <a:bodyPr/>
                    <a:lstStyle/>
                    <a:p>
                      <a:pPr indent="0" lvl="0" marL="0" marR="0" rtl="0" algn="l">
                        <a:spcBef>
                          <a:spcPts val="0"/>
                        </a:spcBef>
                        <a:spcAft>
                          <a:spcPts val="0"/>
                        </a:spcAft>
                        <a:buClr>
                          <a:schemeClr val="dk1"/>
                        </a:buClr>
                        <a:buSzPts val="1200"/>
                        <a:buFont typeface="Arial"/>
                        <a:buNone/>
                      </a:pPr>
                      <a:r>
                        <a:rPr lang="en-US" sz="1200"/>
                        <a:t>3</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lang="en-US" sz="1200"/>
                        <a:t>011</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lang="en-US" sz="1200"/>
                        <a:t>Call Signaling</a:t>
                      </a:r>
                      <a:endParaRPr/>
                    </a:p>
                  </a:txBody>
                  <a:tcPr marT="45725" marB="45725" marR="91450" marL="91450"/>
                </a:tc>
              </a:tr>
              <a:tr h="132450">
                <a:tc>
                  <a:txBody>
                    <a:bodyPr/>
                    <a:lstStyle/>
                    <a:p>
                      <a:pPr indent="0" lvl="0" marL="0" marR="0" rtl="0" algn="l">
                        <a:spcBef>
                          <a:spcPts val="0"/>
                        </a:spcBef>
                        <a:spcAft>
                          <a:spcPts val="0"/>
                        </a:spcAft>
                        <a:buClr>
                          <a:schemeClr val="dk1"/>
                        </a:buClr>
                        <a:buSzPts val="1200"/>
                        <a:buFont typeface="Arial"/>
                        <a:buNone/>
                      </a:pPr>
                      <a:r>
                        <a:rPr lang="en-US" sz="1200"/>
                        <a:t>4</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lang="en-US" sz="1200"/>
                        <a:t>100</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lang="en-US" sz="1200"/>
                        <a:t>Videoconferencing</a:t>
                      </a:r>
                      <a:endParaRPr/>
                    </a:p>
                  </a:txBody>
                  <a:tcPr marT="45725" marB="45725" marR="91450" marL="91450"/>
                </a:tc>
              </a:tr>
              <a:tr h="132450">
                <a:tc>
                  <a:txBody>
                    <a:bodyPr/>
                    <a:lstStyle/>
                    <a:p>
                      <a:pPr indent="0" lvl="0" marL="0" marR="0" rtl="0" algn="l">
                        <a:spcBef>
                          <a:spcPts val="0"/>
                        </a:spcBef>
                        <a:spcAft>
                          <a:spcPts val="0"/>
                        </a:spcAft>
                        <a:buClr>
                          <a:schemeClr val="dk1"/>
                        </a:buClr>
                        <a:buSzPts val="1200"/>
                        <a:buFont typeface="Arial"/>
                        <a:buNone/>
                      </a:pPr>
                      <a:r>
                        <a:rPr lang="en-US" sz="1200"/>
                        <a:t>5</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lang="en-US" sz="1200"/>
                        <a:t>101</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lang="en-US" sz="1200"/>
                        <a:t>Voice bearer (voice traffic)</a:t>
                      </a:r>
                      <a:endParaRPr/>
                    </a:p>
                  </a:txBody>
                  <a:tcPr marT="45725" marB="45725" marR="91450" marL="91450"/>
                </a:tc>
              </a:tr>
              <a:tr h="152400">
                <a:tc>
                  <a:txBody>
                    <a:bodyPr/>
                    <a:lstStyle/>
                    <a:p>
                      <a:pPr indent="0" lvl="0" marL="0" marR="0" rtl="0" algn="l">
                        <a:spcBef>
                          <a:spcPts val="0"/>
                        </a:spcBef>
                        <a:spcAft>
                          <a:spcPts val="0"/>
                        </a:spcAft>
                        <a:buClr>
                          <a:schemeClr val="dk1"/>
                        </a:buClr>
                        <a:buSzPts val="1200"/>
                        <a:buFont typeface="Arial"/>
                        <a:buNone/>
                      </a:pPr>
                      <a:r>
                        <a:rPr lang="en-US" sz="1200"/>
                        <a:t>6</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lang="en-US" sz="1200"/>
                        <a:t>110</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lang="en-US" sz="1200"/>
                        <a:t>Reserved</a:t>
                      </a:r>
                      <a:endParaRPr/>
                    </a:p>
                  </a:txBody>
                  <a:tcPr marT="45725" marB="45725" marR="91450" marL="91450"/>
                </a:tc>
              </a:tr>
              <a:tr h="191200">
                <a:tc>
                  <a:txBody>
                    <a:bodyPr/>
                    <a:lstStyle/>
                    <a:p>
                      <a:pPr indent="0" lvl="0" marL="0" marR="0" rtl="0" algn="l">
                        <a:spcBef>
                          <a:spcPts val="0"/>
                        </a:spcBef>
                        <a:spcAft>
                          <a:spcPts val="0"/>
                        </a:spcAft>
                        <a:buClr>
                          <a:schemeClr val="dk1"/>
                        </a:buClr>
                        <a:buSzPts val="1200"/>
                        <a:buFont typeface="Arial"/>
                        <a:buNone/>
                      </a:pPr>
                      <a:r>
                        <a:rPr lang="en-US" sz="1200"/>
                        <a:t>7</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lang="en-US" sz="1200"/>
                        <a:t>111</a:t>
                      </a:r>
                      <a:endParaRPr/>
                    </a:p>
                  </a:txBody>
                  <a:tcPr marT="45725" marB="45725" marR="91450" marL="91450"/>
                </a:tc>
                <a:tc>
                  <a:txBody>
                    <a:bodyPr/>
                    <a:lstStyle/>
                    <a:p>
                      <a:pPr indent="0" lvl="0" marL="0" marR="0" rtl="0" algn="l">
                        <a:spcBef>
                          <a:spcPts val="0"/>
                        </a:spcBef>
                        <a:spcAft>
                          <a:spcPts val="0"/>
                        </a:spcAft>
                        <a:buClr>
                          <a:schemeClr val="dk1"/>
                        </a:buClr>
                        <a:buSzPts val="1200"/>
                        <a:buFont typeface="Arial"/>
                        <a:buNone/>
                      </a:pPr>
                      <a:r>
                        <a:rPr lang="en-US" sz="1200"/>
                        <a:t>Reserved</a:t>
                      </a:r>
                      <a:endParaRPr/>
                    </a:p>
                  </a:txBody>
                  <a:tcPr marT="45725" marB="45725" marR="91450" marL="91450"/>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42"/>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QoS Implementation Techniques</a:t>
            </a:r>
            <a:br>
              <a:rPr lang="en-US"/>
            </a:br>
            <a:r>
              <a:rPr lang="en-US" sz="2400"/>
              <a:t>Marking at Layer 3</a:t>
            </a:r>
            <a:endParaRPr/>
          </a:p>
        </p:txBody>
      </p:sp>
      <p:sp>
        <p:nvSpPr>
          <p:cNvPr id="549" name="Google Shape;549;p42"/>
          <p:cNvSpPr txBox="1"/>
          <p:nvPr>
            <p:ph idx="1" type="body"/>
          </p:nvPr>
        </p:nvSpPr>
        <p:spPr>
          <a:xfrm>
            <a:off x="431972" y="855418"/>
            <a:ext cx="3918964" cy="313377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IPv4 and IPv6 specify an 8-bit field in their packet headers to mark packets. </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Both IPv4 and IPv6 support an 8-bit field for marking: the Type of Service (ToS) field for IPv4 and the Traffic Class field for IPv6.</a:t>
            </a:r>
            <a:endParaRPr/>
          </a:p>
        </p:txBody>
      </p:sp>
      <p:pic>
        <p:nvPicPr>
          <p:cNvPr id="550" name="Google Shape;550;p42"/>
          <p:cNvPicPr preferRelativeResize="0"/>
          <p:nvPr/>
        </p:nvPicPr>
        <p:blipFill rotWithShape="1">
          <a:blip r:embed="rId3">
            <a:alphaModFix/>
          </a:blip>
          <a:srcRect b="0" l="0" r="0" t="0"/>
          <a:stretch/>
        </p:blipFill>
        <p:spPr>
          <a:xfrm>
            <a:off x="4572000" y="1006143"/>
            <a:ext cx="4163096" cy="298305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43"/>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QoS Implementation Techniques</a:t>
            </a:r>
            <a:br>
              <a:rPr lang="en-US"/>
            </a:br>
            <a:r>
              <a:rPr lang="en-US" sz="2400"/>
              <a:t>Type of Service and Traffic Class Field</a:t>
            </a:r>
            <a:endParaRPr/>
          </a:p>
        </p:txBody>
      </p:sp>
      <p:sp>
        <p:nvSpPr>
          <p:cNvPr id="557" name="Google Shape;557;p43"/>
          <p:cNvSpPr txBox="1"/>
          <p:nvPr>
            <p:ph idx="1" type="body"/>
          </p:nvPr>
        </p:nvSpPr>
        <p:spPr>
          <a:xfrm>
            <a:off x="62979" y="731837"/>
            <a:ext cx="4730087" cy="3960743"/>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The Type of Service (IPv4) and Traffic Class (IPv6) carry the packet marking as assigned by the QoS classification tools.</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RFC 791 specified the 3-bit IP Precedence (IPP) field to be used for QoS markings.</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RFC 2474 supersedes RFC 791 and redefines the ToS field by renaming and extending the IPP field to 6 bits.</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Called the Differentiated Services Code Point (DSCP) field, these six bits offer a maximum of 64 possible classes of service.</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The remaining two IP Extended Congestion Notification (ECN) bits can be used by ECN-aware routers to mark packets instead of dropping them. </a:t>
            </a:r>
            <a:endParaRPr/>
          </a:p>
        </p:txBody>
      </p:sp>
      <p:pic>
        <p:nvPicPr>
          <p:cNvPr id="558" name="Google Shape;558;p43"/>
          <p:cNvPicPr preferRelativeResize="0"/>
          <p:nvPr/>
        </p:nvPicPr>
        <p:blipFill rotWithShape="1">
          <a:blip r:embed="rId3">
            <a:alphaModFix/>
          </a:blip>
          <a:srcRect b="0" l="0" r="0" t="0"/>
          <a:stretch/>
        </p:blipFill>
        <p:spPr>
          <a:xfrm>
            <a:off x="4793066" y="1349357"/>
            <a:ext cx="4287955" cy="263983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44"/>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QoS Implementation Techniques</a:t>
            </a:r>
            <a:br>
              <a:rPr lang="en-US"/>
            </a:br>
            <a:r>
              <a:rPr lang="en-US" sz="2400"/>
              <a:t>DSCP Values</a:t>
            </a:r>
            <a:endParaRPr/>
          </a:p>
        </p:txBody>
      </p:sp>
      <p:sp>
        <p:nvSpPr>
          <p:cNvPr id="565" name="Google Shape;565;p44"/>
          <p:cNvSpPr txBox="1"/>
          <p:nvPr>
            <p:ph idx="1" type="body"/>
          </p:nvPr>
        </p:nvSpPr>
        <p:spPr>
          <a:xfrm>
            <a:off x="431972" y="855418"/>
            <a:ext cx="7913516" cy="3837162"/>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The 64 DSCP values are organized into three categories:</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Best-Effort (BE)</a:t>
            </a:r>
            <a:r>
              <a:rPr lang="en-US" sz="1600">
                <a:solidFill>
                  <a:srgbClr val="000000"/>
                </a:solidFill>
              </a:rPr>
              <a:t> - This is the default for all IP packets. The DSCP value is 0. The per-hop behavior is normal routing. When a router experiences congestion, these packets will be dropped. No QoS plan is implemented.</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Expedited Forwarding (EF)</a:t>
            </a:r>
            <a:r>
              <a:rPr lang="en-US" sz="1600">
                <a:solidFill>
                  <a:srgbClr val="000000"/>
                </a:solidFill>
              </a:rPr>
              <a:t> - RFC 3246 defines EF as the DSCP decimal value 46 (binary </a:t>
            </a:r>
            <a:r>
              <a:rPr b="1" lang="en-US" sz="1600">
                <a:solidFill>
                  <a:srgbClr val="000000"/>
                </a:solidFill>
              </a:rPr>
              <a:t>101</a:t>
            </a:r>
            <a:r>
              <a:rPr lang="en-US" sz="1600">
                <a:solidFill>
                  <a:srgbClr val="000000"/>
                </a:solidFill>
              </a:rPr>
              <a:t>110). The first 3 bits (101) map directly to the Layer 2 CoS value 5 used for voice traffic. At Layer 3, Cisco recommends that EF only be used to mark voice packets.</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Assured Forwarding (AF)</a:t>
            </a:r>
            <a:r>
              <a:rPr lang="en-US" sz="1600">
                <a:solidFill>
                  <a:srgbClr val="000000"/>
                </a:solidFill>
              </a:rPr>
              <a:t> - RFC 2597 defines AF to use the 5 most significant DSCP bits to indicate queues and drop preference.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45"/>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QoS Implementation Techniques</a:t>
            </a:r>
            <a:br>
              <a:rPr lang="en-US"/>
            </a:br>
            <a:r>
              <a:rPr lang="en-US" sz="2400"/>
              <a:t>DSCP Values (Cont.)</a:t>
            </a:r>
            <a:endParaRPr/>
          </a:p>
        </p:txBody>
      </p:sp>
      <p:sp>
        <p:nvSpPr>
          <p:cNvPr id="572" name="Google Shape;572;p45"/>
          <p:cNvSpPr txBox="1"/>
          <p:nvPr>
            <p:ph idx="1" type="body"/>
          </p:nvPr>
        </p:nvSpPr>
        <p:spPr>
          <a:xfrm>
            <a:off x="431972" y="855418"/>
            <a:ext cx="4009399" cy="3220653"/>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Assured Forwarding values are shown in the figure.</a:t>
            </a:r>
            <a:endParaRPr/>
          </a:p>
          <a:p>
            <a:pPr indent="0" lvl="0" marL="0" rtl="0" algn="l">
              <a:lnSpc>
                <a:spcPct val="100000"/>
              </a:lnSpc>
              <a:spcBef>
                <a:spcPts val="320"/>
              </a:spcBef>
              <a:spcAft>
                <a:spcPts val="0"/>
              </a:spcAft>
              <a:buSzPts val="1600"/>
              <a:buNone/>
            </a:pPr>
            <a:r>
              <a:rPr lang="en-US" sz="1600">
                <a:solidFill>
                  <a:srgbClr val="000000"/>
                </a:solidFill>
              </a:rPr>
              <a:t>The </a:t>
            </a:r>
            <a:r>
              <a:rPr b="1" lang="en-US" sz="1600">
                <a:solidFill>
                  <a:srgbClr val="000000"/>
                </a:solidFill>
              </a:rPr>
              <a:t>AFxy</a:t>
            </a:r>
            <a:r>
              <a:rPr lang="en-US" sz="1600">
                <a:solidFill>
                  <a:srgbClr val="000000"/>
                </a:solidFill>
              </a:rPr>
              <a:t> formula is specified as follows:</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The first 3 most significant bits are used to designate the class. Class 4 is the best queue and Class 1 is the worst queue.</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The 4th and 5th most significant bits are used to designate the drop preference.</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The 6th most significant bit is set to zero.</a:t>
            </a:r>
            <a:endParaRPr/>
          </a:p>
          <a:p>
            <a:pPr indent="0" lvl="0" marL="0" rtl="0" algn="l">
              <a:lnSpc>
                <a:spcPct val="100000"/>
              </a:lnSpc>
              <a:spcBef>
                <a:spcPts val="320"/>
              </a:spcBef>
              <a:spcAft>
                <a:spcPts val="0"/>
              </a:spcAft>
              <a:buSzPts val="1600"/>
              <a:buNone/>
            </a:pPr>
            <a:r>
              <a:t/>
            </a:r>
            <a:endParaRPr sz="1600">
              <a:solidFill>
                <a:srgbClr val="000000"/>
              </a:solidFill>
            </a:endParaRPr>
          </a:p>
        </p:txBody>
      </p:sp>
      <p:sp>
        <p:nvSpPr>
          <p:cNvPr id="573" name="Google Shape;573;p45"/>
          <p:cNvSpPr/>
          <p:nvPr/>
        </p:nvSpPr>
        <p:spPr>
          <a:xfrm>
            <a:off x="1381731" y="4076071"/>
            <a:ext cx="638053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000000"/>
                </a:solidFill>
                <a:latin typeface="Arial"/>
                <a:ea typeface="Arial"/>
                <a:cs typeface="Arial"/>
                <a:sym typeface="Arial"/>
              </a:rPr>
              <a:t>For example: AF32 belongs to class 3 (binary 011) and has a medium drop preference (binary 10). The full DSCP value is 28 because you include the 6th 0 bit (binary 011100).</a:t>
            </a:r>
            <a:endParaRPr/>
          </a:p>
        </p:txBody>
      </p:sp>
      <p:pic>
        <p:nvPicPr>
          <p:cNvPr id="574" name="Google Shape;574;p45"/>
          <p:cNvPicPr preferRelativeResize="0"/>
          <p:nvPr/>
        </p:nvPicPr>
        <p:blipFill rotWithShape="1">
          <a:blip r:embed="rId3">
            <a:alphaModFix/>
          </a:blip>
          <a:srcRect b="0" l="0" r="0" t="0"/>
          <a:stretch/>
        </p:blipFill>
        <p:spPr>
          <a:xfrm>
            <a:off x="4550613" y="836596"/>
            <a:ext cx="4009399" cy="300265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46"/>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QoS Implementation Techniques</a:t>
            </a:r>
            <a:br>
              <a:rPr lang="en-US"/>
            </a:br>
            <a:r>
              <a:rPr lang="en-US" sz="2400"/>
              <a:t>Class Selector Bits</a:t>
            </a:r>
            <a:endParaRPr/>
          </a:p>
        </p:txBody>
      </p:sp>
      <p:sp>
        <p:nvSpPr>
          <p:cNvPr id="581" name="Google Shape;581;p46"/>
          <p:cNvSpPr txBox="1"/>
          <p:nvPr>
            <p:ph idx="1" type="body"/>
          </p:nvPr>
        </p:nvSpPr>
        <p:spPr>
          <a:xfrm>
            <a:off x="431972" y="855418"/>
            <a:ext cx="3265822" cy="2842001"/>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Class Selector (CS) bits:</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The first 3 most significant bits of the DSCP field and indicate the class.</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Map directly to the 3 bits of the CoS field and the IPP field to maintain compatibility with 802.1p and RFC 791.</a:t>
            </a:r>
            <a:endParaRPr sz="1400">
              <a:solidFill>
                <a:srgbClr val="000000"/>
              </a:solidFill>
            </a:endParaRPr>
          </a:p>
        </p:txBody>
      </p:sp>
      <p:pic>
        <p:nvPicPr>
          <p:cNvPr id="582" name="Google Shape;582;p46"/>
          <p:cNvPicPr preferRelativeResize="0"/>
          <p:nvPr/>
        </p:nvPicPr>
        <p:blipFill rotWithShape="1">
          <a:blip r:embed="rId3">
            <a:alphaModFix/>
          </a:blip>
          <a:srcRect b="0" l="0" r="0" t="0"/>
          <a:stretch/>
        </p:blipFill>
        <p:spPr>
          <a:xfrm>
            <a:off x="3981797" y="855418"/>
            <a:ext cx="4730231" cy="33046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47"/>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QoS Implementation Techniques</a:t>
            </a:r>
            <a:br>
              <a:rPr lang="en-US"/>
            </a:br>
            <a:r>
              <a:rPr lang="en-US" sz="2400"/>
              <a:t>Trust Boundaries</a:t>
            </a:r>
            <a:endParaRPr/>
          </a:p>
        </p:txBody>
      </p:sp>
      <p:sp>
        <p:nvSpPr>
          <p:cNvPr id="589" name="Google Shape;589;p47"/>
          <p:cNvSpPr txBox="1"/>
          <p:nvPr>
            <p:ph idx="1" type="body"/>
          </p:nvPr>
        </p:nvSpPr>
        <p:spPr>
          <a:xfrm>
            <a:off x="431972" y="855419"/>
            <a:ext cx="8189514" cy="1510709"/>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Traffic should be classified and marked as close to its source as technically and administratively feasible. This defines the trust boundary.</a:t>
            </a:r>
            <a:endParaRPr/>
          </a:p>
          <a:p>
            <a:pPr indent="-342900" lvl="0" marL="342900" rtl="0" algn="l">
              <a:lnSpc>
                <a:spcPct val="100000"/>
              </a:lnSpc>
              <a:spcBef>
                <a:spcPts val="280"/>
              </a:spcBef>
              <a:spcAft>
                <a:spcPts val="0"/>
              </a:spcAft>
              <a:buSzPts val="1400"/>
              <a:buFont typeface="Arial"/>
              <a:buAutoNum type="arabicPeriod"/>
            </a:pPr>
            <a:r>
              <a:rPr lang="en-US" sz="1400">
                <a:solidFill>
                  <a:srgbClr val="000000"/>
                </a:solidFill>
              </a:rPr>
              <a:t>Trusted endpoints have the capabilities and intelligence to mark application traffic to the appropriate Layer 2 CoS and/or Layer 3 DSCP values. </a:t>
            </a:r>
            <a:endParaRPr/>
          </a:p>
          <a:p>
            <a:pPr indent="-342900" lvl="0" marL="342900" rtl="0" algn="l">
              <a:lnSpc>
                <a:spcPct val="100000"/>
              </a:lnSpc>
              <a:spcBef>
                <a:spcPts val="280"/>
              </a:spcBef>
              <a:spcAft>
                <a:spcPts val="0"/>
              </a:spcAft>
              <a:buSzPts val="1400"/>
              <a:buFont typeface="Arial"/>
              <a:buAutoNum type="arabicPeriod"/>
            </a:pPr>
            <a:r>
              <a:rPr lang="en-US" sz="1400">
                <a:solidFill>
                  <a:srgbClr val="000000"/>
                </a:solidFill>
              </a:rPr>
              <a:t>Secure endpoints can have traffic marked at the Layer 2 switch.</a:t>
            </a:r>
            <a:endParaRPr/>
          </a:p>
          <a:p>
            <a:pPr indent="-342900" lvl="0" marL="342900" rtl="0" algn="l">
              <a:lnSpc>
                <a:spcPct val="100000"/>
              </a:lnSpc>
              <a:spcBef>
                <a:spcPts val="280"/>
              </a:spcBef>
              <a:spcAft>
                <a:spcPts val="0"/>
              </a:spcAft>
              <a:buSzPts val="1400"/>
              <a:buFont typeface="Arial"/>
              <a:buAutoNum type="arabicPeriod"/>
            </a:pPr>
            <a:r>
              <a:rPr lang="en-US" sz="1400">
                <a:solidFill>
                  <a:srgbClr val="000000"/>
                </a:solidFill>
              </a:rPr>
              <a:t>Traffic can also be marked at Layer 3 switches / routers.</a:t>
            </a:r>
            <a:endParaRPr/>
          </a:p>
          <a:p>
            <a:pPr indent="0" lvl="0" marL="0" rtl="0" algn="l">
              <a:lnSpc>
                <a:spcPct val="100000"/>
              </a:lnSpc>
              <a:spcBef>
                <a:spcPts val="280"/>
              </a:spcBef>
              <a:spcAft>
                <a:spcPts val="0"/>
              </a:spcAft>
              <a:buSzPts val="1400"/>
              <a:buNone/>
            </a:pPr>
            <a:r>
              <a:t/>
            </a:r>
            <a:endParaRPr sz="1400">
              <a:solidFill>
                <a:srgbClr val="000000"/>
              </a:solidFill>
            </a:endParaRPr>
          </a:p>
        </p:txBody>
      </p:sp>
      <p:pic>
        <p:nvPicPr>
          <p:cNvPr id="590" name="Google Shape;590;p47"/>
          <p:cNvPicPr preferRelativeResize="0"/>
          <p:nvPr/>
        </p:nvPicPr>
        <p:blipFill rotWithShape="1">
          <a:blip r:embed="rId3">
            <a:alphaModFix/>
          </a:blip>
          <a:srcRect b="0" l="0" r="0" t="0"/>
          <a:stretch/>
        </p:blipFill>
        <p:spPr>
          <a:xfrm>
            <a:off x="1431506" y="2501411"/>
            <a:ext cx="5385498" cy="22945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48"/>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QoS Implementation Techniques</a:t>
            </a:r>
            <a:br>
              <a:rPr lang="en-US"/>
            </a:br>
            <a:r>
              <a:rPr lang="en-US" sz="2400"/>
              <a:t>Congestion Avoidance</a:t>
            </a:r>
            <a:endParaRPr/>
          </a:p>
        </p:txBody>
      </p:sp>
      <p:sp>
        <p:nvSpPr>
          <p:cNvPr id="597" name="Google Shape;597;p48"/>
          <p:cNvSpPr txBox="1"/>
          <p:nvPr>
            <p:ph idx="1" type="body"/>
          </p:nvPr>
        </p:nvSpPr>
        <p:spPr>
          <a:xfrm>
            <a:off x="477243" y="843387"/>
            <a:ext cx="8189514" cy="390750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Congestion avoidance tools monitor network traffic loads in an effort to anticipate and avoid congestion at common network and internetwork bottlenecks before congestion becomes a problem.</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They monitor network traffic loads in an effort to anticipate and avoid congestion at common network and internetwork bottlenecks before congestion becomes a problem.</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They monitor the average depth of the queue. When the queue is below the minimum threshold, there are no drops. As the queue fills up to the maximum threshold, a small percentage of packets are dropped. When the maximum threshold is passed, all packets are dropped.</a:t>
            </a:r>
            <a:endParaRPr/>
          </a:p>
          <a:p>
            <a:pPr indent="0" lvl="0" marL="0" rtl="0" algn="l">
              <a:lnSpc>
                <a:spcPct val="100000"/>
              </a:lnSpc>
              <a:spcBef>
                <a:spcPts val="320"/>
              </a:spcBef>
              <a:spcAft>
                <a:spcPts val="0"/>
              </a:spcAft>
              <a:buSzPts val="1600"/>
              <a:buNone/>
            </a:pPr>
            <a:r>
              <a:rPr lang="en-US" sz="1600">
                <a:solidFill>
                  <a:srgbClr val="000000"/>
                </a:solidFill>
              </a:rPr>
              <a:t>Some congestion avoidance techniques provide preferential treatment for which packets get dropped.</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Weighted random early detection (WRED) allows for congestion avoidance on network interfaces by providing buffer management and allowing TCP traffic to decrease, or throttle back, before buffers are exhausted.</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WRED helps avoid tail drops and maximizes network use and TCP-based application performance.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49"/>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QoS Implementation Techniques</a:t>
            </a:r>
            <a:br>
              <a:rPr lang="en-US"/>
            </a:br>
            <a:r>
              <a:rPr lang="en-US" sz="2400"/>
              <a:t>Shaping and Policing</a:t>
            </a:r>
            <a:endParaRPr/>
          </a:p>
        </p:txBody>
      </p:sp>
      <p:sp>
        <p:nvSpPr>
          <p:cNvPr id="604" name="Google Shape;604;p49"/>
          <p:cNvSpPr txBox="1"/>
          <p:nvPr>
            <p:ph idx="1" type="body"/>
          </p:nvPr>
        </p:nvSpPr>
        <p:spPr>
          <a:xfrm>
            <a:off x="431972" y="855419"/>
            <a:ext cx="8189514" cy="1850074"/>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Traffic shaping and traffic policing are two mechanisms provided by Cisco IOS QoS software to prevent congestion.</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Traffic shaping retains excess packets in a queue and then schedules the excess for later transmission over increments of time. Traffic shaping results in a smoothed packet output rate.</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Shaping is an outbound concept; packets going out an interface get queued and can be shaped. In contrast, policing is applied to inbound traffic on an interface. </a:t>
            </a:r>
            <a:endParaRPr/>
          </a:p>
        </p:txBody>
      </p:sp>
      <p:pic>
        <p:nvPicPr>
          <p:cNvPr id="605" name="Google Shape;605;p49"/>
          <p:cNvPicPr preferRelativeResize="0"/>
          <p:nvPr/>
        </p:nvPicPr>
        <p:blipFill rotWithShape="1">
          <a:blip r:embed="rId3">
            <a:alphaModFix/>
          </a:blip>
          <a:srcRect b="0" l="0" r="0" t="0"/>
          <a:stretch/>
        </p:blipFill>
        <p:spPr>
          <a:xfrm>
            <a:off x="1353533" y="2809169"/>
            <a:ext cx="5850483" cy="206354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50"/>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QoS Implementation Techniques</a:t>
            </a:r>
            <a:br>
              <a:rPr lang="en-US"/>
            </a:br>
            <a:r>
              <a:rPr lang="en-US" sz="2400"/>
              <a:t>Shaping and Policing (Cont.)</a:t>
            </a:r>
            <a:endParaRPr/>
          </a:p>
        </p:txBody>
      </p:sp>
      <p:sp>
        <p:nvSpPr>
          <p:cNvPr id="612" name="Google Shape;612;p50"/>
          <p:cNvSpPr txBox="1"/>
          <p:nvPr>
            <p:ph idx="1" type="body"/>
          </p:nvPr>
        </p:nvSpPr>
        <p:spPr>
          <a:xfrm>
            <a:off x="431972" y="855419"/>
            <a:ext cx="8189514" cy="1482428"/>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Policing is applied to inbound traffic on an interface. Policing is commonly implemented by service providers to enforce a contracted customer information rate (CIR). However, the service provider may also allow bursting over the CIR if the service provider’s network is not currently experiencing congestion.</a:t>
            </a:r>
            <a:endParaRPr/>
          </a:p>
        </p:txBody>
      </p:sp>
      <p:pic>
        <p:nvPicPr>
          <p:cNvPr id="613" name="Google Shape;613;p50"/>
          <p:cNvPicPr preferRelativeResize="0"/>
          <p:nvPr/>
        </p:nvPicPr>
        <p:blipFill rotWithShape="1">
          <a:blip r:embed="rId3">
            <a:alphaModFix/>
          </a:blip>
          <a:srcRect b="0" l="0" r="0" t="0"/>
          <a:stretch/>
        </p:blipFill>
        <p:spPr>
          <a:xfrm>
            <a:off x="1431658" y="2571750"/>
            <a:ext cx="5987742" cy="210879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51"/>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QoS Implementation Techniques</a:t>
            </a:r>
            <a:br>
              <a:rPr lang="en-US"/>
            </a:br>
            <a:r>
              <a:rPr lang="en-US" sz="2400"/>
              <a:t>QoS Policy Guidelines</a:t>
            </a:r>
            <a:endParaRPr/>
          </a:p>
        </p:txBody>
      </p:sp>
      <p:sp>
        <p:nvSpPr>
          <p:cNvPr id="620" name="Google Shape;620;p51"/>
          <p:cNvSpPr txBox="1"/>
          <p:nvPr>
            <p:ph idx="1" type="body"/>
          </p:nvPr>
        </p:nvSpPr>
        <p:spPr>
          <a:xfrm>
            <a:off x="431972" y="855419"/>
            <a:ext cx="8189514" cy="3584606"/>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QoS policies must consider the full path from source to destination.</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A few guidelines that help ensure the best experience for end users includes the following:</a:t>
            </a:r>
            <a:endParaRPr/>
          </a:p>
          <a:p>
            <a:pPr indent="-285750" lvl="1" marL="358835" rtl="0" algn="l">
              <a:lnSpc>
                <a:spcPct val="95000"/>
              </a:lnSpc>
              <a:spcBef>
                <a:spcPts val="600"/>
              </a:spcBef>
              <a:spcAft>
                <a:spcPts val="0"/>
              </a:spcAft>
              <a:buSzPts val="1600"/>
              <a:buFont typeface="Arial"/>
              <a:buChar char="•"/>
            </a:pPr>
            <a:r>
              <a:rPr lang="en-US" sz="1600">
                <a:solidFill>
                  <a:srgbClr val="000000"/>
                </a:solidFill>
              </a:rPr>
              <a:t>Enable queuing at every device in the path between source and destination.</a:t>
            </a:r>
            <a:endParaRPr/>
          </a:p>
          <a:p>
            <a:pPr indent="-285750" lvl="1" marL="358835" rtl="0" algn="l">
              <a:lnSpc>
                <a:spcPct val="95000"/>
              </a:lnSpc>
              <a:spcBef>
                <a:spcPts val="600"/>
              </a:spcBef>
              <a:spcAft>
                <a:spcPts val="0"/>
              </a:spcAft>
              <a:buSzPts val="1600"/>
              <a:buFont typeface="Arial"/>
              <a:buChar char="•"/>
            </a:pPr>
            <a:r>
              <a:rPr lang="en-US" sz="1600">
                <a:solidFill>
                  <a:srgbClr val="000000"/>
                </a:solidFill>
              </a:rPr>
              <a:t>Classify and mark traffic as close the source as possible.</a:t>
            </a:r>
            <a:endParaRPr/>
          </a:p>
          <a:p>
            <a:pPr indent="-285750" lvl="1" marL="358835" rtl="0" algn="l">
              <a:lnSpc>
                <a:spcPct val="95000"/>
              </a:lnSpc>
              <a:spcBef>
                <a:spcPts val="600"/>
              </a:spcBef>
              <a:spcAft>
                <a:spcPts val="0"/>
              </a:spcAft>
              <a:buSzPts val="1600"/>
              <a:buFont typeface="Arial"/>
              <a:buChar char="•"/>
            </a:pPr>
            <a:r>
              <a:rPr lang="en-US" sz="1600">
                <a:solidFill>
                  <a:srgbClr val="000000"/>
                </a:solidFill>
              </a:rPr>
              <a:t>Shape and police traffic flows as close to their sources as possible.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52"/>
          <p:cNvSpPr txBox="1"/>
          <p:nvPr>
            <p:ph type="ctrTitle"/>
          </p:nvPr>
        </p:nvSpPr>
        <p:spPr>
          <a:xfrm>
            <a:off x="416425" y="1747520"/>
            <a:ext cx="8280314" cy="97028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9.6 Module Practice and Quiz</a:t>
            </a:r>
            <a:endParaRPr/>
          </a:p>
        </p:txBody>
      </p:sp>
    </p:spTree>
  </p:cSld>
  <p:clrMapOvr>
    <a:masterClrMapping/>
  </p:clrMapOvr>
  <p:transition spd="slow">
    <p:wipe dir="l"/>
  </p:transition>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53"/>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sz="1400">
                <a:latin typeface="Arial"/>
                <a:ea typeface="Arial"/>
                <a:cs typeface="Arial"/>
                <a:sym typeface="Arial"/>
              </a:rPr>
              <a:t>Module Practice and Quiz</a:t>
            </a:r>
            <a:br>
              <a:rPr lang="en-US">
                <a:latin typeface="Arial"/>
                <a:ea typeface="Arial"/>
                <a:cs typeface="Arial"/>
                <a:sym typeface="Arial"/>
              </a:rPr>
            </a:br>
            <a:r>
              <a:rPr lang="en-US">
                <a:latin typeface="Arial"/>
                <a:ea typeface="Arial"/>
                <a:cs typeface="Arial"/>
                <a:sym typeface="Arial"/>
              </a:rPr>
              <a:t>What did I learn in this module?</a:t>
            </a:r>
            <a:endParaRPr/>
          </a:p>
        </p:txBody>
      </p:sp>
      <p:sp>
        <p:nvSpPr>
          <p:cNvPr id="633" name="Google Shape;633;p53"/>
          <p:cNvSpPr txBox="1"/>
          <p:nvPr>
            <p:ph idx="1" type="body"/>
          </p:nvPr>
        </p:nvSpPr>
        <p:spPr>
          <a:xfrm>
            <a:off x="144065" y="798945"/>
            <a:ext cx="8853286" cy="3754202"/>
          </a:xfrm>
          <a:prstGeom prst="rect">
            <a:avLst/>
          </a:prstGeom>
          <a:noFill/>
          <a:ln>
            <a:noFill/>
          </a:ln>
        </p:spPr>
        <p:txBody>
          <a:bodyPr anchorCtr="0" anchor="t" bIns="45700" lIns="91425" spcFirstLastPara="1" rIns="182875" wrap="square" tIns="45700">
            <a:noAutofit/>
          </a:bodyPr>
          <a:lstStyle/>
          <a:p>
            <a:pPr indent="-169863" lvl="0" marL="169863" rtl="0" algn="l">
              <a:lnSpc>
                <a:spcPct val="100000"/>
              </a:lnSpc>
              <a:spcBef>
                <a:spcPts val="0"/>
              </a:spcBef>
              <a:spcAft>
                <a:spcPts val="0"/>
              </a:spcAft>
              <a:buSzPts val="1440"/>
              <a:buFont typeface="Arial"/>
              <a:buChar char="•"/>
            </a:pPr>
            <a:r>
              <a:rPr lang="en-US" sz="1600"/>
              <a:t>Voice and live video transmissions create higher expectations for quality delivery among users, and create a need for Quality of Service (QoS).</a:t>
            </a:r>
            <a:endParaRPr/>
          </a:p>
          <a:p>
            <a:pPr indent="-169863" lvl="0" marL="169863" rtl="0" algn="l">
              <a:lnSpc>
                <a:spcPct val="100000"/>
              </a:lnSpc>
              <a:spcBef>
                <a:spcPts val="0"/>
              </a:spcBef>
              <a:spcAft>
                <a:spcPts val="0"/>
              </a:spcAft>
              <a:buSzPts val="1440"/>
              <a:buFont typeface="Arial"/>
              <a:buChar char="•"/>
            </a:pPr>
            <a:r>
              <a:rPr lang="en-US" sz="1600"/>
              <a:t>Without any QoS mechanisms in place, packets are processed in the order in which they are received. When congestion occurs, network devices such as routers and switches can drop packets.</a:t>
            </a:r>
            <a:endParaRPr/>
          </a:p>
          <a:p>
            <a:pPr indent="-169863" lvl="0" marL="169863" rtl="0" algn="l">
              <a:lnSpc>
                <a:spcPct val="100000"/>
              </a:lnSpc>
              <a:spcBef>
                <a:spcPts val="0"/>
              </a:spcBef>
              <a:spcAft>
                <a:spcPts val="0"/>
              </a:spcAft>
              <a:buSzPts val="1440"/>
              <a:buFont typeface="Arial"/>
              <a:buChar char="•"/>
            </a:pPr>
            <a:r>
              <a:rPr lang="en-US" sz="1600"/>
              <a:t>Without any QoS time-sensitive packets, such as real-time video and voice, will be dropped with the same frequency as data that is not time-sensitive, such as email and web browsing. </a:t>
            </a:r>
            <a:endParaRPr/>
          </a:p>
          <a:p>
            <a:pPr indent="-169863" lvl="0" marL="169863" rtl="0" algn="l">
              <a:lnSpc>
                <a:spcPct val="100000"/>
              </a:lnSpc>
              <a:spcBef>
                <a:spcPts val="0"/>
              </a:spcBef>
              <a:spcAft>
                <a:spcPts val="0"/>
              </a:spcAft>
              <a:buSzPts val="1440"/>
              <a:buFont typeface="Arial"/>
              <a:buChar char="•"/>
            </a:pPr>
            <a:r>
              <a:rPr lang="en-US" sz="1600"/>
              <a:t>Queuing packets causes delay because new packets cannot be transmitted until previous packets have been processed.</a:t>
            </a:r>
            <a:endParaRPr/>
          </a:p>
          <a:p>
            <a:pPr indent="-169863" lvl="0" marL="169863" rtl="0" algn="l">
              <a:lnSpc>
                <a:spcPct val="100000"/>
              </a:lnSpc>
              <a:spcBef>
                <a:spcPts val="0"/>
              </a:spcBef>
              <a:spcAft>
                <a:spcPts val="0"/>
              </a:spcAft>
              <a:buSzPts val="1440"/>
              <a:buFont typeface="Arial"/>
              <a:buChar char="•"/>
            </a:pPr>
            <a:r>
              <a:rPr lang="en-US" sz="1600"/>
              <a:t>Two types of delays are fixed and variable. </a:t>
            </a:r>
            <a:endParaRPr/>
          </a:p>
          <a:p>
            <a:pPr indent="-169863" lvl="0" marL="169863" rtl="0" algn="l">
              <a:lnSpc>
                <a:spcPct val="100000"/>
              </a:lnSpc>
              <a:spcBef>
                <a:spcPts val="0"/>
              </a:spcBef>
              <a:spcAft>
                <a:spcPts val="0"/>
              </a:spcAft>
              <a:buSzPts val="1440"/>
              <a:buFont typeface="Arial"/>
              <a:buChar char="•"/>
            </a:pPr>
            <a:r>
              <a:rPr lang="en-US" sz="1600"/>
              <a:t>Sources of delay are code delay, packetization delay, queuing delay, serialization delay, propagation delay, and de-jitter delay. </a:t>
            </a:r>
            <a:endParaRPr/>
          </a:p>
          <a:p>
            <a:pPr indent="-169863" lvl="0" marL="169863" rtl="0" algn="l">
              <a:lnSpc>
                <a:spcPct val="100000"/>
              </a:lnSpc>
              <a:spcBef>
                <a:spcPts val="0"/>
              </a:spcBef>
              <a:spcAft>
                <a:spcPts val="0"/>
              </a:spcAft>
              <a:buSzPts val="1440"/>
              <a:buFont typeface="Arial"/>
              <a:buChar char="•"/>
            </a:pPr>
            <a:r>
              <a:rPr lang="en-US" sz="1600"/>
              <a:t>Jitter is the variation in the delay of received packets.</a:t>
            </a:r>
            <a:endParaRPr/>
          </a:p>
          <a:p>
            <a:pPr indent="-169863" lvl="0" marL="169863" rtl="0" algn="l">
              <a:lnSpc>
                <a:spcPct val="100000"/>
              </a:lnSpc>
              <a:spcBef>
                <a:spcPts val="0"/>
              </a:spcBef>
              <a:spcAft>
                <a:spcPts val="0"/>
              </a:spcAft>
              <a:buSzPts val="1440"/>
              <a:buFont typeface="Arial"/>
              <a:buChar char="•"/>
            </a:pPr>
            <a:r>
              <a:rPr lang="en-US" sz="1600"/>
              <a:t>Voice and video traffic are two of the main reasons for QoS.</a:t>
            </a:r>
            <a:endParaRPr/>
          </a:p>
          <a:p>
            <a:pPr indent="-169863" lvl="0" marL="169863" rtl="0" algn="l">
              <a:lnSpc>
                <a:spcPct val="100000"/>
              </a:lnSpc>
              <a:spcBef>
                <a:spcPts val="0"/>
              </a:spcBef>
              <a:spcAft>
                <a:spcPts val="0"/>
              </a:spcAft>
              <a:buSzPts val="1440"/>
              <a:buFont typeface="Arial"/>
              <a:buChar char="•"/>
            </a:pPr>
            <a:r>
              <a:rPr lang="en-US" sz="1600"/>
              <a:t>Voice traffic is smooth and benign, but it is sensitive to drops and delays. </a:t>
            </a:r>
            <a:endParaRPr/>
          </a:p>
          <a:p>
            <a:pPr indent="-78423" lvl="0" marL="169863" rtl="0" algn="l">
              <a:lnSpc>
                <a:spcPct val="100000"/>
              </a:lnSpc>
              <a:spcBef>
                <a:spcPts val="0"/>
              </a:spcBef>
              <a:spcAft>
                <a:spcPts val="0"/>
              </a:spcAft>
              <a:buSzPts val="1440"/>
              <a:buFont typeface="Arial"/>
              <a:buNone/>
            </a:pPr>
            <a:r>
              <a:t/>
            </a:r>
            <a:endParaRPr sz="1600"/>
          </a:p>
        </p:txBody>
      </p:sp>
    </p:spTree>
  </p:cSld>
  <p:clrMapOvr>
    <a:masterClrMapping/>
  </p:clrMapOvr>
  <p:transition spd="slow">
    <p:wipe dir="l"/>
  </p:transition>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54"/>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sz="1400">
                <a:latin typeface="Arial"/>
                <a:ea typeface="Arial"/>
                <a:cs typeface="Arial"/>
                <a:sym typeface="Arial"/>
              </a:rPr>
              <a:t>Module Practice and Quiz</a:t>
            </a:r>
            <a:br>
              <a:rPr lang="en-US">
                <a:latin typeface="Arial"/>
                <a:ea typeface="Arial"/>
                <a:cs typeface="Arial"/>
                <a:sym typeface="Arial"/>
              </a:rPr>
            </a:br>
            <a:r>
              <a:rPr lang="en-US">
                <a:latin typeface="Arial"/>
                <a:ea typeface="Arial"/>
                <a:cs typeface="Arial"/>
                <a:sym typeface="Arial"/>
              </a:rPr>
              <a:t>What did I learn in this module? (Cont.)</a:t>
            </a:r>
            <a:endParaRPr/>
          </a:p>
        </p:txBody>
      </p:sp>
      <p:sp>
        <p:nvSpPr>
          <p:cNvPr id="640" name="Google Shape;640;p54"/>
          <p:cNvSpPr txBox="1"/>
          <p:nvPr>
            <p:ph idx="1" type="body"/>
          </p:nvPr>
        </p:nvSpPr>
        <p:spPr>
          <a:xfrm>
            <a:off x="144065" y="798944"/>
            <a:ext cx="8853286" cy="4155319"/>
          </a:xfrm>
          <a:prstGeom prst="rect">
            <a:avLst/>
          </a:prstGeom>
          <a:noFill/>
          <a:ln>
            <a:noFill/>
          </a:ln>
        </p:spPr>
        <p:txBody>
          <a:bodyPr anchorCtr="0" anchor="t" bIns="45700" lIns="91425" spcFirstLastPara="1" rIns="182875" wrap="square" tIns="45700">
            <a:noAutofit/>
          </a:bodyPr>
          <a:lstStyle/>
          <a:p>
            <a:pPr indent="-169863" lvl="0" marL="169863" rtl="0" algn="l">
              <a:lnSpc>
                <a:spcPct val="100000"/>
              </a:lnSpc>
              <a:spcBef>
                <a:spcPts val="0"/>
              </a:spcBef>
              <a:spcAft>
                <a:spcPts val="0"/>
              </a:spcAft>
              <a:buSzPts val="1440"/>
              <a:buFont typeface="Arial"/>
              <a:buChar char="•"/>
            </a:pPr>
            <a:r>
              <a:rPr lang="en-US" sz="1600"/>
              <a:t>Voice can tolerate a certain amount of latency, jitter, and loss without any noticeable effects.</a:t>
            </a:r>
            <a:endParaRPr/>
          </a:p>
          <a:p>
            <a:pPr indent="-169863" lvl="0" marL="169863" rtl="0" algn="l">
              <a:lnSpc>
                <a:spcPct val="100000"/>
              </a:lnSpc>
              <a:spcBef>
                <a:spcPts val="0"/>
              </a:spcBef>
              <a:spcAft>
                <a:spcPts val="0"/>
              </a:spcAft>
              <a:buSzPts val="1440"/>
              <a:buFont typeface="Arial"/>
              <a:buChar char="•"/>
            </a:pPr>
            <a:r>
              <a:rPr lang="en-US" sz="1600"/>
              <a:t>Video traffic is more demanding than voice traffic because of the size of the packets it sends across the network. </a:t>
            </a:r>
            <a:endParaRPr/>
          </a:p>
          <a:p>
            <a:pPr indent="-169863" lvl="0" marL="169863" rtl="0" algn="l">
              <a:lnSpc>
                <a:spcPct val="100000"/>
              </a:lnSpc>
              <a:spcBef>
                <a:spcPts val="0"/>
              </a:spcBef>
              <a:spcAft>
                <a:spcPts val="0"/>
              </a:spcAft>
              <a:buSzPts val="1440"/>
              <a:buFont typeface="Arial"/>
              <a:buChar char="•"/>
            </a:pPr>
            <a:r>
              <a:rPr lang="en-US" sz="1600"/>
              <a:t>Video traffic is bursty, greedy, drop sensitive, and delay sensitive.</a:t>
            </a:r>
            <a:endParaRPr/>
          </a:p>
          <a:p>
            <a:pPr indent="-169863" lvl="0" marL="169863" rtl="0" algn="l">
              <a:lnSpc>
                <a:spcPct val="100000"/>
              </a:lnSpc>
              <a:spcBef>
                <a:spcPts val="0"/>
              </a:spcBef>
              <a:spcAft>
                <a:spcPts val="0"/>
              </a:spcAft>
              <a:buSzPts val="1440"/>
              <a:buFont typeface="Arial"/>
              <a:buChar char="•"/>
            </a:pPr>
            <a:r>
              <a:rPr lang="en-US" sz="1600"/>
              <a:t>Data traffic is not as demanding as voice and video traffic. Data packets often use TCP applications which can retransmit data and, therefore, are not sensitive to drops and delays.</a:t>
            </a:r>
            <a:endParaRPr/>
          </a:p>
          <a:p>
            <a:pPr indent="-169863" lvl="0" marL="169863" rtl="0" algn="l">
              <a:lnSpc>
                <a:spcPct val="100000"/>
              </a:lnSpc>
              <a:spcBef>
                <a:spcPts val="0"/>
              </a:spcBef>
              <a:spcAft>
                <a:spcPts val="0"/>
              </a:spcAft>
              <a:buSzPts val="1440"/>
              <a:buFont typeface="Arial"/>
              <a:buChar char="•"/>
            </a:pPr>
            <a:r>
              <a:rPr lang="en-US" sz="1600"/>
              <a:t>The QoS policy implemented by the network administrator becomes active when congestion occurs on the link. </a:t>
            </a:r>
            <a:endParaRPr/>
          </a:p>
          <a:p>
            <a:pPr indent="-169863" lvl="0" marL="169863" rtl="0" algn="l">
              <a:lnSpc>
                <a:spcPct val="100000"/>
              </a:lnSpc>
              <a:spcBef>
                <a:spcPts val="0"/>
              </a:spcBef>
              <a:spcAft>
                <a:spcPts val="0"/>
              </a:spcAft>
              <a:buSzPts val="1440"/>
              <a:buFont typeface="Arial"/>
              <a:buChar char="•"/>
            </a:pPr>
            <a:r>
              <a:rPr lang="en-US" sz="1600"/>
              <a:t>Queuing is a congestion management tool that can buffer, prioritize, and, if required, reorder packets before being transmitted to the destination.</a:t>
            </a:r>
            <a:endParaRPr/>
          </a:p>
          <a:p>
            <a:pPr indent="-169863" lvl="0" marL="169863" rtl="0" algn="l">
              <a:lnSpc>
                <a:spcPct val="100000"/>
              </a:lnSpc>
              <a:spcBef>
                <a:spcPts val="0"/>
              </a:spcBef>
              <a:spcAft>
                <a:spcPts val="0"/>
              </a:spcAft>
              <a:buSzPts val="1440"/>
              <a:buFont typeface="Arial"/>
              <a:buChar char="•"/>
            </a:pPr>
            <a:r>
              <a:rPr lang="en-US" sz="1600"/>
              <a:t>FIFO queuing buffers and forwards packets in the order of their arrival. FIFO has no concept of priority or classes of traffic and consequently, makes no decision about packet priority.</a:t>
            </a:r>
            <a:endParaRPr/>
          </a:p>
          <a:p>
            <a:pPr indent="-169863" lvl="0" marL="169863" rtl="0" algn="l">
              <a:lnSpc>
                <a:spcPct val="100000"/>
              </a:lnSpc>
              <a:spcBef>
                <a:spcPts val="0"/>
              </a:spcBef>
              <a:spcAft>
                <a:spcPts val="0"/>
              </a:spcAft>
              <a:buSzPts val="1440"/>
              <a:buFont typeface="Arial"/>
              <a:buChar char="•"/>
            </a:pPr>
            <a:r>
              <a:rPr lang="en-US" sz="1600"/>
              <a:t>WFQ is an automated scheduling method that provides fair bandwidth allocation to all network traffic. WFQ applies priority, or weights, to identified traffic and classifies it into conversations or flows.</a:t>
            </a:r>
            <a:endParaRPr/>
          </a:p>
          <a:p>
            <a:pPr indent="-78423" lvl="0" marL="169863" rtl="0" algn="l">
              <a:lnSpc>
                <a:spcPct val="100000"/>
              </a:lnSpc>
              <a:spcBef>
                <a:spcPts val="0"/>
              </a:spcBef>
              <a:spcAft>
                <a:spcPts val="0"/>
              </a:spcAft>
              <a:buSzPts val="1440"/>
              <a:buFont typeface="Arial"/>
              <a:buNone/>
            </a:pPr>
            <a:r>
              <a:t/>
            </a:r>
            <a:endParaRPr sz="1600"/>
          </a:p>
          <a:p>
            <a:pPr indent="-78423" lvl="0" marL="169863" rtl="0" algn="l">
              <a:lnSpc>
                <a:spcPct val="100000"/>
              </a:lnSpc>
              <a:spcBef>
                <a:spcPts val="0"/>
              </a:spcBef>
              <a:spcAft>
                <a:spcPts val="0"/>
              </a:spcAft>
              <a:buSzPts val="1440"/>
              <a:buFont typeface="Arial"/>
              <a:buNone/>
            </a:pPr>
            <a:r>
              <a:t/>
            </a:r>
            <a:endParaRPr sz="1600"/>
          </a:p>
        </p:txBody>
      </p:sp>
    </p:spTree>
  </p:cSld>
  <p:clrMapOvr>
    <a:masterClrMapping/>
  </p:clrMapOvr>
  <p:transition spd="slow">
    <p:wipe dir="l"/>
  </p:transition>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p55"/>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sz="1400">
                <a:latin typeface="Arial"/>
                <a:ea typeface="Arial"/>
                <a:cs typeface="Arial"/>
                <a:sym typeface="Arial"/>
              </a:rPr>
              <a:t>Module Practice and Quiz</a:t>
            </a:r>
            <a:br>
              <a:rPr lang="en-US">
                <a:latin typeface="Arial"/>
                <a:ea typeface="Arial"/>
                <a:cs typeface="Arial"/>
                <a:sym typeface="Arial"/>
              </a:rPr>
            </a:br>
            <a:r>
              <a:rPr lang="en-US">
                <a:latin typeface="Arial"/>
                <a:ea typeface="Arial"/>
                <a:cs typeface="Arial"/>
                <a:sym typeface="Arial"/>
              </a:rPr>
              <a:t>What did I learn in this module? (Cont.)</a:t>
            </a:r>
            <a:endParaRPr/>
          </a:p>
        </p:txBody>
      </p:sp>
      <p:sp>
        <p:nvSpPr>
          <p:cNvPr id="647" name="Google Shape;647;p55"/>
          <p:cNvSpPr txBox="1"/>
          <p:nvPr>
            <p:ph idx="1" type="body"/>
          </p:nvPr>
        </p:nvSpPr>
        <p:spPr>
          <a:xfrm>
            <a:off x="144065" y="798945"/>
            <a:ext cx="8853286" cy="3697642"/>
          </a:xfrm>
          <a:prstGeom prst="rect">
            <a:avLst/>
          </a:prstGeom>
          <a:noFill/>
          <a:ln>
            <a:noFill/>
          </a:ln>
        </p:spPr>
        <p:txBody>
          <a:bodyPr anchorCtr="0" anchor="t" bIns="45700" lIns="91425" spcFirstLastPara="1" rIns="182875" wrap="square" tIns="45700">
            <a:noAutofit/>
          </a:bodyPr>
          <a:lstStyle/>
          <a:p>
            <a:pPr indent="-169863" lvl="0" marL="169863" rtl="0" algn="l">
              <a:lnSpc>
                <a:spcPct val="100000"/>
              </a:lnSpc>
              <a:spcBef>
                <a:spcPts val="0"/>
              </a:spcBef>
              <a:spcAft>
                <a:spcPts val="0"/>
              </a:spcAft>
              <a:buSzPts val="1440"/>
              <a:buFont typeface="Arial"/>
              <a:buChar char="•"/>
            </a:pPr>
            <a:r>
              <a:rPr lang="en-US" sz="1600"/>
              <a:t>CBWFQ extends the standard WFQ functionality to provide support for user-defined traffic classes. With CBWFQ, you define traffic classes based on match criteria including protocols, access control lists (ACLs), and input interfaces. LLQ feature brings strict priority queuing (PQ) to CBWFQ.</a:t>
            </a:r>
            <a:endParaRPr/>
          </a:p>
          <a:p>
            <a:pPr indent="-169863" lvl="0" marL="169863" rtl="0" algn="l">
              <a:lnSpc>
                <a:spcPct val="100000"/>
              </a:lnSpc>
              <a:spcBef>
                <a:spcPts val="0"/>
              </a:spcBef>
              <a:spcAft>
                <a:spcPts val="0"/>
              </a:spcAft>
              <a:buSzPts val="1440"/>
              <a:buFont typeface="Arial"/>
              <a:buChar char="•"/>
            </a:pPr>
            <a:r>
              <a:rPr lang="en-US" sz="1600"/>
              <a:t>There are three models for implementing QoS: Best-effort model, Integrated services (IntServ), and Differentiated services (DiffServ).</a:t>
            </a:r>
            <a:endParaRPr/>
          </a:p>
          <a:p>
            <a:pPr indent="-169863" lvl="0" marL="169863" rtl="0" algn="l">
              <a:lnSpc>
                <a:spcPct val="100000"/>
              </a:lnSpc>
              <a:spcBef>
                <a:spcPts val="0"/>
              </a:spcBef>
              <a:spcAft>
                <a:spcPts val="0"/>
              </a:spcAft>
              <a:buSzPts val="1440"/>
              <a:buFont typeface="Arial"/>
              <a:buChar char="•"/>
            </a:pPr>
            <a:r>
              <a:rPr lang="en-US" sz="1600"/>
              <a:t>IntServ architecture model was developed to meet the needs of real-time applications, such as remote video, multimedia conferencing, data visualization applications, and virtual reality.</a:t>
            </a:r>
            <a:endParaRPr/>
          </a:p>
          <a:p>
            <a:pPr indent="-169863" lvl="0" marL="169863" rtl="0" algn="l">
              <a:lnSpc>
                <a:spcPct val="100000"/>
              </a:lnSpc>
              <a:spcBef>
                <a:spcPts val="0"/>
              </a:spcBef>
              <a:spcAft>
                <a:spcPts val="0"/>
              </a:spcAft>
              <a:buSzPts val="1440"/>
              <a:buFont typeface="Arial"/>
              <a:buChar char="•"/>
            </a:pPr>
            <a:r>
              <a:rPr lang="en-US" sz="1600"/>
              <a:t>DiffServ QoS model specifies a simple and scalable mechanism for classifying and managing network traffic. The DiffServ design overcomes the limitations of both the best-effort and IntServ models.</a:t>
            </a:r>
            <a:endParaRPr/>
          </a:p>
          <a:p>
            <a:pPr indent="-169863" lvl="0" marL="169863" rtl="0" algn="l">
              <a:lnSpc>
                <a:spcPct val="100000"/>
              </a:lnSpc>
              <a:spcBef>
                <a:spcPts val="0"/>
              </a:spcBef>
              <a:spcAft>
                <a:spcPts val="0"/>
              </a:spcAft>
              <a:buSzPts val="1440"/>
              <a:buFont typeface="Arial"/>
              <a:buChar char="•"/>
            </a:pPr>
            <a:r>
              <a:rPr lang="en-US" sz="1600"/>
              <a:t>There are three categories of QoS tools: classification and marking tools, congestion avoidance tools, and congestion management tools.</a:t>
            </a:r>
            <a:endParaRPr/>
          </a:p>
          <a:p>
            <a:pPr indent="-169863" lvl="0" marL="169863" rtl="0" algn="l">
              <a:lnSpc>
                <a:spcPct val="100000"/>
              </a:lnSpc>
              <a:spcBef>
                <a:spcPts val="0"/>
              </a:spcBef>
              <a:spcAft>
                <a:spcPts val="0"/>
              </a:spcAft>
              <a:buSzPts val="1440"/>
              <a:buFont typeface="Arial"/>
              <a:buChar char="•"/>
            </a:pPr>
            <a:r>
              <a:rPr lang="en-US" sz="1600"/>
              <a:t>Classification determines the class of traffic to which packets or frames belong.</a:t>
            </a:r>
            <a:endParaRPr/>
          </a:p>
          <a:p>
            <a:pPr indent="-78423" lvl="0" marL="169863" rtl="0" algn="l">
              <a:lnSpc>
                <a:spcPct val="100000"/>
              </a:lnSpc>
              <a:spcBef>
                <a:spcPts val="0"/>
              </a:spcBef>
              <a:spcAft>
                <a:spcPts val="0"/>
              </a:spcAft>
              <a:buSzPts val="1440"/>
              <a:buFont typeface="Arial"/>
              <a:buNone/>
            </a:pPr>
            <a:r>
              <a:t/>
            </a:r>
            <a:endParaRPr sz="1600"/>
          </a:p>
        </p:txBody>
      </p:sp>
    </p:spTree>
  </p:cSld>
  <p:clrMapOvr>
    <a:masterClrMapping/>
  </p:clrMapOvr>
  <p:transition spd="slow">
    <p:wipe dir="l"/>
  </p:transition>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56"/>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sz="1400">
                <a:latin typeface="Arial"/>
                <a:ea typeface="Arial"/>
                <a:cs typeface="Arial"/>
                <a:sym typeface="Arial"/>
              </a:rPr>
              <a:t>Module Practice and Quiz</a:t>
            </a:r>
            <a:br>
              <a:rPr lang="en-US">
                <a:latin typeface="Arial"/>
                <a:ea typeface="Arial"/>
                <a:cs typeface="Arial"/>
                <a:sym typeface="Arial"/>
              </a:rPr>
            </a:br>
            <a:r>
              <a:rPr lang="en-US">
                <a:latin typeface="Arial"/>
                <a:ea typeface="Arial"/>
                <a:cs typeface="Arial"/>
                <a:sym typeface="Arial"/>
              </a:rPr>
              <a:t>What did I learn in this module? (Cont.)</a:t>
            </a:r>
            <a:endParaRPr/>
          </a:p>
        </p:txBody>
      </p:sp>
      <p:sp>
        <p:nvSpPr>
          <p:cNvPr id="654" name="Google Shape;654;p56"/>
          <p:cNvSpPr txBox="1"/>
          <p:nvPr>
            <p:ph idx="1" type="body"/>
          </p:nvPr>
        </p:nvSpPr>
        <p:spPr>
          <a:xfrm>
            <a:off x="144065" y="798944"/>
            <a:ext cx="8853286" cy="4155319"/>
          </a:xfrm>
          <a:prstGeom prst="rect">
            <a:avLst/>
          </a:prstGeom>
          <a:noFill/>
          <a:ln>
            <a:noFill/>
          </a:ln>
        </p:spPr>
        <p:txBody>
          <a:bodyPr anchorCtr="0" anchor="t" bIns="45700" lIns="91425" spcFirstLastPara="1" rIns="182875" wrap="square" tIns="45700">
            <a:noAutofit/>
          </a:bodyPr>
          <a:lstStyle/>
          <a:p>
            <a:pPr indent="-169863" lvl="0" marL="169863" rtl="0" algn="l">
              <a:lnSpc>
                <a:spcPct val="100000"/>
              </a:lnSpc>
              <a:spcBef>
                <a:spcPts val="0"/>
              </a:spcBef>
              <a:spcAft>
                <a:spcPts val="0"/>
              </a:spcAft>
              <a:buSzPts val="1440"/>
              <a:buFont typeface="Arial"/>
              <a:buChar char="•"/>
            </a:pPr>
            <a:r>
              <a:rPr lang="en-US" sz="1600"/>
              <a:t>Methods of classifying traffic flows at Layer 2 and 3 include using interfaces, ACLs, and class maps. Traffic can also be classified at Layers 4 to 7 using Network Based Application Recognition (NBAR).</a:t>
            </a:r>
            <a:endParaRPr/>
          </a:p>
          <a:p>
            <a:pPr indent="-169863" lvl="0" marL="169863" rtl="0" algn="l">
              <a:lnSpc>
                <a:spcPct val="100000"/>
              </a:lnSpc>
              <a:spcBef>
                <a:spcPts val="0"/>
              </a:spcBef>
              <a:spcAft>
                <a:spcPts val="0"/>
              </a:spcAft>
              <a:buSzPts val="1440"/>
              <a:buFont typeface="Arial"/>
              <a:buChar char="•"/>
            </a:pPr>
            <a:r>
              <a:rPr lang="en-US" sz="1600"/>
              <a:t>Congestion management includes queuing and scheduling methods where excess traffic is buffered or queued (and sometimes dropped) while it waits to be sent out an egress interface.</a:t>
            </a:r>
            <a:endParaRPr/>
          </a:p>
          <a:p>
            <a:pPr indent="-169863" lvl="0" marL="169863" rtl="0" algn="l">
              <a:lnSpc>
                <a:spcPct val="100000"/>
              </a:lnSpc>
              <a:spcBef>
                <a:spcPts val="0"/>
              </a:spcBef>
              <a:spcAft>
                <a:spcPts val="0"/>
              </a:spcAft>
              <a:buSzPts val="1440"/>
              <a:buFont typeface="Arial"/>
              <a:buChar char="•"/>
            </a:pPr>
            <a:r>
              <a:rPr lang="en-US" sz="1600"/>
              <a:t>Congestion avoidance tools help to monitor network traffic loads in an effort to anticipate and avoid congestion at common network and internetwork bottlenecks before congestion becomes a problem.</a:t>
            </a:r>
            <a:endParaRPr/>
          </a:p>
          <a:p>
            <a:pPr indent="-169863" lvl="0" marL="169863" rtl="0" algn="l">
              <a:lnSpc>
                <a:spcPct val="100000"/>
              </a:lnSpc>
              <a:spcBef>
                <a:spcPts val="0"/>
              </a:spcBef>
              <a:spcAft>
                <a:spcPts val="0"/>
              </a:spcAft>
              <a:buSzPts val="1440"/>
              <a:buFont typeface="Arial"/>
              <a:buChar char="•"/>
            </a:pPr>
            <a:r>
              <a:rPr lang="en-US" sz="1600"/>
              <a:t>Cisco IOS QoS includes weighted random early detection (WRED) as a possible congestion avoidance solution.</a:t>
            </a:r>
            <a:endParaRPr/>
          </a:p>
        </p:txBody>
      </p:sp>
    </p:spTree>
  </p:cSld>
  <p:clrMapOvr>
    <a:masterClrMapping/>
  </p:clrMapOvr>
  <p:transition spd="slow">
    <p:wipe dir="l"/>
  </p:transition>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59" name="Shape 659"/>
        <p:cNvGrpSpPr/>
        <p:nvPr/>
      </p:nvGrpSpPr>
      <p:grpSpPr>
        <a:xfrm>
          <a:off x="0" y="0"/>
          <a:ext cx="0" cy="0"/>
          <a:chOff x="0" y="0"/>
          <a:chExt cx="0" cy="0"/>
        </a:xfrm>
      </p:grpSpPr>
      <p:sp>
        <p:nvSpPr>
          <p:cNvPr id="660" name="Google Shape;660;p57"/>
          <p:cNvSpPr txBox="1"/>
          <p:nvPr>
            <p:ph type="title"/>
          </p:nvPr>
        </p:nvSpPr>
        <p:spPr>
          <a:xfrm>
            <a:off x="1" y="41394"/>
            <a:ext cx="9144000" cy="609056"/>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sz="1400">
                <a:latin typeface="Arial"/>
                <a:ea typeface="Arial"/>
                <a:cs typeface="Arial"/>
                <a:sym typeface="Arial"/>
              </a:rPr>
              <a:t>Module 8: VPN and </a:t>
            </a:r>
            <a:r>
              <a:rPr b="1" lang="en-US" sz="1400">
                <a:latin typeface="Arial"/>
                <a:ea typeface="Arial"/>
                <a:cs typeface="Arial"/>
                <a:sym typeface="Arial"/>
              </a:rPr>
              <a:t>IPsec</a:t>
            </a:r>
            <a:r>
              <a:rPr lang="en-US" sz="1400">
                <a:latin typeface="Arial"/>
                <a:ea typeface="Arial"/>
                <a:cs typeface="Arial"/>
                <a:sym typeface="Arial"/>
              </a:rPr>
              <a:t> Concepts</a:t>
            </a:r>
            <a:br>
              <a:rPr lang="en-US">
                <a:latin typeface="Arial"/>
                <a:ea typeface="Arial"/>
                <a:cs typeface="Arial"/>
                <a:sym typeface="Arial"/>
              </a:rPr>
            </a:br>
            <a:r>
              <a:rPr lang="en-US">
                <a:latin typeface="Arial"/>
                <a:ea typeface="Arial"/>
                <a:cs typeface="Arial"/>
                <a:sym typeface="Arial"/>
              </a:rPr>
              <a:t>New Terms and Commands</a:t>
            </a:r>
            <a:endParaRPr/>
          </a:p>
        </p:txBody>
      </p:sp>
      <p:graphicFrame>
        <p:nvGraphicFramePr>
          <p:cNvPr id="661" name="Google Shape;661;p57"/>
          <p:cNvGraphicFramePr/>
          <p:nvPr/>
        </p:nvGraphicFramePr>
        <p:xfrm>
          <a:off x="144463" y="798513"/>
          <a:ext cx="3000000" cy="3000000"/>
        </p:xfrm>
        <a:graphic>
          <a:graphicData uri="http://schemas.openxmlformats.org/drawingml/2006/table">
            <a:tbl>
              <a:tblPr bandRow="1" firstRow="1">
                <a:noFill/>
                <a:tableStyleId>{A3B206BE-29B7-432D-93FD-D63A912A435F}</a:tableStyleId>
              </a:tblPr>
              <a:tblGrid>
                <a:gridCol w="4426750"/>
                <a:gridCol w="4426750"/>
              </a:tblGrid>
              <a:tr h="370850">
                <a:tc>
                  <a:txBody>
                    <a:bodyPr/>
                    <a:lstStyle/>
                    <a:p>
                      <a:pPr indent="-285750" lvl="0" marL="285750" marR="0" rtl="0" algn="l">
                        <a:spcBef>
                          <a:spcPts val="0"/>
                        </a:spcBef>
                        <a:spcAft>
                          <a:spcPts val="0"/>
                        </a:spcAft>
                        <a:buClr>
                          <a:srgbClr val="000000"/>
                        </a:buClr>
                        <a:buSzPts val="1400"/>
                        <a:buFont typeface="Arial"/>
                        <a:buChar char="•"/>
                      </a:pPr>
                      <a:r>
                        <a:rPr b="0" lang="en-US" sz="1400">
                          <a:solidFill>
                            <a:srgbClr val="000000"/>
                          </a:solidFill>
                        </a:rPr>
                        <a:t>code delay</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packetization delay</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queuing delay</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serialization delay</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propagation delay</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de-jitter delay</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first-in-first out (FIFO)</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weighted fair queuing (WFQ)</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class-based weighted fair queuing (CBWFQ)</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low latency queuing (LLQ)</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IntServ</a:t>
                      </a:r>
                      <a:endParaRPr b="0" sz="1400">
                        <a:solidFill>
                          <a:srgbClr val="000000"/>
                        </a:solidFill>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DiffServ</a:t>
                      </a:r>
                      <a:endParaRPr b="0" sz="1400">
                        <a:solidFill>
                          <a:srgbClr val="000000"/>
                        </a:solidFill>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classification and marking</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congestion avoidance</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congestion management</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class of service</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differentiated code point (DSCP)</a:t>
                      </a:r>
                      <a:endParaRPr/>
                    </a:p>
                    <a:p>
                      <a:pPr indent="0" lvl="0" marL="0" marR="0" rtl="0" algn="l">
                        <a:spcBef>
                          <a:spcPts val="0"/>
                        </a:spcBef>
                        <a:spcAft>
                          <a:spcPts val="0"/>
                        </a:spcAft>
                        <a:buNone/>
                      </a:pPr>
                      <a:r>
                        <a:t/>
                      </a:r>
                      <a:endParaRPr b="0" sz="1400">
                        <a:solidFill>
                          <a:srgbClr val="000000"/>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285750" lvl="0" marL="285750" marR="0" rtl="0" algn="l">
                        <a:spcBef>
                          <a:spcPts val="0"/>
                        </a:spcBef>
                        <a:spcAft>
                          <a:spcPts val="0"/>
                        </a:spcAft>
                        <a:buClr>
                          <a:srgbClr val="000000"/>
                        </a:buClr>
                        <a:buSzPts val="1400"/>
                        <a:buFont typeface="Arial"/>
                        <a:buChar char="•"/>
                      </a:pPr>
                      <a:r>
                        <a:rPr b="0" lang="en-US" sz="1400">
                          <a:solidFill>
                            <a:srgbClr val="000000"/>
                          </a:solidFill>
                        </a:rPr>
                        <a:t>best-effort</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expedited forwarding</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assured forwarding</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trust boundaries</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shaping</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policing</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transition spd="slow">
    <p:wipe dir="l"/>
  </p:transition>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Tree>
  </p:cSld>
  <p:clrMapOvr>
    <a:masterClrMapping/>
  </p:clrMapOvr>
  <p:transition spd="slow">
    <p:wipe dir="l"/>
  </p:transition>
</p:sld>
</file>

<file path=ppt/theme/theme1.xml><?xml version="1.0" encoding="utf-8"?>
<a:theme xmlns:a="http://schemas.openxmlformats.org/drawingml/2006/main" xmlns:r="http://schemas.openxmlformats.org/officeDocument/2006/relationships"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2019-10-18T06:21:22Z</dcterms:created>
  <dc:creator>Stephanie Harvey</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