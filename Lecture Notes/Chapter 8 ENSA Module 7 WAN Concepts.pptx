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336">
          <p15:clr>
            <a:srgbClr val="A4A3A4"/>
          </p15:clr>
        </p15:guide>
      </p15:sldGuideLst>
    </p:ext>
    <p:ext uri="GoogleSlidesCustomDataVersion2">
      <go:slidesCustomData xmlns:go="http://customooxmlschemas.google.com/" r:id="rId66" roundtripDataSignature="AMtx7miHq8IRnY3Pm57Amrbzx23B30ZvS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B9838A6-867F-4220-8999-C6B651F9615E}">
  <a:tblStyle styleId="{4B9838A6-867F-4220-8999-C6B651F9615E}" styleName="Table_0">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6E8EA"/>
          </a:solidFill>
        </a:fill>
      </a:tcStyle>
    </a:wholeTbl>
    <a:band1H>
      <a:tcTxStyle/>
      <a:tcStyle>
        <a:fill>
          <a:solidFill>
            <a:srgbClr val="CACED3"/>
          </a:solidFill>
        </a:fill>
      </a:tcStyle>
    </a:band1H>
    <a:band2H>
      <a:tcTxStyle/>
    </a:band2H>
    <a:band1V>
      <a:tcTxStyle/>
      <a:tcStyle>
        <a:fill>
          <a:solidFill>
            <a:srgbClr val="CACED3"/>
          </a:solidFill>
        </a:fill>
      </a:tcStyle>
    </a:band1V>
    <a:band2V>
      <a:tcTxStyle/>
    </a:band2V>
    <a:lastCol>
      <a:tcTxStyle b="on" i="off">
        <a:font>
          <a:latin typeface="Arial"/>
          <a:ea typeface="Arial"/>
          <a:cs typeface="Arial"/>
        </a:font>
        <a:schemeClr val="lt1"/>
      </a:tcTxStyle>
      <a:tcStyle>
        <a:fill>
          <a:solidFill>
            <a:schemeClr val="accent1"/>
          </a:solidFill>
        </a:fill>
      </a:tcStyle>
    </a:lastCol>
    <a:firstCol>
      <a:tcTxStyle b="on" i="off">
        <a:font>
          <a:latin typeface="Arial"/>
          <a:ea typeface="Arial"/>
          <a:cs typeface="Arial"/>
        </a:font>
        <a:schemeClr val="lt1"/>
      </a:tcTxStyle>
      <a:tcStyle>
        <a:fill>
          <a:solidFill>
            <a:schemeClr val="accent1"/>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7E06D8F0-5436-4FCA-8F79-2CC1A580810E}" styleName="Table_1">
    <a:wholeTbl>
      <a:tcTxStyle b="off" i="off">
        <a:font>
          <a:latin typeface="Arial"/>
          <a:ea typeface="Arial"/>
          <a:cs typeface="Arial"/>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chemeClr val="accent3"/>
          </a:solidFill>
        </a:fill>
      </a:tcStyle>
    </a:wholeTbl>
    <a:band1H>
      <a:tcTxStyle/>
      <a:tcStyle>
        <a:fill>
          <a:solidFill>
            <a:schemeClr val="accent3"/>
          </a:solidFill>
        </a:fill>
      </a:tcStyle>
    </a:band1H>
    <a:band2H>
      <a:tcTxStyle/>
    </a:band2H>
    <a:band1V>
      <a:tcTxStyle/>
      <a:tcStyle>
        <a:fill>
          <a:solidFill>
            <a:schemeClr val="accent3"/>
          </a:solidFill>
        </a:fill>
      </a:tcStyle>
    </a:band1V>
    <a:band2V>
      <a:tcTxStyle/>
    </a:band2V>
    <a:lastCol>
      <a:tcTxStyle b="on" i="off">
        <a:font>
          <a:latin typeface="Arial"/>
          <a:ea typeface="Arial"/>
          <a:cs typeface="Arial"/>
        </a:font>
        <a:schemeClr val="lt1"/>
      </a:tcTxStyle>
      <a:tcStyle>
        <a:fill>
          <a:solidFill>
            <a:schemeClr val="accent3"/>
          </a:solidFill>
        </a:fill>
      </a:tcStyle>
    </a:lastCol>
    <a:firstCol>
      <a:tcTxStyle b="on" i="off">
        <a:font>
          <a:latin typeface="Arial"/>
          <a:ea typeface="Arial"/>
          <a:cs typeface="Arial"/>
        </a:font>
        <a:schemeClr val="lt1"/>
      </a:tcTxStyle>
      <a:tcStyle>
        <a:fill>
          <a:solidFill>
            <a:schemeClr val="accent3"/>
          </a:solidFill>
        </a:fill>
      </a:tcStyle>
    </a:firstCol>
    <a:lastRow>
      <a:tcTxStyle b="on" i="off">
        <a:font>
          <a:latin typeface="Arial"/>
          <a:ea typeface="Arial"/>
          <a:cs typeface="Arial"/>
        </a:font>
        <a:schemeClr val="lt1"/>
      </a:tcTxStyle>
      <a:tcStyle>
        <a:tcBdr>
          <a:top>
            <a:ln cap="flat" cmpd="sng" w="38100">
              <a:solidFill>
                <a:schemeClr val="lt1"/>
              </a:solidFill>
              <a:prstDash val="solid"/>
              <a:round/>
              <a:headEnd len="sm" w="sm" type="none"/>
              <a:tailEnd len="sm" w="sm" type="none"/>
            </a:ln>
          </a:top>
        </a:tcBdr>
        <a:fill>
          <a:solidFill>
            <a:schemeClr val="accent3"/>
          </a:solidFill>
        </a:fill>
      </a:tcStyle>
    </a:lastRow>
    <a:seCell>
      <a:tcTxStyle/>
    </a:seCell>
    <a:swCell>
      <a:tcTxStyle/>
    </a:swCell>
    <a:firstRow>
      <a:tcTxStyle b="on" i="off">
        <a:font>
          <a:latin typeface="Arial"/>
          <a:ea typeface="Arial"/>
          <a:cs typeface="Arial"/>
        </a:font>
        <a:schemeClr val="lt1"/>
      </a:tcTxStyle>
      <a:tcStyle>
        <a:tcBdr>
          <a:bottom>
            <a:ln cap="flat" cmpd="sng" w="38100">
              <a:solidFill>
                <a:schemeClr val="lt1"/>
              </a:solidFill>
              <a:prstDash val="solid"/>
              <a:round/>
              <a:headEnd len="sm" w="sm" type="none"/>
              <a:tailEnd len="sm" w="sm" type="none"/>
            </a:ln>
          </a:bottom>
        </a:tcBdr>
        <a:fill>
          <a:solidFill>
            <a:schemeClr val="accent3"/>
          </a:solidFill>
        </a:fill>
      </a:tc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336"/>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customschemas.google.com/relationships/presentationmetadata" Target="metadata"/><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23" Type="http://schemas.openxmlformats.org/officeDocument/2006/relationships/slide" Target="slides/slide17.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5" name="Google Shape;23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b="0" lang="en-US"/>
              <a:t>Cisco Networking Academy Program</a:t>
            </a:r>
            <a:endParaRPr/>
          </a:p>
          <a:p>
            <a:pPr indent="0" lvl="0" marL="0" rtl="0" algn="l">
              <a:spcBef>
                <a:spcPts val="0"/>
              </a:spcBef>
              <a:spcAft>
                <a:spcPts val="0"/>
              </a:spcAft>
              <a:buNone/>
            </a:pPr>
            <a:r>
              <a:rPr lang="en-US">
                <a:solidFill>
                  <a:srgbClr val="B6DDE7"/>
                </a:solidFill>
              </a:rPr>
              <a:t>Enterprise Networking, Security, and Automation v7.0 (ENSA) </a:t>
            </a:r>
            <a:endParaRPr/>
          </a:p>
          <a:p>
            <a:pPr indent="0" lvl="0" marL="0" rtl="0" algn="l">
              <a:spcBef>
                <a:spcPts val="0"/>
              </a:spcBef>
              <a:spcAft>
                <a:spcPts val="0"/>
              </a:spcAft>
              <a:buClr>
                <a:schemeClr val="dk1"/>
              </a:buClr>
              <a:buSzPts val="1200"/>
              <a:buFont typeface="Calibri"/>
              <a:buNone/>
            </a:pPr>
            <a:r>
              <a:rPr b="0" lang="en-US"/>
              <a:t>Module 7: WAN Concepts</a:t>
            </a:r>
            <a:endParaRPr/>
          </a:p>
        </p:txBody>
      </p:sp>
      <p:sp>
        <p:nvSpPr>
          <p:cNvPr id="236" name="Google Shape;236;p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notes"/>
          <p:cNvSpPr txBox="1"/>
          <p:nvPr/>
        </p:nvSpPr>
        <p:spPr>
          <a:xfrm>
            <a:off x="5929313" y="8680450"/>
            <a:ext cx="812800" cy="287338"/>
          </a:xfrm>
          <a:prstGeom prst="rect">
            <a:avLst/>
          </a:prstGeom>
          <a:noFill/>
          <a:ln>
            <a:noFill/>
          </a:ln>
        </p:spPr>
        <p:txBody>
          <a:bodyPr anchorCtr="0" anchor="b" bIns="0" lIns="18800" spcFirstLastPara="1" rIns="18800" wrap="square" tIns="0">
            <a:noAutofit/>
          </a:bodyPr>
          <a:lstStyle/>
          <a:p>
            <a:pPr indent="0" lvl="0" marL="0" marR="0" rtl="0" algn="r">
              <a:spcBef>
                <a:spcPts val="0"/>
              </a:spcBef>
              <a:spcAft>
                <a:spcPts val="0"/>
              </a:spcAft>
              <a:buNone/>
            </a:pPr>
            <a:fld id="{00000000-1234-1234-1234-123412341234}" type="slidenum">
              <a:rPr b="0" lang="en-US" sz="800">
                <a:solidFill>
                  <a:srgbClr val="000000"/>
                </a:solidFill>
                <a:latin typeface="Arial"/>
                <a:ea typeface="Arial"/>
                <a:cs typeface="Arial"/>
                <a:sym typeface="Arial"/>
              </a:rPr>
              <a:t>‹#›</a:t>
            </a:fld>
            <a:endParaRPr b="0" sz="800">
              <a:solidFill>
                <a:srgbClr val="000000"/>
              </a:solidFill>
              <a:latin typeface="Arial"/>
              <a:ea typeface="Arial"/>
              <a:cs typeface="Arial"/>
              <a:sym typeface="Arial"/>
            </a:endParaRPr>
          </a:p>
        </p:txBody>
      </p:sp>
      <p:sp>
        <p:nvSpPr>
          <p:cNvPr id="242" name="Google Shape;24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3" name="Google Shape;243;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200"/>
              <a:buFont typeface="Calibri"/>
              <a:buNone/>
            </a:pPr>
            <a:r>
              <a:rPr lang="en-US"/>
              <a:t>7 – WAN Concepts	</a:t>
            </a:r>
            <a:endParaRPr/>
          </a:p>
          <a:p>
            <a:pPr indent="0" lvl="0" marL="0" rtl="0" algn="l">
              <a:spcBef>
                <a:spcPts val="0"/>
              </a:spcBef>
              <a:spcAft>
                <a:spcPts val="0"/>
              </a:spcAft>
              <a:buClr>
                <a:schemeClr val="dk1"/>
              </a:buClr>
              <a:buSzPts val="1200"/>
              <a:buFont typeface="Calibri"/>
              <a:buNone/>
            </a:pPr>
            <a:r>
              <a:rPr lang="en-US"/>
              <a:t>7.0.2 - What will I learn to do in this Module?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0" name="Google Shape;250;p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7.1 – Purpose of WANs</a:t>
            </a:r>
            <a:endParaRPr/>
          </a:p>
        </p:txBody>
      </p:sp>
      <p:sp>
        <p:nvSpPr>
          <p:cNvPr id="251" name="Google Shape;251;p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6" name="Google Shape;256;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7.1 – Purpose of WANs</a:t>
            </a:r>
            <a:endParaRPr/>
          </a:p>
          <a:p>
            <a:pPr indent="0" lvl="0" marL="0" rtl="0" algn="l">
              <a:spcBef>
                <a:spcPts val="0"/>
              </a:spcBef>
              <a:spcAft>
                <a:spcPts val="0"/>
              </a:spcAft>
              <a:buNone/>
            </a:pPr>
            <a:r>
              <a:rPr lang="en-US"/>
              <a:t>7.1.1 – LANs and WANs</a:t>
            </a:r>
            <a:endParaRPr/>
          </a:p>
        </p:txBody>
      </p:sp>
      <p:sp>
        <p:nvSpPr>
          <p:cNvPr id="257" name="Google Shape;257;p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5" name="Google Shape;265;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7.1 – Purpose of WANs</a:t>
            </a:r>
            <a:endParaRPr/>
          </a:p>
          <a:p>
            <a:pPr indent="0" lvl="0" marL="0" rtl="0" algn="l">
              <a:spcBef>
                <a:spcPts val="0"/>
              </a:spcBef>
              <a:spcAft>
                <a:spcPts val="0"/>
              </a:spcAft>
              <a:buNone/>
            </a:pPr>
            <a:r>
              <a:rPr lang="en-US"/>
              <a:t>7.1.2 – Private and Public WANs</a:t>
            </a:r>
            <a:endParaRPr/>
          </a:p>
        </p:txBody>
      </p:sp>
      <p:sp>
        <p:nvSpPr>
          <p:cNvPr id="266" name="Google Shape;266;p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0" name="Shape 270"/>
        <p:cNvGrpSpPr/>
        <p:nvPr/>
      </p:nvGrpSpPr>
      <p:grpSpPr>
        <a:xfrm>
          <a:off x="0" y="0"/>
          <a:ext cx="0" cy="0"/>
          <a:chOff x="0" y="0"/>
          <a:chExt cx="0" cy="0"/>
        </a:xfrm>
      </p:grpSpPr>
      <p:sp>
        <p:nvSpPr>
          <p:cNvPr id="271" name="Google Shape;271;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2" name="Google Shape;272;p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7.1 – Purpose of WANs</a:t>
            </a:r>
            <a:endParaRPr/>
          </a:p>
          <a:p>
            <a:pPr indent="0" lvl="0" marL="0" rtl="0" algn="l">
              <a:spcBef>
                <a:spcPts val="0"/>
              </a:spcBef>
              <a:spcAft>
                <a:spcPts val="0"/>
              </a:spcAft>
              <a:buNone/>
            </a:pPr>
            <a:r>
              <a:rPr lang="en-US"/>
              <a:t>7.1.3 – WAN Topologies</a:t>
            </a:r>
            <a:endParaRPr/>
          </a:p>
        </p:txBody>
      </p:sp>
      <p:sp>
        <p:nvSpPr>
          <p:cNvPr id="273" name="Google Shape;273;p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0" name="Google Shape;280;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7.1 – Purpose of WANs</a:t>
            </a:r>
            <a:endParaRPr/>
          </a:p>
          <a:p>
            <a:pPr indent="0" lvl="0" marL="0" rtl="0" algn="l">
              <a:spcBef>
                <a:spcPts val="0"/>
              </a:spcBef>
              <a:spcAft>
                <a:spcPts val="0"/>
              </a:spcAft>
              <a:buNone/>
            </a:pPr>
            <a:r>
              <a:rPr lang="en-US"/>
              <a:t>7.1.3 – WAN Topologies (Cont.)</a:t>
            </a:r>
            <a:endParaRPr/>
          </a:p>
        </p:txBody>
      </p:sp>
      <p:sp>
        <p:nvSpPr>
          <p:cNvPr id="281" name="Google Shape;281;p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9" name="Google Shape;289;p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7.1 – Purpose of WANs</a:t>
            </a:r>
            <a:endParaRPr/>
          </a:p>
          <a:p>
            <a:pPr indent="0" lvl="0" marL="0" rtl="0" algn="l">
              <a:spcBef>
                <a:spcPts val="0"/>
              </a:spcBef>
              <a:spcAft>
                <a:spcPts val="0"/>
              </a:spcAft>
              <a:buNone/>
            </a:pPr>
            <a:r>
              <a:rPr lang="en-US"/>
              <a:t>7.1.3 – WAN Topologies (Cont.)</a:t>
            </a:r>
            <a:endParaRPr/>
          </a:p>
        </p:txBody>
      </p:sp>
      <p:sp>
        <p:nvSpPr>
          <p:cNvPr id="290" name="Google Shape;290;p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8" name="Google Shape;298;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7.1 – Purpose of WANs</a:t>
            </a:r>
            <a:endParaRPr/>
          </a:p>
          <a:p>
            <a:pPr indent="0" lvl="0" marL="0" rtl="0" algn="l">
              <a:spcBef>
                <a:spcPts val="0"/>
              </a:spcBef>
              <a:spcAft>
                <a:spcPts val="0"/>
              </a:spcAft>
              <a:buNone/>
            </a:pPr>
            <a:r>
              <a:rPr lang="en-US"/>
              <a:t>7.1.3 – WAN Topologies (Cont.)</a:t>
            </a:r>
            <a:endParaRPr/>
          </a:p>
        </p:txBody>
      </p:sp>
      <p:sp>
        <p:nvSpPr>
          <p:cNvPr id="299" name="Google Shape;299;p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6" name="Google Shape;306;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7.1 – Purpose of WANs</a:t>
            </a:r>
            <a:endParaRPr/>
          </a:p>
          <a:p>
            <a:pPr indent="0" lvl="0" marL="0" rtl="0" algn="l">
              <a:spcBef>
                <a:spcPts val="0"/>
              </a:spcBef>
              <a:spcAft>
                <a:spcPts val="0"/>
              </a:spcAft>
              <a:buNone/>
            </a:pPr>
            <a:r>
              <a:rPr lang="en-US"/>
              <a:t>7.1.3 – WAN Topologies (Cont.)</a:t>
            </a:r>
            <a:endParaRPr/>
          </a:p>
        </p:txBody>
      </p:sp>
      <p:sp>
        <p:nvSpPr>
          <p:cNvPr id="307" name="Google Shape;307;p1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6" name="Google Shape;316;p1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7.1 – Purpose of WANs</a:t>
            </a:r>
            <a:endParaRPr/>
          </a:p>
          <a:p>
            <a:pPr indent="0" lvl="0" marL="0" rtl="0" algn="l">
              <a:spcBef>
                <a:spcPts val="0"/>
              </a:spcBef>
              <a:spcAft>
                <a:spcPts val="0"/>
              </a:spcAft>
              <a:buNone/>
            </a:pPr>
            <a:r>
              <a:rPr lang="en-US"/>
              <a:t>7.1.4 – Carrier Connections</a:t>
            </a:r>
            <a:endParaRPr/>
          </a:p>
        </p:txBody>
      </p:sp>
      <p:sp>
        <p:nvSpPr>
          <p:cNvPr id="317" name="Google Shape;317;p1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1" name="Shape 321"/>
        <p:cNvGrpSpPr/>
        <p:nvPr/>
      </p:nvGrpSpPr>
      <p:grpSpPr>
        <a:xfrm>
          <a:off x="0" y="0"/>
          <a:ext cx="0" cy="0"/>
          <a:chOff x="0" y="0"/>
          <a:chExt cx="0" cy="0"/>
        </a:xfrm>
      </p:grpSpPr>
      <p:sp>
        <p:nvSpPr>
          <p:cNvPr id="322" name="Google Shape;322;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3" name="Google Shape;323;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7.1 – Purpose of WANs</a:t>
            </a:r>
            <a:endParaRPr/>
          </a:p>
          <a:p>
            <a:pPr indent="0" lvl="0" marL="0" rtl="0" algn="l">
              <a:spcBef>
                <a:spcPts val="0"/>
              </a:spcBef>
              <a:spcAft>
                <a:spcPts val="0"/>
              </a:spcAft>
              <a:buNone/>
            </a:pPr>
            <a:r>
              <a:rPr lang="en-US"/>
              <a:t>7.1.4 – Carrier Connections (Cont.)</a:t>
            </a:r>
            <a:endParaRPr/>
          </a:p>
        </p:txBody>
      </p:sp>
      <p:sp>
        <p:nvSpPr>
          <p:cNvPr id="324" name="Google Shape;324;p1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2" name="Google Shape;332;p1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7.1 – Purpose of WANs</a:t>
            </a:r>
            <a:endParaRPr/>
          </a:p>
          <a:p>
            <a:pPr indent="0" lvl="0" marL="0" rtl="0" algn="l">
              <a:spcBef>
                <a:spcPts val="0"/>
              </a:spcBef>
              <a:spcAft>
                <a:spcPts val="0"/>
              </a:spcAft>
              <a:buNone/>
            </a:pPr>
            <a:r>
              <a:rPr lang="en-US"/>
              <a:t>7.1.5 – Evolving Networks</a:t>
            </a:r>
            <a:endParaRPr/>
          </a:p>
        </p:txBody>
      </p:sp>
      <p:sp>
        <p:nvSpPr>
          <p:cNvPr id="333" name="Google Shape;333;p1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9" name="Google Shape;339;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7.1 – Purpose of WANs</a:t>
            </a:r>
            <a:endParaRPr/>
          </a:p>
          <a:p>
            <a:pPr indent="0" lvl="0" marL="0" rtl="0" algn="l">
              <a:spcBef>
                <a:spcPts val="0"/>
              </a:spcBef>
              <a:spcAft>
                <a:spcPts val="0"/>
              </a:spcAft>
              <a:buNone/>
            </a:pPr>
            <a:r>
              <a:rPr lang="en-US"/>
              <a:t>7.1.5 – Evolving Networks (Cont.)</a:t>
            </a:r>
            <a:endParaRPr/>
          </a:p>
        </p:txBody>
      </p:sp>
      <p:sp>
        <p:nvSpPr>
          <p:cNvPr id="340" name="Google Shape;340;p1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7.1 – Purpose of WANs</a:t>
            </a:r>
            <a:endParaRPr/>
          </a:p>
          <a:p>
            <a:pPr indent="0" lvl="0" marL="0" rtl="0" algn="l">
              <a:spcBef>
                <a:spcPts val="0"/>
              </a:spcBef>
              <a:spcAft>
                <a:spcPts val="0"/>
              </a:spcAft>
              <a:buNone/>
            </a:pPr>
            <a:r>
              <a:rPr lang="en-US"/>
              <a:t>7.1.5 – Evolving Networks (Cont.)</a:t>
            </a:r>
            <a:endParaRPr/>
          </a:p>
        </p:txBody>
      </p:sp>
      <p:sp>
        <p:nvSpPr>
          <p:cNvPr id="348" name="Google Shape;348;p1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55" name="Google Shape;355;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7.1 – Purpose of WANs</a:t>
            </a:r>
            <a:endParaRPr/>
          </a:p>
          <a:p>
            <a:pPr indent="0" lvl="0" marL="0" rtl="0" algn="l">
              <a:spcBef>
                <a:spcPts val="0"/>
              </a:spcBef>
              <a:spcAft>
                <a:spcPts val="0"/>
              </a:spcAft>
              <a:buNone/>
            </a:pPr>
            <a:r>
              <a:rPr lang="en-US"/>
              <a:t>7.1.5 – Evolving Networks (Cont.)</a:t>
            </a:r>
            <a:endParaRPr/>
          </a:p>
        </p:txBody>
      </p:sp>
      <p:sp>
        <p:nvSpPr>
          <p:cNvPr id="356" name="Google Shape;356;p1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p1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7.1 – Purpose of WANs</a:t>
            </a:r>
            <a:endParaRPr/>
          </a:p>
          <a:p>
            <a:pPr indent="0" lvl="0" marL="0" rtl="0" algn="l">
              <a:spcBef>
                <a:spcPts val="0"/>
              </a:spcBef>
              <a:spcAft>
                <a:spcPts val="0"/>
              </a:spcAft>
              <a:buNone/>
            </a:pPr>
            <a:r>
              <a:rPr lang="en-US"/>
              <a:t>7.1.5 – Evolving Networks (Cont.)</a:t>
            </a:r>
            <a:endParaRPr/>
          </a:p>
          <a:p>
            <a:pPr indent="0" lvl="0" marL="0" rtl="0" algn="l">
              <a:spcBef>
                <a:spcPts val="0"/>
              </a:spcBef>
              <a:spcAft>
                <a:spcPts val="0"/>
              </a:spcAft>
              <a:buNone/>
            </a:pPr>
            <a:r>
              <a:rPr lang="en-US"/>
              <a:t>7.1.6 – Check Your Understanding – Purpose of WANs</a:t>
            </a:r>
            <a:endParaRPr/>
          </a:p>
        </p:txBody>
      </p:sp>
      <p:sp>
        <p:nvSpPr>
          <p:cNvPr id="364" name="Google Shape;364;p1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1" name="Google Shape;371;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7.2 – WAN Operations</a:t>
            </a:r>
            <a:endParaRPr/>
          </a:p>
          <a:p>
            <a:pPr indent="0" lvl="0" marL="0" rtl="0" algn="l">
              <a:spcBef>
                <a:spcPts val="0"/>
              </a:spcBef>
              <a:spcAft>
                <a:spcPts val="0"/>
              </a:spcAft>
              <a:buNone/>
            </a:pPr>
            <a:r>
              <a:t/>
            </a:r>
            <a:endParaRPr/>
          </a:p>
        </p:txBody>
      </p:sp>
      <p:sp>
        <p:nvSpPr>
          <p:cNvPr id="372" name="Google Shape;372;p1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7" name="Google Shape;377;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7.2 – WAN Operations</a:t>
            </a:r>
            <a:endParaRPr/>
          </a:p>
          <a:p>
            <a:pPr indent="0" lvl="0" marL="0" rtl="0" algn="l">
              <a:spcBef>
                <a:spcPts val="0"/>
              </a:spcBef>
              <a:spcAft>
                <a:spcPts val="0"/>
              </a:spcAft>
              <a:buNone/>
            </a:pPr>
            <a:r>
              <a:rPr lang="en-US"/>
              <a:t>7.2.1 – WAN Standards</a:t>
            </a:r>
            <a:endParaRPr/>
          </a:p>
        </p:txBody>
      </p:sp>
      <p:sp>
        <p:nvSpPr>
          <p:cNvPr id="378" name="Google Shape;378;p1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4" name="Google Shape;384;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7.2 – WAN Operations</a:t>
            </a:r>
            <a:endParaRPr/>
          </a:p>
          <a:p>
            <a:pPr indent="0" lvl="0" marL="0" rtl="0" algn="l">
              <a:spcBef>
                <a:spcPts val="0"/>
              </a:spcBef>
              <a:spcAft>
                <a:spcPts val="0"/>
              </a:spcAft>
              <a:buNone/>
            </a:pPr>
            <a:r>
              <a:rPr lang="en-US"/>
              <a:t>7.2.2 – WANs in the OSI Model</a:t>
            </a:r>
            <a:endParaRPr/>
          </a:p>
        </p:txBody>
      </p:sp>
      <p:sp>
        <p:nvSpPr>
          <p:cNvPr id="385" name="Google Shape;385;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2" name="Google Shape;392;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7.2 – WAN Operations</a:t>
            </a:r>
            <a:endParaRPr/>
          </a:p>
          <a:p>
            <a:pPr indent="0" lvl="0" marL="0" rtl="0" algn="l">
              <a:spcBef>
                <a:spcPts val="0"/>
              </a:spcBef>
              <a:spcAft>
                <a:spcPts val="0"/>
              </a:spcAft>
              <a:buNone/>
            </a:pPr>
            <a:r>
              <a:rPr lang="en-US"/>
              <a:t>7.2.3 – Common WAN Terminology</a:t>
            </a:r>
            <a:endParaRPr/>
          </a:p>
        </p:txBody>
      </p:sp>
      <p:sp>
        <p:nvSpPr>
          <p:cNvPr id="393" name="Google Shape;393;p2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1" name="Google Shape;401;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7.2 – WAN Operations</a:t>
            </a:r>
            <a:endParaRPr/>
          </a:p>
          <a:p>
            <a:pPr indent="0" lvl="0" marL="0" rtl="0" algn="l">
              <a:spcBef>
                <a:spcPts val="0"/>
              </a:spcBef>
              <a:spcAft>
                <a:spcPts val="0"/>
              </a:spcAft>
              <a:buNone/>
            </a:pPr>
            <a:r>
              <a:rPr lang="en-US"/>
              <a:t>7.2.4 – Common WAN Terminology (Cont.)</a:t>
            </a:r>
            <a:endParaRPr/>
          </a:p>
        </p:txBody>
      </p:sp>
      <p:sp>
        <p:nvSpPr>
          <p:cNvPr id="402" name="Google Shape;402;p2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09" name="Google Shape;409;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7.2 – WAN Operations</a:t>
            </a:r>
            <a:endParaRPr/>
          </a:p>
          <a:p>
            <a:pPr indent="0" lvl="0" marL="0" rtl="0" algn="l">
              <a:spcBef>
                <a:spcPts val="0"/>
              </a:spcBef>
              <a:spcAft>
                <a:spcPts val="0"/>
              </a:spcAft>
              <a:buNone/>
            </a:pPr>
            <a:r>
              <a:rPr lang="en-US"/>
              <a:t>7.2.4 – WAN Devices</a:t>
            </a:r>
            <a:endParaRPr/>
          </a:p>
        </p:txBody>
      </p:sp>
      <p:sp>
        <p:nvSpPr>
          <p:cNvPr id="410" name="Google Shape;410;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8" name="Google Shape;418;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7.2 – WAN Operations</a:t>
            </a:r>
            <a:endParaRPr/>
          </a:p>
          <a:p>
            <a:pPr indent="0" lvl="0" marL="0" rtl="0" algn="l">
              <a:spcBef>
                <a:spcPts val="0"/>
              </a:spcBef>
              <a:spcAft>
                <a:spcPts val="0"/>
              </a:spcAft>
              <a:buNone/>
            </a:pPr>
            <a:r>
              <a:rPr lang="en-US"/>
              <a:t>7.2.5 – Serial Communication </a:t>
            </a:r>
            <a:endParaRPr/>
          </a:p>
        </p:txBody>
      </p:sp>
      <p:sp>
        <p:nvSpPr>
          <p:cNvPr id="419" name="Google Shape;419;p2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6" name="Google Shape;426;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7.2 – WAN Operations</a:t>
            </a:r>
            <a:endParaRPr/>
          </a:p>
          <a:p>
            <a:pPr indent="0" lvl="0" marL="0" rtl="0" algn="l">
              <a:spcBef>
                <a:spcPts val="0"/>
              </a:spcBef>
              <a:spcAft>
                <a:spcPts val="0"/>
              </a:spcAft>
              <a:buNone/>
            </a:pPr>
            <a:r>
              <a:rPr lang="en-US"/>
              <a:t>7.2.6 – Circuit-Switched Communication</a:t>
            </a:r>
            <a:endParaRPr/>
          </a:p>
        </p:txBody>
      </p:sp>
      <p:sp>
        <p:nvSpPr>
          <p:cNvPr id="427" name="Google Shape;427;p2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4" name="Google Shape;434;p2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7.2 – WAN Operations</a:t>
            </a:r>
            <a:endParaRPr/>
          </a:p>
          <a:p>
            <a:pPr indent="0" lvl="0" marL="0" rtl="0" algn="l">
              <a:spcBef>
                <a:spcPts val="0"/>
              </a:spcBef>
              <a:spcAft>
                <a:spcPts val="0"/>
              </a:spcAft>
              <a:buNone/>
            </a:pPr>
            <a:r>
              <a:rPr lang="en-US"/>
              <a:t>7.2.7 – Packet-Switched Communication</a:t>
            </a:r>
            <a:endParaRPr/>
          </a:p>
        </p:txBody>
      </p:sp>
      <p:sp>
        <p:nvSpPr>
          <p:cNvPr id="435" name="Google Shape;435;p2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2" name="Google Shape;442;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7.2 – WAN Operations</a:t>
            </a:r>
            <a:endParaRPr/>
          </a:p>
          <a:p>
            <a:pPr indent="0" lvl="0" marL="0" rtl="0" algn="l">
              <a:spcBef>
                <a:spcPts val="0"/>
              </a:spcBef>
              <a:spcAft>
                <a:spcPts val="0"/>
              </a:spcAft>
              <a:buNone/>
            </a:pPr>
            <a:r>
              <a:rPr lang="en-US"/>
              <a:t>7.2.8 – SDH, SONET, and DWDM</a:t>
            </a:r>
            <a:endParaRPr/>
          </a:p>
          <a:p>
            <a:pPr indent="0" lvl="0" marL="0" rtl="0" algn="l">
              <a:spcBef>
                <a:spcPts val="0"/>
              </a:spcBef>
              <a:spcAft>
                <a:spcPts val="0"/>
              </a:spcAft>
              <a:buNone/>
            </a:pPr>
            <a:r>
              <a:rPr lang="en-US"/>
              <a:t>7.2.9 – Check Your Understanding – WAN Operations</a:t>
            </a:r>
            <a:endParaRPr/>
          </a:p>
        </p:txBody>
      </p:sp>
      <p:sp>
        <p:nvSpPr>
          <p:cNvPr id="443" name="Google Shape;443;p2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7" name="Shape 447"/>
        <p:cNvGrpSpPr/>
        <p:nvPr/>
      </p:nvGrpSpPr>
      <p:grpSpPr>
        <a:xfrm>
          <a:off x="0" y="0"/>
          <a:ext cx="0" cy="0"/>
          <a:chOff x="0" y="0"/>
          <a:chExt cx="0" cy="0"/>
        </a:xfrm>
      </p:grpSpPr>
      <p:sp>
        <p:nvSpPr>
          <p:cNvPr id="448" name="Google Shape;448;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9" name="Google Shape;449;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7.0 - WAN Concepts		</a:t>
            </a:r>
            <a:endParaRPr/>
          </a:p>
          <a:p>
            <a:pPr indent="0" lvl="0" marL="0" rtl="0" algn="l">
              <a:spcBef>
                <a:spcPts val="0"/>
              </a:spcBef>
              <a:spcAft>
                <a:spcPts val="0"/>
              </a:spcAft>
              <a:buNone/>
            </a:pPr>
            <a:r>
              <a:rPr lang="en-US"/>
              <a:t>7.3 – Traditional WAN Connectivity</a:t>
            </a:r>
            <a:endParaRPr/>
          </a:p>
          <a:p>
            <a:pPr indent="0" lvl="0" marL="0" rtl="0" algn="l">
              <a:spcBef>
                <a:spcPts val="0"/>
              </a:spcBef>
              <a:spcAft>
                <a:spcPts val="0"/>
              </a:spcAft>
              <a:buNone/>
            </a:pPr>
            <a:r>
              <a:t/>
            </a:r>
            <a:endParaRPr/>
          </a:p>
        </p:txBody>
      </p:sp>
      <p:sp>
        <p:nvSpPr>
          <p:cNvPr id="450" name="Google Shape;450;p2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55" name="Google Shape;455;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7.0 - WAN Concepts		</a:t>
            </a:r>
            <a:endParaRPr/>
          </a:p>
          <a:p>
            <a:pPr indent="0" lvl="0" marL="0" rtl="0" algn="l">
              <a:spcBef>
                <a:spcPts val="0"/>
              </a:spcBef>
              <a:spcAft>
                <a:spcPts val="0"/>
              </a:spcAft>
              <a:buNone/>
            </a:pPr>
            <a:r>
              <a:rPr lang="en-US"/>
              <a:t>7.3 – Traditional WAN Connectivity</a:t>
            </a:r>
            <a:endParaRPr/>
          </a:p>
          <a:p>
            <a:pPr indent="0" lvl="0" marL="0" rtl="0" algn="l">
              <a:spcBef>
                <a:spcPts val="0"/>
              </a:spcBef>
              <a:spcAft>
                <a:spcPts val="0"/>
              </a:spcAft>
              <a:buNone/>
            </a:pPr>
            <a:r>
              <a:rPr lang="en-US"/>
              <a:t>7.3.1 – Traditional WAN Connectivity Options</a:t>
            </a:r>
            <a:endParaRPr/>
          </a:p>
        </p:txBody>
      </p:sp>
      <p:sp>
        <p:nvSpPr>
          <p:cNvPr id="456" name="Google Shape;456;p2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 name="Google Shape;463;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7.0 - WAN Concepts		</a:t>
            </a:r>
            <a:endParaRPr/>
          </a:p>
          <a:p>
            <a:pPr indent="0" lvl="0" marL="0" rtl="0" algn="l">
              <a:spcBef>
                <a:spcPts val="0"/>
              </a:spcBef>
              <a:spcAft>
                <a:spcPts val="0"/>
              </a:spcAft>
              <a:buNone/>
            </a:pPr>
            <a:r>
              <a:rPr lang="en-US"/>
              <a:t>7.3 – Traditional WAN Connectivity</a:t>
            </a:r>
            <a:endParaRPr/>
          </a:p>
          <a:p>
            <a:pPr indent="0" lvl="0" marL="0" rtl="0" algn="l">
              <a:spcBef>
                <a:spcPts val="0"/>
              </a:spcBef>
              <a:spcAft>
                <a:spcPts val="0"/>
              </a:spcAft>
              <a:buNone/>
            </a:pPr>
            <a:r>
              <a:rPr lang="en-US"/>
              <a:t>7.3.2– Common WAN Terminology</a:t>
            </a:r>
            <a:endParaRPr/>
          </a:p>
        </p:txBody>
      </p:sp>
      <p:sp>
        <p:nvSpPr>
          <p:cNvPr id="464" name="Google Shape;464;p3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0" name="Google Shape;470;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7.0 - WAN Concepts		</a:t>
            </a:r>
            <a:endParaRPr/>
          </a:p>
          <a:p>
            <a:pPr indent="0" lvl="0" marL="0" rtl="0" algn="l">
              <a:spcBef>
                <a:spcPts val="0"/>
              </a:spcBef>
              <a:spcAft>
                <a:spcPts val="0"/>
              </a:spcAft>
              <a:buNone/>
            </a:pPr>
            <a:r>
              <a:rPr lang="en-US"/>
              <a:t>7.3 – Traditional WAN Connectivity</a:t>
            </a:r>
            <a:endParaRPr/>
          </a:p>
          <a:p>
            <a:pPr indent="0" lvl="0" marL="0" rtl="0" algn="l">
              <a:spcBef>
                <a:spcPts val="0"/>
              </a:spcBef>
              <a:spcAft>
                <a:spcPts val="0"/>
              </a:spcAft>
              <a:buNone/>
            </a:pPr>
            <a:r>
              <a:rPr lang="en-US"/>
              <a:t>7.3.2– Common WAN Terminology (Cont.)</a:t>
            </a:r>
            <a:endParaRPr/>
          </a:p>
        </p:txBody>
      </p:sp>
      <p:sp>
        <p:nvSpPr>
          <p:cNvPr id="471" name="Google Shape;471;p3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 name="Google Shape;479;p3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7.3 – Traditional WAN Connectivity</a:t>
            </a:r>
            <a:endParaRPr/>
          </a:p>
          <a:p>
            <a:pPr indent="0" lvl="0" marL="0" rtl="0" algn="l">
              <a:spcBef>
                <a:spcPts val="0"/>
              </a:spcBef>
              <a:spcAft>
                <a:spcPts val="0"/>
              </a:spcAft>
              <a:buNone/>
            </a:pPr>
            <a:r>
              <a:rPr lang="en-US"/>
              <a:t>7.3.3– Circuit-Switched Options</a:t>
            </a:r>
            <a:endParaRPr/>
          </a:p>
        </p:txBody>
      </p:sp>
      <p:sp>
        <p:nvSpPr>
          <p:cNvPr id="480" name="Google Shape;480;p3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86" name="Google Shape;486;p3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7.3 – Traditional WAN Connectivity</a:t>
            </a:r>
            <a:endParaRPr/>
          </a:p>
          <a:p>
            <a:pPr indent="0" lvl="0" marL="0" rtl="0" algn="l">
              <a:spcBef>
                <a:spcPts val="0"/>
              </a:spcBef>
              <a:spcAft>
                <a:spcPts val="0"/>
              </a:spcAft>
              <a:buNone/>
            </a:pPr>
            <a:r>
              <a:rPr lang="en-US"/>
              <a:t>7.3.4 – Packet-Switched Options</a:t>
            </a:r>
            <a:endParaRPr/>
          </a:p>
          <a:p>
            <a:pPr indent="0" lvl="0" marL="0" rtl="0" algn="l">
              <a:spcBef>
                <a:spcPts val="0"/>
              </a:spcBef>
              <a:spcAft>
                <a:spcPts val="0"/>
              </a:spcAft>
              <a:buNone/>
            </a:pPr>
            <a:r>
              <a:rPr lang="en-US"/>
              <a:t>7.3.5 – Check Your Understanding – Traditional WAN Connectivity</a:t>
            </a:r>
            <a:endParaRPr/>
          </a:p>
        </p:txBody>
      </p:sp>
      <p:sp>
        <p:nvSpPr>
          <p:cNvPr id="487" name="Google Shape;487;p3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94" name="Google Shape;494;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7.4 – Modern WAN Connectivity</a:t>
            </a:r>
            <a:endParaRPr/>
          </a:p>
          <a:p>
            <a:pPr indent="0" lvl="0" marL="0" rtl="0" algn="l">
              <a:spcBef>
                <a:spcPts val="0"/>
              </a:spcBef>
              <a:spcAft>
                <a:spcPts val="0"/>
              </a:spcAft>
              <a:buNone/>
            </a:pPr>
            <a:r>
              <a:t/>
            </a:r>
            <a:endParaRPr/>
          </a:p>
        </p:txBody>
      </p:sp>
      <p:sp>
        <p:nvSpPr>
          <p:cNvPr id="495" name="Google Shape;495;p3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0" name="Google Shape;500;p3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7.0 - WAN Concepts		</a:t>
            </a:r>
            <a:endParaRPr/>
          </a:p>
          <a:p>
            <a:pPr indent="0" lvl="0" marL="0" rtl="0" algn="l">
              <a:spcBef>
                <a:spcPts val="0"/>
              </a:spcBef>
              <a:spcAft>
                <a:spcPts val="0"/>
              </a:spcAft>
              <a:buNone/>
            </a:pPr>
            <a:r>
              <a:rPr lang="en-US"/>
              <a:t>7.4 – Modern WAN Connectivity</a:t>
            </a:r>
            <a:endParaRPr/>
          </a:p>
          <a:p>
            <a:pPr indent="0" lvl="0" marL="0" rtl="0" algn="l">
              <a:spcBef>
                <a:spcPts val="0"/>
              </a:spcBef>
              <a:spcAft>
                <a:spcPts val="0"/>
              </a:spcAft>
              <a:buNone/>
            </a:pPr>
            <a:r>
              <a:rPr lang="en-US"/>
              <a:t>7.4.1 – Modern WANs</a:t>
            </a:r>
            <a:endParaRPr/>
          </a:p>
        </p:txBody>
      </p:sp>
      <p:sp>
        <p:nvSpPr>
          <p:cNvPr id="501" name="Google Shape;501;p3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7" name="Shape 507"/>
        <p:cNvGrpSpPr/>
        <p:nvPr/>
      </p:nvGrpSpPr>
      <p:grpSpPr>
        <a:xfrm>
          <a:off x="0" y="0"/>
          <a:ext cx="0" cy="0"/>
          <a:chOff x="0" y="0"/>
          <a:chExt cx="0" cy="0"/>
        </a:xfrm>
      </p:grpSpPr>
      <p:sp>
        <p:nvSpPr>
          <p:cNvPr id="508" name="Google Shape;508;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09" name="Google Shape;509;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7.0 - WAN Concepts		</a:t>
            </a:r>
            <a:endParaRPr/>
          </a:p>
          <a:p>
            <a:pPr indent="0" lvl="0" marL="0" rtl="0" algn="l">
              <a:spcBef>
                <a:spcPts val="0"/>
              </a:spcBef>
              <a:spcAft>
                <a:spcPts val="0"/>
              </a:spcAft>
              <a:buNone/>
            </a:pPr>
            <a:r>
              <a:rPr lang="en-US"/>
              <a:t>7.4 – Modern WAN Connectivity</a:t>
            </a:r>
            <a:endParaRPr/>
          </a:p>
          <a:p>
            <a:pPr indent="0" lvl="0" marL="0" rtl="0" algn="l">
              <a:spcBef>
                <a:spcPts val="0"/>
              </a:spcBef>
              <a:spcAft>
                <a:spcPts val="0"/>
              </a:spcAft>
              <a:buNone/>
            </a:pPr>
            <a:r>
              <a:rPr lang="en-US"/>
              <a:t>7.4.2 – Modern WAN Connectivity Options</a:t>
            </a:r>
            <a:endParaRPr/>
          </a:p>
        </p:txBody>
      </p:sp>
      <p:sp>
        <p:nvSpPr>
          <p:cNvPr id="510" name="Google Shape;510;p3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7" name="Google Shape;517;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7.0 - WAN Concepts		</a:t>
            </a:r>
            <a:endParaRPr/>
          </a:p>
          <a:p>
            <a:pPr indent="0" lvl="0" marL="0" rtl="0" algn="l">
              <a:spcBef>
                <a:spcPts val="0"/>
              </a:spcBef>
              <a:spcAft>
                <a:spcPts val="0"/>
              </a:spcAft>
              <a:buNone/>
            </a:pPr>
            <a:r>
              <a:rPr lang="en-US"/>
              <a:t>7.4 – Modern WAN Connectivity</a:t>
            </a:r>
            <a:endParaRPr/>
          </a:p>
          <a:p>
            <a:pPr indent="0" lvl="0" marL="0" rtl="0" algn="l">
              <a:spcBef>
                <a:spcPts val="0"/>
              </a:spcBef>
              <a:spcAft>
                <a:spcPts val="0"/>
              </a:spcAft>
              <a:buNone/>
            </a:pPr>
            <a:r>
              <a:rPr lang="en-US"/>
              <a:t>7.4.3 – Ethernet WAN</a:t>
            </a:r>
            <a:endParaRPr/>
          </a:p>
        </p:txBody>
      </p:sp>
      <p:sp>
        <p:nvSpPr>
          <p:cNvPr id="518" name="Google Shape;518;p3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26" name="Google Shape;526;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7.0 - WAN Concepts		</a:t>
            </a:r>
            <a:endParaRPr/>
          </a:p>
          <a:p>
            <a:pPr indent="0" lvl="0" marL="0" rtl="0" algn="l">
              <a:spcBef>
                <a:spcPts val="0"/>
              </a:spcBef>
              <a:spcAft>
                <a:spcPts val="0"/>
              </a:spcAft>
              <a:buNone/>
            </a:pPr>
            <a:r>
              <a:rPr lang="en-US"/>
              <a:t>7.4 – Modern WAN Connectivity</a:t>
            </a:r>
            <a:endParaRPr/>
          </a:p>
          <a:p>
            <a:pPr indent="0" lvl="0" marL="0" rtl="0" algn="l">
              <a:spcBef>
                <a:spcPts val="0"/>
              </a:spcBef>
              <a:spcAft>
                <a:spcPts val="0"/>
              </a:spcAft>
              <a:buNone/>
            </a:pPr>
            <a:r>
              <a:rPr lang="en-US"/>
              <a:t>7.4.4 – MPLS</a:t>
            </a:r>
            <a:endParaRPr/>
          </a:p>
          <a:p>
            <a:pPr indent="0" lvl="0" marL="0" rtl="0" algn="l">
              <a:spcBef>
                <a:spcPts val="0"/>
              </a:spcBef>
              <a:spcAft>
                <a:spcPts val="0"/>
              </a:spcAft>
              <a:buNone/>
            </a:pPr>
            <a:r>
              <a:rPr lang="en-US"/>
              <a:t>7.4.5 – Check Your Understanding – Modern WAN Connectivity</a:t>
            </a:r>
            <a:endParaRPr/>
          </a:p>
        </p:txBody>
      </p:sp>
      <p:sp>
        <p:nvSpPr>
          <p:cNvPr id="527" name="Google Shape;527;p3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34" name="Google Shape;534;p3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7.5 – Internet-Based Connectivity</a:t>
            </a:r>
            <a:endParaRPr/>
          </a:p>
          <a:p>
            <a:pPr indent="0" lvl="0" marL="0" rtl="0" algn="l">
              <a:spcBef>
                <a:spcPts val="0"/>
              </a:spcBef>
              <a:spcAft>
                <a:spcPts val="0"/>
              </a:spcAft>
              <a:buNone/>
            </a:pPr>
            <a:r>
              <a:t/>
            </a:r>
            <a:endParaRPr/>
          </a:p>
        </p:txBody>
      </p:sp>
      <p:sp>
        <p:nvSpPr>
          <p:cNvPr id="535" name="Google Shape;535;p3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0" name="Google Shape;540;p4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7.0 - WAN Concepts		</a:t>
            </a:r>
            <a:endParaRPr/>
          </a:p>
          <a:p>
            <a:pPr indent="0" lvl="0" marL="0" rtl="0" algn="l">
              <a:spcBef>
                <a:spcPts val="0"/>
              </a:spcBef>
              <a:spcAft>
                <a:spcPts val="0"/>
              </a:spcAft>
              <a:buNone/>
            </a:pPr>
            <a:r>
              <a:rPr lang="en-US"/>
              <a:t>7.5 – Internet-Based Connectivity</a:t>
            </a:r>
            <a:endParaRPr/>
          </a:p>
          <a:p>
            <a:pPr indent="0" lvl="0" marL="0" rtl="0" algn="l">
              <a:spcBef>
                <a:spcPts val="0"/>
              </a:spcBef>
              <a:spcAft>
                <a:spcPts val="0"/>
              </a:spcAft>
              <a:buNone/>
            </a:pPr>
            <a:r>
              <a:rPr lang="en-US"/>
              <a:t>7.5.1 – Internet-Based Connectivity Options</a:t>
            </a:r>
            <a:endParaRPr/>
          </a:p>
        </p:txBody>
      </p:sp>
      <p:sp>
        <p:nvSpPr>
          <p:cNvPr id="541" name="Google Shape;541;p4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48" name="Google Shape;548;p4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7.0 - WAN Concepts		</a:t>
            </a:r>
            <a:endParaRPr/>
          </a:p>
          <a:p>
            <a:pPr indent="0" lvl="0" marL="0" rtl="0" algn="l">
              <a:spcBef>
                <a:spcPts val="0"/>
              </a:spcBef>
              <a:spcAft>
                <a:spcPts val="0"/>
              </a:spcAft>
              <a:buNone/>
            </a:pPr>
            <a:r>
              <a:rPr lang="en-US"/>
              <a:t>7.5 – Internet-Based Connectivity</a:t>
            </a:r>
            <a:endParaRPr/>
          </a:p>
          <a:p>
            <a:pPr indent="0" lvl="0" marL="0" rtl="0" algn="l">
              <a:spcBef>
                <a:spcPts val="0"/>
              </a:spcBef>
              <a:spcAft>
                <a:spcPts val="0"/>
              </a:spcAft>
              <a:buNone/>
            </a:pPr>
            <a:r>
              <a:rPr lang="en-US"/>
              <a:t>7.5.2 – DSL Technology</a:t>
            </a:r>
            <a:endParaRPr/>
          </a:p>
        </p:txBody>
      </p:sp>
      <p:sp>
        <p:nvSpPr>
          <p:cNvPr id="549" name="Google Shape;549;p4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p4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6" name="Google Shape;556;p4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7.5 – Internet-Based Connectivity</a:t>
            </a:r>
            <a:endParaRPr/>
          </a:p>
          <a:p>
            <a:pPr indent="0" lvl="0" marL="0" rtl="0" algn="l">
              <a:spcBef>
                <a:spcPts val="0"/>
              </a:spcBef>
              <a:spcAft>
                <a:spcPts val="0"/>
              </a:spcAft>
              <a:buNone/>
            </a:pPr>
            <a:r>
              <a:rPr lang="en-US"/>
              <a:t>7.5.3 – DSL Connections</a:t>
            </a:r>
            <a:endParaRPr/>
          </a:p>
        </p:txBody>
      </p:sp>
      <p:sp>
        <p:nvSpPr>
          <p:cNvPr id="557" name="Google Shape;557;p4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2" name="Shape 562"/>
        <p:cNvGrpSpPr/>
        <p:nvPr/>
      </p:nvGrpSpPr>
      <p:grpSpPr>
        <a:xfrm>
          <a:off x="0" y="0"/>
          <a:ext cx="0" cy="0"/>
          <a:chOff x="0" y="0"/>
          <a:chExt cx="0" cy="0"/>
        </a:xfrm>
      </p:grpSpPr>
      <p:sp>
        <p:nvSpPr>
          <p:cNvPr id="563" name="Google Shape;563;p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64" name="Google Shape;564;p4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7.0 - WAN Concepts		</a:t>
            </a:r>
            <a:endParaRPr/>
          </a:p>
          <a:p>
            <a:pPr indent="0" lvl="0" marL="0" rtl="0" algn="l">
              <a:spcBef>
                <a:spcPts val="0"/>
              </a:spcBef>
              <a:spcAft>
                <a:spcPts val="0"/>
              </a:spcAft>
              <a:buNone/>
            </a:pPr>
            <a:r>
              <a:rPr lang="en-US"/>
              <a:t>7.5 – Internet-Based Connectivity</a:t>
            </a:r>
            <a:endParaRPr/>
          </a:p>
          <a:p>
            <a:pPr indent="0" lvl="0" marL="0" rtl="0" algn="l">
              <a:spcBef>
                <a:spcPts val="0"/>
              </a:spcBef>
              <a:spcAft>
                <a:spcPts val="0"/>
              </a:spcAft>
              <a:buNone/>
            </a:pPr>
            <a:r>
              <a:rPr lang="en-US"/>
              <a:t>7.5.4 – DSL and PPP</a:t>
            </a:r>
            <a:endParaRPr/>
          </a:p>
        </p:txBody>
      </p:sp>
      <p:sp>
        <p:nvSpPr>
          <p:cNvPr id="565" name="Google Shape;565;p4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1" name="Shape 571"/>
        <p:cNvGrpSpPr/>
        <p:nvPr/>
      </p:nvGrpSpPr>
      <p:grpSpPr>
        <a:xfrm>
          <a:off x="0" y="0"/>
          <a:ext cx="0" cy="0"/>
          <a:chOff x="0" y="0"/>
          <a:chExt cx="0" cy="0"/>
        </a:xfrm>
      </p:grpSpPr>
      <p:sp>
        <p:nvSpPr>
          <p:cNvPr id="572" name="Google Shape;572;p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73" name="Google Shape;573;p4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7.0 - WAN Concepts		</a:t>
            </a:r>
            <a:endParaRPr/>
          </a:p>
          <a:p>
            <a:pPr indent="0" lvl="0" marL="0" rtl="0" algn="l">
              <a:spcBef>
                <a:spcPts val="0"/>
              </a:spcBef>
              <a:spcAft>
                <a:spcPts val="0"/>
              </a:spcAft>
              <a:buNone/>
            </a:pPr>
            <a:r>
              <a:rPr lang="en-US"/>
              <a:t>7.5 – Internet-Based Connectivity</a:t>
            </a:r>
            <a:endParaRPr/>
          </a:p>
          <a:p>
            <a:pPr indent="0" lvl="0" marL="0" rtl="0" algn="l">
              <a:spcBef>
                <a:spcPts val="0"/>
              </a:spcBef>
              <a:spcAft>
                <a:spcPts val="0"/>
              </a:spcAft>
              <a:buNone/>
            </a:pPr>
            <a:r>
              <a:rPr lang="en-US"/>
              <a:t>7.5.5 – Cable Technology</a:t>
            </a:r>
            <a:endParaRPr/>
          </a:p>
        </p:txBody>
      </p:sp>
      <p:sp>
        <p:nvSpPr>
          <p:cNvPr id="574" name="Google Shape;574;p4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p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2" name="Google Shape;582;p4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7.0 - WAN Concepts		</a:t>
            </a:r>
            <a:endParaRPr/>
          </a:p>
          <a:p>
            <a:pPr indent="0" lvl="0" marL="0" rtl="0" algn="l">
              <a:spcBef>
                <a:spcPts val="0"/>
              </a:spcBef>
              <a:spcAft>
                <a:spcPts val="0"/>
              </a:spcAft>
              <a:buNone/>
            </a:pPr>
            <a:r>
              <a:rPr lang="en-US"/>
              <a:t>7.5 – Internet-Based Connectivity</a:t>
            </a:r>
            <a:endParaRPr/>
          </a:p>
          <a:p>
            <a:pPr indent="0" lvl="0" marL="0" rtl="0" algn="l">
              <a:spcBef>
                <a:spcPts val="0"/>
              </a:spcBef>
              <a:spcAft>
                <a:spcPts val="0"/>
              </a:spcAft>
              <a:buNone/>
            </a:pPr>
            <a:r>
              <a:rPr lang="en-US"/>
              <a:t>7.5.6 – Optical Fiber</a:t>
            </a:r>
            <a:endParaRPr/>
          </a:p>
        </p:txBody>
      </p:sp>
      <p:sp>
        <p:nvSpPr>
          <p:cNvPr id="583" name="Google Shape;583;p4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0" name="Google Shape;590;p4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7.0 - WAN Concepts		</a:t>
            </a:r>
            <a:endParaRPr/>
          </a:p>
          <a:p>
            <a:pPr indent="0" lvl="0" marL="0" rtl="0" algn="l">
              <a:spcBef>
                <a:spcPts val="0"/>
              </a:spcBef>
              <a:spcAft>
                <a:spcPts val="0"/>
              </a:spcAft>
              <a:buNone/>
            </a:pPr>
            <a:r>
              <a:rPr lang="en-US"/>
              <a:t>7.5 – Internet-Based Connectivity</a:t>
            </a:r>
            <a:endParaRPr/>
          </a:p>
          <a:p>
            <a:pPr indent="0" lvl="0" marL="0" rtl="0" algn="l">
              <a:spcBef>
                <a:spcPts val="0"/>
              </a:spcBef>
              <a:spcAft>
                <a:spcPts val="0"/>
              </a:spcAft>
              <a:buNone/>
            </a:pPr>
            <a:r>
              <a:rPr lang="en-US"/>
              <a:t>7.5.7 – Wireless Internet-Based Broadband</a:t>
            </a:r>
            <a:endParaRPr/>
          </a:p>
        </p:txBody>
      </p:sp>
      <p:sp>
        <p:nvSpPr>
          <p:cNvPr id="591" name="Google Shape;591;p4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p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7" name="Google Shape;597;p4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7.0 - WAN Concepts		</a:t>
            </a:r>
            <a:endParaRPr/>
          </a:p>
          <a:p>
            <a:pPr indent="0" lvl="0" marL="0" rtl="0" algn="l">
              <a:spcBef>
                <a:spcPts val="0"/>
              </a:spcBef>
              <a:spcAft>
                <a:spcPts val="0"/>
              </a:spcAft>
              <a:buNone/>
            </a:pPr>
            <a:r>
              <a:rPr lang="en-US"/>
              <a:t>7.5 – Internet-Based Connectivity</a:t>
            </a:r>
            <a:endParaRPr/>
          </a:p>
          <a:p>
            <a:pPr indent="0" lvl="0" marL="0" rtl="0" algn="l">
              <a:spcBef>
                <a:spcPts val="0"/>
              </a:spcBef>
              <a:spcAft>
                <a:spcPts val="0"/>
              </a:spcAft>
              <a:buNone/>
            </a:pPr>
            <a:r>
              <a:rPr lang="en-US"/>
              <a:t>7.5.8 – VPN Technology</a:t>
            </a:r>
            <a:endParaRPr/>
          </a:p>
        </p:txBody>
      </p:sp>
      <p:sp>
        <p:nvSpPr>
          <p:cNvPr id="598" name="Google Shape;598;p4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p4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4" name="Google Shape;604;p4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200"/>
              <a:buFont typeface="Calibri"/>
              <a:buNone/>
            </a:pPr>
            <a:r>
              <a:rPr lang="en-US"/>
              <a:t>7.0 - WAN Concepts		</a:t>
            </a:r>
            <a:endParaRPr/>
          </a:p>
          <a:p>
            <a:pPr indent="0" lvl="0" marL="0" rtl="0" algn="l">
              <a:spcBef>
                <a:spcPts val="0"/>
              </a:spcBef>
              <a:spcAft>
                <a:spcPts val="0"/>
              </a:spcAft>
              <a:buNone/>
            </a:pPr>
            <a:r>
              <a:rPr lang="en-US"/>
              <a:t>7.5 – Internet-Based Connectivity</a:t>
            </a:r>
            <a:endParaRPr/>
          </a:p>
          <a:p>
            <a:pPr indent="0" lvl="0" marL="0" rtl="0" algn="l">
              <a:spcBef>
                <a:spcPts val="0"/>
              </a:spcBef>
              <a:spcAft>
                <a:spcPts val="0"/>
              </a:spcAft>
              <a:buNone/>
            </a:pPr>
            <a:r>
              <a:rPr lang="en-US"/>
              <a:t>7.5.9 – ISP Connectivity Options</a:t>
            </a:r>
            <a:endParaRPr/>
          </a:p>
        </p:txBody>
      </p:sp>
      <p:sp>
        <p:nvSpPr>
          <p:cNvPr id="605" name="Google Shape;605;p4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p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15" name="Google Shape;615;p4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7.5 – Internet-Based Connectivity</a:t>
            </a:r>
            <a:endParaRPr/>
          </a:p>
          <a:p>
            <a:pPr indent="0" lvl="0" marL="0" rtl="0" algn="l">
              <a:spcBef>
                <a:spcPts val="0"/>
              </a:spcBef>
              <a:spcAft>
                <a:spcPts val="0"/>
              </a:spcAft>
              <a:buNone/>
            </a:pPr>
            <a:r>
              <a:rPr lang="en-US"/>
              <a:t>7.5.10 – Broadband Solution Comparison</a:t>
            </a:r>
            <a:endParaRPr/>
          </a:p>
        </p:txBody>
      </p:sp>
      <p:sp>
        <p:nvSpPr>
          <p:cNvPr id="616" name="Google Shape;616;p4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2" name="Google Shape;622;p5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a:t>
            </a:r>
            <a:endParaRPr/>
          </a:p>
          <a:p>
            <a:pPr indent="0" lvl="0" marL="0" rtl="0" algn="l">
              <a:spcBef>
                <a:spcPts val="0"/>
              </a:spcBef>
              <a:spcAft>
                <a:spcPts val="0"/>
              </a:spcAft>
              <a:buNone/>
            </a:pPr>
            <a:r>
              <a:rPr lang="en-US"/>
              <a:t>7.5 – Internet-Based Connectivity</a:t>
            </a:r>
            <a:endParaRPr/>
          </a:p>
          <a:p>
            <a:pPr indent="0" lvl="0" marL="0" rtl="0" algn="l">
              <a:spcBef>
                <a:spcPts val="0"/>
              </a:spcBef>
              <a:spcAft>
                <a:spcPts val="0"/>
              </a:spcAft>
              <a:buNone/>
            </a:pPr>
            <a:r>
              <a:rPr lang="en-US"/>
              <a:t>7.5.11 – Lab – Research Broadband Internet Access Options</a:t>
            </a:r>
            <a:endParaRPr/>
          </a:p>
        </p:txBody>
      </p:sp>
      <p:sp>
        <p:nvSpPr>
          <p:cNvPr id="623" name="Google Shape;623;p5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7" name="Shape 627"/>
        <p:cNvGrpSpPr/>
        <p:nvPr/>
      </p:nvGrpSpPr>
      <p:grpSpPr>
        <a:xfrm>
          <a:off x="0" y="0"/>
          <a:ext cx="0" cy="0"/>
          <a:chOff x="0" y="0"/>
          <a:chExt cx="0" cy="0"/>
        </a:xfrm>
      </p:grpSpPr>
      <p:sp>
        <p:nvSpPr>
          <p:cNvPr id="628" name="Google Shape;628;p5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29" name="Google Shape;629;p5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ACLs for IPv4 Configuration	</a:t>
            </a:r>
            <a:endParaRPr/>
          </a:p>
          <a:p>
            <a:pPr indent="0" lvl="0" marL="0" rtl="0" algn="l">
              <a:spcBef>
                <a:spcPts val="0"/>
              </a:spcBef>
              <a:spcAft>
                <a:spcPts val="0"/>
              </a:spcAft>
              <a:buNone/>
            </a:pPr>
            <a:r>
              <a:rPr lang="en-US"/>
              <a:t>7.6 – Module Practice and Quiz</a:t>
            </a:r>
            <a:endParaRPr/>
          </a:p>
          <a:p>
            <a:pPr indent="0" lvl="0" marL="0" rtl="0" algn="l">
              <a:spcBef>
                <a:spcPts val="0"/>
              </a:spcBef>
              <a:spcAft>
                <a:spcPts val="0"/>
              </a:spcAft>
              <a:buNone/>
            </a:pPr>
            <a:r>
              <a:t/>
            </a:r>
            <a:endParaRPr/>
          </a:p>
        </p:txBody>
      </p:sp>
      <p:sp>
        <p:nvSpPr>
          <p:cNvPr id="630" name="Google Shape;630;p51: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p5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35" name="Google Shape;635;p5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7.6 – Module Practice and Quiz</a:t>
            </a:r>
            <a:endParaRPr/>
          </a:p>
          <a:p>
            <a:pPr indent="0" lvl="0" marL="0" rtl="0" algn="l">
              <a:spcBef>
                <a:spcPts val="0"/>
              </a:spcBef>
              <a:spcAft>
                <a:spcPts val="0"/>
              </a:spcAft>
              <a:buNone/>
            </a:pPr>
            <a:r>
              <a:rPr lang="en-US"/>
              <a:t>7.6.1 – Packet Tracer – WAN Concepts</a:t>
            </a:r>
            <a:endParaRPr/>
          </a:p>
        </p:txBody>
      </p:sp>
      <p:sp>
        <p:nvSpPr>
          <p:cNvPr id="636" name="Google Shape;636;p52: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5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642" name="Google Shape;642;p5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3" name="Google Shape;643;p5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7.6 – Module Practice and Quiz</a:t>
            </a:r>
            <a:endParaRPr/>
          </a:p>
          <a:p>
            <a:pPr indent="0" lvl="0" marL="0" rtl="0" algn="l">
              <a:spcBef>
                <a:spcPts val="0"/>
              </a:spcBef>
              <a:spcAft>
                <a:spcPts val="0"/>
              </a:spcAft>
              <a:buNone/>
            </a:pPr>
            <a:r>
              <a:rPr lang="en-US"/>
              <a:t>7.6.2 – What did I learn in this module?</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7" name="Shape 647"/>
        <p:cNvGrpSpPr/>
        <p:nvPr/>
      </p:nvGrpSpPr>
      <p:grpSpPr>
        <a:xfrm>
          <a:off x="0" y="0"/>
          <a:ext cx="0" cy="0"/>
          <a:chOff x="0" y="0"/>
          <a:chExt cx="0" cy="0"/>
        </a:xfrm>
      </p:grpSpPr>
      <p:sp>
        <p:nvSpPr>
          <p:cNvPr id="648" name="Google Shape;648;p54: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649" name="Google Shape;649;p5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0" name="Google Shape;650;p5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7.6 – Module Practice and Quiz</a:t>
            </a:r>
            <a:endParaRPr/>
          </a:p>
          <a:p>
            <a:pPr indent="0" lvl="0" marL="0" rtl="0" algn="l">
              <a:spcBef>
                <a:spcPts val="0"/>
              </a:spcBef>
              <a:spcAft>
                <a:spcPts val="0"/>
              </a:spcAft>
              <a:buNone/>
            </a:pPr>
            <a:r>
              <a:rPr lang="en-US"/>
              <a:t>7.6.2 – What did I learn in this module?</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4" name="Shape 654"/>
        <p:cNvGrpSpPr/>
        <p:nvPr/>
      </p:nvGrpSpPr>
      <p:grpSpPr>
        <a:xfrm>
          <a:off x="0" y="0"/>
          <a:ext cx="0" cy="0"/>
          <a:chOff x="0" y="0"/>
          <a:chExt cx="0" cy="0"/>
        </a:xfrm>
      </p:grpSpPr>
      <p:sp>
        <p:nvSpPr>
          <p:cNvPr id="655" name="Google Shape;655;p5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656" name="Google Shape;656;p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57" name="Google Shape;657;p5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7.6 – Module Practice and Quiz</a:t>
            </a:r>
            <a:endParaRPr/>
          </a:p>
          <a:p>
            <a:pPr indent="0" lvl="0" marL="0" rtl="0" algn="l">
              <a:spcBef>
                <a:spcPts val="0"/>
              </a:spcBef>
              <a:spcAft>
                <a:spcPts val="0"/>
              </a:spcAft>
              <a:buNone/>
            </a:pPr>
            <a:r>
              <a:rPr lang="en-US"/>
              <a:t>7.6.2 – What did I learn in this module?</a:t>
            </a:r>
            <a:endParaRPr/>
          </a:p>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1" name="Shape 661"/>
        <p:cNvGrpSpPr/>
        <p:nvPr/>
      </p:nvGrpSpPr>
      <p:grpSpPr>
        <a:xfrm>
          <a:off x="0" y="0"/>
          <a:ext cx="0" cy="0"/>
          <a:chOff x="0" y="0"/>
          <a:chExt cx="0" cy="0"/>
        </a:xfrm>
      </p:grpSpPr>
      <p:sp>
        <p:nvSpPr>
          <p:cNvPr id="662" name="Google Shape;662;p56: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663" name="Google Shape;663;p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4" name="Google Shape;664;p5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7.0 - WAN Concepts	</a:t>
            </a:r>
            <a:endParaRPr/>
          </a:p>
          <a:p>
            <a:pPr indent="0" lvl="0" marL="0" rtl="0" algn="l">
              <a:spcBef>
                <a:spcPts val="0"/>
              </a:spcBef>
              <a:spcAft>
                <a:spcPts val="0"/>
              </a:spcAft>
              <a:buNone/>
            </a:pPr>
            <a:r>
              <a:rPr lang="en-US"/>
              <a:t>7.6 – Module Practice and Quiz</a:t>
            </a:r>
            <a:endParaRPr/>
          </a:p>
          <a:p>
            <a:pPr indent="0" lvl="0" marL="0" rtl="0" algn="l">
              <a:spcBef>
                <a:spcPts val="0"/>
              </a:spcBef>
              <a:spcAft>
                <a:spcPts val="0"/>
              </a:spcAft>
              <a:buNone/>
            </a:pPr>
            <a:r>
              <a:rPr lang="en-US"/>
              <a:t>7.6.2 – What did I learn in this module?</a:t>
            </a:r>
            <a:endParaRPr/>
          </a:p>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8" name="Shape 668"/>
        <p:cNvGrpSpPr/>
        <p:nvPr/>
      </p:nvGrpSpPr>
      <p:grpSpPr>
        <a:xfrm>
          <a:off x="0" y="0"/>
          <a:ext cx="0" cy="0"/>
          <a:chOff x="0" y="0"/>
          <a:chExt cx="0" cy="0"/>
        </a:xfrm>
      </p:grpSpPr>
      <p:sp>
        <p:nvSpPr>
          <p:cNvPr id="669" name="Google Shape;669;p57: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670" name="Google Shape;670;p5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1" name="Google Shape;671;p5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58: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sz="800">
                <a:solidFill>
                  <a:srgbClr val="000000"/>
                </a:solidFill>
                <a:latin typeface="Arial"/>
                <a:ea typeface="Arial"/>
                <a:cs typeface="Arial"/>
                <a:sym typeface="Arial"/>
              </a:rPr>
              <a:t>‹#›</a:t>
            </a:fld>
            <a:endParaRPr sz="800">
              <a:solidFill>
                <a:srgbClr val="000000"/>
              </a:solidFill>
              <a:latin typeface="Arial"/>
              <a:ea typeface="Arial"/>
              <a:cs typeface="Arial"/>
              <a:sym typeface="Arial"/>
            </a:endParaRPr>
          </a:p>
        </p:txBody>
      </p:sp>
      <p:sp>
        <p:nvSpPr>
          <p:cNvPr id="677" name="Google Shape;677;p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8" name="Google Shape;678;p5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80000"/>
              </a:lnSpc>
              <a:spcBef>
                <a:spcPts val="0"/>
              </a:spcBef>
              <a:spcAft>
                <a:spcPts val="0"/>
              </a:spcAft>
              <a:buClr>
                <a:schemeClr val="dk1"/>
              </a:buClr>
              <a:buSzPts val="1200"/>
              <a:buFont typeface="Calibri"/>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84" name="Google Shape;684;p5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685" name="Google Shape;685;p59: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Title Slide-animated gradient" showMasterSp="0">
  <p:cSld name="3_Title Slide-animated gradient">
    <p:bg>
      <p:bgPr>
        <a:solidFill>
          <a:schemeClr val="accent5"/>
        </a:solidFill>
      </p:bgPr>
    </p:bg>
    <p:spTree>
      <p:nvGrpSpPr>
        <p:cNvPr id="28" name="Shape 28"/>
        <p:cNvGrpSpPr/>
        <p:nvPr/>
      </p:nvGrpSpPr>
      <p:grpSpPr>
        <a:xfrm>
          <a:off x="0" y="0"/>
          <a:ext cx="0" cy="0"/>
          <a:chOff x="0" y="0"/>
          <a:chExt cx="0" cy="0"/>
        </a:xfrm>
      </p:grpSpPr>
      <p:pic>
        <p:nvPicPr>
          <p:cNvPr id="29" name="Google Shape;29;p61"/>
          <p:cNvPicPr preferRelativeResize="0"/>
          <p:nvPr/>
        </p:nvPicPr>
        <p:blipFill rotWithShape="1">
          <a:blip r:embed="rId2">
            <a:alphaModFix/>
          </a:blip>
          <a:srcRect b="0" l="0" r="0" t="0"/>
          <a:stretch/>
        </p:blipFill>
        <p:spPr>
          <a:xfrm>
            <a:off x="0" y="0"/>
            <a:ext cx="9144000" cy="5143500"/>
          </a:xfrm>
          <a:prstGeom prst="rect">
            <a:avLst/>
          </a:prstGeom>
          <a:noFill/>
          <a:ln>
            <a:noFill/>
          </a:ln>
        </p:spPr>
      </p:pic>
      <p:sp>
        <p:nvSpPr>
          <p:cNvPr id="30" name="Google Shape;30;p61"/>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31" name="Google Shape;31;p61"/>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2" name="Google Shape;32;p61"/>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3" name="Google Shape;33;p61"/>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lt2"/>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4" name="Google Shape;34;p61"/>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rgbClr val="38C6F4"/>
              </a:buClr>
              <a:buSzPts val="3600"/>
              <a:buFont typeface="Arial"/>
              <a:buNone/>
              <a:defRPr b="0" i="0" sz="360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grpSp>
        <p:nvGrpSpPr>
          <p:cNvPr id="35" name="Google Shape;35;p61"/>
          <p:cNvGrpSpPr/>
          <p:nvPr/>
        </p:nvGrpSpPr>
        <p:grpSpPr>
          <a:xfrm>
            <a:off x="492125" y="395288"/>
            <a:ext cx="796924" cy="423863"/>
            <a:chOff x="310" y="249"/>
            <a:chExt cx="502" cy="267"/>
          </a:xfrm>
        </p:grpSpPr>
        <p:sp>
          <p:nvSpPr>
            <p:cNvPr id="36" name="Google Shape;36;p61"/>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7" name="Google Shape;37;p61"/>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8" name="Google Shape;38;p61"/>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39" name="Google Shape;39;p61"/>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0" name="Google Shape;40;p61"/>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1" name="Google Shape;41;p61"/>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2" name="Google Shape;42;p61"/>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3" name="Google Shape;43;p61"/>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4" name="Google Shape;44;p61"/>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5" name="Google Shape;45;p61"/>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6" name="Google Shape;46;p61"/>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7" name="Google Shape;47;p61"/>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8" name="Google Shape;48;p61"/>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49" name="Google Shape;49;p61"/>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0" name="Shape 50"/>
        <p:cNvGrpSpPr/>
        <p:nvPr/>
      </p:nvGrpSpPr>
      <p:grpSpPr>
        <a:xfrm>
          <a:off x="0" y="0"/>
          <a:ext cx="0" cy="0"/>
          <a:chOff x="0" y="0"/>
          <a:chExt cx="0" cy="0"/>
        </a:xfrm>
      </p:grpSpPr>
      <p:sp>
        <p:nvSpPr>
          <p:cNvPr id="51" name="Google Shape;51;p62"/>
          <p:cNvSpPr txBox="1"/>
          <p:nvPr>
            <p:ph idx="12" type="sldNum"/>
          </p:nvPr>
        </p:nvSpPr>
        <p:spPr>
          <a:xfrm>
            <a:off x="8473441" y="4954263"/>
            <a:ext cx="676910" cy="189238"/>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spcAft>
                <a:spcPts val="0"/>
              </a:spcAft>
              <a:buNone/>
              <a:defRPr sz="525">
                <a:solidFill>
                  <a:srgbClr val="595959"/>
                </a:solidFill>
                <a:latin typeface="Arial"/>
                <a:ea typeface="Arial"/>
                <a:cs typeface="Arial"/>
                <a:sym typeface="Arial"/>
              </a:defRPr>
            </a:lvl1pPr>
            <a:lvl2pPr indent="0" lvl="1" marL="0" marR="0" rtl="0" algn="r">
              <a:spcBef>
                <a:spcPts val="0"/>
              </a:spcBef>
              <a:spcAft>
                <a:spcPts val="0"/>
              </a:spcAft>
              <a:buNone/>
              <a:defRPr sz="525">
                <a:solidFill>
                  <a:srgbClr val="595959"/>
                </a:solidFill>
                <a:latin typeface="Arial"/>
                <a:ea typeface="Arial"/>
                <a:cs typeface="Arial"/>
                <a:sym typeface="Arial"/>
              </a:defRPr>
            </a:lvl2pPr>
            <a:lvl3pPr indent="0" lvl="2" marL="0" marR="0" rtl="0" algn="r">
              <a:spcBef>
                <a:spcPts val="0"/>
              </a:spcBef>
              <a:spcAft>
                <a:spcPts val="0"/>
              </a:spcAft>
              <a:buNone/>
              <a:defRPr sz="525">
                <a:solidFill>
                  <a:srgbClr val="595959"/>
                </a:solidFill>
                <a:latin typeface="Arial"/>
                <a:ea typeface="Arial"/>
                <a:cs typeface="Arial"/>
                <a:sym typeface="Arial"/>
              </a:defRPr>
            </a:lvl3pPr>
            <a:lvl4pPr indent="0" lvl="3" marL="0" marR="0" rtl="0" algn="r">
              <a:spcBef>
                <a:spcPts val="0"/>
              </a:spcBef>
              <a:spcAft>
                <a:spcPts val="0"/>
              </a:spcAft>
              <a:buNone/>
              <a:defRPr sz="525">
                <a:solidFill>
                  <a:srgbClr val="595959"/>
                </a:solidFill>
                <a:latin typeface="Arial"/>
                <a:ea typeface="Arial"/>
                <a:cs typeface="Arial"/>
                <a:sym typeface="Arial"/>
              </a:defRPr>
            </a:lvl4pPr>
            <a:lvl5pPr indent="0" lvl="4" marL="0" marR="0" rtl="0" algn="r">
              <a:spcBef>
                <a:spcPts val="0"/>
              </a:spcBef>
              <a:spcAft>
                <a:spcPts val="0"/>
              </a:spcAft>
              <a:buNone/>
              <a:defRPr sz="525">
                <a:solidFill>
                  <a:srgbClr val="595959"/>
                </a:solidFill>
                <a:latin typeface="Arial"/>
                <a:ea typeface="Arial"/>
                <a:cs typeface="Arial"/>
                <a:sym typeface="Arial"/>
              </a:defRPr>
            </a:lvl5pPr>
            <a:lvl6pPr indent="0" lvl="5" marL="0" marR="0" rtl="0" algn="r">
              <a:spcBef>
                <a:spcPts val="0"/>
              </a:spcBef>
              <a:spcAft>
                <a:spcPts val="0"/>
              </a:spcAft>
              <a:buNone/>
              <a:defRPr sz="525">
                <a:solidFill>
                  <a:srgbClr val="595959"/>
                </a:solidFill>
                <a:latin typeface="Arial"/>
                <a:ea typeface="Arial"/>
                <a:cs typeface="Arial"/>
                <a:sym typeface="Arial"/>
              </a:defRPr>
            </a:lvl6pPr>
            <a:lvl7pPr indent="0" lvl="6" marL="0" marR="0" rtl="0" algn="r">
              <a:spcBef>
                <a:spcPts val="0"/>
              </a:spcBef>
              <a:spcAft>
                <a:spcPts val="0"/>
              </a:spcAft>
              <a:buNone/>
              <a:defRPr sz="525">
                <a:solidFill>
                  <a:srgbClr val="595959"/>
                </a:solidFill>
                <a:latin typeface="Arial"/>
                <a:ea typeface="Arial"/>
                <a:cs typeface="Arial"/>
                <a:sym typeface="Arial"/>
              </a:defRPr>
            </a:lvl7pPr>
            <a:lvl8pPr indent="0" lvl="7" marL="0" marR="0" rtl="0" algn="r">
              <a:spcBef>
                <a:spcPts val="0"/>
              </a:spcBef>
              <a:spcAft>
                <a:spcPts val="0"/>
              </a:spcAft>
              <a:buNone/>
              <a:defRPr sz="525">
                <a:solidFill>
                  <a:srgbClr val="595959"/>
                </a:solidFill>
                <a:latin typeface="Arial"/>
                <a:ea typeface="Arial"/>
                <a:cs typeface="Arial"/>
                <a:sym typeface="Arial"/>
              </a:defRPr>
            </a:lvl8pPr>
            <a:lvl9pPr indent="0" lvl="8" marL="0" marR="0" rtl="0" algn="r">
              <a:spcBef>
                <a:spcPts val="0"/>
              </a:spcBef>
              <a:spcAft>
                <a:spcPts val="0"/>
              </a:spcAft>
              <a:buNone/>
              <a:defRPr sz="525">
                <a:solidFill>
                  <a:srgbClr val="59595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52" name="Google Shape;52;p62"/>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lvl1pPr indent="-314325" lvl="0" marL="457200" marR="0" rtl="0" algn="l">
              <a:lnSpc>
                <a:spcPct val="100000"/>
              </a:lnSpc>
              <a:spcBef>
                <a:spcPts val="600"/>
              </a:spcBef>
              <a:spcAft>
                <a:spcPts val="0"/>
              </a:spcAft>
              <a:buClr>
                <a:schemeClr val="dk2"/>
              </a:buClr>
              <a:buSzPts val="1350"/>
              <a:buFont typeface="Noto Sans Symbols"/>
              <a:buChar char="▪"/>
              <a:defRPr b="0" i="0" sz="1500" u="none" cap="none" strike="noStrike">
                <a:solidFill>
                  <a:srgbClr val="000000"/>
                </a:solidFill>
                <a:latin typeface="Arial"/>
                <a:ea typeface="Arial"/>
                <a:cs typeface="Arial"/>
                <a:sym typeface="Arial"/>
              </a:defRPr>
            </a:lvl1pPr>
            <a:lvl2pPr indent="-317500" lvl="1" marL="914400" marR="0" rtl="0" algn="l">
              <a:lnSpc>
                <a:spcPct val="100000"/>
              </a:lnSpc>
              <a:spcBef>
                <a:spcPts val="600"/>
              </a:spcBef>
              <a:spcAft>
                <a:spcPts val="0"/>
              </a:spcAft>
              <a:buClr>
                <a:schemeClr val="dk2"/>
              </a:buClr>
              <a:buSzPts val="1400"/>
              <a:buFont typeface="Arial"/>
              <a:buChar char="•"/>
              <a:defRPr b="0" i="0" sz="1400" u="none" cap="none" strike="noStrike">
                <a:solidFill>
                  <a:srgbClr val="000000"/>
                </a:solidFill>
                <a:latin typeface="Arial"/>
                <a:ea typeface="Arial"/>
                <a:cs typeface="Arial"/>
                <a:sym typeface="Arial"/>
              </a:defRPr>
            </a:lvl2pPr>
            <a:lvl3pPr indent="-304800" lvl="2" marL="1371600" marR="0" rtl="0" algn="l">
              <a:lnSpc>
                <a:spcPct val="100000"/>
              </a:lnSpc>
              <a:spcBef>
                <a:spcPts val="300"/>
              </a:spcBef>
              <a:spcAft>
                <a:spcPts val="0"/>
              </a:spcAft>
              <a:buClr>
                <a:srgbClr val="000000"/>
              </a:buClr>
              <a:buSzPts val="1200"/>
              <a:buFont typeface="Arial"/>
              <a:buChar char="•"/>
              <a:defRPr b="0" i="0" sz="1200" u="none" cap="none" strike="noStrike">
                <a:solidFill>
                  <a:srgbClr val="000000"/>
                </a:solidFill>
                <a:latin typeface="Arial"/>
                <a:ea typeface="Arial"/>
                <a:cs typeface="Arial"/>
                <a:sym typeface="Arial"/>
              </a:defRPr>
            </a:lvl3pPr>
            <a:lvl4pPr indent="-298450" lvl="3" marL="1828800" marR="0" rtl="0" algn="l">
              <a:lnSpc>
                <a:spcPct val="100000"/>
              </a:lnSpc>
              <a:spcBef>
                <a:spcPts val="30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53" name="Google Shape;53;p62"/>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2400"/>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Segue" showMasterSp="0">
  <p:cSld name="3_Segue">
    <p:bg>
      <p:bgPr>
        <a:solidFill>
          <a:schemeClr val="lt1"/>
        </a:solidFill>
      </p:bgPr>
    </p:bg>
    <p:spTree>
      <p:nvGrpSpPr>
        <p:cNvPr id="54" name="Shape 54"/>
        <p:cNvGrpSpPr/>
        <p:nvPr/>
      </p:nvGrpSpPr>
      <p:grpSpPr>
        <a:xfrm>
          <a:off x="0" y="0"/>
          <a:ext cx="0" cy="0"/>
          <a:chOff x="0" y="0"/>
          <a:chExt cx="0" cy="0"/>
        </a:xfrm>
      </p:grpSpPr>
      <p:sp>
        <p:nvSpPr>
          <p:cNvPr id="55" name="Google Shape;55;p63"/>
          <p:cNvSpPr/>
          <p:nvPr/>
        </p:nvSpPr>
        <p:spPr>
          <a:xfrm>
            <a:off x="0" y="0"/>
            <a:ext cx="9144000" cy="5143499"/>
          </a:xfrm>
          <a:prstGeom prst="rect">
            <a:avLst/>
          </a:prstGeom>
          <a:solidFill>
            <a:srgbClr val="0039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56" name="Google Shape;56;p63"/>
          <p:cNvSpPr txBox="1"/>
          <p:nvPr>
            <p:ph type="ctrTitle"/>
          </p:nvPr>
        </p:nvSpPr>
        <p:spPr>
          <a:xfrm>
            <a:off x="416425" y="915409"/>
            <a:ext cx="7598042" cy="2569946"/>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chemeClr val="accent5"/>
              </a:buClr>
              <a:buSzPts val="4600"/>
              <a:buFont typeface="Arial"/>
              <a:buNone/>
              <a:defRPr b="0" i="0" sz="4600">
                <a:solidFill>
                  <a:schemeClr val="accent5"/>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57" name="Google Shape;57;p63"/>
          <p:cNvSpPr/>
          <p:nvPr/>
        </p:nvSpPr>
        <p:spPr>
          <a:xfrm>
            <a:off x="8515707" y="4742907"/>
            <a:ext cx="218414" cy="154518"/>
          </a:xfrm>
          <a:prstGeom prst="rect">
            <a:avLst/>
          </a:prstGeom>
          <a:noFill/>
          <a:ln>
            <a:noFill/>
          </a:ln>
        </p:spPr>
        <p:txBody>
          <a:bodyPr anchorCtr="0" anchor="b" bIns="30775" lIns="61575" spcFirstLastPara="1" rIns="61575" wrap="square" tIns="30775">
            <a:spAutoFit/>
          </a:bodyPr>
          <a:lstStyle/>
          <a:p>
            <a:pPr indent="0" lvl="0" marL="0" marR="0" rtl="0" algn="r">
              <a:spcBef>
                <a:spcPts val="0"/>
              </a:spcBef>
              <a:spcAft>
                <a:spcPts val="0"/>
              </a:spcAft>
              <a:buNone/>
            </a:pPr>
            <a:fld id="{00000000-1234-1234-1234-123412341234}" type="slidenum">
              <a:rPr lang="en-US" sz="600">
                <a:solidFill>
                  <a:srgbClr val="076D8E"/>
                </a:solidFill>
                <a:latin typeface="Arial"/>
                <a:ea typeface="Arial"/>
                <a:cs typeface="Arial"/>
                <a:sym typeface="Arial"/>
              </a:rPr>
              <a:t>‹#›</a:t>
            </a:fld>
            <a:endParaRPr sz="600">
              <a:solidFill>
                <a:srgbClr val="076D8E"/>
              </a:solidFill>
              <a:latin typeface="Arial"/>
              <a:ea typeface="Arial"/>
              <a:cs typeface="Arial"/>
              <a:sym typeface="Arial"/>
            </a:endParaRPr>
          </a:p>
        </p:txBody>
      </p:sp>
      <p:sp>
        <p:nvSpPr>
          <p:cNvPr id="58" name="Google Shape;58;p63"/>
          <p:cNvSpPr/>
          <p:nvPr/>
        </p:nvSpPr>
        <p:spPr>
          <a:xfrm>
            <a:off x="5867508" y="4741653"/>
            <a:ext cx="2658018" cy="154518"/>
          </a:xfrm>
          <a:prstGeom prst="rect">
            <a:avLst/>
          </a:prstGeom>
          <a:noFill/>
          <a:ln>
            <a:noFill/>
          </a:ln>
        </p:spPr>
        <p:txBody>
          <a:bodyPr anchorCtr="0" anchor="b" bIns="30775" lIns="61575" spcFirstLastPara="1" rIns="61575" wrap="square" tIns="30775">
            <a:spAutoFit/>
          </a:bodyPr>
          <a:lstStyle/>
          <a:p>
            <a:pPr indent="0" lvl="0" marL="0" marR="0" rtl="0" algn="l">
              <a:spcBef>
                <a:spcPts val="0"/>
              </a:spcBef>
              <a:spcAft>
                <a:spcPts val="0"/>
              </a:spcAft>
              <a:buNone/>
            </a:pPr>
            <a:r>
              <a:rPr lang="en-US" sz="600">
                <a:solidFill>
                  <a:srgbClr val="076D8E"/>
                </a:solidFill>
                <a:latin typeface="Arial"/>
                <a:ea typeface="Arial"/>
                <a:cs typeface="Arial"/>
                <a:sym typeface="Arial"/>
              </a:rPr>
              <a:t>© 2016  Cisco and/or its affiliates. All rights reserved.   Cisco Confidential</a:t>
            </a:r>
            <a:endParaRPr/>
          </a:p>
        </p:txBody>
      </p:sp>
      <p:grpSp>
        <p:nvGrpSpPr>
          <p:cNvPr id="59" name="Google Shape;59;p63"/>
          <p:cNvGrpSpPr/>
          <p:nvPr/>
        </p:nvGrpSpPr>
        <p:grpSpPr>
          <a:xfrm>
            <a:off x="508039" y="4715197"/>
            <a:ext cx="340257" cy="180974"/>
            <a:chOff x="310" y="249"/>
            <a:chExt cx="502" cy="267"/>
          </a:xfrm>
        </p:grpSpPr>
        <p:sp>
          <p:nvSpPr>
            <p:cNvPr id="60" name="Google Shape;60;p63"/>
            <p:cNvSpPr/>
            <p:nvPr/>
          </p:nvSpPr>
          <p:spPr>
            <a:xfrm>
              <a:off x="452" y="426"/>
              <a:ext cx="22" cy="88"/>
            </a:xfrm>
            <a:prstGeom prst="rect">
              <a:avLst/>
            </a:pr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1" name="Google Shape;61;p63"/>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2" name="Google Shape;62;p63"/>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3" name="Google Shape;63;p63"/>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4" name="Google Shape;64;p63"/>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5" name="Google Shape;65;p63"/>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6" name="Google Shape;66;p63"/>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7" name="Google Shape;67;p63"/>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8" name="Google Shape;68;p63"/>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69" name="Google Shape;69;p63"/>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0" name="Google Shape;70;p63"/>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1" name="Google Shape;71;p63"/>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2" name="Google Shape;72;p63"/>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73" name="Google Shape;73;p63"/>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86D8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ulti_Slide">
  <p:cSld name="Multi_Slide">
    <p:spTree>
      <p:nvGrpSpPr>
        <p:cNvPr id="74" name="Shape 74"/>
        <p:cNvGrpSpPr/>
        <p:nvPr/>
      </p:nvGrpSpPr>
      <p:grpSpPr>
        <a:xfrm>
          <a:off x="0" y="0"/>
          <a:ext cx="0" cy="0"/>
          <a:chOff x="0" y="0"/>
          <a:chExt cx="0" cy="0"/>
        </a:xfrm>
      </p:grpSpPr>
      <p:sp>
        <p:nvSpPr>
          <p:cNvPr id="75" name="Google Shape;75;p64"/>
          <p:cNvSpPr txBox="1"/>
          <p:nvPr>
            <p:ph idx="1" type="body"/>
          </p:nvPr>
        </p:nvSpPr>
        <p:spPr>
          <a:xfrm>
            <a:off x="474662" y="1347788"/>
            <a:ext cx="8280057" cy="3073946"/>
          </a:xfrm>
          <a:prstGeom prst="rect">
            <a:avLst/>
          </a:prstGeom>
          <a:noFill/>
          <a:ln>
            <a:noFill/>
          </a:ln>
        </p:spPr>
        <p:txBody>
          <a:bodyPr anchorCtr="0" anchor="t" bIns="45700" lIns="91400" spcFirstLastPara="1" rIns="91400" wrap="square" tIns="45700">
            <a:noAutofit/>
          </a:bodyPr>
          <a:lstStyle>
            <a:lvl1pPr indent="-228600" lvl="0" marL="457200" marR="0" rtl="0" algn="ctr">
              <a:lnSpc>
                <a:spcPct val="100000"/>
              </a:lnSpc>
              <a:spcBef>
                <a:spcPts val="400"/>
              </a:spcBef>
              <a:spcAft>
                <a:spcPts val="0"/>
              </a:spcAft>
              <a:buClr>
                <a:schemeClr val="lt1"/>
              </a:buClr>
              <a:buSzPts val="2000"/>
              <a:buFont typeface="Arial"/>
              <a:buNone/>
              <a:defRPr b="0" i="0" sz="2000" u="none" cap="none" strike="noStrike">
                <a:solidFill>
                  <a:schemeClr val="l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chemeClr val="dk1"/>
                </a:solidFill>
                <a:latin typeface="Arial"/>
                <a:ea typeface="Arial"/>
                <a:cs typeface="Arial"/>
                <a:sym typeface="Arial"/>
              </a:defRPr>
            </a:lvl2pPr>
            <a:lvl3pPr indent="-304800" lvl="2" marL="1371600" marR="0" rtl="0" algn="l">
              <a:lnSpc>
                <a:spcPct val="95000"/>
              </a:lnSpc>
              <a:spcBef>
                <a:spcPts val="625"/>
              </a:spcBef>
              <a:spcAft>
                <a:spcPts val="0"/>
              </a:spcAft>
              <a:buClr>
                <a:schemeClr val="dk1"/>
              </a:buClr>
              <a:buSzPts val="1200"/>
              <a:buFont typeface="Arial"/>
              <a:buChar char="•"/>
              <a:defRPr b="0" i="0" sz="1200" u="none" cap="none" strike="noStrike">
                <a:solidFill>
                  <a:schemeClr val="dk1"/>
                </a:solidFill>
                <a:latin typeface="Arial"/>
                <a:ea typeface="Arial"/>
                <a:cs typeface="Arial"/>
                <a:sym typeface="Arial"/>
              </a:defRPr>
            </a:lvl3pPr>
            <a:lvl4pPr indent="-298450" lvl="3" marL="18288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4pPr>
            <a:lvl5pPr indent="-298450" lvl="4" marL="2286000" marR="0" rtl="0" algn="l">
              <a:lnSpc>
                <a:spcPct val="95000"/>
              </a:lnSpc>
              <a:spcBef>
                <a:spcPts val="625"/>
              </a:spcBef>
              <a:spcAft>
                <a:spcPts val="0"/>
              </a:spcAft>
              <a:buClr>
                <a:schemeClr val="dk1"/>
              </a:buClr>
              <a:buSzPts val="1100"/>
              <a:buFont typeface="Arial"/>
              <a:buChar char="•"/>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76" name="Google Shape;76;p64"/>
          <p:cNvSpPr txBox="1"/>
          <p:nvPr>
            <p:ph type="title"/>
          </p:nvPr>
        </p:nvSpPr>
        <p:spPr>
          <a:xfrm>
            <a:off x="437766"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losing Slide" showMasterSp="0">
  <p:cSld name="1_Closing Slide">
    <p:bg>
      <p:bgPr>
        <a:solidFill>
          <a:schemeClr val="accent5"/>
        </a:solidFill>
      </p:bgPr>
    </p:bg>
    <p:spTree>
      <p:nvGrpSpPr>
        <p:cNvPr id="77" name="Shape 77"/>
        <p:cNvGrpSpPr/>
        <p:nvPr/>
      </p:nvGrpSpPr>
      <p:grpSpPr>
        <a:xfrm>
          <a:off x="0" y="0"/>
          <a:ext cx="0" cy="0"/>
          <a:chOff x="0" y="0"/>
          <a:chExt cx="0" cy="0"/>
        </a:xfrm>
      </p:grpSpPr>
      <p:pic>
        <p:nvPicPr>
          <p:cNvPr id="78" name="Google Shape;78;p65"/>
          <p:cNvPicPr preferRelativeResize="0"/>
          <p:nvPr/>
        </p:nvPicPr>
        <p:blipFill rotWithShape="1">
          <a:blip r:embed="rId2">
            <a:alphaModFix/>
          </a:blip>
          <a:srcRect b="0" l="0" r="0" t="0"/>
          <a:stretch/>
        </p:blipFill>
        <p:spPr>
          <a:xfrm>
            <a:off x="0" y="1"/>
            <a:ext cx="9143999" cy="5165874"/>
          </a:xfrm>
          <a:prstGeom prst="rect">
            <a:avLst/>
          </a:prstGeom>
          <a:noFill/>
          <a:ln>
            <a:noFill/>
          </a:ln>
        </p:spPr>
      </p:pic>
      <p:grpSp>
        <p:nvGrpSpPr>
          <p:cNvPr id="79" name="Google Shape;79;p65"/>
          <p:cNvGrpSpPr/>
          <p:nvPr/>
        </p:nvGrpSpPr>
        <p:grpSpPr>
          <a:xfrm>
            <a:off x="3746294" y="2129856"/>
            <a:ext cx="1617944" cy="860542"/>
            <a:chOff x="310" y="249"/>
            <a:chExt cx="502" cy="267"/>
          </a:xfrm>
        </p:grpSpPr>
        <p:sp>
          <p:nvSpPr>
            <p:cNvPr id="80" name="Google Shape;80;p65"/>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1" name="Google Shape;81;p65"/>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2" name="Google Shape;82;p65"/>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3" name="Google Shape;83;p65"/>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4" name="Google Shape;84;p65"/>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5" name="Google Shape;85;p65"/>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6" name="Google Shape;86;p65"/>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7" name="Google Shape;87;p65"/>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8" name="Google Shape;88;p65"/>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89" name="Google Shape;89;p65"/>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0" name="Google Shape;90;p65"/>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1" name="Google Shape;91;p65"/>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2" name="Google Shape;92;p65"/>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93" name="Google Shape;93;p65"/>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Title Slide-animated gradient" showMasterSp="0">
  <p:cSld name="5_Title Slide-animated gradient">
    <p:bg>
      <p:bgPr>
        <a:solidFill>
          <a:schemeClr val="accent5"/>
        </a:solidFill>
      </p:bgPr>
    </p:bg>
    <p:spTree>
      <p:nvGrpSpPr>
        <p:cNvPr id="94" name="Shape 94"/>
        <p:cNvGrpSpPr/>
        <p:nvPr/>
      </p:nvGrpSpPr>
      <p:grpSpPr>
        <a:xfrm>
          <a:off x="0" y="0"/>
          <a:ext cx="0" cy="0"/>
          <a:chOff x="0" y="0"/>
          <a:chExt cx="0" cy="0"/>
        </a:xfrm>
      </p:grpSpPr>
      <p:sp>
        <p:nvSpPr>
          <p:cNvPr id="95" name="Google Shape;95;p66"/>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96" name="Google Shape;96;p66"/>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97" name="Google Shape;97;p66"/>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grpSp>
        <p:nvGrpSpPr>
          <p:cNvPr id="98" name="Google Shape;98;p66"/>
          <p:cNvGrpSpPr/>
          <p:nvPr/>
        </p:nvGrpSpPr>
        <p:grpSpPr>
          <a:xfrm>
            <a:off x="492125" y="395288"/>
            <a:ext cx="796924" cy="423863"/>
            <a:chOff x="310" y="249"/>
            <a:chExt cx="502" cy="267"/>
          </a:xfrm>
        </p:grpSpPr>
        <p:sp>
          <p:nvSpPr>
            <p:cNvPr id="99" name="Google Shape;99;p66"/>
            <p:cNvSpPr/>
            <p:nvPr/>
          </p:nvSpPr>
          <p:spPr>
            <a:xfrm>
              <a:off x="452" y="426"/>
              <a:ext cx="22" cy="88"/>
            </a:xfrm>
            <a:prstGeom prst="rect">
              <a:avLst/>
            </a:pr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0" name="Google Shape;100;p66"/>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1" name="Google Shape;101;p66"/>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2" name="Google Shape;102;p66"/>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3" name="Google Shape;103;p66"/>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4" name="Google Shape;104;p66"/>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5" name="Google Shape;105;p66"/>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6" name="Google Shape;106;p66"/>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7" name="Google Shape;107;p66"/>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8" name="Google Shape;108;p66"/>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09" name="Google Shape;109;p66"/>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0" name="Google Shape;110;p66"/>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1" name="Google Shape;111;p66"/>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12" name="Google Shape;112;p66"/>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4C6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13" name="Google Shape;113;p66"/>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4" name="Google Shape;114;p66"/>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chemeClr val="accent1"/>
              </a:buClr>
              <a:buSzPts val="3600"/>
              <a:buFont typeface="Arial"/>
              <a:buNone/>
              <a:defRPr b="0" i="0" sz="3600">
                <a:solidFill>
                  <a:schemeClr val="accent1"/>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Title Slide-animated gradient" showMasterSp="0">
  <p:cSld name="6_Title Slide-animated gradient">
    <p:bg>
      <p:bgPr>
        <a:solidFill>
          <a:schemeClr val="accent5"/>
        </a:solidFill>
      </p:bgPr>
    </p:bg>
    <p:spTree>
      <p:nvGrpSpPr>
        <p:cNvPr id="115" name="Shape 115"/>
        <p:cNvGrpSpPr/>
        <p:nvPr/>
      </p:nvGrpSpPr>
      <p:grpSpPr>
        <a:xfrm>
          <a:off x="0" y="0"/>
          <a:ext cx="0" cy="0"/>
          <a:chOff x="0" y="0"/>
          <a:chExt cx="0" cy="0"/>
        </a:xfrm>
      </p:grpSpPr>
      <p:sp>
        <p:nvSpPr>
          <p:cNvPr id="116" name="Google Shape;116;p67"/>
          <p:cNvSpPr/>
          <p:nvPr/>
        </p:nvSpPr>
        <p:spPr>
          <a:xfrm>
            <a:off x="0" y="0"/>
            <a:ext cx="9144000" cy="51435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sp>
        <p:nvSpPr>
          <p:cNvPr id="117" name="Google Shape;117;p67"/>
          <p:cNvSpPr txBox="1"/>
          <p:nvPr>
            <p:ph idx="1" type="subTitle"/>
          </p:nvPr>
        </p:nvSpPr>
        <p:spPr>
          <a:xfrm>
            <a:off x="469496" y="3809526"/>
            <a:ext cx="4319105" cy="288131"/>
          </a:xfrm>
          <a:prstGeom prst="rect">
            <a:avLst/>
          </a:prstGeom>
          <a:noFill/>
          <a:ln>
            <a:noFill/>
          </a:ln>
        </p:spPr>
        <p:txBody>
          <a:bodyPr anchorCtr="0" anchor="b" bIns="45700" lIns="91400" spcFirstLastPara="1" rIns="91400" wrap="square" tIns="45700">
            <a:noAutofit/>
          </a:bodyPr>
          <a:lstStyle>
            <a:lvl1pPr lvl="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lvl="1" marR="0" rtl="0" algn="ctr">
              <a:lnSpc>
                <a:spcPct val="95000"/>
              </a:lnSpc>
              <a:spcBef>
                <a:spcPts val="600"/>
              </a:spcBef>
              <a:spcAft>
                <a:spcPts val="0"/>
              </a:spcAft>
              <a:buClr>
                <a:schemeClr val="dk2"/>
              </a:buClr>
              <a:buSzPts val="1400"/>
              <a:buFont typeface="Arial"/>
              <a:buNone/>
              <a:defRPr b="0" i="0" sz="1400" u="none" cap="none" strike="noStrike">
                <a:solidFill>
                  <a:srgbClr val="98989A"/>
                </a:solidFill>
                <a:latin typeface="Arial"/>
                <a:ea typeface="Arial"/>
                <a:cs typeface="Arial"/>
                <a:sym typeface="Arial"/>
              </a:defRPr>
            </a:lvl2pPr>
            <a:lvl3pPr lvl="2" marR="0" rtl="0" algn="ctr">
              <a:lnSpc>
                <a:spcPct val="95000"/>
              </a:lnSpc>
              <a:spcBef>
                <a:spcPts val="625"/>
              </a:spcBef>
              <a:spcAft>
                <a:spcPts val="0"/>
              </a:spcAft>
              <a:buClr>
                <a:srgbClr val="98989A"/>
              </a:buClr>
              <a:buSzPts val="1200"/>
              <a:buFont typeface="Arial"/>
              <a:buNone/>
              <a:defRPr b="0" i="0" sz="1200" u="none" cap="none" strike="noStrike">
                <a:solidFill>
                  <a:srgbClr val="98989A"/>
                </a:solidFill>
                <a:latin typeface="Arial"/>
                <a:ea typeface="Arial"/>
                <a:cs typeface="Arial"/>
                <a:sym typeface="Arial"/>
              </a:defRPr>
            </a:lvl3pPr>
            <a:lvl4pPr lvl="3"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4pPr>
            <a:lvl5pPr lvl="4" marR="0" rtl="0" algn="ctr">
              <a:lnSpc>
                <a:spcPct val="95000"/>
              </a:lnSpc>
              <a:spcBef>
                <a:spcPts val="625"/>
              </a:spcBef>
              <a:spcAft>
                <a:spcPts val="0"/>
              </a:spcAft>
              <a:buClr>
                <a:srgbClr val="98989A"/>
              </a:buClr>
              <a:buSzPts val="1100"/>
              <a:buFont typeface="Arial"/>
              <a:buNone/>
              <a:defRPr b="0" i="0" sz="1100" u="none" cap="none" strike="noStrike">
                <a:solidFill>
                  <a:srgbClr val="98989A"/>
                </a:solidFill>
                <a:latin typeface="Arial"/>
                <a:ea typeface="Arial"/>
                <a:cs typeface="Arial"/>
                <a:sym typeface="Arial"/>
              </a:defRPr>
            </a:lvl5pPr>
            <a:lvl6pPr lvl="5" marR="0" rtl="0" algn="ctr">
              <a:spcBef>
                <a:spcPts val="600"/>
              </a:spcBef>
              <a:spcAft>
                <a:spcPts val="0"/>
              </a:spcAft>
              <a:buClr>
                <a:srgbClr val="98989A"/>
              </a:buClr>
              <a:buSzPts val="900"/>
              <a:buFont typeface="Arial"/>
              <a:buNone/>
              <a:defRPr b="0" i="0" sz="900" u="none" cap="none" strike="noStrike">
                <a:solidFill>
                  <a:srgbClr val="98989A"/>
                </a:solidFill>
                <a:latin typeface="Arial"/>
                <a:ea typeface="Arial"/>
                <a:cs typeface="Arial"/>
                <a:sym typeface="Arial"/>
              </a:defRPr>
            </a:lvl6pPr>
            <a:lvl7pPr lvl="6" marR="0" rtl="0" algn="ctr">
              <a:spcBef>
                <a:spcPts val="600"/>
              </a:spcBef>
              <a:spcAft>
                <a:spcPts val="0"/>
              </a:spcAft>
              <a:buClr>
                <a:srgbClr val="98989A"/>
              </a:buClr>
              <a:buSzPts val="800"/>
              <a:buFont typeface="Arial"/>
              <a:buNone/>
              <a:defRPr b="0" i="0" sz="800" u="none" cap="none" strike="noStrike">
                <a:solidFill>
                  <a:srgbClr val="98989A"/>
                </a:solidFill>
                <a:latin typeface="Arial"/>
                <a:ea typeface="Arial"/>
                <a:cs typeface="Arial"/>
                <a:sym typeface="Arial"/>
              </a:defRPr>
            </a:lvl7pPr>
            <a:lvl8pPr lvl="7"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8pPr>
            <a:lvl9pPr lvl="8" marR="0" rtl="0" algn="ctr">
              <a:spcBef>
                <a:spcPts val="300"/>
              </a:spcBef>
              <a:spcAft>
                <a:spcPts val="0"/>
              </a:spcAft>
              <a:buClr>
                <a:srgbClr val="98989A"/>
              </a:buClr>
              <a:buSzPts val="1500"/>
              <a:buFont typeface="Arial"/>
              <a:buNone/>
              <a:defRPr b="0" i="0" sz="1500" u="none" cap="none" strike="noStrike">
                <a:solidFill>
                  <a:srgbClr val="98989A"/>
                </a:solidFill>
                <a:latin typeface="Arial"/>
                <a:ea typeface="Arial"/>
                <a:cs typeface="Arial"/>
                <a:sym typeface="Arial"/>
              </a:defRPr>
            </a:lvl9pPr>
          </a:lstStyle>
          <a:p/>
        </p:txBody>
      </p:sp>
      <p:sp>
        <p:nvSpPr>
          <p:cNvPr id="118" name="Google Shape;118;p67"/>
          <p:cNvSpPr txBox="1"/>
          <p:nvPr>
            <p:ph idx="2" type="body"/>
          </p:nvPr>
        </p:nvSpPr>
        <p:spPr>
          <a:xfrm>
            <a:off x="469496" y="4049523"/>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9" name="Google Shape;119;p67"/>
          <p:cNvSpPr txBox="1"/>
          <p:nvPr>
            <p:ph idx="3" type="body"/>
          </p:nvPr>
        </p:nvSpPr>
        <p:spPr>
          <a:xfrm>
            <a:off x="469496" y="4289520"/>
            <a:ext cx="4319105" cy="28813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080"/>
              <a:buFont typeface="Arial"/>
              <a:buNone/>
              <a:defRPr b="0" i="0" sz="1200" u="none" cap="none" strike="noStrike">
                <a:solidFill>
                  <a:schemeClr val="accent5"/>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500"/>
              <a:buFont typeface="Arial"/>
              <a:buNone/>
              <a:defRPr b="0" i="0" sz="1500" u="none" cap="none" strike="noStrike">
                <a:solidFill>
                  <a:schemeClr val="lt1"/>
                </a:solidFill>
                <a:latin typeface="Arial"/>
                <a:ea typeface="Arial"/>
                <a:cs typeface="Arial"/>
                <a:sym typeface="Arial"/>
              </a:defRPr>
            </a:lvl2pPr>
            <a:lvl3pPr indent="-228600" lvl="2" marL="13716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3pPr>
            <a:lvl4pPr indent="-228600" lvl="3" marL="18288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4pPr>
            <a:lvl5pPr indent="-228600" lvl="4" marL="2286000" marR="0" rtl="0" algn="l">
              <a:lnSpc>
                <a:spcPct val="95000"/>
              </a:lnSpc>
              <a:spcBef>
                <a:spcPts val="625"/>
              </a:spcBef>
              <a:spcAft>
                <a:spcPts val="0"/>
              </a:spcAft>
              <a:buClr>
                <a:schemeClr val="lt1"/>
              </a:buClr>
              <a:buSzPts val="1500"/>
              <a:buFont typeface="Arial"/>
              <a:buNone/>
              <a:defRPr b="0" i="0" sz="1500" u="none" cap="none" strike="noStrike">
                <a:solidFill>
                  <a:schemeClr val="lt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grpSp>
        <p:nvGrpSpPr>
          <p:cNvPr id="120" name="Google Shape;120;p67"/>
          <p:cNvGrpSpPr/>
          <p:nvPr/>
        </p:nvGrpSpPr>
        <p:grpSpPr>
          <a:xfrm>
            <a:off x="492125" y="395288"/>
            <a:ext cx="796924" cy="423863"/>
            <a:chOff x="310" y="249"/>
            <a:chExt cx="502" cy="267"/>
          </a:xfrm>
        </p:grpSpPr>
        <p:sp>
          <p:nvSpPr>
            <p:cNvPr id="121" name="Google Shape;121;p67"/>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2" name="Google Shape;122;p67"/>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3" name="Google Shape;123;p67"/>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4" name="Google Shape;124;p67"/>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5" name="Google Shape;125;p67"/>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6" name="Google Shape;126;p67"/>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7" name="Google Shape;127;p67"/>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8" name="Google Shape;128;p67"/>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29" name="Google Shape;129;p67"/>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0" name="Google Shape;130;p67"/>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1" name="Google Shape;131;p67"/>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2" name="Google Shape;132;p67"/>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3" name="Google Shape;133;p67"/>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34" name="Google Shape;134;p67"/>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
        <p:nvSpPr>
          <p:cNvPr id="135" name="Google Shape;135;p67"/>
          <p:cNvSpPr txBox="1"/>
          <p:nvPr>
            <p:ph idx="4" type="body"/>
          </p:nvPr>
        </p:nvSpPr>
        <p:spPr>
          <a:xfrm>
            <a:off x="463292" y="2872236"/>
            <a:ext cx="5925246" cy="299001"/>
          </a:xfrm>
          <a:prstGeom prst="rect">
            <a:avLst/>
          </a:prstGeom>
          <a:noFill/>
          <a:ln>
            <a:noFill/>
          </a:ln>
        </p:spPr>
        <p:txBody>
          <a:bodyPr anchorCtr="0" anchor="t"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lt2"/>
                </a:solidFill>
                <a:latin typeface="Arial"/>
                <a:ea typeface="Arial"/>
                <a:cs typeface="Arial"/>
                <a:sym typeface="Arial"/>
              </a:defRPr>
            </a:lvl1pPr>
            <a:lvl2pPr indent="-228600" lvl="1" marL="914400" marR="0" rtl="0" algn="l">
              <a:lnSpc>
                <a:spcPct val="95000"/>
              </a:lnSpc>
              <a:spcBef>
                <a:spcPts val="600"/>
              </a:spcBef>
              <a:spcAft>
                <a:spcPts val="0"/>
              </a:spcAft>
              <a:buClr>
                <a:schemeClr val="dk2"/>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5000"/>
              </a:lnSpc>
              <a:spcBef>
                <a:spcPts val="625"/>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4pPr>
            <a:lvl5pPr indent="-228600" lvl="4" marL="2286000" marR="0" rtl="0" algn="l">
              <a:lnSpc>
                <a:spcPct val="95000"/>
              </a:lnSpc>
              <a:spcBef>
                <a:spcPts val="625"/>
              </a:spcBef>
              <a:spcAft>
                <a:spcPts val="0"/>
              </a:spcAft>
              <a:buClr>
                <a:schemeClr val="dk1"/>
              </a:buClr>
              <a:buSzPts val="1100"/>
              <a:buFont typeface="Arial"/>
              <a:buNone/>
              <a:defRPr b="0" i="0" sz="1100" u="none" cap="none" strike="noStrike">
                <a:solidFill>
                  <a:schemeClr val="dk1"/>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36" name="Google Shape;136;p67"/>
          <p:cNvSpPr txBox="1"/>
          <p:nvPr>
            <p:ph type="ctrTitle"/>
          </p:nvPr>
        </p:nvSpPr>
        <p:spPr>
          <a:xfrm>
            <a:off x="425765" y="2300750"/>
            <a:ext cx="5955513" cy="644730"/>
          </a:xfrm>
          <a:prstGeom prst="rect">
            <a:avLst/>
          </a:prstGeom>
          <a:noFill/>
          <a:ln>
            <a:noFill/>
          </a:ln>
        </p:spPr>
        <p:txBody>
          <a:bodyPr anchorCtr="0" anchor="b" bIns="45700" lIns="91400" spcFirstLastPara="1" rIns="91400" wrap="square" tIns="45700">
            <a:noAutofit/>
          </a:bodyPr>
          <a:lstStyle>
            <a:lvl1pPr lvl="0" algn="l">
              <a:lnSpc>
                <a:spcPct val="90000"/>
              </a:lnSpc>
              <a:spcBef>
                <a:spcPts val="0"/>
              </a:spcBef>
              <a:spcAft>
                <a:spcPts val="0"/>
              </a:spcAft>
              <a:buClr>
                <a:srgbClr val="38C6F4"/>
              </a:buClr>
              <a:buSzPts val="3600"/>
              <a:buFont typeface="Arial"/>
              <a:buNone/>
              <a:defRPr b="0" i="0" sz="3600">
                <a:solidFill>
                  <a:srgbClr val="38C6F4"/>
                </a:solidFill>
                <a:latin typeface="Arial"/>
                <a:ea typeface="Arial"/>
                <a:cs typeface="Arial"/>
                <a:sym typeface="Aria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transition spd="slow">
    <p:wipe dir="l"/>
  </p:transition>
  <p:extLst>
    <p:ext uri="{DCECCB84-F9BA-43D5-87BE-67443E8EF086}">
      <p15:sldGuideLst>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p:cSld name="Blank Slide">
    <p:spTree>
      <p:nvGrpSpPr>
        <p:cNvPr id="137" name="Shape 137"/>
        <p:cNvGrpSpPr/>
        <p:nvPr/>
      </p:nvGrpSpPr>
      <p:grpSpPr>
        <a:xfrm>
          <a:off x="0" y="0"/>
          <a:ext cx="0" cy="0"/>
          <a:chOff x="0" y="0"/>
          <a:chExt cx="0" cy="0"/>
        </a:xfrm>
      </p:grpSpPr>
    </p:spTree>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ircled_Bullets">
  <p:cSld name="2_Circled_Bullets">
    <p:spTree>
      <p:nvGrpSpPr>
        <p:cNvPr id="138" name="Shape 138"/>
        <p:cNvGrpSpPr/>
        <p:nvPr/>
      </p:nvGrpSpPr>
      <p:grpSpPr>
        <a:xfrm>
          <a:off x="0" y="0"/>
          <a:ext cx="0" cy="0"/>
          <a:chOff x="0" y="0"/>
          <a:chExt cx="0" cy="0"/>
        </a:xfrm>
      </p:grpSpPr>
      <p:sp>
        <p:nvSpPr>
          <p:cNvPr id="139" name="Google Shape;139;p69"/>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40" name="Google Shape;140;p69"/>
          <p:cNvSpPr/>
          <p:nvPr/>
        </p:nvSpPr>
        <p:spPr>
          <a:xfrm>
            <a:off x="575610" y="2552550"/>
            <a:ext cx="698624" cy="698624"/>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rgbClr val="FFFFFF"/>
              </a:solidFill>
              <a:latin typeface="Arial"/>
              <a:ea typeface="Arial"/>
              <a:cs typeface="Arial"/>
              <a:sym typeface="Arial"/>
            </a:endParaRPr>
          </a:p>
        </p:txBody>
      </p:sp>
      <p:sp>
        <p:nvSpPr>
          <p:cNvPr id="141" name="Google Shape;141;p69"/>
          <p:cNvSpPr/>
          <p:nvPr/>
        </p:nvSpPr>
        <p:spPr>
          <a:xfrm>
            <a:off x="575610" y="1426607"/>
            <a:ext cx="698624" cy="698624"/>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lt1"/>
              </a:solidFill>
              <a:latin typeface="Arial"/>
              <a:ea typeface="Arial"/>
              <a:cs typeface="Arial"/>
              <a:sym typeface="Arial"/>
            </a:endParaRPr>
          </a:p>
        </p:txBody>
      </p:sp>
      <p:sp>
        <p:nvSpPr>
          <p:cNvPr id="142" name="Google Shape;142;p69"/>
          <p:cNvSpPr/>
          <p:nvPr/>
        </p:nvSpPr>
        <p:spPr>
          <a:xfrm>
            <a:off x="575610" y="3653093"/>
            <a:ext cx="698624" cy="698624"/>
          </a:xfrm>
          <a:prstGeom prst="ellipse">
            <a:avLst/>
          </a:prstGeom>
          <a:solidFill>
            <a:schemeClr val="accent5"/>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rgbClr val="049FD9"/>
              </a:solidFill>
              <a:latin typeface="Arial"/>
              <a:ea typeface="Arial"/>
              <a:cs typeface="Arial"/>
              <a:sym typeface="Arial"/>
            </a:endParaRPr>
          </a:p>
        </p:txBody>
      </p:sp>
      <p:sp>
        <p:nvSpPr>
          <p:cNvPr id="143" name="Google Shape;143;p69"/>
          <p:cNvSpPr txBox="1"/>
          <p:nvPr>
            <p:ph idx="1" type="body"/>
          </p:nvPr>
        </p:nvSpPr>
        <p:spPr>
          <a:xfrm>
            <a:off x="1365250" y="1432522"/>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4" name="Google Shape;144;p69"/>
          <p:cNvSpPr txBox="1"/>
          <p:nvPr>
            <p:ph idx="2" type="body"/>
          </p:nvPr>
        </p:nvSpPr>
        <p:spPr>
          <a:xfrm>
            <a:off x="1365250" y="2557793"/>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5" name="Google Shape;145;p69"/>
          <p:cNvSpPr txBox="1"/>
          <p:nvPr>
            <p:ph idx="3" type="body"/>
          </p:nvPr>
        </p:nvSpPr>
        <p:spPr>
          <a:xfrm>
            <a:off x="1365250" y="3653093"/>
            <a:ext cx="5473700" cy="693381"/>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6" name="Google Shape;146;p69"/>
          <p:cNvSpPr txBox="1"/>
          <p:nvPr>
            <p:ph idx="4" type="body"/>
          </p:nvPr>
        </p:nvSpPr>
        <p:spPr>
          <a:xfrm>
            <a:off x="575610" y="2552550"/>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7" name="Google Shape;147;p69"/>
          <p:cNvSpPr txBox="1"/>
          <p:nvPr>
            <p:ph idx="5" type="body"/>
          </p:nvPr>
        </p:nvSpPr>
        <p:spPr>
          <a:xfrm>
            <a:off x="575611" y="3651140"/>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8" name="Google Shape;148;p69"/>
          <p:cNvSpPr txBox="1"/>
          <p:nvPr>
            <p:ph idx="6" type="body"/>
          </p:nvPr>
        </p:nvSpPr>
        <p:spPr>
          <a:xfrm>
            <a:off x="575610" y="1427248"/>
            <a:ext cx="698624" cy="693381"/>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3600"/>
              <a:buFont typeface="Arial"/>
              <a:buNone/>
              <a:defRPr b="0" i="0" sz="4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5_Circled_Bullets">
  <p:cSld name="5_Circled_Bullets">
    <p:spTree>
      <p:nvGrpSpPr>
        <p:cNvPr id="149" name="Shape 149"/>
        <p:cNvGrpSpPr/>
        <p:nvPr/>
      </p:nvGrpSpPr>
      <p:grpSpPr>
        <a:xfrm>
          <a:off x="0" y="0"/>
          <a:ext cx="0" cy="0"/>
          <a:chOff x="0" y="0"/>
          <a:chExt cx="0" cy="0"/>
        </a:xfrm>
      </p:grpSpPr>
      <p:sp>
        <p:nvSpPr>
          <p:cNvPr id="150" name="Google Shape;150;p70"/>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chemeClr val="accent1"/>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51" name="Google Shape;151;p70"/>
          <p:cNvSpPr/>
          <p:nvPr/>
        </p:nvSpPr>
        <p:spPr>
          <a:xfrm>
            <a:off x="575611" y="1979318"/>
            <a:ext cx="464815" cy="464815"/>
          </a:xfrm>
          <a:prstGeom prst="ellipse">
            <a:avLst/>
          </a:prstGeom>
          <a:solidFill>
            <a:srgbClr val="38C6F4"/>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52" name="Google Shape;152;p70"/>
          <p:cNvSpPr/>
          <p:nvPr/>
        </p:nvSpPr>
        <p:spPr>
          <a:xfrm>
            <a:off x="575610" y="1328927"/>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53" name="Google Shape;153;p70"/>
          <p:cNvSpPr/>
          <p:nvPr/>
        </p:nvSpPr>
        <p:spPr>
          <a:xfrm>
            <a:off x="575611" y="2627446"/>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54" name="Google Shape;154;p70"/>
          <p:cNvSpPr txBox="1"/>
          <p:nvPr>
            <p:ph idx="1" type="body"/>
          </p:nvPr>
        </p:nvSpPr>
        <p:spPr>
          <a:xfrm>
            <a:off x="1172384" y="1334842"/>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5" name="Google Shape;155;p70"/>
          <p:cNvSpPr txBox="1"/>
          <p:nvPr>
            <p:ph idx="2" type="body"/>
          </p:nvPr>
        </p:nvSpPr>
        <p:spPr>
          <a:xfrm>
            <a:off x="1172385" y="1984561"/>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6" name="Google Shape;156;p70"/>
          <p:cNvSpPr txBox="1"/>
          <p:nvPr>
            <p:ph idx="3" type="body"/>
          </p:nvPr>
        </p:nvSpPr>
        <p:spPr>
          <a:xfrm>
            <a:off x="1172385" y="2627446"/>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7" name="Google Shape;157;p70"/>
          <p:cNvSpPr txBox="1"/>
          <p:nvPr>
            <p:ph idx="4" type="body"/>
          </p:nvPr>
        </p:nvSpPr>
        <p:spPr>
          <a:xfrm>
            <a:off x="575611" y="1327521"/>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8" name="Google Shape;158;p70"/>
          <p:cNvSpPr txBox="1"/>
          <p:nvPr>
            <p:ph idx="5" type="body"/>
          </p:nvPr>
        </p:nvSpPr>
        <p:spPr>
          <a:xfrm>
            <a:off x="575611" y="197931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9" name="Google Shape;159;p70"/>
          <p:cNvSpPr txBox="1"/>
          <p:nvPr>
            <p:ph idx="6" type="body"/>
          </p:nvPr>
        </p:nvSpPr>
        <p:spPr>
          <a:xfrm>
            <a:off x="575612" y="262549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0" name="Google Shape;160;p70"/>
          <p:cNvSpPr/>
          <p:nvPr/>
        </p:nvSpPr>
        <p:spPr>
          <a:xfrm>
            <a:off x="575612" y="3274581"/>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61" name="Google Shape;161;p70"/>
          <p:cNvSpPr txBox="1"/>
          <p:nvPr>
            <p:ph idx="7" type="body"/>
          </p:nvPr>
        </p:nvSpPr>
        <p:spPr>
          <a:xfrm>
            <a:off x="1172386" y="3274581"/>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2" name="Google Shape;162;p70"/>
          <p:cNvSpPr txBox="1"/>
          <p:nvPr>
            <p:ph idx="8" type="body"/>
          </p:nvPr>
        </p:nvSpPr>
        <p:spPr>
          <a:xfrm>
            <a:off x="575613" y="327262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3" name="Google Shape;163;p70"/>
          <p:cNvSpPr/>
          <p:nvPr/>
        </p:nvSpPr>
        <p:spPr>
          <a:xfrm>
            <a:off x="575613" y="3921716"/>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4000">
              <a:solidFill>
                <a:schemeClr val="accent5"/>
              </a:solidFill>
              <a:latin typeface="Arial"/>
              <a:ea typeface="Arial"/>
              <a:cs typeface="Arial"/>
              <a:sym typeface="Arial"/>
            </a:endParaRPr>
          </a:p>
        </p:txBody>
      </p:sp>
      <p:sp>
        <p:nvSpPr>
          <p:cNvPr id="164" name="Google Shape;164;p70"/>
          <p:cNvSpPr txBox="1"/>
          <p:nvPr>
            <p:ph idx="9" type="body"/>
          </p:nvPr>
        </p:nvSpPr>
        <p:spPr>
          <a:xfrm>
            <a:off x="1172387" y="3921716"/>
            <a:ext cx="5678748"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800"/>
              <a:buFont typeface="Arial"/>
              <a:buNone/>
              <a:defRPr b="0" i="0" sz="2000" u="none" cap="none" strike="noStrike">
                <a:solidFill>
                  <a:schemeClr val="accent1"/>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5" name="Google Shape;165;p70"/>
          <p:cNvSpPr txBox="1"/>
          <p:nvPr>
            <p:ph idx="13" type="body"/>
          </p:nvPr>
        </p:nvSpPr>
        <p:spPr>
          <a:xfrm>
            <a:off x="575614" y="391976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800"/>
              <a:buFont typeface="Arial"/>
              <a:buNone/>
              <a:defRPr b="0" i="0" sz="20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ircled_Bullets">
  <p:cSld name="6_Circled_Bullets">
    <p:spTree>
      <p:nvGrpSpPr>
        <p:cNvPr id="166" name="Shape 166"/>
        <p:cNvGrpSpPr/>
        <p:nvPr/>
      </p:nvGrpSpPr>
      <p:grpSpPr>
        <a:xfrm>
          <a:off x="0" y="0"/>
          <a:ext cx="0" cy="0"/>
          <a:chOff x="0" y="0"/>
          <a:chExt cx="0" cy="0"/>
        </a:xfrm>
      </p:grpSpPr>
      <p:sp>
        <p:nvSpPr>
          <p:cNvPr id="167" name="Google Shape;167;p71"/>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solidFill>
                  <a:srgbClr val="004C69"/>
                </a:solidFill>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
        <p:nvSpPr>
          <p:cNvPr id="168" name="Google Shape;168;p71"/>
          <p:cNvSpPr/>
          <p:nvPr/>
        </p:nvSpPr>
        <p:spPr>
          <a:xfrm>
            <a:off x="575611" y="1979318"/>
            <a:ext cx="464815" cy="464815"/>
          </a:xfrm>
          <a:prstGeom prst="ellipse">
            <a:avLst/>
          </a:prstGeom>
          <a:solidFill>
            <a:srgbClr val="38C6F4"/>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69" name="Google Shape;169;p71"/>
          <p:cNvSpPr/>
          <p:nvPr/>
        </p:nvSpPr>
        <p:spPr>
          <a:xfrm>
            <a:off x="575610" y="1328927"/>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rgbClr val="FFFFFF"/>
              </a:solidFill>
              <a:latin typeface="Arial"/>
              <a:ea typeface="Arial"/>
              <a:cs typeface="Arial"/>
              <a:sym typeface="Arial"/>
            </a:endParaRPr>
          </a:p>
        </p:txBody>
      </p:sp>
      <p:sp>
        <p:nvSpPr>
          <p:cNvPr id="170" name="Google Shape;170;p71"/>
          <p:cNvSpPr/>
          <p:nvPr/>
        </p:nvSpPr>
        <p:spPr>
          <a:xfrm>
            <a:off x="575611" y="2627446"/>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71" name="Google Shape;171;p71"/>
          <p:cNvSpPr txBox="1"/>
          <p:nvPr>
            <p:ph idx="1" type="body"/>
          </p:nvPr>
        </p:nvSpPr>
        <p:spPr>
          <a:xfrm>
            <a:off x="1172384" y="133484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2" name="Google Shape;172;p71"/>
          <p:cNvSpPr txBox="1"/>
          <p:nvPr>
            <p:ph idx="2" type="body"/>
          </p:nvPr>
        </p:nvSpPr>
        <p:spPr>
          <a:xfrm>
            <a:off x="1172385" y="1984561"/>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3" name="Google Shape;173;p71"/>
          <p:cNvSpPr txBox="1"/>
          <p:nvPr>
            <p:ph idx="3" type="body"/>
          </p:nvPr>
        </p:nvSpPr>
        <p:spPr>
          <a:xfrm>
            <a:off x="1172385" y="2627446"/>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4" name="Google Shape;174;p71"/>
          <p:cNvSpPr txBox="1"/>
          <p:nvPr>
            <p:ph idx="4" type="body"/>
          </p:nvPr>
        </p:nvSpPr>
        <p:spPr>
          <a:xfrm>
            <a:off x="575611" y="1327521"/>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5" name="Google Shape;175;p71"/>
          <p:cNvSpPr txBox="1"/>
          <p:nvPr>
            <p:ph idx="5" type="body"/>
          </p:nvPr>
        </p:nvSpPr>
        <p:spPr>
          <a:xfrm>
            <a:off x="575611" y="197931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6" name="Google Shape;176;p71"/>
          <p:cNvSpPr txBox="1"/>
          <p:nvPr>
            <p:ph idx="6" type="body"/>
          </p:nvPr>
        </p:nvSpPr>
        <p:spPr>
          <a:xfrm>
            <a:off x="575612" y="262549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7" name="Google Shape;177;p71"/>
          <p:cNvSpPr/>
          <p:nvPr/>
        </p:nvSpPr>
        <p:spPr>
          <a:xfrm>
            <a:off x="575612" y="3274581"/>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78" name="Google Shape;178;p71"/>
          <p:cNvSpPr txBox="1"/>
          <p:nvPr>
            <p:ph idx="7" type="body"/>
          </p:nvPr>
        </p:nvSpPr>
        <p:spPr>
          <a:xfrm>
            <a:off x="1172386" y="3274581"/>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9" name="Google Shape;179;p71"/>
          <p:cNvSpPr txBox="1"/>
          <p:nvPr>
            <p:ph idx="8" type="body"/>
          </p:nvPr>
        </p:nvSpPr>
        <p:spPr>
          <a:xfrm>
            <a:off x="575613" y="3272628"/>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0" name="Google Shape;180;p71"/>
          <p:cNvSpPr/>
          <p:nvPr/>
        </p:nvSpPr>
        <p:spPr>
          <a:xfrm>
            <a:off x="575613" y="3921716"/>
            <a:ext cx="464815" cy="464815"/>
          </a:xfrm>
          <a:prstGeom prst="ellipse">
            <a:avLst/>
          </a:prstGeom>
          <a:solidFill>
            <a:srgbClr val="00384E"/>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81" name="Google Shape;181;p71"/>
          <p:cNvSpPr txBox="1"/>
          <p:nvPr>
            <p:ph idx="9" type="body"/>
          </p:nvPr>
        </p:nvSpPr>
        <p:spPr>
          <a:xfrm>
            <a:off x="1172387" y="3921716"/>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2" name="Google Shape;182;p71"/>
          <p:cNvSpPr txBox="1"/>
          <p:nvPr>
            <p:ph idx="13" type="body"/>
          </p:nvPr>
        </p:nvSpPr>
        <p:spPr>
          <a:xfrm>
            <a:off x="575614" y="3919763"/>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3" name="Google Shape;183;p71"/>
          <p:cNvSpPr/>
          <p:nvPr/>
        </p:nvSpPr>
        <p:spPr>
          <a:xfrm>
            <a:off x="4414576" y="1983084"/>
            <a:ext cx="464815" cy="464815"/>
          </a:xfrm>
          <a:prstGeom prst="ellipse">
            <a:avLst/>
          </a:prstGeom>
          <a:solidFill>
            <a:schemeClr val="accent6"/>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84" name="Google Shape;184;p71"/>
          <p:cNvSpPr/>
          <p:nvPr/>
        </p:nvSpPr>
        <p:spPr>
          <a:xfrm>
            <a:off x="4414575" y="1332693"/>
            <a:ext cx="464815" cy="464815"/>
          </a:xfrm>
          <a:prstGeom prst="ellipse">
            <a:avLst/>
          </a:prstGeom>
          <a:solidFill>
            <a:srgbClr val="00394F"/>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85" name="Google Shape;185;p71"/>
          <p:cNvSpPr/>
          <p:nvPr/>
        </p:nvSpPr>
        <p:spPr>
          <a:xfrm>
            <a:off x="4414576" y="2631212"/>
            <a:ext cx="464815" cy="464815"/>
          </a:xfrm>
          <a:prstGeom prst="ellipse">
            <a:avLst/>
          </a:prstGeom>
          <a:solidFill>
            <a:schemeClr val="accent5"/>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86" name="Google Shape;186;p71"/>
          <p:cNvSpPr txBox="1"/>
          <p:nvPr>
            <p:ph idx="14" type="body"/>
          </p:nvPr>
        </p:nvSpPr>
        <p:spPr>
          <a:xfrm>
            <a:off x="5011349" y="1338608"/>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7" name="Google Shape;187;p71"/>
          <p:cNvSpPr txBox="1"/>
          <p:nvPr>
            <p:ph idx="15" type="body"/>
          </p:nvPr>
        </p:nvSpPr>
        <p:spPr>
          <a:xfrm>
            <a:off x="5011350" y="1988327"/>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8" name="Google Shape;188;p71"/>
          <p:cNvSpPr txBox="1"/>
          <p:nvPr>
            <p:ph idx="16" type="body"/>
          </p:nvPr>
        </p:nvSpPr>
        <p:spPr>
          <a:xfrm>
            <a:off x="5011350" y="263121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9" name="Google Shape;189;p71"/>
          <p:cNvSpPr txBox="1"/>
          <p:nvPr>
            <p:ph idx="17" type="body"/>
          </p:nvPr>
        </p:nvSpPr>
        <p:spPr>
          <a:xfrm>
            <a:off x="4414576" y="1331287"/>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0" name="Google Shape;190;p71"/>
          <p:cNvSpPr txBox="1"/>
          <p:nvPr>
            <p:ph idx="18" type="body"/>
          </p:nvPr>
        </p:nvSpPr>
        <p:spPr>
          <a:xfrm>
            <a:off x="4414576" y="1983084"/>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1" name="Google Shape;191;p71"/>
          <p:cNvSpPr txBox="1"/>
          <p:nvPr>
            <p:ph idx="19" type="body"/>
          </p:nvPr>
        </p:nvSpPr>
        <p:spPr>
          <a:xfrm>
            <a:off x="4414577" y="2629259"/>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2" name="Google Shape;192;p71"/>
          <p:cNvSpPr/>
          <p:nvPr/>
        </p:nvSpPr>
        <p:spPr>
          <a:xfrm>
            <a:off x="4414577" y="3278347"/>
            <a:ext cx="464815" cy="464815"/>
          </a:xfrm>
          <a:prstGeom prst="ellipse">
            <a:avLst/>
          </a:prstGeom>
          <a:solidFill>
            <a:schemeClr val="lt2"/>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93" name="Google Shape;193;p71"/>
          <p:cNvSpPr txBox="1"/>
          <p:nvPr>
            <p:ph idx="20" type="body"/>
          </p:nvPr>
        </p:nvSpPr>
        <p:spPr>
          <a:xfrm>
            <a:off x="5011351" y="3278347"/>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4" name="Google Shape;194;p71"/>
          <p:cNvSpPr txBox="1"/>
          <p:nvPr>
            <p:ph idx="21" type="body"/>
          </p:nvPr>
        </p:nvSpPr>
        <p:spPr>
          <a:xfrm>
            <a:off x="4414578" y="3276394"/>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5" name="Google Shape;195;p71"/>
          <p:cNvSpPr/>
          <p:nvPr/>
        </p:nvSpPr>
        <p:spPr>
          <a:xfrm>
            <a:off x="4414578" y="3925482"/>
            <a:ext cx="464815" cy="464815"/>
          </a:xfrm>
          <a:prstGeom prst="ellipse">
            <a:avLst/>
          </a:prstGeom>
          <a:solidFill>
            <a:srgbClr val="00384E"/>
          </a:solidFill>
          <a:ln>
            <a:noFill/>
          </a:ln>
        </p:spPr>
        <p:txBody>
          <a:bodyPr anchorCtr="0" anchor="ctr" bIns="91425" lIns="91425" spcFirstLastPara="1" rIns="91425" wrap="square" tIns="45700">
            <a:noAutofit/>
          </a:bodyPr>
          <a:lstStyle/>
          <a:p>
            <a:pPr indent="0" lvl="0" marL="0" marR="0" rtl="0" algn="ctr">
              <a:spcBef>
                <a:spcPts val="0"/>
              </a:spcBef>
              <a:spcAft>
                <a:spcPts val="0"/>
              </a:spcAft>
              <a:buNone/>
            </a:pPr>
            <a:r>
              <a:t/>
            </a:r>
            <a:endParaRPr sz="1800">
              <a:solidFill>
                <a:schemeClr val="lt2"/>
              </a:solidFill>
              <a:latin typeface="Arial"/>
              <a:ea typeface="Arial"/>
              <a:cs typeface="Arial"/>
              <a:sym typeface="Arial"/>
            </a:endParaRPr>
          </a:p>
        </p:txBody>
      </p:sp>
      <p:sp>
        <p:nvSpPr>
          <p:cNvPr id="196" name="Google Shape;196;p71"/>
          <p:cNvSpPr txBox="1"/>
          <p:nvPr>
            <p:ph idx="22" type="body"/>
          </p:nvPr>
        </p:nvSpPr>
        <p:spPr>
          <a:xfrm>
            <a:off x="5011352" y="3925482"/>
            <a:ext cx="2175886" cy="461327"/>
          </a:xfrm>
          <a:prstGeom prst="rect">
            <a:avLst/>
          </a:prstGeom>
          <a:noFill/>
          <a:ln>
            <a:noFill/>
          </a:ln>
        </p:spPr>
        <p:txBody>
          <a:bodyPr anchorCtr="0" anchor="ctr" bIns="45700" lIns="91400" spcFirstLastPara="1" rIns="91400" wrap="square" tIns="45700">
            <a:noAutofit/>
          </a:bodyPr>
          <a:lstStyle>
            <a:lvl1pPr indent="-228600" lvl="0" marL="457200" marR="0" rtl="0" algn="l">
              <a:lnSpc>
                <a:spcPct val="95000"/>
              </a:lnSpc>
              <a:spcBef>
                <a:spcPts val="1075"/>
              </a:spcBef>
              <a:spcAft>
                <a:spcPts val="0"/>
              </a:spcAft>
              <a:buClr>
                <a:schemeClr val="dk2"/>
              </a:buClr>
              <a:buSzPts val="1620"/>
              <a:buFont typeface="Arial"/>
              <a:buNone/>
              <a:defRPr b="0" i="0" sz="1800" u="none" cap="none" strike="noStrike">
                <a:solidFill>
                  <a:srgbClr val="004C69"/>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7" name="Google Shape;197;p71"/>
          <p:cNvSpPr txBox="1"/>
          <p:nvPr>
            <p:ph idx="23" type="body"/>
          </p:nvPr>
        </p:nvSpPr>
        <p:spPr>
          <a:xfrm>
            <a:off x="4414579" y="3923529"/>
            <a:ext cx="464815" cy="461327"/>
          </a:xfrm>
          <a:prstGeom prst="rect">
            <a:avLst/>
          </a:prstGeom>
          <a:noFill/>
          <a:ln>
            <a:noFill/>
          </a:ln>
        </p:spPr>
        <p:txBody>
          <a:bodyPr anchorCtr="0" anchor="ctr" bIns="45700" lIns="91400" spcFirstLastPara="1" rIns="91400" wrap="square" tIns="45700">
            <a:noAutofit/>
          </a:bodyPr>
          <a:lstStyle>
            <a:lvl1pPr indent="-228600" lvl="0" marL="457200" marR="0" rtl="0" algn="ctr">
              <a:lnSpc>
                <a:spcPct val="95000"/>
              </a:lnSpc>
              <a:spcBef>
                <a:spcPts val="1075"/>
              </a:spcBef>
              <a:spcAft>
                <a:spcPts val="0"/>
              </a:spcAft>
              <a:buClr>
                <a:schemeClr val="dk2"/>
              </a:buClr>
              <a:buSzPts val="1620"/>
              <a:buFont typeface="Arial"/>
              <a:buNone/>
              <a:defRPr b="0" i="0" sz="1800" u="none" cap="none" strike="noStrike">
                <a:solidFill>
                  <a:srgbClr val="FFFFFF"/>
                </a:solidFill>
                <a:latin typeface="Arial"/>
                <a:ea typeface="Arial"/>
                <a:cs typeface="Arial"/>
                <a:sym typeface="Arial"/>
              </a:defRPr>
            </a:lvl1pPr>
            <a:lvl2pPr indent="-317500" lvl="1" marL="914400" marR="0" rtl="0" algn="l">
              <a:lnSpc>
                <a:spcPct val="95000"/>
              </a:lnSpc>
              <a:spcBef>
                <a:spcPts val="600"/>
              </a:spcBef>
              <a:spcAft>
                <a:spcPts val="0"/>
              </a:spcAft>
              <a:buClr>
                <a:schemeClr val="dk2"/>
              </a:buClr>
              <a:buSzPts val="1400"/>
              <a:buFont typeface="Arial"/>
              <a:buChar char="•"/>
              <a:defRPr b="0" i="0" sz="1400" u="none" cap="none" strike="noStrike">
                <a:solidFill>
                  <a:srgbClr val="FFFFFF"/>
                </a:solidFill>
                <a:latin typeface="Arial"/>
                <a:ea typeface="Arial"/>
                <a:cs typeface="Arial"/>
                <a:sym typeface="Arial"/>
              </a:defRPr>
            </a:lvl2pPr>
            <a:lvl3pPr indent="-304800" lvl="2" marL="1371600" marR="0" rtl="0" algn="l">
              <a:lnSpc>
                <a:spcPct val="95000"/>
              </a:lnSpc>
              <a:spcBef>
                <a:spcPts val="625"/>
              </a:spcBef>
              <a:spcAft>
                <a:spcPts val="0"/>
              </a:spcAft>
              <a:buClr>
                <a:srgbClr val="FFFFFF"/>
              </a:buClr>
              <a:buSzPts val="1200"/>
              <a:buFont typeface="Arial"/>
              <a:buChar char="•"/>
              <a:defRPr b="0" i="0" sz="1200" u="none" cap="none" strike="noStrike">
                <a:solidFill>
                  <a:srgbClr val="FFFFFF"/>
                </a:solidFill>
                <a:latin typeface="Arial"/>
                <a:ea typeface="Arial"/>
                <a:cs typeface="Arial"/>
                <a:sym typeface="Arial"/>
              </a:defRPr>
            </a:lvl3pPr>
            <a:lvl4pPr indent="-298450" lvl="3" marL="18288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4pPr>
            <a:lvl5pPr indent="-298450" lvl="4" marL="2286000" marR="0" rtl="0" algn="l">
              <a:lnSpc>
                <a:spcPct val="95000"/>
              </a:lnSpc>
              <a:spcBef>
                <a:spcPts val="625"/>
              </a:spcBef>
              <a:spcAft>
                <a:spcPts val="0"/>
              </a:spcAft>
              <a:buClr>
                <a:srgbClr val="FFFFFF"/>
              </a:buClr>
              <a:buSzPts val="1100"/>
              <a:buFont typeface="Arial"/>
              <a:buChar char="•"/>
              <a:defRPr b="0" i="0" sz="1100" u="none" cap="none" strike="noStrike">
                <a:solidFill>
                  <a:srgbClr val="FFFFFF"/>
                </a:solidFill>
                <a:latin typeface="Arial"/>
                <a:ea typeface="Arial"/>
                <a:cs typeface="Arial"/>
                <a:sym typeface="Arial"/>
              </a:defRPr>
            </a:lvl5pPr>
            <a:lvl6pPr indent="-285750" lvl="5" marL="2743200" marR="0" rtl="0" algn="l">
              <a:spcBef>
                <a:spcPts val="600"/>
              </a:spcBef>
              <a:spcAft>
                <a:spcPts val="0"/>
              </a:spcAft>
              <a:buClr>
                <a:schemeClr val="dk1"/>
              </a:buClr>
              <a:buSzPts val="900"/>
              <a:buFont typeface="Arial"/>
              <a:buChar char="•"/>
              <a:defRPr b="0" i="0" sz="900" u="none" cap="none" strike="noStrike">
                <a:solidFill>
                  <a:schemeClr val="dk1"/>
                </a:solidFill>
                <a:latin typeface="Arial"/>
                <a:ea typeface="Arial"/>
                <a:cs typeface="Arial"/>
                <a:sym typeface="Arial"/>
              </a:defRPr>
            </a:lvl6pPr>
            <a:lvl7pPr indent="-279400" lvl="6" marL="3200400" marR="0" rtl="0" algn="l">
              <a:spcBef>
                <a:spcPts val="600"/>
              </a:spcBef>
              <a:spcAft>
                <a:spcPts val="0"/>
              </a:spcAft>
              <a:buClr>
                <a:schemeClr val="dk1"/>
              </a:buClr>
              <a:buSzPts val="800"/>
              <a:buFont typeface="Arial"/>
              <a:buChar char="•"/>
              <a:defRPr b="0" i="0" sz="800" u="none" cap="none" strike="noStrike">
                <a:solidFill>
                  <a:schemeClr val="dk1"/>
                </a:solidFill>
                <a:latin typeface="Arial"/>
                <a:ea typeface="Arial"/>
                <a:cs typeface="Arial"/>
                <a:sym typeface="Arial"/>
              </a:defRPr>
            </a:lvl7pPr>
            <a:lvl8pPr indent="-228600" lvl="7" marL="3657600" marR="0" rtl="0" algn="l">
              <a:spcBef>
                <a:spcPts val="300"/>
              </a:spcBef>
              <a:spcAft>
                <a:spcPts val="0"/>
              </a:spcAft>
              <a:buClr>
                <a:schemeClr val="dk1"/>
              </a:buClr>
              <a:buSzPts val="1500"/>
              <a:buFont typeface="Arial"/>
              <a:buNone/>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Tree>
  </p:cSld>
  <p:clrMapOvr>
    <a:masterClrMapping/>
  </p:clrMapOvr>
  <p:transition spd="slow">
    <p:wipe dir="l"/>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losing Slide" showMasterSp="0">
  <p:cSld name="Closing Slide">
    <p:bg>
      <p:bgPr>
        <a:solidFill>
          <a:schemeClr val="accent5"/>
        </a:solidFill>
      </p:bgPr>
    </p:bg>
    <p:spTree>
      <p:nvGrpSpPr>
        <p:cNvPr id="198" name="Shape 198"/>
        <p:cNvGrpSpPr/>
        <p:nvPr/>
      </p:nvGrpSpPr>
      <p:grpSpPr>
        <a:xfrm>
          <a:off x="0" y="0"/>
          <a:ext cx="0" cy="0"/>
          <a:chOff x="0" y="0"/>
          <a:chExt cx="0" cy="0"/>
        </a:xfrm>
      </p:grpSpPr>
      <p:sp>
        <p:nvSpPr>
          <p:cNvPr id="199" name="Google Shape;199;p72"/>
          <p:cNvSpPr/>
          <p:nvPr/>
        </p:nvSpPr>
        <p:spPr>
          <a:xfrm>
            <a:off x="0" y="0"/>
            <a:ext cx="9144000" cy="5143500"/>
          </a:xfrm>
          <a:prstGeom prst="rect">
            <a:avLst/>
          </a:prstGeom>
          <a:solidFill>
            <a:srgbClr val="00394F"/>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Arial"/>
              <a:ea typeface="Arial"/>
              <a:cs typeface="Arial"/>
              <a:sym typeface="Arial"/>
            </a:endParaRPr>
          </a:p>
        </p:txBody>
      </p:sp>
      <p:grpSp>
        <p:nvGrpSpPr>
          <p:cNvPr id="200" name="Google Shape;200;p72"/>
          <p:cNvGrpSpPr/>
          <p:nvPr/>
        </p:nvGrpSpPr>
        <p:grpSpPr>
          <a:xfrm>
            <a:off x="3746294" y="2129856"/>
            <a:ext cx="1617944" cy="860542"/>
            <a:chOff x="310" y="249"/>
            <a:chExt cx="502" cy="267"/>
          </a:xfrm>
        </p:grpSpPr>
        <p:sp>
          <p:nvSpPr>
            <p:cNvPr id="201" name="Google Shape;201;p72"/>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2" name="Google Shape;202;p72"/>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3" name="Google Shape;203;p72"/>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4" name="Google Shape;204;p72"/>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5" name="Google Shape;205;p72"/>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6" name="Google Shape;206;p72"/>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7" name="Google Shape;207;p72"/>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8" name="Google Shape;208;p72"/>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9" name="Google Shape;209;p72"/>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0" name="Google Shape;210;p72"/>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1" name="Google Shape;211;p72"/>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2" name="Google Shape;212;p72"/>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3" name="Google Shape;213;p72"/>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4" name="Google Shape;214;p72"/>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losing Slide" showMasterSp="0">
  <p:cSld name="3_Closing Slide">
    <p:bg>
      <p:bgPr>
        <a:solidFill>
          <a:schemeClr val="accent5"/>
        </a:solidFill>
      </p:bgPr>
    </p:bg>
    <p:spTree>
      <p:nvGrpSpPr>
        <p:cNvPr id="215" name="Shape 215"/>
        <p:cNvGrpSpPr/>
        <p:nvPr/>
      </p:nvGrpSpPr>
      <p:grpSpPr>
        <a:xfrm>
          <a:off x="0" y="0"/>
          <a:ext cx="0" cy="0"/>
          <a:chOff x="0" y="0"/>
          <a:chExt cx="0" cy="0"/>
        </a:xfrm>
      </p:grpSpPr>
      <p:grpSp>
        <p:nvGrpSpPr>
          <p:cNvPr id="216" name="Google Shape;216;p73"/>
          <p:cNvGrpSpPr/>
          <p:nvPr/>
        </p:nvGrpSpPr>
        <p:grpSpPr>
          <a:xfrm>
            <a:off x="3746294" y="2129856"/>
            <a:ext cx="1617944" cy="860542"/>
            <a:chOff x="310" y="249"/>
            <a:chExt cx="502" cy="267"/>
          </a:xfrm>
        </p:grpSpPr>
        <p:sp>
          <p:nvSpPr>
            <p:cNvPr id="217" name="Google Shape;217;p73"/>
            <p:cNvSpPr/>
            <p:nvPr/>
          </p:nvSpPr>
          <p:spPr>
            <a:xfrm>
              <a:off x="452" y="426"/>
              <a:ext cx="22" cy="88"/>
            </a:xfrm>
            <a:prstGeom prst="rect">
              <a:avLst/>
            </a:pr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8" name="Google Shape;218;p73"/>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9" name="Google Shape;219;p73"/>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0" name="Google Shape;220;p73"/>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1" name="Google Shape;221;p73"/>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2" name="Google Shape;222;p73"/>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3" name="Google Shape;223;p73"/>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4" name="Google Shape;224;p73"/>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5" name="Google Shape;225;p73"/>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6" name="Google Shape;226;p73"/>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7" name="Google Shape;227;p73"/>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8" name="Google Shape;228;p73"/>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9" name="Google Shape;229;p73"/>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0" name="Google Shape;230;p73"/>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rgbClr val="00384E"/>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Ovr>
    <a:masterClrMapping/>
  </p:clrMapOvr>
  <p:transition spd="slow">
    <p:wipe dir="l"/>
  </p:transition>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1" name="Shape 231"/>
        <p:cNvGrpSpPr/>
        <p:nvPr/>
      </p:nvGrpSpPr>
      <p:grpSpPr>
        <a:xfrm>
          <a:off x="0" y="0"/>
          <a:ext cx="0" cy="0"/>
          <a:chOff x="0" y="0"/>
          <a:chExt cx="0" cy="0"/>
        </a:xfrm>
      </p:grpSpPr>
      <p:sp>
        <p:nvSpPr>
          <p:cNvPr id="232" name="Google Shape;232;p74"/>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algn="l">
              <a:lnSpc>
                <a:spcPct val="80000"/>
              </a:lnSpc>
              <a:spcBef>
                <a:spcPts val="0"/>
              </a:spcBef>
              <a:spcAft>
                <a:spcPts val="0"/>
              </a:spcAft>
              <a:buSzPts val="1400"/>
              <a:buNone/>
              <a:defRPr/>
            </a:lvl1pPr>
            <a:lvl2pPr lvl="1" algn="l">
              <a:lnSpc>
                <a:spcPct val="80000"/>
              </a:lnSpc>
              <a:spcBef>
                <a:spcPts val="0"/>
              </a:spcBef>
              <a:spcAft>
                <a:spcPts val="0"/>
              </a:spcAft>
              <a:buSzPts val="1400"/>
              <a:buNone/>
              <a:defRPr/>
            </a:lvl2pPr>
            <a:lvl3pPr lvl="2" algn="l">
              <a:lnSpc>
                <a:spcPct val="80000"/>
              </a:lnSpc>
              <a:spcBef>
                <a:spcPts val="0"/>
              </a:spcBef>
              <a:spcAft>
                <a:spcPts val="0"/>
              </a:spcAft>
              <a:buSzPts val="1400"/>
              <a:buNone/>
              <a:defRPr/>
            </a:lvl3pPr>
            <a:lvl4pPr lvl="3" algn="l">
              <a:lnSpc>
                <a:spcPct val="80000"/>
              </a:lnSpc>
              <a:spcBef>
                <a:spcPts val="0"/>
              </a:spcBef>
              <a:spcAft>
                <a:spcPts val="0"/>
              </a:spcAft>
              <a:buSzPts val="1400"/>
              <a:buNone/>
              <a:defRPr/>
            </a:lvl4pPr>
            <a:lvl5pPr lvl="4" algn="l">
              <a:lnSpc>
                <a:spcPct val="80000"/>
              </a:lnSpc>
              <a:spcBef>
                <a:spcPts val="0"/>
              </a:spcBef>
              <a:spcAft>
                <a:spcPts val="0"/>
              </a:spcAft>
              <a:buSzPts val="1400"/>
              <a:buNone/>
              <a:defRPr/>
            </a:lvl5pPr>
            <a:lvl6pPr lvl="5" algn="l">
              <a:lnSpc>
                <a:spcPct val="80000"/>
              </a:lnSpc>
              <a:spcBef>
                <a:spcPts val="0"/>
              </a:spcBef>
              <a:spcAft>
                <a:spcPts val="0"/>
              </a:spcAft>
              <a:buSzPts val="1400"/>
              <a:buNone/>
              <a:defRPr/>
            </a:lvl6pPr>
            <a:lvl7pPr lvl="6" algn="l">
              <a:lnSpc>
                <a:spcPct val="80000"/>
              </a:lnSpc>
              <a:spcBef>
                <a:spcPts val="0"/>
              </a:spcBef>
              <a:spcAft>
                <a:spcPts val="0"/>
              </a:spcAft>
              <a:buSzPts val="1400"/>
              <a:buNone/>
              <a:defRPr/>
            </a:lvl7pPr>
            <a:lvl8pPr lvl="7" algn="l">
              <a:lnSpc>
                <a:spcPct val="80000"/>
              </a:lnSpc>
              <a:spcBef>
                <a:spcPts val="0"/>
              </a:spcBef>
              <a:spcAft>
                <a:spcPts val="0"/>
              </a:spcAft>
              <a:buSzPts val="1400"/>
              <a:buNone/>
              <a:defRPr/>
            </a:lvl8pPr>
            <a:lvl9pPr lvl="8" algn="l">
              <a:lnSpc>
                <a:spcPct val="80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2.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0"/>
          <p:cNvSpPr txBox="1"/>
          <p:nvPr>
            <p:ph type="title"/>
          </p:nvPr>
        </p:nvSpPr>
        <p:spPr>
          <a:xfrm>
            <a:off x="438150" y="341313"/>
            <a:ext cx="8345488" cy="731837"/>
          </a:xfrm>
          <a:prstGeom prst="rect">
            <a:avLst/>
          </a:prstGeom>
          <a:noFill/>
          <a:ln>
            <a:noFill/>
          </a:ln>
        </p:spPr>
        <p:txBody>
          <a:bodyPr anchorCtr="0" anchor="ctr" bIns="45700" lIns="91400" spcFirstLastPara="1" rIns="91400" wrap="square" tIns="45700">
            <a:noAutofit/>
          </a:bodyPr>
          <a:lstStyle>
            <a:lvl1pPr lvl="0" marR="0" rtl="0" algn="l">
              <a:lnSpc>
                <a:spcPct val="80000"/>
              </a:lnSpc>
              <a:spcBef>
                <a:spcPts val="0"/>
              </a:spcBef>
              <a:spcAft>
                <a:spcPts val="0"/>
              </a:spcAft>
              <a:buSzPts val="1400"/>
              <a:buNone/>
              <a:defRPr b="0" i="0" sz="3200" u="none" cap="none" strike="noStrike">
                <a:solidFill>
                  <a:schemeClr val="accent4"/>
                </a:solidFill>
                <a:latin typeface="Arial"/>
                <a:ea typeface="Arial"/>
                <a:cs typeface="Arial"/>
                <a:sym typeface="Arial"/>
              </a:defRPr>
            </a:lvl1pPr>
            <a:lvl2pPr lvl="1"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2pPr>
            <a:lvl3pPr lvl="2"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3pPr>
            <a:lvl4pPr lvl="3"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4pPr>
            <a:lvl5pPr lvl="4"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5pPr>
            <a:lvl6pPr lvl="5"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6pPr>
            <a:lvl7pPr lvl="6"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7pPr>
            <a:lvl8pPr lvl="7"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8pPr>
            <a:lvl9pPr lvl="8" marR="0" rtl="0" algn="l">
              <a:lnSpc>
                <a:spcPct val="80000"/>
              </a:lnSpc>
              <a:spcBef>
                <a:spcPts val="0"/>
              </a:spcBef>
              <a:spcAft>
                <a:spcPts val="0"/>
              </a:spcAft>
              <a:buSzPts val="1400"/>
              <a:buNone/>
              <a:defRPr b="0" i="0" sz="3200" u="none" cap="none" strike="noStrike">
                <a:solidFill>
                  <a:srgbClr val="676767"/>
                </a:solidFill>
                <a:latin typeface="Arial"/>
                <a:ea typeface="Arial"/>
                <a:cs typeface="Arial"/>
                <a:sym typeface="Arial"/>
              </a:defRPr>
            </a:lvl9pPr>
          </a:lstStyle>
          <a:p/>
        </p:txBody>
      </p:sp>
      <p:sp>
        <p:nvSpPr>
          <p:cNvPr id="11" name="Google Shape;11;p60"/>
          <p:cNvSpPr/>
          <p:nvPr/>
        </p:nvSpPr>
        <p:spPr>
          <a:xfrm>
            <a:off x="8515707" y="4742907"/>
            <a:ext cx="218414" cy="154518"/>
          </a:xfrm>
          <a:prstGeom prst="rect">
            <a:avLst/>
          </a:prstGeom>
          <a:noFill/>
          <a:ln>
            <a:noFill/>
          </a:ln>
        </p:spPr>
        <p:txBody>
          <a:bodyPr anchorCtr="0" anchor="b" bIns="30775" lIns="61575" spcFirstLastPara="1" rIns="61575" wrap="square" tIns="30775">
            <a:spAutoFit/>
          </a:bodyPr>
          <a:lstStyle/>
          <a:p>
            <a:pPr indent="0" lvl="0" marL="0" marR="0" rtl="0" algn="r">
              <a:spcBef>
                <a:spcPts val="0"/>
              </a:spcBef>
              <a:spcAft>
                <a:spcPts val="0"/>
              </a:spcAft>
              <a:buNone/>
            </a:pPr>
            <a:fld id="{00000000-1234-1234-1234-123412341234}" type="slidenum">
              <a:rPr b="0" i="0" lang="en-US" sz="600" u="none" cap="none" strike="noStrike">
                <a:solidFill>
                  <a:srgbClr val="D8D8D8"/>
                </a:solidFill>
                <a:latin typeface="Arial"/>
                <a:ea typeface="Arial"/>
                <a:cs typeface="Arial"/>
                <a:sym typeface="Arial"/>
              </a:rPr>
              <a:t>‹#›</a:t>
            </a:fld>
            <a:endParaRPr b="0" i="0" sz="600" u="none" cap="none" strike="noStrike">
              <a:solidFill>
                <a:srgbClr val="D8D8D8"/>
              </a:solidFill>
              <a:latin typeface="Arial"/>
              <a:ea typeface="Arial"/>
              <a:cs typeface="Arial"/>
              <a:sym typeface="Arial"/>
            </a:endParaRPr>
          </a:p>
        </p:txBody>
      </p:sp>
      <p:sp>
        <p:nvSpPr>
          <p:cNvPr id="12" name="Google Shape;12;p60"/>
          <p:cNvSpPr/>
          <p:nvPr/>
        </p:nvSpPr>
        <p:spPr>
          <a:xfrm>
            <a:off x="5867508" y="4741653"/>
            <a:ext cx="2658018" cy="154518"/>
          </a:xfrm>
          <a:prstGeom prst="rect">
            <a:avLst/>
          </a:prstGeom>
          <a:noFill/>
          <a:ln>
            <a:noFill/>
          </a:ln>
        </p:spPr>
        <p:txBody>
          <a:bodyPr anchorCtr="0" anchor="b" bIns="30775" lIns="61575" spcFirstLastPara="1" rIns="61575" wrap="square" tIns="30775">
            <a:spAutoFit/>
          </a:bodyPr>
          <a:lstStyle/>
          <a:p>
            <a:pPr indent="0" lvl="0" marL="0" marR="0" rtl="0" algn="l">
              <a:spcBef>
                <a:spcPts val="0"/>
              </a:spcBef>
              <a:spcAft>
                <a:spcPts val="0"/>
              </a:spcAft>
              <a:buNone/>
            </a:pPr>
            <a:r>
              <a:rPr b="0" i="0" lang="en-US" sz="600" u="none" cap="none" strike="noStrike">
                <a:solidFill>
                  <a:srgbClr val="D8D8D8"/>
                </a:solidFill>
                <a:latin typeface="Arial"/>
                <a:ea typeface="Arial"/>
                <a:cs typeface="Arial"/>
                <a:sym typeface="Arial"/>
              </a:rPr>
              <a:t>© 2019  Cisco and/or its affiliates. All rights reserved.   Cisco Confidential</a:t>
            </a:r>
            <a:endParaRPr/>
          </a:p>
        </p:txBody>
      </p:sp>
      <p:grpSp>
        <p:nvGrpSpPr>
          <p:cNvPr id="13" name="Google Shape;13;p60"/>
          <p:cNvGrpSpPr/>
          <p:nvPr/>
        </p:nvGrpSpPr>
        <p:grpSpPr>
          <a:xfrm>
            <a:off x="508039" y="4715197"/>
            <a:ext cx="340257" cy="180974"/>
            <a:chOff x="310" y="249"/>
            <a:chExt cx="502" cy="267"/>
          </a:xfrm>
        </p:grpSpPr>
        <p:sp>
          <p:nvSpPr>
            <p:cNvPr id="14" name="Google Shape;14;p60"/>
            <p:cNvSpPr/>
            <p:nvPr/>
          </p:nvSpPr>
          <p:spPr>
            <a:xfrm>
              <a:off x="452" y="426"/>
              <a:ext cx="22" cy="88"/>
            </a:xfrm>
            <a:prstGeom prst="rect">
              <a:avLst/>
            </a:pr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5" name="Google Shape;15;p60"/>
            <p:cNvSpPr/>
            <p:nvPr/>
          </p:nvSpPr>
          <p:spPr>
            <a:xfrm>
              <a:off x="585" y="425"/>
              <a:ext cx="66" cy="91"/>
            </a:xfrm>
            <a:custGeom>
              <a:rect b="b" l="l" r="r" t="t"/>
              <a:pathLst>
                <a:path extrusionOk="0" h="69" w="51">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6" name="Google Shape;16;p60"/>
            <p:cNvSpPr/>
            <p:nvPr/>
          </p:nvSpPr>
          <p:spPr>
            <a:xfrm>
              <a:off x="355" y="425"/>
              <a:ext cx="67" cy="91"/>
            </a:xfrm>
            <a:custGeom>
              <a:rect b="b" l="l" r="r" t="t"/>
              <a:pathLst>
                <a:path extrusionOk="0" h="69" w="51">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7" name="Google Shape;17;p60"/>
            <p:cNvSpPr/>
            <p:nvPr/>
          </p:nvSpPr>
          <p:spPr>
            <a:xfrm>
              <a:off x="675" y="425"/>
              <a:ext cx="91" cy="91"/>
            </a:xfrm>
            <a:custGeom>
              <a:rect b="b" l="l" r="r" t="t"/>
              <a:pathLst>
                <a:path extrusionOk="0" h="69" w="70">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8" name="Google Shape;18;p60"/>
            <p:cNvSpPr/>
            <p:nvPr/>
          </p:nvSpPr>
          <p:spPr>
            <a:xfrm>
              <a:off x="503" y="425"/>
              <a:ext cx="60" cy="91"/>
            </a:xfrm>
            <a:custGeom>
              <a:rect b="b" l="l" r="r" t="t"/>
              <a:pathLst>
                <a:path extrusionOk="0" h="69" w="46">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19" name="Google Shape;19;p60"/>
            <p:cNvSpPr/>
            <p:nvPr/>
          </p:nvSpPr>
          <p:spPr>
            <a:xfrm>
              <a:off x="31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0" name="Google Shape;20;p60"/>
            <p:cNvSpPr/>
            <p:nvPr/>
          </p:nvSpPr>
          <p:spPr>
            <a:xfrm>
              <a:off x="37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1" name="Google Shape;21;p60"/>
            <p:cNvSpPr/>
            <p:nvPr/>
          </p:nvSpPr>
          <p:spPr>
            <a:xfrm>
              <a:off x="430" y="249"/>
              <a:ext cx="22" cy="139"/>
            </a:xfrm>
            <a:custGeom>
              <a:rect b="b" l="l" r="r" t="t"/>
              <a:pathLst>
                <a:path extrusionOk="0" h="106" w="17">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2" name="Google Shape;22;p60"/>
            <p:cNvSpPr/>
            <p:nvPr/>
          </p:nvSpPr>
          <p:spPr>
            <a:xfrm>
              <a:off x="490" y="291"/>
              <a:ext cx="22" cy="75"/>
            </a:xfrm>
            <a:custGeom>
              <a:rect b="b" l="l" r="r" t="t"/>
              <a:pathLst>
                <a:path extrusionOk="0" h="57" w="1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3" name="Google Shape;23;p60"/>
            <p:cNvSpPr/>
            <p:nvPr/>
          </p:nvSpPr>
          <p:spPr>
            <a:xfrm>
              <a:off x="550" y="321"/>
              <a:ext cx="22" cy="45"/>
            </a:xfrm>
            <a:custGeom>
              <a:rect b="b" l="l" r="r" t="t"/>
              <a:pathLst>
                <a:path extrusionOk="0" h="34" w="17">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4" name="Google Shape;24;p60"/>
            <p:cNvSpPr/>
            <p:nvPr/>
          </p:nvSpPr>
          <p:spPr>
            <a:xfrm>
              <a:off x="61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5" name="Google Shape;25;p60"/>
            <p:cNvSpPr/>
            <p:nvPr/>
          </p:nvSpPr>
          <p:spPr>
            <a:xfrm>
              <a:off x="670" y="249"/>
              <a:ext cx="22" cy="139"/>
            </a:xfrm>
            <a:custGeom>
              <a:rect b="b" l="l" r="r" t="t"/>
              <a:pathLst>
                <a:path extrusionOk="0" h="106" w="17">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6" name="Google Shape;26;p60"/>
            <p:cNvSpPr/>
            <p:nvPr/>
          </p:nvSpPr>
          <p:spPr>
            <a:xfrm>
              <a:off x="730" y="291"/>
              <a:ext cx="22" cy="75"/>
            </a:xfrm>
            <a:custGeom>
              <a:rect b="b" l="l" r="r" t="t"/>
              <a:pathLst>
                <a:path extrusionOk="0" h="57" w="1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sp>
          <p:nvSpPr>
            <p:cNvPr id="27" name="Google Shape;27;p60"/>
            <p:cNvSpPr/>
            <p:nvPr/>
          </p:nvSpPr>
          <p:spPr>
            <a:xfrm>
              <a:off x="790" y="321"/>
              <a:ext cx="22" cy="45"/>
            </a:xfrm>
            <a:custGeom>
              <a:rect b="b" l="l" r="r" t="t"/>
              <a:pathLst>
                <a:path extrusionOk="0" h="34" w="17">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solidFill>
              <a:schemeClr val="accent5"/>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Arial"/>
                <a:ea typeface="Arial"/>
                <a:cs typeface="Arial"/>
                <a:sym typeface="Arial"/>
              </a:endParaRPr>
            </a:p>
          </p:txBody>
        </p:sp>
      </p:gr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ransition spd="slow">
    <p:wipe dir="l"/>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 Id="rId3"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30.png"/><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2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 Id="rId3" Type="http://schemas.openxmlformats.org/officeDocument/2006/relationships/image" Target="../media/image1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2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 Id="rId3" Type="http://schemas.openxmlformats.org/officeDocument/2006/relationships/image" Target="../media/image2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22.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1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 Id="rId3"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2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33.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2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31.png"/><Relationship Id="rId4" Type="http://schemas.openxmlformats.org/officeDocument/2006/relationships/image" Target="../media/image2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 Id="rId3" Type="http://schemas.openxmlformats.org/officeDocument/2006/relationships/image" Target="../media/image2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 Id="rId3" Type="http://schemas.openxmlformats.org/officeDocument/2006/relationships/image" Target="../media/image34.png"/><Relationship Id="rId4" Type="http://schemas.openxmlformats.org/officeDocument/2006/relationships/image" Target="../media/image36.png"/><Relationship Id="rId5" Type="http://schemas.openxmlformats.org/officeDocument/2006/relationships/image" Target="../media/image26.png"/><Relationship Id="rId6" Type="http://schemas.openxmlformats.org/officeDocument/2006/relationships/image" Target="../media/image3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1"/>
          <p:cNvSpPr txBox="1"/>
          <p:nvPr>
            <p:ph type="ctrTitle"/>
          </p:nvPr>
        </p:nvSpPr>
        <p:spPr>
          <a:xfrm>
            <a:off x="469497" y="2316480"/>
            <a:ext cx="6672708" cy="1080143"/>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3600"/>
              <a:buFont typeface="Arial"/>
              <a:buNone/>
            </a:pPr>
            <a:r>
              <a:rPr lang="en-US">
                <a:solidFill>
                  <a:srgbClr val="AEE8FA"/>
                </a:solidFill>
              </a:rPr>
              <a:t>Module 7: WAN Concepts</a:t>
            </a:r>
            <a:endParaRPr/>
          </a:p>
        </p:txBody>
      </p:sp>
      <p:sp>
        <p:nvSpPr>
          <p:cNvPr id="239" name="Google Shape;239;p1"/>
          <p:cNvSpPr txBox="1"/>
          <p:nvPr>
            <p:ph idx="1" type="subTitle"/>
          </p:nvPr>
        </p:nvSpPr>
        <p:spPr>
          <a:xfrm>
            <a:off x="469497" y="3809526"/>
            <a:ext cx="2368954" cy="902174"/>
          </a:xfrm>
          <a:prstGeom prst="rect">
            <a:avLst/>
          </a:prstGeom>
          <a:noFill/>
          <a:ln>
            <a:noFill/>
          </a:ln>
        </p:spPr>
        <p:txBody>
          <a:bodyPr anchorCtr="0" anchor="b" bIns="45700" lIns="91400" spcFirstLastPara="1" rIns="91400" wrap="square" tIns="45700">
            <a:noAutofit/>
          </a:bodyPr>
          <a:lstStyle/>
          <a:p>
            <a:pPr indent="0" lvl="0" marL="0" rtl="0" algn="l">
              <a:lnSpc>
                <a:spcPct val="95000"/>
              </a:lnSpc>
              <a:spcBef>
                <a:spcPts val="0"/>
              </a:spcBef>
              <a:spcAft>
                <a:spcPts val="0"/>
              </a:spcAft>
              <a:buSzPts val="1080"/>
              <a:buNone/>
            </a:pPr>
            <a:r>
              <a:rPr lang="en-US">
                <a:solidFill>
                  <a:srgbClr val="AEE8FA"/>
                </a:solidFill>
              </a:rPr>
              <a:t>Enterprise Networking, Security, and Automation v7.0 (ENSA) </a:t>
            </a:r>
            <a:endParaRPr/>
          </a:p>
          <a:p>
            <a:pPr indent="0" lvl="0" marL="0" rtl="0" algn="l">
              <a:lnSpc>
                <a:spcPct val="95000"/>
              </a:lnSpc>
              <a:spcBef>
                <a:spcPts val="1075"/>
              </a:spcBef>
              <a:spcAft>
                <a:spcPts val="0"/>
              </a:spcAft>
              <a:buSzPts val="1080"/>
              <a:buNone/>
            </a:pPr>
            <a:r>
              <a:t/>
            </a:r>
            <a:endParaRPr/>
          </a:p>
        </p:txBody>
      </p:sp>
    </p:spTree>
  </p:cSld>
  <p:clrMapOvr>
    <a:masterClrMapping/>
  </p:clrMapOvr>
  <p:transition spd="slow">
    <p:wipe dir="l"/>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2"/>
          <p:cNvSpPr txBox="1"/>
          <p:nvPr>
            <p:ph type="title"/>
          </p:nvPr>
        </p:nvSpPr>
        <p:spPr>
          <a:xfrm>
            <a:off x="1" y="57869"/>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a:t>Module Objectives</a:t>
            </a:r>
            <a:endParaRPr/>
          </a:p>
        </p:txBody>
      </p:sp>
      <p:sp>
        <p:nvSpPr>
          <p:cNvPr id="246" name="Google Shape;246;p2"/>
          <p:cNvSpPr/>
          <p:nvPr/>
        </p:nvSpPr>
        <p:spPr>
          <a:xfrm>
            <a:off x="169682" y="646783"/>
            <a:ext cx="8804635" cy="1077218"/>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600"/>
              <a:buFont typeface="Arial"/>
              <a:buNone/>
            </a:pPr>
            <a:r>
              <a:rPr b="1" i="0" lang="en-US" sz="1600" u="none" cap="none" strike="noStrike">
                <a:solidFill>
                  <a:schemeClr val="dk1"/>
                </a:solidFill>
                <a:latin typeface="Arial"/>
                <a:ea typeface="Arial"/>
                <a:cs typeface="Arial"/>
                <a:sym typeface="Arial"/>
              </a:rPr>
              <a:t>Module Title: </a:t>
            </a:r>
            <a:r>
              <a:rPr b="0" i="0" lang="en-US" sz="1600" u="none" cap="none" strike="noStrike">
                <a:solidFill>
                  <a:schemeClr val="dk1"/>
                </a:solidFill>
                <a:latin typeface="Arial"/>
                <a:ea typeface="Arial"/>
                <a:cs typeface="Arial"/>
                <a:sym typeface="Arial"/>
              </a:rPr>
              <a:t>WAN Concepts</a:t>
            </a:r>
            <a:endParaRPr/>
          </a:p>
          <a:p>
            <a:pPr indent="0" lvl="0" marL="0" marR="0" rtl="0" algn="l">
              <a:lnSpc>
                <a:spcPct val="100000"/>
              </a:lnSpc>
              <a:spcBef>
                <a:spcPts val="0"/>
              </a:spcBef>
              <a:spcAft>
                <a:spcPts val="0"/>
              </a:spcAft>
              <a:buClr>
                <a:schemeClr val="dk1"/>
              </a:buClr>
              <a:buSzPts val="1600"/>
              <a:buFont typeface="Arial"/>
              <a:buNone/>
            </a:pPr>
            <a:r>
              <a:t/>
            </a:r>
            <a:endParaRPr b="0" i="0" sz="1600" u="none" cap="none" strike="noStrike">
              <a:solidFill>
                <a:schemeClr val="dk1"/>
              </a:solidFill>
              <a:latin typeface="Arial"/>
              <a:ea typeface="Arial"/>
              <a:cs typeface="Arial"/>
              <a:sym typeface="Arial"/>
            </a:endParaRPr>
          </a:p>
          <a:p>
            <a:pPr indent="0" lvl="0" marL="0" marR="0" rtl="0" algn="l">
              <a:spcBef>
                <a:spcPts val="0"/>
              </a:spcBef>
              <a:spcAft>
                <a:spcPts val="0"/>
              </a:spcAft>
              <a:buNone/>
            </a:pPr>
            <a:r>
              <a:rPr b="1" i="0" lang="en-US" sz="1600" u="none" cap="none" strike="noStrike">
                <a:solidFill>
                  <a:schemeClr val="dk1"/>
                </a:solidFill>
                <a:latin typeface="Arial"/>
                <a:ea typeface="Arial"/>
                <a:cs typeface="Arial"/>
                <a:sym typeface="Arial"/>
              </a:rPr>
              <a:t>Module Objective</a:t>
            </a:r>
            <a:r>
              <a:rPr b="0" i="0" lang="en-US" sz="1600" u="none" cap="none" strike="noStrike">
                <a:solidFill>
                  <a:schemeClr val="dk1"/>
                </a:solidFill>
                <a:latin typeface="Arial"/>
                <a:ea typeface="Arial"/>
                <a:cs typeface="Arial"/>
                <a:sym typeface="Arial"/>
              </a:rPr>
              <a:t>: </a:t>
            </a:r>
            <a:r>
              <a:rPr lang="en-US" sz="1600">
                <a:solidFill>
                  <a:schemeClr val="dk1"/>
                </a:solidFill>
                <a:latin typeface="Arial"/>
                <a:ea typeface="Arial"/>
                <a:cs typeface="Arial"/>
                <a:sym typeface="Arial"/>
              </a:rPr>
              <a:t>Explain how WAN access technologies can be used to satisfy business requirements.</a:t>
            </a:r>
            <a:endParaRPr b="0" i="0" sz="1800" u="none" cap="none" strike="noStrike">
              <a:solidFill>
                <a:schemeClr val="dk1"/>
              </a:solidFill>
              <a:latin typeface="Arial"/>
              <a:ea typeface="Arial"/>
              <a:cs typeface="Arial"/>
              <a:sym typeface="Arial"/>
            </a:endParaRPr>
          </a:p>
        </p:txBody>
      </p:sp>
      <p:graphicFrame>
        <p:nvGraphicFramePr>
          <p:cNvPr id="247" name="Google Shape;247;p2"/>
          <p:cNvGraphicFramePr/>
          <p:nvPr/>
        </p:nvGraphicFramePr>
        <p:xfrm>
          <a:off x="766914" y="1892353"/>
          <a:ext cx="3000000" cy="3000000"/>
        </p:xfrm>
        <a:graphic>
          <a:graphicData uri="http://schemas.openxmlformats.org/drawingml/2006/table">
            <a:tbl>
              <a:tblPr bandRow="1" firstCol="1" firstRow="1">
                <a:noFill/>
                <a:tableStyleId>{4B9838A6-867F-4220-8999-C6B651F9615E}</a:tableStyleId>
              </a:tblPr>
              <a:tblGrid>
                <a:gridCol w="2783100"/>
                <a:gridCol w="4820975"/>
              </a:tblGrid>
              <a:tr h="216350">
                <a:tc>
                  <a:txBody>
                    <a:bodyPr/>
                    <a:lstStyle/>
                    <a:p>
                      <a:pPr indent="0" lvl="0" marL="0" marR="0" rtl="0" algn="l">
                        <a:lnSpc>
                          <a:spcPct val="107000"/>
                        </a:lnSpc>
                        <a:spcBef>
                          <a:spcPts val="0"/>
                        </a:spcBef>
                        <a:spcAft>
                          <a:spcPts val="0"/>
                        </a:spcAft>
                        <a:buNone/>
                      </a:pPr>
                      <a:r>
                        <a:rPr lang="en-US" sz="1400" u="none" cap="none" strike="noStrike"/>
                        <a:t>Topic Title</a:t>
                      </a:r>
                      <a:endParaRPr sz="14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rPr lang="en-US" sz="1400" u="none" cap="none" strike="noStrike"/>
                        <a:t>Topic Objective</a:t>
                      </a:r>
                      <a:endParaRPr sz="1400" u="none" cap="none" strike="noStrike">
                        <a:latin typeface="Calibri"/>
                        <a:ea typeface="Calibri"/>
                        <a:cs typeface="Calibri"/>
                        <a:sym typeface="Calibri"/>
                      </a:endParaRPr>
                    </a:p>
                  </a:txBody>
                  <a:tcPr marT="0" marB="0" marR="68575" marL="68575"/>
                </a:tc>
              </a:tr>
              <a:tr h="444150">
                <a:tc>
                  <a:txBody>
                    <a:bodyPr/>
                    <a:lstStyle/>
                    <a:p>
                      <a:pPr indent="0" lvl="0" marL="0" marR="0" rtl="0" algn="l">
                        <a:lnSpc>
                          <a:spcPct val="107000"/>
                        </a:lnSpc>
                        <a:spcBef>
                          <a:spcPts val="0"/>
                        </a:spcBef>
                        <a:spcAft>
                          <a:spcPts val="0"/>
                        </a:spcAft>
                        <a:buNone/>
                      </a:pPr>
                      <a:r>
                        <a:rPr lang="en-US" sz="1400" u="none" cap="none" strike="noStrike"/>
                        <a:t>Purpose of WANs</a:t>
                      </a:r>
                      <a:endParaRPr sz="14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rPr lang="en-US" sz="1400" u="none" cap="none" strike="noStrike">
                          <a:solidFill>
                            <a:srgbClr val="000000"/>
                          </a:solidFill>
                        </a:rPr>
                        <a:t>Explain the purpose of a WAN.</a:t>
                      </a:r>
                      <a:endParaRPr sz="1400" u="none" cap="none" strike="noStrike">
                        <a:solidFill>
                          <a:srgbClr val="000000"/>
                        </a:solidFill>
                        <a:latin typeface="Calibri"/>
                        <a:ea typeface="Calibri"/>
                        <a:cs typeface="Calibri"/>
                        <a:sym typeface="Calibri"/>
                      </a:endParaRPr>
                    </a:p>
                  </a:txBody>
                  <a:tcPr marT="0" marB="0" marR="68575" marL="68575"/>
                </a:tc>
              </a:tr>
              <a:tr h="315925">
                <a:tc>
                  <a:txBody>
                    <a:bodyPr/>
                    <a:lstStyle/>
                    <a:p>
                      <a:pPr indent="0" lvl="0" marL="0" marR="0" rtl="0" algn="l">
                        <a:lnSpc>
                          <a:spcPct val="107000"/>
                        </a:lnSpc>
                        <a:spcBef>
                          <a:spcPts val="0"/>
                        </a:spcBef>
                        <a:spcAft>
                          <a:spcPts val="0"/>
                        </a:spcAft>
                        <a:buNone/>
                      </a:pPr>
                      <a:r>
                        <a:rPr lang="en-US" sz="1400" u="none" cap="none" strike="noStrike"/>
                        <a:t>WAN Operations</a:t>
                      </a:r>
                      <a:endParaRPr sz="14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rPr lang="en-US" sz="1400" u="none" cap="none" strike="noStrike">
                          <a:solidFill>
                            <a:srgbClr val="000000"/>
                          </a:solidFill>
                        </a:rPr>
                        <a:t>Explain how WANs operate.</a:t>
                      </a:r>
                      <a:endParaRPr sz="1400" u="none" cap="none" strike="noStrike">
                        <a:solidFill>
                          <a:srgbClr val="000000"/>
                        </a:solidFill>
                        <a:latin typeface="Calibri"/>
                        <a:ea typeface="Calibri"/>
                        <a:cs typeface="Calibri"/>
                        <a:sym typeface="Calibri"/>
                      </a:endParaRPr>
                    </a:p>
                  </a:txBody>
                  <a:tcPr marT="0" marB="0" marR="68575" marL="68575"/>
                </a:tc>
              </a:tr>
              <a:tr h="444150">
                <a:tc>
                  <a:txBody>
                    <a:bodyPr/>
                    <a:lstStyle/>
                    <a:p>
                      <a:pPr indent="0" lvl="0" marL="0" marR="0" rtl="0" algn="l">
                        <a:lnSpc>
                          <a:spcPct val="107000"/>
                        </a:lnSpc>
                        <a:spcBef>
                          <a:spcPts val="0"/>
                        </a:spcBef>
                        <a:spcAft>
                          <a:spcPts val="0"/>
                        </a:spcAft>
                        <a:buNone/>
                      </a:pPr>
                      <a:r>
                        <a:rPr lang="en-US" sz="1400" u="none" cap="none" strike="noStrike"/>
                        <a:t>Traditional WAN Connectivity</a:t>
                      </a:r>
                      <a:endParaRPr sz="14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rPr lang="en-US" sz="1400" u="none" cap="none" strike="noStrike">
                          <a:solidFill>
                            <a:srgbClr val="000000"/>
                          </a:solidFill>
                        </a:rPr>
                        <a:t>Compare traditional WAN connectivity options.</a:t>
                      </a:r>
                      <a:endParaRPr sz="1400" u="none" cap="none" strike="noStrike">
                        <a:solidFill>
                          <a:srgbClr val="000000"/>
                        </a:solidFill>
                        <a:latin typeface="Calibri"/>
                        <a:ea typeface="Calibri"/>
                        <a:cs typeface="Calibri"/>
                        <a:sym typeface="Calibri"/>
                      </a:endParaRPr>
                    </a:p>
                  </a:txBody>
                  <a:tcPr marT="0" marB="0" marR="68575" marL="68575"/>
                </a:tc>
              </a:tr>
              <a:tr h="444150">
                <a:tc>
                  <a:txBody>
                    <a:bodyPr/>
                    <a:lstStyle/>
                    <a:p>
                      <a:pPr indent="0" lvl="0" marL="0" marR="0" rtl="0" algn="l">
                        <a:lnSpc>
                          <a:spcPct val="107000"/>
                        </a:lnSpc>
                        <a:spcBef>
                          <a:spcPts val="0"/>
                        </a:spcBef>
                        <a:spcAft>
                          <a:spcPts val="0"/>
                        </a:spcAft>
                        <a:buNone/>
                      </a:pPr>
                      <a:r>
                        <a:rPr lang="en-US" sz="1400" u="none" cap="none" strike="noStrike"/>
                        <a:t>Modern WAN Connectivity</a:t>
                      </a:r>
                      <a:endParaRPr sz="1400" u="none" cap="none" strike="noStrike">
                        <a:latin typeface="Calibri"/>
                        <a:ea typeface="Calibri"/>
                        <a:cs typeface="Calibri"/>
                        <a:sym typeface="Calibri"/>
                      </a:endParaRPr>
                    </a:p>
                  </a:txBody>
                  <a:tcPr marT="0" marB="0" marR="68575" marL="68575"/>
                </a:tc>
                <a:tc>
                  <a:txBody>
                    <a:bodyPr/>
                    <a:lstStyle/>
                    <a:p>
                      <a:pPr indent="0" lvl="0" marL="0" marR="0" rtl="0" algn="l">
                        <a:lnSpc>
                          <a:spcPct val="107000"/>
                        </a:lnSpc>
                        <a:spcBef>
                          <a:spcPts val="0"/>
                        </a:spcBef>
                        <a:spcAft>
                          <a:spcPts val="0"/>
                        </a:spcAft>
                        <a:buNone/>
                      </a:pPr>
                      <a:r>
                        <a:rPr lang="en-US" sz="1400" u="none" cap="none" strike="noStrike">
                          <a:solidFill>
                            <a:srgbClr val="000000"/>
                          </a:solidFill>
                        </a:rPr>
                        <a:t>Compare modern WAN connectivity options.</a:t>
                      </a:r>
                      <a:endParaRPr sz="1400" u="none" cap="none" strike="noStrike">
                        <a:solidFill>
                          <a:srgbClr val="000000"/>
                        </a:solidFill>
                        <a:latin typeface="Calibri"/>
                        <a:ea typeface="Calibri"/>
                        <a:cs typeface="Calibri"/>
                        <a:sym typeface="Calibri"/>
                      </a:endParaRPr>
                    </a:p>
                  </a:txBody>
                  <a:tcPr marT="0" marB="0" marR="68575" marL="68575"/>
                </a:tc>
              </a:tr>
              <a:tr h="444150">
                <a:tc>
                  <a:txBody>
                    <a:bodyPr/>
                    <a:lstStyle/>
                    <a:p>
                      <a:pPr indent="0" lvl="0" marL="0" marR="0" rtl="0" algn="l">
                        <a:lnSpc>
                          <a:spcPct val="107000"/>
                        </a:lnSpc>
                        <a:spcBef>
                          <a:spcPts val="0"/>
                        </a:spcBef>
                        <a:spcAft>
                          <a:spcPts val="0"/>
                        </a:spcAft>
                        <a:buNone/>
                      </a:pPr>
                      <a:r>
                        <a:rPr b="1" lang="en-US" sz="1400" u="none" cap="none" strike="noStrike">
                          <a:solidFill>
                            <a:schemeClr val="lt1"/>
                          </a:solidFill>
                          <a:latin typeface="Arial"/>
                          <a:ea typeface="Arial"/>
                          <a:cs typeface="Arial"/>
                          <a:sym typeface="Arial"/>
                        </a:rPr>
                        <a:t>Internet-Based Connectivity</a:t>
                      </a:r>
                      <a:endParaRPr/>
                    </a:p>
                  </a:txBody>
                  <a:tcPr marT="0" marB="0" marR="68575" marL="68575"/>
                </a:tc>
                <a:tc>
                  <a:txBody>
                    <a:bodyPr/>
                    <a:lstStyle/>
                    <a:p>
                      <a:pPr indent="0" lvl="0" marL="0" marR="0" rtl="0" algn="l">
                        <a:lnSpc>
                          <a:spcPct val="107000"/>
                        </a:lnSpc>
                        <a:spcBef>
                          <a:spcPts val="0"/>
                        </a:spcBef>
                        <a:spcAft>
                          <a:spcPts val="0"/>
                        </a:spcAft>
                        <a:buNone/>
                      </a:pPr>
                      <a:r>
                        <a:rPr lang="en-US" sz="1400" u="none" cap="none" strike="noStrike">
                          <a:solidFill>
                            <a:srgbClr val="000000"/>
                          </a:solidFill>
                        </a:rPr>
                        <a:t>Compare internet-based connectivity options.</a:t>
                      </a:r>
                      <a:endParaRPr sz="1400" u="none" cap="none" strike="noStrike">
                        <a:solidFill>
                          <a:srgbClr val="000000"/>
                        </a:solidFill>
                        <a:latin typeface="Calibri"/>
                        <a:ea typeface="Calibri"/>
                        <a:cs typeface="Calibri"/>
                        <a:sym typeface="Calibri"/>
                      </a:endParaRPr>
                    </a:p>
                  </a:txBody>
                  <a:tcPr marT="0" marB="0" marR="68575" marL="68575"/>
                </a:tc>
              </a:tr>
            </a:tbl>
          </a:graphicData>
        </a:graphic>
      </p:graphicFrame>
    </p:spTree>
  </p:cSld>
  <p:clrMapOvr>
    <a:masterClrMapping/>
  </p:clrMapOvr>
  <p:transition spd="slow">
    <p:wipe dir="l"/>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3"/>
          <p:cNvSpPr txBox="1"/>
          <p:nvPr>
            <p:ph type="ctrTitle"/>
          </p:nvPr>
        </p:nvSpPr>
        <p:spPr>
          <a:xfrm>
            <a:off x="416425" y="1788160"/>
            <a:ext cx="7598042"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7.1 Purpose of WANs</a:t>
            </a:r>
            <a:endParaRPr/>
          </a:p>
        </p:txBody>
      </p:sp>
    </p:spTree>
  </p:cSld>
  <p:clrMapOvr>
    <a:masterClrMapping/>
  </p:clrMapOvr>
  <p:transition spd="slow">
    <p:wipe dir="l"/>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Purpose of WANs</a:t>
            </a:r>
            <a:br>
              <a:rPr lang="en-US"/>
            </a:br>
            <a:r>
              <a:rPr lang="en-US" sz="2400"/>
              <a:t>LANs and WANs</a:t>
            </a:r>
            <a:endParaRPr/>
          </a:p>
        </p:txBody>
      </p:sp>
      <p:sp>
        <p:nvSpPr>
          <p:cNvPr id="260" name="Google Shape;260;p4"/>
          <p:cNvSpPr txBox="1"/>
          <p:nvPr>
            <p:ph idx="1" type="body"/>
          </p:nvPr>
        </p:nvSpPr>
        <p:spPr>
          <a:xfrm>
            <a:off x="341536" y="855420"/>
            <a:ext cx="8280057" cy="615162"/>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A WAN is a telecommunications network that spans over a relatively large geographical area and is required to connect beyond the boundary of the LAN. </a:t>
            </a:r>
            <a:endParaRPr/>
          </a:p>
        </p:txBody>
      </p:sp>
      <p:graphicFrame>
        <p:nvGraphicFramePr>
          <p:cNvPr id="261" name="Google Shape;261;p4"/>
          <p:cNvGraphicFramePr/>
          <p:nvPr/>
        </p:nvGraphicFramePr>
        <p:xfrm>
          <a:off x="341536" y="1577032"/>
          <a:ext cx="3000000" cy="3000000"/>
        </p:xfrm>
        <a:graphic>
          <a:graphicData uri="http://schemas.openxmlformats.org/drawingml/2006/table">
            <a:tbl>
              <a:tblPr bandRow="1" firstRow="1">
                <a:noFill/>
                <a:tableStyleId>{4B9838A6-867F-4220-8999-C6B651F9615E}</a:tableStyleId>
              </a:tblPr>
              <a:tblGrid>
                <a:gridCol w="2421750"/>
                <a:gridCol w="2411600"/>
              </a:tblGrid>
              <a:tr h="154850">
                <a:tc>
                  <a:txBody>
                    <a:bodyPr/>
                    <a:lstStyle/>
                    <a:p>
                      <a:pPr indent="0" lvl="0" marL="0" marR="0" rtl="0" algn="l">
                        <a:spcBef>
                          <a:spcPts val="0"/>
                        </a:spcBef>
                        <a:spcAft>
                          <a:spcPts val="0"/>
                        </a:spcAft>
                        <a:buNone/>
                      </a:pPr>
                      <a:r>
                        <a:rPr lang="en-US" sz="1100" u="none" cap="none" strike="noStrike"/>
                        <a:t>Local Area Networks (LANs)</a:t>
                      </a:r>
                      <a:endParaRPr/>
                    </a:p>
                  </a:txBody>
                  <a:tcPr marT="45725" marB="45725" marR="91450" marL="91450"/>
                </a:tc>
                <a:tc>
                  <a:txBody>
                    <a:bodyPr/>
                    <a:lstStyle/>
                    <a:p>
                      <a:pPr indent="0" lvl="0" marL="0" marR="0" rtl="0" algn="l">
                        <a:spcBef>
                          <a:spcPts val="0"/>
                        </a:spcBef>
                        <a:spcAft>
                          <a:spcPts val="0"/>
                        </a:spcAft>
                        <a:buNone/>
                      </a:pPr>
                      <a:r>
                        <a:rPr lang="en-US" sz="1100"/>
                        <a:t>Wide Area Networks (WANs)</a:t>
                      </a:r>
                      <a:endParaRPr/>
                    </a:p>
                  </a:txBody>
                  <a:tcPr marT="45725" marB="45725" marR="91450" marL="91450"/>
                </a:tc>
              </a:tr>
              <a:tr h="154850">
                <a:tc>
                  <a:txBody>
                    <a:bodyPr/>
                    <a:lstStyle/>
                    <a:p>
                      <a:pPr indent="0" lvl="0" marL="0" marR="0" rtl="0" algn="l">
                        <a:spcBef>
                          <a:spcPts val="0"/>
                        </a:spcBef>
                        <a:spcAft>
                          <a:spcPts val="0"/>
                        </a:spcAft>
                        <a:buNone/>
                      </a:pPr>
                      <a:r>
                        <a:rPr lang="en-US" sz="1100"/>
                        <a:t>LANs provide networking services within a small geographic area.</a:t>
                      </a:r>
                      <a:endParaRPr i="1" sz="1100">
                        <a:solidFill>
                          <a:srgbClr val="000000"/>
                        </a:solidFill>
                      </a:endParaRPr>
                    </a:p>
                  </a:txBody>
                  <a:tcPr marT="45725" marB="45725" marR="91450" marL="91450"/>
                </a:tc>
                <a:tc>
                  <a:txBody>
                    <a:bodyPr/>
                    <a:lstStyle/>
                    <a:p>
                      <a:pPr indent="0" lvl="0" marL="0" marR="0" rtl="0" algn="l">
                        <a:spcBef>
                          <a:spcPts val="0"/>
                        </a:spcBef>
                        <a:spcAft>
                          <a:spcPts val="0"/>
                        </a:spcAft>
                        <a:buClr>
                          <a:schemeClr val="dk1"/>
                        </a:buClr>
                        <a:buSzPts val="1100"/>
                        <a:buFont typeface="Arial"/>
                        <a:buNone/>
                      </a:pPr>
                      <a:r>
                        <a:rPr lang="en-US" sz="1100"/>
                        <a:t>WANs provide networking services over large geographical areas.</a:t>
                      </a:r>
                      <a:endParaRPr sz="1100">
                        <a:solidFill>
                          <a:srgbClr val="000000"/>
                        </a:solidFill>
                      </a:endParaRPr>
                    </a:p>
                  </a:txBody>
                  <a:tcPr marT="45725" marB="45725" marR="91450" marL="91450"/>
                </a:tc>
              </a:tr>
              <a:tr h="154850">
                <a:tc>
                  <a:txBody>
                    <a:bodyPr/>
                    <a:lstStyle/>
                    <a:p>
                      <a:pPr indent="0" lvl="0" marL="0" marR="0" rtl="0" algn="l">
                        <a:spcBef>
                          <a:spcPts val="0"/>
                        </a:spcBef>
                        <a:spcAft>
                          <a:spcPts val="0"/>
                        </a:spcAft>
                        <a:buNone/>
                      </a:pPr>
                      <a:r>
                        <a:rPr lang="en-US" sz="1100"/>
                        <a:t>LANs are used to interconnect local computers, peripherals, and other devices.</a:t>
                      </a:r>
                      <a:endParaRPr b="1" sz="1100">
                        <a:solidFill>
                          <a:srgbClr val="000000"/>
                        </a:solidFill>
                      </a:endParaRPr>
                    </a:p>
                  </a:txBody>
                  <a:tcPr marT="45725" marB="45725" marR="91450" marL="91450"/>
                </a:tc>
                <a:tc>
                  <a:txBody>
                    <a:bodyPr/>
                    <a:lstStyle/>
                    <a:p>
                      <a:pPr indent="0" lvl="0" marL="0" marR="0" rtl="0" algn="l">
                        <a:spcBef>
                          <a:spcPts val="0"/>
                        </a:spcBef>
                        <a:spcAft>
                          <a:spcPts val="0"/>
                        </a:spcAft>
                        <a:buClr>
                          <a:schemeClr val="dk1"/>
                        </a:buClr>
                        <a:buSzPts val="1100"/>
                        <a:buFont typeface="Arial"/>
                        <a:buNone/>
                      </a:pPr>
                      <a:r>
                        <a:rPr lang="en-US" sz="1100"/>
                        <a:t>WANs are used to interconnect remote users, networks, and sites.</a:t>
                      </a:r>
                      <a:endParaRPr sz="1100">
                        <a:solidFill>
                          <a:srgbClr val="000000"/>
                        </a:solidFill>
                      </a:endParaRPr>
                    </a:p>
                  </a:txBody>
                  <a:tcPr marT="45725" marB="45725" marR="91450" marL="91450"/>
                </a:tc>
              </a:tr>
              <a:tr h="154850">
                <a:tc>
                  <a:txBody>
                    <a:bodyPr/>
                    <a:lstStyle/>
                    <a:p>
                      <a:pPr indent="0" lvl="0" marL="0" marR="0" rtl="0" algn="l">
                        <a:spcBef>
                          <a:spcPts val="0"/>
                        </a:spcBef>
                        <a:spcAft>
                          <a:spcPts val="0"/>
                        </a:spcAft>
                        <a:buNone/>
                      </a:pPr>
                      <a:r>
                        <a:rPr lang="en-US" sz="1100"/>
                        <a:t>A LAN is owned and managed by an organization or home user.</a:t>
                      </a:r>
                      <a:endParaRPr b="1" sz="1100">
                        <a:solidFill>
                          <a:srgbClr val="000000"/>
                        </a:solidFill>
                      </a:endParaRPr>
                    </a:p>
                  </a:txBody>
                  <a:tcPr marT="45725" marB="45725" marR="91450" marL="91450"/>
                </a:tc>
                <a:tc>
                  <a:txBody>
                    <a:bodyPr/>
                    <a:lstStyle/>
                    <a:p>
                      <a:pPr indent="0" lvl="0" marL="0" marR="0" rtl="0" algn="l">
                        <a:spcBef>
                          <a:spcPts val="0"/>
                        </a:spcBef>
                        <a:spcAft>
                          <a:spcPts val="0"/>
                        </a:spcAft>
                        <a:buClr>
                          <a:schemeClr val="dk1"/>
                        </a:buClr>
                        <a:buSzPts val="1100"/>
                        <a:buFont typeface="Arial"/>
                        <a:buNone/>
                      </a:pPr>
                      <a:r>
                        <a:rPr lang="en-US" sz="1100"/>
                        <a:t>WANs are owned and managed by internet service, telephone, cable, and satellite providers.</a:t>
                      </a:r>
                      <a:endParaRPr sz="1100">
                        <a:solidFill>
                          <a:srgbClr val="000000"/>
                        </a:solidFill>
                      </a:endParaRPr>
                    </a:p>
                  </a:txBody>
                  <a:tcPr marT="45725" marB="45725" marR="91450" marL="91450"/>
                </a:tc>
              </a:tr>
              <a:tr h="154850">
                <a:tc>
                  <a:txBody>
                    <a:bodyPr/>
                    <a:lstStyle/>
                    <a:p>
                      <a:pPr indent="0" lvl="0" marL="0" marR="0" rtl="0" algn="l">
                        <a:spcBef>
                          <a:spcPts val="0"/>
                        </a:spcBef>
                        <a:spcAft>
                          <a:spcPts val="0"/>
                        </a:spcAft>
                        <a:buNone/>
                      </a:pPr>
                      <a:r>
                        <a:rPr lang="en-US" sz="1100"/>
                        <a:t>Other than the network infrastructure costs, there is no fee to use a LAN.</a:t>
                      </a:r>
                      <a:endParaRPr i="1" sz="1100">
                        <a:solidFill>
                          <a:srgbClr val="000000"/>
                        </a:solidFill>
                      </a:endParaRPr>
                    </a:p>
                  </a:txBody>
                  <a:tcPr marT="45725" marB="45725" marR="91450" marL="91450"/>
                </a:tc>
                <a:tc>
                  <a:txBody>
                    <a:bodyPr/>
                    <a:lstStyle/>
                    <a:p>
                      <a:pPr indent="0" lvl="0" marL="0" marR="0" rtl="0" algn="l">
                        <a:spcBef>
                          <a:spcPts val="0"/>
                        </a:spcBef>
                        <a:spcAft>
                          <a:spcPts val="0"/>
                        </a:spcAft>
                        <a:buClr>
                          <a:schemeClr val="dk1"/>
                        </a:buClr>
                        <a:buSzPts val="1100"/>
                        <a:buFont typeface="Arial"/>
                        <a:buNone/>
                      </a:pPr>
                      <a:r>
                        <a:rPr lang="en-US" sz="1100"/>
                        <a:t>WAN services are provided for a fee.</a:t>
                      </a:r>
                      <a:endParaRPr sz="1100">
                        <a:solidFill>
                          <a:srgbClr val="000000"/>
                        </a:solidFill>
                      </a:endParaRPr>
                    </a:p>
                  </a:txBody>
                  <a:tcPr marT="45725" marB="45725" marR="91450" marL="91450"/>
                </a:tc>
              </a:tr>
              <a:tr h="154850">
                <a:tc>
                  <a:txBody>
                    <a:bodyPr/>
                    <a:lstStyle/>
                    <a:p>
                      <a:pPr indent="0" lvl="0" marL="0" marR="0" rtl="0" algn="l">
                        <a:spcBef>
                          <a:spcPts val="0"/>
                        </a:spcBef>
                        <a:spcAft>
                          <a:spcPts val="0"/>
                        </a:spcAft>
                        <a:buNone/>
                      </a:pPr>
                      <a:r>
                        <a:rPr lang="en-US" sz="1100"/>
                        <a:t>LANs provide high bandwidth speeds using wired Ethernet and Wi-Fi services.</a:t>
                      </a:r>
                      <a:endParaRPr i="1" sz="1100">
                        <a:solidFill>
                          <a:srgbClr val="000000"/>
                        </a:solidFill>
                      </a:endParaRPr>
                    </a:p>
                  </a:txBody>
                  <a:tcPr marT="45725" marB="45725" marR="91450" marL="91450"/>
                </a:tc>
                <a:tc>
                  <a:txBody>
                    <a:bodyPr/>
                    <a:lstStyle/>
                    <a:p>
                      <a:pPr indent="0" lvl="0" marL="0" marR="0" rtl="0" algn="l">
                        <a:spcBef>
                          <a:spcPts val="0"/>
                        </a:spcBef>
                        <a:spcAft>
                          <a:spcPts val="0"/>
                        </a:spcAft>
                        <a:buClr>
                          <a:schemeClr val="dk1"/>
                        </a:buClr>
                        <a:buSzPts val="1100"/>
                        <a:buFont typeface="Arial"/>
                        <a:buNone/>
                      </a:pPr>
                      <a:r>
                        <a:rPr lang="en-US" sz="1100"/>
                        <a:t>WANs providers offer low to high bandwidth speeds, over long distances.</a:t>
                      </a:r>
                      <a:endParaRPr sz="1100">
                        <a:solidFill>
                          <a:srgbClr val="000000"/>
                        </a:solidFill>
                      </a:endParaRPr>
                    </a:p>
                  </a:txBody>
                  <a:tcPr marT="45725" marB="45725" marR="91450" marL="91450"/>
                </a:tc>
              </a:tr>
            </a:tbl>
          </a:graphicData>
        </a:graphic>
      </p:graphicFrame>
      <p:pic>
        <p:nvPicPr>
          <p:cNvPr id="262" name="Google Shape;262;p4"/>
          <p:cNvPicPr preferRelativeResize="0"/>
          <p:nvPr/>
        </p:nvPicPr>
        <p:blipFill rotWithShape="1">
          <a:blip r:embed="rId3">
            <a:alphaModFix/>
          </a:blip>
          <a:srcRect b="0" l="0" r="0" t="0"/>
          <a:stretch/>
        </p:blipFill>
        <p:spPr>
          <a:xfrm>
            <a:off x="5313756" y="1824662"/>
            <a:ext cx="3398272" cy="234392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Purpose of WANs</a:t>
            </a:r>
            <a:br>
              <a:rPr lang="en-US"/>
            </a:br>
            <a:r>
              <a:rPr lang="en-US" sz="2400"/>
              <a:t>Private and Public WANs</a:t>
            </a:r>
            <a:endParaRPr/>
          </a:p>
        </p:txBody>
      </p:sp>
      <p:sp>
        <p:nvSpPr>
          <p:cNvPr id="269" name="Google Shape;269;p5"/>
          <p:cNvSpPr txBox="1"/>
          <p:nvPr>
            <p:ph idx="1" type="body"/>
          </p:nvPr>
        </p:nvSpPr>
        <p:spPr>
          <a:xfrm>
            <a:off x="431971" y="855419"/>
            <a:ext cx="8280057" cy="3405082"/>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A private WAN is a connection that is dedicated to a single customer.</a:t>
            </a:r>
            <a:endParaRPr/>
          </a:p>
          <a:p>
            <a:pPr indent="0" lvl="0" marL="0" rtl="0" algn="l">
              <a:lnSpc>
                <a:spcPct val="100000"/>
              </a:lnSpc>
              <a:spcBef>
                <a:spcPts val="320"/>
              </a:spcBef>
              <a:spcAft>
                <a:spcPts val="0"/>
              </a:spcAft>
              <a:buSzPts val="1600"/>
              <a:buNone/>
            </a:pPr>
            <a:r>
              <a:rPr lang="en-US" sz="1600">
                <a:solidFill>
                  <a:srgbClr val="000000"/>
                </a:solidFill>
              </a:rPr>
              <a:t> </a:t>
            </a:r>
            <a:endParaRPr/>
          </a:p>
          <a:p>
            <a:pPr indent="0" lvl="0" marL="0" rtl="0" algn="l">
              <a:lnSpc>
                <a:spcPct val="100000"/>
              </a:lnSpc>
              <a:spcBef>
                <a:spcPts val="320"/>
              </a:spcBef>
              <a:spcAft>
                <a:spcPts val="0"/>
              </a:spcAft>
              <a:buSzPts val="1600"/>
              <a:buNone/>
            </a:pPr>
            <a:r>
              <a:rPr lang="en-US" sz="1600">
                <a:solidFill>
                  <a:srgbClr val="000000"/>
                </a:solidFill>
              </a:rPr>
              <a:t>Private WANs provide the following:</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Guaranteed service level</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Consistent bandwidth</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Security</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A public WAN connection is typically provided by an ISP or telecommunications service provider using the internet. In this case, the service levels and bandwidth may vary, and the shared connections do not guarantee security.</a:t>
            </a:r>
            <a:endParaRPr/>
          </a:p>
          <a:p>
            <a:pPr indent="0" lvl="0" marL="0" rtl="0" algn="l">
              <a:lnSpc>
                <a:spcPct val="100000"/>
              </a:lnSpc>
              <a:spcBef>
                <a:spcPts val="320"/>
              </a:spcBef>
              <a:spcAft>
                <a:spcPts val="0"/>
              </a:spcAft>
              <a:buSzPts val="1600"/>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Purpose of WANs</a:t>
            </a:r>
            <a:br>
              <a:rPr lang="en-US"/>
            </a:br>
            <a:r>
              <a:rPr lang="en-US" sz="2400"/>
              <a:t>WAN Topologies</a:t>
            </a:r>
            <a:endParaRPr/>
          </a:p>
        </p:txBody>
      </p:sp>
      <p:sp>
        <p:nvSpPr>
          <p:cNvPr id="276" name="Google Shape;276;p6"/>
          <p:cNvSpPr txBox="1"/>
          <p:nvPr>
            <p:ph idx="1" type="body"/>
          </p:nvPr>
        </p:nvSpPr>
        <p:spPr>
          <a:xfrm>
            <a:off x="431971" y="855419"/>
            <a:ext cx="8280057" cy="1716331"/>
          </a:xfrm>
          <a:prstGeom prst="rect">
            <a:avLst/>
          </a:prstGeom>
          <a:noFill/>
          <a:ln>
            <a:noFill/>
          </a:ln>
        </p:spPr>
        <p:txBody>
          <a:bodyPr anchorCtr="0" anchor="t" bIns="45700" lIns="91400" spcFirstLastPara="1" rIns="91400" wrap="square" tIns="45700">
            <a:noAutofit/>
          </a:bodyPr>
          <a:lstStyle/>
          <a:p>
            <a:pPr indent="-285690" lvl="0" marL="285690" rtl="0" algn="l">
              <a:lnSpc>
                <a:spcPct val="100000"/>
              </a:lnSpc>
              <a:spcBef>
                <a:spcPts val="0"/>
              </a:spcBef>
              <a:spcAft>
                <a:spcPts val="0"/>
              </a:spcAft>
              <a:buSzPts val="1600"/>
              <a:buNone/>
            </a:pPr>
            <a:r>
              <a:rPr lang="en-US" sz="1600">
                <a:solidFill>
                  <a:srgbClr val="000000"/>
                </a:solidFill>
              </a:rPr>
              <a:t>WANs are implemented using the following logical topology designs: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Point-to-Point Topology</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Hub-and-Spoke Topology</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Dual-homed Topology</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Fully Meshed Topology</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Partially Meshed Topology</a:t>
            </a:r>
            <a:endParaRPr/>
          </a:p>
          <a:p>
            <a:pPr indent="0" lvl="0" marL="0" rtl="0" algn="l">
              <a:lnSpc>
                <a:spcPct val="100000"/>
              </a:lnSpc>
              <a:spcBef>
                <a:spcPts val="320"/>
              </a:spcBef>
              <a:spcAft>
                <a:spcPts val="0"/>
              </a:spcAft>
              <a:buSzPts val="1600"/>
              <a:buNone/>
            </a:pPr>
            <a:r>
              <a:t/>
            </a:r>
            <a:endParaRPr sz="1600">
              <a:solidFill>
                <a:srgbClr val="000000"/>
              </a:solidFill>
            </a:endParaRPr>
          </a:p>
        </p:txBody>
      </p:sp>
      <p:sp>
        <p:nvSpPr>
          <p:cNvPr id="277" name="Google Shape;277;p6"/>
          <p:cNvSpPr/>
          <p:nvPr/>
        </p:nvSpPr>
        <p:spPr>
          <a:xfrm>
            <a:off x="431970" y="2962018"/>
            <a:ext cx="7913517"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00000"/>
                </a:solidFill>
                <a:latin typeface="Arial"/>
                <a:ea typeface="Arial"/>
                <a:cs typeface="Arial"/>
                <a:sym typeface="Arial"/>
              </a:rPr>
              <a:t>Note</a:t>
            </a:r>
            <a:r>
              <a:rPr lang="en-US" sz="1600">
                <a:solidFill>
                  <a:srgbClr val="000000"/>
                </a:solidFill>
                <a:latin typeface="Arial"/>
                <a:ea typeface="Arial"/>
                <a:cs typeface="Arial"/>
                <a:sym typeface="Arial"/>
              </a:rPr>
              <a:t>: Large networks usually deploy a combination of these topologies</a:t>
            </a:r>
            <a:r>
              <a:rPr lang="en-US" sz="1400">
                <a:solidFill>
                  <a:srgbClr val="000000"/>
                </a:solidFill>
                <a:latin typeface="Arial"/>
                <a:ea typeface="Arial"/>
                <a:cs typeface="Arial"/>
                <a:sym typeface="Arial"/>
              </a:rPr>
              <a: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Purpose of WANs</a:t>
            </a:r>
            <a:br>
              <a:rPr lang="en-US"/>
            </a:br>
            <a:r>
              <a:rPr lang="en-US" sz="2400"/>
              <a:t>WAN Topologies (Cont.)</a:t>
            </a:r>
            <a:endParaRPr/>
          </a:p>
        </p:txBody>
      </p:sp>
      <p:sp>
        <p:nvSpPr>
          <p:cNvPr id="284" name="Google Shape;284;p7"/>
          <p:cNvSpPr txBox="1"/>
          <p:nvPr>
            <p:ph idx="1" type="body"/>
          </p:nvPr>
        </p:nvSpPr>
        <p:spPr>
          <a:xfrm>
            <a:off x="431971" y="855419"/>
            <a:ext cx="8280057" cy="1244373"/>
          </a:xfrm>
          <a:prstGeom prst="rect">
            <a:avLst/>
          </a:prstGeom>
          <a:noFill/>
          <a:ln>
            <a:noFill/>
          </a:ln>
        </p:spPr>
        <p:txBody>
          <a:bodyPr anchorCtr="0" anchor="t" bIns="45700" lIns="91400" spcFirstLastPara="1" rIns="91400" wrap="square" tIns="45700">
            <a:noAutofit/>
          </a:bodyPr>
          <a:lstStyle/>
          <a:p>
            <a:pPr indent="-285690" lvl="0" marL="285690" rtl="0" algn="l">
              <a:lnSpc>
                <a:spcPct val="100000"/>
              </a:lnSpc>
              <a:spcBef>
                <a:spcPts val="0"/>
              </a:spcBef>
              <a:spcAft>
                <a:spcPts val="0"/>
              </a:spcAft>
              <a:buSzPts val="1600"/>
              <a:buNone/>
            </a:pPr>
            <a:r>
              <a:rPr b="1" lang="en-US" sz="1600">
                <a:solidFill>
                  <a:srgbClr val="000000"/>
                </a:solidFill>
              </a:rPr>
              <a:t>Point-to-Point Topology </a:t>
            </a:r>
            <a:endParaRPr sz="1600">
              <a:solidFill>
                <a:srgbClr val="000000"/>
              </a:solidFill>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Employs a point-to-point circuit between two endpoints.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Involves a Layer 2 transport service through the service provider network.</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point-to-point connection is transparent to the customer network.</a:t>
            </a:r>
            <a:endParaRPr/>
          </a:p>
        </p:txBody>
      </p:sp>
      <p:sp>
        <p:nvSpPr>
          <p:cNvPr id="285" name="Google Shape;285;p7"/>
          <p:cNvSpPr/>
          <p:nvPr/>
        </p:nvSpPr>
        <p:spPr>
          <a:xfrm>
            <a:off x="1139980" y="4384083"/>
            <a:ext cx="6864037"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00000"/>
                </a:solidFill>
                <a:latin typeface="Arial"/>
                <a:ea typeface="Arial"/>
                <a:cs typeface="Arial"/>
                <a:sym typeface="Arial"/>
              </a:rPr>
              <a:t>Note</a:t>
            </a:r>
            <a:r>
              <a:rPr lang="en-US" sz="1400">
                <a:solidFill>
                  <a:srgbClr val="000000"/>
                </a:solidFill>
                <a:latin typeface="Arial"/>
                <a:ea typeface="Arial"/>
                <a:cs typeface="Arial"/>
                <a:sym typeface="Arial"/>
              </a:rPr>
              <a:t>: It can become expensive if many point-to-point connections are required.</a:t>
            </a:r>
            <a:endParaRPr/>
          </a:p>
        </p:txBody>
      </p:sp>
      <p:pic>
        <p:nvPicPr>
          <p:cNvPr id="286" name="Google Shape;286;p7"/>
          <p:cNvPicPr preferRelativeResize="0"/>
          <p:nvPr/>
        </p:nvPicPr>
        <p:blipFill rotWithShape="1">
          <a:blip r:embed="rId3">
            <a:alphaModFix/>
          </a:blip>
          <a:srcRect b="0" l="0" r="0" t="0"/>
          <a:stretch/>
        </p:blipFill>
        <p:spPr>
          <a:xfrm>
            <a:off x="2007571" y="2099792"/>
            <a:ext cx="4330346" cy="216070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Purpose of WANs</a:t>
            </a:r>
            <a:br>
              <a:rPr lang="en-US"/>
            </a:br>
            <a:r>
              <a:rPr lang="en-US" sz="2400"/>
              <a:t>WAN Topologies (Cont.)</a:t>
            </a:r>
            <a:endParaRPr/>
          </a:p>
        </p:txBody>
      </p:sp>
      <p:sp>
        <p:nvSpPr>
          <p:cNvPr id="293" name="Google Shape;293;p8"/>
          <p:cNvSpPr txBox="1"/>
          <p:nvPr>
            <p:ph idx="1" type="body"/>
          </p:nvPr>
        </p:nvSpPr>
        <p:spPr>
          <a:xfrm>
            <a:off x="431971" y="855419"/>
            <a:ext cx="8280057" cy="1716331"/>
          </a:xfrm>
          <a:prstGeom prst="rect">
            <a:avLst/>
          </a:prstGeom>
          <a:noFill/>
          <a:ln>
            <a:noFill/>
          </a:ln>
        </p:spPr>
        <p:txBody>
          <a:bodyPr anchorCtr="0" anchor="t" bIns="45700" lIns="91400" spcFirstLastPara="1" rIns="91400" wrap="square" tIns="45700">
            <a:noAutofit/>
          </a:bodyPr>
          <a:lstStyle/>
          <a:p>
            <a:pPr indent="-285690" lvl="0" marL="285690" rtl="0" algn="l">
              <a:lnSpc>
                <a:spcPct val="100000"/>
              </a:lnSpc>
              <a:spcBef>
                <a:spcPts val="0"/>
              </a:spcBef>
              <a:spcAft>
                <a:spcPts val="0"/>
              </a:spcAft>
              <a:buSzPts val="1600"/>
              <a:buNone/>
            </a:pPr>
            <a:r>
              <a:rPr b="1" lang="en-US" sz="1600">
                <a:solidFill>
                  <a:srgbClr val="000000"/>
                </a:solidFill>
              </a:rPr>
              <a:t>Hub-and-Spoke Topology </a:t>
            </a:r>
            <a:endParaRPr sz="1600">
              <a:solidFill>
                <a:srgbClr val="000000"/>
              </a:solidFill>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Enables a single interface on the hub router to be shared by all spoke circuits.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Spoke routers can be interconnected through the hub router using virtual circuits and routed subinterfaces.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Spoke routers can only communicate with each other through the hub router.</a:t>
            </a:r>
            <a:endParaRPr/>
          </a:p>
        </p:txBody>
      </p:sp>
      <p:sp>
        <p:nvSpPr>
          <p:cNvPr id="294" name="Google Shape;294;p8"/>
          <p:cNvSpPr/>
          <p:nvPr/>
        </p:nvSpPr>
        <p:spPr>
          <a:xfrm>
            <a:off x="5431134" y="2995253"/>
            <a:ext cx="3160207" cy="73866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00000"/>
                </a:solidFill>
                <a:latin typeface="Arial"/>
                <a:ea typeface="Arial"/>
                <a:cs typeface="Arial"/>
                <a:sym typeface="Arial"/>
              </a:rPr>
              <a:t>Note: </a:t>
            </a:r>
            <a:r>
              <a:rPr lang="en-US" sz="1400">
                <a:solidFill>
                  <a:srgbClr val="000000"/>
                </a:solidFill>
                <a:latin typeface="Arial"/>
                <a:ea typeface="Arial"/>
                <a:cs typeface="Arial"/>
                <a:sym typeface="Arial"/>
              </a:rPr>
              <a:t>The hub router represents a single point of failure. If it fails, inter-spoke communication also fails.</a:t>
            </a:r>
            <a:endParaRPr/>
          </a:p>
        </p:txBody>
      </p:sp>
      <p:pic>
        <p:nvPicPr>
          <p:cNvPr id="295" name="Google Shape;295;p8"/>
          <p:cNvPicPr preferRelativeResize="0"/>
          <p:nvPr/>
        </p:nvPicPr>
        <p:blipFill rotWithShape="1">
          <a:blip r:embed="rId3">
            <a:alphaModFix/>
          </a:blip>
          <a:srcRect b="0" l="0" r="0" t="0"/>
          <a:stretch/>
        </p:blipFill>
        <p:spPr>
          <a:xfrm>
            <a:off x="1477108" y="2571750"/>
            <a:ext cx="3346101" cy="192636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Purpose of WANs</a:t>
            </a:r>
            <a:br>
              <a:rPr lang="en-US"/>
            </a:br>
            <a:r>
              <a:rPr lang="en-US" sz="2400"/>
              <a:t>WAN Topologies (Cont.)</a:t>
            </a:r>
            <a:endParaRPr/>
          </a:p>
        </p:txBody>
      </p:sp>
      <p:sp>
        <p:nvSpPr>
          <p:cNvPr id="302" name="Google Shape;302;p9"/>
          <p:cNvSpPr txBox="1"/>
          <p:nvPr>
            <p:ph idx="1" type="body"/>
          </p:nvPr>
        </p:nvSpPr>
        <p:spPr>
          <a:xfrm>
            <a:off x="431971" y="855419"/>
            <a:ext cx="8280057" cy="1716331"/>
          </a:xfrm>
          <a:prstGeom prst="rect">
            <a:avLst/>
          </a:prstGeom>
          <a:noFill/>
          <a:ln>
            <a:noFill/>
          </a:ln>
        </p:spPr>
        <p:txBody>
          <a:bodyPr anchorCtr="0" anchor="t" bIns="45700" lIns="91400" spcFirstLastPara="1" rIns="91400" wrap="square" tIns="45700">
            <a:noAutofit/>
          </a:bodyPr>
          <a:lstStyle/>
          <a:p>
            <a:pPr indent="-285690" lvl="0" marL="285690" rtl="0" algn="l">
              <a:lnSpc>
                <a:spcPct val="100000"/>
              </a:lnSpc>
              <a:spcBef>
                <a:spcPts val="0"/>
              </a:spcBef>
              <a:spcAft>
                <a:spcPts val="0"/>
              </a:spcAft>
              <a:buSzPts val="1600"/>
              <a:buNone/>
            </a:pPr>
            <a:r>
              <a:rPr b="1" lang="en-US" sz="1600">
                <a:solidFill>
                  <a:srgbClr val="000000"/>
                </a:solidFill>
              </a:rPr>
              <a:t>Dual-homed Topology</a:t>
            </a:r>
            <a:endParaRPr sz="1600">
              <a:solidFill>
                <a:srgbClr val="000000"/>
              </a:solidFill>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Offers enhanced network redundancy, load balancing, distributed computing and processing, and the ability to implement backup service provider connections.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More expensive to implement than single-homed topologies. This is because they require additional networking hardware, such as additional routers and switches.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More difficult to implement because they require additional, and more complex, configurations.</a:t>
            </a:r>
            <a:endParaRPr/>
          </a:p>
        </p:txBody>
      </p:sp>
      <p:pic>
        <p:nvPicPr>
          <p:cNvPr id="303" name="Google Shape;303;p9"/>
          <p:cNvPicPr preferRelativeResize="0"/>
          <p:nvPr/>
        </p:nvPicPr>
        <p:blipFill rotWithShape="1">
          <a:blip r:embed="rId3">
            <a:alphaModFix/>
          </a:blip>
          <a:srcRect b="0" l="0" r="0" t="0"/>
          <a:stretch/>
        </p:blipFill>
        <p:spPr>
          <a:xfrm>
            <a:off x="2394756" y="2830839"/>
            <a:ext cx="3555975" cy="189976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1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Purpose of WANs</a:t>
            </a:r>
            <a:br>
              <a:rPr lang="en-US"/>
            </a:br>
            <a:r>
              <a:rPr lang="en-US" sz="2400"/>
              <a:t>WAN Topologies (Cont.)</a:t>
            </a:r>
            <a:endParaRPr/>
          </a:p>
        </p:txBody>
      </p:sp>
      <p:sp>
        <p:nvSpPr>
          <p:cNvPr id="310" name="Google Shape;310;p10"/>
          <p:cNvSpPr txBox="1"/>
          <p:nvPr>
            <p:ph idx="1" type="body"/>
          </p:nvPr>
        </p:nvSpPr>
        <p:spPr>
          <a:xfrm>
            <a:off x="431972" y="855419"/>
            <a:ext cx="4639650" cy="1716331"/>
          </a:xfrm>
          <a:prstGeom prst="rect">
            <a:avLst/>
          </a:prstGeom>
          <a:noFill/>
          <a:ln>
            <a:noFill/>
          </a:ln>
        </p:spPr>
        <p:txBody>
          <a:bodyPr anchorCtr="0" anchor="t" bIns="45700" lIns="91400" spcFirstLastPara="1" rIns="91400" wrap="square" tIns="45700">
            <a:noAutofit/>
          </a:bodyPr>
          <a:lstStyle/>
          <a:p>
            <a:pPr indent="-285690" lvl="0" marL="285690" rtl="0" algn="l">
              <a:lnSpc>
                <a:spcPct val="100000"/>
              </a:lnSpc>
              <a:spcBef>
                <a:spcPts val="0"/>
              </a:spcBef>
              <a:spcAft>
                <a:spcPts val="0"/>
              </a:spcAft>
              <a:buSzPts val="1600"/>
              <a:buNone/>
            </a:pPr>
            <a:r>
              <a:rPr b="1" lang="en-US" sz="1600">
                <a:solidFill>
                  <a:srgbClr val="000000"/>
                </a:solidFill>
              </a:rPr>
              <a:t>Fully Meshed Topology</a:t>
            </a:r>
            <a:endParaRPr sz="1600">
              <a:solidFill>
                <a:srgbClr val="000000"/>
              </a:solidFill>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Uses multiple virtual circuits to connect all sites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most fault-tolerant topology</a:t>
            </a:r>
            <a:endParaRPr/>
          </a:p>
        </p:txBody>
      </p:sp>
      <p:pic>
        <p:nvPicPr>
          <p:cNvPr id="311" name="Google Shape;311;p10"/>
          <p:cNvPicPr preferRelativeResize="0"/>
          <p:nvPr/>
        </p:nvPicPr>
        <p:blipFill rotWithShape="1">
          <a:blip r:embed="rId3">
            <a:alphaModFix/>
          </a:blip>
          <a:srcRect b="0" l="0" r="0" t="0"/>
          <a:stretch/>
        </p:blipFill>
        <p:spPr>
          <a:xfrm>
            <a:off x="5476459" y="236249"/>
            <a:ext cx="3235569" cy="2047828"/>
          </a:xfrm>
          <a:prstGeom prst="rect">
            <a:avLst/>
          </a:prstGeom>
          <a:noFill/>
          <a:ln>
            <a:noFill/>
          </a:ln>
        </p:spPr>
      </p:pic>
      <p:sp>
        <p:nvSpPr>
          <p:cNvPr id="312" name="Google Shape;312;p10"/>
          <p:cNvSpPr/>
          <p:nvPr/>
        </p:nvSpPr>
        <p:spPr>
          <a:xfrm>
            <a:off x="431971" y="3204051"/>
            <a:ext cx="4572000" cy="58477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00000"/>
                </a:solidFill>
                <a:latin typeface="Arial"/>
                <a:ea typeface="Arial"/>
                <a:cs typeface="Arial"/>
                <a:sym typeface="Arial"/>
              </a:rPr>
              <a:t>Partially Meshed Topology</a:t>
            </a:r>
            <a:endParaRPr sz="1600">
              <a:solidFill>
                <a:srgbClr val="000000"/>
              </a:solidFill>
              <a:latin typeface="Arial"/>
              <a:ea typeface="Arial"/>
              <a:cs typeface="Arial"/>
              <a:sym typeface="Arial"/>
            </a:endParaRPr>
          </a:p>
          <a:p>
            <a:pPr indent="-285750" lvl="0" marL="285750" marR="0" rtl="0" algn="l">
              <a:spcBef>
                <a:spcPts val="0"/>
              </a:spcBef>
              <a:spcAft>
                <a:spcPts val="0"/>
              </a:spcAft>
              <a:buClr>
                <a:srgbClr val="000000"/>
              </a:buClr>
              <a:buSzPts val="1600"/>
              <a:buFont typeface="Arial"/>
              <a:buChar char="•"/>
            </a:pPr>
            <a:r>
              <a:rPr lang="en-US" sz="1600">
                <a:solidFill>
                  <a:srgbClr val="000000"/>
                </a:solidFill>
                <a:latin typeface="Arial"/>
                <a:ea typeface="Arial"/>
                <a:cs typeface="Arial"/>
                <a:sym typeface="Arial"/>
              </a:rPr>
              <a:t>Connects many but not all sites</a:t>
            </a:r>
            <a:endParaRPr/>
          </a:p>
        </p:txBody>
      </p:sp>
      <p:pic>
        <p:nvPicPr>
          <p:cNvPr id="313" name="Google Shape;313;p10"/>
          <p:cNvPicPr preferRelativeResize="0"/>
          <p:nvPr/>
        </p:nvPicPr>
        <p:blipFill rotWithShape="1">
          <a:blip r:embed="rId4">
            <a:alphaModFix/>
          </a:blip>
          <a:srcRect b="0" l="0" r="0" t="0"/>
          <a:stretch/>
        </p:blipFill>
        <p:spPr>
          <a:xfrm>
            <a:off x="5387216" y="2483178"/>
            <a:ext cx="3414053" cy="225276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1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Purpose of WANs</a:t>
            </a:r>
            <a:br>
              <a:rPr lang="en-US"/>
            </a:br>
            <a:r>
              <a:rPr lang="en-US" sz="2400"/>
              <a:t>Carrier Connections</a:t>
            </a:r>
            <a:endParaRPr/>
          </a:p>
        </p:txBody>
      </p:sp>
      <p:sp>
        <p:nvSpPr>
          <p:cNvPr id="320" name="Google Shape;320;p11"/>
          <p:cNvSpPr txBox="1"/>
          <p:nvPr>
            <p:ph idx="1" type="body"/>
          </p:nvPr>
        </p:nvSpPr>
        <p:spPr>
          <a:xfrm>
            <a:off x="431971" y="855419"/>
            <a:ext cx="8280057" cy="380701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Another aspect of WAN design is how an organization connects to the internet. An organization usually signs a service level agreement (SLA) with a service provider. The SLA outlines the expected services relating to the reliability and availability of the connection. </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The service provider may or may not be the actual carrier. A carrier owns and maintains the physical connection and equipment between the provider and the customer. Typically, an organization will choose either a single-carrier or dual-carrier WAN connection.</a:t>
            </a:r>
            <a:endParaRPr/>
          </a:p>
          <a:p>
            <a:pPr indent="0" lvl="0" marL="0" rtl="0" algn="l">
              <a:lnSpc>
                <a:spcPct val="100000"/>
              </a:lnSpc>
              <a:spcBef>
                <a:spcPts val="320"/>
              </a:spcBef>
              <a:spcAft>
                <a:spcPts val="0"/>
              </a:spcAft>
              <a:buSzPts val="1600"/>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1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Purpose of WANs</a:t>
            </a:r>
            <a:br>
              <a:rPr lang="en-US"/>
            </a:br>
            <a:r>
              <a:rPr lang="en-US" sz="2400"/>
              <a:t>Carrier Connections (Cont.)</a:t>
            </a:r>
            <a:endParaRPr/>
          </a:p>
        </p:txBody>
      </p:sp>
      <p:sp>
        <p:nvSpPr>
          <p:cNvPr id="327" name="Google Shape;327;p12"/>
          <p:cNvSpPr txBox="1"/>
          <p:nvPr>
            <p:ph idx="1" type="body"/>
          </p:nvPr>
        </p:nvSpPr>
        <p:spPr>
          <a:xfrm>
            <a:off x="431971" y="855419"/>
            <a:ext cx="3818481" cy="380701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A single-carrier connection is when an organization connects to only one service provider. An SLA is negotiated between the organization and the service provider. </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A dual-carrier connection provides redundancy and increases network availability. The organization negotiates separate SLAs with two different service providers. </a:t>
            </a:r>
            <a:endParaRPr/>
          </a:p>
          <a:p>
            <a:pPr indent="0" lvl="0" marL="0" rtl="0" algn="l">
              <a:lnSpc>
                <a:spcPct val="100000"/>
              </a:lnSpc>
              <a:spcBef>
                <a:spcPts val="320"/>
              </a:spcBef>
              <a:spcAft>
                <a:spcPts val="0"/>
              </a:spcAft>
              <a:buSzPts val="1600"/>
              <a:buNone/>
            </a:pPr>
            <a:r>
              <a:t/>
            </a:r>
            <a:endParaRPr sz="1600">
              <a:solidFill>
                <a:srgbClr val="000000"/>
              </a:solidFill>
            </a:endParaRPr>
          </a:p>
          <a:p>
            <a:pPr indent="-184150" lvl="0" marL="285750" rtl="0" algn="l">
              <a:lnSpc>
                <a:spcPct val="100000"/>
              </a:lnSpc>
              <a:spcBef>
                <a:spcPts val="320"/>
              </a:spcBef>
              <a:spcAft>
                <a:spcPts val="0"/>
              </a:spcAft>
              <a:buSzPts val="1600"/>
              <a:buFont typeface="Arial"/>
              <a:buNone/>
            </a:pPr>
            <a:r>
              <a:t/>
            </a:r>
            <a:endParaRPr sz="1600">
              <a:solidFill>
                <a:srgbClr val="000000"/>
              </a:solidFill>
            </a:endParaRPr>
          </a:p>
        </p:txBody>
      </p:sp>
      <p:pic>
        <p:nvPicPr>
          <p:cNvPr id="328" name="Google Shape;328;p12"/>
          <p:cNvPicPr preferRelativeResize="0"/>
          <p:nvPr/>
        </p:nvPicPr>
        <p:blipFill rotWithShape="1">
          <a:blip r:embed="rId3">
            <a:alphaModFix/>
          </a:blip>
          <a:srcRect b="0" l="0" r="0" t="0"/>
          <a:stretch/>
        </p:blipFill>
        <p:spPr>
          <a:xfrm>
            <a:off x="4572000" y="855419"/>
            <a:ext cx="3494305" cy="1344410"/>
          </a:xfrm>
          <a:prstGeom prst="rect">
            <a:avLst/>
          </a:prstGeom>
          <a:noFill/>
          <a:ln>
            <a:noFill/>
          </a:ln>
        </p:spPr>
      </p:pic>
      <p:pic>
        <p:nvPicPr>
          <p:cNvPr id="329" name="Google Shape;329;p12"/>
          <p:cNvPicPr preferRelativeResize="0"/>
          <p:nvPr/>
        </p:nvPicPr>
        <p:blipFill rotWithShape="1">
          <a:blip r:embed="rId4">
            <a:alphaModFix/>
          </a:blip>
          <a:srcRect b="0" l="0" r="0" t="0"/>
          <a:stretch/>
        </p:blipFill>
        <p:spPr>
          <a:xfrm>
            <a:off x="4572000" y="2341912"/>
            <a:ext cx="3215475" cy="224223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1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Purpose of WANs</a:t>
            </a:r>
            <a:br>
              <a:rPr lang="en-US"/>
            </a:br>
            <a:r>
              <a:rPr lang="en-US" sz="2400"/>
              <a:t>Evolving Networks</a:t>
            </a:r>
            <a:endParaRPr/>
          </a:p>
        </p:txBody>
      </p:sp>
      <p:sp>
        <p:nvSpPr>
          <p:cNvPr id="336" name="Google Shape;336;p13"/>
          <p:cNvSpPr txBox="1"/>
          <p:nvPr>
            <p:ph idx="1" type="body"/>
          </p:nvPr>
        </p:nvSpPr>
        <p:spPr>
          <a:xfrm>
            <a:off x="431971" y="855419"/>
            <a:ext cx="7913517" cy="380701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Network requirements of a company can change dramatically as the company grows over time.</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A network must meet the day-to-day operational needs of business, and it must be able to adapt and grow as a company changes.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Network designers and administrators meet these challenges by carefully choosing network technologies, protocols, and service providers.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Networks can be optimized by using a variety of network design techniques and architectures.</a:t>
            </a:r>
            <a:endParaRPr/>
          </a:p>
          <a:p>
            <a:pPr indent="0" lvl="0" marL="0" rtl="0" algn="l">
              <a:lnSpc>
                <a:spcPct val="100000"/>
              </a:lnSpc>
              <a:spcBef>
                <a:spcPts val="320"/>
              </a:spcBef>
              <a:spcAft>
                <a:spcPts val="0"/>
              </a:spcAft>
              <a:buSzPts val="1600"/>
              <a:buNone/>
            </a:pPr>
            <a:r>
              <a:rPr lang="en-US" sz="1600">
                <a:solidFill>
                  <a:srgbClr val="000000"/>
                </a:solidFill>
              </a:rPr>
              <a:t>To illustrate differences between network size, we will use a fictitious company called SPAN Engineering as it grows from a small, local, business into a global enterprise.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sp>
        <p:nvSpPr>
          <p:cNvPr id="342" name="Google Shape;342;p1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Purpose of WANs</a:t>
            </a:r>
            <a:br>
              <a:rPr lang="en-US"/>
            </a:br>
            <a:r>
              <a:rPr lang="en-US" sz="2400"/>
              <a:t>Evolving Networks (Cont.)</a:t>
            </a:r>
            <a:endParaRPr/>
          </a:p>
        </p:txBody>
      </p:sp>
      <p:sp>
        <p:nvSpPr>
          <p:cNvPr id="343" name="Google Shape;343;p14"/>
          <p:cNvSpPr txBox="1"/>
          <p:nvPr>
            <p:ph idx="1" type="body"/>
          </p:nvPr>
        </p:nvSpPr>
        <p:spPr>
          <a:xfrm>
            <a:off x="431972" y="855419"/>
            <a:ext cx="3426596" cy="380701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b="1" lang="en-US" sz="1600">
                <a:solidFill>
                  <a:srgbClr val="000000"/>
                </a:solidFill>
              </a:rPr>
              <a:t>Small Network</a:t>
            </a:r>
            <a:endParaRPr/>
          </a:p>
          <a:p>
            <a:pPr indent="0" lvl="0" marL="0" rtl="0" algn="l">
              <a:lnSpc>
                <a:spcPct val="100000"/>
              </a:lnSpc>
              <a:spcBef>
                <a:spcPts val="320"/>
              </a:spcBef>
              <a:spcAft>
                <a:spcPts val="0"/>
              </a:spcAft>
              <a:buSzPts val="1600"/>
              <a:buNone/>
            </a:pPr>
            <a:r>
              <a:rPr lang="en-US" sz="1600">
                <a:solidFill>
                  <a:srgbClr val="000000"/>
                </a:solidFill>
              </a:rPr>
              <a:t>SPAN, a small fictitious company, started with a few employees in a small office.</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Uses a single LAN connected to a wireless router for sharing data and peripherals.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Connection to the internet is through a common broadband service called Digital Subscriber Line (DSL)</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IT support is contracted from the DSL provider.</a:t>
            </a:r>
            <a:endParaRPr/>
          </a:p>
        </p:txBody>
      </p:sp>
      <p:pic>
        <p:nvPicPr>
          <p:cNvPr id="344" name="Google Shape;344;p14"/>
          <p:cNvPicPr preferRelativeResize="0"/>
          <p:nvPr/>
        </p:nvPicPr>
        <p:blipFill rotWithShape="1">
          <a:blip r:embed="rId3">
            <a:alphaModFix/>
          </a:blip>
          <a:srcRect b="0" l="0" r="0" t="0"/>
          <a:stretch/>
        </p:blipFill>
        <p:spPr>
          <a:xfrm>
            <a:off x="4572000" y="954593"/>
            <a:ext cx="3941623" cy="281640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1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Purpose of WANs</a:t>
            </a:r>
            <a:br>
              <a:rPr lang="en-US"/>
            </a:br>
            <a:r>
              <a:rPr lang="en-US" sz="2400"/>
              <a:t>Evolving Networks (Cont.)</a:t>
            </a:r>
            <a:endParaRPr/>
          </a:p>
        </p:txBody>
      </p:sp>
      <p:sp>
        <p:nvSpPr>
          <p:cNvPr id="351" name="Google Shape;351;p15"/>
          <p:cNvSpPr txBox="1"/>
          <p:nvPr>
            <p:ph idx="1" type="body"/>
          </p:nvPr>
        </p:nvSpPr>
        <p:spPr>
          <a:xfrm>
            <a:off x="462118" y="845371"/>
            <a:ext cx="3426596" cy="380701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b="1" lang="en-US" sz="1600">
                <a:solidFill>
                  <a:srgbClr val="000000"/>
                </a:solidFill>
              </a:rPr>
              <a:t>Campus Network</a:t>
            </a:r>
            <a:endParaRPr/>
          </a:p>
          <a:p>
            <a:pPr indent="0" lvl="0" marL="0" rtl="0" algn="l">
              <a:lnSpc>
                <a:spcPct val="100000"/>
              </a:lnSpc>
              <a:spcBef>
                <a:spcPts val="320"/>
              </a:spcBef>
              <a:spcAft>
                <a:spcPts val="0"/>
              </a:spcAft>
              <a:buSzPts val="1600"/>
              <a:buNone/>
            </a:pPr>
            <a:r>
              <a:rPr lang="en-US" sz="1600">
                <a:solidFill>
                  <a:srgbClr val="000000"/>
                </a:solidFill>
              </a:rPr>
              <a:t>Within a few years SPAN grew and required several floors of a building.</a:t>
            </a:r>
            <a:endParaRPr/>
          </a:p>
          <a:p>
            <a:pPr indent="0" lvl="0" marL="0" rtl="0" algn="l">
              <a:lnSpc>
                <a:spcPct val="100000"/>
              </a:lnSpc>
              <a:spcBef>
                <a:spcPts val="320"/>
              </a:spcBef>
              <a:spcAft>
                <a:spcPts val="0"/>
              </a:spcAft>
              <a:buSzPts val="1600"/>
              <a:buNone/>
            </a:pPr>
            <a:r>
              <a:rPr lang="en-US" sz="1600">
                <a:solidFill>
                  <a:srgbClr val="000000"/>
                </a:solidFill>
              </a:rPr>
              <a:t>The company now required a Campus Area Network (CAN).</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A firewall secures internet access to corporate users.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In-house IT staff to support and maintain the network.</a:t>
            </a:r>
            <a:endParaRPr/>
          </a:p>
        </p:txBody>
      </p:sp>
      <p:pic>
        <p:nvPicPr>
          <p:cNvPr id="352" name="Google Shape;352;p15"/>
          <p:cNvPicPr preferRelativeResize="0"/>
          <p:nvPr/>
        </p:nvPicPr>
        <p:blipFill rotWithShape="1">
          <a:blip r:embed="rId3">
            <a:alphaModFix/>
          </a:blip>
          <a:srcRect b="0" l="0" r="0" t="0"/>
          <a:stretch/>
        </p:blipFill>
        <p:spPr>
          <a:xfrm>
            <a:off x="4405826" y="999788"/>
            <a:ext cx="4176256" cy="314392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1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Purpose of WANs</a:t>
            </a:r>
            <a:br>
              <a:rPr lang="en-US"/>
            </a:br>
            <a:r>
              <a:rPr lang="en-US" sz="2400"/>
              <a:t>Evolving Networks (Cont.)</a:t>
            </a:r>
            <a:endParaRPr/>
          </a:p>
        </p:txBody>
      </p:sp>
      <p:sp>
        <p:nvSpPr>
          <p:cNvPr id="359" name="Google Shape;359;p16"/>
          <p:cNvSpPr txBox="1"/>
          <p:nvPr>
            <p:ph idx="1" type="body"/>
          </p:nvPr>
        </p:nvSpPr>
        <p:spPr>
          <a:xfrm>
            <a:off x="462117" y="845371"/>
            <a:ext cx="3643717" cy="380701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b="1" lang="en-US" sz="1600">
                <a:solidFill>
                  <a:srgbClr val="000000"/>
                </a:solidFill>
              </a:rPr>
              <a:t>Branch Network</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A few years later, the company expanded and added a branch site in the city, and remote and regional sites in other cities.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company now required a metropolitan area network (MAN) to interconnect sites within the city.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To connect to the central office, branch offices in nearby cities used private dedicated lines through their local service provider.</a:t>
            </a:r>
            <a:endParaRPr/>
          </a:p>
        </p:txBody>
      </p:sp>
      <p:pic>
        <p:nvPicPr>
          <p:cNvPr id="360" name="Google Shape;360;p16"/>
          <p:cNvPicPr preferRelativeResize="0"/>
          <p:nvPr/>
        </p:nvPicPr>
        <p:blipFill rotWithShape="1">
          <a:blip r:embed="rId3">
            <a:alphaModFix/>
          </a:blip>
          <a:srcRect b="0" l="0" r="0" t="0"/>
          <a:stretch/>
        </p:blipFill>
        <p:spPr>
          <a:xfrm>
            <a:off x="4372749" y="954593"/>
            <a:ext cx="3972739" cy="290873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5" name="Shape 365"/>
        <p:cNvGrpSpPr/>
        <p:nvPr/>
      </p:nvGrpSpPr>
      <p:grpSpPr>
        <a:xfrm>
          <a:off x="0" y="0"/>
          <a:ext cx="0" cy="0"/>
          <a:chOff x="0" y="0"/>
          <a:chExt cx="0" cy="0"/>
        </a:xfrm>
      </p:grpSpPr>
      <p:sp>
        <p:nvSpPr>
          <p:cNvPr id="366" name="Google Shape;366;p1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Purpose of WANs</a:t>
            </a:r>
            <a:br>
              <a:rPr lang="en-US"/>
            </a:br>
            <a:r>
              <a:rPr lang="en-US" sz="2400"/>
              <a:t>Evolving Networks (Cont.)</a:t>
            </a:r>
            <a:endParaRPr/>
          </a:p>
        </p:txBody>
      </p:sp>
      <p:sp>
        <p:nvSpPr>
          <p:cNvPr id="367" name="Google Shape;367;p17"/>
          <p:cNvSpPr txBox="1"/>
          <p:nvPr>
            <p:ph idx="1" type="body"/>
          </p:nvPr>
        </p:nvSpPr>
        <p:spPr>
          <a:xfrm>
            <a:off x="462118" y="845371"/>
            <a:ext cx="3426596" cy="380701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b="1" lang="en-US" sz="1600">
                <a:solidFill>
                  <a:srgbClr val="000000"/>
                </a:solidFill>
              </a:rPr>
              <a:t>Distributed Network</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SPAN Engineering has now been in business for 20 years and has grown to thousands of employees distributed in offices worldwide.</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Site-to-site and remote access Virtual Private Networks (VPNs) enable the company to use the internet to connect easily and securely with employees and facilities around the world.</a:t>
            </a:r>
            <a:endParaRPr/>
          </a:p>
        </p:txBody>
      </p:sp>
      <p:pic>
        <p:nvPicPr>
          <p:cNvPr id="368" name="Google Shape;368;p17"/>
          <p:cNvPicPr preferRelativeResize="0"/>
          <p:nvPr/>
        </p:nvPicPr>
        <p:blipFill rotWithShape="1">
          <a:blip r:embed="rId3">
            <a:alphaModFix/>
          </a:blip>
          <a:srcRect b="0" l="0" r="0" t="0"/>
          <a:stretch/>
        </p:blipFill>
        <p:spPr>
          <a:xfrm>
            <a:off x="4172744" y="1050498"/>
            <a:ext cx="4626987" cy="304250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18"/>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7.2 WAN Operation</a:t>
            </a:r>
            <a:endParaRPr/>
          </a:p>
        </p:txBody>
      </p:sp>
    </p:spTree>
  </p:cSld>
  <p:clrMapOvr>
    <a:masterClrMapping/>
  </p:clrMapOvr>
  <p:transition spd="slow">
    <p:wipe dir="l"/>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1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WAN Operations</a:t>
            </a:r>
            <a:br>
              <a:rPr lang="en-US"/>
            </a:br>
            <a:r>
              <a:rPr lang="en-US" sz="2400"/>
              <a:t>WAN Standards</a:t>
            </a:r>
            <a:endParaRPr/>
          </a:p>
        </p:txBody>
      </p:sp>
      <p:sp>
        <p:nvSpPr>
          <p:cNvPr id="381" name="Google Shape;381;p19"/>
          <p:cNvSpPr txBox="1"/>
          <p:nvPr>
            <p:ph idx="1" type="body"/>
          </p:nvPr>
        </p:nvSpPr>
        <p:spPr>
          <a:xfrm>
            <a:off x="431971" y="855419"/>
            <a:ext cx="7913517" cy="3646243"/>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Modern WAN standards are defined and managed by a number of recognized authorities including the following:</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TIA/EIA</a:t>
            </a:r>
            <a:r>
              <a:rPr lang="en-US" sz="1600">
                <a:solidFill>
                  <a:srgbClr val="000000"/>
                </a:solidFill>
              </a:rPr>
              <a:t> - Telecommunications Industry Association and Electronic Industries Alliance</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ISO</a:t>
            </a:r>
            <a:r>
              <a:rPr lang="en-US" sz="1600">
                <a:solidFill>
                  <a:srgbClr val="000000"/>
                </a:solidFill>
              </a:rPr>
              <a:t> - International Organization for Standardization</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IEEE</a:t>
            </a:r>
            <a:r>
              <a:rPr lang="en-US" sz="1600">
                <a:solidFill>
                  <a:srgbClr val="000000"/>
                </a:solidFill>
              </a:rPr>
              <a:t> - Institute of Electrical and Electronics Engineers</a:t>
            </a:r>
            <a:endParaRPr/>
          </a:p>
          <a:p>
            <a:pPr indent="-196850" lvl="0" marL="285750" rtl="0" algn="l">
              <a:lnSpc>
                <a:spcPct val="100000"/>
              </a:lnSpc>
              <a:spcBef>
                <a:spcPts val="280"/>
              </a:spcBef>
              <a:spcAft>
                <a:spcPts val="0"/>
              </a:spcAft>
              <a:buSzPts val="1400"/>
              <a:buFont typeface="Arial"/>
              <a:buNone/>
            </a:pPr>
            <a:r>
              <a:t/>
            </a:r>
            <a:endParaRPr sz="14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2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WAN Operations</a:t>
            </a:r>
            <a:br>
              <a:rPr lang="en-US"/>
            </a:br>
            <a:r>
              <a:rPr lang="en-US" sz="2400"/>
              <a:t>WANs in the OSI Model</a:t>
            </a:r>
            <a:endParaRPr/>
          </a:p>
        </p:txBody>
      </p:sp>
      <p:sp>
        <p:nvSpPr>
          <p:cNvPr id="388" name="Google Shape;388;p20"/>
          <p:cNvSpPr txBox="1"/>
          <p:nvPr>
            <p:ph idx="1" type="body"/>
          </p:nvPr>
        </p:nvSpPr>
        <p:spPr>
          <a:xfrm>
            <a:off x="369218" y="748628"/>
            <a:ext cx="4552405" cy="3646243"/>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Most WAN standards focus on the physical layer and the data link layer.</a:t>
            </a:r>
            <a:endParaRPr/>
          </a:p>
          <a:p>
            <a:pPr indent="0" lvl="0" marL="0" rtl="0" algn="l">
              <a:lnSpc>
                <a:spcPct val="100000"/>
              </a:lnSpc>
              <a:spcBef>
                <a:spcPts val="320"/>
              </a:spcBef>
              <a:spcAft>
                <a:spcPts val="0"/>
              </a:spcAft>
              <a:buSzPts val="1600"/>
              <a:buNone/>
            </a:pPr>
            <a:r>
              <a:rPr b="1" lang="en-US" sz="1600">
                <a:solidFill>
                  <a:srgbClr val="000000"/>
                </a:solidFill>
              </a:rPr>
              <a:t>Layer 1 Protocols</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Synchronous Digital Hierarchy (SDH)</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Synchronous Optical Networking (SONET)</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Dense Wavelength Division Multiplexing (DWDM)</a:t>
            </a:r>
            <a:endParaRPr/>
          </a:p>
          <a:p>
            <a:pPr indent="0" lvl="0" marL="0" rtl="0" algn="l">
              <a:lnSpc>
                <a:spcPct val="100000"/>
              </a:lnSpc>
              <a:spcBef>
                <a:spcPts val="320"/>
              </a:spcBef>
              <a:spcAft>
                <a:spcPts val="0"/>
              </a:spcAft>
              <a:buSzPts val="1600"/>
              <a:buNone/>
            </a:pPr>
            <a:r>
              <a:rPr b="1" lang="en-US" sz="1600">
                <a:solidFill>
                  <a:srgbClr val="000000"/>
                </a:solidFill>
              </a:rPr>
              <a:t>Layer 2 Protocols</a:t>
            </a:r>
            <a:endParaRPr/>
          </a:p>
          <a:p>
            <a:pPr indent="-285690" lvl="0" marL="285690" rtl="0" algn="l">
              <a:lnSpc>
                <a:spcPct val="100000"/>
              </a:lnSpc>
              <a:spcBef>
                <a:spcPts val="280"/>
              </a:spcBef>
              <a:spcAft>
                <a:spcPts val="0"/>
              </a:spcAft>
              <a:buSzPts val="1400"/>
              <a:buFont typeface="Arial"/>
              <a:buChar char="•"/>
            </a:pPr>
            <a:r>
              <a:rPr lang="en-US" sz="1400">
                <a:solidFill>
                  <a:srgbClr val="000000"/>
                </a:solidFill>
              </a:rPr>
              <a:t>Broadband (i.e., DSL and Cable)</a:t>
            </a:r>
            <a:endParaRPr/>
          </a:p>
          <a:p>
            <a:pPr indent="-285690" lvl="0" marL="285690" rtl="0" algn="l">
              <a:lnSpc>
                <a:spcPct val="100000"/>
              </a:lnSpc>
              <a:spcBef>
                <a:spcPts val="280"/>
              </a:spcBef>
              <a:spcAft>
                <a:spcPts val="0"/>
              </a:spcAft>
              <a:buSzPts val="1400"/>
              <a:buFont typeface="Arial"/>
              <a:buChar char="•"/>
            </a:pPr>
            <a:r>
              <a:rPr lang="en-US" sz="1400">
                <a:solidFill>
                  <a:srgbClr val="000000"/>
                </a:solidFill>
              </a:rPr>
              <a:t>Wireless</a:t>
            </a:r>
            <a:endParaRPr/>
          </a:p>
          <a:p>
            <a:pPr indent="-285690" lvl="0" marL="285690" rtl="0" algn="l">
              <a:lnSpc>
                <a:spcPct val="100000"/>
              </a:lnSpc>
              <a:spcBef>
                <a:spcPts val="280"/>
              </a:spcBef>
              <a:spcAft>
                <a:spcPts val="0"/>
              </a:spcAft>
              <a:buSzPts val="1400"/>
              <a:buFont typeface="Arial"/>
              <a:buChar char="•"/>
            </a:pPr>
            <a:r>
              <a:rPr lang="en-US" sz="1400">
                <a:solidFill>
                  <a:srgbClr val="000000"/>
                </a:solidFill>
              </a:rPr>
              <a:t>Ethernet WAN (Metro Ethernet)</a:t>
            </a:r>
            <a:endParaRPr/>
          </a:p>
          <a:p>
            <a:pPr indent="-285690" lvl="0" marL="285690" rtl="0" algn="l">
              <a:lnSpc>
                <a:spcPct val="100000"/>
              </a:lnSpc>
              <a:spcBef>
                <a:spcPts val="280"/>
              </a:spcBef>
              <a:spcAft>
                <a:spcPts val="0"/>
              </a:spcAft>
              <a:buSzPts val="1400"/>
              <a:buFont typeface="Arial"/>
              <a:buChar char="•"/>
            </a:pPr>
            <a:r>
              <a:rPr lang="en-US" sz="1400">
                <a:solidFill>
                  <a:srgbClr val="000000"/>
                </a:solidFill>
              </a:rPr>
              <a:t>Multiprotocol Label Switching (MPLS)</a:t>
            </a:r>
            <a:endParaRPr/>
          </a:p>
          <a:p>
            <a:pPr indent="-285690" lvl="0" marL="285690" rtl="0" algn="l">
              <a:lnSpc>
                <a:spcPct val="100000"/>
              </a:lnSpc>
              <a:spcBef>
                <a:spcPts val="280"/>
              </a:spcBef>
              <a:spcAft>
                <a:spcPts val="0"/>
              </a:spcAft>
              <a:buSzPts val="1400"/>
              <a:buFont typeface="Arial"/>
              <a:buChar char="•"/>
            </a:pPr>
            <a:r>
              <a:rPr lang="en-US" sz="1400">
                <a:solidFill>
                  <a:srgbClr val="000000"/>
                </a:solidFill>
              </a:rPr>
              <a:t>Point-to-Point Protocol (PPP) (less used)</a:t>
            </a:r>
            <a:endParaRPr/>
          </a:p>
          <a:p>
            <a:pPr indent="-285690" lvl="0" marL="285690" rtl="0" algn="l">
              <a:lnSpc>
                <a:spcPct val="100000"/>
              </a:lnSpc>
              <a:spcBef>
                <a:spcPts val="280"/>
              </a:spcBef>
              <a:spcAft>
                <a:spcPts val="0"/>
              </a:spcAft>
              <a:buSzPts val="1400"/>
              <a:buFont typeface="Arial"/>
              <a:buChar char="•"/>
            </a:pPr>
            <a:r>
              <a:rPr lang="en-US" sz="1400">
                <a:solidFill>
                  <a:srgbClr val="000000"/>
                </a:solidFill>
              </a:rPr>
              <a:t>High-Level Data Link Control (HDLC) (less used)</a:t>
            </a:r>
            <a:endParaRPr/>
          </a:p>
          <a:p>
            <a:pPr indent="-285690" lvl="0" marL="285690" rtl="0" algn="l">
              <a:lnSpc>
                <a:spcPct val="100000"/>
              </a:lnSpc>
              <a:spcBef>
                <a:spcPts val="280"/>
              </a:spcBef>
              <a:spcAft>
                <a:spcPts val="0"/>
              </a:spcAft>
              <a:buSzPts val="1400"/>
              <a:buFont typeface="Arial"/>
              <a:buChar char="•"/>
            </a:pPr>
            <a:r>
              <a:rPr lang="en-US" sz="1400">
                <a:solidFill>
                  <a:srgbClr val="000000"/>
                </a:solidFill>
              </a:rPr>
              <a:t>Frame Relay (legacy)</a:t>
            </a:r>
            <a:endParaRPr/>
          </a:p>
          <a:p>
            <a:pPr indent="-285690" lvl="0" marL="285690" rtl="0" algn="l">
              <a:lnSpc>
                <a:spcPct val="100000"/>
              </a:lnSpc>
              <a:spcBef>
                <a:spcPts val="280"/>
              </a:spcBef>
              <a:spcAft>
                <a:spcPts val="0"/>
              </a:spcAft>
              <a:buSzPts val="1400"/>
              <a:buFont typeface="Arial"/>
              <a:buChar char="•"/>
            </a:pPr>
            <a:r>
              <a:rPr lang="en-US" sz="1400">
                <a:solidFill>
                  <a:srgbClr val="000000"/>
                </a:solidFill>
              </a:rPr>
              <a:t>Asynchronous Transfer Mode (ATM) (legacy)</a:t>
            </a:r>
            <a:endParaRPr/>
          </a:p>
          <a:p>
            <a:pPr indent="0" lvl="0" marL="0" rtl="0" algn="l">
              <a:lnSpc>
                <a:spcPct val="100000"/>
              </a:lnSpc>
              <a:spcBef>
                <a:spcPts val="240"/>
              </a:spcBef>
              <a:spcAft>
                <a:spcPts val="0"/>
              </a:spcAft>
              <a:buSzPts val="1200"/>
              <a:buNone/>
            </a:pPr>
            <a:r>
              <a:t/>
            </a:r>
            <a:endParaRPr sz="1200">
              <a:solidFill>
                <a:srgbClr val="000000"/>
              </a:solidFill>
            </a:endParaRPr>
          </a:p>
        </p:txBody>
      </p:sp>
      <p:pic>
        <p:nvPicPr>
          <p:cNvPr id="389" name="Google Shape;389;p20"/>
          <p:cNvPicPr preferRelativeResize="0"/>
          <p:nvPr/>
        </p:nvPicPr>
        <p:blipFill rotWithShape="1">
          <a:blip r:embed="rId3">
            <a:alphaModFix/>
          </a:blip>
          <a:srcRect b="0" l="0" r="0" t="0"/>
          <a:stretch/>
        </p:blipFill>
        <p:spPr>
          <a:xfrm>
            <a:off x="4852782" y="1470211"/>
            <a:ext cx="4010092" cy="247120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2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WAN Operations</a:t>
            </a:r>
            <a:br>
              <a:rPr lang="en-US"/>
            </a:br>
            <a:r>
              <a:rPr lang="en-US" sz="2400"/>
              <a:t>Common WAN Terminology</a:t>
            </a:r>
            <a:endParaRPr/>
          </a:p>
        </p:txBody>
      </p:sp>
      <p:sp>
        <p:nvSpPr>
          <p:cNvPr id="396" name="Google Shape;396;p21"/>
          <p:cNvSpPr txBox="1"/>
          <p:nvPr>
            <p:ph idx="1" type="body"/>
          </p:nvPr>
        </p:nvSpPr>
        <p:spPr>
          <a:xfrm>
            <a:off x="431971" y="855420"/>
            <a:ext cx="4873559" cy="91682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There are specific terms used to describe WAN connections between the subscriber (i.e., the company / client) and the WAN service provider.</a:t>
            </a:r>
            <a:endParaRPr sz="1200">
              <a:solidFill>
                <a:srgbClr val="000000"/>
              </a:solidFill>
            </a:endParaRPr>
          </a:p>
        </p:txBody>
      </p:sp>
      <p:graphicFrame>
        <p:nvGraphicFramePr>
          <p:cNvPr id="397" name="Google Shape;397;p21"/>
          <p:cNvGraphicFramePr/>
          <p:nvPr/>
        </p:nvGraphicFramePr>
        <p:xfrm>
          <a:off x="431971" y="1978965"/>
          <a:ext cx="3000000" cy="3000000"/>
        </p:xfrm>
        <a:graphic>
          <a:graphicData uri="http://schemas.openxmlformats.org/drawingml/2006/table">
            <a:tbl>
              <a:tblPr bandRow="1" firstRow="1">
                <a:noFill/>
                <a:tableStyleId>{4B9838A6-867F-4220-8999-C6B651F9615E}</a:tableStyleId>
              </a:tblPr>
              <a:tblGrid>
                <a:gridCol w="1708325"/>
                <a:gridCol w="2954225"/>
              </a:tblGrid>
              <a:tr h="219975">
                <a:tc>
                  <a:txBody>
                    <a:bodyPr/>
                    <a:lstStyle/>
                    <a:p>
                      <a:pPr indent="0" lvl="0" marL="0" marR="0" rtl="0" algn="l">
                        <a:spcBef>
                          <a:spcPts val="0"/>
                        </a:spcBef>
                        <a:spcAft>
                          <a:spcPts val="0"/>
                        </a:spcAft>
                        <a:buNone/>
                      </a:pPr>
                      <a:r>
                        <a:rPr lang="en-US" sz="1100"/>
                        <a:t>WAN Term</a:t>
                      </a:r>
                      <a:endParaRPr/>
                    </a:p>
                  </a:txBody>
                  <a:tcPr marT="45725" marB="45725" marR="91450" marL="91450"/>
                </a:tc>
                <a:tc>
                  <a:txBody>
                    <a:bodyPr/>
                    <a:lstStyle/>
                    <a:p>
                      <a:pPr indent="0" lvl="0" marL="0" marR="0" rtl="0" algn="l">
                        <a:spcBef>
                          <a:spcPts val="0"/>
                        </a:spcBef>
                        <a:spcAft>
                          <a:spcPts val="0"/>
                        </a:spcAft>
                        <a:buNone/>
                      </a:pPr>
                      <a:r>
                        <a:rPr lang="en-US" sz="1100"/>
                        <a:t>Description</a:t>
                      </a:r>
                      <a:endParaRPr/>
                    </a:p>
                  </a:txBody>
                  <a:tcPr marT="45725" marB="45725" marR="91450" marL="91450"/>
                </a:tc>
              </a:tr>
              <a:tr h="362300">
                <a:tc>
                  <a:txBody>
                    <a:bodyPr/>
                    <a:lstStyle/>
                    <a:p>
                      <a:pPr indent="0" lvl="0" marL="0" marR="0" rtl="0" algn="l">
                        <a:spcBef>
                          <a:spcPts val="0"/>
                        </a:spcBef>
                        <a:spcAft>
                          <a:spcPts val="0"/>
                        </a:spcAft>
                        <a:buNone/>
                      </a:pPr>
                      <a:r>
                        <a:rPr b="1" lang="en-US" sz="1100"/>
                        <a:t>Data Terminal Equipment (DTE)</a:t>
                      </a:r>
                      <a:endParaRPr i="1" sz="1100">
                        <a:solidFill>
                          <a:srgbClr val="000000"/>
                        </a:solidFill>
                      </a:endParaRPr>
                    </a:p>
                  </a:txBody>
                  <a:tcPr marT="45725" marB="45725" marR="91450" marL="91450"/>
                </a:tc>
                <a:tc>
                  <a:txBody>
                    <a:bodyPr/>
                    <a:lstStyle/>
                    <a:p>
                      <a:pPr indent="0" lvl="0" marL="0" marR="0" rtl="0" algn="l">
                        <a:spcBef>
                          <a:spcPts val="0"/>
                        </a:spcBef>
                        <a:spcAft>
                          <a:spcPts val="0"/>
                        </a:spcAft>
                        <a:buClr>
                          <a:schemeClr val="dk1"/>
                        </a:buClr>
                        <a:buSzPts val="1100"/>
                        <a:buFont typeface="Arial"/>
                        <a:buNone/>
                      </a:pPr>
                      <a:r>
                        <a:rPr lang="en-US" sz="1100"/>
                        <a:t>Connects the subscriber LANs to the WAN communication device</a:t>
                      </a:r>
                      <a:endParaRPr sz="1100">
                        <a:solidFill>
                          <a:srgbClr val="000000"/>
                        </a:solidFill>
                      </a:endParaRPr>
                    </a:p>
                  </a:txBody>
                  <a:tcPr marT="45725" marB="45725" marR="91450" marL="91450"/>
                </a:tc>
              </a:tr>
              <a:tr h="431700">
                <a:tc>
                  <a:txBody>
                    <a:bodyPr/>
                    <a:lstStyle/>
                    <a:p>
                      <a:pPr indent="0" lvl="0" marL="0" marR="0" rtl="0" algn="l">
                        <a:spcBef>
                          <a:spcPts val="0"/>
                        </a:spcBef>
                        <a:spcAft>
                          <a:spcPts val="0"/>
                        </a:spcAft>
                        <a:buNone/>
                      </a:pPr>
                      <a:r>
                        <a:rPr b="1" lang="en-US" sz="1100"/>
                        <a:t>Data Communications Equipment (DCE)</a:t>
                      </a:r>
                      <a:endParaRPr b="1" sz="1100">
                        <a:solidFill>
                          <a:srgbClr val="000000"/>
                        </a:solidFill>
                      </a:endParaRPr>
                    </a:p>
                  </a:txBody>
                  <a:tcPr marT="45725" marB="45725" marR="91450" marL="91450"/>
                </a:tc>
                <a:tc>
                  <a:txBody>
                    <a:bodyPr/>
                    <a:lstStyle/>
                    <a:p>
                      <a:pPr indent="0" lvl="0" marL="0" marR="0" rtl="0" algn="l">
                        <a:spcBef>
                          <a:spcPts val="0"/>
                        </a:spcBef>
                        <a:spcAft>
                          <a:spcPts val="0"/>
                        </a:spcAft>
                        <a:buClr>
                          <a:schemeClr val="dk1"/>
                        </a:buClr>
                        <a:buSzPts val="1100"/>
                        <a:buFont typeface="Arial"/>
                        <a:buNone/>
                      </a:pPr>
                      <a:r>
                        <a:rPr lang="en-US" sz="1100"/>
                        <a:t>Device used to communicate with the provider</a:t>
                      </a:r>
                      <a:endParaRPr sz="1100">
                        <a:solidFill>
                          <a:srgbClr val="000000"/>
                        </a:solidFill>
                      </a:endParaRPr>
                    </a:p>
                  </a:txBody>
                  <a:tcPr marT="45725" marB="45725" marR="91450" marL="91450"/>
                </a:tc>
              </a:tr>
              <a:tr h="431700">
                <a:tc>
                  <a:txBody>
                    <a:bodyPr/>
                    <a:lstStyle/>
                    <a:p>
                      <a:pPr indent="0" lvl="0" marL="0" marR="0" rtl="0" algn="l">
                        <a:spcBef>
                          <a:spcPts val="0"/>
                        </a:spcBef>
                        <a:spcAft>
                          <a:spcPts val="0"/>
                        </a:spcAft>
                        <a:buNone/>
                      </a:pPr>
                      <a:r>
                        <a:rPr b="1" lang="en-US" sz="1100"/>
                        <a:t>Customer Premises Equipment (CPE)</a:t>
                      </a:r>
                      <a:endParaRPr b="1" sz="1100">
                        <a:solidFill>
                          <a:srgbClr val="000000"/>
                        </a:solidFill>
                      </a:endParaRPr>
                    </a:p>
                  </a:txBody>
                  <a:tcPr marT="45725" marB="45725" marR="91450" marL="91450"/>
                </a:tc>
                <a:tc>
                  <a:txBody>
                    <a:bodyPr/>
                    <a:lstStyle/>
                    <a:p>
                      <a:pPr indent="0" lvl="0" marL="0" marR="0" rtl="0" algn="l">
                        <a:spcBef>
                          <a:spcPts val="0"/>
                        </a:spcBef>
                        <a:spcAft>
                          <a:spcPts val="0"/>
                        </a:spcAft>
                        <a:buClr>
                          <a:schemeClr val="dk1"/>
                        </a:buClr>
                        <a:buSzPts val="1100"/>
                        <a:buFont typeface="Arial"/>
                        <a:buNone/>
                      </a:pPr>
                      <a:r>
                        <a:rPr lang="en-US" sz="1100"/>
                        <a:t>This is the DTE and DCE devices located on the enterprise edge</a:t>
                      </a:r>
                      <a:endParaRPr sz="1100">
                        <a:solidFill>
                          <a:srgbClr val="000000"/>
                        </a:solidFill>
                      </a:endParaRPr>
                    </a:p>
                  </a:txBody>
                  <a:tcPr marT="45725" marB="45725" marR="91450" marL="91450"/>
                </a:tc>
              </a:tr>
              <a:tr h="431700">
                <a:tc>
                  <a:txBody>
                    <a:bodyPr/>
                    <a:lstStyle/>
                    <a:p>
                      <a:pPr indent="0" lvl="0" marL="0" marR="0" rtl="0" algn="l">
                        <a:spcBef>
                          <a:spcPts val="0"/>
                        </a:spcBef>
                        <a:spcAft>
                          <a:spcPts val="0"/>
                        </a:spcAft>
                        <a:buNone/>
                      </a:pPr>
                      <a:r>
                        <a:rPr b="1" lang="en-US" sz="1100"/>
                        <a:t>Point-of-Presence (POP)</a:t>
                      </a:r>
                      <a:endParaRPr i="1" sz="1100">
                        <a:solidFill>
                          <a:srgbClr val="000000"/>
                        </a:solidFill>
                      </a:endParaRPr>
                    </a:p>
                  </a:txBody>
                  <a:tcPr marT="45725" marB="45725" marR="91450" marL="91450"/>
                </a:tc>
                <a:tc>
                  <a:txBody>
                    <a:bodyPr/>
                    <a:lstStyle/>
                    <a:p>
                      <a:pPr indent="0" lvl="0" marL="0" marR="0" rtl="0" algn="l">
                        <a:spcBef>
                          <a:spcPts val="0"/>
                        </a:spcBef>
                        <a:spcAft>
                          <a:spcPts val="0"/>
                        </a:spcAft>
                        <a:buClr>
                          <a:schemeClr val="dk1"/>
                        </a:buClr>
                        <a:buSzPts val="1100"/>
                        <a:buFont typeface="Arial"/>
                        <a:buNone/>
                      </a:pPr>
                      <a:r>
                        <a:rPr lang="en-US" sz="1100"/>
                        <a:t>The point where the subscriber connects to the service provider network</a:t>
                      </a:r>
                      <a:endParaRPr sz="1100">
                        <a:solidFill>
                          <a:srgbClr val="000000"/>
                        </a:solidFill>
                      </a:endParaRPr>
                    </a:p>
                  </a:txBody>
                  <a:tcPr marT="45725" marB="45725" marR="91450" marL="91450"/>
                </a:tc>
              </a:tr>
              <a:tr h="431700">
                <a:tc>
                  <a:txBody>
                    <a:bodyPr/>
                    <a:lstStyle/>
                    <a:p>
                      <a:pPr indent="0" lvl="0" marL="0" marR="0" rtl="0" algn="l">
                        <a:spcBef>
                          <a:spcPts val="0"/>
                        </a:spcBef>
                        <a:spcAft>
                          <a:spcPts val="0"/>
                        </a:spcAft>
                        <a:buNone/>
                      </a:pPr>
                      <a:r>
                        <a:rPr b="1" lang="en-US" sz="1100"/>
                        <a:t>Demarcation Point</a:t>
                      </a:r>
                      <a:endParaRPr i="1" sz="1100">
                        <a:solidFill>
                          <a:srgbClr val="000000"/>
                        </a:solidFill>
                      </a:endParaRPr>
                    </a:p>
                  </a:txBody>
                  <a:tcPr marT="45725" marB="45725" marR="91450" marL="91450"/>
                </a:tc>
                <a:tc>
                  <a:txBody>
                    <a:bodyPr/>
                    <a:lstStyle/>
                    <a:p>
                      <a:pPr indent="0" lvl="0" marL="0" marR="0" rtl="0" algn="l">
                        <a:spcBef>
                          <a:spcPts val="0"/>
                        </a:spcBef>
                        <a:spcAft>
                          <a:spcPts val="0"/>
                        </a:spcAft>
                        <a:buClr>
                          <a:schemeClr val="dk1"/>
                        </a:buClr>
                        <a:buSzPts val="1100"/>
                        <a:buFont typeface="Arial"/>
                        <a:buNone/>
                      </a:pPr>
                      <a:r>
                        <a:rPr lang="en-US" sz="1100"/>
                        <a:t>The physical location in a building or complex that officially separates the CPE from service provider equipment.</a:t>
                      </a:r>
                      <a:endParaRPr sz="1100">
                        <a:solidFill>
                          <a:srgbClr val="000000"/>
                        </a:solidFill>
                      </a:endParaRPr>
                    </a:p>
                  </a:txBody>
                  <a:tcPr marT="45725" marB="45725" marR="91450" marL="91450"/>
                </a:tc>
              </a:tr>
            </a:tbl>
          </a:graphicData>
        </a:graphic>
      </p:graphicFrame>
      <p:pic>
        <p:nvPicPr>
          <p:cNvPr id="398" name="Google Shape;398;p21"/>
          <p:cNvPicPr preferRelativeResize="0"/>
          <p:nvPr/>
        </p:nvPicPr>
        <p:blipFill rotWithShape="1">
          <a:blip r:embed="rId3">
            <a:alphaModFix/>
          </a:blip>
          <a:srcRect b="0" l="0" r="0" t="0"/>
          <a:stretch/>
        </p:blipFill>
        <p:spPr>
          <a:xfrm>
            <a:off x="5193125" y="1238033"/>
            <a:ext cx="3828571" cy="288101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2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WAN Operations</a:t>
            </a:r>
            <a:br>
              <a:rPr lang="en-US"/>
            </a:br>
            <a:r>
              <a:rPr lang="en-US" sz="2400"/>
              <a:t>Common WAN Terminology (Cont.)</a:t>
            </a:r>
            <a:endParaRPr/>
          </a:p>
        </p:txBody>
      </p:sp>
      <p:graphicFrame>
        <p:nvGraphicFramePr>
          <p:cNvPr id="405" name="Google Shape;405;p22"/>
          <p:cNvGraphicFramePr/>
          <p:nvPr/>
        </p:nvGraphicFramePr>
        <p:xfrm>
          <a:off x="306266" y="1242752"/>
          <a:ext cx="3000000" cy="3000000"/>
        </p:xfrm>
        <a:graphic>
          <a:graphicData uri="http://schemas.openxmlformats.org/drawingml/2006/table">
            <a:tbl>
              <a:tblPr bandRow="1" firstRow="1">
                <a:noFill/>
                <a:tableStyleId>{4B9838A6-867F-4220-8999-C6B651F9615E}</a:tableStyleId>
              </a:tblPr>
              <a:tblGrid>
                <a:gridCol w="1652900"/>
                <a:gridCol w="2954225"/>
              </a:tblGrid>
              <a:tr h="219975">
                <a:tc>
                  <a:txBody>
                    <a:bodyPr/>
                    <a:lstStyle/>
                    <a:p>
                      <a:pPr indent="0" lvl="0" marL="0" marR="0" rtl="0" algn="l">
                        <a:spcBef>
                          <a:spcPts val="0"/>
                        </a:spcBef>
                        <a:spcAft>
                          <a:spcPts val="0"/>
                        </a:spcAft>
                        <a:buNone/>
                      </a:pPr>
                      <a:r>
                        <a:rPr lang="en-US" sz="1100"/>
                        <a:t>WAN Term</a:t>
                      </a:r>
                      <a:endParaRPr/>
                    </a:p>
                  </a:txBody>
                  <a:tcPr marT="45725" marB="45725" marR="91450" marL="91450"/>
                </a:tc>
                <a:tc>
                  <a:txBody>
                    <a:bodyPr/>
                    <a:lstStyle/>
                    <a:p>
                      <a:pPr indent="0" lvl="0" marL="0" marR="0" rtl="0" algn="l">
                        <a:spcBef>
                          <a:spcPts val="0"/>
                        </a:spcBef>
                        <a:spcAft>
                          <a:spcPts val="0"/>
                        </a:spcAft>
                        <a:buNone/>
                      </a:pPr>
                      <a:r>
                        <a:rPr lang="en-US" sz="1100"/>
                        <a:t>Description</a:t>
                      </a:r>
                      <a:endParaRPr/>
                    </a:p>
                  </a:txBody>
                  <a:tcPr marT="45725" marB="45725" marR="91450" marL="91450"/>
                </a:tc>
              </a:tr>
              <a:tr h="362300">
                <a:tc>
                  <a:txBody>
                    <a:bodyPr/>
                    <a:lstStyle/>
                    <a:p>
                      <a:pPr indent="0" lvl="0" marL="0" marR="0" rtl="0" algn="l">
                        <a:spcBef>
                          <a:spcPts val="0"/>
                        </a:spcBef>
                        <a:spcAft>
                          <a:spcPts val="0"/>
                        </a:spcAft>
                        <a:buNone/>
                      </a:pPr>
                      <a:r>
                        <a:rPr b="1" lang="en-US" sz="1100"/>
                        <a:t>Local Loop (last mile)</a:t>
                      </a:r>
                      <a:endParaRPr i="1" sz="1100">
                        <a:solidFill>
                          <a:srgbClr val="000000"/>
                        </a:solidFill>
                      </a:endParaRPr>
                    </a:p>
                  </a:txBody>
                  <a:tcPr marT="45725" marB="45725" marR="91450" marL="91450"/>
                </a:tc>
                <a:tc>
                  <a:txBody>
                    <a:bodyPr/>
                    <a:lstStyle/>
                    <a:p>
                      <a:pPr indent="0" lvl="0" marL="0" marR="0" rtl="0" algn="l">
                        <a:spcBef>
                          <a:spcPts val="0"/>
                        </a:spcBef>
                        <a:spcAft>
                          <a:spcPts val="0"/>
                        </a:spcAft>
                        <a:buClr>
                          <a:schemeClr val="dk1"/>
                        </a:buClr>
                        <a:buSzPts val="1100"/>
                        <a:buFont typeface="Arial"/>
                        <a:buNone/>
                      </a:pPr>
                      <a:r>
                        <a:rPr lang="en-US" sz="1100"/>
                        <a:t>The copper or fiber cable that connects the CPE to the CO of the service provider</a:t>
                      </a:r>
                      <a:endParaRPr sz="1100">
                        <a:solidFill>
                          <a:srgbClr val="000000"/>
                        </a:solidFill>
                      </a:endParaRPr>
                    </a:p>
                  </a:txBody>
                  <a:tcPr marT="45725" marB="45725" marR="91450" marL="91450"/>
                </a:tc>
              </a:tr>
              <a:tr h="431700">
                <a:tc>
                  <a:txBody>
                    <a:bodyPr/>
                    <a:lstStyle/>
                    <a:p>
                      <a:pPr indent="0" lvl="0" marL="0" marR="0" rtl="0" algn="l">
                        <a:spcBef>
                          <a:spcPts val="0"/>
                        </a:spcBef>
                        <a:spcAft>
                          <a:spcPts val="0"/>
                        </a:spcAft>
                        <a:buNone/>
                      </a:pPr>
                      <a:r>
                        <a:rPr b="1" lang="en-US" sz="1100"/>
                        <a:t>Central office (CO)</a:t>
                      </a:r>
                      <a:endParaRPr b="1" sz="1100">
                        <a:solidFill>
                          <a:srgbClr val="000000"/>
                        </a:solidFill>
                      </a:endParaRPr>
                    </a:p>
                  </a:txBody>
                  <a:tcPr marT="45725" marB="45725" marR="91450" marL="91450"/>
                </a:tc>
                <a:tc>
                  <a:txBody>
                    <a:bodyPr/>
                    <a:lstStyle/>
                    <a:p>
                      <a:pPr indent="0" lvl="0" marL="0" marR="0" rtl="0" algn="l">
                        <a:spcBef>
                          <a:spcPts val="0"/>
                        </a:spcBef>
                        <a:spcAft>
                          <a:spcPts val="0"/>
                        </a:spcAft>
                        <a:buClr>
                          <a:schemeClr val="dk1"/>
                        </a:buClr>
                        <a:buSzPts val="1100"/>
                        <a:buFont typeface="Arial"/>
                        <a:buNone/>
                      </a:pPr>
                      <a:r>
                        <a:rPr lang="en-US" sz="1100"/>
                        <a:t>The local service provider facility or building that connects the CPE to the provider network</a:t>
                      </a:r>
                      <a:endParaRPr sz="1100">
                        <a:solidFill>
                          <a:srgbClr val="000000"/>
                        </a:solidFill>
                      </a:endParaRPr>
                    </a:p>
                  </a:txBody>
                  <a:tcPr marT="45725" marB="45725" marR="91450" marL="91450"/>
                </a:tc>
              </a:tr>
              <a:tr h="431700">
                <a:tc>
                  <a:txBody>
                    <a:bodyPr/>
                    <a:lstStyle/>
                    <a:p>
                      <a:pPr indent="0" lvl="0" marL="0" marR="0" rtl="0" algn="l">
                        <a:spcBef>
                          <a:spcPts val="0"/>
                        </a:spcBef>
                        <a:spcAft>
                          <a:spcPts val="0"/>
                        </a:spcAft>
                        <a:buNone/>
                      </a:pPr>
                      <a:r>
                        <a:rPr b="1" lang="en-US" sz="1100"/>
                        <a:t>Toll network</a:t>
                      </a:r>
                      <a:endParaRPr b="1" sz="1100">
                        <a:solidFill>
                          <a:srgbClr val="000000"/>
                        </a:solidFill>
                      </a:endParaRPr>
                    </a:p>
                  </a:txBody>
                  <a:tcPr marT="45725" marB="45725" marR="91450" marL="91450"/>
                </a:tc>
                <a:tc>
                  <a:txBody>
                    <a:bodyPr/>
                    <a:lstStyle/>
                    <a:p>
                      <a:pPr indent="0" lvl="0" marL="0" marR="0" rtl="0" algn="l">
                        <a:spcBef>
                          <a:spcPts val="0"/>
                        </a:spcBef>
                        <a:spcAft>
                          <a:spcPts val="0"/>
                        </a:spcAft>
                        <a:buClr>
                          <a:schemeClr val="dk1"/>
                        </a:buClr>
                        <a:buSzPts val="1100"/>
                        <a:buFont typeface="Arial"/>
                        <a:buNone/>
                      </a:pPr>
                      <a:r>
                        <a:rPr lang="en-US" sz="1100"/>
                        <a:t>Includes backhaul, long-haul, all-digital, fiber-optic communications lines, switches, routers, and other equipment inside the WAN provider network</a:t>
                      </a:r>
                      <a:endParaRPr sz="1100">
                        <a:solidFill>
                          <a:srgbClr val="000000"/>
                        </a:solidFill>
                      </a:endParaRPr>
                    </a:p>
                  </a:txBody>
                  <a:tcPr marT="45725" marB="45725" marR="91450" marL="91450"/>
                </a:tc>
              </a:tr>
              <a:tr h="431700">
                <a:tc>
                  <a:txBody>
                    <a:bodyPr/>
                    <a:lstStyle/>
                    <a:p>
                      <a:pPr indent="0" lvl="0" marL="0" marR="0" rtl="0" algn="l">
                        <a:spcBef>
                          <a:spcPts val="0"/>
                        </a:spcBef>
                        <a:spcAft>
                          <a:spcPts val="0"/>
                        </a:spcAft>
                        <a:buNone/>
                      </a:pPr>
                      <a:r>
                        <a:rPr b="1" lang="en-US" sz="1100"/>
                        <a:t>Backhaul network</a:t>
                      </a:r>
                      <a:endParaRPr i="1" sz="1100">
                        <a:solidFill>
                          <a:srgbClr val="000000"/>
                        </a:solidFill>
                      </a:endParaRPr>
                    </a:p>
                  </a:txBody>
                  <a:tcPr marT="45725" marB="45725" marR="91450" marL="91450"/>
                </a:tc>
                <a:tc>
                  <a:txBody>
                    <a:bodyPr/>
                    <a:lstStyle/>
                    <a:p>
                      <a:pPr indent="0" lvl="0" marL="0" marR="0" rtl="0" algn="l">
                        <a:spcBef>
                          <a:spcPts val="0"/>
                        </a:spcBef>
                        <a:spcAft>
                          <a:spcPts val="0"/>
                        </a:spcAft>
                        <a:buClr>
                          <a:schemeClr val="dk1"/>
                        </a:buClr>
                        <a:buSzPts val="1100"/>
                        <a:buFont typeface="Arial"/>
                        <a:buNone/>
                      </a:pPr>
                      <a:r>
                        <a:rPr lang="en-US" sz="1100"/>
                        <a:t>Connects multiple access nodes of the service provider network</a:t>
                      </a:r>
                      <a:endParaRPr sz="1100">
                        <a:solidFill>
                          <a:srgbClr val="000000"/>
                        </a:solidFill>
                      </a:endParaRPr>
                    </a:p>
                  </a:txBody>
                  <a:tcPr marT="45725" marB="45725" marR="91450" marL="91450"/>
                </a:tc>
              </a:tr>
              <a:tr h="431700">
                <a:tc>
                  <a:txBody>
                    <a:bodyPr/>
                    <a:lstStyle/>
                    <a:p>
                      <a:pPr indent="0" lvl="0" marL="0" marR="0" rtl="0" algn="l">
                        <a:spcBef>
                          <a:spcPts val="0"/>
                        </a:spcBef>
                        <a:spcAft>
                          <a:spcPts val="0"/>
                        </a:spcAft>
                        <a:buNone/>
                      </a:pPr>
                      <a:r>
                        <a:rPr b="1" lang="en-US" sz="1100"/>
                        <a:t>Backbone network</a:t>
                      </a:r>
                      <a:endParaRPr i="1" sz="1100">
                        <a:solidFill>
                          <a:srgbClr val="000000"/>
                        </a:solidFill>
                      </a:endParaRPr>
                    </a:p>
                  </a:txBody>
                  <a:tcPr marT="45725" marB="45725" marR="91450" marL="91450"/>
                </a:tc>
                <a:tc>
                  <a:txBody>
                    <a:bodyPr/>
                    <a:lstStyle/>
                    <a:p>
                      <a:pPr indent="0" lvl="0" marL="0" marR="0" rtl="0" algn="l">
                        <a:spcBef>
                          <a:spcPts val="0"/>
                        </a:spcBef>
                        <a:spcAft>
                          <a:spcPts val="0"/>
                        </a:spcAft>
                        <a:buClr>
                          <a:schemeClr val="dk1"/>
                        </a:buClr>
                        <a:buSzPts val="1100"/>
                        <a:buFont typeface="Arial"/>
                        <a:buNone/>
                      </a:pPr>
                      <a:r>
                        <a:rPr lang="en-US" sz="1100"/>
                        <a:t>Large, high-capacity networks used to interconnect service provider networks and to create a redundant network.</a:t>
                      </a:r>
                      <a:endParaRPr sz="1100">
                        <a:solidFill>
                          <a:srgbClr val="000000"/>
                        </a:solidFill>
                      </a:endParaRPr>
                    </a:p>
                  </a:txBody>
                  <a:tcPr marT="45725" marB="45725" marR="91450" marL="91450"/>
                </a:tc>
              </a:tr>
            </a:tbl>
          </a:graphicData>
        </a:graphic>
      </p:graphicFrame>
      <p:pic>
        <p:nvPicPr>
          <p:cNvPr id="406" name="Google Shape;406;p22"/>
          <p:cNvPicPr preferRelativeResize="0"/>
          <p:nvPr>
            <p:ph idx="1" type="body"/>
          </p:nvPr>
        </p:nvPicPr>
        <p:blipFill rotWithShape="1">
          <a:blip r:embed="rId3">
            <a:alphaModFix/>
          </a:blip>
          <a:srcRect b="0" l="0" r="0" t="0"/>
          <a:stretch/>
        </p:blipFill>
        <p:spPr>
          <a:xfrm>
            <a:off x="5157788" y="1396783"/>
            <a:ext cx="3660775" cy="275474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2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WAN Operations</a:t>
            </a:r>
            <a:br>
              <a:rPr lang="en-US"/>
            </a:br>
            <a:r>
              <a:rPr lang="en-US" sz="2400"/>
              <a:t>WAN Devices</a:t>
            </a:r>
            <a:endParaRPr/>
          </a:p>
        </p:txBody>
      </p:sp>
      <p:sp>
        <p:nvSpPr>
          <p:cNvPr id="413" name="Google Shape;413;p23"/>
          <p:cNvSpPr txBox="1"/>
          <p:nvPr>
            <p:ph idx="1" type="body"/>
          </p:nvPr>
        </p:nvSpPr>
        <p:spPr>
          <a:xfrm>
            <a:off x="276337" y="679488"/>
            <a:ext cx="7064099" cy="476728"/>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rPr lang="en-US" sz="1400">
                <a:solidFill>
                  <a:srgbClr val="000000"/>
                </a:solidFill>
              </a:rPr>
              <a:t>There are many types of devices that are specific to WAN environments. </a:t>
            </a:r>
            <a:endParaRPr sz="1100">
              <a:solidFill>
                <a:srgbClr val="000000"/>
              </a:solidFill>
            </a:endParaRPr>
          </a:p>
        </p:txBody>
      </p:sp>
      <p:graphicFrame>
        <p:nvGraphicFramePr>
          <p:cNvPr id="414" name="Google Shape;414;p23"/>
          <p:cNvGraphicFramePr/>
          <p:nvPr/>
        </p:nvGraphicFramePr>
        <p:xfrm>
          <a:off x="431971" y="1156216"/>
          <a:ext cx="3000000" cy="3000000"/>
        </p:xfrm>
        <a:graphic>
          <a:graphicData uri="http://schemas.openxmlformats.org/drawingml/2006/table">
            <a:tbl>
              <a:tblPr bandRow="1" firstRow="1">
                <a:noFill/>
                <a:tableStyleId>{4B9838A6-867F-4220-8999-C6B651F9615E}</a:tableStyleId>
              </a:tblPr>
              <a:tblGrid>
                <a:gridCol w="1361400"/>
                <a:gridCol w="3311075"/>
              </a:tblGrid>
              <a:tr h="219975">
                <a:tc>
                  <a:txBody>
                    <a:bodyPr/>
                    <a:lstStyle/>
                    <a:p>
                      <a:pPr indent="0" lvl="0" marL="0" marR="0" rtl="0" algn="l">
                        <a:spcBef>
                          <a:spcPts val="0"/>
                        </a:spcBef>
                        <a:spcAft>
                          <a:spcPts val="0"/>
                        </a:spcAft>
                        <a:buNone/>
                      </a:pPr>
                      <a:r>
                        <a:rPr lang="en-US" sz="1100"/>
                        <a:t>WAN Device</a:t>
                      </a:r>
                      <a:endParaRPr/>
                    </a:p>
                  </a:txBody>
                  <a:tcPr marT="45725" marB="45725" marR="91450" marL="91450"/>
                </a:tc>
                <a:tc>
                  <a:txBody>
                    <a:bodyPr/>
                    <a:lstStyle/>
                    <a:p>
                      <a:pPr indent="0" lvl="0" marL="0" marR="0" rtl="0" algn="l">
                        <a:spcBef>
                          <a:spcPts val="0"/>
                        </a:spcBef>
                        <a:spcAft>
                          <a:spcPts val="0"/>
                        </a:spcAft>
                        <a:buNone/>
                      </a:pPr>
                      <a:r>
                        <a:rPr lang="en-US" sz="1100"/>
                        <a:t>Description</a:t>
                      </a:r>
                      <a:endParaRPr/>
                    </a:p>
                  </a:txBody>
                  <a:tcPr marT="45725" marB="45725" marR="91450" marL="91450"/>
                </a:tc>
              </a:tr>
              <a:tr h="362300">
                <a:tc>
                  <a:txBody>
                    <a:bodyPr/>
                    <a:lstStyle/>
                    <a:p>
                      <a:pPr indent="0" lvl="0" marL="0" marR="0" rtl="0" algn="l">
                        <a:spcBef>
                          <a:spcPts val="0"/>
                        </a:spcBef>
                        <a:spcAft>
                          <a:spcPts val="0"/>
                        </a:spcAft>
                        <a:buNone/>
                      </a:pPr>
                      <a:r>
                        <a:rPr b="1" lang="en-US" sz="1100">
                          <a:solidFill>
                            <a:schemeClr val="dk1"/>
                          </a:solidFill>
                          <a:latin typeface="Arial"/>
                          <a:ea typeface="Arial"/>
                          <a:cs typeface="Arial"/>
                          <a:sym typeface="Arial"/>
                        </a:rPr>
                        <a:t>Voiceband Modem</a:t>
                      </a:r>
                      <a:endParaRPr/>
                    </a:p>
                  </a:txBody>
                  <a:tcPr marT="45725" marB="45725" marR="91450" marL="91450"/>
                </a:tc>
                <a:tc>
                  <a:txBody>
                    <a:bodyPr/>
                    <a:lstStyle/>
                    <a:p>
                      <a:pPr indent="0" lvl="0" marL="0" marR="0" rtl="0" algn="l">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Dial-up modem – uses telephone lines</a:t>
                      </a:r>
                      <a:endParaRPr/>
                    </a:p>
                    <a:p>
                      <a:pPr indent="0" lvl="0" marL="0" marR="0" rtl="0" algn="l">
                        <a:spcBef>
                          <a:spcPts val="0"/>
                        </a:spcBef>
                        <a:spcAft>
                          <a:spcPts val="0"/>
                        </a:spcAft>
                        <a:buClr>
                          <a:schemeClr val="dk1"/>
                        </a:buClr>
                        <a:buSzPts val="1100"/>
                        <a:buFont typeface="Arial"/>
                        <a:buNone/>
                      </a:pPr>
                      <a:r>
                        <a:rPr lang="en-US" sz="1100">
                          <a:solidFill>
                            <a:schemeClr val="dk1"/>
                          </a:solidFill>
                          <a:latin typeface="Arial"/>
                          <a:ea typeface="Arial"/>
                          <a:cs typeface="Arial"/>
                          <a:sym typeface="Arial"/>
                        </a:rPr>
                        <a:t>Legacy device</a:t>
                      </a:r>
                      <a:endParaRPr/>
                    </a:p>
                  </a:txBody>
                  <a:tcPr marT="45725" marB="45725" marR="91450" marL="91450"/>
                </a:tc>
              </a:tr>
              <a:tr h="431700">
                <a:tc>
                  <a:txBody>
                    <a:bodyPr/>
                    <a:lstStyle/>
                    <a:p>
                      <a:pPr indent="0" lvl="0" marL="0" marR="0" rtl="0" algn="l">
                        <a:spcBef>
                          <a:spcPts val="0"/>
                        </a:spcBef>
                        <a:spcAft>
                          <a:spcPts val="0"/>
                        </a:spcAft>
                        <a:buNone/>
                      </a:pPr>
                      <a:r>
                        <a:rPr b="1" lang="en-US" sz="1100">
                          <a:solidFill>
                            <a:schemeClr val="dk1"/>
                          </a:solidFill>
                          <a:latin typeface="Arial"/>
                          <a:ea typeface="Arial"/>
                          <a:cs typeface="Arial"/>
                          <a:sym typeface="Arial"/>
                        </a:rPr>
                        <a:t>DSL Modem / Cable Modem</a:t>
                      </a:r>
                      <a:endParaRPr/>
                    </a:p>
                  </a:txBody>
                  <a:tcPr marT="45725" marB="45725" marR="91450" marL="91450"/>
                </a:tc>
                <a:tc>
                  <a:txBody>
                    <a:bodyPr/>
                    <a:lstStyle/>
                    <a:p>
                      <a:pPr indent="0" lvl="0" marL="0" marR="0" rtl="0" algn="l">
                        <a:spcBef>
                          <a:spcPts val="0"/>
                        </a:spcBef>
                        <a:spcAft>
                          <a:spcPts val="0"/>
                        </a:spcAft>
                        <a:buClr>
                          <a:schemeClr val="dk1"/>
                        </a:buClr>
                        <a:buSzPts val="1100"/>
                        <a:buFont typeface="Arial"/>
                        <a:buNone/>
                      </a:pPr>
                      <a:r>
                        <a:rPr lang="en-US" sz="1100"/>
                        <a:t>Collectively known as broadband modems, these high-speed digital modems connect to the DTE router using Ethernet.</a:t>
                      </a:r>
                      <a:endParaRPr sz="1100">
                        <a:solidFill>
                          <a:schemeClr val="dk1"/>
                        </a:solidFill>
                        <a:latin typeface="Arial"/>
                        <a:ea typeface="Arial"/>
                        <a:cs typeface="Arial"/>
                        <a:sym typeface="Arial"/>
                      </a:endParaRPr>
                    </a:p>
                  </a:txBody>
                  <a:tcPr marT="45725" marB="45725" marR="91450" marL="91450"/>
                </a:tc>
              </a:tr>
              <a:tr h="431700">
                <a:tc>
                  <a:txBody>
                    <a:bodyPr/>
                    <a:lstStyle/>
                    <a:p>
                      <a:pPr indent="0" lvl="0" marL="0" marR="0" rtl="0" algn="l">
                        <a:spcBef>
                          <a:spcPts val="0"/>
                        </a:spcBef>
                        <a:spcAft>
                          <a:spcPts val="0"/>
                        </a:spcAft>
                        <a:buNone/>
                      </a:pPr>
                      <a:r>
                        <a:rPr b="1" lang="en-US" sz="1100">
                          <a:solidFill>
                            <a:schemeClr val="dk1"/>
                          </a:solidFill>
                          <a:latin typeface="Arial"/>
                          <a:ea typeface="Arial"/>
                          <a:cs typeface="Arial"/>
                          <a:sym typeface="Arial"/>
                        </a:rPr>
                        <a:t>CSU/DSU</a:t>
                      </a:r>
                      <a:endParaRPr/>
                    </a:p>
                  </a:txBody>
                  <a:tcPr marT="45725" marB="45725" marR="91450" marL="91450"/>
                </a:tc>
                <a:tc>
                  <a:txBody>
                    <a:bodyPr/>
                    <a:lstStyle/>
                    <a:p>
                      <a:pPr indent="0" lvl="0" marL="0" marR="0" rtl="0" algn="l">
                        <a:spcBef>
                          <a:spcPts val="0"/>
                        </a:spcBef>
                        <a:spcAft>
                          <a:spcPts val="0"/>
                        </a:spcAft>
                        <a:buClr>
                          <a:schemeClr val="dk1"/>
                        </a:buClr>
                        <a:buSzPts val="1100"/>
                        <a:buFont typeface="Arial"/>
                        <a:buNone/>
                      </a:pPr>
                      <a:r>
                        <a:rPr lang="en-US" sz="1100"/>
                        <a:t>Digital-leased lines require a CSU and a DSU. It connects a digital device to a digital line.</a:t>
                      </a:r>
                      <a:endParaRPr sz="1100">
                        <a:solidFill>
                          <a:schemeClr val="dk1"/>
                        </a:solidFill>
                        <a:latin typeface="Arial"/>
                        <a:ea typeface="Arial"/>
                        <a:cs typeface="Arial"/>
                        <a:sym typeface="Arial"/>
                      </a:endParaRPr>
                    </a:p>
                  </a:txBody>
                  <a:tcPr marT="45725" marB="45725" marR="91450" marL="91450"/>
                </a:tc>
              </a:tr>
              <a:tr h="431700">
                <a:tc>
                  <a:txBody>
                    <a:bodyPr/>
                    <a:lstStyle/>
                    <a:p>
                      <a:pPr indent="0" lvl="0" marL="0" marR="0" rtl="0" algn="l">
                        <a:spcBef>
                          <a:spcPts val="0"/>
                        </a:spcBef>
                        <a:spcAft>
                          <a:spcPts val="0"/>
                        </a:spcAft>
                        <a:buNone/>
                      </a:pPr>
                      <a:r>
                        <a:rPr b="1" lang="en-US" sz="1100">
                          <a:solidFill>
                            <a:schemeClr val="dk1"/>
                          </a:solidFill>
                          <a:latin typeface="Arial"/>
                          <a:ea typeface="Arial"/>
                          <a:cs typeface="Arial"/>
                          <a:sym typeface="Arial"/>
                        </a:rPr>
                        <a:t>Optical Converter</a:t>
                      </a:r>
                      <a:endParaRPr/>
                    </a:p>
                  </a:txBody>
                  <a:tcPr marT="45725" marB="45725" marR="91450" marL="91450"/>
                </a:tc>
                <a:tc>
                  <a:txBody>
                    <a:bodyPr/>
                    <a:lstStyle/>
                    <a:p>
                      <a:pPr indent="0" lvl="0" marL="0" marR="0" rtl="0" algn="l">
                        <a:spcBef>
                          <a:spcPts val="0"/>
                        </a:spcBef>
                        <a:spcAft>
                          <a:spcPts val="0"/>
                        </a:spcAft>
                        <a:buClr>
                          <a:schemeClr val="dk1"/>
                        </a:buClr>
                        <a:buSzPts val="1100"/>
                        <a:buFont typeface="Arial"/>
                        <a:buNone/>
                      </a:pPr>
                      <a:r>
                        <a:rPr lang="en-US" sz="1100"/>
                        <a:t>Connect fiber-optic media to copper media and convert optical signals to electronic pulses.</a:t>
                      </a:r>
                      <a:endParaRPr sz="1100">
                        <a:solidFill>
                          <a:schemeClr val="dk1"/>
                        </a:solidFill>
                        <a:latin typeface="Arial"/>
                        <a:ea typeface="Arial"/>
                        <a:cs typeface="Arial"/>
                        <a:sym typeface="Arial"/>
                      </a:endParaRPr>
                    </a:p>
                  </a:txBody>
                  <a:tcPr marT="45725" marB="45725" marR="91450" marL="91450"/>
                </a:tc>
              </a:tr>
              <a:tr h="431700">
                <a:tc>
                  <a:txBody>
                    <a:bodyPr/>
                    <a:lstStyle/>
                    <a:p>
                      <a:pPr indent="0" lvl="0" marL="0" marR="0" rtl="0" algn="l">
                        <a:spcBef>
                          <a:spcPts val="0"/>
                        </a:spcBef>
                        <a:spcAft>
                          <a:spcPts val="0"/>
                        </a:spcAft>
                        <a:buNone/>
                      </a:pPr>
                      <a:r>
                        <a:rPr b="1" lang="en-US" sz="1100">
                          <a:solidFill>
                            <a:schemeClr val="dk1"/>
                          </a:solidFill>
                          <a:latin typeface="Arial"/>
                          <a:ea typeface="Arial"/>
                          <a:cs typeface="Arial"/>
                          <a:sym typeface="Arial"/>
                        </a:rPr>
                        <a:t>Wireless Router / Access Point</a:t>
                      </a:r>
                      <a:endParaRPr/>
                    </a:p>
                  </a:txBody>
                  <a:tcPr marT="45725" marB="45725" marR="91450" marL="91450"/>
                </a:tc>
                <a:tc>
                  <a:txBody>
                    <a:bodyPr/>
                    <a:lstStyle/>
                    <a:p>
                      <a:pPr indent="0" lvl="0" marL="0" marR="0" rtl="0" algn="l">
                        <a:spcBef>
                          <a:spcPts val="0"/>
                        </a:spcBef>
                        <a:spcAft>
                          <a:spcPts val="0"/>
                        </a:spcAft>
                        <a:buClr>
                          <a:schemeClr val="dk1"/>
                        </a:buClr>
                        <a:buSzPts val="1100"/>
                        <a:buFont typeface="Arial"/>
                        <a:buNone/>
                      </a:pPr>
                      <a:r>
                        <a:rPr lang="en-US" sz="1100"/>
                        <a:t>Devices are used to wirelessly connect to a WAN provider.</a:t>
                      </a:r>
                      <a:endParaRPr sz="1100">
                        <a:solidFill>
                          <a:schemeClr val="dk1"/>
                        </a:solidFill>
                        <a:latin typeface="Arial"/>
                        <a:ea typeface="Arial"/>
                        <a:cs typeface="Arial"/>
                        <a:sym typeface="Arial"/>
                      </a:endParaRPr>
                    </a:p>
                  </a:txBody>
                  <a:tcPr marT="45725" marB="45725" marR="91450" marL="91450"/>
                </a:tc>
              </a:tr>
              <a:tr h="431700">
                <a:tc>
                  <a:txBody>
                    <a:bodyPr/>
                    <a:lstStyle/>
                    <a:p>
                      <a:pPr indent="0" lvl="0" marL="0" marR="0" rtl="0" algn="l">
                        <a:spcBef>
                          <a:spcPts val="0"/>
                        </a:spcBef>
                        <a:spcAft>
                          <a:spcPts val="0"/>
                        </a:spcAft>
                        <a:buNone/>
                      </a:pPr>
                      <a:r>
                        <a:rPr b="1" lang="en-US" sz="1100">
                          <a:solidFill>
                            <a:schemeClr val="dk1"/>
                          </a:solidFill>
                          <a:latin typeface="Arial"/>
                          <a:ea typeface="Arial"/>
                          <a:cs typeface="Arial"/>
                          <a:sym typeface="Arial"/>
                        </a:rPr>
                        <a:t>WAN Core devices</a:t>
                      </a:r>
                      <a:endParaRPr/>
                    </a:p>
                  </a:txBody>
                  <a:tcPr marT="45725" marB="45725" marR="91450" marL="91450"/>
                </a:tc>
                <a:tc>
                  <a:txBody>
                    <a:bodyPr/>
                    <a:lstStyle/>
                    <a:p>
                      <a:pPr indent="0" lvl="0" marL="0" marR="0" rtl="0" algn="l">
                        <a:spcBef>
                          <a:spcPts val="0"/>
                        </a:spcBef>
                        <a:spcAft>
                          <a:spcPts val="0"/>
                        </a:spcAft>
                        <a:buClr>
                          <a:schemeClr val="dk1"/>
                        </a:buClr>
                        <a:buSzPts val="1100"/>
                        <a:buFont typeface="Arial"/>
                        <a:buNone/>
                      </a:pPr>
                      <a:r>
                        <a:rPr lang="en-US" sz="1100"/>
                        <a:t>WAN backbone consists of multiple high-speed routers and Layer 3 switches.</a:t>
                      </a:r>
                      <a:endParaRPr sz="1100">
                        <a:solidFill>
                          <a:schemeClr val="dk1"/>
                        </a:solidFill>
                        <a:latin typeface="Arial"/>
                        <a:ea typeface="Arial"/>
                        <a:cs typeface="Arial"/>
                        <a:sym typeface="Arial"/>
                      </a:endParaRPr>
                    </a:p>
                  </a:txBody>
                  <a:tcPr marT="45725" marB="45725" marR="91450" marL="91450"/>
                </a:tc>
              </a:tr>
            </a:tbl>
          </a:graphicData>
        </a:graphic>
      </p:graphicFrame>
      <p:pic>
        <p:nvPicPr>
          <p:cNvPr id="415" name="Google Shape;415;p23"/>
          <p:cNvPicPr preferRelativeResize="0"/>
          <p:nvPr/>
        </p:nvPicPr>
        <p:blipFill rotWithShape="1">
          <a:blip r:embed="rId3">
            <a:alphaModFix/>
          </a:blip>
          <a:srcRect b="0" l="0" r="0" t="0"/>
          <a:stretch/>
        </p:blipFill>
        <p:spPr>
          <a:xfrm>
            <a:off x="5219483" y="1755532"/>
            <a:ext cx="3691433" cy="179804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0" name="Shape 420"/>
        <p:cNvGrpSpPr/>
        <p:nvPr/>
      </p:nvGrpSpPr>
      <p:grpSpPr>
        <a:xfrm>
          <a:off x="0" y="0"/>
          <a:ext cx="0" cy="0"/>
          <a:chOff x="0" y="0"/>
          <a:chExt cx="0" cy="0"/>
        </a:xfrm>
      </p:grpSpPr>
      <p:sp>
        <p:nvSpPr>
          <p:cNvPr id="421" name="Google Shape;421;p2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WAN Operations</a:t>
            </a:r>
            <a:br>
              <a:rPr lang="en-US"/>
            </a:br>
            <a:r>
              <a:rPr lang="en-US" sz="2400"/>
              <a:t>Serial Communication</a:t>
            </a:r>
            <a:endParaRPr/>
          </a:p>
        </p:txBody>
      </p:sp>
      <p:sp>
        <p:nvSpPr>
          <p:cNvPr id="422" name="Google Shape;422;p24"/>
          <p:cNvSpPr txBox="1"/>
          <p:nvPr>
            <p:ph idx="1" type="body"/>
          </p:nvPr>
        </p:nvSpPr>
        <p:spPr>
          <a:xfrm>
            <a:off x="431971" y="855419"/>
            <a:ext cx="4140029" cy="3324695"/>
          </a:xfrm>
          <a:prstGeom prst="rect">
            <a:avLst/>
          </a:prstGeom>
          <a:noFill/>
          <a:ln>
            <a:noFill/>
          </a:ln>
        </p:spPr>
        <p:txBody>
          <a:bodyPr anchorCtr="0" anchor="t" bIns="45700" lIns="91400" spcFirstLastPara="1" rIns="91400" wrap="square" tIns="45700">
            <a:noAutofit/>
          </a:bodyPr>
          <a:lstStyle/>
          <a:p>
            <a:pPr indent="-285750" lvl="0" marL="285750" rtl="0" algn="l">
              <a:lnSpc>
                <a:spcPct val="100000"/>
              </a:lnSpc>
              <a:spcBef>
                <a:spcPts val="0"/>
              </a:spcBef>
              <a:spcAft>
                <a:spcPts val="0"/>
              </a:spcAft>
              <a:buSzPts val="1600"/>
              <a:buFont typeface="Arial"/>
              <a:buChar char="•"/>
            </a:pPr>
            <a:r>
              <a:rPr lang="en-US" sz="1600">
                <a:solidFill>
                  <a:srgbClr val="000000"/>
                </a:solidFill>
              </a:rPr>
              <a:t>Almost all network communications occur using a serial communication delivery. Serial communication transmits bits sequentially over a single channel.</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In contrast, parallel communications simultaneously transmit several bits using multiple wires.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As the cable length increases, the synchronization timing between multiple channels becomes more sensitive to distance. For this reason, parallel communication is limited to very short distances</a:t>
            </a:r>
            <a:endParaRPr/>
          </a:p>
        </p:txBody>
      </p:sp>
      <p:pic>
        <p:nvPicPr>
          <p:cNvPr id="423" name="Google Shape;423;p24"/>
          <p:cNvPicPr preferRelativeResize="0"/>
          <p:nvPr/>
        </p:nvPicPr>
        <p:blipFill rotWithShape="1">
          <a:blip r:embed="rId3">
            <a:alphaModFix/>
          </a:blip>
          <a:srcRect b="0" l="0" r="0" t="0"/>
          <a:stretch/>
        </p:blipFill>
        <p:spPr>
          <a:xfrm>
            <a:off x="4912548" y="731837"/>
            <a:ext cx="4071196" cy="307348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2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WAN Operations</a:t>
            </a:r>
            <a:br>
              <a:rPr lang="en-US"/>
            </a:br>
            <a:r>
              <a:rPr lang="en-US" sz="2400"/>
              <a:t>Circuit-Switched Communication</a:t>
            </a:r>
            <a:endParaRPr/>
          </a:p>
        </p:txBody>
      </p:sp>
      <p:sp>
        <p:nvSpPr>
          <p:cNvPr id="430" name="Google Shape;430;p25"/>
          <p:cNvSpPr txBox="1"/>
          <p:nvPr>
            <p:ph idx="1" type="body"/>
          </p:nvPr>
        </p:nvSpPr>
        <p:spPr>
          <a:xfrm>
            <a:off x="431971" y="855419"/>
            <a:ext cx="4333312" cy="3324695"/>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A circuit-switched network establishes a dedicated circuit (or channel) between endpoints before the users can communicate.</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Establishes a dedicated virtual connection through the service provider network before communication can start.</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All communication uses the same path.</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two most common types of circuit-switched WAN technologies are the public switched telephone network (PSTN) and the legacy Integrated Services Digital Network (ISDN). </a:t>
            </a:r>
            <a:endParaRPr/>
          </a:p>
        </p:txBody>
      </p:sp>
      <p:pic>
        <p:nvPicPr>
          <p:cNvPr id="431" name="Google Shape;431;p25"/>
          <p:cNvPicPr preferRelativeResize="0"/>
          <p:nvPr/>
        </p:nvPicPr>
        <p:blipFill rotWithShape="1">
          <a:blip r:embed="rId3">
            <a:alphaModFix/>
          </a:blip>
          <a:srcRect b="0" l="0" r="0" t="0"/>
          <a:stretch/>
        </p:blipFill>
        <p:spPr>
          <a:xfrm>
            <a:off x="4810688" y="1031866"/>
            <a:ext cx="4333312" cy="281665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2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WAN Operations</a:t>
            </a:r>
            <a:br>
              <a:rPr lang="en-US"/>
            </a:br>
            <a:r>
              <a:rPr lang="en-US" sz="2400"/>
              <a:t>Packet-Switched Communication</a:t>
            </a:r>
            <a:endParaRPr/>
          </a:p>
        </p:txBody>
      </p:sp>
      <p:sp>
        <p:nvSpPr>
          <p:cNvPr id="438" name="Google Shape;438;p26"/>
          <p:cNvSpPr txBox="1"/>
          <p:nvPr>
            <p:ph idx="1" type="body"/>
          </p:nvPr>
        </p:nvSpPr>
        <p:spPr>
          <a:xfrm>
            <a:off x="431971" y="855419"/>
            <a:ext cx="4333312" cy="3324695"/>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Network communication is most commonly implemented using packet-switched communication.</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Segments traffic data into packets that are routed over a shared network.</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Much less expensive and more flexible than circuit switching.</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Common types of packet-switched WAN technologies are:</a:t>
            </a:r>
            <a:endParaRPr/>
          </a:p>
          <a:p>
            <a:pPr indent="-285750" lvl="1" marL="358835" rtl="0" algn="l">
              <a:lnSpc>
                <a:spcPct val="95000"/>
              </a:lnSpc>
              <a:spcBef>
                <a:spcPts val="600"/>
              </a:spcBef>
              <a:spcAft>
                <a:spcPts val="0"/>
              </a:spcAft>
              <a:buSzPts val="1400"/>
              <a:buFont typeface="Arial"/>
              <a:buChar char="•"/>
            </a:pPr>
            <a:r>
              <a:rPr lang="en-US">
                <a:solidFill>
                  <a:srgbClr val="000000"/>
                </a:solidFill>
              </a:rPr>
              <a:t>Ethernet WAN (Metro Ethernet), </a:t>
            </a:r>
            <a:endParaRPr/>
          </a:p>
          <a:p>
            <a:pPr indent="-285750" lvl="1" marL="358835" rtl="0" algn="l">
              <a:lnSpc>
                <a:spcPct val="95000"/>
              </a:lnSpc>
              <a:spcBef>
                <a:spcPts val="600"/>
              </a:spcBef>
              <a:spcAft>
                <a:spcPts val="0"/>
              </a:spcAft>
              <a:buSzPts val="1400"/>
              <a:buFont typeface="Arial"/>
              <a:buChar char="•"/>
            </a:pPr>
            <a:r>
              <a:rPr lang="en-US">
                <a:solidFill>
                  <a:srgbClr val="000000"/>
                </a:solidFill>
              </a:rPr>
              <a:t>Multiprotocol Label Switching (MPLS)</a:t>
            </a:r>
            <a:endParaRPr/>
          </a:p>
          <a:p>
            <a:pPr indent="-285750" lvl="1" marL="358835" rtl="0" algn="l">
              <a:lnSpc>
                <a:spcPct val="95000"/>
              </a:lnSpc>
              <a:spcBef>
                <a:spcPts val="600"/>
              </a:spcBef>
              <a:spcAft>
                <a:spcPts val="0"/>
              </a:spcAft>
              <a:buSzPts val="1400"/>
              <a:buFont typeface="Arial"/>
              <a:buChar char="•"/>
            </a:pPr>
            <a:r>
              <a:rPr lang="en-US">
                <a:solidFill>
                  <a:srgbClr val="000000"/>
                </a:solidFill>
              </a:rPr>
              <a:t>Frame Relay</a:t>
            </a:r>
            <a:endParaRPr/>
          </a:p>
          <a:p>
            <a:pPr indent="-285750" lvl="1" marL="358835" rtl="0" algn="l">
              <a:lnSpc>
                <a:spcPct val="95000"/>
              </a:lnSpc>
              <a:spcBef>
                <a:spcPts val="600"/>
              </a:spcBef>
              <a:spcAft>
                <a:spcPts val="0"/>
              </a:spcAft>
              <a:buSzPts val="1400"/>
              <a:buFont typeface="Arial"/>
              <a:buChar char="•"/>
            </a:pPr>
            <a:r>
              <a:rPr lang="en-US">
                <a:solidFill>
                  <a:srgbClr val="000000"/>
                </a:solidFill>
              </a:rPr>
              <a:t>Asynchronous Transfer Mode (ATM).</a:t>
            </a:r>
            <a:endParaRPr/>
          </a:p>
        </p:txBody>
      </p:sp>
      <p:pic>
        <p:nvPicPr>
          <p:cNvPr id="439" name="Google Shape;439;p26"/>
          <p:cNvPicPr preferRelativeResize="0"/>
          <p:nvPr/>
        </p:nvPicPr>
        <p:blipFill rotWithShape="1">
          <a:blip r:embed="rId3">
            <a:alphaModFix/>
          </a:blip>
          <a:srcRect b="0" l="0" r="0" t="0"/>
          <a:stretch/>
        </p:blipFill>
        <p:spPr>
          <a:xfrm>
            <a:off x="4765283" y="1302770"/>
            <a:ext cx="4020129" cy="253796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4" name="Shape 444"/>
        <p:cNvGrpSpPr/>
        <p:nvPr/>
      </p:nvGrpSpPr>
      <p:grpSpPr>
        <a:xfrm>
          <a:off x="0" y="0"/>
          <a:ext cx="0" cy="0"/>
          <a:chOff x="0" y="0"/>
          <a:chExt cx="0" cy="0"/>
        </a:xfrm>
      </p:grpSpPr>
      <p:sp>
        <p:nvSpPr>
          <p:cNvPr id="445" name="Google Shape;445;p27"/>
          <p:cNvSpPr txBox="1"/>
          <p:nvPr>
            <p:ph type="title"/>
          </p:nvPr>
        </p:nvSpPr>
        <p:spPr>
          <a:xfrm>
            <a:off x="0" y="1"/>
            <a:ext cx="8345488" cy="656692"/>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WAN Operations</a:t>
            </a:r>
            <a:br>
              <a:rPr lang="en-US"/>
            </a:br>
            <a:r>
              <a:rPr lang="en-US" sz="2400"/>
              <a:t>SDH, SONET, and DWDM</a:t>
            </a:r>
            <a:endParaRPr/>
          </a:p>
        </p:txBody>
      </p:sp>
      <p:sp>
        <p:nvSpPr>
          <p:cNvPr id="446" name="Google Shape;446;p27"/>
          <p:cNvSpPr txBox="1"/>
          <p:nvPr>
            <p:ph idx="1" type="body"/>
          </p:nvPr>
        </p:nvSpPr>
        <p:spPr>
          <a:xfrm>
            <a:off x="0" y="656692"/>
            <a:ext cx="8964892" cy="3830115"/>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Service provider networks use fiber-optic infrastructures to transport user data between destinations. Fiber-optic cable is far superior to copper cable for long distance transmissions due to its much lower attenuation and interference.</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There are two optical fiber OSI layer 1 standards available to service providers:</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SDH</a:t>
            </a:r>
            <a:r>
              <a:rPr lang="en-US" sz="1600">
                <a:solidFill>
                  <a:srgbClr val="000000"/>
                </a:solidFill>
              </a:rPr>
              <a:t> - Synchronous Digital Hierarchy (SDH) is a global standard for transporting data over fiber-optic cable.</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SONET</a:t>
            </a:r>
            <a:r>
              <a:rPr lang="en-US" sz="1600">
                <a:solidFill>
                  <a:srgbClr val="000000"/>
                </a:solidFill>
              </a:rPr>
              <a:t> - Synchronous Optical Networking (SONET) is the North American standard that provides the same services as SDH.</a:t>
            </a:r>
            <a:endParaRPr/>
          </a:p>
          <a:p>
            <a:pPr indent="0" lvl="0" marL="0" rtl="0" algn="l">
              <a:lnSpc>
                <a:spcPct val="100000"/>
              </a:lnSpc>
              <a:spcBef>
                <a:spcPts val="320"/>
              </a:spcBef>
              <a:spcAft>
                <a:spcPts val="0"/>
              </a:spcAft>
              <a:buSzPts val="1600"/>
              <a:buNone/>
            </a:pPr>
            <a:r>
              <a:rPr b="1" lang="en-US" sz="1600">
                <a:solidFill>
                  <a:srgbClr val="000000"/>
                </a:solidFill>
              </a:rPr>
              <a:t>SDH/SONET </a:t>
            </a:r>
            <a:r>
              <a:rPr lang="en-US" sz="1600">
                <a:solidFill>
                  <a:srgbClr val="000000"/>
                </a:solidFill>
              </a:rPr>
              <a:t>define how to transfer multiple data, voice, and video communications over optical fiber using lasers or light-emitting diodes (LEDs) over great distances.</a:t>
            </a:r>
            <a:endParaRPr/>
          </a:p>
          <a:p>
            <a:pPr indent="0" lvl="0" marL="0" rtl="0" algn="l">
              <a:lnSpc>
                <a:spcPct val="100000"/>
              </a:lnSpc>
              <a:spcBef>
                <a:spcPts val="320"/>
              </a:spcBef>
              <a:spcAft>
                <a:spcPts val="0"/>
              </a:spcAft>
              <a:buSzPts val="1600"/>
              <a:buNone/>
            </a:pPr>
            <a:r>
              <a:rPr b="1" lang="en-US" sz="1600">
                <a:solidFill>
                  <a:srgbClr val="000000"/>
                </a:solidFill>
              </a:rPr>
              <a:t>Dense Wavelength Division Multiplexing (DWDM) </a:t>
            </a:r>
            <a:r>
              <a:rPr lang="en-US" sz="1600">
                <a:solidFill>
                  <a:srgbClr val="000000"/>
                </a:solidFill>
              </a:rPr>
              <a:t>is a newer technology that increases the data-carrying capacity of SDH and SONET by simultaneously sending multiple streams of data (multiplexing) using different wavelengths of light.</a:t>
            </a:r>
            <a:endParaRPr/>
          </a:p>
          <a:p>
            <a:pPr indent="0" lvl="0" marL="0" rtl="0" algn="l">
              <a:lnSpc>
                <a:spcPct val="100000"/>
              </a:lnSpc>
              <a:spcBef>
                <a:spcPts val="280"/>
              </a:spcBef>
              <a:spcAft>
                <a:spcPts val="0"/>
              </a:spcAft>
              <a:buSzPts val="1400"/>
              <a:buNone/>
            </a:pPr>
            <a:r>
              <a:t/>
            </a:r>
            <a:endParaRPr sz="1400">
              <a:solidFill>
                <a:srgbClr val="000000"/>
              </a:solidFill>
            </a:endParaRPr>
          </a:p>
          <a:p>
            <a:pPr indent="0" lvl="1" marL="73085" rtl="0" algn="l">
              <a:lnSpc>
                <a:spcPct val="95000"/>
              </a:lnSpc>
              <a:spcBef>
                <a:spcPts val="600"/>
              </a:spcBef>
              <a:spcAft>
                <a:spcPts val="0"/>
              </a:spcAft>
              <a:buSzPts val="1200"/>
              <a:buNone/>
            </a:pPr>
            <a:r>
              <a:t/>
            </a:r>
            <a:endParaRPr sz="12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sp>
        <p:nvSpPr>
          <p:cNvPr id="452" name="Google Shape;452;p28"/>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7.3 Traditional WAN Connectivity</a:t>
            </a:r>
            <a:endParaRPr/>
          </a:p>
        </p:txBody>
      </p:sp>
    </p:spTree>
  </p:cSld>
  <p:clrMapOvr>
    <a:masterClrMapping/>
  </p:clrMapOvr>
  <p:transition spd="slow">
    <p:wipe dir="l"/>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7" name="Shape 457"/>
        <p:cNvGrpSpPr/>
        <p:nvPr/>
      </p:nvGrpSpPr>
      <p:grpSpPr>
        <a:xfrm>
          <a:off x="0" y="0"/>
          <a:ext cx="0" cy="0"/>
          <a:chOff x="0" y="0"/>
          <a:chExt cx="0" cy="0"/>
        </a:xfrm>
      </p:grpSpPr>
      <p:sp>
        <p:nvSpPr>
          <p:cNvPr id="458" name="Google Shape;458;p2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Traditional WAN Connectivity</a:t>
            </a:r>
            <a:br>
              <a:rPr lang="en-US"/>
            </a:br>
            <a:r>
              <a:rPr lang="en-US" sz="2400"/>
              <a:t>Traditional WAN Connectivity Options</a:t>
            </a:r>
            <a:endParaRPr/>
          </a:p>
        </p:txBody>
      </p:sp>
      <p:sp>
        <p:nvSpPr>
          <p:cNvPr id="459" name="Google Shape;459;p29"/>
          <p:cNvSpPr txBox="1"/>
          <p:nvPr>
            <p:ph idx="1" type="body"/>
          </p:nvPr>
        </p:nvSpPr>
        <p:spPr>
          <a:xfrm>
            <a:off x="431970" y="855419"/>
            <a:ext cx="4140030" cy="368643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To understand the WANs of today, it helps to know where they started.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When LANs appeared in the 1980s, organizations began to see the need to interconnect with other locations.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To do so, they needed their networks to connect to the local loop of a service provider.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This was accomplished by using dedicated lines, or by using switched services from a service provider.</a:t>
            </a:r>
            <a:endParaRPr sz="1200">
              <a:solidFill>
                <a:srgbClr val="000000"/>
              </a:solidFill>
            </a:endParaRPr>
          </a:p>
        </p:txBody>
      </p:sp>
      <p:pic>
        <p:nvPicPr>
          <p:cNvPr id="460" name="Google Shape;460;p29"/>
          <p:cNvPicPr preferRelativeResize="0"/>
          <p:nvPr/>
        </p:nvPicPr>
        <p:blipFill rotWithShape="1">
          <a:blip r:embed="rId3">
            <a:alphaModFix/>
          </a:blip>
          <a:srcRect b="0" l="0" r="0" t="0"/>
          <a:stretch/>
        </p:blipFill>
        <p:spPr>
          <a:xfrm>
            <a:off x="4788287" y="1083936"/>
            <a:ext cx="3923743" cy="297562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3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Traditional WAN Connectivity</a:t>
            </a:r>
            <a:br>
              <a:rPr lang="en-US"/>
            </a:br>
            <a:r>
              <a:rPr lang="en-US" sz="2400"/>
              <a:t>Common WAN Terminology</a:t>
            </a:r>
            <a:endParaRPr/>
          </a:p>
        </p:txBody>
      </p:sp>
      <p:sp>
        <p:nvSpPr>
          <p:cNvPr id="467" name="Google Shape;467;p30"/>
          <p:cNvSpPr txBox="1"/>
          <p:nvPr>
            <p:ph idx="1" type="body"/>
          </p:nvPr>
        </p:nvSpPr>
        <p:spPr>
          <a:xfrm>
            <a:off x="431969" y="855419"/>
            <a:ext cx="8008645" cy="368643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Point-to-point lines could be leased from a service provider and were called “leased lines”. The term refers to the fact that the organization pays a monthly lease fee to a service provider to use the line.</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Leased lines are available in different fixed capacities and are generally priced based on the bandwidth required and the distance between the two connected points.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There are two systems used to define the digital capacity of a copper media serial link:</a:t>
            </a:r>
            <a:endParaRPr/>
          </a:p>
          <a:p>
            <a:pPr indent="-285750" lvl="1" marL="358835" rtl="0" algn="l">
              <a:lnSpc>
                <a:spcPct val="95000"/>
              </a:lnSpc>
              <a:spcBef>
                <a:spcPts val="600"/>
              </a:spcBef>
              <a:spcAft>
                <a:spcPts val="0"/>
              </a:spcAft>
              <a:buSzPts val="1400"/>
              <a:buFont typeface="Arial"/>
              <a:buChar char="•"/>
            </a:pPr>
            <a:r>
              <a:rPr b="1" lang="en-US">
                <a:solidFill>
                  <a:srgbClr val="000000"/>
                </a:solidFill>
              </a:rPr>
              <a:t>T-carrier</a:t>
            </a:r>
            <a:r>
              <a:rPr lang="en-US">
                <a:solidFill>
                  <a:srgbClr val="000000"/>
                </a:solidFill>
              </a:rPr>
              <a:t> - Used in North America, T-carrier provides T1 links supporting bandwidth up to 1.544 Mbps and T3 links supporting bandwidth up to 43.7 Mbps.</a:t>
            </a:r>
            <a:endParaRPr/>
          </a:p>
          <a:p>
            <a:pPr indent="-285750" lvl="1" marL="358835" rtl="0" algn="l">
              <a:lnSpc>
                <a:spcPct val="95000"/>
              </a:lnSpc>
              <a:spcBef>
                <a:spcPts val="600"/>
              </a:spcBef>
              <a:spcAft>
                <a:spcPts val="0"/>
              </a:spcAft>
              <a:buSzPts val="1400"/>
              <a:buFont typeface="Arial"/>
              <a:buChar char="•"/>
            </a:pPr>
            <a:r>
              <a:rPr b="1" lang="en-US">
                <a:solidFill>
                  <a:srgbClr val="000000"/>
                </a:solidFill>
              </a:rPr>
              <a:t>E-carrier</a:t>
            </a:r>
            <a:r>
              <a:rPr lang="en-US">
                <a:solidFill>
                  <a:srgbClr val="000000"/>
                </a:solidFill>
              </a:rPr>
              <a:t> – Used in Europe, E-carrier provides E1 links supporting bandwidth up to 2.048 Mbps and E3 links supporting bandwidth up to 34.368 Mbps.</a:t>
            </a:r>
            <a:endParaRPr/>
          </a:p>
          <a:p>
            <a:pPr indent="0" lvl="1" marL="73085" rtl="0" algn="l">
              <a:lnSpc>
                <a:spcPct val="95000"/>
              </a:lnSpc>
              <a:spcBef>
                <a:spcPts val="600"/>
              </a:spcBef>
              <a:spcAft>
                <a:spcPts val="0"/>
              </a:spcAft>
              <a:buSzPts val="1200"/>
              <a:buNone/>
            </a:pPr>
            <a:r>
              <a:t/>
            </a:r>
            <a:endParaRPr sz="1200">
              <a:solidFill>
                <a:srgbClr val="000000"/>
              </a:solidFill>
            </a:endParaRPr>
          </a:p>
          <a:p>
            <a:pPr indent="0" lvl="0" marL="0" rtl="0" algn="l">
              <a:lnSpc>
                <a:spcPct val="100000"/>
              </a:lnSpc>
              <a:spcBef>
                <a:spcPts val="240"/>
              </a:spcBef>
              <a:spcAft>
                <a:spcPts val="0"/>
              </a:spcAft>
              <a:buSzPts val="1200"/>
              <a:buNone/>
            </a:pPr>
            <a:r>
              <a:t/>
            </a:r>
            <a:endParaRPr sz="12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3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Traditional WAN Connectivity</a:t>
            </a:r>
            <a:br>
              <a:rPr lang="en-US"/>
            </a:br>
            <a:r>
              <a:rPr lang="en-US" sz="2400"/>
              <a:t>Common WAN Terminology (Cont.)</a:t>
            </a:r>
            <a:endParaRPr/>
          </a:p>
        </p:txBody>
      </p:sp>
      <p:sp>
        <p:nvSpPr>
          <p:cNvPr id="474" name="Google Shape;474;p31"/>
          <p:cNvSpPr txBox="1"/>
          <p:nvPr>
            <p:ph idx="1" type="body"/>
          </p:nvPr>
        </p:nvSpPr>
        <p:spPr>
          <a:xfrm>
            <a:off x="431969" y="756807"/>
            <a:ext cx="8008645" cy="521205"/>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The table summarizes the advantages and disadvantages of leased lines.</a:t>
            </a:r>
            <a:endParaRPr sz="1200">
              <a:solidFill>
                <a:srgbClr val="000000"/>
              </a:solidFill>
            </a:endParaRPr>
          </a:p>
          <a:p>
            <a:pPr indent="0" lvl="0" marL="0" rtl="0" algn="l">
              <a:lnSpc>
                <a:spcPct val="100000"/>
              </a:lnSpc>
              <a:spcBef>
                <a:spcPts val="240"/>
              </a:spcBef>
              <a:spcAft>
                <a:spcPts val="0"/>
              </a:spcAft>
              <a:buSzPts val="1200"/>
              <a:buNone/>
            </a:pPr>
            <a:r>
              <a:t/>
            </a:r>
            <a:endParaRPr sz="1200">
              <a:solidFill>
                <a:srgbClr val="000000"/>
              </a:solidFill>
            </a:endParaRPr>
          </a:p>
        </p:txBody>
      </p:sp>
      <p:graphicFrame>
        <p:nvGraphicFramePr>
          <p:cNvPr id="475" name="Google Shape;475;p31"/>
          <p:cNvGraphicFramePr/>
          <p:nvPr/>
        </p:nvGraphicFramePr>
        <p:xfrm>
          <a:off x="632712" y="1302983"/>
          <a:ext cx="3000000" cy="3000000"/>
        </p:xfrm>
        <a:graphic>
          <a:graphicData uri="http://schemas.openxmlformats.org/drawingml/2006/table">
            <a:tbl>
              <a:tblPr bandRow="1" firstRow="1">
                <a:noFill/>
                <a:tableStyleId>{4B9838A6-867F-4220-8999-C6B651F9615E}</a:tableStyleId>
              </a:tblPr>
              <a:tblGrid>
                <a:gridCol w="1052450"/>
                <a:gridCol w="6242750"/>
              </a:tblGrid>
              <a:tr h="219975">
                <a:tc gridSpan="2">
                  <a:txBody>
                    <a:bodyPr/>
                    <a:lstStyle/>
                    <a:p>
                      <a:pPr indent="0" lvl="0" marL="0" marR="0" rtl="0" algn="l">
                        <a:spcBef>
                          <a:spcPts val="0"/>
                        </a:spcBef>
                        <a:spcAft>
                          <a:spcPts val="0"/>
                        </a:spcAft>
                        <a:buNone/>
                      </a:pPr>
                      <a:r>
                        <a:rPr lang="en-US" sz="1100"/>
                        <a:t>Advantages</a:t>
                      </a:r>
                      <a:endParaRPr/>
                    </a:p>
                  </a:txBody>
                  <a:tcPr marT="45725" marB="45725" marR="91450" marL="91450"/>
                </a:tc>
                <a:tc hMerge="1"/>
              </a:tr>
              <a:tr h="362300">
                <a:tc>
                  <a:txBody>
                    <a:bodyPr/>
                    <a:lstStyle/>
                    <a:p>
                      <a:pPr indent="0" lvl="0" marL="0" marR="0" rtl="0" algn="l">
                        <a:spcBef>
                          <a:spcPts val="0"/>
                        </a:spcBef>
                        <a:spcAft>
                          <a:spcPts val="0"/>
                        </a:spcAft>
                        <a:buNone/>
                      </a:pPr>
                      <a:r>
                        <a:rPr b="1" lang="en-US" sz="1100"/>
                        <a:t>Simplicity</a:t>
                      </a:r>
                      <a:endParaRPr i="1" sz="1100">
                        <a:solidFill>
                          <a:srgbClr val="000000"/>
                        </a:solidFill>
                      </a:endParaRPr>
                    </a:p>
                  </a:txBody>
                  <a:tcPr marT="45725" marB="45725" marR="91450" marL="91450"/>
                </a:tc>
                <a:tc>
                  <a:txBody>
                    <a:bodyPr/>
                    <a:lstStyle/>
                    <a:p>
                      <a:pPr indent="0" lvl="0" marL="0" marR="0" rtl="0" algn="l">
                        <a:spcBef>
                          <a:spcPts val="0"/>
                        </a:spcBef>
                        <a:spcAft>
                          <a:spcPts val="0"/>
                        </a:spcAft>
                        <a:buClr>
                          <a:schemeClr val="dk1"/>
                        </a:buClr>
                        <a:buSzPts val="1100"/>
                        <a:buFont typeface="Arial"/>
                        <a:buNone/>
                      </a:pPr>
                      <a:r>
                        <a:rPr lang="en-US" sz="1100"/>
                        <a:t>Point-to-point communication links require minimal expertise to install and maintain.</a:t>
                      </a:r>
                      <a:endParaRPr sz="1100">
                        <a:solidFill>
                          <a:srgbClr val="000000"/>
                        </a:solidFill>
                      </a:endParaRPr>
                    </a:p>
                  </a:txBody>
                  <a:tcPr marT="45725" marB="45725" marR="91450" marL="91450"/>
                </a:tc>
              </a:tr>
              <a:tr h="431700">
                <a:tc>
                  <a:txBody>
                    <a:bodyPr/>
                    <a:lstStyle/>
                    <a:p>
                      <a:pPr indent="0" lvl="0" marL="0" marR="0" rtl="0" algn="l">
                        <a:spcBef>
                          <a:spcPts val="0"/>
                        </a:spcBef>
                        <a:spcAft>
                          <a:spcPts val="0"/>
                        </a:spcAft>
                        <a:buNone/>
                      </a:pPr>
                      <a:r>
                        <a:rPr b="1" lang="en-US" sz="1100"/>
                        <a:t>Quality</a:t>
                      </a:r>
                      <a:endParaRPr b="1" sz="1100">
                        <a:solidFill>
                          <a:srgbClr val="000000"/>
                        </a:solidFill>
                      </a:endParaRPr>
                    </a:p>
                  </a:txBody>
                  <a:tcPr marT="45725" marB="45725" marR="91450" marL="91450"/>
                </a:tc>
                <a:tc>
                  <a:txBody>
                    <a:bodyPr/>
                    <a:lstStyle/>
                    <a:p>
                      <a:pPr indent="0" lvl="0" marL="0" marR="0" rtl="0" algn="l">
                        <a:spcBef>
                          <a:spcPts val="0"/>
                        </a:spcBef>
                        <a:spcAft>
                          <a:spcPts val="0"/>
                        </a:spcAft>
                        <a:buClr>
                          <a:schemeClr val="dk1"/>
                        </a:buClr>
                        <a:buSzPts val="1100"/>
                        <a:buFont typeface="Arial"/>
                        <a:buNone/>
                      </a:pPr>
                      <a:r>
                        <a:rPr lang="en-US" sz="1100"/>
                        <a:t>Point-to-point communication links usually offer high quality service, if they have adequate bandwidth. </a:t>
                      </a:r>
                      <a:endParaRPr sz="1100">
                        <a:solidFill>
                          <a:srgbClr val="000000"/>
                        </a:solidFill>
                      </a:endParaRPr>
                    </a:p>
                  </a:txBody>
                  <a:tcPr marT="45725" marB="45725" marR="91450" marL="91450"/>
                </a:tc>
              </a:tr>
              <a:tr h="431700">
                <a:tc>
                  <a:txBody>
                    <a:bodyPr/>
                    <a:lstStyle/>
                    <a:p>
                      <a:pPr indent="0" lvl="0" marL="0" marR="0" rtl="0" algn="l">
                        <a:spcBef>
                          <a:spcPts val="0"/>
                        </a:spcBef>
                        <a:spcAft>
                          <a:spcPts val="0"/>
                        </a:spcAft>
                        <a:buNone/>
                      </a:pPr>
                      <a:r>
                        <a:rPr b="1" lang="en-US" sz="1100"/>
                        <a:t>Availability</a:t>
                      </a:r>
                      <a:endParaRPr b="1" sz="1100">
                        <a:solidFill>
                          <a:srgbClr val="000000"/>
                        </a:solidFill>
                      </a:endParaRPr>
                    </a:p>
                  </a:txBody>
                  <a:tcPr marT="45725" marB="45725" marR="91450" marL="91450"/>
                </a:tc>
                <a:tc>
                  <a:txBody>
                    <a:bodyPr/>
                    <a:lstStyle/>
                    <a:p>
                      <a:pPr indent="0" lvl="0" marL="0" marR="0" rtl="0" algn="l">
                        <a:spcBef>
                          <a:spcPts val="0"/>
                        </a:spcBef>
                        <a:spcAft>
                          <a:spcPts val="0"/>
                        </a:spcAft>
                        <a:buClr>
                          <a:schemeClr val="dk1"/>
                        </a:buClr>
                        <a:buSzPts val="1100"/>
                        <a:buFont typeface="Arial"/>
                        <a:buNone/>
                      </a:pPr>
                      <a:r>
                        <a:rPr lang="en-US" sz="1100"/>
                        <a:t>Constant availability is essential for some applications, such as e-commerce. Point-to-point communication links provide permanent, dedicated capacity which is required for VoIP or Video over IP.</a:t>
                      </a:r>
                      <a:endParaRPr sz="1100">
                        <a:solidFill>
                          <a:srgbClr val="000000"/>
                        </a:solidFill>
                      </a:endParaRPr>
                    </a:p>
                  </a:txBody>
                  <a:tcPr marT="45725" marB="45725" marR="91450" marL="91450"/>
                </a:tc>
              </a:tr>
            </a:tbl>
          </a:graphicData>
        </a:graphic>
      </p:graphicFrame>
      <p:graphicFrame>
        <p:nvGraphicFramePr>
          <p:cNvPr id="476" name="Google Shape;476;p31"/>
          <p:cNvGraphicFramePr/>
          <p:nvPr/>
        </p:nvGraphicFramePr>
        <p:xfrm>
          <a:off x="632712" y="3124302"/>
          <a:ext cx="3000000" cy="3000000"/>
        </p:xfrm>
        <a:graphic>
          <a:graphicData uri="http://schemas.openxmlformats.org/drawingml/2006/table">
            <a:tbl>
              <a:tblPr bandRow="1" firstRow="1">
                <a:noFill/>
                <a:tableStyleId>{4B9838A6-867F-4220-8999-C6B651F9615E}</a:tableStyleId>
              </a:tblPr>
              <a:tblGrid>
                <a:gridCol w="1052450"/>
                <a:gridCol w="6242750"/>
              </a:tblGrid>
              <a:tr h="219975">
                <a:tc gridSpan="2">
                  <a:txBody>
                    <a:bodyPr/>
                    <a:lstStyle/>
                    <a:p>
                      <a:pPr indent="0" lvl="0" marL="0" marR="0" rtl="0" algn="l">
                        <a:spcBef>
                          <a:spcPts val="0"/>
                        </a:spcBef>
                        <a:spcAft>
                          <a:spcPts val="0"/>
                        </a:spcAft>
                        <a:buNone/>
                      </a:pPr>
                      <a:r>
                        <a:rPr lang="en-US" sz="1100"/>
                        <a:t>Disadvantages</a:t>
                      </a:r>
                      <a:endParaRPr/>
                    </a:p>
                  </a:txBody>
                  <a:tcPr marT="45725" marB="45725" marR="91450" marL="91450"/>
                </a:tc>
                <a:tc hMerge="1"/>
              </a:tr>
              <a:tr h="362300">
                <a:tc>
                  <a:txBody>
                    <a:bodyPr/>
                    <a:lstStyle/>
                    <a:p>
                      <a:pPr indent="0" lvl="0" marL="0" marR="0" rtl="0" algn="l">
                        <a:spcBef>
                          <a:spcPts val="0"/>
                        </a:spcBef>
                        <a:spcAft>
                          <a:spcPts val="0"/>
                        </a:spcAft>
                        <a:buNone/>
                      </a:pPr>
                      <a:r>
                        <a:rPr b="1" lang="en-US" sz="1100"/>
                        <a:t>Cost</a:t>
                      </a:r>
                      <a:endParaRPr i="1" sz="1100">
                        <a:solidFill>
                          <a:srgbClr val="000000"/>
                        </a:solidFill>
                      </a:endParaRPr>
                    </a:p>
                  </a:txBody>
                  <a:tcPr marT="45725" marB="45725" marR="91450" marL="91450"/>
                </a:tc>
                <a:tc>
                  <a:txBody>
                    <a:bodyPr/>
                    <a:lstStyle/>
                    <a:p>
                      <a:pPr indent="0" lvl="0" marL="0" marR="0" rtl="0" algn="l">
                        <a:spcBef>
                          <a:spcPts val="0"/>
                        </a:spcBef>
                        <a:spcAft>
                          <a:spcPts val="0"/>
                        </a:spcAft>
                        <a:buClr>
                          <a:schemeClr val="dk1"/>
                        </a:buClr>
                        <a:buSzPts val="1100"/>
                        <a:buFont typeface="Arial"/>
                        <a:buNone/>
                      </a:pPr>
                      <a:r>
                        <a:rPr lang="en-US" sz="1100"/>
                        <a:t>Point-to-point links are generally the most expensive type of WAN access. The cost of leased line solutions can become significant when they are used to connect many sites over increasing distances.</a:t>
                      </a:r>
                      <a:endParaRPr sz="1100">
                        <a:solidFill>
                          <a:srgbClr val="000000"/>
                        </a:solidFill>
                      </a:endParaRPr>
                    </a:p>
                  </a:txBody>
                  <a:tcPr marT="45725" marB="45725" marR="91450" marL="91450"/>
                </a:tc>
              </a:tr>
              <a:tr h="431700">
                <a:tc>
                  <a:txBody>
                    <a:bodyPr/>
                    <a:lstStyle/>
                    <a:p>
                      <a:pPr indent="0" lvl="0" marL="0" marR="0" rtl="0" algn="l">
                        <a:spcBef>
                          <a:spcPts val="0"/>
                        </a:spcBef>
                        <a:spcAft>
                          <a:spcPts val="0"/>
                        </a:spcAft>
                        <a:buNone/>
                      </a:pPr>
                      <a:r>
                        <a:rPr b="1" lang="en-US" sz="1100"/>
                        <a:t>Limited flexibility</a:t>
                      </a:r>
                      <a:endParaRPr b="1" sz="1100">
                        <a:solidFill>
                          <a:srgbClr val="000000"/>
                        </a:solidFill>
                      </a:endParaRPr>
                    </a:p>
                  </a:txBody>
                  <a:tcPr marT="45725" marB="45725" marR="91450" marL="91450"/>
                </a:tc>
                <a:tc>
                  <a:txBody>
                    <a:bodyPr/>
                    <a:lstStyle/>
                    <a:p>
                      <a:pPr indent="0" lvl="0" marL="0" marR="0" rtl="0" algn="l">
                        <a:spcBef>
                          <a:spcPts val="0"/>
                        </a:spcBef>
                        <a:spcAft>
                          <a:spcPts val="0"/>
                        </a:spcAft>
                        <a:buClr>
                          <a:schemeClr val="dk1"/>
                        </a:buClr>
                        <a:buSzPts val="1100"/>
                        <a:buFont typeface="Arial"/>
                        <a:buNone/>
                      </a:pPr>
                      <a:r>
                        <a:rPr lang="en-US" sz="1100"/>
                        <a:t>WAN traffic is often variable, and leased lines have a fixed capacity, so that the bandwidth of the line seldom matches the need exactly.</a:t>
                      </a:r>
                      <a:endParaRPr sz="1100">
                        <a:solidFill>
                          <a:srgbClr val="000000"/>
                        </a:solidFill>
                      </a:endParaRPr>
                    </a:p>
                  </a:txBody>
                  <a:tcPr marT="45725" marB="45725" marR="91450" marL="91450"/>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3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Traditional WAN Connectivity</a:t>
            </a:r>
            <a:br>
              <a:rPr lang="en-US"/>
            </a:br>
            <a:r>
              <a:rPr lang="en-US" sz="2400"/>
              <a:t>Circuit-Switch Options</a:t>
            </a:r>
            <a:endParaRPr/>
          </a:p>
        </p:txBody>
      </p:sp>
      <p:sp>
        <p:nvSpPr>
          <p:cNvPr id="483" name="Google Shape;483;p32"/>
          <p:cNvSpPr txBox="1"/>
          <p:nvPr>
            <p:ph idx="1" type="body"/>
          </p:nvPr>
        </p:nvSpPr>
        <p:spPr>
          <a:xfrm>
            <a:off x="431969" y="855419"/>
            <a:ext cx="8008645" cy="368643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Circuit-switched connections are provided by Public Service Telephone Network (PSTN) carriers. The local loop connecting the CPE to the CO is copper media. </a:t>
            </a:r>
            <a:endParaRPr/>
          </a:p>
          <a:p>
            <a:pPr indent="0" lvl="0" marL="0" rtl="0" algn="l">
              <a:lnSpc>
                <a:spcPct val="100000"/>
              </a:lnSpc>
              <a:spcBef>
                <a:spcPts val="320"/>
              </a:spcBef>
              <a:spcAft>
                <a:spcPts val="0"/>
              </a:spcAft>
              <a:buSzPts val="1600"/>
              <a:buNone/>
            </a:pPr>
            <a:r>
              <a:rPr lang="en-US" sz="1600">
                <a:solidFill>
                  <a:srgbClr val="000000"/>
                </a:solidFill>
              </a:rPr>
              <a:t>There are two traditional circuit-switched options:</a:t>
            </a:r>
            <a:endParaRPr/>
          </a:p>
          <a:p>
            <a:pPr indent="0" lvl="0" marL="0" rtl="0" algn="l">
              <a:lnSpc>
                <a:spcPct val="100000"/>
              </a:lnSpc>
              <a:spcBef>
                <a:spcPts val="320"/>
              </a:spcBef>
              <a:spcAft>
                <a:spcPts val="0"/>
              </a:spcAft>
              <a:buSzPts val="1600"/>
              <a:buNone/>
            </a:pPr>
            <a:r>
              <a:rPr b="1" lang="en-US" sz="1600">
                <a:solidFill>
                  <a:srgbClr val="000000"/>
                </a:solidFill>
              </a:rPr>
              <a:t>Public Service Telephone Network (PSTN)</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Dialup WAN access uses the PSTN as its WAN connection. Traditional local loops can transport binary computer data through the voice telephone network using a voiceband modem.</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The physical characteristics of the local loop and its connection to the PSTN limit the rate of the signal to less than 56 kbps.</a:t>
            </a:r>
            <a:endParaRPr b="1" sz="1400">
              <a:solidFill>
                <a:srgbClr val="000000"/>
              </a:solidFill>
            </a:endParaRPr>
          </a:p>
          <a:p>
            <a:pPr indent="0" lvl="0" marL="0" rtl="0" algn="l">
              <a:lnSpc>
                <a:spcPct val="100000"/>
              </a:lnSpc>
              <a:spcBef>
                <a:spcPts val="320"/>
              </a:spcBef>
              <a:spcAft>
                <a:spcPts val="0"/>
              </a:spcAft>
              <a:buSzPts val="1600"/>
              <a:buNone/>
            </a:pPr>
            <a:r>
              <a:rPr b="1" lang="en-US" sz="1600">
                <a:solidFill>
                  <a:srgbClr val="000000"/>
                </a:solidFill>
              </a:rPr>
              <a:t>Integrated Services Digital Network (ISDN)</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ISDN is a circuit-switching technology that enables the PSTN local loop to carry digital signals. This provided higher capacity switched connections than dialup access. ISDN provides for data rates from 45 Kbps to 2.048 Mbps.</a:t>
            </a:r>
            <a:endParaRPr/>
          </a:p>
          <a:p>
            <a:pPr indent="0" lvl="1" marL="73085" rtl="0" algn="l">
              <a:lnSpc>
                <a:spcPct val="95000"/>
              </a:lnSpc>
              <a:spcBef>
                <a:spcPts val="600"/>
              </a:spcBef>
              <a:spcAft>
                <a:spcPts val="0"/>
              </a:spcAft>
              <a:buSzPts val="1200"/>
              <a:buNone/>
            </a:pPr>
            <a:r>
              <a:t/>
            </a:r>
            <a:endParaRPr sz="1200">
              <a:solidFill>
                <a:srgbClr val="000000"/>
              </a:solidFill>
            </a:endParaRPr>
          </a:p>
          <a:p>
            <a:pPr indent="0" lvl="0" marL="0" rtl="0" algn="l">
              <a:lnSpc>
                <a:spcPct val="100000"/>
              </a:lnSpc>
              <a:spcBef>
                <a:spcPts val="240"/>
              </a:spcBef>
              <a:spcAft>
                <a:spcPts val="0"/>
              </a:spcAft>
              <a:buSzPts val="1200"/>
              <a:buNone/>
            </a:pPr>
            <a:r>
              <a:t/>
            </a:r>
            <a:endParaRPr sz="12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8" name="Shape 488"/>
        <p:cNvGrpSpPr/>
        <p:nvPr/>
      </p:nvGrpSpPr>
      <p:grpSpPr>
        <a:xfrm>
          <a:off x="0" y="0"/>
          <a:ext cx="0" cy="0"/>
          <a:chOff x="0" y="0"/>
          <a:chExt cx="0" cy="0"/>
        </a:xfrm>
      </p:grpSpPr>
      <p:sp>
        <p:nvSpPr>
          <p:cNvPr id="489" name="Google Shape;489;p3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Traditional WAN Connectivity</a:t>
            </a:r>
            <a:br>
              <a:rPr lang="en-US"/>
            </a:br>
            <a:r>
              <a:rPr lang="en-US" sz="2400"/>
              <a:t>Packet-Switch Options</a:t>
            </a:r>
            <a:endParaRPr/>
          </a:p>
        </p:txBody>
      </p:sp>
      <p:sp>
        <p:nvSpPr>
          <p:cNvPr id="490" name="Google Shape;490;p33"/>
          <p:cNvSpPr txBox="1"/>
          <p:nvPr>
            <p:ph idx="1" type="body"/>
          </p:nvPr>
        </p:nvSpPr>
        <p:spPr>
          <a:xfrm>
            <a:off x="177633" y="731837"/>
            <a:ext cx="8721270" cy="3556244"/>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Packet switching segments data into packets that are routed over a shared network. It allows many pairs of nodes to communicate over the same channel.</a:t>
            </a:r>
            <a:endParaRPr/>
          </a:p>
          <a:p>
            <a:pPr indent="0" lvl="0" marL="0" rtl="0" algn="l">
              <a:lnSpc>
                <a:spcPct val="100000"/>
              </a:lnSpc>
              <a:spcBef>
                <a:spcPts val="320"/>
              </a:spcBef>
              <a:spcAft>
                <a:spcPts val="0"/>
              </a:spcAft>
              <a:buSzPts val="1600"/>
              <a:buNone/>
            </a:pPr>
            <a:r>
              <a:rPr lang="en-US" sz="1600">
                <a:solidFill>
                  <a:srgbClr val="000000"/>
                </a:solidFill>
              </a:rPr>
              <a:t>There are two traditional (legacy) circuit-switched options:</a:t>
            </a:r>
            <a:endParaRPr/>
          </a:p>
          <a:p>
            <a:pPr indent="0" lvl="0" marL="0" rtl="0" algn="l">
              <a:lnSpc>
                <a:spcPct val="100000"/>
              </a:lnSpc>
              <a:spcBef>
                <a:spcPts val="320"/>
              </a:spcBef>
              <a:spcAft>
                <a:spcPts val="0"/>
              </a:spcAft>
              <a:buSzPts val="1600"/>
              <a:buNone/>
            </a:pPr>
            <a:r>
              <a:rPr b="1" lang="en-US" sz="1600">
                <a:solidFill>
                  <a:srgbClr val="000000"/>
                </a:solidFill>
              </a:rPr>
              <a:t>Frame Relay</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Frame Relay is a simple Layer 2 non-broadcast multi-access (NBMA) WAN technology that is used to interconnect enterprise LANs.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Frame Relay creates PVCs which are uniquely identified by a data-link connection identifier (DLCI).</a:t>
            </a:r>
            <a:endParaRPr/>
          </a:p>
          <a:p>
            <a:pPr indent="0" lvl="0" marL="0" rtl="0" algn="l">
              <a:lnSpc>
                <a:spcPct val="100000"/>
              </a:lnSpc>
              <a:spcBef>
                <a:spcPts val="320"/>
              </a:spcBef>
              <a:spcAft>
                <a:spcPts val="0"/>
              </a:spcAft>
              <a:buSzPts val="1600"/>
              <a:buNone/>
            </a:pPr>
            <a:r>
              <a:rPr b="1" lang="en-US" sz="1600">
                <a:solidFill>
                  <a:srgbClr val="000000"/>
                </a:solidFill>
              </a:rPr>
              <a:t>Asynchronous Transfer Mode (ATM)</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Asynchronous Transfer Mode (ATM) technology is capable of transferring voice, video, and data through private and public networks.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ATM is built on a cell-based architecture rather than on a frame-based architecture. ATM cells are always a fixed length of 53 bytes.</a:t>
            </a:r>
            <a:endParaRPr/>
          </a:p>
          <a:p>
            <a:pPr indent="0" lvl="0" marL="0" rtl="0" algn="l">
              <a:lnSpc>
                <a:spcPct val="100000"/>
              </a:lnSpc>
              <a:spcBef>
                <a:spcPts val="240"/>
              </a:spcBef>
              <a:spcAft>
                <a:spcPts val="0"/>
              </a:spcAft>
              <a:buSzPts val="1200"/>
              <a:buNone/>
            </a:pPr>
            <a:r>
              <a:t/>
            </a:r>
            <a:endParaRPr sz="1200">
              <a:solidFill>
                <a:srgbClr val="000000"/>
              </a:solidFill>
            </a:endParaRPr>
          </a:p>
        </p:txBody>
      </p:sp>
      <p:sp>
        <p:nvSpPr>
          <p:cNvPr id="491" name="Google Shape;491;p33"/>
          <p:cNvSpPr/>
          <p:nvPr/>
        </p:nvSpPr>
        <p:spPr>
          <a:xfrm>
            <a:off x="431969" y="4288081"/>
            <a:ext cx="8534399" cy="27699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200">
                <a:solidFill>
                  <a:srgbClr val="000000"/>
                </a:solidFill>
                <a:latin typeface="Arial"/>
                <a:ea typeface="Arial"/>
                <a:cs typeface="Arial"/>
                <a:sym typeface="Arial"/>
              </a:rPr>
              <a:t>Note</a:t>
            </a:r>
            <a:r>
              <a:rPr lang="en-US" sz="1200">
                <a:solidFill>
                  <a:srgbClr val="000000"/>
                </a:solidFill>
                <a:latin typeface="Arial"/>
                <a:ea typeface="Arial"/>
                <a:cs typeface="Arial"/>
                <a:sym typeface="Arial"/>
              </a:rPr>
              <a:t>: Frame relay and ATM networks have been largely replaced by faster Metro Ethernet and internet-based solutions.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6" name="Shape 496"/>
        <p:cNvGrpSpPr/>
        <p:nvPr/>
      </p:nvGrpSpPr>
      <p:grpSpPr>
        <a:xfrm>
          <a:off x="0" y="0"/>
          <a:ext cx="0" cy="0"/>
          <a:chOff x="0" y="0"/>
          <a:chExt cx="0" cy="0"/>
        </a:xfrm>
      </p:grpSpPr>
      <p:sp>
        <p:nvSpPr>
          <p:cNvPr id="497" name="Google Shape;497;p34"/>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7.4 Modern WAN Connectivity</a:t>
            </a:r>
            <a:endParaRPr/>
          </a:p>
        </p:txBody>
      </p:sp>
    </p:spTree>
  </p:cSld>
  <p:clrMapOvr>
    <a:masterClrMapping/>
  </p:clrMapOvr>
  <p:transition spd="slow">
    <p:wipe dir="l"/>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p3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Modern WAN Connectivity</a:t>
            </a:r>
            <a:br>
              <a:rPr lang="en-US"/>
            </a:br>
            <a:r>
              <a:rPr lang="en-US" sz="2400"/>
              <a:t>Modern WANs</a:t>
            </a:r>
            <a:endParaRPr/>
          </a:p>
        </p:txBody>
      </p:sp>
      <p:sp>
        <p:nvSpPr>
          <p:cNvPr id="504" name="Google Shape;504;p35"/>
          <p:cNvSpPr txBox="1"/>
          <p:nvPr>
            <p:ph idx="1" type="body"/>
          </p:nvPr>
        </p:nvSpPr>
        <p:spPr>
          <a:xfrm>
            <a:off x="431970" y="855419"/>
            <a:ext cx="4140030" cy="368643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Modern WANS have more connectivity options than traditional WANs. </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Enterprises now require faster and more flexible WAN connectivity options.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Traditional WAN connectivity options have rapidly declined in use because they are either no longer available, too expensive, or have limited bandwidth.</a:t>
            </a:r>
            <a:endParaRPr sz="1200">
              <a:solidFill>
                <a:srgbClr val="000000"/>
              </a:solidFill>
            </a:endParaRPr>
          </a:p>
        </p:txBody>
      </p:sp>
      <p:pic>
        <p:nvPicPr>
          <p:cNvPr id="505" name="Google Shape;505;p35"/>
          <p:cNvPicPr preferRelativeResize="0"/>
          <p:nvPr/>
        </p:nvPicPr>
        <p:blipFill rotWithShape="1">
          <a:blip r:embed="rId3">
            <a:alphaModFix/>
          </a:blip>
          <a:srcRect b="0" l="0" r="0" t="0"/>
          <a:stretch/>
        </p:blipFill>
        <p:spPr>
          <a:xfrm>
            <a:off x="4572000" y="1612132"/>
            <a:ext cx="4302463" cy="1919236"/>
          </a:xfrm>
          <a:prstGeom prst="rect">
            <a:avLst/>
          </a:prstGeom>
          <a:noFill/>
          <a:ln>
            <a:noFill/>
          </a:ln>
        </p:spPr>
      </p:pic>
      <p:sp>
        <p:nvSpPr>
          <p:cNvPr id="506" name="Google Shape;506;p35"/>
          <p:cNvSpPr/>
          <p:nvPr/>
        </p:nvSpPr>
        <p:spPr>
          <a:xfrm>
            <a:off x="4572000" y="3654950"/>
            <a:ext cx="4302463"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000000"/>
                </a:solidFill>
                <a:latin typeface="Arial"/>
                <a:ea typeface="Arial"/>
                <a:cs typeface="Arial"/>
                <a:sym typeface="Arial"/>
              </a:rPr>
              <a:t>The figure displays the local loop connections most likely encountered today.</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sp>
        <p:nvSpPr>
          <p:cNvPr id="512" name="Google Shape;512;p3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Modern WAN Connectivity</a:t>
            </a:r>
            <a:br>
              <a:rPr lang="en-US"/>
            </a:br>
            <a:r>
              <a:rPr lang="en-US" sz="2400"/>
              <a:t>Modern WAN Connectivity Options</a:t>
            </a:r>
            <a:endParaRPr/>
          </a:p>
        </p:txBody>
      </p:sp>
      <p:sp>
        <p:nvSpPr>
          <p:cNvPr id="513" name="Google Shape;513;p36"/>
          <p:cNvSpPr txBox="1"/>
          <p:nvPr>
            <p:ph idx="1" type="body"/>
          </p:nvPr>
        </p:nvSpPr>
        <p:spPr>
          <a:xfrm>
            <a:off x="84841" y="665203"/>
            <a:ext cx="4487159" cy="3810018"/>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50"/>
              <a:buNone/>
            </a:pPr>
            <a:r>
              <a:rPr lang="en-US" sz="1450">
                <a:solidFill>
                  <a:srgbClr val="000000"/>
                </a:solidFill>
              </a:rPr>
              <a:t>New technologies are continually emerging. The figure summarizes the modern WAN connectivity options.</a:t>
            </a:r>
            <a:endParaRPr/>
          </a:p>
          <a:p>
            <a:pPr indent="0" lvl="0" marL="0" rtl="0" algn="l">
              <a:lnSpc>
                <a:spcPct val="100000"/>
              </a:lnSpc>
              <a:spcBef>
                <a:spcPts val="280"/>
              </a:spcBef>
              <a:spcAft>
                <a:spcPts val="0"/>
              </a:spcAft>
              <a:buSzPts val="1400"/>
              <a:buNone/>
            </a:pPr>
            <a:r>
              <a:rPr b="1" lang="en-US" sz="1400">
                <a:solidFill>
                  <a:srgbClr val="000000"/>
                </a:solidFill>
              </a:rPr>
              <a:t>Dedicated broadband</a:t>
            </a:r>
            <a:endParaRPr/>
          </a:p>
          <a:p>
            <a:pPr indent="-171450" lvl="0" marL="171450" rtl="0" algn="l">
              <a:lnSpc>
                <a:spcPct val="100000"/>
              </a:lnSpc>
              <a:spcBef>
                <a:spcPts val="280"/>
              </a:spcBef>
              <a:spcAft>
                <a:spcPts val="0"/>
              </a:spcAft>
              <a:buSzPts val="1400"/>
              <a:buFont typeface="Arial"/>
              <a:buChar char="•"/>
            </a:pPr>
            <a:r>
              <a:rPr lang="en-US" sz="1400">
                <a:solidFill>
                  <a:srgbClr val="000000"/>
                </a:solidFill>
              </a:rPr>
              <a:t>Fiber can be installed independently by an organization to connect remote locations directly together. </a:t>
            </a:r>
            <a:endParaRPr/>
          </a:p>
          <a:p>
            <a:pPr indent="-171450" lvl="0" marL="171450" rtl="0" algn="l">
              <a:lnSpc>
                <a:spcPct val="100000"/>
              </a:lnSpc>
              <a:spcBef>
                <a:spcPts val="280"/>
              </a:spcBef>
              <a:spcAft>
                <a:spcPts val="0"/>
              </a:spcAft>
              <a:buSzPts val="1400"/>
              <a:buFont typeface="Arial"/>
              <a:buChar char="•"/>
            </a:pPr>
            <a:r>
              <a:rPr lang="en-US" sz="1400">
                <a:solidFill>
                  <a:srgbClr val="000000"/>
                </a:solidFill>
              </a:rPr>
              <a:t>Dark fiber can be leased or purchased from a supplier. </a:t>
            </a:r>
            <a:endParaRPr/>
          </a:p>
          <a:p>
            <a:pPr indent="0" lvl="0" marL="0" rtl="0" algn="l">
              <a:lnSpc>
                <a:spcPct val="100000"/>
              </a:lnSpc>
              <a:spcBef>
                <a:spcPts val="280"/>
              </a:spcBef>
              <a:spcAft>
                <a:spcPts val="0"/>
              </a:spcAft>
              <a:buSzPts val="1400"/>
              <a:buNone/>
            </a:pPr>
            <a:r>
              <a:rPr b="1" lang="en-US" sz="1400">
                <a:solidFill>
                  <a:srgbClr val="000000"/>
                </a:solidFill>
              </a:rPr>
              <a:t>Packet-switched</a:t>
            </a:r>
            <a:endParaRPr/>
          </a:p>
          <a:p>
            <a:pPr indent="-171450" lvl="0" marL="171450" rtl="0" algn="l">
              <a:lnSpc>
                <a:spcPct val="100000"/>
              </a:lnSpc>
              <a:spcBef>
                <a:spcPts val="280"/>
              </a:spcBef>
              <a:spcAft>
                <a:spcPts val="0"/>
              </a:spcAft>
              <a:buSzPts val="1400"/>
              <a:buFont typeface="Arial"/>
              <a:buChar char="•"/>
            </a:pPr>
            <a:r>
              <a:rPr lang="en-US" sz="1400">
                <a:solidFill>
                  <a:srgbClr val="000000"/>
                </a:solidFill>
              </a:rPr>
              <a:t>Metro Ethernet – Replacing many traditional WAN options. </a:t>
            </a:r>
            <a:endParaRPr/>
          </a:p>
          <a:p>
            <a:pPr indent="-171450" lvl="0" marL="171450" rtl="0" algn="l">
              <a:lnSpc>
                <a:spcPct val="100000"/>
              </a:lnSpc>
              <a:spcBef>
                <a:spcPts val="280"/>
              </a:spcBef>
              <a:spcAft>
                <a:spcPts val="0"/>
              </a:spcAft>
              <a:buSzPts val="1400"/>
              <a:buFont typeface="Arial"/>
              <a:buChar char="•"/>
            </a:pPr>
            <a:r>
              <a:rPr lang="en-US" sz="1400">
                <a:solidFill>
                  <a:srgbClr val="000000"/>
                </a:solidFill>
              </a:rPr>
              <a:t>MPLS – Enables sites to connect to the provider regardless of its access technologies.</a:t>
            </a:r>
            <a:endParaRPr/>
          </a:p>
          <a:p>
            <a:pPr indent="0" lvl="0" marL="0" rtl="0" algn="l">
              <a:lnSpc>
                <a:spcPct val="100000"/>
              </a:lnSpc>
              <a:spcBef>
                <a:spcPts val="280"/>
              </a:spcBef>
              <a:spcAft>
                <a:spcPts val="0"/>
              </a:spcAft>
              <a:buSzPts val="1400"/>
              <a:buNone/>
            </a:pPr>
            <a:r>
              <a:rPr b="1" lang="en-US" sz="1400">
                <a:solidFill>
                  <a:srgbClr val="000000"/>
                </a:solidFill>
              </a:rPr>
              <a:t>Internet-based broadband</a:t>
            </a:r>
            <a:endParaRPr/>
          </a:p>
          <a:p>
            <a:pPr indent="-171450" lvl="0" marL="171450" rtl="0" algn="l">
              <a:lnSpc>
                <a:spcPct val="100000"/>
              </a:lnSpc>
              <a:spcBef>
                <a:spcPts val="280"/>
              </a:spcBef>
              <a:spcAft>
                <a:spcPts val="0"/>
              </a:spcAft>
              <a:buSzPts val="1400"/>
              <a:buFont typeface="Arial"/>
              <a:buChar char="•"/>
            </a:pPr>
            <a:r>
              <a:rPr lang="en-US" sz="1400">
                <a:solidFill>
                  <a:srgbClr val="000000"/>
                </a:solidFill>
              </a:rPr>
              <a:t>Organizations are now commonly using the global internet infrastructure for WAN connectivity.</a:t>
            </a:r>
            <a:endParaRPr/>
          </a:p>
          <a:p>
            <a:pPr indent="0" lvl="0" marL="0" rtl="0" algn="l">
              <a:lnSpc>
                <a:spcPct val="100000"/>
              </a:lnSpc>
              <a:spcBef>
                <a:spcPts val="240"/>
              </a:spcBef>
              <a:spcAft>
                <a:spcPts val="0"/>
              </a:spcAft>
              <a:buSzPts val="1200"/>
              <a:buNone/>
            </a:pPr>
            <a:r>
              <a:t/>
            </a:r>
            <a:endParaRPr sz="1200">
              <a:solidFill>
                <a:srgbClr val="000000"/>
              </a:solidFill>
            </a:endParaRPr>
          </a:p>
        </p:txBody>
      </p:sp>
      <p:pic>
        <p:nvPicPr>
          <p:cNvPr id="514" name="Google Shape;514;p36"/>
          <p:cNvPicPr preferRelativeResize="0"/>
          <p:nvPr/>
        </p:nvPicPr>
        <p:blipFill rotWithShape="1">
          <a:blip r:embed="rId3">
            <a:alphaModFix/>
          </a:blip>
          <a:srcRect b="0" l="0" r="0" t="0"/>
          <a:stretch/>
        </p:blipFill>
        <p:spPr>
          <a:xfrm>
            <a:off x="4688070" y="1223864"/>
            <a:ext cx="4161439" cy="269269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3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Modern WAN Connectivity</a:t>
            </a:r>
            <a:br>
              <a:rPr lang="en-US"/>
            </a:br>
            <a:r>
              <a:rPr lang="en-US" sz="2400"/>
              <a:t>Ethernet WAN</a:t>
            </a:r>
            <a:endParaRPr/>
          </a:p>
        </p:txBody>
      </p:sp>
      <p:sp>
        <p:nvSpPr>
          <p:cNvPr id="521" name="Google Shape;521;p37"/>
          <p:cNvSpPr txBox="1"/>
          <p:nvPr>
            <p:ph idx="1" type="body"/>
          </p:nvPr>
        </p:nvSpPr>
        <p:spPr>
          <a:xfrm>
            <a:off x="169683" y="731837"/>
            <a:ext cx="4719039" cy="3377992"/>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Service providers now offer Ethernet WAN service using fiber-optic cabling. </a:t>
            </a:r>
            <a:endParaRPr/>
          </a:p>
          <a:p>
            <a:pPr indent="0" lvl="0" marL="0" rtl="0" algn="l">
              <a:lnSpc>
                <a:spcPct val="100000"/>
              </a:lnSpc>
              <a:spcBef>
                <a:spcPts val="320"/>
              </a:spcBef>
              <a:spcAft>
                <a:spcPts val="0"/>
              </a:spcAft>
              <a:buSzPts val="1600"/>
              <a:buNone/>
            </a:pPr>
            <a:r>
              <a:rPr lang="en-US" sz="1600">
                <a:solidFill>
                  <a:srgbClr val="000000"/>
                </a:solidFill>
              </a:rPr>
              <a:t>The Ethernet WAN service can go by many names, including the following:</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Metropolitan Ethernet (Metro E)</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Ethernet over MPLS (EoMPLS)</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Virtual Private LAN Service (VPLS)</a:t>
            </a:r>
            <a:endParaRPr/>
          </a:p>
          <a:p>
            <a:pPr indent="0" lvl="0" marL="0" rtl="0" algn="l">
              <a:lnSpc>
                <a:spcPct val="100000"/>
              </a:lnSpc>
              <a:spcBef>
                <a:spcPts val="320"/>
              </a:spcBef>
              <a:spcAft>
                <a:spcPts val="0"/>
              </a:spcAft>
              <a:buSzPts val="1600"/>
              <a:buNone/>
            </a:pPr>
            <a:r>
              <a:rPr lang="en-US" sz="1600">
                <a:solidFill>
                  <a:srgbClr val="000000"/>
                </a:solidFill>
              </a:rPr>
              <a:t>There are several benefits to an Ethernet WAN:</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Reduced expenses and administration</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Easy integration with existing networks</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Enhanced business productivity</a:t>
            </a:r>
            <a:endParaRPr/>
          </a:p>
          <a:p>
            <a:pPr indent="0" lvl="0" marL="0" rtl="0" algn="l">
              <a:lnSpc>
                <a:spcPct val="100000"/>
              </a:lnSpc>
              <a:spcBef>
                <a:spcPts val="320"/>
              </a:spcBef>
              <a:spcAft>
                <a:spcPts val="0"/>
              </a:spcAft>
              <a:buSzPts val="1600"/>
              <a:buNone/>
            </a:pPr>
            <a:r>
              <a:t/>
            </a:r>
            <a:endParaRPr sz="1600">
              <a:solidFill>
                <a:srgbClr val="000000"/>
              </a:solidFill>
            </a:endParaRPr>
          </a:p>
        </p:txBody>
      </p:sp>
      <p:sp>
        <p:nvSpPr>
          <p:cNvPr id="522" name="Google Shape;522;p37"/>
          <p:cNvSpPr/>
          <p:nvPr/>
        </p:nvSpPr>
        <p:spPr>
          <a:xfrm>
            <a:off x="552161" y="4198955"/>
            <a:ext cx="8039677"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00000"/>
                </a:solidFill>
                <a:latin typeface="Arial"/>
                <a:ea typeface="Arial"/>
                <a:cs typeface="Arial"/>
                <a:sym typeface="Arial"/>
              </a:rPr>
              <a:t>Note</a:t>
            </a:r>
            <a:r>
              <a:rPr lang="en-US" sz="1400">
                <a:solidFill>
                  <a:srgbClr val="000000"/>
                </a:solidFill>
                <a:latin typeface="Arial"/>
                <a:ea typeface="Arial"/>
                <a:cs typeface="Arial"/>
                <a:sym typeface="Arial"/>
              </a:rPr>
              <a:t>: Ethernet WANs have gained in popularity and are now commonly being used to replace the traditional serial point-to-point, Frame Relay and ATM WAN links.</a:t>
            </a:r>
            <a:endParaRPr/>
          </a:p>
        </p:txBody>
      </p:sp>
      <p:pic>
        <p:nvPicPr>
          <p:cNvPr id="523" name="Google Shape;523;p37"/>
          <p:cNvPicPr preferRelativeResize="0"/>
          <p:nvPr/>
        </p:nvPicPr>
        <p:blipFill rotWithShape="1">
          <a:blip r:embed="rId3">
            <a:alphaModFix/>
          </a:blip>
          <a:srcRect b="0" l="0" r="0" t="0"/>
          <a:stretch/>
        </p:blipFill>
        <p:spPr>
          <a:xfrm>
            <a:off x="5086354" y="944545"/>
            <a:ext cx="3966944" cy="325441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3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Modern WAN Connectivity</a:t>
            </a:r>
            <a:br>
              <a:rPr lang="en-US"/>
            </a:br>
            <a:r>
              <a:rPr lang="en-US" sz="2400"/>
              <a:t>MPLS</a:t>
            </a:r>
            <a:endParaRPr/>
          </a:p>
        </p:txBody>
      </p:sp>
      <p:sp>
        <p:nvSpPr>
          <p:cNvPr id="530" name="Google Shape;530;p38"/>
          <p:cNvSpPr txBox="1"/>
          <p:nvPr>
            <p:ph idx="1" type="body"/>
          </p:nvPr>
        </p:nvSpPr>
        <p:spPr>
          <a:xfrm>
            <a:off x="431970" y="855419"/>
            <a:ext cx="7913518" cy="223376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rPr b="1" lang="en-US" sz="1400">
                <a:solidFill>
                  <a:srgbClr val="000000"/>
                </a:solidFill>
              </a:rPr>
              <a:t>Multiprotocol Label Switching (MPLS) </a:t>
            </a:r>
            <a:r>
              <a:rPr lang="en-US" sz="1400">
                <a:solidFill>
                  <a:srgbClr val="000000"/>
                </a:solidFill>
              </a:rPr>
              <a:t>is a high-performance service provider WAN routing technology to interconnect clients without regard to access method or payload. </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MPLS supports a variety of client access methods (e.g., Ethernet, DSL, Cable, Frame Relay).</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MPLS can encapsulate all types of protocols including IPv4 and IPv6 traffic.</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An MPLS router can be a customer edge (CE) router, a provider edge (PE) router, or an internal provider (P) router.</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MPLS routers are label switched routers (LSRs). They attach labels to packets that are then used by other MPLS routers to forward traffic.</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MPLS also provides services for QoS support, traffic engineering, redundancy, and VPNs.</a:t>
            </a:r>
            <a:endParaRPr/>
          </a:p>
        </p:txBody>
      </p:sp>
      <p:pic>
        <p:nvPicPr>
          <p:cNvPr id="531" name="Google Shape;531;p38"/>
          <p:cNvPicPr preferRelativeResize="0"/>
          <p:nvPr/>
        </p:nvPicPr>
        <p:blipFill rotWithShape="1">
          <a:blip r:embed="rId3">
            <a:alphaModFix/>
          </a:blip>
          <a:srcRect b="0" l="0" r="0" t="0"/>
          <a:stretch/>
        </p:blipFill>
        <p:spPr>
          <a:xfrm>
            <a:off x="1812408" y="3089179"/>
            <a:ext cx="4720672" cy="184419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p39"/>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7.5 Internet-Based Connectivity</a:t>
            </a:r>
            <a:endParaRPr/>
          </a:p>
        </p:txBody>
      </p:sp>
    </p:spTree>
  </p:cSld>
  <p:clrMapOvr>
    <a:masterClrMapping/>
  </p:clrMapOvr>
  <p:transition spd="slow">
    <p:wipe dir="l"/>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4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Internet-Based Connectivity</a:t>
            </a:r>
            <a:br>
              <a:rPr lang="en-US"/>
            </a:br>
            <a:r>
              <a:rPr lang="en-US" sz="2400"/>
              <a:t>Internet-Based Connectivity Options</a:t>
            </a:r>
            <a:endParaRPr/>
          </a:p>
        </p:txBody>
      </p:sp>
      <p:sp>
        <p:nvSpPr>
          <p:cNvPr id="544" name="Google Shape;544;p40"/>
          <p:cNvSpPr txBox="1"/>
          <p:nvPr>
            <p:ph idx="1" type="body"/>
          </p:nvPr>
        </p:nvSpPr>
        <p:spPr>
          <a:xfrm>
            <a:off x="0" y="637570"/>
            <a:ext cx="5213023" cy="4021032"/>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rPr lang="en-US" sz="1400">
                <a:solidFill>
                  <a:srgbClr val="000000"/>
                </a:solidFill>
              </a:rPr>
              <a:t>Internet-based broadband connectivity is an alternative to using dedicated WAN options.</a:t>
            </a:r>
            <a:endParaRPr/>
          </a:p>
          <a:p>
            <a:pPr indent="0" lvl="0" marL="0" rtl="0" algn="l">
              <a:lnSpc>
                <a:spcPct val="100000"/>
              </a:lnSpc>
              <a:spcBef>
                <a:spcPts val="280"/>
              </a:spcBef>
              <a:spcAft>
                <a:spcPts val="0"/>
              </a:spcAft>
              <a:buSzPts val="1400"/>
              <a:buNone/>
            </a:pPr>
            <a:r>
              <a:rPr lang="en-US" sz="1400">
                <a:solidFill>
                  <a:srgbClr val="000000"/>
                </a:solidFill>
              </a:rPr>
              <a:t>Internet-based connectivity can be divided into wired and wireless options.</a:t>
            </a:r>
            <a:endParaRPr/>
          </a:p>
          <a:p>
            <a:pPr indent="0" lvl="0" marL="0" rtl="0" algn="l">
              <a:lnSpc>
                <a:spcPct val="100000"/>
              </a:lnSpc>
              <a:spcBef>
                <a:spcPts val="280"/>
              </a:spcBef>
              <a:spcAft>
                <a:spcPts val="0"/>
              </a:spcAft>
              <a:buSzPts val="1400"/>
              <a:buNone/>
            </a:pPr>
            <a:r>
              <a:rPr b="1" lang="en-US" sz="1400">
                <a:solidFill>
                  <a:srgbClr val="000000"/>
                </a:solidFill>
              </a:rPr>
              <a:t>Wired Options</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Wired options use permanent cabling (e.g., copper or fiber) to provide consistent bandwidth, and reduce error rates and latency. Examples: DSL, cable connections, and optical fiber networks.</a:t>
            </a:r>
            <a:endParaRPr/>
          </a:p>
          <a:p>
            <a:pPr indent="0" lvl="0" marL="0" rtl="0" algn="l">
              <a:lnSpc>
                <a:spcPct val="100000"/>
              </a:lnSpc>
              <a:spcBef>
                <a:spcPts val="280"/>
              </a:spcBef>
              <a:spcAft>
                <a:spcPts val="0"/>
              </a:spcAft>
              <a:buSzPts val="1400"/>
              <a:buNone/>
            </a:pPr>
            <a:r>
              <a:rPr b="1" lang="en-US" sz="1400">
                <a:solidFill>
                  <a:srgbClr val="000000"/>
                </a:solidFill>
              </a:rPr>
              <a:t>Wireless Options</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Wireless options are less expensive to implement compared to other WAN connectivity options because they use radio waves instead of wired media to transmit data. Examples: cellular 3G/4G/5G or satellite internet services.</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Wireless signals can be negatively affected by factors such as distance from radio towers, interference from other sources and weather.</a:t>
            </a:r>
            <a:endParaRPr/>
          </a:p>
        </p:txBody>
      </p:sp>
      <p:pic>
        <p:nvPicPr>
          <p:cNvPr id="545" name="Google Shape;545;p40"/>
          <p:cNvPicPr preferRelativeResize="0"/>
          <p:nvPr/>
        </p:nvPicPr>
        <p:blipFill rotWithShape="1">
          <a:blip r:embed="rId3">
            <a:alphaModFix/>
          </a:blip>
          <a:srcRect b="0" l="0" r="0" t="0"/>
          <a:stretch/>
        </p:blipFill>
        <p:spPr>
          <a:xfrm>
            <a:off x="5220144" y="1066435"/>
            <a:ext cx="3923856" cy="2792133"/>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0" name="Shape 550"/>
        <p:cNvGrpSpPr/>
        <p:nvPr/>
      </p:nvGrpSpPr>
      <p:grpSpPr>
        <a:xfrm>
          <a:off x="0" y="0"/>
          <a:ext cx="0" cy="0"/>
          <a:chOff x="0" y="0"/>
          <a:chExt cx="0" cy="0"/>
        </a:xfrm>
      </p:grpSpPr>
      <p:sp>
        <p:nvSpPr>
          <p:cNvPr id="551" name="Google Shape;551;p41"/>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Internet-Based Connectivity</a:t>
            </a:r>
            <a:br>
              <a:rPr lang="en-US"/>
            </a:br>
            <a:r>
              <a:rPr lang="en-US" sz="2400"/>
              <a:t>DSL Technology</a:t>
            </a:r>
            <a:endParaRPr/>
          </a:p>
        </p:txBody>
      </p:sp>
      <p:sp>
        <p:nvSpPr>
          <p:cNvPr id="552" name="Google Shape;552;p41"/>
          <p:cNvSpPr txBox="1"/>
          <p:nvPr>
            <p:ph idx="1" type="body"/>
          </p:nvPr>
        </p:nvSpPr>
        <p:spPr>
          <a:xfrm>
            <a:off x="179109" y="731838"/>
            <a:ext cx="4392891" cy="4021032"/>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Digital Subscriber Line (DSL) is a high-speed, always-on, connection technology that uses existing twisted-pair telephone lines to provide IP services to users.</a:t>
            </a:r>
            <a:endParaRPr/>
          </a:p>
          <a:p>
            <a:pPr indent="0" lvl="0" marL="0" rtl="0" algn="l">
              <a:lnSpc>
                <a:spcPct val="100000"/>
              </a:lnSpc>
              <a:spcBef>
                <a:spcPts val="320"/>
              </a:spcBef>
              <a:spcAft>
                <a:spcPts val="0"/>
              </a:spcAft>
              <a:buSzPts val="1600"/>
              <a:buNone/>
            </a:pPr>
            <a:r>
              <a:t/>
            </a:r>
            <a:endParaRPr sz="16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DSL are categorized as either Asymmetric DSL (ADSL) or Symmetric DSL (SDSL). </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ADSL and ADSL2+ provide higher downstream bandwidth to the user than upload bandwidth.</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SDSL provides the same capacity in both directions.</a:t>
            </a:r>
            <a:endParaRPr/>
          </a:p>
          <a:p>
            <a:pPr indent="0" lvl="0" marL="0" rtl="0" algn="l">
              <a:lnSpc>
                <a:spcPct val="100000"/>
              </a:lnSpc>
              <a:spcBef>
                <a:spcPts val="280"/>
              </a:spcBef>
              <a:spcAft>
                <a:spcPts val="0"/>
              </a:spcAft>
              <a:buSzPts val="1400"/>
              <a:buNone/>
            </a:pPr>
            <a:r>
              <a:t/>
            </a:r>
            <a:endParaRPr sz="1400">
              <a:solidFill>
                <a:srgbClr val="000000"/>
              </a:solidFill>
            </a:endParaRPr>
          </a:p>
          <a:p>
            <a:pPr indent="0" lvl="0" marL="0" rtl="0" algn="l">
              <a:lnSpc>
                <a:spcPct val="100000"/>
              </a:lnSpc>
              <a:spcBef>
                <a:spcPts val="320"/>
              </a:spcBef>
              <a:spcAft>
                <a:spcPts val="0"/>
              </a:spcAft>
              <a:buSzPts val="1600"/>
              <a:buNone/>
            </a:pPr>
            <a:r>
              <a:rPr lang="en-US" sz="1600">
                <a:solidFill>
                  <a:srgbClr val="000000"/>
                </a:solidFill>
              </a:rPr>
              <a:t>DSL transfer rates are dependent on the actual length of the local loop, and the type and condition of the cabling.</a:t>
            </a:r>
            <a:endParaRPr/>
          </a:p>
        </p:txBody>
      </p:sp>
      <p:pic>
        <p:nvPicPr>
          <p:cNvPr id="553" name="Google Shape;553;p41"/>
          <p:cNvPicPr preferRelativeResize="0"/>
          <p:nvPr/>
        </p:nvPicPr>
        <p:blipFill rotWithShape="1">
          <a:blip r:embed="rId3">
            <a:alphaModFix/>
          </a:blip>
          <a:srcRect b="0" l="0" r="0" t="0"/>
          <a:stretch/>
        </p:blipFill>
        <p:spPr>
          <a:xfrm>
            <a:off x="4772967" y="1607023"/>
            <a:ext cx="4095859" cy="1929454"/>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8" name="Shape 558"/>
        <p:cNvGrpSpPr/>
        <p:nvPr/>
      </p:nvGrpSpPr>
      <p:grpSpPr>
        <a:xfrm>
          <a:off x="0" y="0"/>
          <a:ext cx="0" cy="0"/>
          <a:chOff x="0" y="0"/>
          <a:chExt cx="0" cy="0"/>
        </a:xfrm>
      </p:grpSpPr>
      <p:sp>
        <p:nvSpPr>
          <p:cNvPr id="559" name="Google Shape;559;p4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Internet-Based Connectivity</a:t>
            </a:r>
            <a:br>
              <a:rPr lang="en-US"/>
            </a:br>
            <a:r>
              <a:rPr lang="en-US" sz="2400"/>
              <a:t>DSL Connections</a:t>
            </a:r>
            <a:endParaRPr/>
          </a:p>
        </p:txBody>
      </p:sp>
      <p:sp>
        <p:nvSpPr>
          <p:cNvPr id="560" name="Google Shape;560;p42"/>
          <p:cNvSpPr txBox="1"/>
          <p:nvPr>
            <p:ph idx="1" type="body"/>
          </p:nvPr>
        </p:nvSpPr>
        <p:spPr>
          <a:xfrm>
            <a:off x="431970" y="855419"/>
            <a:ext cx="7913518" cy="2406256"/>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Service providers deploy DSL connections in the local loop. The connection is set up between the DSL modem and the DSL access multiplexer (DSLAM).</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The DSL modem converts the Ethernet signals from the teleworker device to a DSL signal, which is transmitted to a DSL access multiplexer (DSLAM) at the provider location.</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A DSLAM is located at the Central Office (CO) of the provider and concentrates connections from multiple DSL subscribers.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DSL is not a shared medium. Each user has a separate direct connection to the DSLAM. Adding users does not impede performance.</a:t>
            </a:r>
            <a:endParaRPr/>
          </a:p>
          <a:p>
            <a:pPr indent="0" lvl="0" marL="0" rtl="0" algn="l">
              <a:lnSpc>
                <a:spcPct val="100000"/>
              </a:lnSpc>
              <a:spcBef>
                <a:spcPts val="320"/>
              </a:spcBef>
              <a:spcAft>
                <a:spcPts val="0"/>
              </a:spcAft>
              <a:buSzPts val="1600"/>
              <a:buNone/>
            </a:pPr>
            <a:r>
              <a:t/>
            </a:r>
            <a:endParaRPr sz="1600">
              <a:solidFill>
                <a:srgbClr val="000000"/>
              </a:solidFill>
            </a:endParaRPr>
          </a:p>
        </p:txBody>
      </p:sp>
      <p:pic>
        <p:nvPicPr>
          <p:cNvPr id="561" name="Google Shape;561;p42"/>
          <p:cNvPicPr preferRelativeResize="0"/>
          <p:nvPr/>
        </p:nvPicPr>
        <p:blipFill rotWithShape="1">
          <a:blip r:embed="rId3">
            <a:alphaModFix/>
          </a:blip>
          <a:srcRect b="0" l="0" r="0" t="0"/>
          <a:stretch/>
        </p:blipFill>
        <p:spPr>
          <a:xfrm>
            <a:off x="2089944" y="3402351"/>
            <a:ext cx="4964111" cy="120748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6" name="Shape 566"/>
        <p:cNvGrpSpPr/>
        <p:nvPr/>
      </p:nvGrpSpPr>
      <p:grpSpPr>
        <a:xfrm>
          <a:off x="0" y="0"/>
          <a:ext cx="0" cy="0"/>
          <a:chOff x="0" y="0"/>
          <a:chExt cx="0" cy="0"/>
        </a:xfrm>
      </p:grpSpPr>
      <p:sp>
        <p:nvSpPr>
          <p:cNvPr id="567" name="Google Shape;567;p43"/>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Internet-Based Connectivity</a:t>
            </a:r>
            <a:br>
              <a:rPr lang="en-US"/>
            </a:br>
            <a:r>
              <a:rPr lang="en-US" sz="2400"/>
              <a:t>DSL and PPP</a:t>
            </a:r>
            <a:endParaRPr/>
          </a:p>
        </p:txBody>
      </p:sp>
      <p:sp>
        <p:nvSpPr>
          <p:cNvPr id="568" name="Google Shape;568;p43"/>
          <p:cNvSpPr txBox="1"/>
          <p:nvPr>
            <p:ph idx="1" type="body"/>
          </p:nvPr>
        </p:nvSpPr>
        <p:spPr>
          <a:xfrm>
            <a:off x="301657" y="801279"/>
            <a:ext cx="8502977" cy="2595064"/>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ISPs use PPP as the Layer 2 protocol for broadband DSL connections.</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PPP can be used to authenticate the subscriber.</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PPP can assign a public IPv4 address to the subscriber.</a:t>
            </a:r>
            <a:endParaRPr/>
          </a:p>
          <a:p>
            <a:pPr indent="-285750" lvl="0" marL="285750" rtl="0" algn="l">
              <a:lnSpc>
                <a:spcPct val="100000"/>
              </a:lnSpc>
              <a:spcBef>
                <a:spcPts val="320"/>
              </a:spcBef>
              <a:spcAft>
                <a:spcPts val="0"/>
              </a:spcAft>
              <a:buSzPts val="1600"/>
              <a:buFont typeface="Arial"/>
              <a:buChar char="•"/>
            </a:pPr>
            <a:r>
              <a:rPr lang="en-US" sz="1600">
                <a:solidFill>
                  <a:srgbClr val="000000"/>
                </a:solidFill>
              </a:rPr>
              <a:t>PPP provides link-quality management features.</a:t>
            </a:r>
            <a:endParaRPr/>
          </a:p>
          <a:p>
            <a:pPr indent="0" lvl="0" marL="0" rtl="0" algn="l">
              <a:lnSpc>
                <a:spcPct val="100000"/>
              </a:lnSpc>
              <a:spcBef>
                <a:spcPts val="320"/>
              </a:spcBef>
              <a:spcAft>
                <a:spcPts val="0"/>
              </a:spcAft>
              <a:buSzPts val="1600"/>
              <a:buNone/>
            </a:pPr>
            <a:r>
              <a:rPr lang="en-US" sz="1600">
                <a:solidFill>
                  <a:srgbClr val="000000"/>
                </a:solidFill>
              </a:rPr>
              <a:t>There are two ways PPP over Ethernet (PPPoE) can be deployed:</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Host with PPoE Client </a:t>
            </a:r>
            <a:r>
              <a:rPr lang="en-US" sz="1600">
                <a:solidFill>
                  <a:srgbClr val="000000"/>
                </a:solidFill>
              </a:rPr>
              <a:t>- The PPPoE client software communicates with the DSL modem using PPPoE and the modem communicates with the ISP using PPP.</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Router PPPoE Client - </a:t>
            </a:r>
            <a:r>
              <a:rPr lang="en-US" sz="1600">
                <a:solidFill>
                  <a:srgbClr val="000000"/>
                </a:solidFill>
              </a:rPr>
              <a:t>The router is the PPPoE client and obtains its configuration from the provider. </a:t>
            </a:r>
            <a:endParaRPr/>
          </a:p>
        </p:txBody>
      </p:sp>
      <p:pic>
        <p:nvPicPr>
          <p:cNvPr id="569" name="Google Shape;569;p43"/>
          <p:cNvPicPr preferRelativeResize="0"/>
          <p:nvPr/>
        </p:nvPicPr>
        <p:blipFill rotWithShape="1">
          <a:blip r:embed="rId3">
            <a:alphaModFix/>
          </a:blip>
          <a:srcRect b="0" l="0" r="0" t="0"/>
          <a:stretch/>
        </p:blipFill>
        <p:spPr>
          <a:xfrm>
            <a:off x="562597" y="3396342"/>
            <a:ext cx="3417731" cy="1101117"/>
          </a:xfrm>
          <a:prstGeom prst="rect">
            <a:avLst/>
          </a:prstGeom>
          <a:noFill/>
          <a:ln>
            <a:noFill/>
          </a:ln>
        </p:spPr>
      </p:pic>
      <p:pic>
        <p:nvPicPr>
          <p:cNvPr id="570" name="Google Shape;570;p43"/>
          <p:cNvPicPr preferRelativeResize="0"/>
          <p:nvPr/>
        </p:nvPicPr>
        <p:blipFill rotWithShape="1">
          <a:blip r:embed="rId4">
            <a:alphaModFix/>
          </a:blip>
          <a:srcRect b="0" l="0" r="0" t="0"/>
          <a:stretch/>
        </p:blipFill>
        <p:spPr>
          <a:xfrm>
            <a:off x="4043081" y="3396342"/>
            <a:ext cx="4433035" cy="116984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5" name="Shape 575"/>
        <p:cNvGrpSpPr/>
        <p:nvPr/>
      </p:nvGrpSpPr>
      <p:grpSpPr>
        <a:xfrm>
          <a:off x="0" y="0"/>
          <a:ext cx="0" cy="0"/>
          <a:chOff x="0" y="0"/>
          <a:chExt cx="0" cy="0"/>
        </a:xfrm>
      </p:grpSpPr>
      <p:sp>
        <p:nvSpPr>
          <p:cNvPr id="576" name="Google Shape;576;p44"/>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Internet-Based Connectivity</a:t>
            </a:r>
            <a:br>
              <a:rPr lang="en-US"/>
            </a:br>
            <a:r>
              <a:rPr lang="en-US" sz="2400"/>
              <a:t>Cable Technology</a:t>
            </a:r>
            <a:endParaRPr/>
          </a:p>
        </p:txBody>
      </p:sp>
      <p:sp>
        <p:nvSpPr>
          <p:cNvPr id="577" name="Google Shape;577;p44"/>
          <p:cNvSpPr txBox="1"/>
          <p:nvPr>
            <p:ph idx="1" type="body"/>
          </p:nvPr>
        </p:nvSpPr>
        <p:spPr>
          <a:xfrm>
            <a:off x="145096" y="663090"/>
            <a:ext cx="8710367" cy="230956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Cable technology is a high-speed always-on connection technology that uses a coaxial cable from the cable company to provide IP services to users.</a:t>
            </a:r>
            <a:endParaRPr/>
          </a:p>
          <a:p>
            <a:pPr indent="0" lvl="0" marL="0" rtl="0" algn="l">
              <a:lnSpc>
                <a:spcPct val="100000"/>
              </a:lnSpc>
              <a:spcBef>
                <a:spcPts val="320"/>
              </a:spcBef>
              <a:spcAft>
                <a:spcPts val="0"/>
              </a:spcAft>
              <a:buSzPts val="1600"/>
              <a:buNone/>
            </a:pPr>
            <a:r>
              <a:rPr lang="en-US" sz="1600">
                <a:solidFill>
                  <a:srgbClr val="000000"/>
                </a:solidFill>
              </a:rPr>
              <a:t>The Data over Cable Service Interface Specification (DOCSIS) is the international standard for adding high-bandwidth data to an existing cable system.</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The optical node converts RF signals to light pulses over fiber-optic cable. </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The fiber media enables the signals to travel over long distances to the provider headend where a Cable Modem Termination System (CMTS) is located.</a:t>
            </a:r>
            <a:endParaRPr/>
          </a:p>
          <a:p>
            <a:pPr indent="-285750" lvl="0" marL="285750" rtl="0" algn="l">
              <a:lnSpc>
                <a:spcPct val="100000"/>
              </a:lnSpc>
              <a:spcBef>
                <a:spcPts val="280"/>
              </a:spcBef>
              <a:spcAft>
                <a:spcPts val="0"/>
              </a:spcAft>
              <a:buSzPts val="1400"/>
              <a:buFont typeface="Arial"/>
              <a:buChar char="•"/>
            </a:pPr>
            <a:r>
              <a:rPr lang="en-US" sz="1400">
                <a:solidFill>
                  <a:srgbClr val="000000"/>
                </a:solidFill>
              </a:rPr>
              <a:t>The headend contains the databases needed to provide internet access while the CMTS is responsible for communicating with the cable modems.</a:t>
            </a:r>
            <a:endParaRPr/>
          </a:p>
          <a:p>
            <a:pPr indent="0" lvl="0" marL="0" rtl="0" algn="l">
              <a:lnSpc>
                <a:spcPct val="100000"/>
              </a:lnSpc>
              <a:spcBef>
                <a:spcPts val="320"/>
              </a:spcBef>
              <a:spcAft>
                <a:spcPts val="0"/>
              </a:spcAft>
              <a:buSzPts val="1600"/>
              <a:buNone/>
            </a:pPr>
            <a:r>
              <a:t/>
            </a:r>
            <a:endParaRPr sz="1600">
              <a:solidFill>
                <a:srgbClr val="000000"/>
              </a:solidFill>
            </a:endParaRPr>
          </a:p>
        </p:txBody>
      </p:sp>
      <p:sp>
        <p:nvSpPr>
          <p:cNvPr id="578" name="Google Shape;578;p44"/>
          <p:cNvSpPr/>
          <p:nvPr/>
        </p:nvSpPr>
        <p:spPr>
          <a:xfrm>
            <a:off x="510987" y="4286110"/>
            <a:ext cx="7978587" cy="43088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100">
                <a:solidFill>
                  <a:srgbClr val="000000"/>
                </a:solidFill>
                <a:latin typeface="Arial"/>
                <a:ea typeface="Arial"/>
                <a:cs typeface="Arial"/>
                <a:sym typeface="Arial"/>
              </a:rPr>
              <a:t>Note</a:t>
            </a:r>
            <a:r>
              <a:rPr lang="en-US" sz="1100">
                <a:solidFill>
                  <a:srgbClr val="000000"/>
                </a:solidFill>
                <a:latin typeface="Arial"/>
                <a:ea typeface="Arial"/>
                <a:cs typeface="Arial"/>
                <a:sym typeface="Arial"/>
              </a:rPr>
              <a:t>: All the local subscribers share the same cable bandwidth. As more users join the service, available bandwidth may drop below the expected rate.</a:t>
            </a:r>
            <a:endParaRPr/>
          </a:p>
        </p:txBody>
      </p:sp>
      <p:pic>
        <p:nvPicPr>
          <p:cNvPr id="579" name="Google Shape;579;p44"/>
          <p:cNvPicPr preferRelativeResize="0"/>
          <p:nvPr/>
        </p:nvPicPr>
        <p:blipFill rotWithShape="1">
          <a:blip r:embed="rId3">
            <a:alphaModFix/>
          </a:blip>
          <a:srcRect b="0" l="0" r="0" t="0"/>
          <a:stretch/>
        </p:blipFill>
        <p:spPr>
          <a:xfrm>
            <a:off x="2102176" y="2985539"/>
            <a:ext cx="4864231" cy="1320836"/>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p45"/>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Internet-Based Connectivity</a:t>
            </a:r>
            <a:br>
              <a:rPr lang="en-US"/>
            </a:br>
            <a:r>
              <a:rPr lang="en-US" sz="2400"/>
              <a:t>Optical Fiber</a:t>
            </a:r>
            <a:endParaRPr/>
          </a:p>
        </p:txBody>
      </p:sp>
      <p:sp>
        <p:nvSpPr>
          <p:cNvPr id="586" name="Google Shape;586;p45"/>
          <p:cNvSpPr txBox="1"/>
          <p:nvPr>
            <p:ph idx="1" type="body"/>
          </p:nvPr>
        </p:nvSpPr>
        <p:spPr>
          <a:xfrm>
            <a:off x="431970" y="855418"/>
            <a:ext cx="7913518" cy="2621311"/>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Many municipalities, cities, and providers install fiber-optic cable to the user location. This is commonly referred to as Fiber to the x (FTTx) and includes the following:</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Fiber to the Home (FTTH)</a:t>
            </a:r>
            <a:r>
              <a:rPr lang="en-US" sz="1600">
                <a:solidFill>
                  <a:srgbClr val="000000"/>
                </a:solidFill>
              </a:rPr>
              <a:t> - Fiber reaches the boundary of the residence. </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Fiber to the Building (FTTB)</a:t>
            </a:r>
            <a:r>
              <a:rPr lang="en-US" sz="1600">
                <a:solidFill>
                  <a:srgbClr val="000000"/>
                </a:solidFill>
              </a:rPr>
              <a:t> - Fiber reaches the boundary of the building with the final connection to the individual living space being made via alternative means.</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Fiber to the Node/Neighborhood (FTTN)</a:t>
            </a:r>
            <a:r>
              <a:rPr lang="en-US" sz="1600">
                <a:solidFill>
                  <a:srgbClr val="000000"/>
                </a:solidFill>
              </a:rPr>
              <a:t> – Optical cabling reaches an optical node that converts optical signals to a format acceptable for twisted pair or coaxial cable to the premise.</a:t>
            </a:r>
            <a:endParaRPr/>
          </a:p>
          <a:p>
            <a:pPr indent="0" lvl="0" marL="0" rtl="0" algn="l">
              <a:lnSpc>
                <a:spcPct val="100000"/>
              </a:lnSpc>
              <a:spcBef>
                <a:spcPts val="320"/>
              </a:spcBef>
              <a:spcAft>
                <a:spcPts val="0"/>
              </a:spcAft>
              <a:buSzPts val="1600"/>
              <a:buNone/>
            </a:pPr>
            <a:r>
              <a:t/>
            </a:r>
            <a:endParaRPr sz="1600">
              <a:solidFill>
                <a:srgbClr val="000000"/>
              </a:solidFill>
            </a:endParaRPr>
          </a:p>
        </p:txBody>
      </p:sp>
      <p:sp>
        <p:nvSpPr>
          <p:cNvPr id="587" name="Google Shape;587;p45"/>
          <p:cNvSpPr/>
          <p:nvPr/>
        </p:nvSpPr>
        <p:spPr>
          <a:xfrm>
            <a:off x="618084" y="3980305"/>
            <a:ext cx="7541289" cy="307777"/>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00000"/>
                </a:solidFill>
                <a:latin typeface="Arial"/>
                <a:ea typeface="Arial"/>
                <a:cs typeface="Arial"/>
                <a:sym typeface="Arial"/>
              </a:rPr>
              <a:t>Note</a:t>
            </a:r>
            <a:r>
              <a:rPr lang="en-US" sz="1400">
                <a:solidFill>
                  <a:srgbClr val="000000"/>
                </a:solidFill>
                <a:latin typeface="Arial"/>
                <a:ea typeface="Arial"/>
                <a:cs typeface="Arial"/>
                <a:sym typeface="Arial"/>
              </a:rPr>
              <a:t>: FTTx can deliver the highest bandwidth of all broadband options</a:t>
            </a:r>
            <a:r>
              <a:rPr lang="en-US" sz="1100">
                <a:solidFill>
                  <a:srgbClr val="000000"/>
                </a:solidFill>
                <a:latin typeface="Arial"/>
                <a:ea typeface="Arial"/>
                <a:cs typeface="Arial"/>
                <a:sym typeface="Arial"/>
              </a:rPr>
              <a:t>.</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p46"/>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Internet-Based Connectivity</a:t>
            </a:r>
            <a:br>
              <a:rPr lang="en-US"/>
            </a:br>
            <a:r>
              <a:rPr lang="en-US" sz="2400"/>
              <a:t>Wireless Internet-Based Broadband</a:t>
            </a:r>
            <a:endParaRPr/>
          </a:p>
        </p:txBody>
      </p:sp>
      <p:sp>
        <p:nvSpPr>
          <p:cNvPr id="594" name="Google Shape;594;p46"/>
          <p:cNvSpPr txBox="1"/>
          <p:nvPr>
            <p:ph idx="1" type="body"/>
          </p:nvPr>
        </p:nvSpPr>
        <p:spPr>
          <a:xfrm>
            <a:off x="131975" y="622169"/>
            <a:ext cx="8345488" cy="3893270"/>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Wireless technology uses the unlicensed radio spectrum to send and receive data.</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Municipal Wi-Fi </a:t>
            </a:r>
            <a:r>
              <a:rPr lang="en-US" sz="1600">
                <a:solidFill>
                  <a:srgbClr val="000000"/>
                </a:solidFill>
              </a:rPr>
              <a:t>-  Municipal wireless networks are available in many cities providing high-speed internet access for free, or for substantially less than the price of other broadband services.</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Cellular</a:t>
            </a:r>
            <a:r>
              <a:rPr lang="en-US" sz="1600">
                <a:solidFill>
                  <a:srgbClr val="000000"/>
                </a:solidFill>
              </a:rPr>
              <a:t> – Increasingly used to connect devices to the internet using radio waves to communicate through a nearby mobile phone tower. 3G/4G/5G and Long-Term Evolution (LTE) are cellular technologies.</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Satellite Internet </a:t>
            </a:r>
            <a:r>
              <a:rPr lang="en-US" sz="1600">
                <a:solidFill>
                  <a:srgbClr val="000000"/>
                </a:solidFill>
              </a:rPr>
              <a:t>- Typically used by rural users or in remote locations where cable and DSL are not available. A router connects to a satellite dish which is pointed to a service provider satellite in Geosynchronous orbit. Trees and heavy rains can impact the satellite signal.</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WiMAX</a:t>
            </a:r>
            <a:r>
              <a:rPr lang="en-US" sz="1600">
                <a:solidFill>
                  <a:srgbClr val="000000"/>
                </a:solidFill>
              </a:rPr>
              <a:t> - Worldwide Interoperability for Microwave Access (WiMAX) is described in the IEEE standard 802.16 Provides high-speed broadband service with wireless access and provides broad coverage like a cell phone network rather than through small Wi-Fi hotspots.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47"/>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Internet-Based Connectivity</a:t>
            </a:r>
            <a:br>
              <a:rPr lang="en-US"/>
            </a:br>
            <a:r>
              <a:rPr lang="en-US" sz="2400"/>
              <a:t>VPN Technology</a:t>
            </a:r>
            <a:endParaRPr/>
          </a:p>
        </p:txBody>
      </p:sp>
      <p:sp>
        <p:nvSpPr>
          <p:cNvPr id="601" name="Google Shape;601;p47"/>
          <p:cNvSpPr txBox="1"/>
          <p:nvPr>
            <p:ph idx="1" type="body"/>
          </p:nvPr>
        </p:nvSpPr>
        <p:spPr>
          <a:xfrm>
            <a:off x="98981" y="731837"/>
            <a:ext cx="8946037" cy="394064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rPr lang="en-US" sz="1400">
                <a:solidFill>
                  <a:srgbClr val="000000"/>
                </a:solidFill>
              </a:rPr>
              <a:t>VPNs can be used to address security concerns incurred when a remote office worker uses broadband services to access the corporate WAN over the internet.</a:t>
            </a:r>
            <a:endParaRPr/>
          </a:p>
          <a:p>
            <a:pPr indent="0" lvl="0" marL="0" rtl="0" algn="l">
              <a:lnSpc>
                <a:spcPct val="100000"/>
              </a:lnSpc>
              <a:spcBef>
                <a:spcPts val="280"/>
              </a:spcBef>
              <a:spcAft>
                <a:spcPts val="0"/>
              </a:spcAft>
              <a:buSzPts val="1400"/>
              <a:buNone/>
            </a:pPr>
            <a:r>
              <a:rPr lang="en-US" sz="1400">
                <a:solidFill>
                  <a:srgbClr val="000000"/>
                </a:solidFill>
              </a:rPr>
              <a:t>A VPN is an encrypted connection between private networks over a public network. VPN tunnels are routed through the internet from the private network of the company to the remote site or employee host.</a:t>
            </a:r>
            <a:endParaRPr/>
          </a:p>
          <a:p>
            <a:pPr indent="0" lvl="0" marL="0" rtl="0" algn="l">
              <a:lnSpc>
                <a:spcPct val="100000"/>
              </a:lnSpc>
              <a:spcBef>
                <a:spcPts val="280"/>
              </a:spcBef>
              <a:spcAft>
                <a:spcPts val="0"/>
              </a:spcAft>
              <a:buSzPts val="1400"/>
              <a:buNone/>
            </a:pPr>
            <a:r>
              <a:rPr lang="en-US" sz="1400">
                <a:solidFill>
                  <a:srgbClr val="000000"/>
                </a:solidFill>
              </a:rPr>
              <a:t>There are several benefits to using VPN:</a:t>
            </a:r>
            <a:endParaRPr/>
          </a:p>
          <a:p>
            <a:pPr indent="-285750" lvl="0" marL="285750" rtl="0" algn="l">
              <a:lnSpc>
                <a:spcPct val="100000"/>
              </a:lnSpc>
              <a:spcBef>
                <a:spcPts val="280"/>
              </a:spcBef>
              <a:spcAft>
                <a:spcPts val="0"/>
              </a:spcAft>
              <a:buSzPts val="1400"/>
              <a:buFont typeface="Arial"/>
              <a:buChar char="•"/>
            </a:pPr>
            <a:r>
              <a:rPr b="1" lang="en-US" sz="1400">
                <a:solidFill>
                  <a:srgbClr val="000000"/>
                </a:solidFill>
              </a:rPr>
              <a:t>Cost savings </a:t>
            </a:r>
            <a:r>
              <a:rPr lang="en-US" sz="1400">
                <a:solidFill>
                  <a:srgbClr val="000000"/>
                </a:solidFill>
              </a:rPr>
              <a:t>- Eliminates expensive, dedicated WAN links and modem banks.</a:t>
            </a:r>
            <a:endParaRPr/>
          </a:p>
          <a:p>
            <a:pPr indent="-285750" lvl="0" marL="285750" rtl="0" algn="l">
              <a:lnSpc>
                <a:spcPct val="100000"/>
              </a:lnSpc>
              <a:spcBef>
                <a:spcPts val="280"/>
              </a:spcBef>
              <a:spcAft>
                <a:spcPts val="0"/>
              </a:spcAft>
              <a:buSzPts val="1400"/>
              <a:buFont typeface="Arial"/>
              <a:buChar char="•"/>
            </a:pPr>
            <a:r>
              <a:rPr b="1" lang="en-US" sz="1400">
                <a:solidFill>
                  <a:srgbClr val="000000"/>
                </a:solidFill>
              </a:rPr>
              <a:t>Security</a:t>
            </a:r>
            <a:r>
              <a:rPr lang="en-US" sz="1400">
                <a:solidFill>
                  <a:srgbClr val="000000"/>
                </a:solidFill>
              </a:rPr>
              <a:t> - Advanced encryption and authentication protocols protect data from unauthorized access.</a:t>
            </a:r>
            <a:endParaRPr/>
          </a:p>
          <a:p>
            <a:pPr indent="-285750" lvl="0" marL="285750" rtl="0" algn="l">
              <a:lnSpc>
                <a:spcPct val="100000"/>
              </a:lnSpc>
              <a:spcBef>
                <a:spcPts val="280"/>
              </a:spcBef>
              <a:spcAft>
                <a:spcPts val="0"/>
              </a:spcAft>
              <a:buSzPts val="1400"/>
              <a:buFont typeface="Arial"/>
              <a:buChar char="•"/>
            </a:pPr>
            <a:r>
              <a:rPr b="1" lang="en-US" sz="1400">
                <a:solidFill>
                  <a:srgbClr val="000000"/>
                </a:solidFill>
              </a:rPr>
              <a:t>Scalability</a:t>
            </a:r>
            <a:r>
              <a:rPr lang="en-US" sz="1400">
                <a:solidFill>
                  <a:srgbClr val="000000"/>
                </a:solidFill>
              </a:rPr>
              <a:t> - Corporations can add large amounts of capacity without adding significant infrastructure.</a:t>
            </a:r>
            <a:endParaRPr/>
          </a:p>
          <a:p>
            <a:pPr indent="-285750" lvl="0" marL="285750" rtl="0" algn="l">
              <a:lnSpc>
                <a:spcPct val="100000"/>
              </a:lnSpc>
              <a:spcBef>
                <a:spcPts val="280"/>
              </a:spcBef>
              <a:spcAft>
                <a:spcPts val="0"/>
              </a:spcAft>
              <a:buSzPts val="1400"/>
              <a:buFont typeface="Arial"/>
              <a:buChar char="•"/>
            </a:pPr>
            <a:r>
              <a:rPr b="1" lang="en-US" sz="1400">
                <a:solidFill>
                  <a:srgbClr val="000000"/>
                </a:solidFill>
              </a:rPr>
              <a:t>Compatibility with broadband technology </a:t>
            </a:r>
            <a:r>
              <a:rPr lang="en-US" sz="1400">
                <a:solidFill>
                  <a:srgbClr val="000000"/>
                </a:solidFill>
              </a:rPr>
              <a:t>- Supported by broadband service providers such as DSL and cable.</a:t>
            </a:r>
            <a:endParaRPr/>
          </a:p>
          <a:p>
            <a:pPr indent="0" lvl="0" marL="0" rtl="0" algn="l">
              <a:lnSpc>
                <a:spcPct val="100000"/>
              </a:lnSpc>
              <a:spcBef>
                <a:spcPts val="280"/>
              </a:spcBef>
              <a:spcAft>
                <a:spcPts val="0"/>
              </a:spcAft>
              <a:buSzPts val="1400"/>
              <a:buNone/>
            </a:pPr>
            <a:r>
              <a:rPr lang="en-US" sz="1400">
                <a:solidFill>
                  <a:srgbClr val="000000"/>
                </a:solidFill>
              </a:rPr>
              <a:t>VPNs are commonly implemented as the following:</a:t>
            </a:r>
            <a:endParaRPr/>
          </a:p>
          <a:p>
            <a:pPr indent="-285750" lvl="0" marL="285750" rtl="0" algn="l">
              <a:lnSpc>
                <a:spcPct val="100000"/>
              </a:lnSpc>
              <a:spcBef>
                <a:spcPts val="280"/>
              </a:spcBef>
              <a:spcAft>
                <a:spcPts val="0"/>
              </a:spcAft>
              <a:buSzPts val="1400"/>
              <a:buFont typeface="Arial"/>
              <a:buChar char="•"/>
            </a:pPr>
            <a:r>
              <a:rPr b="1" lang="en-US" sz="1400">
                <a:solidFill>
                  <a:srgbClr val="000000"/>
                </a:solidFill>
              </a:rPr>
              <a:t>Site-to-site VPN </a:t>
            </a:r>
            <a:r>
              <a:rPr lang="en-US" sz="1400">
                <a:solidFill>
                  <a:srgbClr val="000000"/>
                </a:solidFill>
              </a:rPr>
              <a:t>- VPN settings are configured on routers. Clients are unaware that their data is being encrypted.</a:t>
            </a:r>
            <a:endParaRPr/>
          </a:p>
          <a:p>
            <a:pPr indent="-285750" lvl="0" marL="285750" rtl="0" algn="l">
              <a:lnSpc>
                <a:spcPct val="100000"/>
              </a:lnSpc>
              <a:spcBef>
                <a:spcPts val="280"/>
              </a:spcBef>
              <a:spcAft>
                <a:spcPts val="0"/>
              </a:spcAft>
              <a:buSzPts val="1400"/>
              <a:buFont typeface="Arial"/>
              <a:buChar char="•"/>
            </a:pPr>
            <a:r>
              <a:rPr b="1" lang="en-US" sz="1400">
                <a:solidFill>
                  <a:srgbClr val="000000"/>
                </a:solidFill>
              </a:rPr>
              <a:t>Remote Access </a:t>
            </a:r>
            <a:r>
              <a:rPr lang="en-US" sz="1400">
                <a:solidFill>
                  <a:srgbClr val="000000"/>
                </a:solidFill>
              </a:rPr>
              <a:t>- The user is aware and initiates remote access connection. For example, using HTTPS in a browser to connect to your bank. Alternatively, the user can run VPN client software on their host to connect to and authenticate with the destination device.</a:t>
            </a:r>
            <a:endParaRPr/>
          </a:p>
          <a:p>
            <a:pPr indent="0" lvl="0" marL="0" rtl="0" algn="l">
              <a:lnSpc>
                <a:spcPct val="100000"/>
              </a:lnSpc>
              <a:spcBef>
                <a:spcPts val="240"/>
              </a:spcBef>
              <a:spcAft>
                <a:spcPts val="0"/>
              </a:spcAft>
              <a:buSzPts val="1200"/>
              <a:buNone/>
            </a:pPr>
            <a:r>
              <a:t/>
            </a:r>
            <a:endParaRPr sz="1200">
              <a:solidFill>
                <a:srgbClr val="000000"/>
              </a:solidFill>
            </a:endParaRPr>
          </a:p>
          <a:p>
            <a:pPr indent="0" lvl="0" marL="0" rtl="0" algn="l">
              <a:lnSpc>
                <a:spcPct val="100000"/>
              </a:lnSpc>
              <a:spcBef>
                <a:spcPts val="320"/>
              </a:spcBef>
              <a:spcAft>
                <a:spcPts val="0"/>
              </a:spcAft>
              <a:buSzPts val="1600"/>
              <a:buNone/>
            </a:pPr>
            <a:r>
              <a:t/>
            </a:r>
            <a:endParaRPr sz="16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p48"/>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Internet-Based Connectivity</a:t>
            </a:r>
            <a:br>
              <a:rPr lang="en-US"/>
            </a:br>
            <a:r>
              <a:rPr lang="en-US" sz="2400"/>
              <a:t>ISP Connectivity Options</a:t>
            </a:r>
            <a:endParaRPr/>
          </a:p>
        </p:txBody>
      </p:sp>
      <p:sp>
        <p:nvSpPr>
          <p:cNvPr id="608" name="Google Shape;608;p48"/>
          <p:cNvSpPr txBox="1"/>
          <p:nvPr>
            <p:ph idx="1" type="body"/>
          </p:nvPr>
        </p:nvSpPr>
        <p:spPr>
          <a:xfrm>
            <a:off x="195078" y="731837"/>
            <a:ext cx="5685769" cy="3940647"/>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400"/>
              <a:buNone/>
            </a:pPr>
            <a:r>
              <a:rPr lang="en-US" sz="1400">
                <a:solidFill>
                  <a:srgbClr val="000000"/>
                </a:solidFill>
              </a:rPr>
              <a:t>There are different ways an organization can connect to an ISP. The choice depends on the needs and budget of the organization.</a:t>
            </a:r>
            <a:endParaRPr/>
          </a:p>
          <a:p>
            <a:pPr indent="-285750" lvl="0" marL="285750" rtl="0" algn="l">
              <a:lnSpc>
                <a:spcPct val="100000"/>
              </a:lnSpc>
              <a:spcBef>
                <a:spcPts val="280"/>
              </a:spcBef>
              <a:spcAft>
                <a:spcPts val="0"/>
              </a:spcAft>
              <a:buSzPts val="1400"/>
              <a:buFont typeface="Arial"/>
              <a:buChar char="•"/>
            </a:pPr>
            <a:r>
              <a:rPr b="1" lang="en-US" sz="1400">
                <a:solidFill>
                  <a:srgbClr val="000000"/>
                </a:solidFill>
              </a:rPr>
              <a:t>Single-homed</a:t>
            </a:r>
            <a:r>
              <a:rPr lang="en-US" sz="1400">
                <a:solidFill>
                  <a:srgbClr val="000000"/>
                </a:solidFill>
              </a:rPr>
              <a:t> –Single connection to the ISP using one link. Provides no redundancy and is the least expensive solution.</a:t>
            </a:r>
            <a:endParaRPr/>
          </a:p>
          <a:p>
            <a:pPr indent="-285750" lvl="0" marL="285750" rtl="0" algn="l">
              <a:lnSpc>
                <a:spcPct val="100000"/>
              </a:lnSpc>
              <a:spcBef>
                <a:spcPts val="280"/>
              </a:spcBef>
              <a:spcAft>
                <a:spcPts val="0"/>
              </a:spcAft>
              <a:buSzPts val="1400"/>
              <a:buFont typeface="Arial"/>
              <a:buChar char="•"/>
            </a:pPr>
            <a:r>
              <a:rPr b="1" lang="en-US" sz="1400">
                <a:solidFill>
                  <a:srgbClr val="000000"/>
                </a:solidFill>
              </a:rPr>
              <a:t>Dual-homed</a:t>
            </a:r>
            <a:r>
              <a:rPr lang="en-US" sz="1400">
                <a:solidFill>
                  <a:srgbClr val="000000"/>
                </a:solidFill>
              </a:rPr>
              <a:t> - Connects to the same ISP using two links. Provides both redundancy and load balancing. However, the organization loses internet connectivity if the ISP experiences an outage.</a:t>
            </a:r>
            <a:endParaRPr/>
          </a:p>
          <a:p>
            <a:pPr indent="-285750" lvl="0" marL="285750" rtl="0" algn="l">
              <a:lnSpc>
                <a:spcPct val="100000"/>
              </a:lnSpc>
              <a:spcBef>
                <a:spcPts val="280"/>
              </a:spcBef>
              <a:spcAft>
                <a:spcPts val="0"/>
              </a:spcAft>
              <a:buSzPts val="1400"/>
              <a:buFont typeface="Arial"/>
              <a:buChar char="•"/>
            </a:pPr>
            <a:r>
              <a:rPr b="1" lang="en-US" sz="1400">
                <a:solidFill>
                  <a:srgbClr val="000000"/>
                </a:solidFill>
              </a:rPr>
              <a:t>Multihomed</a:t>
            </a:r>
            <a:r>
              <a:rPr lang="en-US" sz="1400">
                <a:solidFill>
                  <a:srgbClr val="000000"/>
                </a:solidFill>
              </a:rPr>
              <a:t> -The client connects to two different ISPs. This design provides increased redundancy and enables load-balancing, but it can be expensive.</a:t>
            </a:r>
            <a:endParaRPr/>
          </a:p>
          <a:p>
            <a:pPr indent="-285750" lvl="0" marL="285750" rtl="0" algn="l">
              <a:lnSpc>
                <a:spcPct val="100000"/>
              </a:lnSpc>
              <a:spcBef>
                <a:spcPts val="280"/>
              </a:spcBef>
              <a:spcAft>
                <a:spcPts val="0"/>
              </a:spcAft>
              <a:buSzPts val="1400"/>
              <a:buFont typeface="Arial"/>
              <a:buChar char="•"/>
            </a:pPr>
            <a:r>
              <a:rPr b="1" lang="en-US" sz="1400">
                <a:solidFill>
                  <a:srgbClr val="000000"/>
                </a:solidFill>
              </a:rPr>
              <a:t>Dual-multihomed</a:t>
            </a:r>
            <a:r>
              <a:rPr lang="en-US" sz="1400">
                <a:solidFill>
                  <a:srgbClr val="000000"/>
                </a:solidFill>
              </a:rPr>
              <a:t> - Dual-multihomed is the most resilient topology of the four shown. The client connects with redundant links to multiple ISPs. This topology provides the most redundancy possible. It is the most expensive option of the four.</a:t>
            </a:r>
            <a:endParaRPr/>
          </a:p>
        </p:txBody>
      </p:sp>
      <p:pic>
        <p:nvPicPr>
          <p:cNvPr id="609" name="Google Shape;609;p48"/>
          <p:cNvPicPr preferRelativeResize="0"/>
          <p:nvPr/>
        </p:nvPicPr>
        <p:blipFill rotWithShape="1">
          <a:blip r:embed="rId3">
            <a:alphaModFix/>
          </a:blip>
          <a:srcRect b="0" l="0" r="0" t="0"/>
          <a:stretch/>
        </p:blipFill>
        <p:spPr>
          <a:xfrm>
            <a:off x="6239436" y="3197001"/>
            <a:ext cx="2549826" cy="1532683"/>
          </a:xfrm>
          <a:prstGeom prst="rect">
            <a:avLst/>
          </a:prstGeom>
          <a:noFill/>
          <a:ln>
            <a:noFill/>
          </a:ln>
        </p:spPr>
      </p:pic>
      <p:pic>
        <p:nvPicPr>
          <p:cNvPr id="610" name="Google Shape;610;p48"/>
          <p:cNvPicPr preferRelativeResize="0"/>
          <p:nvPr/>
        </p:nvPicPr>
        <p:blipFill rotWithShape="1">
          <a:blip r:embed="rId4">
            <a:alphaModFix/>
          </a:blip>
          <a:srcRect b="0" l="0" r="0" t="0"/>
          <a:stretch/>
        </p:blipFill>
        <p:spPr>
          <a:xfrm>
            <a:off x="6174936" y="1710844"/>
            <a:ext cx="2724043" cy="1525874"/>
          </a:xfrm>
          <a:prstGeom prst="rect">
            <a:avLst/>
          </a:prstGeom>
          <a:noFill/>
          <a:ln>
            <a:noFill/>
          </a:ln>
        </p:spPr>
      </p:pic>
      <p:pic>
        <p:nvPicPr>
          <p:cNvPr id="611" name="Google Shape;611;p48"/>
          <p:cNvPicPr preferRelativeResize="0"/>
          <p:nvPr/>
        </p:nvPicPr>
        <p:blipFill rotWithShape="1">
          <a:blip r:embed="rId5">
            <a:alphaModFix/>
          </a:blip>
          <a:srcRect b="0" l="0" r="0" t="0"/>
          <a:stretch/>
        </p:blipFill>
        <p:spPr>
          <a:xfrm>
            <a:off x="6161213" y="1077794"/>
            <a:ext cx="2737766" cy="643580"/>
          </a:xfrm>
          <a:prstGeom prst="rect">
            <a:avLst/>
          </a:prstGeom>
          <a:noFill/>
          <a:ln>
            <a:noFill/>
          </a:ln>
        </p:spPr>
      </p:pic>
      <p:pic>
        <p:nvPicPr>
          <p:cNvPr id="612" name="Google Shape;612;p48"/>
          <p:cNvPicPr preferRelativeResize="0"/>
          <p:nvPr/>
        </p:nvPicPr>
        <p:blipFill rotWithShape="1">
          <a:blip r:embed="rId6">
            <a:alphaModFix/>
          </a:blip>
          <a:srcRect b="0" l="0" r="0" t="0"/>
          <a:stretch/>
        </p:blipFill>
        <p:spPr>
          <a:xfrm>
            <a:off x="6174936" y="268080"/>
            <a:ext cx="2773986" cy="65056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49"/>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Internet-Based Connectivity</a:t>
            </a:r>
            <a:br>
              <a:rPr lang="en-US"/>
            </a:br>
            <a:r>
              <a:rPr lang="en-US" sz="2400"/>
              <a:t>Broadband Solution Comparison</a:t>
            </a:r>
            <a:endParaRPr/>
          </a:p>
        </p:txBody>
      </p:sp>
      <p:sp>
        <p:nvSpPr>
          <p:cNvPr id="619" name="Google Shape;619;p49"/>
          <p:cNvSpPr txBox="1"/>
          <p:nvPr>
            <p:ph idx="1" type="body"/>
          </p:nvPr>
        </p:nvSpPr>
        <p:spPr>
          <a:xfrm>
            <a:off x="131975" y="659876"/>
            <a:ext cx="8700940" cy="4012608"/>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600"/>
              <a:buNone/>
            </a:pPr>
            <a:r>
              <a:rPr lang="en-US" sz="1600">
                <a:solidFill>
                  <a:srgbClr val="000000"/>
                </a:solidFill>
              </a:rPr>
              <a:t>Each broadband solution has advantages and disadvantages. If there are multiple broadband solutions available, a cost-versus-benefit analysis should be performed to determine the best solution.</a:t>
            </a:r>
            <a:endParaRPr/>
          </a:p>
          <a:p>
            <a:pPr indent="0" lvl="0" marL="0" rtl="0" algn="l">
              <a:lnSpc>
                <a:spcPct val="100000"/>
              </a:lnSpc>
              <a:spcBef>
                <a:spcPts val="320"/>
              </a:spcBef>
              <a:spcAft>
                <a:spcPts val="0"/>
              </a:spcAft>
              <a:buSzPts val="1600"/>
              <a:buNone/>
            </a:pPr>
            <a:r>
              <a:rPr lang="en-US" sz="1600">
                <a:solidFill>
                  <a:srgbClr val="000000"/>
                </a:solidFill>
              </a:rPr>
              <a:t>Some factors to consider include the following:</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Cable </a:t>
            </a:r>
            <a:r>
              <a:rPr lang="en-US" sz="1600">
                <a:solidFill>
                  <a:srgbClr val="000000"/>
                </a:solidFill>
              </a:rPr>
              <a:t>- Bandwidth is shared by many users. Therefore, upstream data rates are often slow during high-usage hours in areas with over-subscription.</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DSL </a:t>
            </a:r>
            <a:r>
              <a:rPr lang="en-US" sz="1600">
                <a:solidFill>
                  <a:srgbClr val="000000"/>
                </a:solidFill>
              </a:rPr>
              <a:t>- Limited bandwidth that is distance sensitive (in relation to the ISP central office). Upload rate is proportionally lower compared to download rate.</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Fiber-to-the-Home </a:t>
            </a:r>
            <a:r>
              <a:rPr lang="en-US" sz="1600">
                <a:solidFill>
                  <a:srgbClr val="000000"/>
                </a:solidFill>
              </a:rPr>
              <a:t>- This option requires fiber installation directly to the home.</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Cellular/Mobile </a:t>
            </a:r>
            <a:r>
              <a:rPr lang="en-US" sz="1600">
                <a:solidFill>
                  <a:srgbClr val="000000"/>
                </a:solidFill>
              </a:rPr>
              <a:t>- With this option, coverage is often an issue, even within a small office or home office where bandwidth is relatively limited.</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Municipal Wi-Fi </a:t>
            </a:r>
            <a:r>
              <a:rPr lang="en-US" sz="1600">
                <a:solidFill>
                  <a:srgbClr val="000000"/>
                </a:solidFill>
              </a:rPr>
              <a:t>- Most municipalities do not have a mesh Wi-Fi network deployed. If is available and in range, then it is a viable option.</a:t>
            </a:r>
            <a:endParaRPr/>
          </a:p>
          <a:p>
            <a:pPr indent="-285750" lvl="0" marL="285750" rtl="0" algn="l">
              <a:lnSpc>
                <a:spcPct val="100000"/>
              </a:lnSpc>
              <a:spcBef>
                <a:spcPts val="320"/>
              </a:spcBef>
              <a:spcAft>
                <a:spcPts val="0"/>
              </a:spcAft>
              <a:buSzPts val="1600"/>
              <a:buFont typeface="Arial"/>
              <a:buChar char="•"/>
            </a:pPr>
            <a:r>
              <a:rPr b="1" lang="en-US" sz="1600">
                <a:solidFill>
                  <a:srgbClr val="000000"/>
                </a:solidFill>
              </a:rPr>
              <a:t>Satellite</a:t>
            </a:r>
            <a:r>
              <a:rPr lang="en-US" sz="1600">
                <a:solidFill>
                  <a:srgbClr val="000000"/>
                </a:solidFill>
              </a:rPr>
              <a:t> - This option is expensive and provides limited capacity per subscriber. Typically used when no other option is available.</a:t>
            </a:r>
            <a:endParaRPr/>
          </a:p>
          <a:p>
            <a:pPr indent="0" lvl="0" marL="0" rtl="0" algn="l">
              <a:lnSpc>
                <a:spcPct val="100000"/>
              </a:lnSpc>
              <a:spcBef>
                <a:spcPts val="280"/>
              </a:spcBef>
              <a:spcAft>
                <a:spcPts val="0"/>
              </a:spcAft>
              <a:buSzPts val="1400"/>
              <a:buNone/>
            </a:pPr>
            <a:r>
              <a:t/>
            </a:r>
            <a:endParaRPr sz="1400">
              <a:solidFill>
                <a:srgbClr val="000000"/>
              </a:solidFil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4" name="Shape 624"/>
        <p:cNvGrpSpPr/>
        <p:nvPr/>
      </p:nvGrpSpPr>
      <p:grpSpPr>
        <a:xfrm>
          <a:off x="0" y="0"/>
          <a:ext cx="0" cy="0"/>
          <a:chOff x="0" y="0"/>
          <a:chExt cx="0" cy="0"/>
        </a:xfrm>
      </p:grpSpPr>
      <p:sp>
        <p:nvSpPr>
          <p:cNvPr id="625" name="Google Shape;625;p50"/>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Internet-Based Connectivity</a:t>
            </a:r>
            <a:br>
              <a:rPr lang="en-US"/>
            </a:br>
            <a:r>
              <a:rPr lang="en-US" sz="2400"/>
              <a:t>Lab – Research Broadband Internet Access Options</a:t>
            </a:r>
            <a:endParaRPr sz="2400"/>
          </a:p>
        </p:txBody>
      </p:sp>
      <p:sp>
        <p:nvSpPr>
          <p:cNvPr id="626" name="Google Shape;626;p50"/>
          <p:cNvSpPr txBox="1"/>
          <p:nvPr>
            <p:ph idx="1" type="body"/>
          </p:nvPr>
        </p:nvSpPr>
        <p:spPr>
          <a:xfrm>
            <a:off x="474662" y="877330"/>
            <a:ext cx="8280057" cy="3544404"/>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In this lab, you will complete the following objectives:</a:t>
            </a:r>
            <a:endParaRPr/>
          </a:p>
          <a:p>
            <a:pPr indent="-342900" lvl="0" marL="342900" rtl="0" algn="l">
              <a:lnSpc>
                <a:spcPct val="100000"/>
              </a:lnSpc>
              <a:spcBef>
                <a:spcPts val="360"/>
              </a:spcBef>
              <a:spcAft>
                <a:spcPts val="0"/>
              </a:spcAft>
              <a:buSzPts val="1800"/>
              <a:buFont typeface="Arial"/>
              <a:buChar char="•"/>
            </a:pPr>
            <a:r>
              <a:rPr lang="en-US" sz="1800">
                <a:solidFill>
                  <a:srgbClr val="000000"/>
                </a:solidFill>
              </a:rPr>
              <a:t>Investigate Broadband Distribution</a:t>
            </a:r>
            <a:endParaRPr/>
          </a:p>
          <a:p>
            <a:pPr indent="-342900" lvl="0" marL="342900" rtl="0" algn="l">
              <a:lnSpc>
                <a:spcPct val="100000"/>
              </a:lnSpc>
              <a:spcBef>
                <a:spcPts val="360"/>
              </a:spcBef>
              <a:spcAft>
                <a:spcPts val="0"/>
              </a:spcAft>
              <a:buSzPts val="1800"/>
              <a:buFont typeface="Arial"/>
              <a:buChar char="•"/>
            </a:pPr>
            <a:r>
              <a:rPr lang="en-US" sz="1800">
                <a:solidFill>
                  <a:srgbClr val="000000"/>
                </a:solidFill>
              </a:rPr>
              <a:t>Research Broadband Access Options for Specific Scenarios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1" name="Shape 631"/>
        <p:cNvGrpSpPr/>
        <p:nvPr/>
      </p:nvGrpSpPr>
      <p:grpSpPr>
        <a:xfrm>
          <a:off x="0" y="0"/>
          <a:ext cx="0" cy="0"/>
          <a:chOff x="0" y="0"/>
          <a:chExt cx="0" cy="0"/>
        </a:xfrm>
      </p:grpSpPr>
      <p:sp>
        <p:nvSpPr>
          <p:cNvPr id="632" name="Google Shape;632;p51"/>
          <p:cNvSpPr txBox="1"/>
          <p:nvPr>
            <p:ph type="ctrTitle"/>
          </p:nvPr>
        </p:nvSpPr>
        <p:spPr>
          <a:xfrm>
            <a:off x="416425" y="1788160"/>
            <a:ext cx="7848344" cy="929640"/>
          </a:xfrm>
          <a:prstGeom prst="rect">
            <a:avLst/>
          </a:prstGeom>
          <a:noFill/>
          <a:ln>
            <a:noFill/>
          </a:ln>
        </p:spPr>
        <p:txBody>
          <a:bodyPr anchorCtr="0" anchor="b" bIns="45700" lIns="91400" spcFirstLastPara="1" rIns="91400" wrap="square" tIns="45700">
            <a:noAutofit/>
          </a:bodyPr>
          <a:lstStyle/>
          <a:p>
            <a:pPr indent="0" lvl="0" marL="0" rtl="0" algn="l">
              <a:lnSpc>
                <a:spcPct val="90000"/>
              </a:lnSpc>
              <a:spcBef>
                <a:spcPts val="0"/>
              </a:spcBef>
              <a:spcAft>
                <a:spcPts val="0"/>
              </a:spcAft>
              <a:buClr>
                <a:srgbClr val="AEE8FA"/>
              </a:buClr>
              <a:buSzPts val="4600"/>
              <a:buFont typeface="Arial"/>
              <a:buNone/>
            </a:pPr>
            <a:r>
              <a:rPr lang="en-US">
                <a:solidFill>
                  <a:srgbClr val="AEE8FA"/>
                </a:solidFill>
              </a:rPr>
              <a:t>7.6 Module Practice and Quiz</a:t>
            </a:r>
            <a:endParaRPr/>
          </a:p>
        </p:txBody>
      </p:sp>
    </p:spTree>
  </p:cSld>
  <p:clrMapOvr>
    <a:masterClrMapping/>
  </p:clrMapOvr>
  <p:transition spd="slow">
    <p:wipe dir="l"/>
  </p:transition>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7" name="Shape 637"/>
        <p:cNvGrpSpPr/>
        <p:nvPr/>
      </p:nvGrpSpPr>
      <p:grpSpPr>
        <a:xfrm>
          <a:off x="0" y="0"/>
          <a:ext cx="0" cy="0"/>
          <a:chOff x="0" y="0"/>
          <a:chExt cx="0" cy="0"/>
        </a:xfrm>
      </p:grpSpPr>
      <p:sp>
        <p:nvSpPr>
          <p:cNvPr id="638" name="Google Shape;638;p52"/>
          <p:cNvSpPr txBox="1"/>
          <p:nvPr>
            <p:ph type="title"/>
          </p:nvPr>
        </p:nvSpPr>
        <p:spPr>
          <a:xfrm>
            <a:off x="0" y="0"/>
            <a:ext cx="8345488" cy="731837"/>
          </a:xfrm>
          <a:prstGeom prst="rect">
            <a:avLst/>
          </a:prstGeom>
          <a:noFill/>
          <a:ln>
            <a:noFill/>
          </a:ln>
        </p:spPr>
        <p:txBody>
          <a:bodyPr anchorCtr="0" anchor="ctr" bIns="45700" lIns="91400" spcFirstLastPara="1" rIns="91400" wrap="square" tIns="45700">
            <a:noAutofit/>
          </a:bodyPr>
          <a:lstStyle/>
          <a:p>
            <a:pPr indent="0" lvl="0" marL="0" rtl="0" algn="l">
              <a:lnSpc>
                <a:spcPct val="80000"/>
              </a:lnSpc>
              <a:spcBef>
                <a:spcPts val="0"/>
              </a:spcBef>
              <a:spcAft>
                <a:spcPts val="0"/>
              </a:spcAft>
              <a:buNone/>
            </a:pPr>
            <a:r>
              <a:rPr lang="en-US" sz="1600"/>
              <a:t>Module Practice and Quiz</a:t>
            </a:r>
            <a:br>
              <a:rPr lang="en-US"/>
            </a:br>
            <a:r>
              <a:rPr lang="en-US" sz="2400"/>
              <a:t>Packet Tracer – WAN Concepts</a:t>
            </a:r>
            <a:endParaRPr/>
          </a:p>
        </p:txBody>
      </p:sp>
      <p:sp>
        <p:nvSpPr>
          <p:cNvPr id="639" name="Google Shape;639;p52"/>
          <p:cNvSpPr txBox="1"/>
          <p:nvPr>
            <p:ph idx="1" type="body"/>
          </p:nvPr>
        </p:nvSpPr>
        <p:spPr>
          <a:xfrm>
            <a:off x="474662" y="877330"/>
            <a:ext cx="8280057" cy="3544404"/>
          </a:xfrm>
          <a:prstGeom prst="rect">
            <a:avLst/>
          </a:prstGeom>
          <a:noFill/>
          <a:ln>
            <a:noFill/>
          </a:ln>
        </p:spPr>
        <p:txBody>
          <a:bodyPr anchorCtr="0" anchor="t" bIns="45700" lIns="91400" spcFirstLastPara="1" rIns="91400" wrap="square" tIns="45700">
            <a:noAutofit/>
          </a:bodyPr>
          <a:lstStyle/>
          <a:p>
            <a:pPr indent="0" lvl="0" marL="0" rtl="0" algn="l">
              <a:lnSpc>
                <a:spcPct val="100000"/>
              </a:lnSpc>
              <a:spcBef>
                <a:spcPts val="0"/>
              </a:spcBef>
              <a:spcAft>
                <a:spcPts val="0"/>
              </a:spcAft>
              <a:buSzPts val="1800"/>
              <a:buNone/>
            </a:pPr>
            <a:r>
              <a:rPr lang="en-US" sz="1800">
                <a:solidFill>
                  <a:srgbClr val="000000"/>
                </a:solidFill>
              </a:rPr>
              <a:t>In this lab, you will do the following:</a:t>
            </a:r>
            <a:endParaRPr/>
          </a:p>
          <a:p>
            <a:pPr indent="-342900" lvl="0" marL="342900" rtl="0" algn="l">
              <a:lnSpc>
                <a:spcPct val="100000"/>
              </a:lnSpc>
              <a:spcBef>
                <a:spcPts val="360"/>
              </a:spcBef>
              <a:spcAft>
                <a:spcPts val="0"/>
              </a:spcAft>
              <a:buSzPts val="1800"/>
              <a:buFont typeface="Arial"/>
              <a:buChar char="•"/>
            </a:pPr>
            <a:r>
              <a:rPr lang="en-US" sz="1800">
                <a:solidFill>
                  <a:srgbClr val="000000"/>
                </a:solidFill>
              </a:rPr>
              <a:t>Describe different WAN connectivity options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4" name="Shape 644"/>
        <p:cNvGrpSpPr/>
        <p:nvPr/>
      </p:nvGrpSpPr>
      <p:grpSpPr>
        <a:xfrm>
          <a:off x="0" y="0"/>
          <a:ext cx="0" cy="0"/>
          <a:chOff x="0" y="0"/>
          <a:chExt cx="0" cy="0"/>
        </a:xfrm>
      </p:grpSpPr>
      <p:sp>
        <p:nvSpPr>
          <p:cNvPr id="645" name="Google Shape;645;p53"/>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400">
                <a:latin typeface="Arial"/>
                <a:ea typeface="Arial"/>
                <a:cs typeface="Arial"/>
                <a:sym typeface="Arial"/>
              </a:rPr>
              <a:t>Module Practice and Quiz</a:t>
            </a:r>
            <a:br>
              <a:rPr lang="en-US">
                <a:latin typeface="Arial"/>
                <a:ea typeface="Arial"/>
                <a:cs typeface="Arial"/>
                <a:sym typeface="Arial"/>
              </a:rPr>
            </a:br>
            <a:r>
              <a:rPr lang="en-US">
                <a:latin typeface="Arial"/>
                <a:ea typeface="Arial"/>
                <a:cs typeface="Arial"/>
                <a:sym typeface="Arial"/>
              </a:rPr>
              <a:t>What did I learn in this module?</a:t>
            </a:r>
            <a:endParaRPr/>
          </a:p>
        </p:txBody>
      </p:sp>
      <p:sp>
        <p:nvSpPr>
          <p:cNvPr id="646" name="Google Shape;646;p53"/>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p>
            <a:pPr indent="-169863" lvl="0" marL="169863" rtl="0" algn="l">
              <a:lnSpc>
                <a:spcPct val="100000"/>
              </a:lnSpc>
              <a:spcBef>
                <a:spcPts val="0"/>
              </a:spcBef>
              <a:spcAft>
                <a:spcPts val="0"/>
              </a:spcAft>
              <a:buSzPts val="1440"/>
              <a:buFont typeface="Arial"/>
              <a:buChar char="•"/>
            </a:pPr>
            <a:r>
              <a:rPr lang="en-US" sz="1600"/>
              <a:t>A Wide Area Network (WAN) is required to connect beyond the boundary of the LAN.</a:t>
            </a:r>
            <a:endParaRPr/>
          </a:p>
          <a:p>
            <a:pPr indent="-169863" lvl="0" marL="169863" rtl="0" algn="l">
              <a:lnSpc>
                <a:spcPct val="100000"/>
              </a:lnSpc>
              <a:spcBef>
                <a:spcPts val="0"/>
              </a:spcBef>
              <a:spcAft>
                <a:spcPts val="0"/>
              </a:spcAft>
              <a:buSzPts val="1440"/>
              <a:buFont typeface="Arial"/>
              <a:buChar char="•"/>
            </a:pPr>
            <a:r>
              <a:rPr lang="en-US" sz="1600"/>
              <a:t>A private WAN is a connection that is dedicated to a single customer. </a:t>
            </a:r>
            <a:endParaRPr/>
          </a:p>
          <a:p>
            <a:pPr indent="-169863" lvl="0" marL="169863" rtl="0" algn="l">
              <a:lnSpc>
                <a:spcPct val="100000"/>
              </a:lnSpc>
              <a:spcBef>
                <a:spcPts val="0"/>
              </a:spcBef>
              <a:spcAft>
                <a:spcPts val="0"/>
              </a:spcAft>
              <a:buSzPts val="1440"/>
              <a:buFont typeface="Arial"/>
              <a:buChar char="•"/>
            </a:pPr>
            <a:r>
              <a:rPr lang="en-US" sz="1600"/>
              <a:t>A public WAN connection is typically provided by an ISP or telecommunications service provider using the internet. </a:t>
            </a:r>
            <a:endParaRPr/>
          </a:p>
          <a:p>
            <a:pPr indent="-169863" lvl="0" marL="169863" rtl="0" algn="l">
              <a:lnSpc>
                <a:spcPct val="100000"/>
              </a:lnSpc>
              <a:spcBef>
                <a:spcPts val="0"/>
              </a:spcBef>
              <a:spcAft>
                <a:spcPts val="0"/>
              </a:spcAft>
              <a:buSzPts val="1440"/>
              <a:buFont typeface="Arial"/>
              <a:buChar char="•"/>
            </a:pPr>
            <a:r>
              <a:rPr lang="en-US" sz="1600"/>
              <a:t>WANs are implemented using the following logical topologies: Point-to-Point, Hub-and-Spoke, Dual-homed, Fully Meshed, and Partially Meshed.</a:t>
            </a:r>
            <a:endParaRPr/>
          </a:p>
          <a:p>
            <a:pPr indent="-169863" lvl="0" marL="169863" rtl="0" algn="l">
              <a:lnSpc>
                <a:spcPct val="100000"/>
              </a:lnSpc>
              <a:spcBef>
                <a:spcPts val="0"/>
              </a:spcBef>
              <a:spcAft>
                <a:spcPts val="0"/>
              </a:spcAft>
              <a:buSzPts val="1440"/>
              <a:buFont typeface="Arial"/>
              <a:buChar char="•"/>
            </a:pPr>
            <a:r>
              <a:rPr lang="en-US" sz="1600"/>
              <a:t>A dual-carrier connection provides redundancy and increases network availability. The organization negotiates separate SLAs with two different service providers.</a:t>
            </a:r>
            <a:endParaRPr/>
          </a:p>
          <a:p>
            <a:pPr indent="-169863" lvl="0" marL="169863" rtl="0" algn="l">
              <a:lnSpc>
                <a:spcPct val="100000"/>
              </a:lnSpc>
              <a:spcBef>
                <a:spcPts val="0"/>
              </a:spcBef>
              <a:spcAft>
                <a:spcPts val="0"/>
              </a:spcAft>
              <a:buSzPts val="1440"/>
              <a:buFont typeface="Arial"/>
              <a:buChar char="•"/>
            </a:pPr>
            <a:r>
              <a:rPr lang="en-US" sz="1600"/>
              <a:t>Site-to-site and remote access Virtual Private Networks (VPNs) enable the company to use the internet to securely connect with employees and facilities around the world.</a:t>
            </a:r>
            <a:endParaRPr/>
          </a:p>
          <a:p>
            <a:pPr indent="-169863" lvl="0" marL="169863" rtl="0" algn="l">
              <a:lnSpc>
                <a:spcPct val="100000"/>
              </a:lnSpc>
              <a:spcBef>
                <a:spcPts val="0"/>
              </a:spcBef>
              <a:spcAft>
                <a:spcPts val="0"/>
              </a:spcAft>
              <a:buSzPts val="1440"/>
              <a:buFont typeface="Arial"/>
              <a:buChar char="•"/>
            </a:pPr>
            <a:r>
              <a:rPr lang="en-US" sz="1600"/>
              <a:t>Modern WAN standards are defined and managed by a number of recognized authorities: TIA/EIA, ISO, and IEEE. </a:t>
            </a:r>
            <a:endParaRPr/>
          </a:p>
          <a:p>
            <a:pPr indent="-169863" lvl="0" marL="169863" rtl="0" algn="l">
              <a:lnSpc>
                <a:spcPct val="100000"/>
              </a:lnSpc>
              <a:spcBef>
                <a:spcPts val="0"/>
              </a:spcBef>
              <a:spcAft>
                <a:spcPts val="0"/>
              </a:spcAft>
              <a:buSzPts val="1440"/>
              <a:buFont typeface="Arial"/>
              <a:buChar char="•"/>
            </a:pPr>
            <a:r>
              <a:rPr lang="en-US" sz="1600"/>
              <a:t>Layer 1 optical fiber protocol standards include SDH, SONET, and DWDM. Layer 2 protocols define how data will be encapsulated into a frame. </a:t>
            </a:r>
            <a:endParaRPr/>
          </a:p>
          <a:p>
            <a:pPr indent="-169863" lvl="0" marL="169863" rtl="0" algn="l">
              <a:lnSpc>
                <a:spcPct val="100000"/>
              </a:lnSpc>
              <a:spcBef>
                <a:spcPts val="0"/>
              </a:spcBef>
              <a:spcAft>
                <a:spcPts val="0"/>
              </a:spcAft>
              <a:buSzPts val="1440"/>
              <a:buFont typeface="Arial"/>
              <a:buChar char="•"/>
            </a:pPr>
            <a:r>
              <a:rPr lang="en-US" sz="1600"/>
              <a:t>Layer 2 protocols include broadband, wireless, Ethernet WAN, MPLS, PPP, HDLC.</a:t>
            </a:r>
            <a:endParaRPr/>
          </a:p>
        </p:txBody>
      </p:sp>
    </p:spTree>
  </p:cSld>
  <p:clrMapOvr>
    <a:masterClrMapping/>
  </p:clrMapOvr>
  <p:transition spd="slow">
    <p:wipe dir="l"/>
  </p:transition>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1" name="Shape 651"/>
        <p:cNvGrpSpPr/>
        <p:nvPr/>
      </p:nvGrpSpPr>
      <p:grpSpPr>
        <a:xfrm>
          <a:off x="0" y="0"/>
          <a:ext cx="0" cy="0"/>
          <a:chOff x="0" y="0"/>
          <a:chExt cx="0" cy="0"/>
        </a:xfrm>
      </p:grpSpPr>
      <p:sp>
        <p:nvSpPr>
          <p:cNvPr id="652" name="Google Shape;652;p54"/>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400">
                <a:latin typeface="Arial"/>
                <a:ea typeface="Arial"/>
                <a:cs typeface="Arial"/>
                <a:sym typeface="Arial"/>
              </a:rPr>
              <a:t>Module Practice and Quiz</a:t>
            </a:r>
            <a:br>
              <a:rPr lang="en-US">
                <a:latin typeface="Arial"/>
                <a:ea typeface="Arial"/>
                <a:cs typeface="Arial"/>
                <a:sym typeface="Arial"/>
              </a:rPr>
            </a:br>
            <a:r>
              <a:rPr lang="en-US">
                <a:latin typeface="Arial"/>
                <a:ea typeface="Arial"/>
                <a:cs typeface="Arial"/>
                <a:sym typeface="Arial"/>
              </a:rPr>
              <a:t>What did I learn in this module?</a:t>
            </a:r>
            <a:endParaRPr/>
          </a:p>
        </p:txBody>
      </p:sp>
      <p:sp>
        <p:nvSpPr>
          <p:cNvPr id="653" name="Google Shape;653;p54"/>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p>
            <a:pPr indent="-169863" lvl="0" marL="169863" rtl="0" algn="l">
              <a:lnSpc>
                <a:spcPct val="100000"/>
              </a:lnSpc>
              <a:spcBef>
                <a:spcPts val="0"/>
              </a:spcBef>
              <a:spcAft>
                <a:spcPts val="0"/>
              </a:spcAft>
              <a:buSzPts val="1440"/>
              <a:buFont typeface="Arial"/>
              <a:buChar char="•"/>
            </a:pPr>
            <a:r>
              <a:rPr lang="en-US" sz="1600"/>
              <a:t>Serial communication transmits bits sequentially over a single channel. In contrast, parallel communications simultaneously transmit several bits using multiple wires. </a:t>
            </a:r>
            <a:endParaRPr/>
          </a:p>
          <a:p>
            <a:pPr indent="-169863" lvl="0" marL="169863" rtl="0" algn="l">
              <a:lnSpc>
                <a:spcPct val="100000"/>
              </a:lnSpc>
              <a:spcBef>
                <a:spcPts val="0"/>
              </a:spcBef>
              <a:spcAft>
                <a:spcPts val="0"/>
              </a:spcAft>
              <a:buSzPts val="1440"/>
              <a:buFont typeface="Arial"/>
              <a:buChar char="•"/>
            </a:pPr>
            <a:r>
              <a:rPr lang="en-US" sz="1600"/>
              <a:t>The two most common types of circuit-switched WAN technologies are PSTN and ISDN.</a:t>
            </a:r>
            <a:endParaRPr/>
          </a:p>
          <a:p>
            <a:pPr indent="-169863" lvl="0" marL="169863" rtl="0" algn="l">
              <a:lnSpc>
                <a:spcPct val="100000"/>
              </a:lnSpc>
              <a:spcBef>
                <a:spcPts val="0"/>
              </a:spcBef>
              <a:spcAft>
                <a:spcPts val="0"/>
              </a:spcAft>
              <a:buSzPts val="1440"/>
              <a:buFont typeface="Arial"/>
              <a:buChar char="•"/>
            </a:pPr>
            <a:r>
              <a:rPr lang="en-US" sz="1600"/>
              <a:t>Common types of packet-switched WAN technologies are Ethernet WAN and MPLS. There are two optical fiber OSI layer 1 standards. </a:t>
            </a:r>
            <a:endParaRPr/>
          </a:p>
          <a:p>
            <a:pPr indent="-169863" lvl="0" marL="169863" rtl="0" algn="l">
              <a:lnSpc>
                <a:spcPct val="100000"/>
              </a:lnSpc>
              <a:spcBef>
                <a:spcPts val="0"/>
              </a:spcBef>
              <a:spcAft>
                <a:spcPts val="0"/>
              </a:spcAft>
              <a:buSzPts val="1440"/>
              <a:buFont typeface="Arial"/>
              <a:buChar char="•"/>
            </a:pPr>
            <a:r>
              <a:rPr lang="en-US" sz="1600"/>
              <a:t>SDH/SONET define how to transfer multiple data, voice, and video communications over optical fiber using lasers or LEDs over great distances. </a:t>
            </a:r>
            <a:endParaRPr/>
          </a:p>
          <a:p>
            <a:pPr indent="-169863" lvl="0" marL="169863" rtl="0" algn="l">
              <a:lnSpc>
                <a:spcPct val="100000"/>
              </a:lnSpc>
              <a:spcBef>
                <a:spcPts val="0"/>
              </a:spcBef>
              <a:spcAft>
                <a:spcPts val="0"/>
              </a:spcAft>
              <a:buSzPts val="1440"/>
              <a:buFont typeface="Arial"/>
              <a:buChar char="•"/>
            </a:pPr>
            <a:r>
              <a:rPr lang="en-US" sz="1600"/>
              <a:t>Circuit-switched connections were provided by PSTN carriers. </a:t>
            </a:r>
            <a:endParaRPr/>
          </a:p>
          <a:p>
            <a:pPr indent="-169863" lvl="0" marL="169863" rtl="0" algn="l">
              <a:lnSpc>
                <a:spcPct val="100000"/>
              </a:lnSpc>
              <a:spcBef>
                <a:spcPts val="0"/>
              </a:spcBef>
              <a:spcAft>
                <a:spcPts val="0"/>
              </a:spcAft>
              <a:buSzPts val="1440"/>
              <a:buFont typeface="Arial"/>
              <a:buChar char="•"/>
            </a:pPr>
            <a:r>
              <a:rPr lang="en-US" sz="1600"/>
              <a:t>ISDN is a circuit-switching technology that enables the PSTN local loop to carry digital signals.</a:t>
            </a:r>
            <a:endParaRPr/>
          </a:p>
          <a:p>
            <a:pPr indent="-169863" lvl="0" marL="169863" rtl="0" algn="l">
              <a:lnSpc>
                <a:spcPct val="100000"/>
              </a:lnSpc>
              <a:spcBef>
                <a:spcPts val="0"/>
              </a:spcBef>
              <a:spcAft>
                <a:spcPts val="0"/>
              </a:spcAft>
              <a:buSzPts val="1440"/>
              <a:buFont typeface="Arial"/>
              <a:buChar char="•"/>
            </a:pPr>
            <a:r>
              <a:rPr lang="en-US" sz="1600"/>
              <a:t>Packet switching segments data into packets that are routed over a shared network. </a:t>
            </a:r>
            <a:endParaRPr/>
          </a:p>
          <a:p>
            <a:pPr indent="-169863" lvl="0" marL="169863" rtl="0" algn="l">
              <a:lnSpc>
                <a:spcPct val="100000"/>
              </a:lnSpc>
              <a:spcBef>
                <a:spcPts val="0"/>
              </a:spcBef>
              <a:spcAft>
                <a:spcPts val="0"/>
              </a:spcAft>
              <a:buSzPts val="1440"/>
              <a:buFont typeface="Arial"/>
              <a:buChar char="•"/>
            </a:pPr>
            <a:r>
              <a:rPr lang="en-US" sz="1600"/>
              <a:t>Frame Relay is a simple Layer 2 NBMA WAN technology used to interconnect enterprise LANs. </a:t>
            </a:r>
            <a:endParaRPr/>
          </a:p>
          <a:p>
            <a:pPr indent="-169863" lvl="0" marL="169863" rtl="0" algn="l">
              <a:lnSpc>
                <a:spcPct val="100000"/>
              </a:lnSpc>
              <a:spcBef>
                <a:spcPts val="0"/>
              </a:spcBef>
              <a:spcAft>
                <a:spcPts val="0"/>
              </a:spcAft>
              <a:buSzPts val="1440"/>
              <a:buFont typeface="Arial"/>
              <a:buChar char="•"/>
            </a:pPr>
            <a:r>
              <a:rPr lang="en-US" sz="1600"/>
              <a:t>ATM technology is capable of transferring voice, video, and data through private and public networks. It is built on a cell-based architecture rather than on a frame-based architecture.</a:t>
            </a:r>
            <a:endParaRPr/>
          </a:p>
        </p:txBody>
      </p:sp>
    </p:spTree>
  </p:cSld>
  <p:clrMapOvr>
    <a:masterClrMapping/>
  </p:clrMapOvr>
  <p:transition spd="slow">
    <p:wipe dir="l"/>
  </p:transition>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8" name="Shape 658"/>
        <p:cNvGrpSpPr/>
        <p:nvPr/>
      </p:nvGrpSpPr>
      <p:grpSpPr>
        <a:xfrm>
          <a:off x="0" y="0"/>
          <a:ext cx="0" cy="0"/>
          <a:chOff x="0" y="0"/>
          <a:chExt cx="0" cy="0"/>
        </a:xfrm>
      </p:grpSpPr>
      <p:sp>
        <p:nvSpPr>
          <p:cNvPr id="659" name="Google Shape;659;p55"/>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400">
                <a:latin typeface="Arial"/>
                <a:ea typeface="Arial"/>
                <a:cs typeface="Arial"/>
                <a:sym typeface="Arial"/>
              </a:rPr>
              <a:t>Module Practice and Quiz</a:t>
            </a:r>
            <a:br>
              <a:rPr lang="en-US">
                <a:latin typeface="Arial"/>
                <a:ea typeface="Arial"/>
                <a:cs typeface="Arial"/>
                <a:sym typeface="Arial"/>
              </a:rPr>
            </a:br>
            <a:r>
              <a:rPr lang="en-US">
                <a:latin typeface="Arial"/>
                <a:ea typeface="Arial"/>
                <a:cs typeface="Arial"/>
                <a:sym typeface="Arial"/>
              </a:rPr>
              <a:t>What did I learn in this module?</a:t>
            </a:r>
            <a:endParaRPr/>
          </a:p>
        </p:txBody>
      </p:sp>
      <p:sp>
        <p:nvSpPr>
          <p:cNvPr id="660" name="Google Shape;660;p55"/>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p>
            <a:pPr indent="-169863" lvl="0" marL="169863" rtl="0" algn="l">
              <a:lnSpc>
                <a:spcPct val="100000"/>
              </a:lnSpc>
              <a:spcBef>
                <a:spcPts val="0"/>
              </a:spcBef>
              <a:spcAft>
                <a:spcPts val="0"/>
              </a:spcAft>
              <a:buSzPts val="1440"/>
              <a:buFont typeface="Arial"/>
              <a:buChar char="•"/>
            </a:pPr>
            <a:r>
              <a:rPr lang="en-US" sz="1600"/>
              <a:t>Modern WAN connectivity options include dedicated broadband, Ethernet WAN and MPLS (packet-switched), along with various wired and wireless version of internet-based broadband.</a:t>
            </a:r>
            <a:endParaRPr/>
          </a:p>
          <a:p>
            <a:pPr indent="-169863" lvl="0" marL="169863" rtl="0" algn="l">
              <a:lnSpc>
                <a:spcPct val="100000"/>
              </a:lnSpc>
              <a:spcBef>
                <a:spcPts val="0"/>
              </a:spcBef>
              <a:spcAft>
                <a:spcPts val="0"/>
              </a:spcAft>
              <a:buSzPts val="1440"/>
              <a:buFont typeface="Arial"/>
              <a:buChar char="•"/>
            </a:pPr>
            <a:r>
              <a:rPr lang="en-US" sz="1600"/>
              <a:t>MPLS is a high-performance service provider WAN routing technology to interconnect clients. MPLS supports a variety of client access methods (e.g., Ethernet, DSL, Cable, Frame Relay). MPLS can encapsulate all types of protocols including IPv4 or IPv6 traffic.</a:t>
            </a:r>
            <a:endParaRPr/>
          </a:p>
          <a:p>
            <a:pPr indent="-169863" lvl="0" marL="169863" rtl="0" algn="l">
              <a:lnSpc>
                <a:spcPct val="100000"/>
              </a:lnSpc>
              <a:spcBef>
                <a:spcPts val="0"/>
              </a:spcBef>
              <a:spcAft>
                <a:spcPts val="0"/>
              </a:spcAft>
              <a:buSzPts val="1440"/>
              <a:buFont typeface="Arial"/>
              <a:buChar char="•"/>
            </a:pPr>
            <a:r>
              <a:rPr lang="en-US" sz="1600"/>
              <a:t>Internet-based broadband connectivity is an alternative to using dedicated WAN options. </a:t>
            </a:r>
            <a:endParaRPr/>
          </a:p>
          <a:p>
            <a:pPr indent="-169863" lvl="0" marL="169863" rtl="0" algn="l">
              <a:lnSpc>
                <a:spcPct val="100000"/>
              </a:lnSpc>
              <a:spcBef>
                <a:spcPts val="0"/>
              </a:spcBef>
              <a:spcAft>
                <a:spcPts val="0"/>
              </a:spcAft>
              <a:buSzPts val="1440"/>
              <a:buFont typeface="Arial"/>
              <a:buChar char="•"/>
            </a:pPr>
            <a:r>
              <a:rPr lang="en-US" sz="1600"/>
              <a:t>Examples of wired broadband connectivity are Digital Subscriber Line (DSL), cable connections, and optical fiber networks. </a:t>
            </a:r>
            <a:endParaRPr/>
          </a:p>
          <a:p>
            <a:pPr indent="-169863" lvl="0" marL="169863" rtl="0" algn="l">
              <a:lnSpc>
                <a:spcPct val="100000"/>
              </a:lnSpc>
              <a:spcBef>
                <a:spcPts val="0"/>
              </a:spcBef>
              <a:spcAft>
                <a:spcPts val="0"/>
              </a:spcAft>
              <a:buSzPts val="1440"/>
              <a:buFont typeface="Arial"/>
              <a:buChar char="•"/>
            </a:pPr>
            <a:r>
              <a:rPr lang="en-US" sz="1600"/>
              <a:t>Examples of wireless broadband include cellular 3G/4G/5G or satellite internet services. </a:t>
            </a:r>
            <a:endParaRPr/>
          </a:p>
          <a:p>
            <a:pPr indent="-169863" lvl="0" marL="169863" rtl="0" algn="l">
              <a:lnSpc>
                <a:spcPct val="100000"/>
              </a:lnSpc>
              <a:spcBef>
                <a:spcPts val="0"/>
              </a:spcBef>
              <a:spcAft>
                <a:spcPts val="0"/>
              </a:spcAft>
              <a:buSzPts val="1440"/>
              <a:buFont typeface="Arial"/>
              <a:buChar char="•"/>
            </a:pPr>
            <a:r>
              <a:rPr lang="en-US" sz="1600"/>
              <a:t>DSL is a high-speed, always-on, connection technology that uses existing twisted-pair telephone lines to provide IP services to users.</a:t>
            </a:r>
            <a:endParaRPr/>
          </a:p>
          <a:p>
            <a:pPr indent="-169863" lvl="0" marL="169863" rtl="0" algn="l">
              <a:lnSpc>
                <a:spcPct val="100000"/>
              </a:lnSpc>
              <a:spcBef>
                <a:spcPts val="0"/>
              </a:spcBef>
              <a:spcAft>
                <a:spcPts val="0"/>
              </a:spcAft>
              <a:buSzPts val="1440"/>
              <a:buFont typeface="Arial"/>
              <a:buChar char="•"/>
            </a:pPr>
            <a:r>
              <a:rPr lang="en-US" sz="1600"/>
              <a:t>Cable technology is a high-speed always-on connection technology that uses a cable company coaxial cable to provide IP services to users.</a:t>
            </a:r>
            <a:endParaRPr/>
          </a:p>
        </p:txBody>
      </p:sp>
    </p:spTree>
  </p:cSld>
  <p:clrMapOvr>
    <a:masterClrMapping/>
  </p:clrMapOvr>
  <p:transition spd="slow">
    <p:wipe dir="l"/>
  </p:transition>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5" name="Shape 665"/>
        <p:cNvGrpSpPr/>
        <p:nvPr/>
      </p:nvGrpSpPr>
      <p:grpSpPr>
        <a:xfrm>
          <a:off x="0" y="0"/>
          <a:ext cx="0" cy="0"/>
          <a:chOff x="0" y="0"/>
          <a:chExt cx="0" cy="0"/>
        </a:xfrm>
      </p:grpSpPr>
      <p:sp>
        <p:nvSpPr>
          <p:cNvPr id="666" name="Google Shape;666;p56"/>
          <p:cNvSpPr txBox="1"/>
          <p:nvPr>
            <p:ph type="title"/>
          </p:nvPr>
        </p:nvSpPr>
        <p:spPr>
          <a:xfrm>
            <a:off x="1" y="41393"/>
            <a:ext cx="9144000" cy="757551"/>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400">
                <a:latin typeface="Arial"/>
                <a:ea typeface="Arial"/>
                <a:cs typeface="Arial"/>
                <a:sym typeface="Arial"/>
              </a:rPr>
              <a:t>Module Practice and Quiz</a:t>
            </a:r>
            <a:br>
              <a:rPr lang="en-US">
                <a:latin typeface="Arial"/>
                <a:ea typeface="Arial"/>
                <a:cs typeface="Arial"/>
                <a:sym typeface="Arial"/>
              </a:rPr>
            </a:br>
            <a:r>
              <a:rPr lang="en-US">
                <a:latin typeface="Arial"/>
                <a:ea typeface="Arial"/>
                <a:cs typeface="Arial"/>
                <a:sym typeface="Arial"/>
              </a:rPr>
              <a:t>What did I learn in this module?</a:t>
            </a:r>
            <a:endParaRPr/>
          </a:p>
        </p:txBody>
      </p:sp>
      <p:sp>
        <p:nvSpPr>
          <p:cNvPr id="667" name="Google Shape;667;p56"/>
          <p:cNvSpPr txBox="1"/>
          <p:nvPr>
            <p:ph idx="1" type="body"/>
          </p:nvPr>
        </p:nvSpPr>
        <p:spPr>
          <a:xfrm>
            <a:off x="144065" y="798944"/>
            <a:ext cx="8853286" cy="4155319"/>
          </a:xfrm>
          <a:prstGeom prst="rect">
            <a:avLst/>
          </a:prstGeom>
          <a:noFill/>
          <a:ln>
            <a:noFill/>
          </a:ln>
        </p:spPr>
        <p:txBody>
          <a:bodyPr anchorCtr="0" anchor="t" bIns="45700" lIns="91425" spcFirstLastPara="1" rIns="182875" wrap="square" tIns="45700">
            <a:noAutofit/>
          </a:bodyPr>
          <a:lstStyle/>
          <a:p>
            <a:pPr indent="-169863" lvl="0" marL="169863" rtl="0" algn="l">
              <a:lnSpc>
                <a:spcPct val="100000"/>
              </a:lnSpc>
              <a:spcBef>
                <a:spcPts val="0"/>
              </a:spcBef>
              <a:spcAft>
                <a:spcPts val="0"/>
              </a:spcAft>
              <a:buSzPts val="1440"/>
              <a:buFont typeface="Arial"/>
              <a:buChar char="•"/>
            </a:pPr>
            <a:r>
              <a:rPr lang="en-US" sz="1600"/>
              <a:t>Newer developments in wireless technology include Municipal Wi-Fi, Cellular, Satellite internet, and WiMAX. </a:t>
            </a:r>
            <a:endParaRPr/>
          </a:p>
          <a:p>
            <a:pPr indent="-169863" lvl="0" marL="169863" rtl="0" algn="l">
              <a:lnSpc>
                <a:spcPct val="100000"/>
              </a:lnSpc>
              <a:spcBef>
                <a:spcPts val="0"/>
              </a:spcBef>
              <a:spcAft>
                <a:spcPts val="0"/>
              </a:spcAft>
              <a:buSzPts val="1440"/>
              <a:buFont typeface="Arial"/>
              <a:buChar char="•"/>
            </a:pPr>
            <a:r>
              <a:rPr lang="en-US" sz="1600"/>
              <a:t>VPN tunnels are routed through the internet from the private network of the company to the remote site or employee host. </a:t>
            </a:r>
            <a:endParaRPr/>
          </a:p>
          <a:p>
            <a:pPr indent="-169863" lvl="0" marL="169863" rtl="0" algn="l">
              <a:lnSpc>
                <a:spcPct val="100000"/>
              </a:lnSpc>
              <a:spcBef>
                <a:spcPts val="0"/>
              </a:spcBef>
              <a:spcAft>
                <a:spcPts val="0"/>
              </a:spcAft>
              <a:buSzPts val="1440"/>
              <a:buFont typeface="Arial"/>
              <a:buChar char="•"/>
            </a:pPr>
            <a:r>
              <a:rPr lang="en-US" sz="1600"/>
              <a:t>ISP connectivity options include single-homed, dual-homed, multihomed, and dual-multihomed. </a:t>
            </a:r>
            <a:endParaRPr/>
          </a:p>
        </p:txBody>
      </p:sp>
    </p:spTree>
  </p:cSld>
  <p:clrMapOvr>
    <a:masterClrMapping/>
  </p:clrMapOvr>
  <p:transition spd="slow">
    <p:wipe dir="l"/>
  </p:transition>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72" name="Shape 672"/>
        <p:cNvGrpSpPr/>
        <p:nvPr/>
      </p:nvGrpSpPr>
      <p:grpSpPr>
        <a:xfrm>
          <a:off x="0" y="0"/>
          <a:ext cx="0" cy="0"/>
          <a:chOff x="0" y="0"/>
          <a:chExt cx="0" cy="0"/>
        </a:xfrm>
      </p:grpSpPr>
      <p:sp>
        <p:nvSpPr>
          <p:cNvPr id="673" name="Google Shape;673;p57"/>
          <p:cNvSpPr txBox="1"/>
          <p:nvPr>
            <p:ph type="title"/>
          </p:nvPr>
        </p:nvSpPr>
        <p:spPr>
          <a:xfrm>
            <a:off x="1" y="41394"/>
            <a:ext cx="9144000" cy="60905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400">
                <a:latin typeface="Arial"/>
                <a:ea typeface="Arial"/>
                <a:cs typeface="Arial"/>
                <a:sym typeface="Arial"/>
              </a:rPr>
              <a:t>Module 7: WAN Concepts</a:t>
            </a:r>
            <a:br>
              <a:rPr lang="en-US">
                <a:latin typeface="Arial"/>
                <a:ea typeface="Arial"/>
                <a:cs typeface="Arial"/>
                <a:sym typeface="Arial"/>
              </a:rPr>
            </a:br>
            <a:r>
              <a:rPr lang="en-US">
                <a:latin typeface="Arial"/>
                <a:ea typeface="Arial"/>
                <a:cs typeface="Arial"/>
                <a:sym typeface="Arial"/>
              </a:rPr>
              <a:t>New Terms and Commands</a:t>
            </a:r>
            <a:endParaRPr/>
          </a:p>
        </p:txBody>
      </p:sp>
      <p:graphicFrame>
        <p:nvGraphicFramePr>
          <p:cNvPr id="674" name="Google Shape;674;p57"/>
          <p:cNvGraphicFramePr/>
          <p:nvPr/>
        </p:nvGraphicFramePr>
        <p:xfrm>
          <a:off x="144463" y="798513"/>
          <a:ext cx="3000000" cy="3000000"/>
        </p:xfrm>
        <a:graphic>
          <a:graphicData uri="http://schemas.openxmlformats.org/drawingml/2006/table">
            <a:tbl>
              <a:tblPr bandRow="1" firstRow="1">
                <a:noFill/>
                <a:tableStyleId>{7E06D8F0-5436-4FCA-8F79-2CC1A580810E}</a:tableStyleId>
              </a:tblPr>
              <a:tblGrid>
                <a:gridCol w="4426750"/>
                <a:gridCol w="4426750"/>
              </a:tblGrid>
              <a:tr h="370850">
                <a:tc>
                  <a:txBody>
                    <a:bodyPr/>
                    <a:lstStyle/>
                    <a:p>
                      <a:pPr indent="-285750" lvl="0" marL="285750" marR="0" rtl="0" algn="l">
                        <a:spcBef>
                          <a:spcPts val="0"/>
                        </a:spcBef>
                        <a:spcAft>
                          <a:spcPts val="0"/>
                        </a:spcAft>
                        <a:buClr>
                          <a:srgbClr val="000000"/>
                        </a:buClr>
                        <a:buSzPts val="1400"/>
                        <a:buFont typeface="Arial"/>
                        <a:buChar char="•"/>
                      </a:pPr>
                      <a:r>
                        <a:rPr b="0" lang="en-US" sz="1400">
                          <a:solidFill>
                            <a:srgbClr val="000000"/>
                          </a:solidFill>
                        </a:rPr>
                        <a:t>public WAN</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private WAN</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single-carrier WAN connection</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dual-carrier WAN connection</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latin typeface="Arial"/>
                          <a:ea typeface="Arial"/>
                          <a:cs typeface="Arial"/>
                          <a:sym typeface="Arial"/>
                        </a:rPr>
                        <a:t>Synchronous Digital Hierarchy (SDH)</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latin typeface="Arial"/>
                          <a:ea typeface="Arial"/>
                          <a:cs typeface="Arial"/>
                          <a:sym typeface="Arial"/>
                        </a:rPr>
                        <a:t>Synchronous Optical Networking (SONET)</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latin typeface="Arial"/>
                          <a:ea typeface="Arial"/>
                          <a:cs typeface="Arial"/>
                          <a:sym typeface="Arial"/>
                        </a:rPr>
                        <a:t>Dense Wavelength Division Multiplexing (DWDM)</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data terminal equipment (DTE)</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date communication equipment (DCE)</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customer premises equipment (CPE)</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point-of-presence</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demarcation point</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local loop</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last mile</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central office (CO)</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toll network</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backhaul network</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285750" lvl="0" marL="285750" marR="0" rtl="0" algn="l">
                        <a:spcBef>
                          <a:spcPts val="0"/>
                        </a:spcBef>
                        <a:spcAft>
                          <a:spcPts val="0"/>
                        </a:spcAft>
                        <a:buClr>
                          <a:srgbClr val="000000"/>
                        </a:buClr>
                        <a:buSzPts val="1400"/>
                        <a:buFont typeface="Arial"/>
                        <a:buChar char="•"/>
                      </a:pPr>
                      <a:r>
                        <a:rPr b="0" lang="en-US" sz="1400">
                          <a:solidFill>
                            <a:srgbClr val="000000"/>
                          </a:solidFill>
                        </a:rPr>
                        <a:t>Voiceband modem</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DSL modem</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cable modem</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CSU/DSU</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optical converter</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serial communication</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synchronous Digital Hierarchy (SDH)</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synchronous Optical Networking (SONET)</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Dense Wavelength Division Multiplexing (DWDM)</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T-carrier</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E-carrier</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frame relay</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asynchronous transfer mode (ATM)</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dark fiber</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metropolitan Ethernet (Metro E)</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Ethernet over MPLS (EoMPLS)</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Virtual Private LAN service (VPLS)</a:t>
                      </a:r>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transition spd="slow">
    <p:wipe dir="l"/>
  </p:transition>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679" name="Shape 679"/>
        <p:cNvGrpSpPr/>
        <p:nvPr/>
      </p:nvGrpSpPr>
      <p:grpSpPr>
        <a:xfrm>
          <a:off x="0" y="0"/>
          <a:ext cx="0" cy="0"/>
          <a:chOff x="0" y="0"/>
          <a:chExt cx="0" cy="0"/>
        </a:xfrm>
      </p:grpSpPr>
      <p:sp>
        <p:nvSpPr>
          <p:cNvPr id="680" name="Google Shape;680;p58"/>
          <p:cNvSpPr txBox="1"/>
          <p:nvPr>
            <p:ph type="title"/>
          </p:nvPr>
        </p:nvSpPr>
        <p:spPr>
          <a:xfrm>
            <a:off x="1" y="41394"/>
            <a:ext cx="9144000" cy="609056"/>
          </a:xfrm>
          <a:prstGeom prst="rect">
            <a:avLst/>
          </a:prstGeom>
          <a:noFill/>
          <a:ln>
            <a:noFill/>
          </a:ln>
        </p:spPr>
        <p:txBody>
          <a:bodyPr anchorCtr="0" anchor="ctr" bIns="45700" lIns="91425" spcFirstLastPara="1" rIns="91425" wrap="square" tIns="45700">
            <a:noAutofit/>
          </a:bodyPr>
          <a:lstStyle/>
          <a:p>
            <a:pPr indent="0" lvl="0" marL="0" rtl="0" algn="l">
              <a:lnSpc>
                <a:spcPct val="100000"/>
              </a:lnSpc>
              <a:spcBef>
                <a:spcPts val="0"/>
              </a:spcBef>
              <a:spcAft>
                <a:spcPts val="0"/>
              </a:spcAft>
              <a:buNone/>
            </a:pPr>
            <a:r>
              <a:rPr lang="en-US" sz="1400">
                <a:latin typeface="Arial"/>
                <a:ea typeface="Arial"/>
                <a:cs typeface="Arial"/>
                <a:sym typeface="Arial"/>
              </a:rPr>
              <a:t>Module 7: WAN Concepts</a:t>
            </a:r>
            <a:br>
              <a:rPr lang="en-US">
                <a:latin typeface="Arial"/>
                <a:ea typeface="Arial"/>
                <a:cs typeface="Arial"/>
                <a:sym typeface="Arial"/>
              </a:rPr>
            </a:br>
            <a:r>
              <a:rPr lang="en-US">
                <a:latin typeface="Arial"/>
                <a:ea typeface="Arial"/>
                <a:cs typeface="Arial"/>
                <a:sym typeface="Arial"/>
              </a:rPr>
              <a:t>New Terms and Commands</a:t>
            </a:r>
            <a:endParaRPr/>
          </a:p>
        </p:txBody>
      </p:sp>
      <p:graphicFrame>
        <p:nvGraphicFramePr>
          <p:cNvPr id="681" name="Google Shape;681;p58"/>
          <p:cNvGraphicFramePr/>
          <p:nvPr/>
        </p:nvGraphicFramePr>
        <p:xfrm>
          <a:off x="144463" y="798513"/>
          <a:ext cx="3000000" cy="3000000"/>
        </p:xfrm>
        <a:graphic>
          <a:graphicData uri="http://schemas.openxmlformats.org/drawingml/2006/table">
            <a:tbl>
              <a:tblPr bandRow="1" firstRow="1">
                <a:noFill/>
                <a:tableStyleId>{7E06D8F0-5436-4FCA-8F79-2CC1A580810E}</a:tableStyleId>
              </a:tblPr>
              <a:tblGrid>
                <a:gridCol w="5068550"/>
              </a:tblGrid>
              <a:tr h="370850">
                <a:tc>
                  <a:txBody>
                    <a:bodyPr/>
                    <a:lstStyle/>
                    <a:p>
                      <a:pPr indent="-285750" lvl="0" marL="285750" marR="0" rtl="0" algn="l">
                        <a:spcBef>
                          <a:spcPts val="0"/>
                        </a:spcBef>
                        <a:spcAft>
                          <a:spcPts val="0"/>
                        </a:spcAft>
                        <a:buClr>
                          <a:srgbClr val="000000"/>
                        </a:buClr>
                        <a:buSzPts val="1400"/>
                        <a:buFont typeface="Arial"/>
                        <a:buChar char="•"/>
                      </a:pPr>
                      <a:r>
                        <a:rPr b="0" lang="en-US" sz="1400">
                          <a:solidFill>
                            <a:srgbClr val="000000"/>
                          </a:solidFill>
                        </a:rPr>
                        <a:t>label switched routers (LSRs)</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Customer edge (CE) router</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Provider edge (PE) router</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Internal provider (P) router</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DSL access multiplexer (DSLAM)</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PPP over Ethernet (PPPoE)</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Data over Cable Service Interface Specification (DOCSIS)</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hybrid fiber-coaxial (HFC) </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Cable Modem Termination System (CMTS)</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Fiber to the x (FTTx)</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Fiber to the Home (FTTH)</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Fiber to the Building (FTTB)</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Fiber to the Node/Neighborhood (FTTN) </a:t>
                      </a:r>
                      <a:endParaRPr/>
                    </a:p>
                    <a:p>
                      <a:pPr indent="-285750" lvl="0" marL="285750" marR="0" rtl="0" algn="l">
                        <a:spcBef>
                          <a:spcPts val="0"/>
                        </a:spcBef>
                        <a:spcAft>
                          <a:spcPts val="0"/>
                        </a:spcAft>
                        <a:buClr>
                          <a:srgbClr val="000000"/>
                        </a:buClr>
                        <a:buSzPts val="1400"/>
                        <a:buFont typeface="Arial"/>
                        <a:buChar char="•"/>
                      </a:pPr>
                      <a:r>
                        <a:rPr b="0" lang="en-US" sz="1400">
                          <a:solidFill>
                            <a:srgbClr val="000000"/>
                          </a:solidFill>
                        </a:rPr>
                        <a:t>Municipal Wi-Fi</a:t>
                      </a:r>
                      <a:endParaRPr/>
                    </a:p>
                    <a:p>
                      <a:pPr indent="0" lvl="0" marL="0" marR="0" rtl="0" algn="l">
                        <a:spcBef>
                          <a:spcPts val="0"/>
                        </a:spcBef>
                        <a:spcAft>
                          <a:spcPts val="0"/>
                        </a:spcAft>
                        <a:buClr>
                          <a:schemeClr val="dk1"/>
                        </a:buClr>
                        <a:buSzPts val="1400"/>
                        <a:buFont typeface="Arial"/>
                        <a:buNone/>
                      </a:pPr>
                      <a:r>
                        <a:t/>
                      </a:r>
                      <a:endParaRPr b="0" sz="1400">
                        <a:solidFill>
                          <a:srgbClr val="000000"/>
                        </a:solidFill>
                      </a:endParaRPr>
                    </a:p>
                    <a:p>
                      <a:pPr indent="-196850" lvl="0" marL="285750" marR="0" rtl="0" algn="l">
                        <a:spcBef>
                          <a:spcPts val="0"/>
                        </a:spcBef>
                        <a:spcAft>
                          <a:spcPts val="0"/>
                        </a:spcAft>
                        <a:buClr>
                          <a:schemeClr val="dk1"/>
                        </a:buClr>
                        <a:buSzPts val="1400"/>
                        <a:buFont typeface="Arial"/>
                        <a:buNone/>
                      </a:pPr>
                      <a:r>
                        <a:t/>
                      </a:r>
                      <a:endParaRPr b="0" sz="1400">
                        <a:solidFill>
                          <a:srgbClr val="000000"/>
                        </a:solidFill>
                      </a:endParaRPr>
                    </a:p>
                    <a:p>
                      <a:pPr indent="-196850" lvl="0" marL="285750" marR="0" rtl="0" algn="l">
                        <a:spcBef>
                          <a:spcPts val="0"/>
                        </a:spcBef>
                        <a:spcAft>
                          <a:spcPts val="0"/>
                        </a:spcAft>
                        <a:buClr>
                          <a:schemeClr val="dk1"/>
                        </a:buClr>
                        <a:buSzPts val="1400"/>
                        <a:buFont typeface="Arial"/>
                        <a:buNone/>
                      </a:pPr>
                      <a:r>
                        <a:t/>
                      </a:r>
                      <a:endParaRPr b="0" sz="1400">
                        <a:solidFill>
                          <a:srgbClr val="000000"/>
                        </a:solidFill>
                      </a:endParaRPr>
                    </a:p>
                  </a:txBody>
                  <a:tcPr marT="45725" marB="45725" marR="91450" marL="9145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Tree>
  </p:cSld>
  <p:clrMapOvr>
    <a:masterClrMapping/>
  </p:clrMapOvr>
  <p:transition spd="slow">
    <p:wipe dir="l"/>
  </p:transition>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spTree>
  </p:cSld>
  <p:clrMapOvr>
    <a:masterClrMapping/>
  </p:clrMapOvr>
  <p:transition spd="slow">
    <p:wipe dir="l"/>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2019-10-18T06:21:22Z</dcterms:created>
  <dc:creator>Stephanie Harvey</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